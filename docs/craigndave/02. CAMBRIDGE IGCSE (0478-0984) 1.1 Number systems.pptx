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7" r:id="rId2"/>
    <p:sldId id="259" r:id="rId3"/>
    <p:sldId id="261" r:id="rId4"/>
    <p:sldId id="263" r:id="rId5"/>
    <p:sldId id="264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81" r:id="rId18"/>
    <p:sldId id="282" r:id="rId19"/>
    <p:sldId id="278" r:id="rId20"/>
    <p:sldId id="279" r:id="rId21"/>
    <p:sldId id="280" r:id="rId22"/>
    <p:sldId id="277" r:id="rId23"/>
    <p:sldId id="283" r:id="rId24"/>
    <p:sldId id="28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45" autoAdjust="0"/>
    <p:restoredTop sz="96323" autoAdjust="0"/>
  </p:normalViewPr>
  <p:slideViewPr>
    <p:cSldViewPr snapToGrid="0">
      <p:cViewPr varScale="1">
        <p:scale>
          <a:sx n="109" d="100"/>
          <a:sy n="109" d="100"/>
        </p:scale>
        <p:origin x="28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05747D-4F09-4D59-8F01-5DD69D06A4F9}" type="doc">
      <dgm:prSet loTypeId="urn:microsoft.com/office/officeart/2005/8/layout/orgChart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8F0A079F-FD60-44DA-A045-696BEBC46769}">
      <dgm:prSet phldrT="[Text]"/>
      <dgm:spPr/>
      <dgm:t>
        <a:bodyPr/>
        <a:lstStyle/>
        <a:p>
          <a:r>
            <a:rPr lang="en-GB" dirty="0"/>
            <a:t>Base number systems for IGCSE</a:t>
          </a:r>
        </a:p>
      </dgm:t>
    </dgm:pt>
    <dgm:pt modelId="{A877F8DE-DC29-4B54-A8DE-2E114CEC986F}" type="parTrans" cxnId="{DD9E4192-677E-40E8-944D-C6A13F2996AB}">
      <dgm:prSet/>
      <dgm:spPr/>
      <dgm:t>
        <a:bodyPr/>
        <a:lstStyle/>
        <a:p>
          <a:endParaRPr lang="en-GB"/>
        </a:p>
      </dgm:t>
    </dgm:pt>
    <dgm:pt modelId="{E27CCF54-58BD-4F90-B85D-6B6DB6B0851A}" type="sibTrans" cxnId="{DD9E4192-677E-40E8-944D-C6A13F2996AB}">
      <dgm:prSet/>
      <dgm:spPr/>
      <dgm:t>
        <a:bodyPr/>
        <a:lstStyle/>
        <a:p>
          <a:endParaRPr lang="en-GB"/>
        </a:p>
      </dgm:t>
    </dgm:pt>
    <dgm:pt modelId="{45DFCEFE-1D96-4E76-9EDD-E742C3AA38AC}">
      <dgm:prSet phldrT="[Text]"/>
      <dgm:spPr/>
      <dgm:t>
        <a:bodyPr/>
        <a:lstStyle/>
        <a:p>
          <a:r>
            <a:rPr lang="en-GB" dirty="0"/>
            <a:t>Base 2:      Binary</a:t>
          </a:r>
        </a:p>
      </dgm:t>
    </dgm:pt>
    <dgm:pt modelId="{E36E8F42-D1FC-4D6B-99BA-5330AC37A38B}" type="parTrans" cxnId="{6704FF98-4766-4F3B-A428-68E74EDE44FB}">
      <dgm:prSet/>
      <dgm:spPr/>
      <dgm:t>
        <a:bodyPr/>
        <a:lstStyle/>
        <a:p>
          <a:endParaRPr lang="en-GB"/>
        </a:p>
      </dgm:t>
    </dgm:pt>
    <dgm:pt modelId="{0A179C26-BE5E-44D3-8813-02C689D50B0E}" type="sibTrans" cxnId="{6704FF98-4766-4F3B-A428-68E74EDE44FB}">
      <dgm:prSet/>
      <dgm:spPr/>
      <dgm:t>
        <a:bodyPr/>
        <a:lstStyle/>
        <a:p>
          <a:endParaRPr lang="en-GB"/>
        </a:p>
      </dgm:t>
    </dgm:pt>
    <dgm:pt modelId="{6D8764CC-CFAB-4BD3-95EC-5D188AFFF264}">
      <dgm:prSet phldrT="[Text]"/>
      <dgm:spPr/>
      <dgm:t>
        <a:bodyPr/>
        <a:lstStyle/>
        <a:p>
          <a:r>
            <a:rPr lang="en-GB" dirty="0"/>
            <a:t>Base 10:   Denary</a:t>
          </a:r>
        </a:p>
      </dgm:t>
    </dgm:pt>
    <dgm:pt modelId="{C396F1EF-77DB-4544-BD88-60B452D11F54}" type="parTrans" cxnId="{7A808F58-A507-48AF-854C-098D5E11DFDB}">
      <dgm:prSet/>
      <dgm:spPr/>
      <dgm:t>
        <a:bodyPr/>
        <a:lstStyle/>
        <a:p>
          <a:endParaRPr lang="en-GB"/>
        </a:p>
      </dgm:t>
    </dgm:pt>
    <dgm:pt modelId="{E8BF59AD-599E-48DD-BA7F-18A839244581}" type="sibTrans" cxnId="{7A808F58-A507-48AF-854C-098D5E11DFDB}">
      <dgm:prSet/>
      <dgm:spPr/>
      <dgm:t>
        <a:bodyPr/>
        <a:lstStyle/>
        <a:p>
          <a:endParaRPr lang="en-GB"/>
        </a:p>
      </dgm:t>
    </dgm:pt>
    <dgm:pt modelId="{7F735BD2-F889-477A-A9DA-40975C410DA0}">
      <dgm:prSet phldrT="[Text]"/>
      <dgm:spPr/>
      <dgm:t>
        <a:bodyPr/>
        <a:lstStyle/>
        <a:p>
          <a:r>
            <a:rPr lang="en-GB" dirty="0"/>
            <a:t>Base 16: Hexadecimal</a:t>
          </a:r>
        </a:p>
      </dgm:t>
    </dgm:pt>
    <dgm:pt modelId="{E8B2CBE4-6401-4E28-B5AD-DC4A450A1368}" type="parTrans" cxnId="{FDFEF26F-2C09-44F2-A098-AE3A12D16949}">
      <dgm:prSet/>
      <dgm:spPr/>
      <dgm:t>
        <a:bodyPr/>
        <a:lstStyle/>
        <a:p>
          <a:endParaRPr lang="en-GB"/>
        </a:p>
      </dgm:t>
    </dgm:pt>
    <dgm:pt modelId="{499E99EB-C23E-4498-8AA0-8E216BD5CDB3}" type="sibTrans" cxnId="{FDFEF26F-2C09-44F2-A098-AE3A12D16949}">
      <dgm:prSet/>
      <dgm:spPr/>
      <dgm:t>
        <a:bodyPr/>
        <a:lstStyle/>
        <a:p>
          <a:endParaRPr lang="en-GB"/>
        </a:p>
      </dgm:t>
    </dgm:pt>
    <dgm:pt modelId="{0663A228-4CD5-49A6-BDF0-7655C9D8FD97}" type="pres">
      <dgm:prSet presAssocID="{9905747D-4F09-4D59-8F01-5DD69D06A4F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9CC0FB0-6ACC-492F-8F49-BF66A6437ECC}" type="pres">
      <dgm:prSet presAssocID="{8F0A079F-FD60-44DA-A045-696BEBC46769}" presName="hierRoot1" presStyleCnt="0">
        <dgm:presLayoutVars>
          <dgm:hierBranch val="init"/>
        </dgm:presLayoutVars>
      </dgm:prSet>
      <dgm:spPr/>
    </dgm:pt>
    <dgm:pt modelId="{98BF3153-93FA-4516-B542-A5989A11E0EE}" type="pres">
      <dgm:prSet presAssocID="{8F0A079F-FD60-44DA-A045-696BEBC46769}" presName="rootComposite1" presStyleCnt="0"/>
      <dgm:spPr/>
    </dgm:pt>
    <dgm:pt modelId="{A17B287A-CEC6-4B4C-BE29-D55C8AC19296}" type="pres">
      <dgm:prSet presAssocID="{8F0A079F-FD60-44DA-A045-696BEBC46769}" presName="rootText1" presStyleLbl="node0" presStyleIdx="0" presStyleCnt="1">
        <dgm:presLayoutVars>
          <dgm:chPref val="3"/>
        </dgm:presLayoutVars>
      </dgm:prSet>
      <dgm:spPr/>
    </dgm:pt>
    <dgm:pt modelId="{90BF08D6-5E38-44C9-AD82-63DAE09A4906}" type="pres">
      <dgm:prSet presAssocID="{8F0A079F-FD60-44DA-A045-696BEBC46769}" presName="rootConnector1" presStyleLbl="node1" presStyleIdx="0" presStyleCnt="0"/>
      <dgm:spPr/>
    </dgm:pt>
    <dgm:pt modelId="{7E17C747-EDBB-4BE9-B420-B9397614647C}" type="pres">
      <dgm:prSet presAssocID="{8F0A079F-FD60-44DA-A045-696BEBC46769}" presName="hierChild2" presStyleCnt="0"/>
      <dgm:spPr/>
    </dgm:pt>
    <dgm:pt modelId="{08844011-1278-4683-ABB3-60511A427D4D}" type="pres">
      <dgm:prSet presAssocID="{E36E8F42-D1FC-4D6B-99BA-5330AC37A38B}" presName="Name37" presStyleLbl="parChTrans1D2" presStyleIdx="0" presStyleCnt="3"/>
      <dgm:spPr/>
    </dgm:pt>
    <dgm:pt modelId="{FABE219F-843F-4A37-80AF-05D90DC8D2D8}" type="pres">
      <dgm:prSet presAssocID="{45DFCEFE-1D96-4E76-9EDD-E742C3AA38AC}" presName="hierRoot2" presStyleCnt="0">
        <dgm:presLayoutVars>
          <dgm:hierBranch val="init"/>
        </dgm:presLayoutVars>
      </dgm:prSet>
      <dgm:spPr/>
    </dgm:pt>
    <dgm:pt modelId="{C46207A3-EAC9-449F-AC8D-169D95BD7002}" type="pres">
      <dgm:prSet presAssocID="{45DFCEFE-1D96-4E76-9EDD-E742C3AA38AC}" presName="rootComposite" presStyleCnt="0"/>
      <dgm:spPr/>
    </dgm:pt>
    <dgm:pt modelId="{D7AF7893-FAD9-40E2-97B0-55338BEB705C}" type="pres">
      <dgm:prSet presAssocID="{45DFCEFE-1D96-4E76-9EDD-E742C3AA38AC}" presName="rootText" presStyleLbl="node2" presStyleIdx="0" presStyleCnt="3">
        <dgm:presLayoutVars>
          <dgm:chPref val="3"/>
        </dgm:presLayoutVars>
      </dgm:prSet>
      <dgm:spPr/>
    </dgm:pt>
    <dgm:pt modelId="{E2998C89-70EA-4E92-BE36-1EF267141A7A}" type="pres">
      <dgm:prSet presAssocID="{45DFCEFE-1D96-4E76-9EDD-E742C3AA38AC}" presName="rootConnector" presStyleLbl="node2" presStyleIdx="0" presStyleCnt="3"/>
      <dgm:spPr/>
    </dgm:pt>
    <dgm:pt modelId="{A33AC2DE-682A-4C24-9C3A-0C636BB50DE1}" type="pres">
      <dgm:prSet presAssocID="{45DFCEFE-1D96-4E76-9EDD-E742C3AA38AC}" presName="hierChild4" presStyleCnt="0"/>
      <dgm:spPr/>
    </dgm:pt>
    <dgm:pt modelId="{829E46C9-7CA6-4331-B4A5-21A325D5610D}" type="pres">
      <dgm:prSet presAssocID="{45DFCEFE-1D96-4E76-9EDD-E742C3AA38AC}" presName="hierChild5" presStyleCnt="0"/>
      <dgm:spPr/>
    </dgm:pt>
    <dgm:pt modelId="{BB97DF2E-31E3-4CAE-A4C0-8AB20C68E626}" type="pres">
      <dgm:prSet presAssocID="{C396F1EF-77DB-4544-BD88-60B452D11F54}" presName="Name37" presStyleLbl="parChTrans1D2" presStyleIdx="1" presStyleCnt="3"/>
      <dgm:spPr/>
    </dgm:pt>
    <dgm:pt modelId="{19664EDB-F099-44BB-9530-580637490164}" type="pres">
      <dgm:prSet presAssocID="{6D8764CC-CFAB-4BD3-95EC-5D188AFFF264}" presName="hierRoot2" presStyleCnt="0">
        <dgm:presLayoutVars>
          <dgm:hierBranch val="init"/>
        </dgm:presLayoutVars>
      </dgm:prSet>
      <dgm:spPr/>
    </dgm:pt>
    <dgm:pt modelId="{64CFF446-2C06-4F61-9313-AD4DF1EF863D}" type="pres">
      <dgm:prSet presAssocID="{6D8764CC-CFAB-4BD3-95EC-5D188AFFF264}" presName="rootComposite" presStyleCnt="0"/>
      <dgm:spPr/>
    </dgm:pt>
    <dgm:pt modelId="{9053595A-E151-4805-99BF-B27DC107B9EA}" type="pres">
      <dgm:prSet presAssocID="{6D8764CC-CFAB-4BD3-95EC-5D188AFFF264}" presName="rootText" presStyleLbl="node2" presStyleIdx="1" presStyleCnt="3">
        <dgm:presLayoutVars>
          <dgm:chPref val="3"/>
        </dgm:presLayoutVars>
      </dgm:prSet>
      <dgm:spPr/>
    </dgm:pt>
    <dgm:pt modelId="{38C0D8AC-85AC-4338-87DF-9AE4D441C71A}" type="pres">
      <dgm:prSet presAssocID="{6D8764CC-CFAB-4BD3-95EC-5D188AFFF264}" presName="rootConnector" presStyleLbl="node2" presStyleIdx="1" presStyleCnt="3"/>
      <dgm:spPr/>
    </dgm:pt>
    <dgm:pt modelId="{E1826DDA-848C-4426-870F-60E166F7D193}" type="pres">
      <dgm:prSet presAssocID="{6D8764CC-CFAB-4BD3-95EC-5D188AFFF264}" presName="hierChild4" presStyleCnt="0"/>
      <dgm:spPr/>
    </dgm:pt>
    <dgm:pt modelId="{CAED1617-38EB-4493-82D4-49E840EBD34E}" type="pres">
      <dgm:prSet presAssocID="{6D8764CC-CFAB-4BD3-95EC-5D188AFFF264}" presName="hierChild5" presStyleCnt="0"/>
      <dgm:spPr/>
    </dgm:pt>
    <dgm:pt modelId="{BDC3702B-EEED-4C18-BD0C-576583F1E0B2}" type="pres">
      <dgm:prSet presAssocID="{E8B2CBE4-6401-4E28-B5AD-DC4A450A1368}" presName="Name37" presStyleLbl="parChTrans1D2" presStyleIdx="2" presStyleCnt="3"/>
      <dgm:spPr/>
    </dgm:pt>
    <dgm:pt modelId="{7F53C197-9288-4EAD-A6F0-FA3A720F5DB8}" type="pres">
      <dgm:prSet presAssocID="{7F735BD2-F889-477A-A9DA-40975C410DA0}" presName="hierRoot2" presStyleCnt="0">
        <dgm:presLayoutVars>
          <dgm:hierBranch val="init"/>
        </dgm:presLayoutVars>
      </dgm:prSet>
      <dgm:spPr/>
    </dgm:pt>
    <dgm:pt modelId="{538F94D3-7554-41A7-B2B6-3CE04A66802B}" type="pres">
      <dgm:prSet presAssocID="{7F735BD2-F889-477A-A9DA-40975C410DA0}" presName="rootComposite" presStyleCnt="0"/>
      <dgm:spPr/>
    </dgm:pt>
    <dgm:pt modelId="{FB4B5FE0-E372-4165-BD6B-9EDE8FA8E635}" type="pres">
      <dgm:prSet presAssocID="{7F735BD2-F889-477A-A9DA-40975C410DA0}" presName="rootText" presStyleLbl="node2" presStyleIdx="2" presStyleCnt="3">
        <dgm:presLayoutVars>
          <dgm:chPref val="3"/>
        </dgm:presLayoutVars>
      </dgm:prSet>
      <dgm:spPr/>
    </dgm:pt>
    <dgm:pt modelId="{203F8118-BD2F-48AD-A6DD-DAE1A9CF26D6}" type="pres">
      <dgm:prSet presAssocID="{7F735BD2-F889-477A-A9DA-40975C410DA0}" presName="rootConnector" presStyleLbl="node2" presStyleIdx="2" presStyleCnt="3"/>
      <dgm:spPr/>
    </dgm:pt>
    <dgm:pt modelId="{83F784A8-60A2-43EF-95AE-92E0FA28BCF0}" type="pres">
      <dgm:prSet presAssocID="{7F735BD2-F889-477A-A9DA-40975C410DA0}" presName="hierChild4" presStyleCnt="0"/>
      <dgm:spPr/>
    </dgm:pt>
    <dgm:pt modelId="{DDF20F99-72BB-4F4E-B839-1B4CA7E30ADF}" type="pres">
      <dgm:prSet presAssocID="{7F735BD2-F889-477A-A9DA-40975C410DA0}" presName="hierChild5" presStyleCnt="0"/>
      <dgm:spPr/>
    </dgm:pt>
    <dgm:pt modelId="{E955886A-700C-44BB-BB70-30951DAE99FF}" type="pres">
      <dgm:prSet presAssocID="{8F0A079F-FD60-44DA-A045-696BEBC46769}" presName="hierChild3" presStyleCnt="0"/>
      <dgm:spPr/>
    </dgm:pt>
  </dgm:ptLst>
  <dgm:cxnLst>
    <dgm:cxn modelId="{573F021B-1CF6-4CC2-A207-6496218934CF}" type="presOf" srcId="{6D8764CC-CFAB-4BD3-95EC-5D188AFFF264}" destId="{38C0D8AC-85AC-4338-87DF-9AE4D441C71A}" srcOrd="1" destOrd="0" presId="urn:microsoft.com/office/officeart/2005/8/layout/orgChart1"/>
    <dgm:cxn modelId="{1A421726-285F-4D2D-8451-CEDACAA5C2AD}" type="presOf" srcId="{E36E8F42-D1FC-4D6B-99BA-5330AC37A38B}" destId="{08844011-1278-4683-ABB3-60511A427D4D}" srcOrd="0" destOrd="0" presId="urn:microsoft.com/office/officeart/2005/8/layout/orgChart1"/>
    <dgm:cxn modelId="{06A9FB62-9E1E-4DFD-ABA4-5EE16E6A95D7}" type="presOf" srcId="{45DFCEFE-1D96-4E76-9EDD-E742C3AA38AC}" destId="{E2998C89-70EA-4E92-BE36-1EF267141A7A}" srcOrd="1" destOrd="0" presId="urn:microsoft.com/office/officeart/2005/8/layout/orgChart1"/>
    <dgm:cxn modelId="{FDFEF26F-2C09-44F2-A098-AE3A12D16949}" srcId="{8F0A079F-FD60-44DA-A045-696BEBC46769}" destId="{7F735BD2-F889-477A-A9DA-40975C410DA0}" srcOrd="2" destOrd="0" parTransId="{E8B2CBE4-6401-4E28-B5AD-DC4A450A1368}" sibTransId="{499E99EB-C23E-4498-8AA0-8E216BD5CDB3}"/>
    <dgm:cxn modelId="{93184E53-A7EE-499A-BF23-89B9DA003891}" type="presOf" srcId="{45DFCEFE-1D96-4E76-9EDD-E742C3AA38AC}" destId="{D7AF7893-FAD9-40E2-97B0-55338BEB705C}" srcOrd="0" destOrd="0" presId="urn:microsoft.com/office/officeart/2005/8/layout/orgChart1"/>
    <dgm:cxn modelId="{5A0ED277-C427-4A85-B723-00433F4A9013}" type="presOf" srcId="{8F0A079F-FD60-44DA-A045-696BEBC46769}" destId="{90BF08D6-5E38-44C9-AD82-63DAE09A4906}" srcOrd="1" destOrd="0" presId="urn:microsoft.com/office/officeart/2005/8/layout/orgChart1"/>
    <dgm:cxn modelId="{7A808F58-A507-48AF-854C-098D5E11DFDB}" srcId="{8F0A079F-FD60-44DA-A045-696BEBC46769}" destId="{6D8764CC-CFAB-4BD3-95EC-5D188AFFF264}" srcOrd="1" destOrd="0" parTransId="{C396F1EF-77DB-4544-BD88-60B452D11F54}" sibTransId="{E8BF59AD-599E-48DD-BA7F-18A839244581}"/>
    <dgm:cxn modelId="{0BC0697D-87DF-4D2F-89C2-CDA45DB1C18A}" type="presOf" srcId="{C396F1EF-77DB-4544-BD88-60B452D11F54}" destId="{BB97DF2E-31E3-4CAE-A4C0-8AB20C68E626}" srcOrd="0" destOrd="0" presId="urn:microsoft.com/office/officeart/2005/8/layout/orgChart1"/>
    <dgm:cxn modelId="{DD9E4192-677E-40E8-944D-C6A13F2996AB}" srcId="{9905747D-4F09-4D59-8F01-5DD69D06A4F9}" destId="{8F0A079F-FD60-44DA-A045-696BEBC46769}" srcOrd="0" destOrd="0" parTransId="{A877F8DE-DC29-4B54-A8DE-2E114CEC986F}" sibTransId="{E27CCF54-58BD-4F90-B85D-6B6DB6B0851A}"/>
    <dgm:cxn modelId="{6704FF98-4766-4F3B-A428-68E74EDE44FB}" srcId="{8F0A079F-FD60-44DA-A045-696BEBC46769}" destId="{45DFCEFE-1D96-4E76-9EDD-E742C3AA38AC}" srcOrd="0" destOrd="0" parTransId="{E36E8F42-D1FC-4D6B-99BA-5330AC37A38B}" sibTransId="{0A179C26-BE5E-44D3-8813-02C689D50B0E}"/>
    <dgm:cxn modelId="{6B02D1A5-37A1-4249-9603-7DEB282B632A}" type="presOf" srcId="{7F735BD2-F889-477A-A9DA-40975C410DA0}" destId="{203F8118-BD2F-48AD-A6DD-DAE1A9CF26D6}" srcOrd="1" destOrd="0" presId="urn:microsoft.com/office/officeart/2005/8/layout/orgChart1"/>
    <dgm:cxn modelId="{76538DB8-43FA-42A6-B657-CBC28BC26D2A}" type="presOf" srcId="{7F735BD2-F889-477A-A9DA-40975C410DA0}" destId="{FB4B5FE0-E372-4165-BD6B-9EDE8FA8E635}" srcOrd="0" destOrd="0" presId="urn:microsoft.com/office/officeart/2005/8/layout/orgChart1"/>
    <dgm:cxn modelId="{1986E9C6-E905-4136-BC9E-9CC15313D753}" type="presOf" srcId="{9905747D-4F09-4D59-8F01-5DD69D06A4F9}" destId="{0663A228-4CD5-49A6-BDF0-7655C9D8FD97}" srcOrd="0" destOrd="0" presId="urn:microsoft.com/office/officeart/2005/8/layout/orgChart1"/>
    <dgm:cxn modelId="{F06175CE-AD24-4597-867A-435F5358BE35}" type="presOf" srcId="{8F0A079F-FD60-44DA-A045-696BEBC46769}" destId="{A17B287A-CEC6-4B4C-BE29-D55C8AC19296}" srcOrd="0" destOrd="0" presId="urn:microsoft.com/office/officeart/2005/8/layout/orgChart1"/>
    <dgm:cxn modelId="{F29513D3-2188-46BB-B003-16706B4E41F3}" type="presOf" srcId="{6D8764CC-CFAB-4BD3-95EC-5D188AFFF264}" destId="{9053595A-E151-4805-99BF-B27DC107B9EA}" srcOrd="0" destOrd="0" presId="urn:microsoft.com/office/officeart/2005/8/layout/orgChart1"/>
    <dgm:cxn modelId="{CF3458D8-BEF7-44EF-875D-E90F062BDCE4}" type="presOf" srcId="{E8B2CBE4-6401-4E28-B5AD-DC4A450A1368}" destId="{BDC3702B-EEED-4C18-BD0C-576583F1E0B2}" srcOrd="0" destOrd="0" presId="urn:microsoft.com/office/officeart/2005/8/layout/orgChart1"/>
    <dgm:cxn modelId="{4D165733-CF15-4556-8FC2-F5A97E5EEA90}" type="presParOf" srcId="{0663A228-4CD5-49A6-BDF0-7655C9D8FD97}" destId="{89CC0FB0-6ACC-492F-8F49-BF66A6437ECC}" srcOrd="0" destOrd="0" presId="urn:microsoft.com/office/officeart/2005/8/layout/orgChart1"/>
    <dgm:cxn modelId="{EB889076-0365-4523-9E77-AB8BE3B7301D}" type="presParOf" srcId="{89CC0FB0-6ACC-492F-8F49-BF66A6437ECC}" destId="{98BF3153-93FA-4516-B542-A5989A11E0EE}" srcOrd="0" destOrd="0" presId="urn:microsoft.com/office/officeart/2005/8/layout/orgChart1"/>
    <dgm:cxn modelId="{C88420DA-F1F4-4600-AE90-CA6DE3099B53}" type="presParOf" srcId="{98BF3153-93FA-4516-B542-A5989A11E0EE}" destId="{A17B287A-CEC6-4B4C-BE29-D55C8AC19296}" srcOrd="0" destOrd="0" presId="urn:microsoft.com/office/officeart/2005/8/layout/orgChart1"/>
    <dgm:cxn modelId="{352BD605-AE83-493C-84D6-82587BB2B4AB}" type="presParOf" srcId="{98BF3153-93FA-4516-B542-A5989A11E0EE}" destId="{90BF08D6-5E38-44C9-AD82-63DAE09A4906}" srcOrd="1" destOrd="0" presId="urn:microsoft.com/office/officeart/2005/8/layout/orgChart1"/>
    <dgm:cxn modelId="{ED137992-87C4-41E6-A20D-1CAF694CB90A}" type="presParOf" srcId="{89CC0FB0-6ACC-492F-8F49-BF66A6437ECC}" destId="{7E17C747-EDBB-4BE9-B420-B9397614647C}" srcOrd="1" destOrd="0" presId="urn:microsoft.com/office/officeart/2005/8/layout/orgChart1"/>
    <dgm:cxn modelId="{D6C562DC-13A7-4D5D-ADFD-277AB140E28A}" type="presParOf" srcId="{7E17C747-EDBB-4BE9-B420-B9397614647C}" destId="{08844011-1278-4683-ABB3-60511A427D4D}" srcOrd="0" destOrd="0" presId="urn:microsoft.com/office/officeart/2005/8/layout/orgChart1"/>
    <dgm:cxn modelId="{85018AB6-0E1B-495D-8FD9-AF8ABE26D804}" type="presParOf" srcId="{7E17C747-EDBB-4BE9-B420-B9397614647C}" destId="{FABE219F-843F-4A37-80AF-05D90DC8D2D8}" srcOrd="1" destOrd="0" presId="urn:microsoft.com/office/officeart/2005/8/layout/orgChart1"/>
    <dgm:cxn modelId="{076507F2-3285-4982-9AC9-4AEE3A98CE6B}" type="presParOf" srcId="{FABE219F-843F-4A37-80AF-05D90DC8D2D8}" destId="{C46207A3-EAC9-449F-AC8D-169D95BD7002}" srcOrd="0" destOrd="0" presId="urn:microsoft.com/office/officeart/2005/8/layout/orgChart1"/>
    <dgm:cxn modelId="{FEFE5040-4C0E-469F-8455-F97F4D9D845C}" type="presParOf" srcId="{C46207A3-EAC9-449F-AC8D-169D95BD7002}" destId="{D7AF7893-FAD9-40E2-97B0-55338BEB705C}" srcOrd="0" destOrd="0" presId="urn:microsoft.com/office/officeart/2005/8/layout/orgChart1"/>
    <dgm:cxn modelId="{AD25C5B0-AC59-4182-A645-DE500D645C54}" type="presParOf" srcId="{C46207A3-EAC9-449F-AC8D-169D95BD7002}" destId="{E2998C89-70EA-4E92-BE36-1EF267141A7A}" srcOrd="1" destOrd="0" presId="urn:microsoft.com/office/officeart/2005/8/layout/orgChart1"/>
    <dgm:cxn modelId="{80D4B2C1-B0AA-4037-8FEA-52B88F6D7154}" type="presParOf" srcId="{FABE219F-843F-4A37-80AF-05D90DC8D2D8}" destId="{A33AC2DE-682A-4C24-9C3A-0C636BB50DE1}" srcOrd="1" destOrd="0" presId="urn:microsoft.com/office/officeart/2005/8/layout/orgChart1"/>
    <dgm:cxn modelId="{B50E5360-A5C3-41CB-979D-F6D6158AA568}" type="presParOf" srcId="{FABE219F-843F-4A37-80AF-05D90DC8D2D8}" destId="{829E46C9-7CA6-4331-B4A5-21A325D5610D}" srcOrd="2" destOrd="0" presId="urn:microsoft.com/office/officeart/2005/8/layout/orgChart1"/>
    <dgm:cxn modelId="{DBB4CFEC-E75A-4FD6-AD12-F7B31DA3B289}" type="presParOf" srcId="{7E17C747-EDBB-4BE9-B420-B9397614647C}" destId="{BB97DF2E-31E3-4CAE-A4C0-8AB20C68E626}" srcOrd="2" destOrd="0" presId="urn:microsoft.com/office/officeart/2005/8/layout/orgChart1"/>
    <dgm:cxn modelId="{B553F7FA-52E2-4109-9E0E-AFDA264A67E8}" type="presParOf" srcId="{7E17C747-EDBB-4BE9-B420-B9397614647C}" destId="{19664EDB-F099-44BB-9530-580637490164}" srcOrd="3" destOrd="0" presId="urn:microsoft.com/office/officeart/2005/8/layout/orgChart1"/>
    <dgm:cxn modelId="{4E9FE2EA-6ED8-4C90-80D7-68D454D745AA}" type="presParOf" srcId="{19664EDB-F099-44BB-9530-580637490164}" destId="{64CFF446-2C06-4F61-9313-AD4DF1EF863D}" srcOrd="0" destOrd="0" presId="urn:microsoft.com/office/officeart/2005/8/layout/orgChart1"/>
    <dgm:cxn modelId="{E9134DE5-0967-4B12-B202-ABD8076B47DF}" type="presParOf" srcId="{64CFF446-2C06-4F61-9313-AD4DF1EF863D}" destId="{9053595A-E151-4805-99BF-B27DC107B9EA}" srcOrd="0" destOrd="0" presId="urn:microsoft.com/office/officeart/2005/8/layout/orgChart1"/>
    <dgm:cxn modelId="{98CBCE0D-8CEB-496C-AEF6-913CD7367C84}" type="presParOf" srcId="{64CFF446-2C06-4F61-9313-AD4DF1EF863D}" destId="{38C0D8AC-85AC-4338-87DF-9AE4D441C71A}" srcOrd="1" destOrd="0" presId="urn:microsoft.com/office/officeart/2005/8/layout/orgChart1"/>
    <dgm:cxn modelId="{76BB1BB5-BBD4-414C-964D-4D063FB0F930}" type="presParOf" srcId="{19664EDB-F099-44BB-9530-580637490164}" destId="{E1826DDA-848C-4426-870F-60E166F7D193}" srcOrd="1" destOrd="0" presId="urn:microsoft.com/office/officeart/2005/8/layout/orgChart1"/>
    <dgm:cxn modelId="{854328A9-4F8E-46FB-9949-CD5CDE0AA187}" type="presParOf" srcId="{19664EDB-F099-44BB-9530-580637490164}" destId="{CAED1617-38EB-4493-82D4-49E840EBD34E}" srcOrd="2" destOrd="0" presId="urn:microsoft.com/office/officeart/2005/8/layout/orgChart1"/>
    <dgm:cxn modelId="{4385ACD7-5E54-4A2F-BF9B-0ECB81E0C162}" type="presParOf" srcId="{7E17C747-EDBB-4BE9-B420-B9397614647C}" destId="{BDC3702B-EEED-4C18-BD0C-576583F1E0B2}" srcOrd="4" destOrd="0" presId="urn:microsoft.com/office/officeart/2005/8/layout/orgChart1"/>
    <dgm:cxn modelId="{EE04477C-5590-4A61-B669-F5714262DC44}" type="presParOf" srcId="{7E17C747-EDBB-4BE9-B420-B9397614647C}" destId="{7F53C197-9288-4EAD-A6F0-FA3A720F5DB8}" srcOrd="5" destOrd="0" presId="urn:microsoft.com/office/officeart/2005/8/layout/orgChart1"/>
    <dgm:cxn modelId="{3B634893-4902-46E8-9C0F-8CEE990880DF}" type="presParOf" srcId="{7F53C197-9288-4EAD-A6F0-FA3A720F5DB8}" destId="{538F94D3-7554-41A7-B2B6-3CE04A66802B}" srcOrd="0" destOrd="0" presId="urn:microsoft.com/office/officeart/2005/8/layout/orgChart1"/>
    <dgm:cxn modelId="{FE515872-29AF-41D8-821A-795544EE961A}" type="presParOf" srcId="{538F94D3-7554-41A7-B2B6-3CE04A66802B}" destId="{FB4B5FE0-E372-4165-BD6B-9EDE8FA8E635}" srcOrd="0" destOrd="0" presId="urn:microsoft.com/office/officeart/2005/8/layout/orgChart1"/>
    <dgm:cxn modelId="{DF4ED684-9D17-4A7D-B28E-600440F0340E}" type="presParOf" srcId="{538F94D3-7554-41A7-B2B6-3CE04A66802B}" destId="{203F8118-BD2F-48AD-A6DD-DAE1A9CF26D6}" srcOrd="1" destOrd="0" presId="urn:microsoft.com/office/officeart/2005/8/layout/orgChart1"/>
    <dgm:cxn modelId="{B14A9EE7-35AE-474B-8147-D83FA8542E1F}" type="presParOf" srcId="{7F53C197-9288-4EAD-A6F0-FA3A720F5DB8}" destId="{83F784A8-60A2-43EF-95AE-92E0FA28BCF0}" srcOrd="1" destOrd="0" presId="urn:microsoft.com/office/officeart/2005/8/layout/orgChart1"/>
    <dgm:cxn modelId="{BE826D09-2B1F-4F6F-92A4-DD22901DE543}" type="presParOf" srcId="{7F53C197-9288-4EAD-A6F0-FA3A720F5DB8}" destId="{DDF20F99-72BB-4F4E-B839-1B4CA7E30ADF}" srcOrd="2" destOrd="0" presId="urn:microsoft.com/office/officeart/2005/8/layout/orgChart1"/>
    <dgm:cxn modelId="{E5C44457-64E2-441F-8CD3-2560771CA6BD}" type="presParOf" srcId="{89CC0FB0-6ACC-492F-8F49-BF66A6437ECC}" destId="{E955886A-700C-44BB-BB70-30951DAE99F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C3702B-EEED-4C18-BD0C-576583F1E0B2}">
      <dsp:nvSpPr>
        <dsp:cNvPr id="0" name=""/>
        <dsp:cNvSpPr/>
      </dsp:nvSpPr>
      <dsp:spPr>
        <a:xfrm>
          <a:off x="5549436" y="2476785"/>
          <a:ext cx="3926266" cy="6814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0709"/>
              </a:lnTo>
              <a:lnTo>
                <a:pt x="3926266" y="340709"/>
              </a:lnTo>
              <a:lnTo>
                <a:pt x="3926266" y="68141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97DF2E-31E3-4CAE-A4C0-8AB20C68E626}">
      <dsp:nvSpPr>
        <dsp:cNvPr id="0" name=""/>
        <dsp:cNvSpPr/>
      </dsp:nvSpPr>
      <dsp:spPr>
        <a:xfrm>
          <a:off x="5503716" y="2476785"/>
          <a:ext cx="91440" cy="68141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8141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844011-1278-4683-ABB3-60511A427D4D}">
      <dsp:nvSpPr>
        <dsp:cNvPr id="0" name=""/>
        <dsp:cNvSpPr/>
      </dsp:nvSpPr>
      <dsp:spPr>
        <a:xfrm>
          <a:off x="1623169" y="2476785"/>
          <a:ext cx="3926266" cy="681418"/>
        </a:xfrm>
        <a:custGeom>
          <a:avLst/>
          <a:gdLst/>
          <a:ahLst/>
          <a:cxnLst/>
          <a:rect l="0" t="0" r="0" b="0"/>
          <a:pathLst>
            <a:path>
              <a:moveTo>
                <a:pt x="3926266" y="0"/>
              </a:moveTo>
              <a:lnTo>
                <a:pt x="3926266" y="340709"/>
              </a:lnTo>
              <a:lnTo>
                <a:pt x="0" y="340709"/>
              </a:lnTo>
              <a:lnTo>
                <a:pt x="0" y="68141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B287A-CEC6-4B4C-BE29-D55C8AC19296}">
      <dsp:nvSpPr>
        <dsp:cNvPr id="0" name=""/>
        <dsp:cNvSpPr/>
      </dsp:nvSpPr>
      <dsp:spPr>
        <a:xfrm>
          <a:off x="3927012" y="854361"/>
          <a:ext cx="3244848" cy="16224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kern="1200" dirty="0"/>
            <a:t>Base number systems for IGCSE</a:t>
          </a:r>
        </a:p>
      </dsp:txBody>
      <dsp:txXfrm>
        <a:off x="3927012" y="854361"/>
        <a:ext cx="3244848" cy="1622424"/>
      </dsp:txXfrm>
    </dsp:sp>
    <dsp:sp modelId="{D7AF7893-FAD9-40E2-97B0-55338BEB705C}">
      <dsp:nvSpPr>
        <dsp:cNvPr id="0" name=""/>
        <dsp:cNvSpPr/>
      </dsp:nvSpPr>
      <dsp:spPr>
        <a:xfrm>
          <a:off x="745" y="3158204"/>
          <a:ext cx="3244848" cy="162242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kern="1200" dirty="0"/>
            <a:t>Base 2:      Binary</a:t>
          </a:r>
        </a:p>
      </dsp:txBody>
      <dsp:txXfrm>
        <a:off x="745" y="3158204"/>
        <a:ext cx="3244848" cy="1622424"/>
      </dsp:txXfrm>
    </dsp:sp>
    <dsp:sp modelId="{9053595A-E151-4805-99BF-B27DC107B9EA}">
      <dsp:nvSpPr>
        <dsp:cNvPr id="0" name=""/>
        <dsp:cNvSpPr/>
      </dsp:nvSpPr>
      <dsp:spPr>
        <a:xfrm>
          <a:off x="3927012" y="3158204"/>
          <a:ext cx="3244848" cy="162242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kern="1200" dirty="0"/>
            <a:t>Base 10:   Denary</a:t>
          </a:r>
        </a:p>
      </dsp:txBody>
      <dsp:txXfrm>
        <a:off x="3927012" y="3158204"/>
        <a:ext cx="3244848" cy="1622424"/>
      </dsp:txXfrm>
    </dsp:sp>
    <dsp:sp modelId="{FB4B5FE0-E372-4165-BD6B-9EDE8FA8E635}">
      <dsp:nvSpPr>
        <dsp:cNvPr id="0" name=""/>
        <dsp:cNvSpPr/>
      </dsp:nvSpPr>
      <dsp:spPr>
        <a:xfrm>
          <a:off x="7853279" y="3158204"/>
          <a:ext cx="3244848" cy="162242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kern="1200" dirty="0"/>
            <a:t>Base 16: Hexadecimal</a:t>
          </a:r>
        </a:p>
      </dsp:txBody>
      <dsp:txXfrm>
        <a:off x="7853279" y="3158204"/>
        <a:ext cx="3244848" cy="16224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12/05/2022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1.1 Number systems | Number systems</a:t>
              </a:r>
            </a:p>
            <a:p>
              <a:endParaRPr lang="en-GB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42664" y="0"/>
              <a:ext cx="3249336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1.1 Number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Number systems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362092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bases: Denary (base 10)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5FF626-5B9E-458A-8AC8-E6DA7548706B}"/>
              </a:ext>
            </a:extLst>
          </p:cNvPr>
          <p:cNvSpPr/>
          <p:nvPr/>
        </p:nvSpPr>
        <p:spPr>
          <a:xfrm>
            <a:off x="176565" y="1187484"/>
            <a:ext cx="5720990" cy="15724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the number system you are most familiar with.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have been using it ever since you first started to count.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contains ten unique digits from 0-9.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do you think our number system evolved this way?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BD085D9-C4C8-4DA3-B672-37CBB04B1ED7}"/>
              </a:ext>
            </a:extLst>
          </p:cNvPr>
          <p:cNvGrpSpPr/>
          <p:nvPr/>
        </p:nvGrpSpPr>
        <p:grpSpPr>
          <a:xfrm>
            <a:off x="6959936" y="636982"/>
            <a:ext cx="4015011" cy="5341861"/>
            <a:chOff x="6942091" y="1112843"/>
            <a:chExt cx="4015011" cy="534186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7BE55D-1C1D-42A9-9BE3-6856680768BC}"/>
                </a:ext>
              </a:extLst>
            </p:cNvPr>
            <p:cNvSpPr/>
            <p:nvPr/>
          </p:nvSpPr>
          <p:spPr>
            <a:xfrm>
              <a:off x="6945740" y="1112843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chemeClr val="accent1"/>
                  </a:solidFill>
                </a:rPr>
                <a:t>0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6292A53-5094-429C-8826-8ADFB86446DA}"/>
                </a:ext>
              </a:extLst>
            </p:cNvPr>
            <p:cNvSpPr/>
            <p:nvPr/>
          </p:nvSpPr>
          <p:spPr>
            <a:xfrm>
              <a:off x="8308537" y="1112843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7CD0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7CD0DA"/>
                  </a:solidFill>
                </a:rPr>
                <a:t>1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551932-04DB-40F2-8C9A-6C440CE7FBA5}"/>
                </a:ext>
              </a:extLst>
            </p:cNvPr>
            <p:cNvSpPr/>
            <p:nvPr/>
          </p:nvSpPr>
          <p:spPr>
            <a:xfrm>
              <a:off x="9663472" y="1112843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66F510-AA52-4FDB-9CAB-17F44B626578}"/>
                </a:ext>
              </a:extLst>
            </p:cNvPr>
            <p:cNvSpPr/>
            <p:nvPr/>
          </p:nvSpPr>
          <p:spPr>
            <a:xfrm>
              <a:off x="6942091" y="2464771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902961-B490-47DD-8971-C955CBBDCD9B}"/>
                </a:ext>
              </a:extLst>
            </p:cNvPr>
            <p:cNvSpPr/>
            <p:nvPr/>
          </p:nvSpPr>
          <p:spPr>
            <a:xfrm>
              <a:off x="8304889" y="2464771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92D050"/>
                  </a:solidFill>
                </a:rPr>
                <a:t>4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0B71BF-D24D-40B6-B480-EACBF1138F6D}"/>
                </a:ext>
              </a:extLst>
            </p:cNvPr>
            <p:cNvSpPr/>
            <p:nvPr/>
          </p:nvSpPr>
          <p:spPr>
            <a:xfrm>
              <a:off x="9667686" y="2464771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5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E406CB-B3C0-48C5-90E6-655A175A6450}"/>
                </a:ext>
              </a:extLst>
            </p:cNvPr>
            <p:cNvSpPr/>
            <p:nvPr/>
          </p:nvSpPr>
          <p:spPr>
            <a:xfrm>
              <a:off x="6945740" y="3816698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BD1C46-6059-4893-B8EB-FA2861593210}"/>
                </a:ext>
              </a:extLst>
            </p:cNvPr>
            <p:cNvSpPr/>
            <p:nvPr/>
          </p:nvSpPr>
          <p:spPr>
            <a:xfrm>
              <a:off x="8308537" y="3816698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FF66FF"/>
                  </a:solidFill>
                </a:rPr>
                <a:t>7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137200F-FA96-4A26-A5C0-1DB255F67ED8}"/>
                </a:ext>
              </a:extLst>
            </p:cNvPr>
            <p:cNvSpPr/>
            <p:nvPr/>
          </p:nvSpPr>
          <p:spPr>
            <a:xfrm>
              <a:off x="9663472" y="3816698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26C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26C9FF"/>
                  </a:solidFill>
                </a:rPr>
                <a:t>8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2891C25-ACA2-4C8C-B1AD-1723996C8B69}"/>
                </a:ext>
              </a:extLst>
            </p:cNvPr>
            <p:cNvSpPr/>
            <p:nvPr/>
          </p:nvSpPr>
          <p:spPr>
            <a:xfrm>
              <a:off x="8304889" y="5165288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chemeClr val="accent6">
                      <a:lumMod val="75000"/>
                    </a:schemeClr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2845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362092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bases: Denary (base 10)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A picture containing fireworks&#10;&#10;Description automatically generated">
            <a:extLst>
              <a:ext uri="{FF2B5EF4-FFF2-40B4-BE49-F238E27FC236}">
                <a16:creationId xmlns:a16="http://schemas.microsoft.com/office/drawing/2014/main" id="{0CCD6BFE-B52F-45E4-BF68-A97457098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150" y="4422076"/>
            <a:ext cx="2579850" cy="2615968"/>
          </a:xfrm>
          <a:prstGeom prst="rect">
            <a:avLst/>
          </a:prstGeom>
        </p:spPr>
      </p:pic>
      <p:pic>
        <p:nvPicPr>
          <p:cNvPr id="20" name="Picture 19" descr="A picture containing fireworks&#10;&#10;Description automatically generated">
            <a:extLst>
              <a:ext uri="{FF2B5EF4-FFF2-40B4-BE49-F238E27FC236}">
                <a16:creationId xmlns:a16="http://schemas.microsoft.com/office/drawing/2014/main" id="{3E4229A5-16E7-4E3D-BBDE-CB1A70E8D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42884" y="4422076"/>
            <a:ext cx="2579850" cy="261596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7FC71D0-DC95-4405-9C83-5CAC60931B15}"/>
              </a:ext>
            </a:extLst>
          </p:cNvPr>
          <p:cNvSpPr/>
          <p:nvPr/>
        </p:nvSpPr>
        <p:spPr>
          <a:xfrm>
            <a:off x="176565" y="1187484"/>
            <a:ext cx="5919435" cy="26666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the number system you are most familiar with.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have been using it ever since you first started to count.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contains ten unique digits from 0-9.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do you think our number system evolved this way?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one really knows the answer, but it’s probably to do with the fact we have a total of ten fingers and thumbs!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40C810C-9C83-40AD-BF2B-E6A7230DA98F}"/>
              </a:ext>
            </a:extLst>
          </p:cNvPr>
          <p:cNvGrpSpPr/>
          <p:nvPr/>
        </p:nvGrpSpPr>
        <p:grpSpPr>
          <a:xfrm>
            <a:off x="6959936" y="636982"/>
            <a:ext cx="4015011" cy="5341861"/>
            <a:chOff x="6942091" y="1112843"/>
            <a:chExt cx="4015011" cy="534186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EFCED1C-F16F-4D60-AE43-3709E2AC33C7}"/>
                </a:ext>
              </a:extLst>
            </p:cNvPr>
            <p:cNvSpPr/>
            <p:nvPr/>
          </p:nvSpPr>
          <p:spPr>
            <a:xfrm>
              <a:off x="6945740" y="1112843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chemeClr val="accent1"/>
                  </a:solidFill>
                </a:rPr>
                <a:t>0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7B4F6C6-4FBD-4F76-8AA4-EBFA8F7E82F6}"/>
                </a:ext>
              </a:extLst>
            </p:cNvPr>
            <p:cNvSpPr/>
            <p:nvPr/>
          </p:nvSpPr>
          <p:spPr>
            <a:xfrm>
              <a:off x="8308537" y="1112843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7CD0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7CD0DA"/>
                  </a:solidFill>
                </a:rPr>
                <a:t>1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CE12DFC-2876-4735-9F11-1D4D26F3B05E}"/>
                </a:ext>
              </a:extLst>
            </p:cNvPr>
            <p:cNvSpPr/>
            <p:nvPr/>
          </p:nvSpPr>
          <p:spPr>
            <a:xfrm>
              <a:off x="9663472" y="1112843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07F1F62-A301-4690-9B65-0DC7CF2CD05E}"/>
                </a:ext>
              </a:extLst>
            </p:cNvPr>
            <p:cNvSpPr/>
            <p:nvPr/>
          </p:nvSpPr>
          <p:spPr>
            <a:xfrm>
              <a:off x="6942091" y="2464771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0C5A6A3-3299-4449-8D3F-B862A850BD76}"/>
                </a:ext>
              </a:extLst>
            </p:cNvPr>
            <p:cNvSpPr/>
            <p:nvPr/>
          </p:nvSpPr>
          <p:spPr>
            <a:xfrm>
              <a:off x="8304889" y="2464771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92D050"/>
                  </a:solidFill>
                </a:rPr>
                <a:t>4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BB72980-D6C4-4821-895C-39DF7F9C4FFE}"/>
                </a:ext>
              </a:extLst>
            </p:cNvPr>
            <p:cNvSpPr/>
            <p:nvPr/>
          </p:nvSpPr>
          <p:spPr>
            <a:xfrm>
              <a:off x="9667686" y="2464771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5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84EF042-FB90-40CA-8230-2C43C6ED4502}"/>
                </a:ext>
              </a:extLst>
            </p:cNvPr>
            <p:cNvSpPr/>
            <p:nvPr/>
          </p:nvSpPr>
          <p:spPr>
            <a:xfrm>
              <a:off x="6945740" y="3816698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C0E9982-1445-43FB-81B9-148FF795F40A}"/>
                </a:ext>
              </a:extLst>
            </p:cNvPr>
            <p:cNvSpPr/>
            <p:nvPr/>
          </p:nvSpPr>
          <p:spPr>
            <a:xfrm>
              <a:off x="8308537" y="3816698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FF66FF"/>
                  </a:solidFill>
                </a:rPr>
                <a:t>7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3E11AE0-4C16-4EEE-B8A0-7A3FEFF5289C}"/>
                </a:ext>
              </a:extLst>
            </p:cNvPr>
            <p:cNvSpPr/>
            <p:nvPr/>
          </p:nvSpPr>
          <p:spPr>
            <a:xfrm>
              <a:off x="9663472" y="3816698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26C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rgbClr val="26C9FF"/>
                  </a:solidFill>
                </a:rPr>
                <a:t>8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7A39F2F-853F-4306-BD64-366FAA14A017}"/>
                </a:ext>
              </a:extLst>
            </p:cNvPr>
            <p:cNvSpPr/>
            <p:nvPr/>
          </p:nvSpPr>
          <p:spPr>
            <a:xfrm>
              <a:off x="8304889" y="5165288"/>
              <a:ext cx="1289416" cy="12894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>
                  <a:solidFill>
                    <a:schemeClr val="accent6">
                      <a:lumMod val="75000"/>
                    </a:schemeClr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095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362092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bases: Denary (base 10)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A picture containing fireworks&#10;&#10;Description automatically generated">
            <a:extLst>
              <a:ext uri="{FF2B5EF4-FFF2-40B4-BE49-F238E27FC236}">
                <a16:creationId xmlns:a16="http://schemas.microsoft.com/office/drawing/2014/main" id="{0CCD6BFE-B52F-45E4-BF68-A97457098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150" y="4422076"/>
            <a:ext cx="2579850" cy="2615968"/>
          </a:xfrm>
          <a:prstGeom prst="rect">
            <a:avLst/>
          </a:prstGeom>
        </p:spPr>
      </p:pic>
      <p:pic>
        <p:nvPicPr>
          <p:cNvPr id="20" name="Picture 19" descr="A picture containing fireworks&#10;&#10;Description automatically generated">
            <a:extLst>
              <a:ext uri="{FF2B5EF4-FFF2-40B4-BE49-F238E27FC236}">
                <a16:creationId xmlns:a16="http://schemas.microsoft.com/office/drawing/2014/main" id="{3E4229A5-16E7-4E3D-BBDE-CB1A70E8D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42884" y="4422076"/>
            <a:ext cx="2579850" cy="261596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7FC71D0-DC95-4405-9C83-5CAC60931B15}"/>
              </a:ext>
            </a:extLst>
          </p:cNvPr>
          <p:cNvSpPr/>
          <p:nvPr/>
        </p:nvSpPr>
        <p:spPr>
          <a:xfrm>
            <a:off x="176565" y="1187484"/>
            <a:ext cx="5919435" cy="3760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the number system you are most familiar with.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have been using it ever since you first started to count.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contains ten unique digits from 0-9.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do you think our number system evolved this way?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one really knows the answer, but it’s probably to do with the fact we have a total of ten fingers and thumbs!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the denary system, we have no unique digit for the number ten. We have to put a one and zero together.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72D400-E724-4EC9-9A46-4AAD6639F73E}"/>
              </a:ext>
            </a:extLst>
          </p:cNvPr>
          <p:cNvSpPr/>
          <p:nvPr/>
        </p:nvSpPr>
        <p:spPr>
          <a:xfrm>
            <a:off x="2251390" y="5156796"/>
            <a:ext cx="1289416" cy="1289416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540E69-F18B-40A0-A0CC-3D924B0E877B}"/>
              </a:ext>
            </a:extLst>
          </p:cNvPr>
          <p:cNvSpPr/>
          <p:nvPr/>
        </p:nvSpPr>
        <p:spPr>
          <a:xfrm>
            <a:off x="6963585" y="636982"/>
            <a:ext cx="1289416" cy="1289416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3B10A4-C978-4068-8567-0778D79D13F5}"/>
              </a:ext>
            </a:extLst>
          </p:cNvPr>
          <p:cNvSpPr/>
          <p:nvPr/>
        </p:nvSpPr>
        <p:spPr>
          <a:xfrm>
            <a:off x="8326382" y="636982"/>
            <a:ext cx="1289416" cy="1289416"/>
          </a:xfrm>
          <a:prstGeom prst="rect">
            <a:avLst/>
          </a:prstGeom>
          <a:solidFill>
            <a:schemeClr val="bg1"/>
          </a:solidFill>
          <a:ln w="28575">
            <a:solidFill>
              <a:srgbClr val="7CD0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rgbClr val="7CD0DA"/>
                </a:solidFill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8C04FE-FF88-4E01-BCF7-A8F347652B55}"/>
              </a:ext>
            </a:extLst>
          </p:cNvPr>
          <p:cNvSpPr/>
          <p:nvPr/>
        </p:nvSpPr>
        <p:spPr>
          <a:xfrm>
            <a:off x="9681317" y="636982"/>
            <a:ext cx="1289416" cy="1289416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BFB85E-FDC2-4C84-ACDC-1F7FEA8F7D2C}"/>
              </a:ext>
            </a:extLst>
          </p:cNvPr>
          <p:cNvSpPr/>
          <p:nvPr/>
        </p:nvSpPr>
        <p:spPr>
          <a:xfrm>
            <a:off x="6959936" y="1988910"/>
            <a:ext cx="1289416" cy="1289416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chemeClr val="bg1">
                    <a:lumMod val="95000"/>
                  </a:schemeClr>
                </a:solidFill>
              </a:rPr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70DEC8-9789-4DD1-A32D-4483D7CE61D2}"/>
              </a:ext>
            </a:extLst>
          </p:cNvPr>
          <p:cNvSpPr/>
          <p:nvPr/>
        </p:nvSpPr>
        <p:spPr>
          <a:xfrm>
            <a:off x="8322734" y="1988910"/>
            <a:ext cx="1289416" cy="1289416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chemeClr val="bg1">
                    <a:lumMod val="95000"/>
                  </a:schemeClr>
                </a:solidFill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9C47BA-FDF2-45DE-AE9C-1A8C959E2C5B}"/>
              </a:ext>
            </a:extLst>
          </p:cNvPr>
          <p:cNvSpPr/>
          <p:nvPr/>
        </p:nvSpPr>
        <p:spPr>
          <a:xfrm>
            <a:off x="9685531" y="1988910"/>
            <a:ext cx="1289416" cy="1289416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chemeClr val="bg1">
                    <a:lumMod val="95000"/>
                  </a:schemeClr>
                </a:solidFill>
              </a:rPr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AFBEB8-FB08-4DED-B8F4-53D313357E08}"/>
              </a:ext>
            </a:extLst>
          </p:cNvPr>
          <p:cNvSpPr/>
          <p:nvPr/>
        </p:nvSpPr>
        <p:spPr>
          <a:xfrm>
            <a:off x="6963585" y="3340837"/>
            <a:ext cx="1289416" cy="1289416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chemeClr val="bg1">
                    <a:lumMod val="95000"/>
                  </a:schemeClr>
                </a:solidFill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F059FE-6E03-4FC5-B11C-50C1486BC323}"/>
              </a:ext>
            </a:extLst>
          </p:cNvPr>
          <p:cNvSpPr/>
          <p:nvPr/>
        </p:nvSpPr>
        <p:spPr>
          <a:xfrm>
            <a:off x="8326382" y="3340837"/>
            <a:ext cx="1289416" cy="1289416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F0A72A3-9C1B-4527-BBE2-F45FBB459334}"/>
              </a:ext>
            </a:extLst>
          </p:cNvPr>
          <p:cNvSpPr/>
          <p:nvPr/>
        </p:nvSpPr>
        <p:spPr>
          <a:xfrm>
            <a:off x="9681317" y="3340837"/>
            <a:ext cx="1289416" cy="1289416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chemeClr val="bg1">
                    <a:lumMod val="95000"/>
                  </a:schemeClr>
                </a:solidFill>
              </a:rPr>
              <a:t>8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3DA2C2-D0DF-4532-9BE4-2980CEAA43F2}"/>
              </a:ext>
            </a:extLst>
          </p:cNvPr>
          <p:cNvSpPr/>
          <p:nvPr/>
        </p:nvSpPr>
        <p:spPr>
          <a:xfrm>
            <a:off x="8322734" y="4689427"/>
            <a:ext cx="1289416" cy="1289416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chemeClr val="bg1">
                    <a:lumMod val="95000"/>
                  </a:schemeClr>
                </a:solidFill>
              </a:rPr>
              <a:t>9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52CF6BA-9F4B-4C70-BAED-508717B0B0F6}"/>
              </a:ext>
            </a:extLst>
          </p:cNvPr>
          <p:cNvSpPr/>
          <p:nvPr/>
        </p:nvSpPr>
        <p:spPr>
          <a:xfrm>
            <a:off x="766467" y="5156796"/>
            <a:ext cx="1289416" cy="1289416"/>
          </a:xfrm>
          <a:prstGeom prst="rect">
            <a:avLst/>
          </a:prstGeom>
          <a:solidFill>
            <a:schemeClr val="bg1"/>
          </a:solidFill>
          <a:ln w="28575">
            <a:solidFill>
              <a:srgbClr val="7CD0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rgbClr val="7CD0DA"/>
                </a:solidFill>
              </a:rPr>
              <a:t>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B1538-B8A2-4EFC-9CA3-23D4AB2822C4}"/>
              </a:ext>
            </a:extLst>
          </p:cNvPr>
          <p:cNvSpPr/>
          <p:nvPr/>
        </p:nvSpPr>
        <p:spPr>
          <a:xfrm>
            <a:off x="3540806" y="5225877"/>
            <a:ext cx="2019813" cy="1036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6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ten</a:t>
            </a:r>
          </a:p>
        </p:txBody>
      </p:sp>
    </p:spTree>
    <p:extLst>
      <p:ext uri="{BB962C8B-B14F-4D97-AF65-F5344CB8AC3E}">
        <p14:creationId xmlns:p14="http://schemas.microsoft.com/office/powerpoint/2010/main" val="432232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362092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bases: Denary (base 10)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FC71D0-DC95-4405-9C83-5CAC60931B15}"/>
              </a:ext>
            </a:extLst>
          </p:cNvPr>
          <p:cNvSpPr/>
          <p:nvPr/>
        </p:nvSpPr>
        <p:spPr>
          <a:xfrm>
            <a:off x="176565" y="1187484"/>
            <a:ext cx="5919435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look at how that actually works with larger numbers.</a:t>
            </a:r>
          </a:p>
        </p:txBody>
      </p:sp>
      <p:graphicFrame>
        <p:nvGraphicFramePr>
          <p:cNvPr id="36" name="Table 2">
            <a:extLst>
              <a:ext uri="{FF2B5EF4-FFF2-40B4-BE49-F238E27FC236}">
                <a16:creationId xmlns:a16="http://schemas.microsoft.com/office/drawing/2014/main" id="{4A970930-EE95-40B0-A791-70B024BF3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933643"/>
              </p:ext>
            </p:extLst>
          </p:nvPr>
        </p:nvGraphicFramePr>
        <p:xfrm>
          <a:off x="278130" y="1927732"/>
          <a:ext cx="9761220" cy="35283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40305">
                  <a:extLst>
                    <a:ext uri="{9D8B030D-6E8A-4147-A177-3AD203B41FA5}">
                      <a16:colId xmlns:a16="http://schemas.microsoft.com/office/drawing/2014/main" val="3230272231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4021536762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469341150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1552510300"/>
                    </a:ext>
                  </a:extLst>
                </a:gridCol>
              </a:tblGrid>
              <a:tr h="630244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1000s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100s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4756"/>
                  </a:ext>
                </a:extLst>
              </a:tr>
              <a:tr h="1681411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311301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171714"/>
                  </a:ext>
                </a:extLst>
              </a:tr>
              <a:tr h="780105"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881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4771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362092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bases: Denary (base 10)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FC71D0-DC95-4405-9C83-5CAC60931B15}"/>
              </a:ext>
            </a:extLst>
          </p:cNvPr>
          <p:cNvSpPr/>
          <p:nvPr/>
        </p:nvSpPr>
        <p:spPr>
          <a:xfrm>
            <a:off x="176565" y="1187484"/>
            <a:ext cx="5919435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look at how that actually works with larger numbers.</a:t>
            </a:r>
          </a:p>
        </p:txBody>
      </p:sp>
      <p:graphicFrame>
        <p:nvGraphicFramePr>
          <p:cNvPr id="23" name="Table 2">
            <a:extLst>
              <a:ext uri="{FF2B5EF4-FFF2-40B4-BE49-F238E27FC236}">
                <a16:creationId xmlns:a16="http://schemas.microsoft.com/office/drawing/2014/main" id="{36A46BE0-043D-4BD6-9DC2-C470A53DF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475039"/>
              </p:ext>
            </p:extLst>
          </p:nvPr>
        </p:nvGraphicFramePr>
        <p:xfrm>
          <a:off x="278130" y="1927732"/>
          <a:ext cx="9761220" cy="35283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40305">
                  <a:extLst>
                    <a:ext uri="{9D8B030D-6E8A-4147-A177-3AD203B41FA5}">
                      <a16:colId xmlns:a16="http://schemas.microsoft.com/office/drawing/2014/main" val="3230272231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4021536762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469341150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1552510300"/>
                    </a:ext>
                  </a:extLst>
                </a:gridCol>
              </a:tblGrid>
              <a:tr h="630244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1000s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100s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4756"/>
                  </a:ext>
                </a:extLst>
              </a:tr>
              <a:tr h="1681411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311301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171714"/>
                  </a:ext>
                </a:extLst>
              </a:tr>
              <a:tr h="780105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0 x 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0 x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1 x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0 x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8817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FE4897-FC79-42BB-B2DA-3D6CE3487EF8}"/>
              </a:ext>
            </a:extLst>
          </p:cNvPr>
          <p:cNvSpPr txBox="1"/>
          <p:nvPr/>
        </p:nvSpPr>
        <p:spPr>
          <a:xfrm>
            <a:off x="2438557" y="4553078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A10092-9E0A-4F2B-ABAC-7E833882CEE2}"/>
              </a:ext>
            </a:extLst>
          </p:cNvPr>
          <p:cNvSpPr txBox="1"/>
          <p:nvPr/>
        </p:nvSpPr>
        <p:spPr>
          <a:xfrm>
            <a:off x="4874848" y="4553078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39714D-C713-4F4C-9AF1-CAD8E656DD2F}"/>
              </a:ext>
            </a:extLst>
          </p:cNvPr>
          <p:cNvSpPr txBox="1"/>
          <p:nvPr/>
        </p:nvSpPr>
        <p:spPr>
          <a:xfrm>
            <a:off x="7311139" y="4553077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576E06-8F04-4B3D-96C5-65D39E7A3633}"/>
              </a:ext>
            </a:extLst>
          </p:cNvPr>
          <p:cNvSpPr txBox="1"/>
          <p:nvPr/>
        </p:nvSpPr>
        <p:spPr>
          <a:xfrm>
            <a:off x="10070220" y="4737742"/>
            <a:ext cx="986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= 10</a:t>
            </a:r>
          </a:p>
        </p:txBody>
      </p:sp>
    </p:spTree>
    <p:extLst>
      <p:ext uri="{BB962C8B-B14F-4D97-AF65-F5344CB8AC3E}">
        <p14:creationId xmlns:p14="http://schemas.microsoft.com/office/powerpoint/2010/main" val="1401570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362092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bases: Denary (base 10)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FC71D0-DC95-4405-9C83-5CAC60931B15}"/>
              </a:ext>
            </a:extLst>
          </p:cNvPr>
          <p:cNvSpPr/>
          <p:nvPr/>
        </p:nvSpPr>
        <p:spPr>
          <a:xfrm>
            <a:off x="176565" y="1187484"/>
            <a:ext cx="5919435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look at how that actually works with larger numbers.</a:t>
            </a:r>
          </a:p>
        </p:txBody>
      </p:sp>
      <p:graphicFrame>
        <p:nvGraphicFramePr>
          <p:cNvPr id="36" name="Table 2">
            <a:extLst>
              <a:ext uri="{FF2B5EF4-FFF2-40B4-BE49-F238E27FC236}">
                <a16:creationId xmlns:a16="http://schemas.microsoft.com/office/drawing/2014/main" id="{4A970930-EE95-40B0-A791-70B024BF3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168699"/>
              </p:ext>
            </p:extLst>
          </p:nvPr>
        </p:nvGraphicFramePr>
        <p:xfrm>
          <a:off x="278130" y="1927732"/>
          <a:ext cx="9761220" cy="35283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40305">
                  <a:extLst>
                    <a:ext uri="{9D8B030D-6E8A-4147-A177-3AD203B41FA5}">
                      <a16:colId xmlns:a16="http://schemas.microsoft.com/office/drawing/2014/main" val="3230272231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4021536762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469341150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1552510300"/>
                    </a:ext>
                  </a:extLst>
                </a:gridCol>
              </a:tblGrid>
              <a:tr h="630244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1000s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100s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4756"/>
                  </a:ext>
                </a:extLst>
              </a:tr>
              <a:tr h="1681411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311301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171714"/>
                  </a:ext>
                </a:extLst>
              </a:tr>
              <a:tr h="780105"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881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775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362092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bases: Denary (base 10)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FC71D0-DC95-4405-9C83-5CAC60931B15}"/>
              </a:ext>
            </a:extLst>
          </p:cNvPr>
          <p:cNvSpPr/>
          <p:nvPr/>
        </p:nvSpPr>
        <p:spPr>
          <a:xfrm>
            <a:off x="176565" y="1187484"/>
            <a:ext cx="5919435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look at how that actually works with larger numbers.</a:t>
            </a:r>
          </a:p>
        </p:txBody>
      </p:sp>
      <p:graphicFrame>
        <p:nvGraphicFramePr>
          <p:cNvPr id="36" name="Table 2">
            <a:extLst>
              <a:ext uri="{FF2B5EF4-FFF2-40B4-BE49-F238E27FC236}">
                <a16:creationId xmlns:a16="http://schemas.microsoft.com/office/drawing/2014/main" id="{4A970930-EE95-40B0-A791-70B024BF3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368047"/>
              </p:ext>
            </p:extLst>
          </p:nvPr>
        </p:nvGraphicFramePr>
        <p:xfrm>
          <a:off x="278130" y="1927732"/>
          <a:ext cx="9761220" cy="35283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40305">
                  <a:extLst>
                    <a:ext uri="{9D8B030D-6E8A-4147-A177-3AD203B41FA5}">
                      <a16:colId xmlns:a16="http://schemas.microsoft.com/office/drawing/2014/main" val="3230272231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4021536762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469341150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1552510300"/>
                    </a:ext>
                  </a:extLst>
                </a:gridCol>
              </a:tblGrid>
              <a:tr h="630244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1000s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100s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4756"/>
                  </a:ext>
                </a:extLst>
              </a:tr>
              <a:tr h="1681411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311301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171714"/>
                  </a:ext>
                </a:extLst>
              </a:tr>
              <a:tr h="780105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4 x 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2 x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7 x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3 x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8817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72E3CC-91CD-4B1C-B2FF-90ACC5028417}"/>
              </a:ext>
            </a:extLst>
          </p:cNvPr>
          <p:cNvSpPr txBox="1"/>
          <p:nvPr/>
        </p:nvSpPr>
        <p:spPr>
          <a:xfrm>
            <a:off x="2438557" y="4553078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561769-9B6C-4F3C-BFC2-C8526148B9FC}"/>
              </a:ext>
            </a:extLst>
          </p:cNvPr>
          <p:cNvSpPr txBox="1"/>
          <p:nvPr/>
        </p:nvSpPr>
        <p:spPr>
          <a:xfrm>
            <a:off x="4874848" y="4553078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7B0F86-F27E-4B26-9442-5EE7A7D444BD}"/>
              </a:ext>
            </a:extLst>
          </p:cNvPr>
          <p:cNvSpPr txBox="1"/>
          <p:nvPr/>
        </p:nvSpPr>
        <p:spPr>
          <a:xfrm>
            <a:off x="7311139" y="4553077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98933D-F330-4A1D-9922-C8514EF43811}"/>
              </a:ext>
            </a:extLst>
          </p:cNvPr>
          <p:cNvSpPr txBox="1"/>
          <p:nvPr/>
        </p:nvSpPr>
        <p:spPr>
          <a:xfrm>
            <a:off x="10070220" y="4737742"/>
            <a:ext cx="1954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= 4,273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CFF82-C764-4EFA-B599-246EBC0E5580}"/>
              </a:ext>
            </a:extLst>
          </p:cNvPr>
          <p:cNvSpPr/>
          <p:nvPr/>
        </p:nvSpPr>
        <p:spPr>
          <a:xfrm>
            <a:off x="278130" y="5820744"/>
            <a:ext cx="11220450" cy="774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Notice how the column headings are increasing by a factor of ten every time we move to the left.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because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base-10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number system.</a:t>
            </a:r>
          </a:p>
        </p:txBody>
      </p:sp>
    </p:spTree>
    <p:extLst>
      <p:ext uri="{BB962C8B-B14F-4D97-AF65-F5344CB8AC3E}">
        <p14:creationId xmlns:p14="http://schemas.microsoft.com/office/powerpoint/2010/main" val="1407687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198644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A1E9AFC-DEA0-4792-B484-FBE13D7BBF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9616088"/>
              </p:ext>
            </p:extLst>
          </p:nvPr>
        </p:nvGraphicFramePr>
        <p:xfrm>
          <a:off x="546563" y="422910"/>
          <a:ext cx="11098873" cy="5634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3701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063805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bases: Binary (base 2) 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5F7D39-85B0-49BB-862D-A48F96239830}"/>
              </a:ext>
            </a:extLst>
          </p:cNvPr>
          <p:cNvSpPr/>
          <p:nvPr/>
        </p:nvSpPr>
        <p:spPr>
          <a:xfrm>
            <a:off x="176565" y="1187484"/>
            <a:ext cx="10716225" cy="774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base-2 binary number system only has two unique digits – 0 and 1.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other numbers in binary must be made up of a combination of these two digits.</a:t>
            </a:r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56B20B24-0018-47BD-9852-1AFFF0273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768694"/>
              </p:ext>
            </p:extLst>
          </p:nvPr>
        </p:nvGraphicFramePr>
        <p:xfrm>
          <a:off x="278130" y="2042032"/>
          <a:ext cx="9761220" cy="35283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40305">
                  <a:extLst>
                    <a:ext uri="{9D8B030D-6E8A-4147-A177-3AD203B41FA5}">
                      <a16:colId xmlns:a16="http://schemas.microsoft.com/office/drawing/2014/main" val="3230272231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4021536762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469341150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1552510300"/>
                    </a:ext>
                  </a:extLst>
                </a:gridCol>
              </a:tblGrid>
              <a:tr h="630244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4756"/>
                  </a:ext>
                </a:extLst>
              </a:tr>
              <a:tr h="1681411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311301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171714"/>
                  </a:ext>
                </a:extLst>
              </a:tr>
              <a:tr h="780105"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881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984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063805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bases: Binary (base 2) 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5F7D39-85B0-49BB-862D-A48F96239830}"/>
              </a:ext>
            </a:extLst>
          </p:cNvPr>
          <p:cNvSpPr/>
          <p:nvPr/>
        </p:nvSpPr>
        <p:spPr>
          <a:xfrm>
            <a:off x="176565" y="1187484"/>
            <a:ext cx="10716225" cy="774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base-2 binary number system only has two unique digits – 0 and 1.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other numbers in binary must be made up of a combination of these two digits.</a:t>
            </a:r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56B20B24-0018-47BD-9852-1AFFF0273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972676"/>
              </p:ext>
            </p:extLst>
          </p:nvPr>
        </p:nvGraphicFramePr>
        <p:xfrm>
          <a:off x="278130" y="2042032"/>
          <a:ext cx="9761220" cy="35283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40305">
                  <a:extLst>
                    <a:ext uri="{9D8B030D-6E8A-4147-A177-3AD203B41FA5}">
                      <a16:colId xmlns:a16="http://schemas.microsoft.com/office/drawing/2014/main" val="3230272231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4021536762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469341150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1552510300"/>
                    </a:ext>
                  </a:extLst>
                </a:gridCol>
              </a:tblGrid>
              <a:tr h="630244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4756"/>
                  </a:ext>
                </a:extLst>
              </a:tr>
              <a:tr h="1681411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311301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171714"/>
                  </a:ext>
                </a:extLst>
              </a:tr>
              <a:tr h="780105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0 x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0 x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1 x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1 x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8817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1346E28-D4CF-465B-8BFA-E4A9B0ECDEDC}"/>
              </a:ext>
            </a:extLst>
          </p:cNvPr>
          <p:cNvSpPr txBox="1"/>
          <p:nvPr/>
        </p:nvSpPr>
        <p:spPr>
          <a:xfrm>
            <a:off x="2438557" y="4644518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9BC78-7976-462E-A5E4-A5ABFE257E9C}"/>
              </a:ext>
            </a:extLst>
          </p:cNvPr>
          <p:cNvSpPr txBox="1"/>
          <p:nvPr/>
        </p:nvSpPr>
        <p:spPr>
          <a:xfrm>
            <a:off x="4874848" y="4644518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49D179-33BF-444D-B2EE-E09373D1930F}"/>
              </a:ext>
            </a:extLst>
          </p:cNvPr>
          <p:cNvSpPr txBox="1"/>
          <p:nvPr/>
        </p:nvSpPr>
        <p:spPr>
          <a:xfrm>
            <a:off x="7311139" y="4644517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5FC94E-3988-4E6F-895D-966DC3FD08ED}"/>
              </a:ext>
            </a:extLst>
          </p:cNvPr>
          <p:cNvSpPr txBox="1"/>
          <p:nvPr/>
        </p:nvSpPr>
        <p:spPr>
          <a:xfrm>
            <a:off x="10070220" y="4840612"/>
            <a:ext cx="1954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= 3</a:t>
            </a:r>
          </a:p>
        </p:txBody>
      </p:sp>
    </p:spTree>
    <p:extLst>
      <p:ext uri="{BB962C8B-B14F-4D97-AF65-F5344CB8AC3E}">
        <p14:creationId xmlns:p14="http://schemas.microsoft.com/office/powerpoint/2010/main" val="3198668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063805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bases: Binary (base 2) 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5F7D39-85B0-49BB-862D-A48F96239830}"/>
              </a:ext>
            </a:extLst>
          </p:cNvPr>
          <p:cNvSpPr/>
          <p:nvPr/>
        </p:nvSpPr>
        <p:spPr>
          <a:xfrm>
            <a:off x="176565" y="1187484"/>
            <a:ext cx="10716225" cy="774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base-2 binary number system only has two unique digits – 0 and 1.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other numbers in binary must be made up of a combination of these two digits.</a:t>
            </a:r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56B20B24-0018-47BD-9852-1AFFF0273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751498"/>
              </p:ext>
            </p:extLst>
          </p:nvPr>
        </p:nvGraphicFramePr>
        <p:xfrm>
          <a:off x="278130" y="2042032"/>
          <a:ext cx="9761220" cy="35283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40305">
                  <a:extLst>
                    <a:ext uri="{9D8B030D-6E8A-4147-A177-3AD203B41FA5}">
                      <a16:colId xmlns:a16="http://schemas.microsoft.com/office/drawing/2014/main" val="3230272231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4021536762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469341150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1552510300"/>
                    </a:ext>
                  </a:extLst>
                </a:gridCol>
              </a:tblGrid>
              <a:tr h="630244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4756"/>
                  </a:ext>
                </a:extLst>
              </a:tr>
              <a:tr h="1681411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311301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171714"/>
                  </a:ext>
                </a:extLst>
              </a:tr>
              <a:tr h="780105"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881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2962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063805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bases: Binary (base 2) 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5F7D39-85B0-49BB-862D-A48F96239830}"/>
              </a:ext>
            </a:extLst>
          </p:cNvPr>
          <p:cNvSpPr/>
          <p:nvPr/>
        </p:nvSpPr>
        <p:spPr>
          <a:xfrm>
            <a:off x="176565" y="1187484"/>
            <a:ext cx="10716225" cy="774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base-2 binary number system only has two unique digits – 0 and 1.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other numbers in binary must be made up of a combination of these two digits.</a:t>
            </a:r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56B20B24-0018-47BD-9852-1AFFF0273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903412"/>
              </p:ext>
            </p:extLst>
          </p:nvPr>
        </p:nvGraphicFramePr>
        <p:xfrm>
          <a:off x="278130" y="2042032"/>
          <a:ext cx="9761220" cy="35283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40305">
                  <a:extLst>
                    <a:ext uri="{9D8B030D-6E8A-4147-A177-3AD203B41FA5}">
                      <a16:colId xmlns:a16="http://schemas.microsoft.com/office/drawing/2014/main" val="3230272231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4021536762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469341150"/>
                    </a:ext>
                  </a:extLst>
                </a:gridCol>
                <a:gridCol w="2440305">
                  <a:extLst>
                    <a:ext uri="{9D8B030D-6E8A-4147-A177-3AD203B41FA5}">
                      <a16:colId xmlns:a16="http://schemas.microsoft.com/office/drawing/2014/main" val="1552510300"/>
                    </a:ext>
                  </a:extLst>
                </a:gridCol>
              </a:tblGrid>
              <a:tr h="630244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4756"/>
                  </a:ext>
                </a:extLst>
              </a:tr>
              <a:tr h="1681411"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311301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171714"/>
                  </a:ext>
                </a:extLst>
              </a:tr>
              <a:tr h="780105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1 x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0 x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1 x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/>
                        <a:t>1 x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8817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A218CB9-573D-4906-A8C1-560833703408}"/>
              </a:ext>
            </a:extLst>
          </p:cNvPr>
          <p:cNvSpPr txBox="1"/>
          <p:nvPr/>
        </p:nvSpPr>
        <p:spPr>
          <a:xfrm>
            <a:off x="2438557" y="4644518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23D36E-6DEF-4A23-B806-3BF4A0F8ADF6}"/>
              </a:ext>
            </a:extLst>
          </p:cNvPr>
          <p:cNvSpPr txBox="1"/>
          <p:nvPr/>
        </p:nvSpPr>
        <p:spPr>
          <a:xfrm>
            <a:off x="4874848" y="4644518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0A28FE-BF23-4D90-98A0-4B78AFDA0A81}"/>
              </a:ext>
            </a:extLst>
          </p:cNvPr>
          <p:cNvSpPr txBox="1"/>
          <p:nvPr/>
        </p:nvSpPr>
        <p:spPr>
          <a:xfrm>
            <a:off x="7311139" y="4644517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/>
              <a:t>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34B8CA-D8D9-4FCB-8D02-29575C0EE27D}"/>
              </a:ext>
            </a:extLst>
          </p:cNvPr>
          <p:cNvSpPr txBox="1"/>
          <p:nvPr/>
        </p:nvSpPr>
        <p:spPr>
          <a:xfrm>
            <a:off x="10070220" y="4840612"/>
            <a:ext cx="1954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= 11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7030C5-6057-4376-81DF-603636C80D2D}"/>
              </a:ext>
            </a:extLst>
          </p:cNvPr>
          <p:cNvSpPr/>
          <p:nvPr/>
        </p:nvSpPr>
        <p:spPr>
          <a:xfrm>
            <a:off x="278130" y="5820744"/>
            <a:ext cx="11220450" cy="774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Notice how the column headings are increasing by a factor of two every time we move to the left.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because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base-2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number system.</a:t>
            </a:r>
          </a:p>
        </p:txBody>
      </p:sp>
    </p:spTree>
    <p:extLst>
      <p:ext uri="{BB962C8B-B14F-4D97-AF65-F5344CB8AC3E}">
        <p14:creationId xmlns:p14="http://schemas.microsoft.com/office/powerpoint/2010/main" val="3673654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4063805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bases: Binary (base 2) 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5F7D39-85B0-49BB-862D-A48F96239830}"/>
              </a:ext>
            </a:extLst>
          </p:cNvPr>
          <p:cNvSpPr/>
          <p:nvPr/>
        </p:nvSpPr>
        <p:spPr>
          <a:xfrm>
            <a:off x="176565" y="1187484"/>
            <a:ext cx="10716225" cy="1971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base-2 binary number system only has two unique digits – 0 and 1.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other numbers in binary must be made up of a combination of these two digits.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Notice how the column headings are increasing by a factor of two every time we move to the left.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because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base-2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number system.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9671A89-911B-41DE-9A76-E722C746E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090378"/>
              </p:ext>
            </p:extLst>
          </p:nvPr>
        </p:nvGraphicFramePr>
        <p:xfrm>
          <a:off x="102233" y="3158858"/>
          <a:ext cx="11038176" cy="1798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89886">
                  <a:extLst>
                    <a:ext uri="{9D8B030D-6E8A-4147-A177-3AD203B41FA5}">
                      <a16:colId xmlns:a16="http://schemas.microsoft.com/office/drawing/2014/main" val="2445582220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140293450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822528201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960221255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4206076957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3087580506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147065730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3186276046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630306742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153707555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3488028593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3932464074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393373572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2268249601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895163314"/>
                    </a:ext>
                  </a:extLst>
                </a:gridCol>
                <a:gridCol w="689886">
                  <a:extLst>
                    <a:ext uri="{9D8B030D-6E8A-4147-A177-3AD203B41FA5}">
                      <a16:colId xmlns:a16="http://schemas.microsoft.com/office/drawing/2014/main" val="1263790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32,768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16,384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8,192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4,096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2,048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1,024</a:t>
                      </a:r>
                    </a:p>
                  </a:txBody>
                  <a:tcPr marL="0" marR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512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256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128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64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32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25935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0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1805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en-GB" sz="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2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5884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94EF79B6-307E-4DB8-B273-18BF79462ECA}"/>
              </a:ext>
            </a:extLst>
          </p:cNvPr>
          <p:cNvGrpSpPr/>
          <p:nvPr/>
        </p:nvGrpSpPr>
        <p:grpSpPr>
          <a:xfrm>
            <a:off x="11102309" y="3863407"/>
            <a:ext cx="1365923" cy="1039862"/>
            <a:chOff x="9159207" y="3884335"/>
            <a:chExt cx="1083795" cy="10398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B158EB1-39F1-494C-B61C-7A37BE92D3CA}"/>
                </a:ext>
              </a:extLst>
            </p:cNvPr>
            <p:cNvSpPr txBox="1"/>
            <p:nvPr/>
          </p:nvSpPr>
          <p:spPr>
            <a:xfrm>
              <a:off x="9159207" y="3884335"/>
              <a:ext cx="7182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= 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93DA71C-8A39-4EC5-9267-1BBB8CE11C1A}"/>
                </a:ext>
              </a:extLst>
            </p:cNvPr>
            <p:cNvSpPr txBox="1"/>
            <p:nvPr/>
          </p:nvSpPr>
          <p:spPr>
            <a:xfrm>
              <a:off x="9159207" y="4524087"/>
              <a:ext cx="10837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= 65,535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704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5020285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bases: Hexadecimal (base 16) 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5F7D39-85B0-49BB-862D-A48F96239830}"/>
              </a:ext>
            </a:extLst>
          </p:cNvPr>
          <p:cNvSpPr/>
          <p:nvPr/>
        </p:nvSpPr>
        <p:spPr>
          <a:xfrm>
            <a:off x="176565" y="1187484"/>
            <a:ext cx="10716225" cy="1572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base-16 hexadecimal number system has sixteen unique digits.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presents us with a unique problem.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do we use to represent the hex digits 10-15?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can’t use the numbers 10 to 15, as these are two digits stuck together!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11AA870A-9A20-497C-A05B-E51B5798D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879878"/>
              </p:ext>
            </p:extLst>
          </p:nvPr>
        </p:nvGraphicFramePr>
        <p:xfrm>
          <a:off x="252774" y="3136934"/>
          <a:ext cx="11440112" cy="457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15007">
                  <a:extLst>
                    <a:ext uri="{9D8B030D-6E8A-4147-A177-3AD203B41FA5}">
                      <a16:colId xmlns:a16="http://schemas.microsoft.com/office/drawing/2014/main" val="3463538392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470559903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3699595786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2155663177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4176207509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2416316905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4050165225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513523720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3227986039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1636930670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2865363329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3796328517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26649297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2179971887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3306858480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30186653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?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?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?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?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?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?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285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262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5020285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bases: Hexadecimal (base 16) 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5F7D39-85B0-49BB-862D-A48F96239830}"/>
              </a:ext>
            </a:extLst>
          </p:cNvPr>
          <p:cNvSpPr/>
          <p:nvPr/>
        </p:nvSpPr>
        <p:spPr>
          <a:xfrm>
            <a:off x="176565" y="1187484"/>
            <a:ext cx="10716225" cy="1572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base-16 hexadecimal number system has sixteen unique digits.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presents us with a unique problem.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do we use to represent the hex digits 10-15?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can’t use the numbers 10 to 15, as these are two digits stuck together!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11AA870A-9A20-497C-A05B-E51B5798D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525471"/>
              </p:ext>
            </p:extLst>
          </p:nvPr>
        </p:nvGraphicFramePr>
        <p:xfrm>
          <a:off x="252774" y="3136934"/>
          <a:ext cx="11440112" cy="457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15007">
                  <a:extLst>
                    <a:ext uri="{9D8B030D-6E8A-4147-A177-3AD203B41FA5}">
                      <a16:colId xmlns:a16="http://schemas.microsoft.com/office/drawing/2014/main" val="3463538392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470559903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3699595786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2155663177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4176207509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2416316905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4050165225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513523720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3227986039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1636930670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2865363329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3796328517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26649297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2179971887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3306858480"/>
                    </a:ext>
                  </a:extLst>
                </a:gridCol>
                <a:gridCol w="715007">
                  <a:extLst>
                    <a:ext uri="{9D8B030D-6E8A-4147-A177-3AD203B41FA5}">
                      <a16:colId xmlns:a16="http://schemas.microsoft.com/office/drawing/2014/main" val="30186653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B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C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D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E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F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285887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7419F5D-ABE6-4807-A2EE-EE68D5FE5B6B}"/>
              </a:ext>
            </a:extLst>
          </p:cNvPr>
          <p:cNvSpPr/>
          <p:nvPr/>
        </p:nvSpPr>
        <p:spPr>
          <a:xfrm>
            <a:off x="7394575" y="3136934"/>
            <a:ext cx="4288786" cy="43815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9AF471-F9B1-43F8-A49B-086FCC9F7EF3}"/>
              </a:ext>
            </a:extLst>
          </p:cNvPr>
          <p:cNvSpPr/>
          <p:nvPr/>
        </p:nvSpPr>
        <p:spPr>
          <a:xfrm>
            <a:off x="252774" y="3803684"/>
            <a:ext cx="10716225" cy="1173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Instead, we use the first six letters of the alphabet.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So, in hexadecimal, A = 10</a:t>
            </a:r>
          </a:p>
        </p:txBody>
      </p:sp>
    </p:spTree>
    <p:extLst>
      <p:ext uri="{BB962C8B-B14F-4D97-AF65-F5344CB8AC3E}">
        <p14:creationId xmlns:p14="http://schemas.microsoft.com/office/powerpoint/2010/main" val="3924444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198644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6E61CEAF-F039-4860-897A-742E10380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104852"/>
              </p:ext>
            </p:extLst>
          </p:nvPr>
        </p:nvGraphicFramePr>
        <p:xfrm>
          <a:off x="3327400" y="523174"/>
          <a:ext cx="5740401" cy="6248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13467">
                  <a:extLst>
                    <a:ext uri="{9D8B030D-6E8A-4147-A177-3AD203B41FA5}">
                      <a16:colId xmlns:a16="http://schemas.microsoft.com/office/drawing/2014/main" val="1696423099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2609989232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2976361534"/>
                    </a:ext>
                  </a:extLst>
                </a:gridCol>
              </a:tblGrid>
              <a:tr h="585745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Denary</a:t>
                      </a:r>
                    </a:p>
                    <a:p>
                      <a:pPr algn="ctr"/>
                      <a:r>
                        <a:rPr lang="en-GB" sz="1800" dirty="0"/>
                        <a:t>(base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Hex</a:t>
                      </a:r>
                    </a:p>
                    <a:p>
                      <a:pPr algn="ctr"/>
                      <a:r>
                        <a:rPr lang="en-GB" sz="1800" dirty="0"/>
                        <a:t>(base 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Binary </a:t>
                      </a:r>
                    </a:p>
                    <a:p>
                      <a:pPr algn="ctr"/>
                      <a:r>
                        <a:rPr lang="en-GB" sz="1800" dirty="0"/>
                        <a:t>(base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16187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77495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002509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078156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599550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768008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185131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319000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15307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69320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491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194149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816723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174664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271661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534517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761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4389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198644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6E61CEAF-F039-4860-897A-742E10380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053792"/>
              </p:ext>
            </p:extLst>
          </p:nvPr>
        </p:nvGraphicFramePr>
        <p:xfrm>
          <a:off x="3327400" y="523174"/>
          <a:ext cx="5740401" cy="6248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13467">
                  <a:extLst>
                    <a:ext uri="{9D8B030D-6E8A-4147-A177-3AD203B41FA5}">
                      <a16:colId xmlns:a16="http://schemas.microsoft.com/office/drawing/2014/main" val="1696423099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2609989232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2976361534"/>
                    </a:ext>
                  </a:extLst>
                </a:gridCol>
              </a:tblGrid>
              <a:tr h="585745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Denary</a:t>
                      </a:r>
                    </a:p>
                    <a:p>
                      <a:pPr algn="ctr"/>
                      <a:r>
                        <a:rPr lang="en-GB" sz="1800" dirty="0"/>
                        <a:t>(base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Hex</a:t>
                      </a:r>
                    </a:p>
                    <a:p>
                      <a:pPr algn="ctr"/>
                      <a:r>
                        <a:rPr lang="en-GB" sz="1800" dirty="0"/>
                        <a:t>(base 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Binary </a:t>
                      </a:r>
                    </a:p>
                    <a:p>
                      <a:pPr algn="ctr"/>
                      <a:r>
                        <a:rPr lang="en-GB" sz="1800" dirty="0"/>
                        <a:t>(base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16187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77495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002509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78156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599550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768008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185131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319000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15307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69320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491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194149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816723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174664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271661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534517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761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303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198644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6E61CEAF-F039-4860-897A-742E10380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883001"/>
              </p:ext>
            </p:extLst>
          </p:nvPr>
        </p:nvGraphicFramePr>
        <p:xfrm>
          <a:off x="3327400" y="523174"/>
          <a:ext cx="5740401" cy="6248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13467">
                  <a:extLst>
                    <a:ext uri="{9D8B030D-6E8A-4147-A177-3AD203B41FA5}">
                      <a16:colId xmlns:a16="http://schemas.microsoft.com/office/drawing/2014/main" val="1696423099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2609989232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2976361534"/>
                    </a:ext>
                  </a:extLst>
                </a:gridCol>
              </a:tblGrid>
              <a:tr h="585745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Denary</a:t>
                      </a:r>
                    </a:p>
                    <a:p>
                      <a:pPr algn="ctr"/>
                      <a:r>
                        <a:rPr lang="en-GB" sz="1800" dirty="0"/>
                        <a:t>(base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Hex</a:t>
                      </a:r>
                    </a:p>
                    <a:p>
                      <a:pPr algn="ctr"/>
                      <a:r>
                        <a:rPr lang="en-GB" sz="1800" dirty="0"/>
                        <a:t>(base 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Binary </a:t>
                      </a:r>
                    </a:p>
                    <a:p>
                      <a:pPr algn="ctr"/>
                      <a:r>
                        <a:rPr lang="en-GB" sz="1800" dirty="0"/>
                        <a:t>(base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16187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77495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002509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78156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599550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768008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185131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319000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15307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69320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491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194149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816723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174664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271661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534517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761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8521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198644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6E61CEAF-F039-4860-897A-742E10380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25376"/>
              </p:ext>
            </p:extLst>
          </p:nvPr>
        </p:nvGraphicFramePr>
        <p:xfrm>
          <a:off x="3327400" y="523174"/>
          <a:ext cx="5740401" cy="6248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13467">
                  <a:extLst>
                    <a:ext uri="{9D8B030D-6E8A-4147-A177-3AD203B41FA5}">
                      <a16:colId xmlns:a16="http://schemas.microsoft.com/office/drawing/2014/main" val="1696423099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2609989232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2976361534"/>
                    </a:ext>
                  </a:extLst>
                </a:gridCol>
              </a:tblGrid>
              <a:tr h="585745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Denary</a:t>
                      </a:r>
                    </a:p>
                    <a:p>
                      <a:pPr algn="ctr"/>
                      <a:r>
                        <a:rPr lang="en-GB" sz="1800" dirty="0"/>
                        <a:t>(base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Hex</a:t>
                      </a:r>
                    </a:p>
                    <a:p>
                      <a:pPr algn="ctr"/>
                      <a:r>
                        <a:rPr lang="en-GB" sz="1800" dirty="0"/>
                        <a:t>(base 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Binary </a:t>
                      </a:r>
                    </a:p>
                    <a:p>
                      <a:pPr algn="ctr"/>
                      <a:r>
                        <a:rPr lang="en-GB" sz="1800" dirty="0"/>
                        <a:t>(base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16187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77495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002509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078156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599550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768008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185131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319000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15307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69320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491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194149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816723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174664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271661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534517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761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542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198644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6E61CEAF-F039-4860-897A-742E10380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647701"/>
              </p:ext>
            </p:extLst>
          </p:nvPr>
        </p:nvGraphicFramePr>
        <p:xfrm>
          <a:off x="3327400" y="523174"/>
          <a:ext cx="5740401" cy="6248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13467">
                  <a:extLst>
                    <a:ext uri="{9D8B030D-6E8A-4147-A177-3AD203B41FA5}">
                      <a16:colId xmlns:a16="http://schemas.microsoft.com/office/drawing/2014/main" val="1696423099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2609989232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2976361534"/>
                    </a:ext>
                  </a:extLst>
                </a:gridCol>
              </a:tblGrid>
              <a:tr h="585745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Denary</a:t>
                      </a:r>
                    </a:p>
                    <a:p>
                      <a:pPr algn="ctr"/>
                      <a:r>
                        <a:rPr lang="en-GB" sz="1800" dirty="0"/>
                        <a:t>(base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Hex</a:t>
                      </a:r>
                    </a:p>
                    <a:p>
                      <a:pPr algn="ctr"/>
                      <a:r>
                        <a:rPr lang="en-GB" sz="1800" dirty="0"/>
                        <a:t>(base 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Binary </a:t>
                      </a:r>
                    </a:p>
                    <a:p>
                      <a:pPr algn="ctr"/>
                      <a:r>
                        <a:rPr lang="en-GB" sz="1800" dirty="0"/>
                        <a:t>(base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16187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77495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002509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078156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599550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768008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185131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319000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15307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69320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491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A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1010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194149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816723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174664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271661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534517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761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652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523174"/>
            <a:ext cx="198644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6E61CEAF-F039-4860-897A-742E10380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605003"/>
              </p:ext>
            </p:extLst>
          </p:nvPr>
        </p:nvGraphicFramePr>
        <p:xfrm>
          <a:off x="3327400" y="523174"/>
          <a:ext cx="5740401" cy="6248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13467">
                  <a:extLst>
                    <a:ext uri="{9D8B030D-6E8A-4147-A177-3AD203B41FA5}">
                      <a16:colId xmlns:a16="http://schemas.microsoft.com/office/drawing/2014/main" val="1696423099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2609989232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2976361534"/>
                    </a:ext>
                  </a:extLst>
                </a:gridCol>
              </a:tblGrid>
              <a:tr h="585745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Denary</a:t>
                      </a:r>
                    </a:p>
                    <a:p>
                      <a:pPr algn="ctr"/>
                      <a:r>
                        <a:rPr lang="en-GB" sz="1800" dirty="0"/>
                        <a:t>(base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Hex</a:t>
                      </a:r>
                    </a:p>
                    <a:p>
                      <a:pPr algn="ctr"/>
                      <a:r>
                        <a:rPr lang="en-GB" sz="1800" dirty="0"/>
                        <a:t>(base 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Binary </a:t>
                      </a:r>
                    </a:p>
                    <a:p>
                      <a:pPr algn="ctr"/>
                      <a:r>
                        <a:rPr lang="en-GB" sz="1800" dirty="0"/>
                        <a:t>(base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16187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77495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002509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078156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599550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768008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185131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319000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15307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69320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491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194149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816723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174664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271661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534517"/>
                  </a:ext>
                </a:extLst>
              </a:tr>
              <a:tr h="33471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/>
                        <a:t>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761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10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344789" y="1848540"/>
            <a:ext cx="1139857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Computers use different base number systems.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0, 1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Easy to represent two states – on/off, yes/no, etc.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0, 1, 2, 3, 4, 5, 6, 7, 8, 9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Our number system – the one we are most familiar with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Hexadecimal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 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0, 1, 2, 3, 4, 5, 6, 7, 8, 9, A, B, C, D, E, 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be expressed more compactly than binary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5F9C62-E77A-49CD-BA2B-2C36610DF886}"/>
              </a:ext>
            </a:extLst>
          </p:cNvPr>
          <p:cNvSpPr/>
          <p:nvPr/>
        </p:nvSpPr>
        <p:spPr>
          <a:xfrm>
            <a:off x="1517632" y="524912"/>
            <a:ext cx="1986441" cy="778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bases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2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2DB668F-0663-44FC-A6D1-018E2DE66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040975"/>
              </p:ext>
            </p:extLst>
          </p:nvPr>
        </p:nvGraphicFramePr>
        <p:xfrm>
          <a:off x="8583929" y="502052"/>
          <a:ext cx="3463290" cy="5943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4430">
                  <a:extLst>
                    <a:ext uri="{9D8B030D-6E8A-4147-A177-3AD203B41FA5}">
                      <a16:colId xmlns:a16="http://schemas.microsoft.com/office/drawing/2014/main" val="1696423099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609989232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976361534"/>
                    </a:ext>
                  </a:extLst>
                </a:gridCol>
              </a:tblGrid>
              <a:tr h="50713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Denary</a:t>
                      </a:r>
                    </a:p>
                    <a:p>
                      <a:pPr algn="ctr"/>
                      <a:r>
                        <a:rPr lang="en-GB" sz="1600" dirty="0"/>
                        <a:t>(base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Hex</a:t>
                      </a:r>
                    </a:p>
                    <a:p>
                      <a:pPr algn="ctr"/>
                      <a:r>
                        <a:rPr lang="en-GB" sz="1600" dirty="0"/>
                        <a:t>(base 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Binary </a:t>
                      </a:r>
                    </a:p>
                    <a:p>
                      <a:pPr algn="ctr"/>
                      <a:r>
                        <a:rPr lang="en-GB" sz="1600" dirty="0"/>
                        <a:t>(base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16187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0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0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0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77495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002509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2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2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10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078156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3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3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11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599550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4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4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100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768008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5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5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101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185131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6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6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110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319000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7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7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111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15307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8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8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1000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69320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9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9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1001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491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10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A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1010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194149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11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B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1011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816723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12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1100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174664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13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1101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271661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14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E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1110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534517"/>
                  </a:ext>
                </a:extLst>
              </a:tr>
              <a:tr h="324746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15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F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1111</a:t>
                      </a:r>
                      <a:endParaRPr lang="en-GB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761148"/>
                  </a:ext>
                </a:extLst>
              </a:tr>
            </a:tbl>
          </a:graphicData>
        </a:graphic>
      </p:graphicFrame>
      <p:pic>
        <p:nvPicPr>
          <p:cNvPr id="6" name="Picture 2" descr="make_notes">
            <a:extLst>
              <a:ext uri="{FF2B5EF4-FFF2-40B4-BE49-F238E27FC236}">
                <a16:creationId xmlns:a16="http://schemas.microsoft.com/office/drawing/2014/main" id="{8702F344-3BB9-41A3-BD4E-ED8B5EEA4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5286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1400</Words>
  <Application>Microsoft Office PowerPoint</Application>
  <PresentationFormat>Widescreen</PresentationFormat>
  <Paragraphs>528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65</cp:revision>
  <dcterms:created xsi:type="dcterms:W3CDTF">2019-10-14T15:21:06Z</dcterms:created>
  <dcterms:modified xsi:type="dcterms:W3CDTF">2022-05-12T13:22:21Z</dcterms:modified>
</cp:coreProperties>
</file>