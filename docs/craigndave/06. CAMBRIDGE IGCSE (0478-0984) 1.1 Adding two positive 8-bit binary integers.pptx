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7" r:id="rId2"/>
    <p:sldId id="303" r:id="rId3"/>
    <p:sldId id="304" r:id="rId4"/>
    <p:sldId id="305" r:id="rId5"/>
    <p:sldId id="306" r:id="rId6"/>
    <p:sldId id="307" r:id="rId7"/>
    <p:sldId id="264" r:id="rId8"/>
    <p:sldId id="308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9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6161"/>
    <a:srgbClr val="DA0000"/>
    <a:srgbClr val="F26521"/>
    <a:srgbClr val="FFFFFF"/>
    <a:srgbClr val="0087B1"/>
    <a:srgbClr val="000956"/>
    <a:srgbClr val="99E265"/>
    <a:srgbClr val="008C8C"/>
    <a:srgbClr val="00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8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7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1.1 Number systems | Adding two positive 8-bit binary integers</a:t>
              </a:r>
            </a:p>
            <a:p>
              <a:endParaRPr lang="en-GB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1.1 Number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Adding two positive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8-bit binary integers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D9E393-0D85-4A0C-9120-7500004BBBB2}"/>
              </a:ext>
            </a:extLst>
          </p:cNvPr>
          <p:cNvSpPr/>
          <p:nvPr/>
        </p:nvSpPr>
        <p:spPr>
          <a:xfrm>
            <a:off x="13557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rules of binary addition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005826"/>
              </p:ext>
            </p:extLst>
          </p:nvPr>
        </p:nvGraphicFramePr>
        <p:xfrm>
          <a:off x="3105357" y="1636610"/>
          <a:ext cx="2576986" cy="416594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8493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288493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</a:tblGrid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260821"/>
                  </a:ext>
                </a:extLst>
              </a:tr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1" dirty="0"/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1" dirty="0"/>
                        <a:t>0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69439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835E37C-8A3B-4BA4-90B4-94A214F0AF39}"/>
              </a:ext>
            </a:extLst>
          </p:cNvPr>
          <p:cNvSpPr/>
          <p:nvPr/>
        </p:nvSpPr>
        <p:spPr>
          <a:xfrm>
            <a:off x="6270798" y="1647868"/>
            <a:ext cx="24320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/>
              <a:t>0 + 0 = 0 </a:t>
            </a:r>
          </a:p>
        </p:txBody>
      </p:sp>
    </p:spTree>
    <p:extLst>
      <p:ext uri="{BB962C8B-B14F-4D97-AF65-F5344CB8AC3E}">
        <p14:creationId xmlns:p14="http://schemas.microsoft.com/office/powerpoint/2010/main" val="130055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266340"/>
              </p:ext>
            </p:extLst>
          </p:nvPr>
        </p:nvGraphicFramePr>
        <p:xfrm>
          <a:off x="3105357" y="1636610"/>
          <a:ext cx="2576986" cy="416594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8493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288493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</a:tblGrid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260821"/>
                  </a:ext>
                </a:extLst>
              </a:tr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1" dirty="0"/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1" dirty="0"/>
                        <a:t>1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69439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835E37C-8A3B-4BA4-90B4-94A214F0AF39}"/>
              </a:ext>
            </a:extLst>
          </p:cNvPr>
          <p:cNvSpPr/>
          <p:nvPr/>
        </p:nvSpPr>
        <p:spPr>
          <a:xfrm>
            <a:off x="6270798" y="1647868"/>
            <a:ext cx="243207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/>
              <a:t>0 + 0 = 0</a:t>
            </a:r>
          </a:p>
          <a:p>
            <a:r>
              <a:rPr lang="en-GB" sz="4800" dirty="0"/>
              <a:t>0 + 1 = 1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5E05EB-1C32-4F74-B1B8-881A8509E70A}"/>
              </a:ext>
            </a:extLst>
          </p:cNvPr>
          <p:cNvSpPr/>
          <p:nvPr/>
        </p:nvSpPr>
        <p:spPr>
          <a:xfrm>
            <a:off x="13557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rules of binary addition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85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713661"/>
              </p:ext>
            </p:extLst>
          </p:nvPr>
        </p:nvGraphicFramePr>
        <p:xfrm>
          <a:off x="3105357" y="1636610"/>
          <a:ext cx="2576986" cy="416594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8493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288493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</a:tblGrid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260821"/>
                  </a:ext>
                </a:extLst>
              </a:tr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1041486">
                <a:tc>
                  <a:txBody>
                    <a:bodyPr/>
                    <a:lstStyle/>
                    <a:p>
                      <a:pPr algn="ctr"/>
                      <a:r>
                        <a:rPr lang="en-GB" sz="6000" b="1" dirty="0"/>
                        <a:t>1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1" dirty="0"/>
                        <a:t>0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69439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835E37C-8A3B-4BA4-90B4-94A214F0AF39}"/>
              </a:ext>
            </a:extLst>
          </p:cNvPr>
          <p:cNvSpPr/>
          <p:nvPr/>
        </p:nvSpPr>
        <p:spPr>
          <a:xfrm>
            <a:off x="6270798" y="1647868"/>
            <a:ext cx="4284634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/>
              <a:t>0 + 0 = 0</a:t>
            </a:r>
          </a:p>
          <a:p>
            <a:r>
              <a:rPr lang="en-GB" sz="4800" dirty="0"/>
              <a:t>0 + 1 = 1</a:t>
            </a:r>
          </a:p>
          <a:p>
            <a:r>
              <a:rPr lang="en-GB" sz="4800" dirty="0"/>
              <a:t>1 + 1 = 0 carry 1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6577AB-8B14-42AE-B766-68A7F93D2B60}"/>
              </a:ext>
            </a:extLst>
          </p:cNvPr>
          <p:cNvSpPr/>
          <p:nvPr/>
        </p:nvSpPr>
        <p:spPr>
          <a:xfrm>
            <a:off x="13557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rules of binary addition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936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D9E393-0D85-4A0C-9120-7500004BBBB2}"/>
              </a:ext>
            </a:extLst>
          </p:cNvPr>
          <p:cNvSpPr/>
          <p:nvPr/>
        </p:nvSpPr>
        <p:spPr>
          <a:xfrm>
            <a:off x="129000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rules of binary addition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119968"/>
              </p:ext>
            </p:extLst>
          </p:nvPr>
        </p:nvGraphicFramePr>
        <p:xfrm>
          <a:off x="3105357" y="1636610"/>
          <a:ext cx="2576986" cy="416594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8493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288493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</a:tblGrid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260821"/>
                  </a:ext>
                </a:extLst>
              </a:tr>
              <a:tr h="1041486">
                <a:tc>
                  <a:txBody>
                    <a:bodyPr/>
                    <a:lstStyle/>
                    <a:p>
                      <a:pPr algn="ctr"/>
                      <a:endParaRPr lang="en-GB" sz="6000" b="0" dirty="0"/>
                    </a:p>
                  </a:txBody>
                  <a:tcPr anchor="ctr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0" dirty="0"/>
                        <a:t>1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1041486">
                <a:tc>
                  <a:txBody>
                    <a:bodyPr/>
                    <a:lstStyle/>
                    <a:p>
                      <a:pPr algn="ctr"/>
                      <a:r>
                        <a:rPr lang="en-GB" sz="6000" b="1" dirty="0"/>
                        <a:t>1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0" b="1" dirty="0"/>
                        <a:t>1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69439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835E37C-8A3B-4BA4-90B4-94A214F0AF39}"/>
              </a:ext>
            </a:extLst>
          </p:cNvPr>
          <p:cNvSpPr/>
          <p:nvPr/>
        </p:nvSpPr>
        <p:spPr>
          <a:xfrm>
            <a:off x="6270798" y="1647868"/>
            <a:ext cx="5182316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/>
              <a:t>0 + 0 = 0</a:t>
            </a:r>
          </a:p>
          <a:p>
            <a:r>
              <a:rPr lang="en-GB" sz="4800" dirty="0"/>
              <a:t>0 + 1 = 1</a:t>
            </a:r>
          </a:p>
          <a:p>
            <a:r>
              <a:rPr lang="en-GB" sz="4800" dirty="0"/>
              <a:t>1 + 1 = 0 carry 1</a:t>
            </a:r>
          </a:p>
          <a:p>
            <a:r>
              <a:rPr lang="en-GB" sz="4800" dirty="0"/>
              <a:t>1 + 1 + 1 = 1 carry 1 </a:t>
            </a: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0C0214F6-6D6D-4383-822A-15C5F5750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55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509050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170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8A6A491-8CD5-498C-82C7-E1F6A6972A00}"/>
              </a:ext>
            </a:extLst>
          </p:cNvPr>
          <p:cNvSpPr/>
          <p:nvPr/>
        </p:nvSpPr>
        <p:spPr>
          <a:xfrm>
            <a:off x="19272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073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443227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</a:t>
                      </a:r>
                      <a:r>
                        <a:rPr lang="en-GB" sz="2000" b="1" kern="1200" dirty="0">
                          <a:solidFill>
                            <a:schemeClr val="lt1"/>
                          </a:solidFill>
                        </a:rPr>
                        <a:t>line</a:t>
                      </a:r>
                      <a:endParaRPr lang="en-GB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170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2D075F7-796F-4A5D-8D90-0ECD7766BCDE}"/>
              </a:ext>
            </a:extLst>
          </p:cNvPr>
          <p:cNvSpPr/>
          <p:nvPr/>
        </p:nvSpPr>
        <p:spPr>
          <a:xfrm>
            <a:off x="19272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72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832247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170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F285A71-DA2A-4508-B546-47921E5F3066}"/>
              </a:ext>
            </a:extLst>
          </p:cNvPr>
          <p:cNvSpPr/>
          <p:nvPr/>
        </p:nvSpPr>
        <p:spPr>
          <a:xfrm>
            <a:off x="19272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402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470317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170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4A9B88B-4390-477B-B49C-0E71FE05AC15}"/>
              </a:ext>
            </a:extLst>
          </p:cNvPr>
          <p:cNvSpPr/>
          <p:nvPr/>
        </p:nvSpPr>
        <p:spPr>
          <a:xfrm>
            <a:off x="19272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355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724553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170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1AD536F-1922-4150-A2F7-5A76A8976684}"/>
              </a:ext>
            </a:extLst>
          </p:cNvPr>
          <p:cNvSpPr/>
          <p:nvPr/>
        </p:nvSpPr>
        <p:spPr>
          <a:xfrm>
            <a:off x="19272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526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751204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170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B700677-BF93-451A-90CB-C915CCC206BF}"/>
              </a:ext>
            </a:extLst>
          </p:cNvPr>
          <p:cNvSpPr/>
          <p:nvPr/>
        </p:nvSpPr>
        <p:spPr>
          <a:xfrm>
            <a:off x="19272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100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29176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170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2190AA8-5F52-4411-B8A5-322307E7B3DD}"/>
              </a:ext>
            </a:extLst>
          </p:cNvPr>
          <p:cNvSpPr/>
          <p:nvPr/>
        </p:nvSpPr>
        <p:spPr>
          <a:xfrm>
            <a:off x="19272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218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087245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170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6722B88-D229-40E1-96DA-D56FB4A0FED3}"/>
              </a:ext>
            </a:extLst>
          </p:cNvPr>
          <p:cNvSpPr/>
          <p:nvPr/>
        </p:nvSpPr>
        <p:spPr>
          <a:xfrm>
            <a:off x="19272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659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981146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170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7A5CC36-4558-475C-8837-31176B2E5AFA}"/>
              </a:ext>
            </a:extLst>
          </p:cNvPr>
          <p:cNvSpPr/>
          <p:nvPr/>
        </p:nvSpPr>
        <p:spPr>
          <a:xfrm>
            <a:off x="19272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575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D9E393-0D85-4A0C-9120-7500004BBBB2}"/>
              </a:ext>
            </a:extLst>
          </p:cNvPr>
          <p:cNvSpPr/>
          <p:nvPr/>
        </p:nvSpPr>
        <p:spPr>
          <a:xfrm>
            <a:off x="129000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12128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170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255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D4B955A9-515E-4F7E-A5C3-0A9754A63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146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D9E393-0D85-4A0C-9120-7500004BBBB2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395480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647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379530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260DE51-2607-40F0-88E9-BEB1F58844CA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146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354286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87DD2DB-1CE1-427B-9D66-475244500468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525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688467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1193184-D262-4699-B99F-8CC5665B8D45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16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715970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62BD842-DF91-4406-9809-277195CA7751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905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87370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DE275EE-F9D6-4A4D-A9EA-8FC95B30F080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466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280432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F7873F9-C78A-4564-9CA2-D15A617CF324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981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441894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4E682C7-CCAE-4408-B1A1-0F87BF97123D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27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213062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2A27953-FD3C-4B1A-A53B-FC829C8FE043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818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D9E393-0D85-4A0C-9120-7500004BBBB2}"/>
              </a:ext>
            </a:extLst>
          </p:cNvPr>
          <p:cNvSpPr/>
          <p:nvPr/>
        </p:nvSpPr>
        <p:spPr>
          <a:xfrm>
            <a:off x="129000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489802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pic>
        <p:nvPicPr>
          <p:cNvPr id="6" name="Picture 2" descr="make_notes">
            <a:extLst>
              <a:ext uri="{FF2B5EF4-FFF2-40B4-BE49-F238E27FC236}">
                <a16:creationId xmlns:a16="http://schemas.microsoft.com/office/drawing/2014/main" id="{57D8D61F-BB6A-443B-BA88-D265E4C06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5282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568425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8A5A96D-49F6-463B-93AA-776BC0AFF74C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908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150117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B5F18E7-5477-4E14-9EC6-DF29F426A9F6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571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789635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169D226-371F-465A-A6BA-130D6978E22D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525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125077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6511493-DB54-42C9-81B6-41EBD6126724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634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799598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138BA09-73D0-4F62-AAD7-4A1426FFA858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069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587411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7BA8FF7-A069-40E7-B678-481090569FE0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2430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329025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CE711F7-1F2D-46E6-97B1-EAFEE683F51D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264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049748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F0635F7-3DED-4886-B1E6-A4AC54DA7E37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5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853927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3286C1D-B917-4473-ACFD-373D7FA9C706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4395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D9E393-0D85-4A0C-9120-7500004BBBB2}"/>
              </a:ext>
            </a:extLst>
          </p:cNvPr>
          <p:cNvSpPr/>
          <p:nvPr/>
        </p:nvSpPr>
        <p:spPr>
          <a:xfrm>
            <a:off x="129000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658909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183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pic>
        <p:nvPicPr>
          <p:cNvPr id="6" name="Picture 2" descr="make_notes">
            <a:extLst>
              <a:ext uri="{FF2B5EF4-FFF2-40B4-BE49-F238E27FC236}">
                <a16:creationId xmlns:a16="http://schemas.microsoft.com/office/drawing/2014/main" id="{B39DC4BC-08E2-4566-90B8-7B2A201AD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88377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685113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73E87FB-A07F-4B73-9C8C-A290A56FA18E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9456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57387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C54F8B8-BAD8-4387-B482-AB13CAD877E9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2221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564662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CA5DB1F-D31F-4A60-B372-DB77D3CDDA00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243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236065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B311BEF-14B8-4BEE-9082-D0690934F41C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6776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915211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B4B93D8-C764-4B95-AE23-8865D0E82D63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127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123284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6AA579C-67F5-4CB9-9F28-E0252E038E8B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8686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029811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430D852-E88E-4F75-8E58-FE7212951001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2987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480121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8B79CB2-FFDC-46D0-B74A-544A67457481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8325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263603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E08FEE1-3212-4BEB-83D1-C7C1B51DFC30}"/>
              </a:ext>
            </a:extLst>
          </p:cNvPr>
          <p:cNvSpPr/>
          <p:nvPr/>
        </p:nvSpPr>
        <p:spPr>
          <a:xfrm>
            <a:off x="18129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4525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D9E393-0D85-4A0C-9120-7500004BBBB2}"/>
              </a:ext>
            </a:extLst>
          </p:cNvPr>
          <p:cNvSpPr/>
          <p:nvPr/>
        </p:nvSpPr>
        <p:spPr>
          <a:xfrm>
            <a:off x="1290001" y="523174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two 8-bit binary integers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CE7A286-9187-4386-A98D-484BC72B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410923"/>
              </p:ext>
            </p:extLst>
          </p:nvPr>
        </p:nvGraphicFramePr>
        <p:xfrm>
          <a:off x="530109" y="2109927"/>
          <a:ext cx="11131782" cy="3432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90">
                  <a:extLst>
                    <a:ext uri="{9D8B030D-6E8A-4147-A177-3AD203B41FA5}">
                      <a16:colId xmlns:a16="http://schemas.microsoft.com/office/drawing/2014/main" val="355435788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49971084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609636101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948076063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42794517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424393702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613975175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32264497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1200455516"/>
                    </a:ext>
                  </a:extLst>
                </a:gridCol>
                <a:gridCol w="1069688">
                  <a:extLst>
                    <a:ext uri="{9D8B030D-6E8A-4147-A177-3AD203B41FA5}">
                      <a16:colId xmlns:a16="http://schemas.microsoft.com/office/drawing/2014/main" val="2995647591"/>
                    </a:ext>
                  </a:extLst>
                </a:gridCol>
              </a:tblGrid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Denary</a:t>
                      </a:r>
                      <a:endParaRPr lang="en-GB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797815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49352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Number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077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Answer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2753"/>
                  </a:ext>
                </a:extLst>
              </a:tr>
              <a:tr h="686491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Carries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85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93D97ED-A007-4B73-9EDD-B70A0AD66BB3}"/>
              </a:ext>
            </a:extLst>
          </p:cNvPr>
          <p:cNvSpPr/>
          <p:nvPr/>
        </p:nvSpPr>
        <p:spPr>
          <a:xfrm>
            <a:off x="1168703" y="5659401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 </a:t>
            </a: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Overflow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7449AED8-2E98-41AE-B31C-5AB195017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663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1760</Words>
  <Application>Microsoft Office PowerPoint</Application>
  <PresentationFormat>Widescreen</PresentationFormat>
  <Paragraphs>1486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76</cp:revision>
  <dcterms:created xsi:type="dcterms:W3CDTF">2019-10-14T15:21:06Z</dcterms:created>
  <dcterms:modified xsi:type="dcterms:W3CDTF">2022-05-12T13:23:04Z</dcterms:modified>
</cp:coreProperties>
</file>