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7" r:id="rId2"/>
    <p:sldId id="259" r:id="rId3"/>
    <p:sldId id="278" r:id="rId4"/>
    <p:sldId id="279" r:id="rId5"/>
    <p:sldId id="261" r:id="rId6"/>
    <p:sldId id="280" r:id="rId7"/>
    <p:sldId id="263" r:id="rId8"/>
    <p:sldId id="264" r:id="rId9"/>
    <p:sldId id="281" r:id="rId10"/>
    <p:sldId id="282" r:id="rId11"/>
    <p:sldId id="267" r:id="rId12"/>
    <p:sldId id="283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4" r:id="rId24"/>
    <p:sldId id="290" r:id="rId25"/>
    <p:sldId id="29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6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69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12/05/2022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1.1 Number systems | Logical binary shifts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92998" y="0"/>
              <a:ext cx="319900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1.1 Number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Logical binary shifts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D202A4C-B0D6-417F-8CC5-44B9C26C75A2}"/>
              </a:ext>
            </a:extLst>
          </p:cNvPr>
          <p:cNvSpPr/>
          <p:nvPr/>
        </p:nvSpPr>
        <p:spPr>
          <a:xfrm>
            <a:off x="272963" y="541836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Logical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inary left shift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F8D7FCEF-C390-42E8-9E9E-85F79496F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18675"/>
              </p:ext>
            </p:extLst>
          </p:nvPr>
        </p:nvGraphicFramePr>
        <p:xfrm>
          <a:off x="733283" y="2212564"/>
          <a:ext cx="10706048" cy="17809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8256">
                  <a:extLst>
                    <a:ext uri="{9D8B030D-6E8A-4147-A177-3AD203B41FA5}">
                      <a16:colId xmlns:a16="http://schemas.microsoft.com/office/drawing/2014/main" val="3341632145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2281999331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676878258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187155890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977868597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564494374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4060824566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42630871"/>
                    </a:ext>
                  </a:extLst>
                </a:gridCol>
              </a:tblGrid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68993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30585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81594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BE203BB-8E36-4DD7-8DE9-7C8DD0484AF1}"/>
              </a:ext>
            </a:extLst>
          </p:cNvPr>
          <p:cNvSpPr/>
          <p:nvPr/>
        </p:nvSpPr>
        <p:spPr>
          <a:xfrm>
            <a:off x="11439331" y="2872200"/>
            <a:ext cx="495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dirty="0"/>
              <a:t>22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2845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F8D7FCEF-C390-42E8-9E9E-85F79496F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087419"/>
              </p:ext>
            </p:extLst>
          </p:nvPr>
        </p:nvGraphicFramePr>
        <p:xfrm>
          <a:off x="733283" y="2212564"/>
          <a:ext cx="10706048" cy="17809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8256">
                  <a:extLst>
                    <a:ext uri="{9D8B030D-6E8A-4147-A177-3AD203B41FA5}">
                      <a16:colId xmlns:a16="http://schemas.microsoft.com/office/drawing/2014/main" val="3341632145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2281999331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676878258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187155890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977868597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564494374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4060824566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42630871"/>
                    </a:ext>
                  </a:extLst>
                </a:gridCol>
              </a:tblGrid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68993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30585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815941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1515337-90CA-4CFF-823A-9682A3DC12B9}"/>
              </a:ext>
            </a:extLst>
          </p:cNvPr>
          <p:cNvCxnSpPr>
            <a:cxnSpLocks/>
          </p:cNvCxnSpPr>
          <p:nvPr/>
        </p:nvCxnSpPr>
        <p:spPr>
          <a:xfrm flipH="1">
            <a:off x="251927" y="3125755"/>
            <a:ext cx="895740" cy="57849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8576C25-6640-4E14-B836-E29889173FDF}"/>
              </a:ext>
            </a:extLst>
          </p:cNvPr>
          <p:cNvSpPr/>
          <p:nvPr/>
        </p:nvSpPr>
        <p:spPr>
          <a:xfrm>
            <a:off x="11439331" y="2872200"/>
            <a:ext cx="495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dirty="0"/>
              <a:t>22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8D84C7-D004-4E5A-96DE-BFB324939982}"/>
              </a:ext>
            </a:extLst>
          </p:cNvPr>
          <p:cNvSpPr/>
          <p:nvPr/>
        </p:nvSpPr>
        <p:spPr>
          <a:xfrm>
            <a:off x="272963" y="541836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Logical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inary left shift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429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F8D7FCEF-C390-42E8-9E9E-85F79496F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322677"/>
              </p:ext>
            </p:extLst>
          </p:nvPr>
        </p:nvGraphicFramePr>
        <p:xfrm>
          <a:off x="733283" y="2212564"/>
          <a:ext cx="10706048" cy="17809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8256">
                  <a:extLst>
                    <a:ext uri="{9D8B030D-6E8A-4147-A177-3AD203B41FA5}">
                      <a16:colId xmlns:a16="http://schemas.microsoft.com/office/drawing/2014/main" val="3341632145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2281999331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676878258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187155890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977868597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564494374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4060824566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42630871"/>
                    </a:ext>
                  </a:extLst>
                </a:gridCol>
              </a:tblGrid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68993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30585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815941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4D5484D-A767-468D-919C-74BB9F2C0632}"/>
              </a:ext>
            </a:extLst>
          </p:cNvPr>
          <p:cNvCxnSpPr>
            <a:cxnSpLocks/>
          </p:cNvCxnSpPr>
          <p:nvPr/>
        </p:nvCxnSpPr>
        <p:spPr>
          <a:xfrm flipH="1">
            <a:off x="1651518" y="3125755"/>
            <a:ext cx="895740" cy="57849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8F7A162-88E8-4C20-9117-5CAA8F133F82}"/>
              </a:ext>
            </a:extLst>
          </p:cNvPr>
          <p:cNvSpPr/>
          <p:nvPr/>
        </p:nvSpPr>
        <p:spPr>
          <a:xfrm>
            <a:off x="11439331" y="2872200"/>
            <a:ext cx="495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dirty="0"/>
              <a:t>22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0F3901-8A72-4E86-ABDF-3DBF434CDFA3}"/>
              </a:ext>
            </a:extLst>
          </p:cNvPr>
          <p:cNvSpPr/>
          <p:nvPr/>
        </p:nvSpPr>
        <p:spPr>
          <a:xfrm>
            <a:off x="272963" y="541836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Logical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inary left shift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998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F8D7FCEF-C390-42E8-9E9E-85F79496F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643582"/>
              </p:ext>
            </p:extLst>
          </p:nvPr>
        </p:nvGraphicFramePr>
        <p:xfrm>
          <a:off x="733283" y="2212564"/>
          <a:ext cx="10706048" cy="17809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8256">
                  <a:extLst>
                    <a:ext uri="{9D8B030D-6E8A-4147-A177-3AD203B41FA5}">
                      <a16:colId xmlns:a16="http://schemas.microsoft.com/office/drawing/2014/main" val="3341632145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2281999331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676878258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187155890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977868597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564494374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4060824566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42630871"/>
                    </a:ext>
                  </a:extLst>
                </a:gridCol>
              </a:tblGrid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68993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30585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815941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4D5484D-A767-468D-919C-74BB9F2C0632}"/>
              </a:ext>
            </a:extLst>
          </p:cNvPr>
          <p:cNvCxnSpPr>
            <a:cxnSpLocks/>
          </p:cNvCxnSpPr>
          <p:nvPr/>
        </p:nvCxnSpPr>
        <p:spPr>
          <a:xfrm flipH="1">
            <a:off x="2948479" y="3125755"/>
            <a:ext cx="895740" cy="57849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96F66733-3042-46C7-8662-A1479685768F}"/>
              </a:ext>
            </a:extLst>
          </p:cNvPr>
          <p:cNvSpPr/>
          <p:nvPr/>
        </p:nvSpPr>
        <p:spPr>
          <a:xfrm>
            <a:off x="11439331" y="2872200"/>
            <a:ext cx="495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dirty="0"/>
              <a:t>22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DE41C4-E219-41D4-8409-08D1129F01AE}"/>
              </a:ext>
            </a:extLst>
          </p:cNvPr>
          <p:cNvSpPr/>
          <p:nvPr/>
        </p:nvSpPr>
        <p:spPr>
          <a:xfrm>
            <a:off x="272963" y="541836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Logical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inary left shift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143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F8D7FCEF-C390-42E8-9E9E-85F79496F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369565"/>
              </p:ext>
            </p:extLst>
          </p:nvPr>
        </p:nvGraphicFramePr>
        <p:xfrm>
          <a:off x="733283" y="2212564"/>
          <a:ext cx="10706048" cy="17809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8256">
                  <a:extLst>
                    <a:ext uri="{9D8B030D-6E8A-4147-A177-3AD203B41FA5}">
                      <a16:colId xmlns:a16="http://schemas.microsoft.com/office/drawing/2014/main" val="3341632145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2281999331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676878258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187155890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977868597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564494374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4060824566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42630871"/>
                    </a:ext>
                  </a:extLst>
                </a:gridCol>
              </a:tblGrid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68993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30585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815941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4D5484D-A767-468D-919C-74BB9F2C0632}"/>
              </a:ext>
            </a:extLst>
          </p:cNvPr>
          <p:cNvCxnSpPr>
            <a:cxnSpLocks/>
          </p:cNvCxnSpPr>
          <p:nvPr/>
        </p:nvCxnSpPr>
        <p:spPr>
          <a:xfrm flipH="1">
            <a:off x="4338740" y="3125755"/>
            <a:ext cx="895740" cy="57849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2636CBD1-175A-4A9B-B7C3-8D3321D00C2B}"/>
              </a:ext>
            </a:extLst>
          </p:cNvPr>
          <p:cNvSpPr/>
          <p:nvPr/>
        </p:nvSpPr>
        <p:spPr>
          <a:xfrm>
            <a:off x="11439331" y="2872200"/>
            <a:ext cx="495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dirty="0"/>
              <a:t>22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FB2CB8-9FD0-430B-8C28-D36AE934A4D2}"/>
              </a:ext>
            </a:extLst>
          </p:cNvPr>
          <p:cNvSpPr/>
          <p:nvPr/>
        </p:nvSpPr>
        <p:spPr>
          <a:xfrm>
            <a:off x="272963" y="541836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Logical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inary left shift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480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F8D7FCEF-C390-42E8-9E9E-85F79496F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493446"/>
              </p:ext>
            </p:extLst>
          </p:nvPr>
        </p:nvGraphicFramePr>
        <p:xfrm>
          <a:off x="733283" y="2212564"/>
          <a:ext cx="10706048" cy="17809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8256">
                  <a:extLst>
                    <a:ext uri="{9D8B030D-6E8A-4147-A177-3AD203B41FA5}">
                      <a16:colId xmlns:a16="http://schemas.microsoft.com/office/drawing/2014/main" val="3341632145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2281999331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676878258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187155890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977868597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564494374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4060824566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42630871"/>
                    </a:ext>
                  </a:extLst>
                </a:gridCol>
              </a:tblGrid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68993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30585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815941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4D5484D-A767-468D-919C-74BB9F2C0632}"/>
              </a:ext>
            </a:extLst>
          </p:cNvPr>
          <p:cNvCxnSpPr>
            <a:cxnSpLocks/>
          </p:cNvCxnSpPr>
          <p:nvPr/>
        </p:nvCxnSpPr>
        <p:spPr>
          <a:xfrm flipH="1">
            <a:off x="5626368" y="3125755"/>
            <a:ext cx="895740" cy="57849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CCC12839-19AC-41A9-966F-45B119D15E8C}"/>
              </a:ext>
            </a:extLst>
          </p:cNvPr>
          <p:cNvSpPr/>
          <p:nvPr/>
        </p:nvSpPr>
        <p:spPr>
          <a:xfrm>
            <a:off x="11439331" y="2872200"/>
            <a:ext cx="495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dirty="0"/>
              <a:t>22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DD730E-E447-431A-A2D8-9574C570BEA1}"/>
              </a:ext>
            </a:extLst>
          </p:cNvPr>
          <p:cNvSpPr/>
          <p:nvPr/>
        </p:nvSpPr>
        <p:spPr>
          <a:xfrm>
            <a:off x="272963" y="541836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Logical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inary left shift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303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F8D7FCEF-C390-42E8-9E9E-85F79496F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456753"/>
              </p:ext>
            </p:extLst>
          </p:nvPr>
        </p:nvGraphicFramePr>
        <p:xfrm>
          <a:off x="733283" y="2212564"/>
          <a:ext cx="10706048" cy="17809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8256">
                  <a:extLst>
                    <a:ext uri="{9D8B030D-6E8A-4147-A177-3AD203B41FA5}">
                      <a16:colId xmlns:a16="http://schemas.microsoft.com/office/drawing/2014/main" val="3341632145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2281999331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676878258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187155890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977868597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564494374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4060824566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42630871"/>
                    </a:ext>
                  </a:extLst>
                </a:gridCol>
              </a:tblGrid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68993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30585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815941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4D5484D-A767-468D-919C-74BB9F2C0632}"/>
              </a:ext>
            </a:extLst>
          </p:cNvPr>
          <p:cNvCxnSpPr>
            <a:cxnSpLocks/>
          </p:cNvCxnSpPr>
          <p:nvPr/>
        </p:nvCxnSpPr>
        <p:spPr>
          <a:xfrm flipH="1">
            <a:off x="6979310" y="3125755"/>
            <a:ext cx="895740" cy="57849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E98AA1A4-C60A-4543-850A-3A3ABBC32EC0}"/>
              </a:ext>
            </a:extLst>
          </p:cNvPr>
          <p:cNvSpPr/>
          <p:nvPr/>
        </p:nvSpPr>
        <p:spPr>
          <a:xfrm>
            <a:off x="11439331" y="2872200"/>
            <a:ext cx="495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dirty="0"/>
              <a:t>22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2AFACB-3DB2-442E-9FDD-7EC9AB0CA6C4}"/>
              </a:ext>
            </a:extLst>
          </p:cNvPr>
          <p:cNvSpPr/>
          <p:nvPr/>
        </p:nvSpPr>
        <p:spPr>
          <a:xfrm>
            <a:off x="272963" y="541836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Logical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inary left shift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648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F8D7FCEF-C390-42E8-9E9E-85F79496F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505224"/>
              </p:ext>
            </p:extLst>
          </p:nvPr>
        </p:nvGraphicFramePr>
        <p:xfrm>
          <a:off x="733283" y="2212564"/>
          <a:ext cx="10706048" cy="17809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8256">
                  <a:extLst>
                    <a:ext uri="{9D8B030D-6E8A-4147-A177-3AD203B41FA5}">
                      <a16:colId xmlns:a16="http://schemas.microsoft.com/office/drawing/2014/main" val="3341632145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2281999331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676878258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187155890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977868597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564494374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4060824566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42630871"/>
                    </a:ext>
                  </a:extLst>
                </a:gridCol>
              </a:tblGrid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68993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30585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815941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4D5484D-A767-468D-919C-74BB9F2C0632}"/>
              </a:ext>
            </a:extLst>
          </p:cNvPr>
          <p:cNvCxnSpPr>
            <a:cxnSpLocks/>
          </p:cNvCxnSpPr>
          <p:nvPr/>
        </p:nvCxnSpPr>
        <p:spPr>
          <a:xfrm flipH="1">
            <a:off x="8341581" y="3125755"/>
            <a:ext cx="895740" cy="57849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2B060C1F-76EC-4E69-ADA7-EFC071C2F7EB}"/>
              </a:ext>
            </a:extLst>
          </p:cNvPr>
          <p:cNvSpPr/>
          <p:nvPr/>
        </p:nvSpPr>
        <p:spPr>
          <a:xfrm>
            <a:off x="11439331" y="2872200"/>
            <a:ext cx="495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dirty="0"/>
              <a:t>22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540A36-4B22-4DDF-97AE-5B4FB366F099}"/>
              </a:ext>
            </a:extLst>
          </p:cNvPr>
          <p:cNvSpPr/>
          <p:nvPr/>
        </p:nvSpPr>
        <p:spPr>
          <a:xfrm>
            <a:off x="272963" y="541836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Logical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inary left shift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657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F8D7FCEF-C390-42E8-9E9E-85F79496F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847553"/>
              </p:ext>
            </p:extLst>
          </p:nvPr>
        </p:nvGraphicFramePr>
        <p:xfrm>
          <a:off x="733283" y="2212564"/>
          <a:ext cx="10706048" cy="17809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8256">
                  <a:extLst>
                    <a:ext uri="{9D8B030D-6E8A-4147-A177-3AD203B41FA5}">
                      <a16:colId xmlns:a16="http://schemas.microsoft.com/office/drawing/2014/main" val="3341632145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2281999331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676878258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187155890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977868597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564494374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4060824566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42630871"/>
                    </a:ext>
                  </a:extLst>
                </a:gridCol>
              </a:tblGrid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68993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30585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815941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4D5484D-A767-468D-919C-74BB9F2C0632}"/>
              </a:ext>
            </a:extLst>
          </p:cNvPr>
          <p:cNvCxnSpPr>
            <a:cxnSpLocks/>
          </p:cNvCxnSpPr>
          <p:nvPr/>
        </p:nvCxnSpPr>
        <p:spPr>
          <a:xfrm flipH="1">
            <a:off x="9619877" y="3125755"/>
            <a:ext cx="895740" cy="57849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32A2586-52AA-4067-AA01-119E7BF72157}"/>
              </a:ext>
            </a:extLst>
          </p:cNvPr>
          <p:cNvSpPr/>
          <p:nvPr/>
        </p:nvSpPr>
        <p:spPr>
          <a:xfrm>
            <a:off x="11439331" y="2872200"/>
            <a:ext cx="495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dirty="0"/>
              <a:t>22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7E3FBF-9535-4ADE-97C2-400B9E69D728}"/>
              </a:ext>
            </a:extLst>
          </p:cNvPr>
          <p:cNvSpPr/>
          <p:nvPr/>
        </p:nvSpPr>
        <p:spPr>
          <a:xfrm>
            <a:off x="272963" y="541836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Logical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inary left shift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362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F8D7FCEF-C390-42E8-9E9E-85F79496F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448922"/>
              </p:ext>
            </p:extLst>
          </p:nvPr>
        </p:nvGraphicFramePr>
        <p:xfrm>
          <a:off x="733283" y="2212564"/>
          <a:ext cx="10706048" cy="17809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8256">
                  <a:extLst>
                    <a:ext uri="{9D8B030D-6E8A-4147-A177-3AD203B41FA5}">
                      <a16:colId xmlns:a16="http://schemas.microsoft.com/office/drawing/2014/main" val="3341632145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2281999331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676878258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187155890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977868597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564494374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4060824566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42630871"/>
                    </a:ext>
                  </a:extLst>
                </a:gridCol>
              </a:tblGrid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68993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30585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81594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A9F26F8-B5CE-4A8D-9475-2C2F28E9AF0B}"/>
              </a:ext>
            </a:extLst>
          </p:cNvPr>
          <p:cNvSpPr/>
          <p:nvPr/>
        </p:nvSpPr>
        <p:spPr>
          <a:xfrm>
            <a:off x="11439331" y="2872200"/>
            <a:ext cx="495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dirty="0"/>
              <a:t>22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395695-78E1-42B6-8ACE-64B72880BC40}"/>
              </a:ext>
            </a:extLst>
          </p:cNvPr>
          <p:cNvSpPr/>
          <p:nvPr/>
        </p:nvSpPr>
        <p:spPr>
          <a:xfrm>
            <a:off x="272963" y="541836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Logical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inary left shift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68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F8D7FCEF-C390-42E8-9E9E-85F79496F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517279"/>
              </p:ext>
            </p:extLst>
          </p:nvPr>
        </p:nvGraphicFramePr>
        <p:xfrm>
          <a:off x="733283" y="2212564"/>
          <a:ext cx="10706048" cy="255746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8256">
                  <a:extLst>
                    <a:ext uri="{9D8B030D-6E8A-4147-A177-3AD203B41FA5}">
                      <a16:colId xmlns:a16="http://schemas.microsoft.com/office/drawing/2014/main" val="3341632145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2281999331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676878258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187155890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977868597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564494374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4060824566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42630871"/>
                    </a:ext>
                  </a:extLst>
                </a:gridCol>
              </a:tblGrid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68993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30585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815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6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6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6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6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6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6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6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6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38524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04027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C9D244A-1B97-476F-ACAA-AB7DE9F42DBA}"/>
              </a:ext>
            </a:extLst>
          </p:cNvPr>
          <p:cNvSpPr txBox="1"/>
          <p:nvPr/>
        </p:nvSpPr>
        <p:spPr>
          <a:xfrm>
            <a:off x="4451800" y="3933511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0C3827-7E76-4507-B342-A3FCE1AD9AB2}"/>
              </a:ext>
            </a:extLst>
          </p:cNvPr>
          <p:cNvSpPr txBox="1"/>
          <p:nvPr/>
        </p:nvSpPr>
        <p:spPr>
          <a:xfrm>
            <a:off x="7144425" y="3933510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CD62B-224C-4C14-BEE6-AD64B4AD6261}"/>
              </a:ext>
            </a:extLst>
          </p:cNvPr>
          <p:cNvSpPr/>
          <p:nvPr/>
        </p:nvSpPr>
        <p:spPr>
          <a:xfrm>
            <a:off x="11439331" y="2872200"/>
            <a:ext cx="495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dirty="0"/>
              <a:t>22</a:t>
            </a: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1F8A23-ADE4-4690-ABDE-05839E2B5872}"/>
              </a:ext>
            </a:extLst>
          </p:cNvPr>
          <p:cNvSpPr/>
          <p:nvPr/>
        </p:nvSpPr>
        <p:spPr>
          <a:xfrm>
            <a:off x="11439331" y="3471845"/>
            <a:ext cx="495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dirty="0"/>
              <a:t>44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E6D971-862D-41B5-B24A-AC0AD0F6DF4C}"/>
              </a:ext>
            </a:extLst>
          </p:cNvPr>
          <p:cNvSpPr/>
          <p:nvPr/>
        </p:nvSpPr>
        <p:spPr>
          <a:xfrm>
            <a:off x="733283" y="4949173"/>
            <a:ext cx="762694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By performing a 1-bit left shift, 22 has become 44.</a:t>
            </a:r>
          </a:p>
          <a:p>
            <a:r>
              <a:rPr lang="en-GB" sz="2400" dirty="0"/>
              <a:t>We have multiplied the original number by 2.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4A5CB7-6C8A-4833-93AE-082E15BB12EC}"/>
              </a:ext>
            </a:extLst>
          </p:cNvPr>
          <p:cNvSpPr/>
          <p:nvPr/>
        </p:nvSpPr>
        <p:spPr>
          <a:xfrm>
            <a:off x="272963" y="541836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Logical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inary left shift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465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F8D7FCEF-C390-42E8-9E9E-85F79496F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400686"/>
              </p:ext>
            </p:extLst>
          </p:nvPr>
        </p:nvGraphicFramePr>
        <p:xfrm>
          <a:off x="733283" y="2212564"/>
          <a:ext cx="10706048" cy="17809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8256">
                  <a:extLst>
                    <a:ext uri="{9D8B030D-6E8A-4147-A177-3AD203B41FA5}">
                      <a16:colId xmlns:a16="http://schemas.microsoft.com/office/drawing/2014/main" val="3341632145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2281999331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676878258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187155890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977868597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564494374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4060824566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42630871"/>
                    </a:ext>
                  </a:extLst>
                </a:gridCol>
              </a:tblGrid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68993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30585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81594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356E46D-5A2E-4756-8EE5-25448E023A9D}"/>
              </a:ext>
            </a:extLst>
          </p:cNvPr>
          <p:cNvSpPr/>
          <p:nvPr/>
        </p:nvSpPr>
        <p:spPr>
          <a:xfrm>
            <a:off x="11439331" y="2872200"/>
            <a:ext cx="495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dirty="0"/>
              <a:t>20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E669D8-F183-473A-B595-E27195DB7A17}"/>
              </a:ext>
            </a:extLst>
          </p:cNvPr>
          <p:cNvSpPr/>
          <p:nvPr/>
        </p:nvSpPr>
        <p:spPr>
          <a:xfrm>
            <a:off x="272963" y="541836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Logical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inary right shift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592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F8D7FCEF-C390-42E8-9E9E-85F79496F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534346"/>
              </p:ext>
            </p:extLst>
          </p:nvPr>
        </p:nvGraphicFramePr>
        <p:xfrm>
          <a:off x="733283" y="2212564"/>
          <a:ext cx="10706048" cy="17809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8256">
                  <a:extLst>
                    <a:ext uri="{9D8B030D-6E8A-4147-A177-3AD203B41FA5}">
                      <a16:colId xmlns:a16="http://schemas.microsoft.com/office/drawing/2014/main" val="3341632145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2281999331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676878258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187155890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977868597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564494374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4060824566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42630871"/>
                    </a:ext>
                  </a:extLst>
                </a:gridCol>
              </a:tblGrid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68993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30585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815941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61C1B69-7E97-4107-8646-F0CAE93BADBC}"/>
              </a:ext>
            </a:extLst>
          </p:cNvPr>
          <p:cNvCxnSpPr>
            <a:cxnSpLocks/>
          </p:cNvCxnSpPr>
          <p:nvPr/>
        </p:nvCxnSpPr>
        <p:spPr>
          <a:xfrm>
            <a:off x="1586220" y="3139751"/>
            <a:ext cx="895740" cy="57849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1B0C754B-564B-4135-9D76-C5BD86963126}"/>
              </a:ext>
            </a:extLst>
          </p:cNvPr>
          <p:cNvSpPr/>
          <p:nvPr/>
        </p:nvSpPr>
        <p:spPr>
          <a:xfrm>
            <a:off x="11439331" y="2872200"/>
            <a:ext cx="495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dirty="0"/>
              <a:t>20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4BF46-B515-4B99-B65E-51E88F0B3A48}"/>
              </a:ext>
            </a:extLst>
          </p:cNvPr>
          <p:cNvSpPr/>
          <p:nvPr/>
        </p:nvSpPr>
        <p:spPr>
          <a:xfrm>
            <a:off x="272963" y="541836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Logical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inary right shift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928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F8D7FCEF-C390-42E8-9E9E-85F79496F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893755"/>
              </p:ext>
            </p:extLst>
          </p:nvPr>
        </p:nvGraphicFramePr>
        <p:xfrm>
          <a:off x="733283" y="2212564"/>
          <a:ext cx="10706048" cy="17809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8256">
                  <a:extLst>
                    <a:ext uri="{9D8B030D-6E8A-4147-A177-3AD203B41FA5}">
                      <a16:colId xmlns:a16="http://schemas.microsoft.com/office/drawing/2014/main" val="3341632145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2281999331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676878258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187155890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977868597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564494374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4060824566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42630871"/>
                    </a:ext>
                  </a:extLst>
                </a:gridCol>
              </a:tblGrid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68993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30585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815941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61C1B69-7E97-4107-8646-F0CAE93BADBC}"/>
              </a:ext>
            </a:extLst>
          </p:cNvPr>
          <p:cNvCxnSpPr>
            <a:cxnSpLocks/>
          </p:cNvCxnSpPr>
          <p:nvPr/>
        </p:nvCxnSpPr>
        <p:spPr>
          <a:xfrm>
            <a:off x="2976484" y="3139751"/>
            <a:ext cx="895740" cy="57849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C68354CE-D08A-49D9-BFA3-C75D8930647A}"/>
              </a:ext>
            </a:extLst>
          </p:cNvPr>
          <p:cNvSpPr/>
          <p:nvPr/>
        </p:nvSpPr>
        <p:spPr>
          <a:xfrm>
            <a:off x="11439331" y="2872200"/>
            <a:ext cx="495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dirty="0"/>
              <a:t>20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308F2C-D996-482D-9E9F-7CFE40B950F0}"/>
              </a:ext>
            </a:extLst>
          </p:cNvPr>
          <p:cNvSpPr/>
          <p:nvPr/>
        </p:nvSpPr>
        <p:spPr>
          <a:xfrm>
            <a:off x="272963" y="541836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Logical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inary right shift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237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F8D7FCEF-C390-42E8-9E9E-85F79496F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879011"/>
              </p:ext>
            </p:extLst>
          </p:nvPr>
        </p:nvGraphicFramePr>
        <p:xfrm>
          <a:off x="733283" y="2212564"/>
          <a:ext cx="10706048" cy="17809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8256">
                  <a:extLst>
                    <a:ext uri="{9D8B030D-6E8A-4147-A177-3AD203B41FA5}">
                      <a16:colId xmlns:a16="http://schemas.microsoft.com/office/drawing/2014/main" val="3341632145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2281999331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676878258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187155890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977868597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564494374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4060824566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42630871"/>
                    </a:ext>
                  </a:extLst>
                </a:gridCol>
              </a:tblGrid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68993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30585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815941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61C1B69-7E97-4107-8646-F0CAE93BADBC}"/>
              </a:ext>
            </a:extLst>
          </p:cNvPr>
          <p:cNvCxnSpPr>
            <a:cxnSpLocks/>
          </p:cNvCxnSpPr>
          <p:nvPr/>
        </p:nvCxnSpPr>
        <p:spPr>
          <a:xfrm>
            <a:off x="4301435" y="3139751"/>
            <a:ext cx="895740" cy="57849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E8E37762-853C-41AB-A550-E36AA8ACD805}"/>
              </a:ext>
            </a:extLst>
          </p:cNvPr>
          <p:cNvSpPr/>
          <p:nvPr/>
        </p:nvSpPr>
        <p:spPr>
          <a:xfrm>
            <a:off x="11439331" y="2872200"/>
            <a:ext cx="495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dirty="0"/>
              <a:t>20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B70C40-1D42-43E8-9727-DDC799BD7B91}"/>
              </a:ext>
            </a:extLst>
          </p:cNvPr>
          <p:cNvSpPr/>
          <p:nvPr/>
        </p:nvSpPr>
        <p:spPr>
          <a:xfrm>
            <a:off x="272963" y="541836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Logical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inary right shift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301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F8D7FCEF-C390-42E8-9E9E-85F79496F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718046"/>
              </p:ext>
            </p:extLst>
          </p:nvPr>
        </p:nvGraphicFramePr>
        <p:xfrm>
          <a:off x="733283" y="2212564"/>
          <a:ext cx="10706048" cy="17809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8256">
                  <a:extLst>
                    <a:ext uri="{9D8B030D-6E8A-4147-A177-3AD203B41FA5}">
                      <a16:colId xmlns:a16="http://schemas.microsoft.com/office/drawing/2014/main" val="3341632145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2281999331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676878258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187155890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977868597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564494374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4060824566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42630871"/>
                    </a:ext>
                  </a:extLst>
                </a:gridCol>
              </a:tblGrid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68993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30585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815941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61C1B69-7E97-4107-8646-F0CAE93BADBC}"/>
              </a:ext>
            </a:extLst>
          </p:cNvPr>
          <p:cNvCxnSpPr>
            <a:cxnSpLocks/>
          </p:cNvCxnSpPr>
          <p:nvPr/>
        </p:nvCxnSpPr>
        <p:spPr>
          <a:xfrm>
            <a:off x="5635713" y="3139751"/>
            <a:ext cx="895740" cy="57849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4E084D5-C00D-4447-818E-44EE25AE10E7}"/>
              </a:ext>
            </a:extLst>
          </p:cNvPr>
          <p:cNvSpPr/>
          <p:nvPr/>
        </p:nvSpPr>
        <p:spPr>
          <a:xfrm>
            <a:off x="11439331" y="2872200"/>
            <a:ext cx="495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dirty="0"/>
              <a:t>20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0F4D0D-35E9-4AAD-A212-32AF65FF4F8F}"/>
              </a:ext>
            </a:extLst>
          </p:cNvPr>
          <p:cNvSpPr/>
          <p:nvPr/>
        </p:nvSpPr>
        <p:spPr>
          <a:xfrm>
            <a:off x="272963" y="541836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Logical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inary right shift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745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F8D7FCEF-C390-42E8-9E9E-85F79496F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024774"/>
              </p:ext>
            </p:extLst>
          </p:nvPr>
        </p:nvGraphicFramePr>
        <p:xfrm>
          <a:off x="733283" y="2212564"/>
          <a:ext cx="10706048" cy="17809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8256">
                  <a:extLst>
                    <a:ext uri="{9D8B030D-6E8A-4147-A177-3AD203B41FA5}">
                      <a16:colId xmlns:a16="http://schemas.microsoft.com/office/drawing/2014/main" val="3341632145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2281999331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676878258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187155890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977868597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564494374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4060824566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42630871"/>
                    </a:ext>
                  </a:extLst>
                </a:gridCol>
              </a:tblGrid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68993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30585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815941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61C1B69-7E97-4107-8646-F0CAE93BADBC}"/>
              </a:ext>
            </a:extLst>
          </p:cNvPr>
          <p:cNvCxnSpPr>
            <a:cxnSpLocks/>
          </p:cNvCxnSpPr>
          <p:nvPr/>
        </p:nvCxnSpPr>
        <p:spPr>
          <a:xfrm>
            <a:off x="6997986" y="3139751"/>
            <a:ext cx="895740" cy="57849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28C334EF-6B70-4A0B-ACA9-0033CD29C8C1}"/>
              </a:ext>
            </a:extLst>
          </p:cNvPr>
          <p:cNvSpPr/>
          <p:nvPr/>
        </p:nvSpPr>
        <p:spPr>
          <a:xfrm>
            <a:off x="11439331" y="2872200"/>
            <a:ext cx="495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dirty="0"/>
              <a:t>20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F45F4E-C325-4BAF-9274-3D4E6C04148D}"/>
              </a:ext>
            </a:extLst>
          </p:cNvPr>
          <p:cNvSpPr/>
          <p:nvPr/>
        </p:nvSpPr>
        <p:spPr>
          <a:xfrm>
            <a:off x="272963" y="541836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Logical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inary right shift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313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F8D7FCEF-C390-42E8-9E9E-85F79496F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731215"/>
              </p:ext>
            </p:extLst>
          </p:nvPr>
        </p:nvGraphicFramePr>
        <p:xfrm>
          <a:off x="733283" y="2212564"/>
          <a:ext cx="10706048" cy="17809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8256">
                  <a:extLst>
                    <a:ext uri="{9D8B030D-6E8A-4147-A177-3AD203B41FA5}">
                      <a16:colId xmlns:a16="http://schemas.microsoft.com/office/drawing/2014/main" val="3341632145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2281999331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676878258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187155890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977868597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564494374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4060824566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42630871"/>
                    </a:ext>
                  </a:extLst>
                </a:gridCol>
              </a:tblGrid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68993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30585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815941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61C1B69-7E97-4107-8646-F0CAE93BADBC}"/>
              </a:ext>
            </a:extLst>
          </p:cNvPr>
          <p:cNvCxnSpPr>
            <a:cxnSpLocks/>
          </p:cNvCxnSpPr>
          <p:nvPr/>
        </p:nvCxnSpPr>
        <p:spPr>
          <a:xfrm>
            <a:off x="8304271" y="3139751"/>
            <a:ext cx="895740" cy="57849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26E2FE89-66CC-4636-95AE-B8597B721701}"/>
              </a:ext>
            </a:extLst>
          </p:cNvPr>
          <p:cNvSpPr/>
          <p:nvPr/>
        </p:nvSpPr>
        <p:spPr>
          <a:xfrm>
            <a:off x="11439331" y="2872200"/>
            <a:ext cx="495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dirty="0"/>
              <a:t>20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A2799F-73E6-4C66-8162-0B6A492D9D67}"/>
              </a:ext>
            </a:extLst>
          </p:cNvPr>
          <p:cNvSpPr/>
          <p:nvPr/>
        </p:nvSpPr>
        <p:spPr>
          <a:xfrm>
            <a:off x="272963" y="541836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Logical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inary right shift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324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F8D7FCEF-C390-42E8-9E9E-85F79496F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749325"/>
              </p:ext>
            </p:extLst>
          </p:nvPr>
        </p:nvGraphicFramePr>
        <p:xfrm>
          <a:off x="733283" y="2212564"/>
          <a:ext cx="10706048" cy="17809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8256">
                  <a:extLst>
                    <a:ext uri="{9D8B030D-6E8A-4147-A177-3AD203B41FA5}">
                      <a16:colId xmlns:a16="http://schemas.microsoft.com/office/drawing/2014/main" val="3341632145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2281999331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676878258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187155890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977868597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564494374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4060824566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42630871"/>
                    </a:ext>
                  </a:extLst>
                </a:gridCol>
              </a:tblGrid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68993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30585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815941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61C1B69-7E97-4107-8646-F0CAE93BADBC}"/>
              </a:ext>
            </a:extLst>
          </p:cNvPr>
          <p:cNvCxnSpPr>
            <a:cxnSpLocks/>
          </p:cNvCxnSpPr>
          <p:nvPr/>
        </p:nvCxnSpPr>
        <p:spPr>
          <a:xfrm>
            <a:off x="9666539" y="3139751"/>
            <a:ext cx="895740" cy="57849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C839875B-9534-4F6F-B061-F3989581C05E}"/>
              </a:ext>
            </a:extLst>
          </p:cNvPr>
          <p:cNvSpPr/>
          <p:nvPr/>
        </p:nvSpPr>
        <p:spPr>
          <a:xfrm>
            <a:off x="11439331" y="2872200"/>
            <a:ext cx="495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dirty="0"/>
              <a:t>20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F583E4-4130-407E-A87A-1BB4AD756B1F}"/>
              </a:ext>
            </a:extLst>
          </p:cNvPr>
          <p:cNvSpPr/>
          <p:nvPr/>
        </p:nvSpPr>
        <p:spPr>
          <a:xfrm>
            <a:off x="272963" y="541836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Logical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inary right shift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836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F8D7FCEF-C390-42E8-9E9E-85F79496F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592358"/>
              </p:ext>
            </p:extLst>
          </p:nvPr>
        </p:nvGraphicFramePr>
        <p:xfrm>
          <a:off x="733283" y="2212564"/>
          <a:ext cx="10706048" cy="17809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8256">
                  <a:extLst>
                    <a:ext uri="{9D8B030D-6E8A-4147-A177-3AD203B41FA5}">
                      <a16:colId xmlns:a16="http://schemas.microsoft.com/office/drawing/2014/main" val="3341632145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2281999331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676878258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187155890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977868597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564494374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4060824566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42630871"/>
                    </a:ext>
                  </a:extLst>
                </a:gridCol>
              </a:tblGrid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68993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30585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815941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61C1B69-7E97-4107-8646-F0CAE93BADBC}"/>
              </a:ext>
            </a:extLst>
          </p:cNvPr>
          <p:cNvCxnSpPr>
            <a:cxnSpLocks/>
          </p:cNvCxnSpPr>
          <p:nvPr/>
        </p:nvCxnSpPr>
        <p:spPr>
          <a:xfrm>
            <a:off x="10982159" y="3139751"/>
            <a:ext cx="895740" cy="57849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63E235A-925D-49E9-B928-8038E8EFE34F}"/>
              </a:ext>
            </a:extLst>
          </p:cNvPr>
          <p:cNvSpPr/>
          <p:nvPr/>
        </p:nvSpPr>
        <p:spPr>
          <a:xfrm flipV="1">
            <a:off x="11789852" y="3456993"/>
            <a:ext cx="4301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/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6DB846-571E-4EDC-ACD7-18DB4427B2FB}"/>
              </a:ext>
            </a:extLst>
          </p:cNvPr>
          <p:cNvSpPr/>
          <p:nvPr/>
        </p:nvSpPr>
        <p:spPr>
          <a:xfrm>
            <a:off x="11439331" y="2872200"/>
            <a:ext cx="495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dirty="0"/>
              <a:t>20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578618-5D2B-4D69-BBB0-0E7762973471}"/>
              </a:ext>
            </a:extLst>
          </p:cNvPr>
          <p:cNvSpPr/>
          <p:nvPr/>
        </p:nvSpPr>
        <p:spPr>
          <a:xfrm>
            <a:off x="272963" y="541836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Logical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inary right shift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719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F8D7FCEF-C390-42E8-9E9E-85F79496F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221009"/>
              </p:ext>
            </p:extLst>
          </p:nvPr>
        </p:nvGraphicFramePr>
        <p:xfrm>
          <a:off x="733283" y="2212564"/>
          <a:ext cx="10706048" cy="17809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8256">
                  <a:extLst>
                    <a:ext uri="{9D8B030D-6E8A-4147-A177-3AD203B41FA5}">
                      <a16:colId xmlns:a16="http://schemas.microsoft.com/office/drawing/2014/main" val="3341632145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2281999331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676878258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187155890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977868597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564494374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4060824566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42630871"/>
                    </a:ext>
                  </a:extLst>
                </a:gridCol>
              </a:tblGrid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68993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30585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81594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AD76A45-9A41-49E1-B87A-3593B57F5534}"/>
              </a:ext>
            </a:extLst>
          </p:cNvPr>
          <p:cNvSpPr/>
          <p:nvPr/>
        </p:nvSpPr>
        <p:spPr>
          <a:xfrm>
            <a:off x="11439331" y="2872200"/>
            <a:ext cx="495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dirty="0"/>
              <a:t>20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D256A4-DA7F-4A65-93B0-8EB001228A58}"/>
              </a:ext>
            </a:extLst>
          </p:cNvPr>
          <p:cNvSpPr/>
          <p:nvPr/>
        </p:nvSpPr>
        <p:spPr>
          <a:xfrm>
            <a:off x="272963" y="541836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Logical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inary right shift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1936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F8D7FCEF-C390-42E8-9E9E-85F79496F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354575"/>
              </p:ext>
            </p:extLst>
          </p:nvPr>
        </p:nvGraphicFramePr>
        <p:xfrm>
          <a:off x="733283" y="2212564"/>
          <a:ext cx="10706048" cy="255746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8256">
                  <a:extLst>
                    <a:ext uri="{9D8B030D-6E8A-4147-A177-3AD203B41FA5}">
                      <a16:colId xmlns:a16="http://schemas.microsoft.com/office/drawing/2014/main" val="3341632145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2281999331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676878258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187155890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977868597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3564494374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4060824566"/>
                    </a:ext>
                  </a:extLst>
                </a:gridCol>
                <a:gridCol w="1338256">
                  <a:extLst>
                    <a:ext uri="{9D8B030D-6E8A-4147-A177-3AD203B41FA5}">
                      <a16:colId xmlns:a16="http://schemas.microsoft.com/office/drawing/2014/main" val="142630871"/>
                    </a:ext>
                  </a:extLst>
                </a:gridCol>
              </a:tblGrid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68993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30585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815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6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6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6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6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6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6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6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6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450946"/>
                  </a:ext>
                </a:extLst>
              </a:tr>
              <a:tr h="593646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25453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AD76A45-9A41-49E1-B87A-3593B57F5534}"/>
              </a:ext>
            </a:extLst>
          </p:cNvPr>
          <p:cNvSpPr/>
          <p:nvPr/>
        </p:nvSpPr>
        <p:spPr>
          <a:xfrm>
            <a:off x="11439331" y="2872200"/>
            <a:ext cx="495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dirty="0"/>
              <a:t>20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5D9A67-E361-4829-9A0D-B68B356D51A4}"/>
              </a:ext>
            </a:extLst>
          </p:cNvPr>
          <p:cNvSpPr/>
          <p:nvPr/>
        </p:nvSpPr>
        <p:spPr>
          <a:xfrm>
            <a:off x="11431853" y="3444826"/>
            <a:ext cx="495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dirty="0"/>
              <a:t>10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6A4F94-3C4B-4EFF-840E-A8F68368468E}"/>
              </a:ext>
            </a:extLst>
          </p:cNvPr>
          <p:cNvSpPr txBox="1"/>
          <p:nvPr/>
        </p:nvSpPr>
        <p:spPr>
          <a:xfrm>
            <a:off x="7139016" y="3936568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F41ACA-264D-4E15-9347-6243FD145BB8}"/>
              </a:ext>
            </a:extLst>
          </p:cNvPr>
          <p:cNvSpPr/>
          <p:nvPr/>
        </p:nvSpPr>
        <p:spPr>
          <a:xfrm>
            <a:off x="733283" y="4949173"/>
            <a:ext cx="762694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By performing a 1-bit right shift, 20 has become 10.</a:t>
            </a:r>
          </a:p>
          <a:p>
            <a:r>
              <a:rPr lang="en-GB" sz="2400" dirty="0"/>
              <a:t>We have divided the original number by 2.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0CB2C0-67AA-4AAF-BAE8-479031AD22C8}"/>
              </a:ext>
            </a:extLst>
          </p:cNvPr>
          <p:cNvSpPr/>
          <p:nvPr/>
        </p:nvSpPr>
        <p:spPr>
          <a:xfrm>
            <a:off x="272963" y="541836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Logical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inary right shift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454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D202A4C-B0D6-417F-8CC5-44B9C26C75A2}"/>
              </a:ext>
            </a:extLst>
          </p:cNvPr>
          <p:cNvSpPr/>
          <p:nvPr/>
        </p:nvSpPr>
        <p:spPr>
          <a:xfrm>
            <a:off x="1290000" y="523174"/>
            <a:ext cx="678097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Logical binary shifts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583DAC-E776-43DE-A4FE-EE7E38A41789}"/>
              </a:ext>
            </a:extLst>
          </p:cNvPr>
          <p:cNvSpPr/>
          <p:nvPr/>
        </p:nvSpPr>
        <p:spPr>
          <a:xfrm>
            <a:off x="733283" y="1814085"/>
            <a:ext cx="1067805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</a:t>
            </a:r>
            <a:r>
              <a:rPr lang="en-GB" b="1" dirty="0"/>
              <a:t>left logical binary shift </a:t>
            </a:r>
            <a:r>
              <a:rPr lang="en-GB" dirty="0"/>
              <a:t>of one position: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dirty="0"/>
              <a:t>Moves each bit to the left by one.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dirty="0"/>
              <a:t>Fills the vacant least significant bit (LSB) with zero and discards the most significant bit (MSB).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</a:t>
            </a:r>
            <a:r>
              <a:rPr lang="en-GB" b="1" dirty="0"/>
              <a:t>right logical binary shift </a:t>
            </a:r>
            <a:r>
              <a:rPr lang="en-GB" dirty="0"/>
              <a:t>of one position: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dirty="0"/>
              <a:t>Moves each bit to the right by one.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dirty="0"/>
              <a:t>Discards the least significant bit and fills the vacant MSB with zero.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One use of logical binary shifts is to multiply and divide unsigned binary integers by powers of two.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 can shift by more than one position at a time: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dirty="0"/>
              <a:t>A left logical binary shift of one position would covert the number 22 to 44 (x2).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dirty="0"/>
              <a:t>A left logical binary shift of two positions would convert the number 22 to 88 (x4).</a:t>
            </a:r>
          </a:p>
        </p:txBody>
      </p:sp>
      <p:pic>
        <p:nvPicPr>
          <p:cNvPr id="5" name="Picture 2" descr="make_notes">
            <a:extLst>
              <a:ext uri="{FF2B5EF4-FFF2-40B4-BE49-F238E27FC236}">
                <a16:creationId xmlns:a16="http://schemas.microsoft.com/office/drawing/2014/main" id="{F9E09189-6866-4BC7-AF92-FC2342C5D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61344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863</TotalTime>
  <Words>755</Words>
  <Application>Microsoft Office PowerPoint</Application>
  <PresentationFormat>Widescreen</PresentationFormat>
  <Paragraphs>519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Century Gothic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72</cp:revision>
  <dcterms:created xsi:type="dcterms:W3CDTF">2019-10-14T15:21:06Z</dcterms:created>
  <dcterms:modified xsi:type="dcterms:W3CDTF">2022-05-12T13:23:18Z</dcterms:modified>
</cp:coreProperties>
</file>