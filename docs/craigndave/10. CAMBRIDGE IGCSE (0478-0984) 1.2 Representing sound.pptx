
<file path=[Content_Types].xml><?xml version="1.0" encoding="utf-8"?>
<Types xmlns="http://schemas.openxmlformats.org/package/2006/content-types">
  <Default Extension="png" ContentType="image/png"/>
  <Default Extension="png&amp;ehk=EkjpDkgZ0kYbqI7VNXiEXA&amp;r=0&amp;pid=OfficeInsert" ContentType="image/png"/>
  <Default Extension="png&amp;ehk=LfwxC5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1" r:id="rId3"/>
    <p:sldId id="266" r:id="rId4"/>
    <p:sldId id="264" r:id="rId5"/>
    <p:sldId id="293" r:id="rId6"/>
    <p:sldId id="294" r:id="rId7"/>
    <p:sldId id="289" r:id="rId8"/>
    <p:sldId id="290" r:id="rId9"/>
    <p:sldId id="292" r:id="rId10"/>
    <p:sldId id="279" r:id="rId11"/>
    <p:sldId id="263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876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613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094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71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64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683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9532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1.2 Text, sound and images | Representing sound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Computer_lab_icon.svg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3.png&amp;ehk=EkjpDkgZ0kYbqI7VNXiEXA&amp;r=0&amp;pid=OfficeInsert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commons.wikimedia.org/wiki/File:Speaker_Icon.svg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&amp;ehk=LfwxC5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1.2 Text, sound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Representing sound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5BD915-D84E-402E-B9E9-A37BF7A1A765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sound?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shirt&#10;&#10;Description automatically generated">
            <a:extLst>
              <a:ext uri="{FF2B5EF4-FFF2-40B4-BE49-F238E27FC236}">
                <a16:creationId xmlns:a16="http://schemas.microsoft.com/office/drawing/2014/main" id="{05E7EBC8-A0A0-4290-94F8-F83970F45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620" y="1222310"/>
            <a:ext cx="12678318" cy="55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8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FA2848-96DC-4599-87AB-3DBE2F6FF03D}"/>
              </a:ext>
            </a:extLst>
          </p:cNvPr>
          <p:cNvSpPr/>
          <p:nvPr/>
        </p:nvSpPr>
        <p:spPr>
          <a:xfrm>
            <a:off x="4342938" y="2885020"/>
            <a:ext cx="1294868" cy="1453889"/>
          </a:xfrm>
          <a:custGeom>
            <a:avLst/>
            <a:gdLst>
              <a:gd name="connsiteX0" fmla="*/ 692209 w 692209"/>
              <a:gd name="connsiteY0" fmla="*/ 330973 h 740684"/>
              <a:gd name="connsiteX1" fmla="*/ 393107 w 692209"/>
              <a:gd name="connsiteY1" fmla="*/ 732625 h 740684"/>
              <a:gd name="connsiteX2" fmla="*/ 222191 w 692209"/>
              <a:gd name="connsiteY2" fmla="*/ 6232 h 740684"/>
              <a:gd name="connsiteX3" fmla="*/ 0 w 692209"/>
              <a:gd name="connsiteY3" fmla="*/ 442068 h 74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209" h="740684">
                <a:moveTo>
                  <a:pt x="692209" y="330973"/>
                </a:moveTo>
                <a:cubicBezTo>
                  <a:pt x="581826" y="558860"/>
                  <a:pt x="471443" y="786748"/>
                  <a:pt x="393107" y="732625"/>
                </a:cubicBezTo>
                <a:cubicBezTo>
                  <a:pt x="314771" y="678502"/>
                  <a:pt x="287709" y="54658"/>
                  <a:pt x="222191" y="6232"/>
                </a:cubicBezTo>
                <a:cubicBezTo>
                  <a:pt x="156673" y="-42194"/>
                  <a:pt x="78336" y="199937"/>
                  <a:pt x="0" y="442068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BD915-D84E-402E-B9E9-A37BF7A1A765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sound is sampled and stored in digital form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BA7B918D-C6A1-4946-AD26-B81475A8130F}"/>
              </a:ext>
            </a:extLst>
          </p:cNvPr>
          <p:cNvSpPr/>
          <p:nvPr/>
        </p:nvSpPr>
        <p:spPr>
          <a:xfrm>
            <a:off x="5637806" y="2929862"/>
            <a:ext cx="1458723" cy="1124835"/>
          </a:xfrm>
          <a:prstGeom prst="cube">
            <a:avLst>
              <a:gd name="adj" fmla="val 1456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tx1"/>
                </a:solidFill>
              </a:rPr>
              <a:t>ADC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BCED5-DEC0-4DB8-8219-12A8347809F7}"/>
              </a:ext>
            </a:extLst>
          </p:cNvPr>
          <p:cNvGrpSpPr/>
          <p:nvPr/>
        </p:nvGrpSpPr>
        <p:grpSpPr>
          <a:xfrm>
            <a:off x="8732437" y="2284981"/>
            <a:ext cx="2837522" cy="2977484"/>
            <a:chOff x="5337560" y="2875659"/>
            <a:chExt cx="1516879" cy="1516879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3F74AF5-6C39-4383-BC91-06FB4AC4B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5337560" y="2875659"/>
              <a:ext cx="1516879" cy="1516879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9CAE78C-56CA-4001-A355-E25BB9BDF66F}"/>
                </a:ext>
              </a:extLst>
            </p:cNvPr>
            <p:cNvSpPr txBox="1"/>
            <p:nvPr/>
          </p:nvSpPr>
          <p:spPr>
            <a:xfrm>
              <a:off x="5475047" y="2999573"/>
              <a:ext cx="1327363" cy="893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/>
                <a:t>100100100100101001010011001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75ABFE-08E0-4E46-9AB4-69501AB1B2A6}"/>
              </a:ext>
            </a:extLst>
          </p:cNvPr>
          <p:cNvGrpSpPr/>
          <p:nvPr/>
        </p:nvGrpSpPr>
        <p:grpSpPr>
          <a:xfrm>
            <a:off x="7008108" y="2897255"/>
            <a:ext cx="1729669" cy="1224542"/>
            <a:chOff x="6679330" y="3247402"/>
            <a:chExt cx="707718" cy="623843"/>
          </a:xfrm>
        </p:grpSpPr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57CEC0B5-4237-4AB0-A011-0DF2A53E7D83}"/>
                </a:ext>
              </a:extLst>
            </p:cNvPr>
            <p:cNvCxnSpPr/>
            <p:nvPr/>
          </p:nvCxnSpPr>
          <p:spPr>
            <a:xfrm>
              <a:off x="6679330" y="3543628"/>
              <a:ext cx="358212" cy="324549"/>
            </a:xfrm>
            <a:prstGeom prst="bentConnector3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FC072F9-E42B-485C-BD63-132DB1B4531E}"/>
                </a:ext>
              </a:extLst>
            </p:cNvPr>
            <p:cNvCxnSpPr/>
            <p:nvPr/>
          </p:nvCxnSpPr>
          <p:spPr>
            <a:xfrm flipV="1">
              <a:off x="7033189" y="3247402"/>
              <a:ext cx="0" cy="623843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44ED2CAE-B8F1-4C38-B005-363F9E756231}"/>
                </a:ext>
              </a:extLst>
            </p:cNvPr>
            <p:cNvCxnSpPr/>
            <p:nvPr/>
          </p:nvCxnSpPr>
          <p:spPr>
            <a:xfrm>
              <a:off x="7028836" y="3252880"/>
              <a:ext cx="358212" cy="324549"/>
            </a:xfrm>
            <a:prstGeom prst="bentConnector3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742BF26-31DC-49B3-9CEF-5ADC949FC399}"/>
              </a:ext>
            </a:extLst>
          </p:cNvPr>
          <p:cNvSpPr txBox="1"/>
          <p:nvPr/>
        </p:nvSpPr>
        <p:spPr>
          <a:xfrm>
            <a:off x="7258036" y="1804129"/>
            <a:ext cx="1186604" cy="957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Digital </a:t>
            </a:r>
          </a:p>
          <a:p>
            <a:pPr algn="ctr"/>
            <a:r>
              <a:rPr lang="en-GB" sz="2400" dirty="0"/>
              <a:t>signal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ACCE8-6840-44E8-AC26-3BF59F4FD5DD}"/>
              </a:ext>
            </a:extLst>
          </p:cNvPr>
          <p:cNvSpPr txBox="1"/>
          <p:nvPr/>
        </p:nvSpPr>
        <p:spPr>
          <a:xfrm>
            <a:off x="4461177" y="1859620"/>
            <a:ext cx="1117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Analog </a:t>
            </a:r>
          </a:p>
          <a:p>
            <a:pPr algn="ctr"/>
            <a:r>
              <a:rPr lang="en-GB" sz="2400" dirty="0"/>
              <a:t>signal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9287C3-04DD-4850-A1BD-1A9FBA178F66}"/>
              </a:ext>
            </a:extLst>
          </p:cNvPr>
          <p:cNvGrpSpPr/>
          <p:nvPr/>
        </p:nvGrpSpPr>
        <p:grpSpPr>
          <a:xfrm>
            <a:off x="752772" y="2677958"/>
            <a:ext cx="1648399" cy="1734212"/>
            <a:chOff x="203648" y="3252170"/>
            <a:chExt cx="881199" cy="883494"/>
          </a:xfrm>
        </p:grpSpPr>
        <p:pic>
          <p:nvPicPr>
            <p:cNvPr id="18" name="Picture 17" descr="A close up of a logo&#10;&#10;Description generated with very high confidence">
              <a:extLst>
                <a:ext uri="{FF2B5EF4-FFF2-40B4-BE49-F238E27FC236}">
                  <a16:creationId xmlns:a16="http://schemas.microsoft.com/office/drawing/2014/main" id="{35273383-0E3A-4258-A46C-02629752E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648" y="3252170"/>
              <a:ext cx="654890" cy="883494"/>
            </a:xfrm>
            <a:prstGeom prst="rect">
              <a:avLst/>
            </a:prstGeom>
          </p:spPr>
        </p:pic>
        <p:pic>
          <p:nvPicPr>
            <p:cNvPr id="19" name="Picture 18" descr="A close up of a sign&#10;&#10;Description generated with high confidence">
              <a:extLst>
                <a:ext uri="{FF2B5EF4-FFF2-40B4-BE49-F238E27FC236}">
                  <a16:creationId xmlns:a16="http://schemas.microsoft.com/office/drawing/2014/main" id="{309C79BB-3463-4F7B-8164-3C4345C40F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58348"/>
            <a:stretch/>
          </p:blipFill>
          <p:spPr>
            <a:xfrm>
              <a:off x="859400" y="3533610"/>
              <a:ext cx="225447" cy="534112"/>
            </a:xfrm>
            <a:prstGeom prst="rect">
              <a:avLst/>
            </a:prstGeom>
          </p:spPr>
        </p:pic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642706C5-8054-4903-AA52-2E59211576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8697" y="2552438"/>
            <a:ext cx="1754241" cy="178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88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5BD915-D84E-402E-B9E9-A37BF7A1A765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Sound wave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44622A69-B948-4E30-AEB1-B26CD40B0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789"/>
            <a:ext cx="12192000" cy="48425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2879B1-1773-41C0-B309-F219DFE08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4" y="993174"/>
            <a:ext cx="9154047" cy="405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latin typeface="+mn-lt"/>
                <a:cs typeface="Calibri" panose="020F0502020204030204" pitchFamily="34" charset="0"/>
              </a:rPr>
              <a:t>What affects the quality of a digitally converted sound wave?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86114A-EBAA-4FF6-B586-F090218F4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5407" y="5251574"/>
            <a:ext cx="5396593" cy="780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r>
              <a:rPr lang="en-GB" sz="4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resolution</a:t>
            </a:r>
          </a:p>
          <a:p>
            <a:pPr marL="0" indent="0" eaLnBrk="1" hangingPunct="1">
              <a:spcBef>
                <a:spcPct val="20000"/>
              </a:spcBef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(detail)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F4E588-092A-45AA-938B-0F0C17608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939" y="5234156"/>
            <a:ext cx="3617966" cy="780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r>
              <a:rPr lang="en-GB" sz="4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rate</a:t>
            </a:r>
          </a:p>
          <a:p>
            <a:pPr marL="0" indent="0" eaLnBrk="1" hangingPunct="1">
              <a:spcBef>
                <a:spcPct val="20000"/>
              </a:spcBef>
            </a:pP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(speed)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1FB5D14-8201-4655-9653-E769029ED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966" y="5251574"/>
            <a:ext cx="2836507" cy="780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r>
              <a:rPr lang="en-GB" sz="44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4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4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4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41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572EBB-6B02-4B30-BB8F-9871E529BE6A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 and bit depth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B00490D-E39A-4C5A-831B-6CA97AEA2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9807" y="2671967"/>
            <a:ext cx="1966521" cy="3523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number of samples per second, measured in hertz (Hz).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typical audio file is recorded at 44,100Hz – i.e., 44,100 samples per second.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EA894E-B77F-4286-87E7-0F6B521AF35E}"/>
              </a:ext>
            </a:extLst>
          </p:cNvPr>
          <p:cNvGrpSpPr/>
          <p:nvPr/>
        </p:nvGrpSpPr>
        <p:grpSpPr>
          <a:xfrm>
            <a:off x="0" y="2035163"/>
            <a:ext cx="5079808" cy="4748189"/>
            <a:chOff x="591334" y="2596729"/>
            <a:chExt cx="4109060" cy="384081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08BC40-0900-403C-A1C2-AFF636B3D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334" y="2596729"/>
              <a:ext cx="4109060" cy="384081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286743-AC15-47E1-89AB-4233AF443EE1}"/>
                </a:ext>
              </a:extLst>
            </p:cNvPr>
            <p:cNvSpPr txBox="1"/>
            <p:nvPr/>
          </p:nvSpPr>
          <p:spPr>
            <a:xfrm>
              <a:off x="2136711" y="2804064"/>
              <a:ext cx="13758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3Hz sample rate</a:t>
              </a:r>
            </a:p>
          </p:txBody>
        </p: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BC4753B0-8E3E-4BC4-AB22-7FCEC49AC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5" y="1181150"/>
            <a:ext cx="11387306" cy="981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Sample rate: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How often (frequency) the amplitude of a sound wave is recorded. The more often a sample is recorded, the smoother the playback will sound.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8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4E27D90F-A54E-45EA-BD2D-1231087DD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5" y="1181150"/>
            <a:ext cx="11387306" cy="981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Sample rate: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How often (frequency) the amplitude of a sound wave is recorded. The more often a sample is recorded, the smoother the playback will sound.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F8959EA-AAD8-4545-89F7-8E41E66DD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9807" y="2671967"/>
            <a:ext cx="1966521" cy="3523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number of samples per second, measured in hertz (Hz).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typical audio file is recorded at 44,100Hz – i.e., 44,100 samples per second.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6951BA-3387-4BDB-8B85-09522E3EBDD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 and bit depth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B7F10E-4AC4-43FA-A76B-399A878BB679}"/>
              </a:ext>
            </a:extLst>
          </p:cNvPr>
          <p:cNvGrpSpPr/>
          <p:nvPr/>
        </p:nvGrpSpPr>
        <p:grpSpPr>
          <a:xfrm>
            <a:off x="0" y="2035163"/>
            <a:ext cx="5079808" cy="4748189"/>
            <a:chOff x="591334" y="2596729"/>
            <a:chExt cx="4109060" cy="38408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83FC37-4627-4202-B928-005C2B577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334" y="2596729"/>
              <a:ext cx="4109060" cy="38408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683DA0-88E3-49ED-97D5-9C7E84F7871B}"/>
                </a:ext>
              </a:extLst>
            </p:cNvPr>
            <p:cNvSpPr txBox="1"/>
            <p:nvPr/>
          </p:nvSpPr>
          <p:spPr>
            <a:xfrm>
              <a:off x="2136711" y="2804064"/>
              <a:ext cx="13758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3Hz sample rate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EAF0718-132B-42DD-9D1A-2E1509680297}"/>
              </a:ext>
            </a:extLst>
          </p:cNvPr>
          <p:cNvGrpSpPr/>
          <p:nvPr/>
        </p:nvGrpSpPr>
        <p:grpSpPr>
          <a:xfrm>
            <a:off x="7046329" y="2023028"/>
            <a:ext cx="5072272" cy="4755725"/>
            <a:chOff x="7497702" y="2511386"/>
            <a:chExt cx="4102964" cy="38469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ABA93B-2224-4FA5-A889-665378EDE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7702" y="2511386"/>
              <a:ext cx="4102964" cy="384690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2DA86D-FA6E-4BFF-95C0-D350A17848A1}"/>
                </a:ext>
              </a:extLst>
            </p:cNvPr>
            <p:cNvSpPr txBox="1"/>
            <p:nvPr/>
          </p:nvSpPr>
          <p:spPr>
            <a:xfrm>
              <a:off x="9212425" y="2717275"/>
              <a:ext cx="13758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6Hz sample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028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0124C2-8BDE-4601-88CA-F7CE06B30E8B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 and bit depth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5ABD458-4CDF-4628-A8E9-165328CDF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5" y="1184631"/>
            <a:ext cx="11387306" cy="981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Sample resolution: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How many different gradations of amplitude can be represented in a digital waveform.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69ACBF8-FFBD-4691-B099-1CD905558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359" y="3177284"/>
            <a:ext cx="2725791" cy="31575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amount of information stored with each sample, measured in bits.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Typically, CDs are 16-bit, meaning each sample takes up 2 bytes and can store one of 65,536 amplitudes.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8A9DC7-FD6C-483E-A8F0-54AAF24DC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9" y="2930376"/>
            <a:ext cx="4478502" cy="385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7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4E27D90F-A54E-45EA-BD2D-1231087DD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5" y="1184631"/>
            <a:ext cx="11387306" cy="981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Sample resolution: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How many different gradations of amplitude can be represented in a digital waveform.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DE2FA3A-175F-42EF-A58C-EF33DC67A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359" y="3177284"/>
            <a:ext cx="2725791" cy="31575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amount of information stored with each sample, measured in bits.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Typically, CDs are 16-bit, meaning each sample takes up 2 bytes and can store one of 65,536 amplitudes.</a:t>
            </a: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84283E-4B43-4086-A102-7CBFB354C47B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 and bit depth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6D5BEE-C834-4F15-A043-284C1F6CA5CE}"/>
              </a:ext>
            </a:extLst>
          </p:cNvPr>
          <p:cNvGrpSpPr/>
          <p:nvPr/>
        </p:nvGrpSpPr>
        <p:grpSpPr>
          <a:xfrm>
            <a:off x="87479" y="2590995"/>
            <a:ext cx="12023656" cy="4192357"/>
            <a:chOff x="87480" y="2942539"/>
            <a:chExt cx="11015430" cy="38408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A05F3C-C9ED-41C4-885A-882C575D6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80" y="3253462"/>
              <a:ext cx="4102964" cy="352989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AD3E06-092B-44A1-AEE7-46B1F5B4F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3850" y="2942539"/>
              <a:ext cx="4109060" cy="38408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5704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4E27D90F-A54E-45EA-BD2D-1231087DD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5" y="1201958"/>
            <a:ext cx="12039600" cy="6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Sound file size = (Number of samples per second) x (Number of bits per sample) x (Length of sample in seconds) </a:t>
            </a:r>
          </a:p>
          <a:p>
            <a:pPr marL="285750" indent="-285750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8B342B0-225C-47FE-87F6-AC7563EABD9B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sample sizes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79BCED-C60D-4809-81E8-620F348E2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5149"/>
            <a:ext cx="5486400" cy="5154125"/>
          </a:xfrm>
          <a:prstGeom prst="rect">
            <a:avLst/>
          </a:prstGeom>
        </p:spPr>
      </p:pic>
      <p:graphicFrame>
        <p:nvGraphicFramePr>
          <p:cNvPr id="108" name="Table 4">
            <a:extLst>
              <a:ext uri="{FF2B5EF4-FFF2-40B4-BE49-F238E27FC236}">
                <a16:creationId xmlns:a16="http://schemas.microsoft.com/office/drawing/2014/main" id="{1AD41C8D-1645-4B75-8252-9724B4995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78797"/>
              </p:ext>
            </p:extLst>
          </p:nvPr>
        </p:nvGraphicFramePr>
        <p:xfrm>
          <a:off x="6096000" y="2875927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Size of a sound file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Sample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Sample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needed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/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0D4AEA-F998-5DF3-9296-D5A388CD351A}"/>
              </a:ext>
            </a:extLst>
          </p:cNvPr>
          <p:cNvSpPr txBox="1"/>
          <p:nvPr/>
        </p:nvSpPr>
        <p:spPr>
          <a:xfrm rot="16200000">
            <a:off x="-802272" y="3970624"/>
            <a:ext cx="191231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b="1" dirty="0"/>
              <a:t>4-bit sample resolution</a:t>
            </a:r>
          </a:p>
        </p:txBody>
      </p:sp>
    </p:spTree>
    <p:extLst>
      <p:ext uri="{BB962C8B-B14F-4D97-AF65-F5344CB8AC3E}">
        <p14:creationId xmlns:p14="http://schemas.microsoft.com/office/powerpoint/2010/main" val="214257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A8B342B0-225C-47FE-87F6-AC7563EABD9B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sound sample sizes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79BCED-C60D-4809-81E8-620F348E2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5149"/>
            <a:ext cx="5486400" cy="5154125"/>
          </a:xfrm>
          <a:prstGeom prst="rect">
            <a:avLst/>
          </a:prstGeom>
        </p:spPr>
      </p:pic>
      <p:graphicFrame>
        <p:nvGraphicFramePr>
          <p:cNvPr id="108" name="Table 4">
            <a:extLst>
              <a:ext uri="{FF2B5EF4-FFF2-40B4-BE49-F238E27FC236}">
                <a16:creationId xmlns:a16="http://schemas.microsoft.com/office/drawing/2014/main" id="{1AD41C8D-1645-4B75-8252-9724B4995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34532"/>
              </p:ext>
            </p:extLst>
          </p:nvPr>
        </p:nvGraphicFramePr>
        <p:xfrm>
          <a:off x="6096000" y="2875927"/>
          <a:ext cx="5432490" cy="25718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830">
                  <a:extLst>
                    <a:ext uri="{9D8B030D-6E8A-4147-A177-3AD203B41FA5}">
                      <a16:colId xmlns:a16="http://schemas.microsoft.com/office/drawing/2014/main" val="3690284994"/>
                    </a:ext>
                  </a:extLst>
                </a:gridCol>
                <a:gridCol w="911995">
                  <a:extLst>
                    <a:ext uri="{9D8B030D-6E8A-4147-A177-3AD203B41FA5}">
                      <a16:colId xmlns:a16="http://schemas.microsoft.com/office/drawing/2014/main" val="3650909537"/>
                    </a:ext>
                  </a:extLst>
                </a:gridCol>
                <a:gridCol w="2709665">
                  <a:extLst>
                    <a:ext uri="{9D8B030D-6E8A-4147-A177-3AD203B41FA5}">
                      <a16:colId xmlns:a16="http://schemas.microsoft.com/office/drawing/2014/main" val="4031349014"/>
                    </a:ext>
                  </a:extLst>
                </a:gridCol>
              </a:tblGrid>
              <a:tr h="421786"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Size of a sound file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496186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Sample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samples per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25589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Length of sample in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078675"/>
                  </a:ext>
                </a:extLst>
              </a:tr>
              <a:tr h="5202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Sample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bits needed </a:t>
                      </a:r>
                      <a:br>
                        <a:rPr lang="en-GB" sz="1400" dirty="0"/>
                      </a:br>
                      <a:r>
                        <a:rPr lang="en-GB" sz="1400" dirty="0"/>
                        <a:t>to store each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27112"/>
                  </a:ext>
                </a:extLst>
              </a:tr>
              <a:tr h="122713"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103866"/>
                  </a:ext>
                </a:extLst>
              </a:tr>
              <a:tr h="421786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6 x 3 x 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=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72 bits = </a:t>
                      </a:r>
                      <a:r>
                        <a:rPr lang="en-GB" sz="1800" b="0" dirty="0"/>
                        <a:t>9 bytes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02710074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DACBF4A7-FE9B-FB4B-A85F-4D1B9AE99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65" y="1201958"/>
            <a:ext cx="12039600" cy="6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Sound file size = (Number of samples per second) x (Number of bits per sample) x (Length of sample in seconds) </a:t>
            </a:r>
          </a:p>
          <a:p>
            <a:pPr marL="285750" indent="-285750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1BD6D-297E-DC36-0970-73069DE75273}"/>
              </a:ext>
            </a:extLst>
          </p:cNvPr>
          <p:cNvSpPr txBox="1"/>
          <p:nvPr/>
        </p:nvSpPr>
        <p:spPr>
          <a:xfrm rot="16200000">
            <a:off x="-802272" y="3970624"/>
            <a:ext cx="191231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b="1" dirty="0"/>
              <a:t>4-bit sample resolution</a:t>
            </a:r>
          </a:p>
        </p:txBody>
      </p:sp>
    </p:spTree>
    <p:extLst>
      <p:ext uri="{BB962C8B-B14F-4D97-AF65-F5344CB8AC3E}">
        <p14:creationId xmlns:p14="http://schemas.microsoft.com/office/powerpoint/2010/main" val="302201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87113"/>
            <a:ext cx="11099827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Sound file size: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number of bits in a sound file. Calculated as: (Number of samples per second) x (Number of bits per sample) x (Length of sample in seconds).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resolution: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number of bits stored per sample. The higher the sample resolution, the greater the quality of the sound and the larger the file size.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rate: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number of samples stored per second. The higher the sample rate, the higher the quality of the sound, and the larger the file size.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make_notes">
            <a:extLst>
              <a:ext uri="{FF2B5EF4-FFF2-40B4-BE49-F238E27FC236}">
                <a16:creationId xmlns:a16="http://schemas.microsoft.com/office/drawing/2014/main" id="{4478F144-6D2B-A1DE-F659-B601055A3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DD6B62-C028-5A0C-C31A-7DE2EC666134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Representing sound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936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566</Words>
  <Application>Microsoft Office PowerPoint</Application>
  <PresentationFormat>Widescreen</PresentationFormat>
  <Paragraphs>103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69</cp:revision>
  <dcterms:created xsi:type="dcterms:W3CDTF">2019-10-14T15:21:06Z</dcterms:created>
  <dcterms:modified xsi:type="dcterms:W3CDTF">2022-05-12T13:23:39Z</dcterms:modified>
</cp:coreProperties>
</file>