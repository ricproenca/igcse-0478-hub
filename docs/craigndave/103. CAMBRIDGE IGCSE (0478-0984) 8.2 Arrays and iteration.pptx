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7" r:id="rId2"/>
    <p:sldId id="266" r:id="rId3"/>
    <p:sldId id="267" r:id="rId4"/>
    <p:sldId id="265" r:id="rId5"/>
    <p:sldId id="268" r:id="rId6"/>
    <p:sldId id="269" r:id="rId7"/>
    <p:sldId id="270" r:id="rId8"/>
    <p:sldId id="33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D7CD"/>
    <a:srgbClr val="FCECE8"/>
    <a:srgbClr val="F26521"/>
    <a:srgbClr val="FFFFFF"/>
    <a:srgbClr val="0087B1"/>
    <a:srgbClr val="000956"/>
    <a:srgbClr val="99E265"/>
    <a:srgbClr val="008C8C"/>
    <a:srgbClr val="00B2B2"/>
    <a:srgbClr val="26C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98" autoAdjust="0"/>
    <p:restoredTop sz="94694"/>
  </p:normalViewPr>
  <p:slideViewPr>
    <p:cSldViewPr snapToGrid="0">
      <p:cViewPr varScale="1">
        <p:scale>
          <a:sx n="101" d="100"/>
          <a:sy n="101" d="100"/>
        </p:scale>
        <p:origin x="118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04/09/2022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04/09/2022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E031B-FEB2-4221-8849-89831B3F1108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6436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E031B-FEB2-4221-8849-89831B3F1108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2595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04/09/2022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04/09/2022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04/09/2022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04/09/2022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04/09/2022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04/09/2022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04/09/2022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8.2 Arrays | Arrays and iteration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04/09/2022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04/09/2022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04/09/2022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04/09/2022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04/09/2022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8.2 Arrays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Arrays and iteration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note about this video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6BA786D-22BD-911C-776D-969FB3737500}"/>
              </a:ext>
            </a:extLst>
          </p:cNvPr>
          <p:cNvGrpSpPr/>
          <p:nvPr/>
        </p:nvGrpSpPr>
        <p:grpSpPr>
          <a:xfrm>
            <a:off x="216286" y="1231322"/>
            <a:ext cx="7101690" cy="5477490"/>
            <a:chOff x="4706243" y="2443259"/>
            <a:chExt cx="2761389" cy="212984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22B1096-5228-ACE7-E906-D330F9970F9E}"/>
                </a:ext>
              </a:extLst>
            </p:cNvPr>
            <p:cNvSpPr/>
            <p:nvPr/>
          </p:nvSpPr>
          <p:spPr>
            <a:xfrm>
              <a:off x="5611944" y="4295125"/>
              <a:ext cx="948406" cy="277977"/>
            </a:xfrm>
            <a:custGeom>
              <a:avLst/>
              <a:gdLst>
                <a:gd name="connsiteX0" fmla="*/ 857888 w 948406"/>
                <a:gd name="connsiteY0" fmla="*/ 261502 h 277977"/>
                <a:gd name="connsiteX1" fmla="*/ 813306 w 948406"/>
                <a:gd name="connsiteY1" fmla="*/ 232241 h 277977"/>
                <a:gd name="connsiteX2" fmla="*/ 782990 w 948406"/>
                <a:gd name="connsiteY2" fmla="*/ 0 h 277977"/>
                <a:gd name="connsiteX3" fmla="*/ 165416 w 948406"/>
                <a:gd name="connsiteY3" fmla="*/ 0 h 277977"/>
                <a:gd name="connsiteX4" fmla="*/ 135101 w 948406"/>
                <a:gd name="connsiteY4" fmla="*/ 232241 h 277977"/>
                <a:gd name="connsiteX5" fmla="*/ 90517 w 948406"/>
                <a:gd name="connsiteY5" fmla="*/ 261502 h 277977"/>
                <a:gd name="connsiteX6" fmla="*/ 0 w 948406"/>
                <a:gd name="connsiteY6" fmla="*/ 277978 h 277977"/>
                <a:gd name="connsiteX7" fmla="*/ 948406 w 948406"/>
                <a:gd name="connsiteY7" fmla="*/ 277978 h 277977"/>
                <a:gd name="connsiteX8" fmla="*/ 857888 w 948406"/>
                <a:gd name="connsiteY8" fmla="*/ 261502 h 27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8406" h="277977">
                  <a:moveTo>
                    <a:pt x="857888" y="261502"/>
                  </a:moveTo>
                  <a:cubicBezTo>
                    <a:pt x="826420" y="255307"/>
                    <a:pt x="818611" y="254912"/>
                    <a:pt x="813306" y="232241"/>
                  </a:cubicBezTo>
                  <a:cubicBezTo>
                    <a:pt x="808000" y="209571"/>
                    <a:pt x="782990" y="0"/>
                    <a:pt x="782990" y="0"/>
                  </a:cubicBezTo>
                  <a:lnTo>
                    <a:pt x="165416" y="0"/>
                  </a:lnTo>
                  <a:cubicBezTo>
                    <a:pt x="165416" y="0"/>
                    <a:pt x="140373" y="209604"/>
                    <a:pt x="135101" y="232241"/>
                  </a:cubicBezTo>
                  <a:cubicBezTo>
                    <a:pt x="129828" y="254879"/>
                    <a:pt x="121920" y="255307"/>
                    <a:pt x="90517" y="261502"/>
                  </a:cubicBezTo>
                  <a:cubicBezTo>
                    <a:pt x="59115" y="267697"/>
                    <a:pt x="0" y="273496"/>
                    <a:pt x="0" y="277978"/>
                  </a:cubicBezTo>
                  <a:lnTo>
                    <a:pt x="948406" y="277978"/>
                  </a:lnTo>
                  <a:cubicBezTo>
                    <a:pt x="948406" y="273496"/>
                    <a:pt x="889357" y="267730"/>
                    <a:pt x="857888" y="261502"/>
                  </a:cubicBezTo>
                  <a:close/>
                </a:path>
              </a:pathLst>
            </a:custGeom>
            <a:solidFill>
              <a:srgbClr val="C9CCD2"/>
            </a:solidFill>
            <a:ln w="32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1A5E4D1-4BDB-0E8E-87F5-B5417DEDAE03}"/>
                </a:ext>
              </a:extLst>
            </p:cNvPr>
            <p:cNvSpPr/>
            <p:nvPr/>
          </p:nvSpPr>
          <p:spPr>
            <a:xfrm>
              <a:off x="4706243" y="4073363"/>
              <a:ext cx="2761389" cy="221696"/>
            </a:xfrm>
            <a:custGeom>
              <a:avLst/>
              <a:gdLst>
                <a:gd name="connsiteX0" fmla="*/ 0 w 2761389"/>
                <a:gd name="connsiteY0" fmla="*/ 0 h 221696"/>
                <a:gd name="connsiteX1" fmla="*/ 0 w 2761389"/>
                <a:gd name="connsiteY1" fmla="*/ 146469 h 221696"/>
                <a:gd name="connsiteX2" fmla="*/ 75228 w 2761389"/>
                <a:gd name="connsiteY2" fmla="*/ 221697 h 221696"/>
                <a:gd name="connsiteX3" fmla="*/ 2686128 w 2761389"/>
                <a:gd name="connsiteY3" fmla="*/ 221697 h 221696"/>
                <a:gd name="connsiteX4" fmla="*/ 2761389 w 2761389"/>
                <a:gd name="connsiteY4" fmla="*/ 146469 h 221696"/>
                <a:gd name="connsiteX5" fmla="*/ 2761389 w 2761389"/>
                <a:gd name="connsiteY5" fmla="*/ 0 h 221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61389" h="221696">
                  <a:moveTo>
                    <a:pt x="0" y="0"/>
                  </a:moveTo>
                  <a:lnTo>
                    <a:pt x="0" y="146469"/>
                  </a:lnTo>
                  <a:cubicBezTo>
                    <a:pt x="132" y="187964"/>
                    <a:pt x="33742" y="221571"/>
                    <a:pt x="75228" y="221697"/>
                  </a:cubicBezTo>
                  <a:lnTo>
                    <a:pt x="2686128" y="221697"/>
                  </a:lnTo>
                  <a:cubicBezTo>
                    <a:pt x="2727614" y="221571"/>
                    <a:pt x="2761257" y="187968"/>
                    <a:pt x="2761389" y="146469"/>
                  </a:cubicBezTo>
                  <a:lnTo>
                    <a:pt x="2761389" y="0"/>
                  </a:lnTo>
                  <a:close/>
                </a:path>
              </a:pathLst>
            </a:custGeom>
            <a:solidFill>
              <a:srgbClr val="B0B5BA"/>
            </a:solidFill>
            <a:ln w="32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E0F3088-AB4E-CD92-23C0-F7DD57836CD6}"/>
                </a:ext>
              </a:extLst>
            </p:cNvPr>
            <p:cNvSpPr/>
            <p:nvPr/>
          </p:nvSpPr>
          <p:spPr>
            <a:xfrm>
              <a:off x="4706243" y="2443259"/>
              <a:ext cx="2761389" cy="1629905"/>
            </a:xfrm>
            <a:custGeom>
              <a:avLst/>
              <a:gdLst>
                <a:gd name="connsiteX0" fmla="*/ 0 w 2761389"/>
                <a:gd name="connsiteY0" fmla="*/ 1629906 h 1629905"/>
                <a:gd name="connsiteX1" fmla="*/ 0 w 2761389"/>
                <a:gd name="connsiteY1" fmla="*/ 68737 h 1629905"/>
                <a:gd name="connsiteX2" fmla="*/ 68736 w 2761389"/>
                <a:gd name="connsiteY2" fmla="*/ 0 h 1629905"/>
                <a:gd name="connsiteX3" fmla="*/ 2692652 w 2761389"/>
                <a:gd name="connsiteY3" fmla="*/ 0 h 1629905"/>
                <a:gd name="connsiteX4" fmla="*/ 2761389 w 2761389"/>
                <a:gd name="connsiteY4" fmla="*/ 68737 h 1629905"/>
                <a:gd name="connsiteX5" fmla="*/ 2761389 w 2761389"/>
                <a:gd name="connsiteY5" fmla="*/ 1629906 h 1629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61389" h="1629905">
                  <a:moveTo>
                    <a:pt x="0" y="1629906"/>
                  </a:moveTo>
                  <a:lnTo>
                    <a:pt x="0" y="68737"/>
                  </a:lnTo>
                  <a:cubicBezTo>
                    <a:pt x="66" y="30796"/>
                    <a:pt x="30809" y="56"/>
                    <a:pt x="68736" y="0"/>
                  </a:cubicBezTo>
                  <a:lnTo>
                    <a:pt x="2692652" y="0"/>
                  </a:lnTo>
                  <a:cubicBezTo>
                    <a:pt x="2730580" y="56"/>
                    <a:pt x="2761323" y="30796"/>
                    <a:pt x="2761389" y="68737"/>
                  </a:cubicBezTo>
                  <a:lnTo>
                    <a:pt x="2761389" y="1629906"/>
                  </a:lnTo>
                  <a:close/>
                </a:path>
              </a:pathLst>
            </a:custGeom>
            <a:solidFill>
              <a:srgbClr val="000000"/>
            </a:solidFill>
            <a:ln w="32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23F331F-10D5-CB96-A13B-196DAC974BDD}"/>
                </a:ext>
              </a:extLst>
            </p:cNvPr>
            <p:cNvSpPr/>
            <p:nvPr/>
          </p:nvSpPr>
          <p:spPr>
            <a:xfrm>
              <a:off x="4822100" y="2555228"/>
              <a:ext cx="2529609" cy="1397104"/>
            </a:xfrm>
            <a:custGeom>
              <a:avLst/>
              <a:gdLst>
                <a:gd name="connsiteX0" fmla="*/ 0 w 2529609"/>
                <a:gd name="connsiteY0" fmla="*/ 0 h 1397104"/>
                <a:gd name="connsiteX1" fmla="*/ 2529610 w 2529609"/>
                <a:gd name="connsiteY1" fmla="*/ 0 h 1397104"/>
                <a:gd name="connsiteX2" fmla="*/ 2529610 w 2529609"/>
                <a:gd name="connsiteY2" fmla="*/ 1397104 h 1397104"/>
                <a:gd name="connsiteX3" fmla="*/ 0 w 2529609"/>
                <a:gd name="connsiteY3" fmla="*/ 1397104 h 1397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9609" h="1397104">
                  <a:moveTo>
                    <a:pt x="0" y="0"/>
                  </a:moveTo>
                  <a:lnTo>
                    <a:pt x="2529610" y="0"/>
                  </a:lnTo>
                  <a:lnTo>
                    <a:pt x="2529610" y="1397104"/>
                  </a:lnTo>
                  <a:lnTo>
                    <a:pt x="0" y="1397104"/>
                  </a:lnTo>
                  <a:close/>
                </a:path>
              </a:pathLst>
            </a:custGeom>
            <a:solidFill>
              <a:srgbClr val="FFFFFF"/>
            </a:solidFill>
            <a:ln w="32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678332D1-89EA-5E61-4EC2-56F0A5AFE854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dirty="0">
                <a:solidFill>
                  <a:schemeClr val="tx1"/>
                </a:solidFill>
              </a:rPr>
              <a:t>This video describes how to write values into and read values out from an array using iteration.</a:t>
            </a:r>
          </a:p>
          <a:p>
            <a:pPr>
              <a:spcAft>
                <a:spcPts val="800"/>
              </a:spcAft>
            </a:pPr>
            <a:r>
              <a:rPr lang="en-GB" dirty="0">
                <a:solidFill>
                  <a:schemeClr val="tx1"/>
                </a:solidFill>
              </a:rPr>
              <a:t>It assumes you have already watched and are comfortable with the content of the previous video, </a:t>
            </a:r>
            <a:r>
              <a:rPr lang="en-GB" i="1" dirty="0">
                <a:solidFill>
                  <a:schemeClr val="tx1"/>
                </a:solidFill>
              </a:rPr>
              <a:t>8.1 The use of arrays.</a:t>
            </a:r>
          </a:p>
          <a:p>
            <a:pPr lvl="1">
              <a:spcAft>
                <a:spcPts val="800"/>
              </a:spcAft>
            </a:pP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13" name="Picture 12" descr="A picture containing chart&#10;&#10;Description automatically generated">
            <a:extLst>
              <a:ext uri="{FF2B5EF4-FFF2-40B4-BE49-F238E27FC236}">
                <a16:creationId xmlns:a16="http://schemas.microsoft.com/office/drawing/2014/main" id="{9C2748B9-32AC-EC87-6F51-0B9F643E53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44" y="1470100"/>
            <a:ext cx="6505601" cy="3659401"/>
          </a:xfrm>
          <a:prstGeom prst="rect">
            <a:avLst/>
          </a:prstGeom>
        </p:spPr>
      </p:pic>
      <p:pic>
        <p:nvPicPr>
          <p:cNvPr id="12" name="Graphic 11" descr="Play">
            <a:extLst>
              <a:ext uri="{FF2B5EF4-FFF2-40B4-BE49-F238E27FC236}">
                <a16:creationId xmlns:a16="http://schemas.microsoft.com/office/drawing/2014/main" id="{B7E72C7D-F9EA-0F6F-EAC2-9B5BAAB18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5098" y="2711875"/>
            <a:ext cx="1637760" cy="16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317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4" y="1052896"/>
            <a:ext cx="5875325" cy="21339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array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can contain a lot of separate data items, and it is often necessary to travel through all these elements: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Populating an entire array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Traversing an array to find/update an item</a:t>
            </a:r>
          </a:p>
          <a:p>
            <a:pPr marL="54000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Outputting the contents of an array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Luckily, there is an ideal programming construct to support this – iteration, or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loops.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Arrays and iteration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0896A7A3-4A31-CE1E-083C-A2A1E4DFB8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645114"/>
              </p:ext>
            </p:extLst>
          </p:nvPr>
        </p:nvGraphicFramePr>
        <p:xfrm>
          <a:off x="6540037" y="865319"/>
          <a:ext cx="2575388" cy="2563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87694">
                  <a:extLst>
                    <a:ext uri="{9D8B030D-6E8A-4147-A177-3AD203B41FA5}">
                      <a16:colId xmlns:a16="http://schemas.microsoft.com/office/drawing/2014/main" val="218393775"/>
                    </a:ext>
                  </a:extLst>
                </a:gridCol>
                <a:gridCol w="1287694">
                  <a:extLst>
                    <a:ext uri="{9D8B030D-6E8A-4147-A177-3AD203B41FA5}">
                      <a16:colId xmlns:a16="http://schemas.microsoft.com/office/drawing/2014/main" val="2593630649"/>
                    </a:ext>
                  </a:extLst>
                </a:gridCol>
              </a:tblGrid>
              <a:tr h="427280">
                <a:tc gridSpan="2"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countries</a:t>
                      </a:r>
                    </a:p>
                  </a:txBody>
                  <a:tcPr marL="105357" marR="105357" marT="52678" marB="52678" anchor="ctr"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283572"/>
                  </a:ext>
                </a:extLst>
              </a:tr>
              <a:tr h="42728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Index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Contents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244540"/>
                  </a:ext>
                </a:extLst>
              </a:tr>
              <a:tr h="42728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/>
                        <a:t>Angola</a:t>
                      </a:r>
                    </a:p>
                  </a:txBody>
                  <a:tcPr marL="105357" marR="105357" marT="52678" marB="52678" anchor="ctr"/>
                </a:tc>
                <a:extLst>
                  <a:ext uri="{0D108BD9-81ED-4DB2-BD59-A6C34878D82A}">
                    <a16:rowId xmlns:a16="http://schemas.microsoft.com/office/drawing/2014/main" val="3713785552"/>
                  </a:ext>
                </a:extLst>
              </a:tr>
              <a:tr h="42728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/>
                        <a:t>Austria</a:t>
                      </a:r>
                    </a:p>
                  </a:txBody>
                  <a:tcPr marL="105357" marR="105357" marT="52678" marB="52678" anchor="ctr"/>
                </a:tc>
                <a:extLst>
                  <a:ext uri="{0D108BD9-81ED-4DB2-BD59-A6C34878D82A}">
                    <a16:rowId xmlns:a16="http://schemas.microsoft.com/office/drawing/2014/main" val="886472720"/>
                  </a:ext>
                </a:extLst>
              </a:tr>
              <a:tr h="42728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/>
                        <a:t>Belgium</a:t>
                      </a:r>
                    </a:p>
                  </a:txBody>
                  <a:tcPr marL="105357" marR="105357" marT="52678" marB="52678" anchor="ctr"/>
                </a:tc>
                <a:extLst>
                  <a:ext uri="{0D108BD9-81ED-4DB2-BD59-A6C34878D82A}">
                    <a16:rowId xmlns:a16="http://schemas.microsoft.com/office/drawing/2014/main" val="1489663766"/>
                  </a:ext>
                </a:extLst>
              </a:tr>
              <a:tr h="42728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/>
                        <a:t>Canada</a:t>
                      </a:r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33927"/>
                  </a:ext>
                </a:extLst>
              </a:tr>
            </a:tbl>
          </a:graphicData>
        </a:graphic>
      </p:graphicFrame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AE7888C2-6D53-F7EA-A6EC-5D735FE49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838682"/>
              </p:ext>
            </p:extLst>
          </p:nvPr>
        </p:nvGraphicFramePr>
        <p:xfrm>
          <a:off x="6540037" y="3761609"/>
          <a:ext cx="3499313" cy="265402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77081">
                  <a:extLst>
                    <a:ext uri="{9D8B030D-6E8A-4147-A177-3AD203B41FA5}">
                      <a16:colId xmlns:a16="http://schemas.microsoft.com/office/drawing/2014/main" val="218393775"/>
                    </a:ext>
                  </a:extLst>
                </a:gridCol>
                <a:gridCol w="1261116">
                  <a:extLst>
                    <a:ext uri="{9D8B030D-6E8A-4147-A177-3AD203B41FA5}">
                      <a16:colId xmlns:a16="http://schemas.microsoft.com/office/drawing/2014/main" val="2593630649"/>
                    </a:ext>
                  </a:extLst>
                </a:gridCol>
                <a:gridCol w="1261116">
                  <a:extLst>
                    <a:ext uri="{9D8B030D-6E8A-4147-A177-3AD203B41FA5}">
                      <a16:colId xmlns:a16="http://schemas.microsoft.com/office/drawing/2014/main" val="479884621"/>
                    </a:ext>
                  </a:extLst>
                </a:gridCol>
              </a:tblGrid>
              <a:tr h="442337">
                <a:tc gridSpan="3"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countries</a:t>
                      </a:r>
                    </a:p>
                  </a:txBody>
                  <a:tcPr marL="109069" marR="109069" marT="54535" marB="54535" anchor="ctr"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283572"/>
                  </a:ext>
                </a:extLst>
              </a:tr>
              <a:tr h="442337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Index</a:t>
                      </a:r>
                    </a:p>
                  </a:txBody>
                  <a:tcPr marL="109069" marR="109069" marT="54535" marB="5453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9069" marR="109069" marT="54535" marB="5453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9069" marR="109069" marT="54535" marB="54535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244540"/>
                  </a:ext>
                </a:extLst>
              </a:tr>
              <a:tr h="442337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9069" marR="109069" marT="54535" marB="5453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/>
                        <a:t>Angola</a:t>
                      </a:r>
                    </a:p>
                  </a:txBody>
                  <a:tcPr marL="109069" marR="109069" marT="54535" marB="5453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/>
                        <a:t>1246700</a:t>
                      </a:r>
                    </a:p>
                  </a:txBody>
                  <a:tcPr marL="109069" marR="109069" marT="54535" marB="54535" anchor="ctr"/>
                </a:tc>
                <a:extLst>
                  <a:ext uri="{0D108BD9-81ED-4DB2-BD59-A6C34878D82A}">
                    <a16:rowId xmlns:a16="http://schemas.microsoft.com/office/drawing/2014/main" val="3713785552"/>
                  </a:ext>
                </a:extLst>
              </a:tr>
              <a:tr h="442337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9069" marR="109069" marT="54535" marB="5453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/>
                        <a:t>Austria</a:t>
                      </a:r>
                    </a:p>
                  </a:txBody>
                  <a:tcPr marL="109069" marR="109069" marT="54535" marB="5453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/>
                        <a:t>83871</a:t>
                      </a:r>
                    </a:p>
                  </a:txBody>
                  <a:tcPr marL="109069" marR="109069" marT="54535" marB="54535" anchor="ctr"/>
                </a:tc>
                <a:extLst>
                  <a:ext uri="{0D108BD9-81ED-4DB2-BD59-A6C34878D82A}">
                    <a16:rowId xmlns:a16="http://schemas.microsoft.com/office/drawing/2014/main" val="886472720"/>
                  </a:ext>
                </a:extLst>
              </a:tr>
              <a:tr h="442337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09069" marR="109069" marT="54535" marB="5453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/>
                        <a:t>Belgium</a:t>
                      </a:r>
                    </a:p>
                  </a:txBody>
                  <a:tcPr marL="109069" marR="109069" marT="54535" marB="5453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/>
                        <a:t>30528</a:t>
                      </a:r>
                    </a:p>
                  </a:txBody>
                  <a:tcPr marL="109069" marR="109069" marT="54535" marB="54535" anchor="ctr"/>
                </a:tc>
                <a:extLst>
                  <a:ext uri="{0D108BD9-81ED-4DB2-BD59-A6C34878D82A}">
                    <a16:rowId xmlns:a16="http://schemas.microsoft.com/office/drawing/2014/main" val="1489663766"/>
                  </a:ext>
                </a:extLst>
              </a:tr>
              <a:tr h="442337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109069" marR="109069" marT="54535" marB="5453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/>
                        <a:t>Canada</a:t>
                      </a:r>
                    </a:p>
                  </a:txBody>
                  <a:tcPr marL="109069" marR="109069" marT="54535" marB="5453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/>
                        <a:t>4280915</a:t>
                      </a:r>
                    </a:p>
                  </a:txBody>
                  <a:tcPr marL="109069" marR="109069" marT="54535" marB="54535" anchor="ctr"/>
                </a:tc>
                <a:extLst>
                  <a:ext uri="{0D108BD9-81ED-4DB2-BD59-A6C34878D82A}">
                    <a16:rowId xmlns:a16="http://schemas.microsoft.com/office/drawing/2014/main" val="2744841049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7334F4F-540A-1979-BB82-2792D3FD5F89}"/>
              </a:ext>
            </a:extLst>
          </p:cNvPr>
          <p:cNvCxnSpPr/>
          <p:nvPr/>
        </p:nvCxnSpPr>
        <p:spPr>
          <a:xfrm>
            <a:off x="8991600" y="1912943"/>
            <a:ext cx="0" cy="1343025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86849F9-360F-75DC-7A41-4841741B7DF3}"/>
              </a:ext>
            </a:extLst>
          </p:cNvPr>
          <p:cNvCxnSpPr/>
          <p:nvPr/>
        </p:nvCxnSpPr>
        <p:spPr>
          <a:xfrm>
            <a:off x="8677275" y="4827593"/>
            <a:ext cx="0" cy="1343025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1CF89B-C165-32DD-F7EB-24E18819D98C}"/>
              </a:ext>
            </a:extLst>
          </p:cNvPr>
          <p:cNvCxnSpPr/>
          <p:nvPr/>
        </p:nvCxnSpPr>
        <p:spPr>
          <a:xfrm>
            <a:off x="9934575" y="4827592"/>
            <a:ext cx="0" cy="1343025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3418CA34-6858-2149-7D75-33779256951E}"/>
              </a:ext>
            </a:extLst>
          </p:cNvPr>
          <p:cNvSpPr/>
          <p:nvPr/>
        </p:nvSpPr>
        <p:spPr>
          <a:xfrm>
            <a:off x="7837256" y="1784355"/>
            <a:ext cx="314325" cy="314325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77DBDDE-D45F-DA4C-D08C-9F836B4C9705}"/>
              </a:ext>
            </a:extLst>
          </p:cNvPr>
          <p:cNvSpPr/>
          <p:nvPr/>
        </p:nvSpPr>
        <p:spPr>
          <a:xfrm>
            <a:off x="7540162" y="4708529"/>
            <a:ext cx="314325" cy="314325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5423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1.85185E-6 L 8.33333E-7 0.18496 " pathEditMode="relative" rAng="0" ptsTypes="AA">
                                      <p:cBhvr>
                                        <p:cTn id="23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236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9 -0.00023 L -0.00039 0.19884 L 0.11133 0.00023 L 0.11133 0.19421 " pathEditMode="relative" ptsTypes="AAAA">
                                      <p:cBhvr>
                                        <p:cTn id="25" dur="6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4" y="1052896"/>
            <a:ext cx="1168557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we are using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loop to populate the test scores of ten students into a one-dimensional array.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DECLARE TestScores : ARRAY[0:9] OF INTEGER</a:t>
            </a:r>
          </a:p>
          <a:p>
            <a:pPr>
              <a:lnSpc>
                <a:spcPct val="150000"/>
              </a:lnSpc>
            </a:pPr>
            <a:endParaRPr lang="en-GB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Counter </a:t>
            </a:r>
            <a:r>
              <a:rPr lang="en-GB" sz="1800" b="0" i="0" u="none" strike="noStrike" baseline="0" dirty="0">
                <a:solidFill>
                  <a:schemeClr val="tx1"/>
                </a:solidFill>
                <a:latin typeface="Consolas" panose="020B0609020204030204" pitchFamily="49" charset="0"/>
              </a:rPr>
              <a:t>← 0 TO 9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OUTPUT "Enter the next test score: "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INPUT TestScores[Counter]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NEXT Counter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Arrays and iteration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27917F-F216-9575-8725-FBB885D6ECDB}"/>
              </a:ext>
            </a:extLst>
          </p:cNvPr>
          <p:cNvSpPr/>
          <p:nvPr/>
        </p:nvSpPr>
        <p:spPr>
          <a:xfrm>
            <a:off x="123825" y="1847850"/>
            <a:ext cx="5740411" cy="2705100"/>
          </a:xfrm>
          <a:prstGeom prst="roundRect">
            <a:avLst>
              <a:gd name="adj" fmla="val 6808"/>
            </a:avLst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18B7CF42-E7E2-6576-05F3-85318EE0F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917875"/>
              </p:ext>
            </p:extLst>
          </p:nvPr>
        </p:nvGraphicFramePr>
        <p:xfrm>
          <a:off x="9218380" y="1562100"/>
          <a:ext cx="2575388" cy="5127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87694">
                  <a:extLst>
                    <a:ext uri="{9D8B030D-6E8A-4147-A177-3AD203B41FA5}">
                      <a16:colId xmlns:a16="http://schemas.microsoft.com/office/drawing/2014/main" val="218393775"/>
                    </a:ext>
                  </a:extLst>
                </a:gridCol>
                <a:gridCol w="1287694">
                  <a:extLst>
                    <a:ext uri="{9D8B030D-6E8A-4147-A177-3AD203B41FA5}">
                      <a16:colId xmlns:a16="http://schemas.microsoft.com/office/drawing/2014/main" val="2593630649"/>
                    </a:ext>
                  </a:extLst>
                </a:gridCol>
              </a:tblGrid>
              <a:tr h="427280">
                <a:tc gridSpan="2"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TestScores</a:t>
                      </a:r>
                    </a:p>
                  </a:txBody>
                  <a:tcPr marL="105357" marR="105357" marT="52678" marB="52678" anchor="ctr"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283572"/>
                  </a:ext>
                </a:extLst>
              </a:tr>
              <a:tr h="42728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Index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Contents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244540"/>
                  </a:ext>
                </a:extLst>
              </a:tr>
              <a:tr h="42728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/>
                        <a:t>47</a:t>
                      </a:r>
                    </a:p>
                  </a:txBody>
                  <a:tcPr marL="105357" marR="105357" marT="52678" marB="52678" anchor="ctr"/>
                </a:tc>
                <a:extLst>
                  <a:ext uri="{0D108BD9-81ED-4DB2-BD59-A6C34878D82A}">
                    <a16:rowId xmlns:a16="http://schemas.microsoft.com/office/drawing/2014/main" val="3713785552"/>
                  </a:ext>
                </a:extLst>
              </a:tr>
              <a:tr h="42728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/>
                        <a:t>56</a:t>
                      </a:r>
                    </a:p>
                  </a:txBody>
                  <a:tcPr marL="105357" marR="105357" marT="52678" marB="52678" anchor="ctr"/>
                </a:tc>
                <a:extLst>
                  <a:ext uri="{0D108BD9-81ED-4DB2-BD59-A6C34878D82A}">
                    <a16:rowId xmlns:a16="http://schemas.microsoft.com/office/drawing/2014/main" val="886472720"/>
                  </a:ext>
                </a:extLst>
              </a:tr>
              <a:tr h="42728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/>
                        <a:t>12</a:t>
                      </a:r>
                    </a:p>
                  </a:txBody>
                  <a:tcPr marL="105357" marR="105357" marT="52678" marB="52678" anchor="ctr"/>
                </a:tc>
                <a:extLst>
                  <a:ext uri="{0D108BD9-81ED-4DB2-BD59-A6C34878D82A}">
                    <a16:rowId xmlns:a16="http://schemas.microsoft.com/office/drawing/2014/main" val="1489663766"/>
                  </a:ext>
                </a:extLst>
              </a:tr>
              <a:tr h="42728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/>
                        <a:t>…</a:t>
                      </a:r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33927"/>
                  </a:ext>
                </a:extLst>
              </a:tr>
              <a:tr h="42728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100" dirty="0"/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31791"/>
                  </a:ext>
                </a:extLst>
              </a:tr>
              <a:tr h="42728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100" dirty="0"/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907642"/>
                  </a:ext>
                </a:extLst>
              </a:tr>
              <a:tr h="42728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100" dirty="0"/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891279"/>
                  </a:ext>
                </a:extLst>
              </a:tr>
              <a:tr h="42728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100" dirty="0"/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766112"/>
                  </a:ext>
                </a:extLst>
              </a:tr>
              <a:tr h="42728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100" dirty="0"/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92263"/>
                  </a:ext>
                </a:extLst>
              </a:tr>
              <a:tr h="42728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100" dirty="0"/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945011"/>
                  </a:ext>
                </a:extLst>
              </a:tr>
            </a:tbl>
          </a:graphicData>
        </a:graphic>
      </p:graphicFrame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452A9B8C-0BD5-CA9C-5BF5-8B41FFFC6F72}"/>
              </a:ext>
            </a:extLst>
          </p:cNvPr>
          <p:cNvSpPr/>
          <p:nvPr/>
        </p:nvSpPr>
        <p:spPr>
          <a:xfrm>
            <a:off x="6327766" y="2422825"/>
            <a:ext cx="2693976" cy="1425276"/>
          </a:xfrm>
          <a:prstGeom prst="wedgeRoundRectCallout">
            <a:avLst>
              <a:gd name="adj1" fmla="val 65354"/>
              <a:gd name="adj2" fmla="val -34948"/>
              <a:gd name="adj3" fmla="val 16667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Note:</a:t>
            </a:r>
            <a:r>
              <a:rPr lang="en-GB" sz="1400" dirty="0">
                <a:solidFill>
                  <a:schemeClr val="tx1"/>
                </a:solidFill>
              </a:rPr>
              <a:t> Each element is referenced by its index number. IGCSE pseudocode tends to use [1] as the first index, but many languages use [0].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0129E1-D83A-E312-FAE6-5D95D789D393}"/>
              </a:ext>
            </a:extLst>
          </p:cNvPr>
          <p:cNvSpPr txBox="1"/>
          <p:nvPr/>
        </p:nvSpPr>
        <p:spPr>
          <a:xfrm>
            <a:off x="278753" y="4989494"/>
            <a:ext cx="5585483" cy="163121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Enter the next test score: 47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Enter the next test score: 56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Enter the next test score: 12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...</a:t>
            </a:r>
          </a:p>
          <a:p>
            <a:pPr>
              <a:defRPr/>
            </a:pPr>
            <a:endParaRPr lang="en-GB" sz="2000" dirty="0">
              <a:ln>
                <a:solidFill>
                  <a:schemeClr val="bg1"/>
                </a:solidFill>
              </a:ln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C7D022-3969-528E-D851-3614D971BB1B}"/>
              </a:ext>
            </a:extLst>
          </p:cNvPr>
          <p:cNvSpPr/>
          <p:nvPr/>
        </p:nvSpPr>
        <p:spPr>
          <a:xfrm>
            <a:off x="169630" y="4626602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window: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680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4" y="1052896"/>
            <a:ext cx="11685575" cy="3277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we are using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loop to output the contents of the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TestScores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array.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DECLARE TestScores : ARRAY[0:9] OF INTEGER</a:t>
            </a:r>
          </a:p>
          <a:p>
            <a:pPr>
              <a:lnSpc>
                <a:spcPct val="150000"/>
              </a:lnSpc>
            </a:pPr>
            <a:endParaRPr lang="en-GB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Counter </a:t>
            </a:r>
            <a:r>
              <a:rPr lang="en-GB" sz="1800" b="0" i="0" u="none" strike="noStrike" baseline="0" dirty="0">
                <a:solidFill>
                  <a:schemeClr val="tx1"/>
                </a:solidFill>
                <a:latin typeface="Consolas" panose="020B0609020204030204" pitchFamily="49" charset="0"/>
              </a:rPr>
              <a:t>← 0 TO 9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OUTPUT "Test score ", Counter + 1, ": ", TestScores[Counter]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NEXT Counter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Arrays and iteration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27917F-F216-9575-8725-FBB885D6ECDB}"/>
              </a:ext>
            </a:extLst>
          </p:cNvPr>
          <p:cNvSpPr/>
          <p:nvPr/>
        </p:nvSpPr>
        <p:spPr>
          <a:xfrm>
            <a:off x="123825" y="1847850"/>
            <a:ext cx="8324850" cy="2286000"/>
          </a:xfrm>
          <a:prstGeom prst="roundRect">
            <a:avLst>
              <a:gd name="adj" fmla="val 6808"/>
            </a:avLst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18B7CF42-E7E2-6576-05F3-85318EE0F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386066"/>
              </p:ext>
            </p:extLst>
          </p:nvPr>
        </p:nvGraphicFramePr>
        <p:xfrm>
          <a:off x="9218380" y="1562100"/>
          <a:ext cx="2575388" cy="5127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87694">
                  <a:extLst>
                    <a:ext uri="{9D8B030D-6E8A-4147-A177-3AD203B41FA5}">
                      <a16:colId xmlns:a16="http://schemas.microsoft.com/office/drawing/2014/main" val="218393775"/>
                    </a:ext>
                  </a:extLst>
                </a:gridCol>
                <a:gridCol w="1287694">
                  <a:extLst>
                    <a:ext uri="{9D8B030D-6E8A-4147-A177-3AD203B41FA5}">
                      <a16:colId xmlns:a16="http://schemas.microsoft.com/office/drawing/2014/main" val="2593630649"/>
                    </a:ext>
                  </a:extLst>
                </a:gridCol>
              </a:tblGrid>
              <a:tr h="427280">
                <a:tc gridSpan="2"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TestScores</a:t>
                      </a:r>
                    </a:p>
                  </a:txBody>
                  <a:tcPr marL="105357" marR="105357" marT="52678" marB="52678" anchor="ctr"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283572"/>
                  </a:ext>
                </a:extLst>
              </a:tr>
              <a:tr h="42728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Index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Contents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244540"/>
                  </a:ext>
                </a:extLst>
              </a:tr>
              <a:tr h="42728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/>
                        <a:t>47</a:t>
                      </a:r>
                    </a:p>
                  </a:txBody>
                  <a:tcPr marL="105357" marR="105357" marT="52678" marB="52678" anchor="ctr"/>
                </a:tc>
                <a:extLst>
                  <a:ext uri="{0D108BD9-81ED-4DB2-BD59-A6C34878D82A}">
                    <a16:rowId xmlns:a16="http://schemas.microsoft.com/office/drawing/2014/main" val="3713785552"/>
                  </a:ext>
                </a:extLst>
              </a:tr>
              <a:tr h="42728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/>
                        <a:t>56</a:t>
                      </a:r>
                    </a:p>
                  </a:txBody>
                  <a:tcPr marL="105357" marR="105357" marT="52678" marB="52678" anchor="ctr"/>
                </a:tc>
                <a:extLst>
                  <a:ext uri="{0D108BD9-81ED-4DB2-BD59-A6C34878D82A}">
                    <a16:rowId xmlns:a16="http://schemas.microsoft.com/office/drawing/2014/main" val="886472720"/>
                  </a:ext>
                </a:extLst>
              </a:tr>
              <a:tr h="42728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/>
                        <a:t>12</a:t>
                      </a:r>
                    </a:p>
                  </a:txBody>
                  <a:tcPr marL="105357" marR="105357" marT="52678" marB="52678" anchor="ctr"/>
                </a:tc>
                <a:extLst>
                  <a:ext uri="{0D108BD9-81ED-4DB2-BD59-A6C34878D82A}">
                    <a16:rowId xmlns:a16="http://schemas.microsoft.com/office/drawing/2014/main" val="1489663766"/>
                  </a:ext>
                </a:extLst>
              </a:tr>
              <a:tr h="42728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/>
                        <a:t>19</a:t>
                      </a:r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33927"/>
                  </a:ext>
                </a:extLst>
              </a:tr>
              <a:tr h="42728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/>
                        <a:t>100</a:t>
                      </a:r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31791"/>
                  </a:ext>
                </a:extLst>
              </a:tr>
              <a:tr h="42728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/>
                        <a:t>45</a:t>
                      </a:r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907642"/>
                  </a:ext>
                </a:extLst>
              </a:tr>
              <a:tr h="42728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/>
                        <a:t>78</a:t>
                      </a:r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891279"/>
                  </a:ext>
                </a:extLst>
              </a:tr>
              <a:tr h="42728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/>
                        <a:t>40</a:t>
                      </a:r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766112"/>
                  </a:ext>
                </a:extLst>
              </a:tr>
              <a:tr h="42728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/>
                        <a:t>58</a:t>
                      </a:r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92263"/>
                  </a:ext>
                </a:extLst>
              </a:tr>
              <a:tr h="42728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/>
                        <a:t>92</a:t>
                      </a:r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94501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7FA2CB6-CD02-CFBA-A868-325775FB69AC}"/>
              </a:ext>
            </a:extLst>
          </p:cNvPr>
          <p:cNvSpPr txBox="1"/>
          <p:nvPr/>
        </p:nvSpPr>
        <p:spPr>
          <a:xfrm>
            <a:off x="220674" y="4989496"/>
            <a:ext cx="5585483" cy="163121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Test score 1: 47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Test score 2: 56</a:t>
            </a:r>
            <a:endParaRPr lang="en-GB" sz="2000" dirty="0">
              <a:ln>
                <a:solidFill>
                  <a:schemeClr val="bg1"/>
                </a:solidFill>
              </a:ln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Test score 3: 12</a:t>
            </a:r>
            <a:endParaRPr lang="en-GB" sz="2000" dirty="0">
              <a:ln>
                <a:solidFill>
                  <a:schemeClr val="bg1"/>
                </a:solidFill>
              </a:ln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Test score 4: 19</a:t>
            </a:r>
            <a:endParaRPr lang="en-GB" sz="2000" dirty="0">
              <a:ln>
                <a:solidFill>
                  <a:schemeClr val="bg1"/>
                </a:solidFill>
              </a:ln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...</a:t>
            </a:r>
            <a:endParaRPr lang="en-GB" sz="2000" dirty="0">
              <a:ln>
                <a:solidFill>
                  <a:schemeClr val="bg1"/>
                </a:solidFill>
              </a:ln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893705-0E49-78DE-FB93-E664F76662A3}"/>
              </a:ext>
            </a:extLst>
          </p:cNvPr>
          <p:cNvSpPr/>
          <p:nvPr/>
        </p:nvSpPr>
        <p:spPr>
          <a:xfrm>
            <a:off x="169630" y="4626602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window: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819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3" y="1052896"/>
            <a:ext cx="1219040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we are using a nested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loop to populate the lowest and highest marks of ten students into a two-dimensional array.</a:t>
            </a:r>
          </a:p>
          <a:p>
            <a:endParaRPr lang="en-GB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DECLARE TestScores : ARRAY[0:9, 0:1] OF INTEGER</a:t>
            </a:r>
          </a:p>
          <a:p>
            <a:endParaRPr lang="en-GB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CounterX </a:t>
            </a:r>
            <a:r>
              <a:rPr lang="en-GB" sz="1800" b="0" i="0" u="none" strike="noStrike" baseline="0" dirty="0">
                <a:solidFill>
                  <a:schemeClr val="tx1"/>
                </a:solidFill>
                <a:latin typeface="Consolas" panose="020B0609020204030204" pitchFamily="49" charset="0"/>
              </a:rPr>
              <a:t>← 0 TO 9</a:t>
            </a:r>
          </a:p>
          <a:p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OUTPUT "Student ", CounterX +1</a:t>
            </a:r>
          </a:p>
          <a:p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OUTPUT "Enter low score followed by high score"</a:t>
            </a:r>
            <a:endParaRPr lang="en-GB" sz="1800" b="0" i="0" u="none" strike="noStrike" baseline="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    FOR CounterY </a:t>
            </a:r>
            <a:r>
              <a:rPr lang="en-GB" sz="1800" b="0" i="0" u="none" strike="noStrike" baseline="0" dirty="0">
                <a:solidFill>
                  <a:schemeClr val="tx1"/>
                </a:solidFill>
                <a:latin typeface="Consolas" panose="020B0609020204030204" pitchFamily="49" charset="0"/>
              </a:rPr>
              <a:t>← 0 TO 1</a:t>
            </a:r>
          </a:p>
          <a:p>
            <a:r>
              <a:rPr lang="en-GB" sz="1800" b="0" i="0" u="none" strike="noStrike" baseline="0" dirty="0">
                <a:solidFill>
                  <a:schemeClr val="tx1"/>
                </a:solidFill>
                <a:latin typeface="Consolas" panose="020B0609020204030204" pitchFamily="49" charset="0"/>
              </a:rPr>
              <a:t>        OUPUT 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en-GB" sz="1800" b="0" i="0" u="none" strike="noStrike" baseline="0" dirty="0">
                <a:solidFill>
                  <a:schemeClr val="tx1"/>
                </a:solidFill>
                <a:latin typeface="Consolas" panose="020B0609020204030204" pitchFamily="49" charset="0"/>
              </a:rPr>
              <a:t>Input score: 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endParaRPr lang="en-GB" sz="1800" b="0" i="0" u="none" strike="noStrike" baseline="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INPUT TestScores[CounterX, Counter Y]</a:t>
            </a:r>
          </a:p>
          <a:p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NEXT CounterY</a:t>
            </a:r>
          </a:p>
          <a:p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NEXT CounterX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Arrays and iteration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27917F-F216-9575-8725-FBB885D6ECDB}"/>
              </a:ext>
            </a:extLst>
          </p:cNvPr>
          <p:cNvSpPr/>
          <p:nvPr/>
        </p:nvSpPr>
        <p:spPr>
          <a:xfrm>
            <a:off x="85725" y="1562100"/>
            <a:ext cx="7810500" cy="2933701"/>
          </a:xfrm>
          <a:prstGeom prst="roundRect">
            <a:avLst>
              <a:gd name="adj" fmla="val 6808"/>
            </a:avLst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18B7CF42-E7E2-6576-05F3-85318EE0F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597093"/>
              </p:ext>
            </p:extLst>
          </p:nvPr>
        </p:nvGraphicFramePr>
        <p:xfrm>
          <a:off x="8542105" y="1562100"/>
          <a:ext cx="3154596" cy="455611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51532">
                  <a:extLst>
                    <a:ext uri="{9D8B030D-6E8A-4147-A177-3AD203B41FA5}">
                      <a16:colId xmlns:a16="http://schemas.microsoft.com/office/drawing/2014/main" val="218393775"/>
                    </a:ext>
                  </a:extLst>
                </a:gridCol>
                <a:gridCol w="1051532">
                  <a:extLst>
                    <a:ext uri="{9D8B030D-6E8A-4147-A177-3AD203B41FA5}">
                      <a16:colId xmlns:a16="http://schemas.microsoft.com/office/drawing/2014/main" val="2593630649"/>
                    </a:ext>
                  </a:extLst>
                </a:gridCol>
                <a:gridCol w="1051532">
                  <a:extLst>
                    <a:ext uri="{9D8B030D-6E8A-4147-A177-3AD203B41FA5}">
                      <a16:colId xmlns:a16="http://schemas.microsoft.com/office/drawing/2014/main" val="274080742"/>
                    </a:ext>
                  </a:extLst>
                </a:gridCol>
              </a:tblGrid>
              <a:tr h="249238">
                <a:tc gridSpan="3"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TestScores</a:t>
                      </a:r>
                    </a:p>
                  </a:txBody>
                  <a:tcPr marL="105357" marR="105357" marT="52678" marB="52678" anchor="ctr"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800" dirty="0">
                        <a:solidFill>
                          <a:schemeClr val="bg1"/>
                        </a:solidFill>
                      </a:endParaRPr>
                    </a:p>
                  </a:txBody>
                  <a:tcPr marL="105357" marR="105357" marT="52678" marB="52678" anchor="ctr"/>
                </a:tc>
                <a:extLst>
                  <a:ext uri="{0D108BD9-81ED-4DB2-BD59-A6C34878D82A}">
                    <a16:rowId xmlns:a16="http://schemas.microsoft.com/office/drawing/2014/main" val="549283572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Index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244540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13</a:t>
                      </a:r>
                    </a:p>
                  </a:txBody>
                  <a:tcPr marL="105357" marR="105357" marT="52678" marB="52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89</a:t>
                      </a:r>
                    </a:p>
                  </a:txBody>
                  <a:tcPr marL="105357" marR="105357" marT="52678" marB="52678" anchor="ctr"/>
                </a:tc>
                <a:extLst>
                  <a:ext uri="{0D108BD9-81ED-4DB2-BD59-A6C34878D82A}">
                    <a16:rowId xmlns:a16="http://schemas.microsoft.com/office/drawing/2014/main" val="560731508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19</a:t>
                      </a:r>
                    </a:p>
                  </a:txBody>
                  <a:tcPr marL="105357" marR="105357" marT="52678" marB="52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73</a:t>
                      </a:r>
                    </a:p>
                  </a:txBody>
                  <a:tcPr marL="105357" marR="105357" marT="52678" marB="52678" anchor="ctr"/>
                </a:tc>
                <a:extLst>
                  <a:ext uri="{0D108BD9-81ED-4DB2-BD59-A6C34878D82A}">
                    <a16:rowId xmlns:a16="http://schemas.microsoft.com/office/drawing/2014/main" val="3713785552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11</a:t>
                      </a:r>
                    </a:p>
                  </a:txBody>
                  <a:tcPr marL="105357" marR="105357" marT="52678" marB="52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95</a:t>
                      </a:r>
                    </a:p>
                  </a:txBody>
                  <a:tcPr marL="105357" marR="105357" marT="52678" marB="52678" anchor="ctr"/>
                </a:tc>
                <a:extLst>
                  <a:ext uri="{0D108BD9-81ED-4DB2-BD59-A6C34878D82A}">
                    <a16:rowId xmlns:a16="http://schemas.microsoft.com/office/drawing/2014/main" val="886472720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…</a:t>
                      </a:r>
                    </a:p>
                  </a:txBody>
                  <a:tcPr marL="105357" marR="105357" marT="52678" marB="52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…</a:t>
                      </a:r>
                    </a:p>
                  </a:txBody>
                  <a:tcPr marL="105357" marR="105357" marT="52678" marB="52678" anchor="ctr"/>
                </a:tc>
                <a:extLst>
                  <a:ext uri="{0D108BD9-81ED-4DB2-BD59-A6C34878D82A}">
                    <a16:rowId xmlns:a16="http://schemas.microsoft.com/office/drawing/2014/main" val="1489663766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dirty="0"/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dirty="0"/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33927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dirty="0"/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dirty="0"/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31791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dirty="0"/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dirty="0"/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907642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dirty="0"/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dirty="0"/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891279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dirty="0"/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dirty="0"/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766112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dirty="0"/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dirty="0"/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9226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1A37518-6B4B-824E-9E43-E77A709CFA4B}"/>
              </a:ext>
            </a:extLst>
          </p:cNvPr>
          <p:cNvSpPr txBox="1"/>
          <p:nvPr/>
        </p:nvSpPr>
        <p:spPr>
          <a:xfrm>
            <a:off x="278753" y="4922819"/>
            <a:ext cx="7617472" cy="1815882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Student 1</a:t>
            </a:r>
          </a:p>
          <a:p>
            <a:pPr>
              <a:defRPr/>
            </a:pPr>
            <a:r>
              <a:rPr lang="en-GB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Enter low score followed by high score</a:t>
            </a:r>
          </a:p>
          <a:p>
            <a:pPr>
              <a:defRPr/>
            </a:pPr>
            <a:r>
              <a:rPr lang="en-GB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Input score: 13</a:t>
            </a:r>
          </a:p>
          <a:p>
            <a:pPr>
              <a:defRPr/>
            </a:pPr>
            <a:r>
              <a:rPr lang="en-GB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Input score: 89</a:t>
            </a:r>
          </a:p>
          <a:p>
            <a:pPr>
              <a:defRPr/>
            </a:pPr>
            <a:r>
              <a:rPr lang="en-GB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Student 2</a:t>
            </a:r>
          </a:p>
          <a:p>
            <a:pPr>
              <a:defRPr/>
            </a:pPr>
            <a:r>
              <a:rPr lang="en-GB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Enter low score followed by high score</a:t>
            </a:r>
          </a:p>
          <a:p>
            <a:pPr>
              <a:defRPr/>
            </a:pPr>
            <a:r>
              <a:rPr lang="en-GB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Input score: 19</a:t>
            </a:r>
          </a:p>
          <a:p>
            <a:pPr>
              <a:defRPr/>
            </a:pPr>
            <a:r>
              <a:rPr lang="en-GB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Input score: 73</a:t>
            </a:r>
            <a:endParaRPr lang="en-GB" sz="1400" dirty="0">
              <a:ln>
                <a:solidFill>
                  <a:schemeClr val="bg1"/>
                </a:solidFill>
              </a:ln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EB7A5C-BED1-A59E-5EF0-6C18CCFD4D48}"/>
              </a:ext>
            </a:extLst>
          </p:cNvPr>
          <p:cNvSpPr/>
          <p:nvPr/>
        </p:nvSpPr>
        <p:spPr>
          <a:xfrm>
            <a:off x="169630" y="4559927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window: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689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4" y="1052896"/>
            <a:ext cx="1197132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we are using a single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loop to output the contents of the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TestScores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array.</a:t>
            </a:r>
          </a:p>
          <a:p>
            <a:endParaRPr lang="en-GB" sz="12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DECLARE TestScores : ARRAY[0:9, 0:1] OF INTEGER</a:t>
            </a:r>
          </a:p>
          <a:p>
            <a:endParaRPr lang="en-GB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OUTPUT "No. Low  High“</a:t>
            </a:r>
          </a:p>
          <a:p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OUTPUT "============="</a:t>
            </a:r>
          </a:p>
          <a:p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Counter </a:t>
            </a:r>
            <a:r>
              <a:rPr lang="en-GB" sz="1800" b="0" i="0" u="none" strike="noStrike" baseline="0" dirty="0">
                <a:solidFill>
                  <a:schemeClr val="tx1"/>
                </a:solidFill>
                <a:latin typeface="Consolas" panose="020B0609020204030204" pitchFamily="49" charset="0"/>
              </a:rPr>
              <a:t>← 0 TO 9</a:t>
            </a:r>
          </a:p>
          <a:p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OUTPUT Counter + 1, "   ",TestScores[Counter,0], "   ", TestScores[Counter,1]  </a:t>
            </a:r>
          </a:p>
          <a:p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NEXT Counter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Arrays and iteration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27917F-F216-9575-8725-FBB885D6ECDB}"/>
              </a:ext>
            </a:extLst>
          </p:cNvPr>
          <p:cNvSpPr/>
          <p:nvPr/>
        </p:nvSpPr>
        <p:spPr>
          <a:xfrm>
            <a:off x="123824" y="1504950"/>
            <a:ext cx="10506076" cy="2060809"/>
          </a:xfrm>
          <a:prstGeom prst="roundRect">
            <a:avLst>
              <a:gd name="adj" fmla="val 6808"/>
            </a:avLst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18B7CF42-E7E2-6576-05F3-85318EE0F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459494"/>
              </p:ext>
            </p:extLst>
          </p:nvPr>
        </p:nvGraphicFramePr>
        <p:xfrm>
          <a:off x="8597655" y="3882711"/>
          <a:ext cx="3154596" cy="26577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51532">
                  <a:extLst>
                    <a:ext uri="{9D8B030D-6E8A-4147-A177-3AD203B41FA5}">
                      <a16:colId xmlns:a16="http://schemas.microsoft.com/office/drawing/2014/main" val="218393775"/>
                    </a:ext>
                  </a:extLst>
                </a:gridCol>
                <a:gridCol w="1051532">
                  <a:extLst>
                    <a:ext uri="{9D8B030D-6E8A-4147-A177-3AD203B41FA5}">
                      <a16:colId xmlns:a16="http://schemas.microsoft.com/office/drawing/2014/main" val="2593630649"/>
                    </a:ext>
                  </a:extLst>
                </a:gridCol>
                <a:gridCol w="1051532">
                  <a:extLst>
                    <a:ext uri="{9D8B030D-6E8A-4147-A177-3AD203B41FA5}">
                      <a16:colId xmlns:a16="http://schemas.microsoft.com/office/drawing/2014/main" val="274080742"/>
                    </a:ext>
                  </a:extLst>
                </a:gridCol>
              </a:tblGrid>
              <a:tr h="249238">
                <a:tc gridSpan="3"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TestScores</a:t>
                      </a:r>
                    </a:p>
                  </a:txBody>
                  <a:tcPr marL="105357" marR="105357" marT="52678" marB="52678" anchor="ctr"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800" dirty="0">
                        <a:solidFill>
                          <a:schemeClr val="bg1"/>
                        </a:solidFill>
                      </a:endParaRPr>
                    </a:p>
                  </a:txBody>
                  <a:tcPr marL="105357" marR="105357" marT="52678" marB="52678" anchor="ctr"/>
                </a:tc>
                <a:extLst>
                  <a:ext uri="{0D108BD9-81ED-4DB2-BD59-A6C34878D82A}">
                    <a16:rowId xmlns:a16="http://schemas.microsoft.com/office/drawing/2014/main" val="549283572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Index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244540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13</a:t>
                      </a:r>
                    </a:p>
                  </a:txBody>
                  <a:tcPr marL="105357" marR="105357" marT="52678" marB="52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89</a:t>
                      </a:r>
                    </a:p>
                  </a:txBody>
                  <a:tcPr marL="105357" marR="105357" marT="52678" marB="52678" anchor="ctr"/>
                </a:tc>
                <a:extLst>
                  <a:ext uri="{0D108BD9-81ED-4DB2-BD59-A6C34878D82A}">
                    <a16:rowId xmlns:a16="http://schemas.microsoft.com/office/drawing/2014/main" val="560731508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19</a:t>
                      </a:r>
                    </a:p>
                  </a:txBody>
                  <a:tcPr marL="105357" marR="105357" marT="52678" marB="52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73</a:t>
                      </a:r>
                    </a:p>
                  </a:txBody>
                  <a:tcPr marL="105357" marR="105357" marT="52678" marB="52678" anchor="ctr"/>
                </a:tc>
                <a:extLst>
                  <a:ext uri="{0D108BD9-81ED-4DB2-BD59-A6C34878D82A}">
                    <a16:rowId xmlns:a16="http://schemas.microsoft.com/office/drawing/2014/main" val="3713785552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11</a:t>
                      </a:r>
                    </a:p>
                  </a:txBody>
                  <a:tcPr marL="105357" marR="105357" marT="52678" marB="52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95</a:t>
                      </a:r>
                    </a:p>
                  </a:txBody>
                  <a:tcPr marL="105357" marR="105357" marT="52678" marB="52678" anchor="ctr"/>
                </a:tc>
                <a:extLst>
                  <a:ext uri="{0D108BD9-81ED-4DB2-BD59-A6C34878D82A}">
                    <a16:rowId xmlns:a16="http://schemas.microsoft.com/office/drawing/2014/main" val="886472720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13</a:t>
                      </a:r>
                    </a:p>
                  </a:txBody>
                  <a:tcPr marL="105357" marR="105357" marT="52678" marB="52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37</a:t>
                      </a:r>
                    </a:p>
                  </a:txBody>
                  <a:tcPr marL="105357" marR="105357" marT="52678" marB="52678" anchor="ctr"/>
                </a:tc>
                <a:extLst>
                  <a:ext uri="{0D108BD9-81ED-4DB2-BD59-A6C34878D82A}">
                    <a16:rowId xmlns:a16="http://schemas.microsoft.com/office/drawing/2014/main" val="1489663766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05357" marR="105357" marT="52678" marB="526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…</a:t>
                      </a:r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…</a:t>
                      </a:r>
                    </a:p>
                  </a:txBody>
                  <a:tcPr marL="105357" marR="105357" marT="52678" marB="52678"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339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1A37518-6B4B-824E-9E43-E77A709CFA4B}"/>
              </a:ext>
            </a:extLst>
          </p:cNvPr>
          <p:cNvSpPr txBox="1"/>
          <p:nvPr/>
        </p:nvSpPr>
        <p:spPr>
          <a:xfrm>
            <a:off x="232947" y="4064185"/>
            <a:ext cx="7617472" cy="224676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No. Low  High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=============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1   13   89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2   19   73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3   11   95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4   13   37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...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EB7A5C-BED1-A59E-5EF0-6C18CCFD4D48}"/>
              </a:ext>
            </a:extLst>
          </p:cNvPr>
          <p:cNvSpPr/>
          <p:nvPr/>
        </p:nvSpPr>
        <p:spPr>
          <a:xfrm>
            <a:off x="123824" y="3701293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window: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361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</TotalTime>
  <Words>630</Words>
  <Application>Microsoft Office PowerPoint</Application>
  <PresentationFormat>Widescreen</PresentationFormat>
  <Paragraphs>192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Century Gothic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183</cp:revision>
  <dcterms:created xsi:type="dcterms:W3CDTF">2019-10-14T15:21:06Z</dcterms:created>
  <dcterms:modified xsi:type="dcterms:W3CDTF">2022-09-04T15:12:48Z</dcterms:modified>
</cp:coreProperties>
</file>