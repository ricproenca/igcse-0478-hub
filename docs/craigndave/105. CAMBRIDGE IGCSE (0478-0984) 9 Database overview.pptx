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handoutMasterIdLst>
    <p:handoutMasterId r:id="rId16"/>
  </p:handoutMasterIdLst>
  <p:sldIdLst>
    <p:sldId id="257" r:id="rId2"/>
    <p:sldId id="259" r:id="rId3"/>
    <p:sldId id="264" r:id="rId4"/>
    <p:sldId id="266" r:id="rId5"/>
    <p:sldId id="273" r:id="rId6"/>
    <p:sldId id="274" r:id="rId7"/>
    <p:sldId id="263" r:id="rId8"/>
    <p:sldId id="265" r:id="rId9"/>
    <p:sldId id="275" r:id="rId10"/>
    <p:sldId id="277" r:id="rId11"/>
    <p:sldId id="276" r:id="rId12"/>
    <p:sldId id="272" r:id="rId13"/>
    <p:sldId id="33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6521"/>
    <a:srgbClr val="FFFFFF"/>
    <a:srgbClr val="0087B1"/>
    <a:srgbClr val="000956"/>
    <a:srgbClr val="99E265"/>
    <a:srgbClr val="008C8C"/>
    <a:srgbClr val="00B2B2"/>
    <a:srgbClr val="26C9FF"/>
    <a:srgbClr val="7CD0DA"/>
    <a:srgbClr val="197D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298" autoAdjust="0"/>
    <p:restoredTop sz="96238" autoAdjust="0"/>
  </p:normalViewPr>
  <p:slideViewPr>
    <p:cSldViewPr snapToGrid="0">
      <p:cViewPr varScale="1">
        <p:scale>
          <a:sx n="107" d="100"/>
          <a:sy n="107" d="100"/>
        </p:scale>
        <p:origin x="948" y="96"/>
      </p:cViewPr>
      <p:guideLst>
        <p:guide orient="horz" pos="2160"/>
        <p:guide pos="3840"/>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86" d="100"/>
          <a:sy n="86" d="100"/>
        </p:scale>
        <p:origin x="340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FF996AC-A87C-4F9F-99BA-CAFCC6C9A8ED}" type="doc">
      <dgm:prSet loTypeId="urn:microsoft.com/office/officeart/2005/8/layout/orgChart1" loCatId="hierarchy" qsTypeId="urn:microsoft.com/office/officeart/2005/8/quickstyle/simple1" qsCatId="simple" csTypeId="urn:microsoft.com/office/officeart/2005/8/colors/colorful3" csCatId="colorful" phldr="1"/>
      <dgm:spPr/>
      <dgm:t>
        <a:bodyPr/>
        <a:lstStyle/>
        <a:p>
          <a:endParaRPr lang="en-GB"/>
        </a:p>
      </dgm:t>
    </dgm:pt>
    <dgm:pt modelId="{FA822B4F-B406-4B2A-9A7E-EB88D4FD9697}">
      <dgm:prSet phldrT="[Text]" custT="1"/>
      <dgm:spPr/>
      <dgm:t>
        <a:bodyPr/>
        <a:lstStyle/>
        <a:p>
          <a:r>
            <a:rPr lang="en-GB" sz="4800" dirty="0"/>
            <a:t>Types of databases</a:t>
          </a:r>
        </a:p>
      </dgm:t>
    </dgm:pt>
    <dgm:pt modelId="{1B262D09-6D32-45D8-8602-AE34B94066C3}" type="parTrans" cxnId="{862E4A66-95B5-41E7-95D1-DFE3DBAB10FF}">
      <dgm:prSet/>
      <dgm:spPr/>
      <dgm:t>
        <a:bodyPr/>
        <a:lstStyle/>
        <a:p>
          <a:endParaRPr lang="en-GB"/>
        </a:p>
      </dgm:t>
    </dgm:pt>
    <dgm:pt modelId="{EB198648-FC1A-43D2-A3CE-BD1C86AA3D31}" type="sibTrans" cxnId="{862E4A66-95B5-41E7-95D1-DFE3DBAB10FF}">
      <dgm:prSet/>
      <dgm:spPr/>
      <dgm:t>
        <a:bodyPr/>
        <a:lstStyle/>
        <a:p>
          <a:endParaRPr lang="en-GB"/>
        </a:p>
      </dgm:t>
    </dgm:pt>
    <dgm:pt modelId="{EBB4857A-CCD2-485A-B453-42202F2E910B}">
      <dgm:prSet phldrT="[Text]" custT="1"/>
      <dgm:spPr/>
      <dgm:t>
        <a:bodyPr/>
        <a:lstStyle/>
        <a:p>
          <a:pPr>
            <a:spcAft>
              <a:spcPts val="1200"/>
            </a:spcAft>
          </a:pPr>
          <a:r>
            <a:rPr lang="en-GB" sz="4800" dirty="0"/>
            <a:t>Flat-file</a:t>
          </a:r>
        </a:p>
        <a:p>
          <a:pPr>
            <a:spcAft>
              <a:spcPct val="35000"/>
            </a:spcAft>
          </a:pPr>
          <a:r>
            <a:rPr lang="en-GB" sz="3200" dirty="0"/>
            <a:t>Covered in IGCSE</a:t>
          </a:r>
        </a:p>
      </dgm:t>
    </dgm:pt>
    <dgm:pt modelId="{8249DC5C-AE46-4B30-AB30-41F2DE49925E}" type="parTrans" cxnId="{833ACED2-58AE-4958-AED5-37F2D4D56064}">
      <dgm:prSet/>
      <dgm:spPr/>
      <dgm:t>
        <a:bodyPr/>
        <a:lstStyle/>
        <a:p>
          <a:endParaRPr lang="en-GB"/>
        </a:p>
      </dgm:t>
    </dgm:pt>
    <dgm:pt modelId="{FE520C7D-8513-47DA-A6F0-4FFC63FC3F55}" type="sibTrans" cxnId="{833ACED2-58AE-4958-AED5-37F2D4D56064}">
      <dgm:prSet/>
      <dgm:spPr/>
      <dgm:t>
        <a:bodyPr/>
        <a:lstStyle/>
        <a:p>
          <a:endParaRPr lang="en-GB"/>
        </a:p>
      </dgm:t>
    </dgm:pt>
    <dgm:pt modelId="{311867EF-1ECC-46B8-84FD-CD5DABDA84C8}">
      <dgm:prSet phldrT="[Text]" custT="1"/>
      <dgm:spPr/>
      <dgm:t>
        <a:bodyPr/>
        <a:lstStyle/>
        <a:p>
          <a:pPr>
            <a:spcAft>
              <a:spcPts val="1200"/>
            </a:spcAft>
          </a:pPr>
          <a:r>
            <a:rPr lang="en-GB" sz="4800" dirty="0"/>
            <a:t>Relational</a:t>
          </a:r>
        </a:p>
        <a:p>
          <a:pPr>
            <a:spcAft>
              <a:spcPct val="35000"/>
            </a:spcAft>
          </a:pPr>
          <a:r>
            <a:rPr lang="en-GB" sz="3200" dirty="0"/>
            <a:t>Beyond the syllabus</a:t>
          </a:r>
        </a:p>
      </dgm:t>
    </dgm:pt>
    <dgm:pt modelId="{5B0602B4-3F70-4843-BF0D-236178AB98C0}" type="parTrans" cxnId="{3BF1C2E5-8789-4FBA-A35C-E9772051BEA7}">
      <dgm:prSet/>
      <dgm:spPr/>
      <dgm:t>
        <a:bodyPr/>
        <a:lstStyle/>
        <a:p>
          <a:endParaRPr lang="en-GB"/>
        </a:p>
      </dgm:t>
    </dgm:pt>
    <dgm:pt modelId="{3D706124-36D5-4116-9365-1B8288C7810A}" type="sibTrans" cxnId="{3BF1C2E5-8789-4FBA-A35C-E9772051BEA7}">
      <dgm:prSet/>
      <dgm:spPr/>
      <dgm:t>
        <a:bodyPr/>
        <a:lstStyle/>
        <a:p>
          <a:endParaRPr lang="en-GB"/>
        </a:p>
      </dgm:t>
    </dgm:pt>
    <dgm:pt modelId="{FBFA4CB5-A610-4038-B07C-4E536454EF14}" type="pres">
      <dgm:prSet presAssocID="{BFF996AC-A87C-4F9F-99BA-CAFCC6C9A8ED}" presName="hierChild1" presStyleCnt="0">
        <dgm:presLayoutVars>
          <dgm:orgChart val="1"/>
          <dgm:chPref val="1"/>
          <dgm:dir/>
          <dgm:animOne val="branch"/>
          <dgm:animLvl val="lvl"/>
          <dgm:resizeHandles/>
        </dgm:presLayoutVars>
      </dgm:prSet>
      <dgm:spPr/>
    </dgm:pt>
    <dgm:pt modelId="{B79E0AAE-01B4-44A7-82A8-4AE4A74BCBB0}" type="pres">
      <dgm:prSet presAssocID="{FA822B4F-B406-4B2A-9A7E-EB88D4FD9697}" presName="hierRoot1" presStyleCnt="0">
        <dgm:presLayoutVars>
          <dgm:hierBranch val="init"/>
        </dgm:presLayoutVars>
      </dgm:prSet>
      <dgm:spPr/>
    </dgm:pt>
    <dgm:pt modelId="{218728C3-132E-4CD3-B9B9-2C549AF28BC3}" type="pres">
      <dgm:prSet presAssocID="{FA822B4F-B406-4B2A-9A7E-EB88D4FD9697}" presName="rootComposite1" presStyleCnt="0"/>
      <dgm:spPr/>
    </dgm:pt>
    <dgm:pt modelId="{13D51E61-D5DE-4512-B83A-DD0A40B807E2}" type="pres">
      <dgm:prSet presAssocID="{FA822B4F-B406-4B2A-9A7E-EB88D4FD9697}" presName="rootText1" presStyleLbl="node0" presStyleIdx="0" presStyleCnt="1">
        <dgm:presLayoutVars>
          <dgm:chPref val="3"/>
        </dgm:presLayoutVars>
      </dgm:prSet>
      <dgm:spPr/>
    </dgm:pt>
    <dgm:pt modelId="{3D7BB67C-9233-47E8-8A49-262F5B6A9A6A}" type="pres">
      <dgm:prSet presAssocID="{FA822B4F-B406-4B2A-9A7E-EB88D4FD9697}" presName="rootConnector1" presStyleLbl="node1" presStyleIdx="0" presStyleCnt="0"/>
      <dgm:spPr/>
    </dgm:pt>
    <dgm:pt modelId="{C5D800EF-0BA1-4A1A-B3AC-4B8EBD60FE62}" type="pres">
      <dgm:prSet presAssocID="{FA822B4F-B406-4B2A-9A7E-EB88D4FD9697}" presName="hierChild2" presStyleCnt="0"/>
      <dgm:spPr/>
    </dgm:pt>
    <dgm:pt modelId="{BA38E339-E17D-4A00-A6BE-40E71467C935}" type="pres">
      <dgm:prSet presAssocID="{8249DC5C-AE46-4B30-AB30-41F2DE49925E}" presName="Name37" presStyleLbl="parChTrans1D2" presStyleIdx="0" presStyleCnt="2"/>
      <dgm:spPr/>
    </dgm:pt>
    <dgm:pt modelId="{05940877-FBB0-4D17-9958-256A245915BF}" type="pres">
      <dgm:prSet presAssocID="{EBB4857A-CCD2-485A-B453-42202F2E910B}" presName="hierRoot2" presStyleCnt="0">
        <dgm:presLayoutVars>
          <dgm:hierBranch val="init"/>
        </dgm:presLayoutVars>
      </dgm:prSet>
      <dgm:spPr/>
    </dgm:pt>
    <dgm:pt modelId="{3E6B0DAA-00CF-4740-9A08-70B5675EBA96}" type="pres">
      <dgm:prSet presAssocID="{EBB4857A-CCD2-485A-B453-42202F2E910B}" presName="rootComposite" presStyleCnt="0"/>
      <dgm:spPr/>
    </dgm:pt>
    <dgm:pt modelId="{ACA57DEB-BA4C-4EB9-B0A6-CB269C950F57}" type="pres">
      <dgm:prSet presAssocID="{EBB4857A-CCD2-485A-B453-42202F2E910B}" presName="rootText" presStyleLbl="node2" presStyleIdx="0" presStyleCnt="2">
        <dgm:presLayoutVars>
          <dgm:chPref val="3"/>
        </dgm:presLayoutVars>
      </dgm:prSet>
      <dgm:spPr/>
    </dgm:pt>
    <dgm:pt modelId="{30C825AB-3DAD-4D39-A9BE-358A43209522}" type="pres">
      <dgm:prSet presAssocID="{EBB4857A-CCD2-485A-B453-42202F2E910B}" presName="rootConnector" presStyleLbl="node2" presStyleIdx="0" presStyleCnt="2"/>
      <dgm:spPr/>
    </dgm:pt>
    <dgm:pt modelId="{1F24EDA3-096A-4C47-BEA4-E06781FA4F77}" type="pres">
      <dgm:prSet presAssocID="{EBB4857A-CCD2-485A-B453-42202F2E910B}" presName="hierChild4" presStyleCnt="0"/>
      <dgm:spPr/>
    </dgm:pt>
    <dgm:pt modelId="{D331A612-55B7-4C48-AEA0-41B545CE8B1A}" type="pres">
      <dgm:prSet presAssocID="{EBB4857A-CCD2-485A-B453-42202F2E910B}" presName="hierChild5" presStyleCnt="0"/>
      <dgm:spPr/>
    </dgm:pt>
    <dgm:pt modelId="{9A92C0C3-8064-4307-BF95-79FD398FB812}" type="pres">
      <dgm:prSet presAssocID="{5B0602B4-3F70-4843-BF0D-236178AB98C0}" presName="Name37" presStyleLbl="parChTrans1D2" presStyleIdx="1" presStyleCnt="2"/>
      <dgm:spPr/>
    </dgm:pt>
    <dgm:pt modelId="{2909E4B5-228A-43FB-9C44-43768A294422}" type="pres">
      <dgm:prSet presAssocID="{311867EF-1ECC-46B8-84FD-CD5DABDA84C8}" presName="hierRoot2" presStyleCnt="0">
        <dgm:presLayoutVars>
          <dgm:hierBranch val="init"/>
        </dgm:presLayoutVars>
      </dgm:prSet>
      <dgm:spPr/>
    </dgm:pt>
    <dgm:pt modelId="{41657C70-0821-467D-8F6F-55DDB19CEBF7}" type="pres">
      <dgm:prSet presAssocID="{311867EF-1ECC-46B8-84FD-CD5DABDA84C8}" presName="rootComposite" presStyleCnt="0"/>
      <dgm:spPr/>
    </dgm:pt>
    <dgm:pt modelId="{886B7B58-5A5D-4BBD-B394-921324400326}" type="pres">
      <dgm:prSet presAssocID="{311867EF-1ECC-46B8-84FD-CD5DABDA84C8}" presName="rootText" presStyleLbl="node2" presStyleIdx="1" presStyleCnt="2">
        <dgm:presLayoutVars>
          <dgm:chPref val="3"/>
        </dgm:presLayoutVars>
      </dgm:prSet>
      <dgm:spPr/>
    </dgm:pt>
    <dgm:pt modelId="{8D870D55-D18F-4975-8B52-D50F6BF19546}" type="pres">
      <dgm:prSet presAssocID="{311867EF-1ECC-46B8-84FD-CD5DABDA84C8}" presName="rootConnector" presStyleLbl="node2" presStyleIdx="1" presStyleCnt="2"/>
      <dgm:spPr/>
    </dgm:pt>
    <dgm:pt modelId="{22B2CD57-0979-4501-AAF3-CD02878E59CC}" type="pres">
      <dgm:prSet presAssocID="{311867EF-1ECC-46B8-84FD-CD5DABDA84C8}" presName="hierChild4" presStyleCnt="0"/>
      <dgm:spPr/>
    </dgm:pt>
    <dgm:pt modelId="{52FA6AE9-8C9D-4DA2-85CE-366E9C17FD63}" type="pres">
      <dgm:prSet presAssocID="{311867EF-1ECC-46B8-84FD-CD5DABDA84C8}" presName="hierChild5" presStyleCnt="0"/>
      <dgm:spPr/>
    </dgm:pt>
    <dgm:pt modelId="{FE81F9F3-C424-43A2-8A08-C1985ED3102F}" type="pres">
      <dgm:prSet presAssocID="{FA822B4F-B406-4B2A-9A7E-EB88D4FD9697}" presName="hierChild3" presStyleCnt="0"/>
      <dgm:spPr/>
    </dgm:pt>
  </dgm:ptLst>
  <dgm:cxnLst>
    <dgm:cxn modelId="{4DC1A313-7760-4683-A0A9-1738B0EC0E5F}" type="presOf" srcId="{5B0602B4-3F70-4843-BF0D-236178AB98C0}" destId="{9A92C0C3-8064-4307-BF95-79FD398FB812}" srcOrd="0" destOrd="0" presId="urn:microsoft.com/office/officeart/2005/8/layout/orgChart1"/>
    <dgm:cxn modelId="{11A5713D-EA39-40AB-91BC-5FFD7DD70C8E}" type="presOf" srcId="{311867EF-1ECC-46B8-84FD-CD5DABDA84C8}" destId="{886B7B58-5A5D-4BBD-B394-921324400326}" srcOrd="0" destOrd="0" presId="urn:microsoft.com/office/officeart/2005/8/layout/orgChart1"/>
    <dgm:cxn modelId="{42AFD43E-56B0-457A-848B-AD26B6F616C9}" type="presOf" srcId="{BFF996AC-A87C-4F9F-99BA-CAFCC6C9A8ED}" destId="{FBFA4CB5-A610-4038-B07C-4E536454EF14}" srcOrd="0" destOrd="0" presId="urn:microsoft.com/office/officeart/2005/8/layout/orgChart1"/>
    <dgm:cxn modelId="{39B7005D-F69F-49F1-A2CB-0D41A0DA2578}" type="presOf" srcId="{EBB4857A-CCD2-485A-B453-42202F2E910B}" destId="{ACA57DEB-BA4C-4EB9-B0A6-CB269C950F57}" srcOrd="0" destOrd="0" presId="urn:microsoft.com/office/officeart/2005/8/layout/orgChart1"/>
    <dgm:cxn modelId="{862E4A66-95B5-41E7-95D1-DFE3DBAB10FF}" srcId="{BFF996AC-A87C-4F9F-99BA-CAFCC6C9A8ED}" destId="{FA822B4F-B406-4B2A-9A7E-EB88D4FD9697}" srcOrd="0" destOrd="0" parTransId="{1B262D09-6D32-45D8-8602-AE34B94066C3}" sibTransId="{EB198648-FC1A-43D2-A3CE-BD1C86AA3D31}"/>
    <dgm:cxn modelId="{25E5626E-DD5D-4A0F-8C76-2D0743E374B2}" type="presOf" srcId="{EBB4857A-CCD2-485A-B453-42202F2E910B}" destId="{30C825AB-3DAD-4D39-A9BE-358A43209522}" srcOrd="1" destOrd="0" presId="urn:microsoft.com/office/officeart/2005/8/layout/orgChart1"/>
    <dgm:cxn modelId="{40A53659-7EA7-452E-87E1-F4F39273D587}" type="presOf" srcId="{FA822B4F-B406-4B2A-9A7E-EB88D4FD9697}" destId="{3D7BB67C-9233-47E8-8A49-262F5B6A9A6A}" srcOrd="1" destOrd="0" presId="urn:microsoft.com/office/officeart/2005/8/layout/orgChart1"/>
    <dgm:cxn modelId="{1699EC97-9945-45DF-9C2B-97B9BFC8854B}" type="presOf" srcId="{8249DC5C-AE46-4B30-AB30-41F2DE49925E}" destId="{BA38E339-E17D-4A00-A6BE-40E71467C935}" srcOrd="0" destOrd="0" presId="urn:microsoft.com/office/officeart/2005/8/layout/orgChart1"/>
    <dgm:cxn modelId="{6E6F30AD-F3D8-4561-9C70-470517F0D5D4}" type="presOf" srcId="{311867EF-1ECC-46B8-84FD-CD5DABDA84C8}" destId="{8D870D55-D18F-4975-8B52-D50F6BF19546}" srcOrd="1" destOrd="0" presId="urn:microsoft.com/office/officeart/2005/8/layout/orgChart1"/>
    <dgm:cxn modelId="{833ACED2-58AE-4958-AED5-37F2D4D56064}" srcId="{FA822B4F-B406-4B2A-9A7E-EB88D4FD9697}" destId="{EBB4857A-CCD2-485A-B453-42202F2E910B}" srcOrd="0" destOrd="0" parTransId="{8249DC5C-AE46-4B30-AB30-41F2DE49925E}" sibTransId="{FE520C7D-8513-47DA-A6F0-4FFC63FC3F55}"/>
    <dgm:cxn modelId="{3BF1C2E5-8789-4FBA-A35C-E9772051BEA7}" srcId="{FA822B4F-B406-4B2A-9A7E-EB88D4FD9697}" destId="{311867EF-1ECC-46B8-84FD-CD5DABDA84C8}" srcOrd="1" destOrd="0" parTransId="{5B0602B4-3F70-4843-BF0D-236178AB98C0}" sibTransId="{3D706124-36D5-4116-9365-1B8288C7810A}"/>
    <dgm:cxn modelId="{6E9C18EB-6892-49DC-AFC9-EDE9073C6CB7}" type="presOf" srcId="{FA822B4F-B406-4B2A-9A7E-EB88D4FD9697}" destId="{13D51E61-D5DE-4512-B83A-DD0A40B807E2}" srcOrd="0" destOrd="0" presId="urn:microsoft.com/office/officeart/2005/8/layout/orgChart1"/>
    <dgm:cxn modelId="{1F11E783-284A-4805-A806-1DCDBF5AA578}" type="presParOf" srcId="{FBFA4CB5-A610-4038-B07C-4E536454EF14}" destId="{B79E0AAE-01B4-44A7-82A8-4AE4A74BCBB0}" srcOrd="0" destOrd="0" presId="urn:microsoft.com/office/officeart/2005/8/layout/orgChart1"/>
    <dgm:cxn modelId="{38D79FDF-CC12-4EE7-8436-176DAAEBC992}" type="presParOf" srcId="{B79E0AAE-01B4-44A7-82A8-4AE4A74BCBB0}" destId="{218728C3-132E-4CD3-B9B9-2C549AF28BC3}" srcOrd="0" destOrd="0" presId="urn:microsoft.com/office/officeart/2005/8/layout/orgChart1"/>
    <dgm:cxn modelId="{B6C128C2-4134-43E1-B94D-817F69E708F6}" type="presParOf" srcId="{218728C3-132E-4CD3-B9B9-2C549AF28BC3}" destId="{13D51E61-D5DE-4512-B83A-DD0A40B807E2}" srcOrd="0" destOrd="0" presId="urn:microsoft.com/office/officeart/2005/8/layout/orgChart1"/>
    <dgm:cxn modelId="{227E95E8-B296-4E08-A363-DAE59943BC41}" type="presParOf" srcId="{218728C3-132E-4CD3-B9B9-2C549AF28BC3}" destId="{3D7BB67C-9233-47E8-8A49-262F5B6A9A6A}" srcOrd="1" destOrd="0" presId="urn:microsoft.com/office/officeart/2005/8/layout/orgChart1"/>
    <dgm:cxn modelId="{86081CB5-D40F-4B9E-B482-F995FD5ED4D2}" type="presParOf" srcId="{B79E0AAE-01B4-44A7-82A8-4AE4A74BCBB0}" destId="{C5D800EF-0BA1-4A1A-B3AC-4B8EBD60FE62}" srcOrd="1" destOrd="0" presId="urn:microsoft.com/office/officeart/2005/8/layout/orgChart1"/>
    <dgm:cxn modelId="{3F420C9F-73BA-4BB3-9164-B9CC1ED6A6C2}" type="presParOf" srcId="{C5D800EF-0BA1-4A1A-B3AC-4B8EBD60FE62}" destId="{BA38E339-E17D-4A00-A6BE-40E71467C935}" srcOrd="0" destOrd="0" presId="urn:microsoft.com/office/officeart/2005/8/layout/orgChart1"/>
    <dgm:cxn modelId="{DFDB7F40-B053-4333-8836-5B36367AFD64}" type="presParOf" srcId="{C5D800EF-0BA1-4A1A-B3AC-4B8EBD60FE62}" destId="{05940877-FBB0-4D17-9958-256A245915BF}" srcOrd="1" destOrd="0" presId="urn:microsoft.com/office/officeart/2005/8/layout/orgChart1"/>
    <dgm:cxn modelId="{DF04231B-A9FE-41EB-8AF7-70881131D282}" type="presParOf" srcId="{05940877-FBB0-4D17-9958-256A245915BF}" destId="{3E6B0DAA-00CF-4740-9A08-70B5675EBA96}" srcOrd="0" destOrd="0" presId="urn:microsoft.com/office/officeart/2005/8/layout/orgChart1"/>
    <dgm:cxn modelId="{CF5A5A24-96FF-4213-A2C5-0F2D789EB845}" type="presParOf" srcId="{3E6B0DAA-00CF-4740-9A08-70B5675EBA96}" destId="{ACA57DEB-BA4C-4EB9-B0A6-CB269C950F57}" srcOrd="0" destOrd="0" presId="urn:microsoft.com/office/officeart/2005/8/layout/orgChart1"/>
    <dgm:cxn modelId="{3F71F89D-5E4C-4DC8-AC35-3B8955ECA81E}" type="presParOf" srcId="{3E6B0DAA-00CF-4740-9A08-70B5675EBA96}" destId="{30C825AB-3DAD-4D39-A9BE-358A43209522}" srcOrd="1" destOrd="0" presId="urn:microsoft.com/office/officeart/2005/8/layout/orgChart1"/>
    <dgm:cxn modelId="{FE74E0C3-4229-4ABE-A10B-8C2E5FF98960}" type="presParOf" srcId="{05940877-FBB0-4D17-9958-256A245915BF}" destId="{1F24EDA3-096A-4C47-BEA4-E06781FA4F77}" srcOrd="1" destOrd="0" presId="urn:microsoft.com/office/officeart/2005/8/layout/orgChart1"/>
    <dgm:cxn modelId="{D22CC1DA-AA77-4D97-9BD6-0B2B8C2882EF}" type="presParOf" srcId="{05940877-FBB0-4D17-9958-256A245915BF}" destId="{D331A612-55B7-4C48-AEA0-41B545CE8B1A}" srcOrd="2" destOrd="0" presId="urn:microsoft.com/office/officeart/2005/8/layout/orgChart1"/>
    <dgm:cxn modelId="{ACD86E40-9DF6-4979-B2EE-2F2A0231CB55}" type="presParOf" srcId="{C5D800EF-0BA1-4A1A-B3AC-4B8EBD60FE62}" destId="{9A92C0C3-8064-4307-BF95-79FD398FB812}" srcOrd="2" destOrd="0" presId="urn:microsoft.com/office/officeart/2005/8/layout/orgChart1"/>
    <dgm:cxn modelId="{61CFFA87-09A7-4B92-B179-03765CA779CA}" type="presParOf" srcId="{C5D800EF-0BA1-4A1A-B3AC-4B8EBD60FE62}" destId="{2909E4B5-228A-43FB-9C44-43768A294422}" srcOrd="3" destOrd="0" presId="urn:microsoft.com/office/officeart/2005/8/layout/orgChart1"/>
    <dgm:cxn modelId="{C61F7823-FADB-4DFF-8465-E5AE7544EC08}" type="presParOf" srcId="{2909E4B5-228A-43FB-9C44-43768A294422}" destId="{41657C70-0821-467D-8F6F-55DDB19CEBF7}" srcOrd="0" destOrd="0" presId="urn:microsoft.com/office/officeart/2005/8/layout/orgChart1"/>
    <dgm:cxn modelId="{A61A40CB-93F7-423C-8B67-DFCE9F35C5E2}" type="presParOf" srcId="{41657C70-0821-467D-8F6F-55DDB19CEBF7}" destId="{886B7B58-5A5D-4BBD-B394-921324400326}" srcOrd="0" destOrd="0" presId="urn:microsoft.com/office/officeart/2005/8/layout/orgChart1"/>
    <dgm:cxn modelId="{999D087F-BD30-4C89-A3BA-76F548404E41}" type="presParOf" srcId="{41657C70-0821-467D-8F6F-55DDB19CEBF7}" destId="{8D870D55-D18F-4975-8B52-D50F6BF19546}" srcOrd="1" destOrd="0" presId="urn:microsoft.com/office/officeart/2005/8/layout/orgChart1"/>
    <dgm:cxn modelId="{113AA8A7-4FA8-4169-B634-A6C1FB313CFF}" type="presParOf" srcId="{2909E4B5-228A-43FB-9C44-43768A294422}" destId="{22B2CD57-0979-4501-AAF3-CD02878E59CC}" srcOrd="1" destOrd="0" presId="urn:microsoft.com/office/officeart/2005/8/layout/orgChart1"/>
    <dgm:cxn modelId="{9AC0E5EC-5E86-43E0-8568-77767A277486}" type="presParOf" srcId="{2909E4B5-228A-43FB-9C44-43768A294422}" destId="{52FA6AE9-8C9D-4DA2-85CE-366E9C17FD63}" srcOrd="2" destOrd="0" presId="urn:microsoft.com/office/officeart/2005/8/layout/orgChart1"/>
    <dgm:cxn modelId="{D97A5F4D-3B8A-402B-9316-D1830C133859}" type="presParOf" srcId="{B79E0AAE-01B4-44A7-82A8-4AE4A74BCBB0}" destId="{FE81F9F3-C424-43A2-8A08-C1985ED3102F}"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92C0C3-8064-4307-BF95-79FD398FB812}">
      <dsp:nvSpPr>
        <dsp:cNvPr id="0" name=""/>
        <dsp:cNvSpPr/>
      </dsp:nvSpPr>
      <dsp:spPr>
        <a:xfrm>
          <a:off x="4743449" y="2716895"/>
          <a:ext cx="2595840" cy="901035"/>
        </a:xfrm>
        <a:custGeom>
          <a:avLst/>
          <a:gdLst/>
          <a:ahLst/>
          <a:cxnLst/>
          <a:rect l="0" t="0" r="0" b="0"/>
          <a:pathLst>
            <a:path>
              <a:moveTo>
                <a:pt x="0" y="0"/>
              </a:moveTo>
              <a:lnTo>
                <a:pt x="0" y="450517"/>
              </a:lnTo>
              <a:lnTo>
                <a:pt x="2595840" y="450517"/>
              </a:lnTo>
              <a:lnTo>
                <a:pt x="2595840" y="901035"/>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A38E339-E17D-4A00-A6BE-40E71467C935}">
      <dsp:nvSpPr>
        <dsp:cNvPr id="0" name=""/>
        <dsp:cNvSpPr/>
      </dsp:nvSpPr>
      <dsp:spPr>
        <a:xfrm>
          <a:off x="2147609" y="2716895"/>
          <a:ext cx="2595840" cy="901035"/>
        </a:xfrm>
        <a:custGeom>
          <a:avLst/>
          <a:gdLst/>
          <a:ahLst/>
          <a:cxnLst/>
          <a:rect l="0" t="0" r="0" b="0"/>
          <a:pathLst>
            <a:path>
              <a:moveTo>
                <a:pt x="2595840" y="0"/>
              </a:moveTo>
              <a:lnTo>
                <a:pt x="2595840" y="450517"/>
              </a:lnTo>
              <a:lnTo>
                <a:pt x="0" y="450517"/>
              </a:lnTo>
              <a:lnTo>
                <a:pt x="0" y="901035"/>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3D51E61-D5DE-4512-B83A-DD0A40B807E2}">
      <dsp:nvSpPr>
        <dsp:cNvPr id="0" name=""/>
        <dsp:cNvSpPr/>
      </dsp:nvSpPr>
      <dsp:spPr>
        <a:xfrm>
          <a:off x="2598127" y="571572"/>
          <a:ext cx="4290645" cy="2145322"/>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2133600">
            <a:lnSpc>
              <a:spcPct val="90000"/>
            </a:lnSpc>
            <a:spcBef>
              <a:spcPct val="0"/>
            </a:spcBef>
            <a:spcAft>
              <a:spcPct val="35000"/>
            </a:spcAft>
            <a:buNone/>
          </a:pPr>
          <a:r>
            <a:rPr lang="en-GB" sz="4800" kern="1200" dirty="0"/>
            <a:t>Types of databases</a:t>
          </a:r>
        </a:p>
      </dsp:txBody>
      <dsp:txXfrm>
        <a:off x="2598127" y="571572"/>
        <a:ext cx="4290645" cy="2145322"/>
      </dsp:txXfrm>
    </dsp:sp>
    <dsp:sp modelId="{ACA57DEB-BA4C-4EB9-B0A6-CB269C950F57}">
      <dsp:nvSpPr>
        <dsp:cNvPr id="0" name=""/>
        <dsp:cNvSpPr/>
      </dsp:nvSpPr>
      <dsp:spPr>
        <a:xfrm>
          <a:off x="2287" y="3617930"/>
          <a:ext cx="4290645" cy="214532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2133600">
            <a:lnSpc>
              <a:spcPct val="90000"/>
            </a:lnSpc>
            <a:spcBef>
              <a:spcPct val="0"/>
            </a:spcBef>
            <a:spcAft>
              <a:spcPts val="1200"/>
            </a:spcAft>
            <a:buNone/>
          </a:pPr>
          <a:r>
            <a:rPr lang="en-GB" sz="4800" kern="1200" dirty="0"/>
            <a:t>Flat-file</a:t>
          </a:r>
        </a:p>
        <a:p>
          <a:pPr marL="0" lvl="0" indent="0" algn="ctr" defTabSz="2133600">
            <a:lnSpc>
              <a:spcPct val="90000"/>
            </a:lnSpc>
            <a:spcBef>
              <a:spcPct val="0"/>
            </a:spcBef>
            <a:spcAft>
              <a:spcPct val="35000"/>
            </a:spcAft>
            <a:buNone/>
          </a:pPr>
          <a:r>
            <a:rPr lang="en-GB" sz="3200" kern="1200" dirty="0"/>
            <a:t>Covered in IGCSE</a:t>
          </a:r>
        </a:p>
      </dsp:txBody>
      <dsp:txXfrm>
        <a:off x="2287" y="3617930"/>
        <a:ext cx="4290645" cy="2145322"/>
      </dsp:txXfrm>
    </dsp:sp>
    <dsp:sp modelId="{886B7B58-5A5D-4BBD-B394-921324400326}">
      <dsp:nvSpPr>
        <dsp:cNvPr id="0" name=""/>
        <dsp:cNvSpPr/>
      </dsp:nvSpPr>
      <dsp:spPr>
        <a:xfrm>
          <a:off x="5193967" y="3617930"/>
          <a:ext cx="4290645" cy="2145322"/>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2133600">
            <a:lnSpc>
              <a:spcPct val="90000"/>
            </a:lnSpc>
            <a:spcBef>
              <a:spcPct val="0"/>
            </a:spcBef>
            <a:spcAft>
              <a:spcPts val="1200"/>
            </a:spcAft>
            <a:buNone/>
          </a:pPr>
          <a:r>
            <a:rPr lang="en-GB" sz="4800" kern="1200" dirty="0"/>
            <a:t>Relational</a:t>
          </a:r>
        </a:p>
        <a:p>
          <a:pPr marL="0" lvl="0" indent="0" algn="ctr" defTabSz="2133600">
            <a:lnSpc>
              <a:spcPct val="90000"/>
            </a:lnSpc>
            <a:spcBef>
              <a:spcPct val="0"/>
            </a:spcBef>
            <a:spcAft>
              <a:spcPct val="35000"/>
            </a:spcAft>
            <a:buNone/>
          </a:pPr>
          <a:r>
            <a:rPr lang="en-GB" sz="3200" kern="1200" dirty="0"/>
            <a:t>Beyond the syllabus</a:t>
          </a:r>
        </a:p>
      </dsp:txBody>
      <dsp:txXfrm>
        <a:off x="5193967" y="3617930"/>
        <a:ext cx="4290645" cy="2145322"/>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A54553-2A3F-4C94-AA62-ABFC40E07E5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B0996737-DD0F-4016-9F43-1C3C1167168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EE11316-EC54-4B9D-B716-15D72C7F09B1}" type="datetimeFigureOut">
              <a:rPr lang="en-GB" smtClean="0"/>
              <a:t>15/09/2022</a:t>
            </a:fld>
            <a:endParaRPr lang="en-GB"/>
          </a:p>
        </p:txBody>
      </p:sp>
      <p:sp>
        <p:nvSpPr>
          <p:cNvPr id="4" name="Footer Placeholder 3">
            <a:extLst>
              <a:ext uri="{FF2B5EF4-FFF2-40B4-BE49-F238E27FC236}">
                <a16:creationId xmlns:a16="http://schemas.microsoft.com/office/drawing/2014/main" id="{147A745F-1972-497D-8174-B5868433DF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A8CE6AC0-619C-486F-A045-23AE3DF3E3C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93CFB52-3982-4249-B609-86D9E8883619}" type="slidenum">
              <a:rPr lang="en-GB" smtClean="0"/>
              <a:t>‹#›</a:t>
            </a:fld>
            <a:endParaRPr lang="en-GB"/>
          </a:p>
        </p:txBody>
      </p:sp>
    </p:spTree>
    <p:extLst>
      <p:ext uri="{BB962C8B-B14F-4D97-AF65-F5344CB8AC3E}">
        <p14:creationId xmlns:p14="http://schemas.microsoft.com/office/powerpoint/2010/main" val="7951636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001D13-C50D-4862-A50B-4E5D0E7CA144}" type="datetimeFigureOut">
              <a:rPr lang="en-GB" smtClean="0"/>
              <a:t>15/09/2022</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0E031B-FEB2-4221-8849-89831B3F1108}" type="slidenum">
              <a:rPr lang="en-GB" smtClean="0"/>
              <a:t>‹#›</a:t>
            </a:fld>
            <a:endParaRPr lang="en-GB" dirty="0"/>
          </a:p>
        </p:txBody>
      </p:sp>
    </p:spTree>
    <p:extLst>
      <p:ext uri="{BB962C8B-B14F-4D97-AF65-F5344CB8AC3E}">
        <p14:creationId xmlns:p14="http://schemas.microsoft.com/office/powerpoint/2010/main" val="3697644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80E031B-FEB2-4221-8849-89831B3F1108}" type="slidenum">
              <a:rPr lang="en-GB" smtClean="0"/>
              <a:t>7</a:t>
            </a:fld>
            <a:endParaRPr lang="en-GB" dirty="0"/>
          </a:p>
        </p:txBody>
      </p:sp>
    </p:spTree>
    <p:extLst>
      <p:ext uri="{BB962C8B-B14F-4D97-AF65-F5344CB8AC3E}">
        <p14:creationId xmlns:p14="http://schemas.microsoft.com/office/powerpoint/2010/main" val="27156076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67369-A355-4D19-AEEC-9D0100EF3C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87924699-1673-40E6-9241-180D779421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9CBE935-35F7-402A-9F4D-C68B29248BA9}"/>
              </a:ext>
            </a:extLst>
          </p:cNvPr>
          <p:cNvSpPr>
            <a:spLocks noGrp="1"/>
          </p:cNvSpPr>
          <p:nvPr>
            <p:ph type="dt" sz="half" idx="10"/>
          </p:nvPr>
        </p:nvSpPr>
        <p:spPr/>
        <p:txBody>
          <a:bodyPr/>
          <a:lstStyle/>
          <a:p>
            <a:fld id="{83EBD5A5-95A5-4ED6-B746-12AF9CEAF3AB}" type="datetimeFigureOut">
              <a:rPr lang="en-GB" smtClean="0"/>
              <a:t>15/09/2022</a:t>
            </a:fld>
            <a:endParaRPr lang="en-GB" dirty="0"/>
          </a:p>
        </p:txBody>
      </p:sp>
      <p:sp>
        <p:nvSpPr>
          <p:cNvPr id="5" name="Footer Placeholder 4">
            <a:extLst>
              <a:ext uri="{FF2B5EF4-FFF2-40B4-BE49-F238E27FC236}">
                <a16:creationId xmlns:a16="http://schemas.microsoft.com/office/drawing/2014/main" id="{004D7A12-EBDB-45B0-9FF5-F17A7EF6715B}"/>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037C7090-3E02-4EBA-95BB-2F3FF45C1E86}"/>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4018429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77CF4-093B-4C66-A107-491AFAE190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87249AB-C9F4-4A3F-A472-C5FDCF3AAF3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06A491B-E55E-4F96-A0A2-08ABE85381B5}"/>
              </a:ext>
            </a:extLst>
          </p:cNvPr>
          <p:cNvSpPr>
            <a:spLocks noGrp="1"/>
          </p:cNvSpPr>
          <p:nvPr>
            <p:ph type="dt" sz="half" idx="10"/>
          </p:nvPr>
        </p:nvSpPr>
        <p:spPr/>
        <p:txBody>
          <a:bodyPr/>
          <a:lstStyle/>
          <a:p>
            <a:fld id="{83EBD5A5-95A5-4ED6-B746-12AF9CEAF3AB}" type="datetimeFigureOut">
              <a:rPr lang="en-GB" smtClean="0"/>
              <a:t>15/09/2022</a:t>
            </a:fld>
            <a:endParaRPr lang="en-GB" dirty="0"/>
          </a:p>
        </p:txBody>
      </p:sp>
      <p:sp>
        <p:nvSpPr>
          <p:cNvPr id="5" name="Footer Placeholder 4">
            <a:extLst>
              <a:ext uri="{FF2B5EF4-FFF2-40B4-BE49-F238E27FC236}">
                <a16:creationId xmlns:a16="http://schemas.microsoft.com/office/drawing/2014/main" id="{5D5EE9C3-3BD7-499C-9C8F-E914AF0CCD4C}"/>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B8CA0F2C-BB77-4D20-BD01-009748E06A21}"/>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2443006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EAB41-C5F4-4F77-8A5C-14CA38A3E7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FC5B807-A41F-4934-B9B5-F06B7FECFD6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1BA9AEC-9ECF-4105-84CF-CCC301ADB0FE}"/>
              </a:ext>
            </a:extLst>
          </p:cNvPr>
          <p:cNvSpPr>
            <a:spLocks noGrp="1"/>
          </p:cNvSpPr>
          <p:nvPr>
            <p:ph type="dt" sz="half" idx="10"/>
          </p:nvPr>
        </p:nvSpPr>
        <p:spPr/>
        <p:txBody>
          <a:bodyPr/>
          <a:lstStyle/>
          <a:p>
            <a:fld id="{83EBD5A5-95A5-4ED6-B746-12AF9CEAF3AB}" type="datetimeFigureOut">
              <a:rPr lang="en-GB" smtClean="0"/>
              <a:t>15/09/2022</a:t>
            </a:fld>
            <a:endParaRPr lang="en-GB" dirty="0"/>
          </a:p>
        </p:txBody>
      </p:sp>
      <p:sp>
        <p:nvSpPr>
          <p:cNvPr id="5" name="Footer Placeholder 4">
            <a:extLst>
              <a:ext uri="{FF2B5EF4-FFF2-40B4-BE49-F238E27FC236}">
                <a16:creationId xmlns:a16="http://schemas.microsoft.com/office/drawing/2014/main" id="{199A81FA-05E8-4A50-9FC5-A94F3634CB56}"/>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8EB13BE1-EE3A-45AF-BF76-41B86D070B05}"/>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17307353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01685-8ECA-46F3-BC78-B8E4D43D8A8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4A252D3-EA14-47C6-8BDF-B549E97DE48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89FA317-5ECF-4693-88DD-BCA7EC3919D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CCCA0AA-2226-49B9-8142-4F45D8CE683F}"/>
              </a:ext>
            </a:extLst>
          </p:cNvPr>
          <p:cNvSpPr>
            <a:spLocks noGrp="1"/>
          </p:cNvSpPr>
          <p:nvPr>
            <p:ph type="dt" sz="half" idx="10"/>
          </p:nvPr>
        </p:nvSpPr>
        <p:spPr/>
        <p:txBody>
          <a:bodyPr/>
          <a:lstStyle/>
          <a:p>
            <a:fld id="{83EBD5A5-95A5-4ED6-B746-12AF9CEAF3AB}" type="datetimeFigureOut">
              <a:rPr lang="en-GB" smtClean="0"/>
              <a:t>15/09/2022</a:t>
            </a:fld>
            <a:endParaRPr lang="en-GB" dirty="0"/>
          </a:p>
        </p:txBody>
      </p:sp>
      <p:sp>
        <p:nvSpPr>
          <p:cNvPr id="6" name="Footer Placeholder 5">
            <a:extLst>
              <a:ext uri="{FF2B5EF4-FFF2-40B4-BE49-F238E27FC236}">
                <a16:creationId xmlns:a16="http://schemas.microsoft.com/office/drawing/2014/main" id="{197F340D-9456-43F7-A764-CBD130EF6886}"/>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EF72910B-6BBA-4043-8CD2-7AE056F14AA9}"/>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33606041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960B3-16E7-4811-A5F8-83614659ACE9}"/>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4DB62EE-BCB8-429D-BB6F-89DF9F3EA1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934AD67-4C0E-484D-B7FF-FB976A1710F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4D7660E-8B38-43A5-A48D-A4523AA03A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E7EFE82-A3BC-42B8-9F71-5C3C1ADD41B7}"/>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BBD8DB3-F688-4AB2-AAFC-0E5E7F2EB1DC}"/>
              </a:ext>
            </a:extLst>
          </p:cNvPr>
          <p:cNvSpPr>
            <a:spLocks noGrp="1"/>
          </p:cNvSpPr>
          <p:nvPr>
            <p:ph type="dt" sz="half" idx="10"/>
          </p:nvPr>
        </p:nvSpPr>
        <p:spPr/>
        <p:txBody>
          <a:bodyPr/>
          <a:lstStyle/>
          <a:p>
            <a:fld id="{83EBD5A5-95A5-4ED6-B746-12AF9CEAF3AB}" type="datetimeFigureOut">
              <a:rPr lang="en-GB" smtClean="0"/>
              <a:t>15/09/2022</a:t>
            </a:fld>
            <a:endParaRPr lang="en-GB" dirty="0"/>
          </a:p>
        </p:txBody>
      </p:sp>
      <p:sp>
        <p:nvSpPr>
          <p:cNvPr id="8" name="Footer Placeholder 7">
            <a:extLst>
              <a:ext uri="{FF2B5EF4-FFF2-40B4-BE49-F238E27FC236}">
                <a16:creationId xmlns:a16="http://schemas.microsoft.com/office/drawing/2014/main" id="{848F70DA-1B40-4425-B025-A8D06411AA42}"/>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0A95CE6D-8A51-4013-A622-D11EFBB72DAA}"/>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38052274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E232E-9E69-481F-BDD8-74F4219ED32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BAD69E5-4081-437F-98E4-2CAF4F5CCAA8}"/>
              </a:ext>
            </a:extLst>
          </p:cNvPr>
          <p:cNvSpPr>
            <a:spLocks noGrp="1"/>
          </p:cNvSpPr>
          <p:nvPr>
            <p:ph type="dt" sz="half" idx="10"/>
          </p:nvPr>
        </p:nvSpPr>
        <p:spPr/>
        <p:txBody>
          <a:bodyPr/>
          <a:lstStyle/>
          <a:p>
            <a:fld id="{83EBD5A5-95A5-4ED6-B746-12AF9CEAF3AB}" type="datetimeFigureOut">
              <a:rPr lang="en-GB" smtClean="0"/>
              <a:t>15/09/2022</a:t>
            </a:fld>
            <a:endParaRPr lang="en-GB" dirty="0"/>
          </a:p>
        </p:txBody>
      </p:sp>
      <p:sp>
        <p:nvSpPr>
          <p:cNvPr id="4" name="Footer Placeholder 3">
            <a:extLst>
              <a:ext uri="{FF2B5EF4-FFF2-40B4-BE49-F238E27FC236}">
                <a16:creationId xmlns:a16="http://schemas.microsoft.com/office/drawing/2014/main" id="{E1B30953-0189-477F-ABF4-CE4D2ED1E480}"/>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5BCC43C7-506A-468F-96CB-96E8683CF1B7}"/>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2399814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o 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0CC6F3-15F4-4749-9242-EDD4FF8C5DBF}"/>
              </a:ext>
            </a:extLst>
          </p:cNvPr>
          <p:cNvSpPr/>
          <p:nvPr userDrawn="1"/>
        </p:nvSpPr>
        <p:spPr>
          <a:xfrm>
            <a:off x="10088880" y="0"/>
            <a:ext cx="2103120" cy="6858000"/>
          </a:xfrm>
          <a:prstGeom prst="rect">
            <a:avLst/>
          </a:prstGeom>
          <a:solidFill>
            <a:srgbClr val="F26521"/>
          </a:solidFill>
          <a:ln>
            <a:noFill/>
          </a:ln>
        </p:spPr>
        <p:style>
          <a:lnRef idx="2">
            <a:schemeClr val="accent1">
              <a:shade val="50000"/>
            </a:schemeClr>
          </a:lnRef>
          <a:fillRef idx="1">
            <a:schemeClr val="accent1"/>
          </a:fillRef>
          <a:effectRef idx="0">
            <a:schemeClr val="accent1"/>
          </a:effectRef>
          <a:fontRef idx="minor">
            <a:schemeClr val="lt1"/>
          </a:fontRef>
        </p:style>
        <p:txBody>
          <a:bodyPr tIns="180000" rtlCol="0" anchor="t"/>
          <a:lstStyle/>
          <a:p>
            <a:pPr algn="ctr"/>
            <a:r>
              <a:rPr lang="en-GB" sz="2400" b="1" dirty="0">
                <a:solidFill>
                  <a:schemeClr val="bg1"/>
                </a:solidFill>
                <a:latin typeface="Century Gothic" panose="020B0502020202020204" pitchFamily="34" charset="0"/>
              </a:rPr>
              <a:t>CAMBRIDGE IGCSE</a:t>
            </a:r>
          </a:p>
          <a:p>
            <a:pPr algn="ctr"/>
            <a:r>
              <a:rPr lang="en-GB" sz="2400" b="1" dirty="0">
                <a:solidFill>
                  <a:schemeClr val="bg1"/>
                </a:solidFill>
                <a:latin typeface="Century Gothic" panose="020B0502020202020204" pitchFamily="34" charset="0"/>
              </a:rPr>
              <a:t>(0478/0984)</a:t>
            </a:r>
          </a:p>
          <a:p>
            <a:pPr algn="ctr"/>
            <a:endParaRPr lang="en-GB" sz="2400" b="1" dirty="0">
              <a:solidFill>
                <a:schemeClr val="bg1"/>
              </a:solidFill>
              <a:latin typeface="Century Gothic" panose="020B0502020202020204" pitchFamily="34" charset="0"/>
            </a:endParaRPr>
          </a:p>
          <a:p>
            <a:pPr algn="ctr"/>
            <a:endParaRPr lang="en-GB" sz="2800" b="1" dirty="0">
              <a:solidFill>
                <a:schemeClr val="bg1"/>
              </a:solidFill>
            </a:endParaRPr>
          </a:p>
          <a:p>
            <a:pPr algn="ctr"/>
            <a:endParaRPr lang="en-GB" sz="2800" b="1" dirty="0">
              <a:solidFill>
                <a:schemeClr val="bg1"/>
              </a:solidFill>
            </a:endParaRPr>
          </a:p>
          <a:p>
            <a:pPr algn="ctr"/>
            <a:endParaRPr lang="en-GB" sz="2800" b="1" dirty="0">
              <a:solidFill>
                <a:schemeClr val="bg1"/>
              </a:solidFill>
            </a:endParaRPr>
          </a:p>
          <a:p>
            <a:pPr algn="ctr"/>
            <a:endParaRPr lang="en-GB" sz="2800" b="1" dirty="0">
              <a:solidFill>
                <a:schemeClr val="bg1"/>
              </a:solidFill>
            </a:endParaRPr>
          </a:p>
          <a:p>
            <a:pPr algn="ctr"/>
            <a:endParaRPr lang="en-GB" sz="2800" b="1" dirty="0">
              <a:solidFill>
                <a:schemeClr val="bg1"/>
              </a:solidFill>
            </a:endParaRPr>
          </a:p>
          <a:p>
            <a:pPr algn="ctr"/>
            <a:endParaRPr lang="en-GB" sz="2800" b="1" dirty="0">
              <a:solidFill>
                <a:schemeClr val="bg1"/>
              </a:solidFill>
            </a:endParaRPr>
          </a:p>
          <a:p>
            <a:pPr algn="ctr"/>
            <a:endParaRPr lang="en-GB" sz="2800" b="1" dirty="0">
              <a:solidFill>
                <a:schemeClr val="bg1"/>
              </a:solidFill>
            </a:endParaRPr>
          </a:p>
          <a:p>
            <a:pPr algn="ctr"/>
            <a:endParaRPr lang="en-GB" sz="2800" b="1" dirty="0">
              <a:solidFill>
                <a:schemeClr val="bg1"/>
              </a:solidFill>
            </a:endParaRPr>
          </a:p>
          <a:p>
            <a:pPr algn="ctr"/>
            <a:endParaRPr lang="en-GB" sz="1600" dirty="0">
              <a:solidFill>
                <a:schemeClr val="bg1">
                  <a:lumMod val="85000"/>
                </a:schemeClr>
              </a:solidFill>
            </a:endParaRPr>
          </a:p>
        </p:txBody>
      </p:sp>
      <p:sp>
        <p:nvSpPr>
          <p:cNvPr id="6" name="Oval 5">
            <a:extLst>
              <a:ext uri="{FF2B5EF4-FFF2-40B4-BE49-F238E27FC236}">
                <a16:creationId xmlns:a16="http://schemas.microsoft.com/office/drawing/2014/main" id="{8B2C14A7-E460-4357-90EB-FC2CBD74FCA1}"/>
              </a:ext>
            </a:extLst>
          </p:cNvPr>
          <p:cNvSpPr/>
          <p:nvPr userDrawn="1"/>
        </p:nvSpPr>
        <p:spPr>
          <a:xfrm>
            <a:off x="8915400" y="2354373"/>
            <a:ext cx="2140171" cy="2140171"/>
          </a:xfrm>
          <a:prstGeom prst="ellipse">
            <a:avLst/>
          </a:prstGeom>
          <a:solidFill>
            <a:schemeClr val="bg1"/>
          </a:solidFill>
          <a:ln w="28575">
            <a:solidFill>
              <a:srgbClr val="F265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7" name="Picture 6" descr="A picture containing brush&#10;&#10;Description automatically generated">
            <a:extLst>
              <a:ext uri="{FF2B5EF4-FFF2-40B4-BE49-F238E27FC236}">
                <a16:creationId xmlns:a16="http://schemas.microsoft.com/office/drawing/2014/main" id="{802D9E8A-D873-49FF-AED9-2CD228DFF517}"/>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t="161" r="-3" b="-3"/>
          <a:stretch/>
        </p:blipFill>
        <p:spPr>
          <a:xfrm>
            <a:off x="9029206" y="2474254"/>
            <a:ext cx="1912560" cy="1909489"/>
          </a:xfrm>
          <a:custGeom>
            <a:avLst/>
            <a:gdLst>
              <a:gd name="connsiteX0" fmla="*/ 3028805 w 6057610"/>
              <a:gd name="connsiteY0" fmla="*/ 0 h 6057610"/>
              <a:gd name="connsiteX1" fmla="*/ 6057610 w 6057610"/>
              <a:gd name="connsiteY1" fmla="*/ 3028805 h 6057610"/>
              <a:gd name="connsiteX2" fmla="*/ 3028805 w 6057610"/>
              <a:gd name="connsiteY2" fmla="*/ 6057610 h 6057610"/>
              <a:gd name="connsiteX3" fmla="*/ 0 w 6057610"/>
              <a:gd name="connsiteY3" fmla="*/ 3028805 h 6057610"/>
              <a:gd name="connsiteX4" fmla="*/ 3028805 w 6057610"/>
              <a:gd name="connsiteY4" fmla="*/ 0 h 6057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57610" h="6057610">
                <a:moveTo>
                  <a:pt x="3028805" y="0"/>
                </a:moveTo>
                <a:cubicBezTo>
                  <a:pt x="4701568" y="0"/>
                  <a:pt x="6057610" y="1356042"/>
                  <a:pt x="6057610" y="3028805"/>
                </a:cubicBezTo>
                <a:cubicBezTo>
                  <a:pt x="6057610" y="4701568"/>
                  <a:pt x="4701568" y="6057610"/>
                  <a:pt x="3028805" y="6057610"/>
                </a:cubicBezTo>
                <a:cubicBezTo>
                  <a:pt x="1356042" y="6057610"/>
                  <a:pt x="0" y="4701568"/>
                  <a:pt x="0" y="3028805"/>
                </a:cubicBezTo>
                <a:cubicBezTo>
                  <a:pt x="0" y="1356042"/>
                  <a:pt x="1356042" y="0"/>
                  <a:pt x="3028805" y="0"/>
                </a:cubicBezTo>
                <a:close/>
              </a:path>
            </a:pathLst>
          </a:custGeom>
          <a:effectLst>
            <a:softEdge rad="0"/>
          </a:effectLst>
        </p:spPr>
      </p:pic>
      <p:sp>
        <p:nvSpPr>
          <p:cNvPr id="10" name="Rectangle 9">
            <a:extLst>
              <a:ext uri="{FF2B5EF4-FFF2-40B4-BE49-F238E27FC236}">
                <a16:creationId xmlns:a16="http://schemas.microsoft.com/office/drawing/2014/main" id="{1FE3659E-7B75-43EA-B2D2-F180CB40635B}"/>
              </a:ext>
            </a:extLst>
          </p:cNvPr>
          <p:cNvSpPr/>
          <p:nvPr userDrawn="1"/>
        </p:nvSpPr>
        <p:spPr>
          <a:xfrm>
            <a:off x="0" y="6451184"/>
            <a:ext cx="10088879" cy="338554"/>
          </a:xfrm>
          <a:prstGeom prst="rect">
            <a:avLst/>
          </a:prstGeom>
        </p:spPr>
        <p:txBody>
          <a:bodyPr wrap="square">
            <a:spAutoFit/>
          </a:bodyPr>
          <a:lstStyle/>
          <a:p>
            <a:pPr algn="ctr"/>
            <a:r>
              <a:rPr lang="en-GB" sz="1600" b="1" dirty="0">
                <a:solidFill>
                  <a:schemeClr val="bg1">
                    <a:lumMod val="50000"/>
                  </a:schemeClr>
                </a:solidFill>
              </a:rPr>
              <a:t>Teacher site: </a:t>
            </a:r>
            <a:r>
              <a:rPr lang="en-GB" sz="1600" dirty="0">
                <a:solidFill>
                  <a:schemeClr val="bg1">
                    <a:lumMod val="50000"/>
                  </a:schemeClr>
                </a:solidFill>
              </a:rPr>
              <a:t>craigndave.org  |  </a:t>
            </a:r>
            <a:r>
              <a:rPr lang="en-GB" sz="1600" b="1" dirty="0">
                <a:solidFill>
                  <a:schemeClr val="bg1">
                    <a:lumMod val="50000"/>
                  </a:schemeClr>
                </a:solidFill>
              </a:rPr>
              <a:t>Student site: </a:t>
            </a:r>
            <a:r>
              <a:rPr lang="en-GB" sz="1600" dirty="0">
                <a:solidFill>
                  <a:schemeClr val="bg1">
                    <a:lumMod val="50000"/>
                  </a:schemeClr>
                </a:solidFill>
              </a:rPr>
              <a:t>student.craigndave.org  |  </a:t>
            </a:r>
            <a:r>
              <a:rPr lang="en-GB" sz="1600" b="1" dirty="0">
                <a:solidFill>
                  <a:schemeClr val="bg1">
                    <a:lumMod val="50000"/>
                  </a:schemeClr>
                </a:solidFill>
              </a:rPr>
              <a:t>Smart revise: </a:t>
            </a:r>
            <a:r>
              <a:rPr lang="en-GB" sz="1600" dirty="0">
                <a:solidFill>
                  <a:schemeClr val="bg1">
                    <a:lumMod val="50000"/>
                  </a:schemeClr>
                </a:solidFill>
              </a:rPr>
              <a:t>smartrevise.co.uk </a:t>
            </a:r>
          </a:p>
        </p:txBody>
      </p:sp>
    </p:spTree>
    <p:extLst>
      <p:ext uri="{BB962C8B-B14F-4D97-AF65-F5344CB8AC3E}">
        <p14:creationId xmlns:p14="http://schemas.microsoft.com/office/powerpoint/2010/main" val="40900153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Video content slid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F19224-2084-4C89-AEFB-59035B0F8D1F}"/>
              </a:ext>
            </a:extLst>
          </p:cNvPr>
          <p:cNvSpPr>
            <a:spLocks noGrp="1"/>
          </p:cNvSpPr>
          <p:nvPr>
            <p:ph type="dt" sz="half" idx="10"/>
          </p:nvPr>
        </p:nvSpPr>
        <p:spPr/>
        <p:txBody>
          <a:bodyPr/>
          <a:lstStyle/>
          <a:p>
            <a:fld id="{83EBD5A5-95A5-4ED6-B746-12AF9CEAF3AB}" type="datetimeFigureOut">
              <a:rPr lang="en-GB" smtClean="0"/>
              <a:t>15/09/2022</a:t>
            </a:fld>
            <a:endParaRPr lang="en-GB" dirty="0"/>
          </a:p>
        </p:txBody>
      </p:sp>
      <p:sp>
        <p:nvSpPr>
          <p:cNvPr id="3" name="Footer Placeholder 2">
            <a:extLst>
              <a:ext uri="{FF2B5EF4-FFF2-40B4-BE49-F238E27FC236}">
                <a16:creationId xmlns:a16="http://schemas.microsoft.com/office/drawing/2014/main" id="{2B8E9D01-9A95-4DC3-AD5E-0657203E7B20}"/>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30DB0936-CF61-444A-88C9-B1BE2B016644}"/>
              </a:ext>
            </a:extLst>
          </p:cNvPr>
          <p:cNvSpPr>
            <a:spLocks noGrp="1"/>
          </p:cNvSpPr>
          <p:nvPr>
            <p:ph type="sldNum" sz="quarter" idx="12"/>
          </p:nvPr>
        </p:nvSpPr>
        <p:spPr/>
        <p:txBody>
          <a:bodyPr/>
          <a:lstStyle/>
          <a:p>
            <a:fld id="{CFC6102D-FACC-46D2-982F-C509AB4FB7F4}" type="slidenum">
              <a:rPr lang="en-GB" smtClean="0"/>
              <a:t>‹#›</a:t>
            </a:fld>
            <a:endParaRPr lang="en-GB" dirty="0"/>
          </a:p>
        </p:txBody>
      </p:sp>
      <p:grpSp>
        <p:nvGrpSpPr>
          <p:cNvPr id="13" name="Group 12">
            <a:extLst>
              <a:ext uri="{FF2B5EF4-FFF2-40B4-BE49-F238E27FC236}">
                <a16:creationId xmlns:a16="http://schemas.microsoft.com/office/drawing/2014/main" id="{87AACC54-1682-4874-BD09-D8CF92EDAE43}"/>
              </a:ext>
            </a:extLst>
          </p:cNvPr>
          <p:cNvGrpSpPr/>
          <p:nvPr userDrawn="1"/>
        </p:nvGrpSpPr>
        <p:grpSpPr>
          <a:xfrm>
            <a:off x="-1" y="0"/>
            <a:ext cx="12192001" cy="419100"/>
            <a:chOff x="-1" y="0"/>
            <a:chExt cx="12192001" cy="533400"/>
          </a:xfrm>
        </p:grpSpPr>
        <p:sp>
          <p:nvSpPr>
            <p:cNvPr id="15" name="Rectangle 14">
              <a:extLst>
                <a:ext uri="{FF2B5EF4-FFF2-40B4-BE49-F238E27FC236}">
                  <a16:creationId xmlns:a16="http://schemas.microsoft.com/office/drawing/2014/main" id="{A3B4ABA0-791C-4EF4-91E1-0A7F5B882D36}"/>
                </a:ext>
              </a:extLst>
            </p:cNvPr>
            <p:cNvSpPr/>
            <p:nvPr userDrawn="1"/>
          </p:nvSpPr>
          <p:spPr>
            <a:xfrm>
              <a:off x="-1" y="0"/>
              <a:ext cx="10095723" cy="533400"/>
            </a:xfrm>
            <a:prstGeom prst="rect">
              <a:avLst/>
            </a:prstGeom>
            <a:solidFill>
              <a:srgbClr val="F26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sz="1800" b="1" dirty="0">
                  <a:solidFill>
                    <a:schemeClr val="bg1"/>
                  </a:solidFill>
                </a:rPr>
                <a:t>9 Databases | Database introduction</a:t>
              </a:r>
            </a:p>
          </p:txBody>
        </p:sp>
        <p:sp>
          <p:nvSpPr>
            <p:cNvPr id="14" name="Rectangle 13">
              <a:extLst>
                <a:ext uri="{FF2B5EF4-FFF2-40B4-BE49-F238E27FC236}">
                  <a16:creationId xmlns:a16="http://schemas.microsoft.com/office/drawing/2014/main" id="{7E5FF8B6-F953-41A2-8CA9-2F6F841BDD32}"/>
                </a:ext>
              </a:extLst>
            </p:cNvPr>
            <p:cNvSpPr/>
            <p:nvPr/>
          </p:nvSpPr>
          <p:spPr>
            <a:xfrm>
              <a:off x="9100868" y="0"/>
              <a:ext cx="3091132" cy="533400"/>
            </a:xfrm>
            <a:prstGeom prst="rect">
              <a:avLst/>
            </a:prstGeom>
            <a:solidFill>
              <a:srgbClr val="F26521"/>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46800" rtlCol="0" anchor="t"/>
            <a:lstStyle/>
            <a:p>
              <a:pPr algn="r"/>
              <a:r>
                <a:rPr lang="en-GB" b="1" dirty="0">
                  <a:solidFill>
                    <a:schemeClr val="bg1"/>
                  </a:solidFill>
                </a:rPr>
                <a:t>CAMBRIDGE IGCSE (0478/0984)</a:t>
              </a:r>
            </a:p>
          </p:txBody>
        </p:sp>
      </p:grpSp>
    </p:spTree>
    <p:extLst>
      <p:ext uri="{BB962C8B-B14F-4D97-AF65-F5344CB8AC3E}">
        <p14:creationId xmlns:p14="http://schemas.microsoft.com/office/powerpoint/2010/main" val="920910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E615E-FCEC-48A2-8A58-855AC17510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CA6C2E3-EFFC-4E46-8E3B-353E3410C7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A8F8DFF-FB25-4FDB-AE01-189095807A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575E6D8-83E5-4A1F-91A5-3CC7778FDD15}"/>
              </a:ext>
            </a:extLst>
          </p:cNvPr>
          <p:cNvSpPr>
            <a:spLocks noGrp="1"/>
          </p:cNvSpPr>
          <p:nvPr>
            <p:ph type="dt" sz="half" idx="10"/>
          </p:nvPr>
        </p:nvSpPr>
        <p:spPr/>
        <p:txBody>
          <a:bodyPr/>
          <a:lstStyle/>
          <a:p>
            <a:fld id="{83EBD5A5-95A5-4ED6-B746-12AF9CEAF3AB}" type="datetimeFigureOut">
              <a:rPr lang="en-GB" smtClean="0"/>
              <a:t>15/09/2022</a:t>
            </a:fld>
            <a:endParaRPr lang="en-GB" dirty="0"/>
          </a:p>
        </p:txBody>
      </p:sp>
      <p:sp>
        <p:nvSpPr>
          <p:cNvPr id="6" name="Footer Placeholder 5">
            <a:extLst>
              <a:ext uri="{FF2B5EF4-FFF2-40B4-BE49-F238E27FC236}">
                <a16:creationId xmlns:a16="http://schemas.microsoft.com/office/drawing/2014/main" id="{2962ED67-D636-4841-A380-71A8E2C2234C}"/>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E1ECBE11-BFFB-4E5F-95F9-EF6A83AD83A2}"/>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39418179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13C68-F937-4619-AC2A-808BB5FBCD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64D0E72-F13A-47A1-9749-F939C5B614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FDACE7D0-DEEB-4789-9725-4826AE9B0A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B252C0A-0BB5-4C36-AC67-AFCF2DC0A65F}"/>
              </a:ext>
            </a:extLst>
          </p:cNvPr>
          <p:cNvSpPr>
            <a:spLocks noGrp="1"/>
          </p:cNvSpPr>
          <p:nvPr>
            <p:ph type="dt" sz="half" idx="10"/>
          </p:nvPr>
        </p:nvSpPr>
        <p:spPr/>
        <p:txBody>
          <a:bodyPr/>
          <a:lstStyle/>
          <a:p>
            <a:fld id="{83EBD5A5-95A5-4ED6-B746-12AF9CEAF3AB}" type="datetimeFigureOut">
              <a:rPr lang="en-GB" smtClean="0"/>
              <a:t>15/09/2022</a:t>
            </a:fld>
            <a:endParaRPr lang="en-GB" dirty="0"/>
          </a:p>
        </p:txBody>
      </p:sp>
      <p:sp>
        <p:nvSpPr>
          <p:cNvPr id="6" name="Footer Placeholder 5">
            <a:extLst>
              <a:ext uri="{FF2B5EF4-FFF2-40B4-BE49-F238E27FC236}">
                <a16:creationId xmlns:a16="http://schemas.microsoft.com/office/drawing/2014/main" id="{B01906B4-69CB-471E-B443-A6DD59556082}"/>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5AC21424-3B0E-4EEC-875D-327603D191FC}"/>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48204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6F412-1941-41D2-AC46-E8C20860A8DB}"/>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B2A1B5D-15E6-4D4B-B6F5-E46A1A7234B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E418167-751F-4B50-84DD-7F7377E43E1D}"/>
              </a:ext>
            </a:extLst>
          </p:cNvPr>
          <p:cNvSpPr>
            <a:spLocks noGrp="1"/>
          </p:cNvSpPr>
          <p:nvPr>
            <p:ph type="dt" sz="half" idx="10"/>
          </p:nvPr>
        </p:nvSpPr>
        <p:spPr/>
        <p:txBody>
          <a:bodyPr/>
          <a:lstStyle/>
          <a:p>
            <a:fld id="{83EBD5A5-95A5-4ED6-B746-12AF9CEAF3AB}" type="datetimeFigureOut">
              <a:rPr lang="en-GB" smtClean="0"/>
              <a:t>15/09/2022</a:t>
            </a:fld>
            <a:endParaRPr lang="en-GB" dirty="0"/>
          </a:p>
        </p:txBody>
      </p:sp>
      <p:sp>
        <p:nvSpPr>
          <p:cNvPr id="5" name="Footer Placeholder 4">
            <a:extLst>
              <a:ext uri="{FF2B5EF4-FFF2-40B4-BE49-F238E27FC236}">
                <a16:creationId xmlns:a16="http://schemas.microsoft.com/office/drawing/2014/main" id="{8AA10E4B-ECAF-4B58-9633-F0D2214AE38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F6D0936C-E069-45AA-8B1E-8B295D2AAB7A}"/>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4237371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0BBC43-F9FB-4DC0-9192-4C6BBC0BBF6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665541F-6124-45F5-9E33-C8877152332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B28D7AD-9B6B-4D71-A044-0A8CD107B0C3}"/>
              </a:ext>
            </a:extLst>
          </p:cNvPr>
          <p:cNvSpPr>
            <a:spLocks noGrp="1"/>
          </p:cNvSpPr>
          <p:nvPr>
            <p:ph type="dt" sz="half" idx="10"/>
          </p:nvPr>
        </p:nvSpPr>
        <p:spPr/>
        <p:txBody>
          <a:bodyPr/>
          <a:lstStyle/>
          <a:p>
            <a:fld id="{83EBD5A5-95A5-4ED6-B746-12AF9CEAF3AB}" type="datetimeFigureOut">
              <a:rPr lang="en-GB" smtClean="0"/>
              <a:t>15/09/2022</a:t>
            </a:fld>
            <a:endParaRPr lang="en-GB" dirty="0"/>
          </a:p>
        </p:txBody>
      </p:sp>
      <p:sp>
        <p:nvSpPr>
          <p:cNvPr id="5" name="Footer Placeholder 4">
            <a:extLst>
              <a:ext uri="{FF2B5EF4-FFF2-40B4-BE49-F238E27FC236}">
                <a16:creationId xmlns:a16="http://schemas.microsoft.com/office/drawing/2014/main" id="{FB6F19E0-2B2A-44A5-95AA-5794953B827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5E8AE265-1899-40B9-ABCC-0F0FA6B45232}"/>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2109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768667-8C97-4EFE-84F3-BDAFCA0DEE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DA6806C-F4A6-4145-8586-E1BA0D6AA7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1A371F7-F0FF-4998-A335-671F6745CC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EBD5A5-95A5-4ED6-B746-12AF9CEAF3AB}" type="datetimeFigureOut">
              <a:rPr lang="en-GB" smtClean="0"/>
              <a:t>15/09/2022</a:t>
            </a:fld>
            <a:endParaRPr lang="en-GB" dirty="0"/>
          </a:p>
        </p:txBody>
      </p:sp>
      <p:sp>
        <p:nvSpPr>
          <p:cNvPr id="5" name="Footer Placeholder 4">
            <a:extLst>
              <a:ext uri="{FF2B5EF4-FFF2-40B4-BE49-F238E27FC236}">
                <a16:creationId xmlns:a16="http://schemas.microsoft.com/office/drawing/2014/main" id="{3E11381F-CB31-4B37-8E8C-1B4AD2A089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a:extLst>
              <a:ext uri="{FF2B5EF4-FFF2-40B4-BE49-F238E27FC236}">
                <a16:creationId xmlns:a16="http://schemas.microsoft.com/office/drawing/2014/main" id="{04B29192-27C3-435C-AA4E-0FF49DC56D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C6102D-FACC-46D2-982F-C509AB4FB7F4}" type="slidenum">
              <a:rPr lang="en-GB" smtClean="0"/>
              <a:t>‹#›</a:t>
            </a:fld>
            <a:endParaRPr lang="en-GB" dirty="0"/>
          </a:p>
        </p:txBody>
      </p:sp>
    </p:spTree>
    <p:extLst>
      <p:ext uri="{BB962C8B-B14F-4D97-AF65-F5344CB8AC3E}">
        <p14:creationId xmlns:p14="http://schemas.microsoft.com/office/powerpoint/2010/main" val="34070138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0"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3.tmp"/><Relationship Id="rId7" Type="http://schemas.openxmlformats.org/officeDocument/2006/relationships/image" Target="../media/image7.svg"/><Relationship Id="rId2" Type="http://schemas.openxmlformats.org/officeDocument/2006/relationships/notesSlide" Target="../notesSlides/notesSlide1.xml"/><Relationship Id="rId1" Type="http://schemas.openxmlformats.org/officeDocument/2006/relationships/slideLayout" Target="../slideLayouts/slideLayout8.xml"/><Relationship Id="rId6" Type="http://schemas.openxmlformats.org/officeDocument/2006/relationships/image" Target="../media/image6.png"/><Relationship Id="rId5" Type="http://schemas.openxmlformats.org/officeDocument/2006/relationships/image" Target="../media/image5.tmp"/><Relationship Id="rId4" Type="http://schemas.openxmlformats.org/officeDocument/2006/relationships/image" Target="../media/image4.tmp"/></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Layout" Target="../slideLayouts/slideLayout8.xml"/><Relationship Id="rId4" Type="http://schemas.openxmlformats.org/officeDocument/2006/relationships/image" Target="../media/image7.svg"/></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1342EC1-2AFD-4406-9F14-4D674F90CAE8}"/>
              </a:ext>
            </a:extLst>
          </p:cNvPr>
          <p:cNvSpPr txBox="1"/>
          <p:nvPr/>
        </p:nvSpPr>
        <p:spPr>
          <a:xfrm>
            <a:off x="304800" y="92954"/>
            <a:ext cx="9879279"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b="1" dirty="0">
                <a:solidFill>
                  <a:schemeClr val="accent2">
                    <a:lumMod val="75000"/>
                  </a:schemeClr>
                </a:solidFill>
                <a:latin typeface="Century Gothic" panose="020B0502020202020204" pitchFamily="34" charset="0"/>
                <a:ea typeface="+mj-ea"/>
                <a:cs typeface="+mj-cs"/>
              </a:rPr>
              <a:t>9 Databases</a:t>
            </a:r>
          </a:p>
        </p:txBody>
      </p:sp>
      <p:sp>
        <p:nvSpPr>
          <p:cNvPr id="6" name="TextBox 5">
            <a:extLst>
              <a:ext uri="{FF2B5EF4-FFF2-40B4-BE49-F238E27FC236}">
                <a16:creationId xmlns:a16="http://schemas.microsoft.com/office/drawing/2014/main" id="{5FABF442-A178-4CA8-8D0A-DF0A8E18C046}"/>
              </a:ext>
            </a:extLst>
          </p:cNvPr>
          <p:cNvSpPr txBox="1"/>
          <p:nvPr/>
        </p:nvSpPr>
        <p:spPr>
          <a:xfrm>
            <a:off x="927652" y="1650609"/>
            <a:ext cx="6997148" cy="3450613"/>
          </a:xfrm>
          <a:prstGeom prst="rect">
            <a:avLst/>
          </a:prstGeom>
        </p:spPr>
        <p:txBody>
          <a:bodyPr vert="horz" lIns="91440" tIns="45720" rIns="91440" bIns="45720" rtlCol="0" anchor="ctr">
            <a:normAutofit/>
          </a:bodyPr>
          <a:lstStyle/>
          <a:p>
            <a:pPr algn="ctr">
              <a:lnSpc>
                <a:spcPct val="90000"/>
              </a:lnSpc>
              <a:spcAft>
                <a:spcPts val="1200"/>
              </a:spcAft>
            </a:pPr>
            <a:r>
              <a:rPr lang="en-GB" sz="4000" dirty="0">
                <a:solidFill>
                  <a:schemeClr val="accent2">
                    <a:lumMod val="75000"/>
                  </a:schemeClr>
                </a:solidFill>
              </a:rPr>
              <a:t>Database introduction</a:t>
            </a:r>
            <a:endParaRPr lang="en-US" sz="4000" dirty="0">
              <a:solidFill>
                <a:schemeClr val="accent2">
                  <a:lumMod val="75000"/>
                </a:schemeClr>
              </a:solidFill>
            </a:endParaRPr>
          </a:p>
        </p:txBody>
      </p:sp>
    </p:spTree>
    <p:extLst>
      <p:ext uri="{BB962C8B-B14F-4D97-AF65-F5344CB8AC3E}">
        <p14:creationId xmlns:p14="http://schemas.microsoft.com/office/powerpoint/2010/main" val="13837712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F34D69E-F284-4EF1-8ABC-9556CC80091B}"/>
              </a:ext>
            </a:extLst>
          </p:cNvPr>
          <p:cNvSpPr/>
          <p:nvPr/>
        </p:nvSpPr>
        <p:spPr>
          <a:xfrm>
            <a:off x="176565" y="523174"/>
            <a:ext cx="2691827" cy="470000"/>
          </a:xfrm>
          <a:prstGeom prst="rect">
            <a:avLst/>
          </a:prstGeom>
        </p:spPr>
        <p:txBody>
          <a:bodyPr wrap="non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What is a database?</a:t>
            </a:r>
          </a:p>
        </p:txBody>
      </p:sp>
      <p:sp>
        <p:nvSpPr>
          <p:cNvPr id="17" name="Rectangle 16">
            <a:extLst>
              <a:ext uri="{FF2B5EF4-FFF2-40B4-BE49-F238E27FC236}">
                <a16:creationId xmlns:a16="http://schemas.microsoft.com/office/drawing/2014/main" id="{035FF626-5B9E-458A-8AC8-E6DA7548706B}"/>
              </a:ext>
            </a:extLst>
          </p:cNvPr>
          <p:cNvSpPr/>
          <p:nvPr/>
        </p:nvSpPr>
        <p:spPr>
          <a:xfrm>
            <a:off x="176565" y="993174"/>
            <a:ext cx="5560847" cy="1070871"/>
          </a:xfrm>
          <a:prstGeom prst="rect">
            <a:avLst/>
          </a:prstGeom>
        </p:spPr>
        <p:txBody>
          <a:bodyPr wrap="square">
            <a:spAutoFit/>
          </a:bodyPr>
          <a:lstStyle/>
          <a:p>
            <a:pPr>
              <a:lnSpc>
                <a:spcPct val="107000"/>
              </a:lnSpc>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Databases are structured, persistent collections of data.</a:t>
            </a:r>
          </a:p>
          <a:p>
            <a:pPr>
              <a:lnSpc>
                <a:spcPct val="107000"/>
              </a:lnSpc>
            </a:pPr>
            <a:r>
              <a:rPr lang="en-GB" dirty="0">
                <a:latin typeface="Calibri" panose="020F0502020204030204" pitchFamily="34" charset="0"/>
                <a:ea typeface="Calibri" panose="020F0502020204030204" pitchFamily="34" charset="0"/>
                <a:cs typeface="Times New Roman" panose="02020603050405020304" pitchFamily="18" charset="0"/>
              </a:rPr>
              <a:t>They allow us to arrange and store data in a series of tables for further querying and manipulation.</a:t>
            </a:r>
          </a:p>
        </p:txBody>
      </p:sp>
      <p:pic>
        <p:nvPicPr>
          <p:cNvPr id="5" name="Picture 4" descr="A picture containing room, table, computer&#10;&#10;Description automatically generated">
            <a:extLst>
              <a:ext uri="{FF2B5EF4-FFF2-40B4-BE49-F238E27FC236}">
                <a16:creationId xmlns:a16="http://schemas.microsoft.com/office/drawing/2014/main" id="{452C4211-7E9C-4880-96C8-7DBFDC342B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5030" y="587000"/>
            <a:ext cx="6060405" cy="6060405"/>
          </a:xfrm>
          <a:prstGeom prst="rect">
            <a:avLst/>
          </a:prstGeom>
        </p:spPr>
      </p:pic>
    </p:spTree>
    <p:extLst>
      <p:ext uri="{BB962C8B-B14F-4D97-AF65-F5344CB8AC3E}">
        <p14:creationId xmlns:p14="http://schemas.microsoft.com/office/powerpoint/2010/main" val="39428455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F34D69E-F284-4EF1-8ABC-9556CC80091B}"/>
              </a:ext>
            </a:extLst>
          </p:cNvPr>
          <p:cNvSpPr/>
          <p:nvPr/>
        </p:nvSpPr>
        <p:spPr>
          <a:xfrm>
            <a:off x="176565" y="523174"/>
            <a:ext cx="2691827" cy="470000"/>
          </a:xfrm>
          <a:prstGeom prst="rect">
            <a:avLst/>
          </a:prstGeom>
        </p:spPr>
        <p:txBody>
          <a:bodyPr wrap="non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What is a database?</a:t>
            </a:r>
          </a:p>
        </p:txBody>
      </p:sp>
      <p:graphicFrame>
        <p:nvGraphicFramePr>
          <p:cNvPr id="3" name="Diagram 2">
            <a:extLst>
              <a:ext uri="{FF2B5EF4-FFF2-40B4-BE49-F238E27FC236}">
                <a16:creationId xmlns:a16="http://schemas.microsoft.com/office/drawing/2014/main" id="{DEF7839A-F1FD-4247-9208-A35BE9FC4FBC}"/>
              </a:ext>
            </a:extLst>
          </p:cNvPr>
          <p:cNvGraphicFramePr/>
          <p:nvPr>
            <p:extLst>
              <p:ext uri="{D42A27DB-BD31-4B8C-83A1-F6EECF244321}">
                <p14:modId xmlns:p14="http://schemas.microsoft.com/office/powerpoint/2010/main" val="1900830869"/>
              </p:ext>
            </p:extLst>
          </p:nvPr>
        </p:nvGraphicFramePr>
        <p:xfrm>
          <a:off x="1352550" y="261587"/>
          <a:ext cx="9486900" cy="63348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15035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F34D69E-F284-4EF1-8ABC-9556CC80091B}"/>
              </a:ext>
            </a:extLst>
          </p:cNvPr>
          <p:cNvSpPr/>
          <p:nvPr/>
        </p:nvSpPr>
        <p:spPr>
          <a:xfrm>
            <a:off x="176565" y="523174"/>
            <a:ext cx="2376035" cy="470000"/>
          </a:xfrm>
          <a:prstGeom prst="rect">
            <a:avLst/>
          </a:prstGeom>
        </p:spPr>
        <p:txBody>
          <a:bodyPr wrap="non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Flat-file database</a:t>
            </a:r>
          </a:p>
        </p:txBody>
      </p:sp>
      <p:sp>
        <p:nvSpPr>
          <p:cNvPr id="2" name="Rectangle 1">
            <a:extLst>
              <a:ext uri="{FF2B5EF4-FFF2-40B4-BE49-F238E27FC236}">
                <a16:creationId xmlns:a16="http://schemas.microsoft.com/office/drawing/2014/main" id="{C1CE881F-A1C7-B410-D7D8-99AD1895D468}"/>
              </a:ext>
            </a:extLst>
          </p:cNvPr>
          <p:cNvSpPr/>
          <p:nvPr/>
        </p:nvSpPr>
        <p:spPr>
          <a:xfrm>
            <a:off x="176564" y="993174"/>
            <a:ext cx="11498757" cy="375552"/>
          </a:xfrm>
          <a:prstGeom prst="rect">
            <a:avLst/>
          </a:prstGeom>
        </p:spPr>
        <p:txBody>
          <a:bodyPr wrap="square">
            <a:spAutoFit/>
          </a:bodyPr>
          <a:lstStyle/>
          <a:p>
            <a:pPr>
              <a:lnSpc>
                <a:spcPct val="107000"/>
              </a:lnSpc>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A </a:t>
            </a:r>
            <a:r>
              <a:rPr lang="en-GB" b="1" dirty="0">
                <a:latin typeface="Calibri" panose="020F0502020204030204" pitchFamily="34" charset="0"/>
                <a:ea typeface="Calibri" panose="020F0502020204030204" pitchFamily="34" charset="0"/>
                <a:cs typeface="Times New Roman" panose="02020603050405020304" pitchFamily="18" charset="0"/>
              </a:rPr>
              <a:t>flat-file database</a:t>
            </a:r>
            <a:r>
              <a:rPr lang="en-GB" dirty="0">
                <a:latin typeface="Calibri" panose="020F0502020204030204" pitchFamily="34" charset="0"/>
                <a:ea typeface="Calibri" panose="020F0502020204030204" pitchFamily="34" charset="0"/>
                <a:cs typeface="Times New Roman" panose="02020603050405020304" pitchFamily="18" charset="0"/>
              </a:rPr>
              <a:t> consists of one or more </a:t>
            </a:r>
            <a:r>
              <a:rPr lang="en-GB" b="1" dirty="0">
                <a:latin typeface="Calibri" panose="020F0502020204030204" pitchFamily="34" charset="0"/>
                <a:ea typeface="Calibri" panose="020F0502020204030204" pitchFamily="34" charset="0"/>
                <a:cs typeface="Times New Roman" panose="02020603050405020304" pitchFamily="18" charset="0"/>
              </a:rPr>
              <a:t>tables</a:t>
            </a:r>
            <a:r>
              <a:rPr lang="en-GB" dirty="0">
                <a:latin typeface="Calibri" panose="020F0502020204030204" pitchFamily="34" charset="0"/>
                <a:ea typeface="Calibri" panose="020F0502020204030204" pitchFamily="34" charset="0"/>
                <a:cs typeface="Times New Roman" panose="02020603050405020304" pitchFamily="18" charset="0"/>
              </a:rPr>
              <a:t>.</a:t>
            </a:r>
          </a:p>
        </p:txBody>
      </p:sp>
      <p:graphicFrame>
        <p:nvGraphicFramePr>
          <p:cNvPr id="3" name="Table 3">
            <a:extLst>
              <a:ext uri="{FF2B5EF4-FFF2-40B4-BE49-F238E27FC236}">
                <a16:creationId xmlns:a16="http://schemas.microsoft.com/office/drawing/2014/main" id="{B5D37DB4-B07F-FB0A-0898-F69B62EC9E42}"/>
              </a:ext>
            </a:extLst>
          </p:cNvPr>
          <p:cNvGraphicFramePr>
            <a:graphicFrameLocks noGrp="1"/>
          </p:cNvGraphicFramePr>
          <p:nvPr>
            <p:extLst>
              <p:ext uri="{D42A27DB-BD31-4B8C-83A1-F6EECF244321}">
                <p14:modId xmlns:p14="http://schemas.microsoft.com/office/powerpoint/2010/main" val="1193997703"/>
              </p:ext>
            </p:extLst>
          </p:nvPr>
        </p:nvGraphicFramePr>
        <p:xfrm>
          <a:off x="1374587" y="3095330"/>
          <a:ext cx="9442825" cy="2966720"/>
        </p:xfrm>
        <a:graphic>
          <a:graphicData uri="http://schemas.openxmlformats.org/drawingml/2006/table">
            <a:tbl>
              <a:tblPr firstRow="1" bandRow="1">
                <a:tableStyleId>{21E4AEA4-8DFA-4A89-87EB-49C32662AFE0}</a:tableStyleId>
              </a:tblPr>
              <a:tblGrid>
                <a:gridCol w="728061">
                  <a:extLst>
                    <a:ext uri="{9D8B030D-6E8A-4147-A177-3AD203B41FA5}">
                      <a16:colId xmlns:a16="http://schemas.microsoft.com/office/drawing/2014/main" val="3996809463"/>
                    </a:ext>
                  </a:extLst>
                </a:gridCol>
                <a:gridCol w="2624491">
                  <a:extLst>
                    <a:ext uri="{9D8B030D-6E8A-4147-A177-3AD203B41FA5}">
                      <a16:colId xmlns:a16="http://schemas.microsoft.com/office/drawing/2014/main" val="3000222899"/>
                    </a:ext>
                  </a:extLst>
                </a:gridCol>
                <a:gridCol w="1518271">
                  <a:extLst>
                    <a:ext uri="{9D8B030D-6E8A-4147-A177-3AD203B41FA5}">
                      <a16:colId xmlns:a16="http://schemas.microsoft.com/office/drawing/2014/main" val="870613421"/>
                    </a:ext>
                  </a:extLst>
                </a:gridCol>
                <a:gridCol w="1810871">
                  <a:extLst>
                    <a:ext uri="{9D8B030D-6E8A-4147-A177-3AD203B41FA5}">
                      <a16:colId xmlns:a16="http://schemas.microsoft.com/office/drawing/2014/main" val="725307633"/>
                    </a:ext>
                  </a:extLst>
                </a:gridCol>
                <a:gridCol w="1855694">
                  <a:extLst>
                    <a:ext uri="{9D8B030D-6E8A-4147-A177-3AD203B41FA5}">
                      <a16:colId xmlns:a16="http://schemas.microsoft.com/office/drawing/2014/main" val="1372900861"/>
                    </a:ext>
                  </a:extLst>
                </a:gridCol>
                <a:gridCol w="905437">
                  <a:extLst>
                    <a:ext uri="{9D8B030D-6E8A-4147-A177-3AD203B41FA5}">
                      <a16:colId xmlns:a16="http://schemas.microsoft.com/office/drawing/2014/main" val="1843823703"/>
                    </a:ext>
                  </a:extLst>
                </a:gridCol>
              </a:tblGrid>
              <a:tr h="370840">
                <a:tc>
                  <a:txBody>
                    <a:bodyPr/>
                    <a:lstStyle/>
                    <a:p>
                      <a:r>
                        <a:rPr lang="en-GB" dirty="0"/>
                        <a:t>ID</a:t>
                      </a:r>
                    </a:p>
                  </a:txBody>
                  <a:tcPr/>
                </a:tc>
                <a:tc>
                  <a:txBody>
                    <a:bodyPr/>
                    <a:lstStyle/>
                    <a:p>
                      <a:r>
                        <a:rPr lang="en-GB" dirty="0"/>
                        <a:t>Customer</a:t>
                      </a:r>
                    </a:p>
                  </a:txBody>
                  <a:tcPr/>
                </a:tc>
                <a:tc>
                  <a:txBody>
                    <a:bodyPr/>
                    <a:lstStyle/>
                    <a:p>
                      <a:r>
                        <a:rPr lang="en-GB" dirty="0"/>
                        <a:t>Country</a:t>
                      </a:r>
                    </a:p>
                  </a:txBody>
                  <a:tcPr/>
                </a:tc>
                <a:tc>
                  <a:txBody>
                    <a:bodyPr/>
                    <a:lstStyle/>
                    <a:p>
                      <a:r>
                        <a:rPr lang="en-GB" dirty="0"/>
                        <a:t>City</a:t>
                      </a:r>
                    </a:p>
                  </a:txBody>
                  <a:tcPr/>
                </a:tc>
                <a:tc>
                  <a:txBody>
                    <a:bodyPr/>
                    <a:lstStyle/>
                    <a:p>
                      <a:r>
                        <a:rPr lang="en-GB" dirty="0"/>
                        <a:t>Date</a:t>
                      </a:r>
                    </a:p>
                  </a:txBody>
                  <a:tcPr/>
                </a:tc>
                <a:tc>
                  <a:txBody>
                    <a:bodyPr/>
                    <a:lstStyle/>
                    <a:p>
                      <a:r>
                        <a:rPr lang="en-GB" dirty="0"/>
                        <a:t>Renew</a:t>
                      </a:r>
                    </a:p>
                  </a:txBody>
                  <a:tcPr/>
                </a:tc>
                <a:extLst>
                  <a:ext uri="{0D108BD9-81ED-4DB2-BD59-A6C34878D82A}">
                    <a16:rowId xmlns:a16="http://schemas.microsoft.com/office/drawing/2014/main" val="4137631760"/>
                  </a:ext>
                </a:extLst>
              </a:tr>
              <a:tr h="370840">
                <a:tc>
                  <a:txBody>
                    <a:bodyPr/>
                    <a:lstStyle/>
                    <a:p>
                      <a:r>
                        <a:rPr lang="en-GB" dirty="0"/>
                        <a:t>1</a:t>
                      </a:r>
                    </a:p>
                  </a:txBody>
                  <a:tcPr/>
                </a:tc>
                <a:tc>
                  <a:txBody>
                    <a:bodyPr/>
                    <a:lstStyle/>
                    <a:p>
                      <a:r>
                        <a:rPr lang="en-GB" dirty="0"/>
                        <a:t>Dongford International</a:t>
                      </a:r>
                    </a:p>
                  </a:txBody>
                  <a:tcPr/>
                </a:tc>
                <a:tc>
                  <a:txBody>
                    <a:bodyPr/>
                    <a:lstStyle/>
                    <a:p>
                      <a:r>
                        <a:rPr lang="en-GB" dirty="0"/>
                        <a:t>USA</a:t>
                      </a:r>
                    </a:p>
                  </a:txBody>
                  <a:tcPr/>
                </a:tc>
                <a:tc>
                  <a:txBody>
                    <a:bodyPr/>
                    <a:lstStyle/>
                    <a:p>
                      <a:r>
                        <a:rPr lang="en-GB" dirty="0"/>
                        <a:t>New York</a:t>
                      </a:r>
                    </a:p>
                  </a:txBody>
                  <a:tcPr/>
                </a:tc>
                <a:tc>
                  <a:txBody>
                    <a:bodyPr/>
                    <a:lstStyle/>
                    <a:p>
                      <a:r>
                        <a:rPr lang="en-GB" dirty="0"/>
                        <a:t>13.09.2018</a:t>
                      </a:r>
                    </a:p>
                  </a:txBody>
                  <a:tcPr/>
                </a:tc>
                <a:tc>
                  <a:txBody>
                    <a:bodyPr/>
                    <a:lstStyle/>
                    <a:p>
                      <a:r>
                        <a:rPr lang="en-GB" dirty="0"/>
                        <a:t>Y</a:t>
                      </a:r>
                    </a:p>
                  </a:txBody>
                  <a:tcPr/>
                </a:tc>
                <a:extLst>
                  <a:ext uri="{0D108BD9-81ED-4DB2-BD59-A6C34878D82A}">
                    <a16:rowId xmlns:a16="http://schemas.microsoft.com/office/drawing/2014/main" val="1073751956"/>
                  </a:ext>
                </a:extLst>
              </a:tr>
              <a:tr h="370840">
                <a:tc>
                  <a:txBody>
                    <a:bodyPr/>
                    <a:lstStyle/>
                    <a:p>
                      <a:r>
                        <a:rPr lang="en-GB" dirty="0"/>
                        <a:t>2</a:t>
                      </a:r>
                    </a:p>
                  </a:txBody>
                  <a:tcPr/>
                </a:tc>
                <a:tc>
                  <a:txBody>
                    <a:bodyPr/>
                    <a:lstStyle/>
                    <a:p>
                      <a:r>
                        <a:rPr lang="en-GB" dirty="0"/>
                        <a:t>Stateford Co.</a:t>
                      </a:r>
                    </a:p>
                  </a:txBody>
                  <a:tcPr/>
                </a:tc>
                <a:tc>
                  <a:txBody>
                    <a:bodyPr/>
                    <a:lstStyle/>
                    <a:p>
                      <a:r>
                        <a:rPr lang="en-GB" dirty="0"/>
                        <a:t>France</a:t>
                      </a:r>
                    </a:p>
                  </a:txBody>
                  <a:tcPr/>
                </a:tc>
                <a:tc>
                  <a:txBody>
                    <a:bodyPr/>
                    <a:lstStyle/>
                    <a:p>
                      <a:r>
                        <a:rPr lang="en-GB" dirty="0"/>
                        <a:t>Paris</a:t>
                      </a:r>
                    </a:p>
                  </a:txBody>
                  <a:tcPr/>
                </a:tc>
                <a:tc>
                  <a:txBody>
                    <a:bodyPr/>
                    <a:lstStyle/>
                    <a:p>
                      <a:r>
                        <a:rPr lang="en-GB" dirty="0"/>
                        <a:t>14.11.2000</a:t>
                      </a:r>
                    </a:p>
                  </a:txBody>
                  <a:tcPr/>
                </a:tc>
                <a:tc>
                  <a:txBody>
                    <a:bodyPr/>
                    <a:lstStyle/>
                    <a:p>
                      <a:r>
                        <a:rPr lang="en-GB" dirty="0"/>
                        <a:t>Y</a:t>
                      </a:r>
                    </a:p>
                  </a:txBody>
                  <a:tcPr/>
                </a:tc>
                <a:extLst>
                  <a:ext uri="{0D108BD9-81ED-4DB2-BD59-A6C34878D82A}">
                    <a16:rowId xmlns:a16="http://schemas.microsoft.com/office/drawing/2014/main" val="2555284218"/>
                  </a:ext>
                </a:extLst>
              </a:tr>
              <a:tr h="370840">
                <a:tc>
                  <a:txBody>
                    <a:bodyPr/>
                    <a:lstStyle/>
                    <a:p>
                      <a:r>
                        <a:rPr lang="en-GB" dirty="0"/>
                        <a:t>3</a:t>
                      </a:r>
                    </a:p>
                  </a:txBody>
                  <a:tcPr/>
                </a:tc>
                <a:tc>
                  <a:txBody>
                    <a:bodyPr/>
                    <a:lstStyle/>
                    <a:p>
                      <a:r>
                        <a:rPr lang="en-GB" dirty="0"/>
                        <a:t>Standard Ltd.</a:t>
                      </a:r>
                    </a:p>
                  </a:txBody>
                  <a:tcPr/>
                </a:tc>
                <a:tc>
                  <a:txBody>
                    <a:bodyPr/>
                    <a:lstStyle/>
                    <a:p>
                      <a:r>
                        <a:rPr lang="en-GB" dirty="0"/>
                        <a:t>USA</a:t>
                      </a:r>
                    </a:p>
                  </a:txBody>
                  <a:tcPr/>
                </a:tc>
                <a:tc>
                  <a:txBody>
                    <a:bodyPr/>
                    <a:lstStyle/>
                    <a:p>
                      <a:r>
                        <a:rPr lang="en-GB" dirty="0"/>
                        <a:t>San Francisco</a:t>
                      </a:r>
                    </a:p>
                  </a:txBody>
                  <a:tcPr/>
                </a:tc>
                <a:tc>
                  <a:txBody>
                    <a:bodyPr/>
                    <a:lstStyle/>
                    <a:p>
                      <a:r>
                        <a:rPr lang="en-GB" dirty="0"/>
                        <a:t>21.03.2007</a:t>
                      </a:r>
                    </a:p>
                  </a:txBody>
                  <a:tcPr/>
                </a:tc>
                <a:tc>
                  <a:txBody>
                    <a:bodyPr/>
                    <a:lstStyle/>
                    <a:p>
                      <a:r>
                        <a:rPr lang="en-GB" dirty="0"/>
                        <a:t>N</a:t>
                      </a:r>
                    </a:p>
                  </a:txBody>
                  <a:tcPr/>
                </a:tc>
                <a:extLst>
                  <a:ext uri="{0D108BD9-81ED-4DB2-BD59-A6C34878D82A}">
                    <a16:rowId xmlns:a16="http://schemas.microsoft.com/office/drawing/2014/main" val="4141681689"/>
                  </a:ext>
                </a:extLst>
              </a:tr>
              <a:tr h="370840">
                <a:tc>
                  <a:txBody>
                    <a:bodyPr/>
                    <a:lstStyle/>
                    <a:p>
                      <a:r>
                        <a:rPr lang="en-GB" dirty="0"/>
                        <a:t>4</a:t>
                      </a:r>
                    </a:p>
                  </a:txBody>
                  <a:tcPr/>
                </a:tc>
                <a:tc>
                  <a:txBody>
                    <a:bodyPr/>
                    <a:lstStyle/>
                    <a:p>
                      <a:r>
                        <a:rPr lang="en-GB" dirty="0"/>
                        <a:t>Nardis</a:t>
                      </a:r>
                    </a:p>
                  </a:txBody>
                  <a:tcPr/>
                </a:tc>
                <a:tc>
                  <a:txBody>
                    <a:bodyPr/>
                    <a:lstStyle/>
                    <a:p>
                      <a:r>
                        <a:rPr lang="en-GB" dirty="0"/>
                        <a:t>Japan</a:t>
                      </a:r>
                    </a:p>
                  </a:txBody>
                  <a:tcPr/>
                </a:tc>
                <a:tc>
                  <a:txBody>
                    <a:bodyPr/>
                    <a:lstStyle/>
                    <a:p>
                      <a:r>
                        <a:rPr lang="en-GB" dirty="0"/>
                        <a:t>Tokyo</a:t>
                      </a:r>
                    </a:p>
                  </a:txBody>
                  <a:tcPr/>
                </a:tc>
                <a:tc>
                  <a:txBody>
                    <a:bodyPr/>
                    <a:lstStyle/>
                    <a:p>
                      <a:r>
                        <a:rPr lang="en-GB" dirty="0"/>
                        <a:t>30.05.2012</a:t>
                      </a:r>
                    </a:p>
                  </a:txBody>
                  <a:tcPr/>
                </a:tc>
                <a:tc>
                  <a:txBody>
                    <a:bodyPr/>
                    <a:lstStyle/>
                    <a:p>
                      <a:r>
                        <a:rPr lang="en-GB" dirty="0"/>
                        <a:t>Y</a:t>
                      </a:r>
                    </a:p>
                  </a:txBody>
                  <a:tcPr/>
                </a:tc>
                <a:extLst>
                  <a:ext uri="{0D108BD9-81ED-4DB2-BD59-A6C34878D82A}">
                    <a16:rowId xmlns:a16="http://schemas.microsoft.com/office/drawing/2014/main" val="3473665056"/>
                  </a:ext>
                </a:extLst>
              </a:tr>
              <a:tr h="370840">
                <a:tc>
                  <a:txBody>
                    <a:bodyPr/>
                    <a:lstStyle/>
                    <a:p>
                      <a:r>
                        <a:rPr lang="en-GB" dirty="0"/>
                        <a:t>5</a:t>
                      </a:r>
                    </a:p>
                  </a:txBody>
                  <a:tcPr/>
                </a:tc>
                <a:tc>
                  <a:txBody>
                    <a:bodyPr/>
                    <a:lstStyle/>
                    <a:p>
                      <a:r>
                        <a:rPr lang="en-GB" dirty="0"/>
                        <a:t>Together Ltd.</a:t>
                      </a:r>
                    </a:p>
                  </a:txBody>
                  <a:tcPr/>
                </a:tc>
                <a:tc>
                  <a:txBody>
                    <a:bodyPr/>
                    <a:lstStyle/>
                    <a:p>
                      <a:r>
                        <a:rPr lang="en-GB" dirty="0"/>
                        <a:t>USA</a:t>
                      </a:r>
                    </a:p>
                  </a:txBody>
                  <a:tcPr/>
                </a:tc>
                <a:tc>
                  <a:txBody>
                    <a:bodyPr/>
                    <a:lstStyle/>
                    <a:p>
                      <a:r>
                        <a:rPr lang="en-GB" dirty="0"/>
                        <a:t>New York</a:t>
                      </a:r>
                    </a:p>
                  </a:txBody>
                  <a:tcPr/>
                </a:tc>
                <a:tc>
                  <a:txBody>
                    <a:bodyPr/>
                    <a:lstStyle/>
                    <a:p>
                      <a:r>
                        <a:rPr lang="en-GB" dirty="0"/>
                        <a:t>01.04.1998</a:t>
                      </a:r>
                    </a:p>
                  </a:txBody>
                  <a:tcPr/>
                </a:tc>
                <a:tc>
                  <a:txBody>
                    <a:bodyPr/>
                    <a:lstStyle/>
                    <a:p>
                      <a:r>
                        <a:rPr lang="en-GB" dirty="0"/>
                        <a:t>N</a:t>
                      </a:r>
                    </a:p>
                  </a:txBody>
                  <a:tcPr/>
                </a:tc>
                <a:extLst>
                  <a:ext uri="{0D108BD9-81ED-4DB2-BD59-A6C34878D82A}">
                    <a16:rowId xmlns:a16="http://schemas.microsoft.com/office/drawing/2014/main" val="3608053961"/>
                  </a:ext>
                </a:extLst>
              </a:tr>
              <a:tr h="370840">
                <a:tc>
                  <a:txBody>
                    <a:bodyPr/>
                    <a:lstStyle/>
                    <a:p>
                      <a:r>
                        <a:rPr lang="en-GB" dirty="0"/>
                        <a:t>6</a:t>
                      </a:r>
                    </a:p>
                  </a:txBody>
                  <a:tcPr/>
                </a:tc>
                <a:tc>
                  <a:txBody>
                    <a:bodyPr/>
                    <a:lstStyle/>
                    <a:p>
                      <a:r>
                        <a:rPr lang="en-GB" dirty="0"/>
                        <a:t>Nori</a:t>
                      </a:r>
                    </a:p>
                  </a:txBody>
                  <a:tcPr/>
                </a:tc>
                <a:tc>
                  <a:txBody>
                    <a:bodyPr/>
                    <a:lstStyle/>
                    <a:p>
                      <a:r>
                        <a:rPr lang="en-GB" dirty="0"/>
                        <a:t>Japan</a:t>
                      </a:r>
                    </a:p>
                  </a:txBody>
                  <a:tcPr/>
                </a:tc>
                <a:tc>
                  <a:txBody>
                    <a:bodyPr/>
                    <a:lstStyle/>
                    <a:p>
                      <a:r>
                        <a:rPr lang="en-GB" dirty="0"/>
                        <a:t>Tokyo</a:t>
                      </a:r>
                    </a:p>
                  </a:txBody>
                  <a:tcPr/>
                </a:tc>
                <a:tc>
                  <a:txBody>
                    <a:bodyPr/>
                    <a:lstStyle/>
                    <a:p>
                      <a:r>
                        <a:rPr lang="en-GB" dirty="0"/>
                        <a:t>07.07.2005</a:t>
                      </a:r>
                    </a:p>
                  </a:txBody>
                  <a:tcPr/>
                </a:tc>
                <a:tc>
                  <a:txBody>
                    <a:bodyPr/>
                    <a:lstStyle/>
                    <a:p>
                      <a:r>
                        <a:rPr lang="en-GB" dirty="0"/>
                        <a:t>Y</a:t>
                      </a:r>
                    </a:p>
                  </a:txBody>
                  <a:tcPr/>
                </a:tc>
                <a:extLst>
                  <a:ext uri="{0D108BD9-81ED-4DB2-BD59-A6C34878D82A}">
                    <a16:rowId xmlns:a16="http://schemas.microsoft.com/office/drawing/2014/main" val="2474386657"/>
                  </a:ext>
                </a:extLst>
              </a:tr>
              <a:tr h="370840">
                <a:tc>
                  <a:txBody>
                    <a:bodyPr/>
                    <a:lstStyle/>
                    <a:p>
                      <a:r>
                        <a:rPr lang="en-GB" dirty="0"/>
                        <a:t>7</a:t>
                      </a:r>
                    </a:p>
                  </a:txBody>
                  <a:tcPr/>
                </a:tc>
                <a:tc>
                  <a:txBody>
                    <a:bodyPr/>
                    <a:lstStyle/>
                    <a:p>
                      <a:r>
                        <a:rPr lang="en-GB" dirty="0"/>
                        <a:t>Intersec Co.</a:t>
                      </a:r>
                    </a:p>
                  </a:txBody>
                  <a:tcPr/>
                </a:tc>
                <a:tc>
                  <a:txBody>
                    <a:bodyPr/>
                    <a:lstStyle/>
                    <a:p>
                      <a:r>
                        <a:rPr lang="en-GB" dirty="0"/>
                        <a:t>Germany</a:t>
                      </a:r>
                    </a:p>
                  </a:txBody>
                  <a:tcPr/>
                </a:tc>
                <a:tc>
                  <a:txBody>
                    <a:bodyPr/>
                    <a:lstStyle/>
                    <a:p>
                      <a:r>
                        <a:rPr lang="en-GB" dirty="0"/>
                        <a:t>Berlin</a:t>
                      </a:r>
                    </a:p>
                  </a:txBody>
                  <a:tcPr/>
                </a:tc>
                <a:tc>
                  <a:txBody>
                    <a:bodyPr/>
                    <a:lstStyle/>
                    <a:p>
                      <a:r>
                        <a:rPr lang="en-GB" dirty="0"/>
                        <a:t>15.11.2020</a:t>
                      </a:r>
                    </a:p>
                  </a:txBody>
                  <a:tcPr/>
                </a:tc>
                <a:tc>
                  <a:txBody>
                    <a:bodyPr/>
                    <a:lstStyle/>
                    <a:p>
                      <a:r>
                        <a:rPr lang="en-GB" dirty="0"/>
                        <a:t>Y</a:t>
                      </a:r>
                    </a:p>
                  </a:txBody>
                  <a:tcPr/>
                </a:tc>
                <a:extLst>
                  <a:ext uri="{0D108BD9-81ED-4DB2-BD59-A6C34878D82A}">
                    <a16:rowId xmlns:a16="http://schemas.microsoft.com/office/drawing/2014/main" val="1146906907"/>
                  </a:ext>
                </a:extLst>
              </a:tr>
            </a:tbl>
          </a:graphicData>
        </a:graphic>
      </p:graphicFrame>
      <p:sp>
        <p:nvSpPr>
          <p:cNvPr id="4" name="Rectangle 3">
            <a:extLst>
              <a:ext uri="{FF2B5EF4-FFF2-40B4-BE49-F238E27FC236}">
                <a16:creationId xmlns:a16="http://schemas.microsoft.com/office/drawing/2014/main" id="{4D1EFA88-87EF-5ACA-4560-BC41652F8275}"/>
              </a:ext>
            </a:extLst>
          </p:cNvPr>
          <p:cNvSpPr/>
          <p:nvPr/>
        </p:nvSpPr>
        <p:spPr>
          <a:xfrm>
            <a:off x="1364582" y="2719778"/>
            <a:ext cx="1116953" cy="375552"/>
          </a:xfrm>
          <a:prstGeom prst="rect">
            <a:avLst/>
          </a:prstGeom>
        </p:spPr>
        <p:txBody>
          <a:bodyPr wrap="square">
            <a:spAutoFit/>
          </a:bodyPr>
          <a:lstStyle/>
          <a:p>
            <a:pPr>
              <a:lnSpc>
                <a:spcPct val="107000"/>
              </a:lnSpc>
              <a:spcAft>
                <a:spcPts val="800"/>
              </a:spcAft>
            </a:pPr>
            <a:r>
              <a:rPr lang="en-GB" b="1" dirty="0">
                <a:latin typeface="Calibri" panose="020F0502020204030204" pitchFamily="34" charset="0"/>
                <a:ea typeface="Calibri" panose="020F0502020204030204" pitchFamily="34" charset="0"/>
                <a:cs typeface="Times New Roman" panose="02020603050405020304" pitchFamily="18" charset="0"/>
              </a:rPr>
              <a:t>ClientsTbl</a:t>
            </a:r>
          </a:p>
        </p:txBody>
      </p:sp>
      <p:grpSp>
        <p:nvGrpSpPr>
          <p:cNvPr id="10" name="Group 9">
            <a:extLst>
              <a:ext uri="{FF2B5EF4-FFF2-40B4-BE49-F238E27FC236}">
                <a16:creationId xmlns:a16="http://schemas.microsoft.com/office/drawing/2014/main" id="{D6B0AECB-108A-F440-3F1B-F73507604FC6}"/>
              </a:ext>
            </a:extLst>
          </p:cNvPr>
          <p:cNvGrpSpPr/>
          <p:nvPr/>
        </p:nvGrpSpPr>
        <p:grpSpPr>
          <a:xfrm>
            <a:off x="1210234" y="957314"/>
            <a:ext cx="9789459" cy="5291086"/>
            <a:chOff x="1210234" y="957314"/>
            <a:chExt cx="9789459" cy="5291086"/>
          </a:xfrm>
        </p:grpSpPr>
        <p:sp>
          <p:nvSpPr>
            <p:cNvPr id="6" name="Rectangle: Rounded Corners 5">
              <a:extLst>
                <a:ext uri="{FF2B5EF4-FFF2-40B4-BE49-F238E27FC236}">
                  <a16:creationId xmlns:a16="http://schemas.microsoft.com/office/drawing/2014/main" id="{F11E5CF8-98AE-EBFF-34A1-488F43DB5E2E}"/>
                </a:ext>
              </a:extLst>
            </p:cNvPr>
            <p:cNvSpPr/>
            <p:nvPr/>
          </p:nvSpPr>
          <p:spPr>
            <a:xfrm>
              <a:off x="1210234" y="2719778"/>
              <a:ext cx="9789459" cy="3528622"/>
            </a:xfrm>
            <a:prstGeom prst="roundRect">
              <a:avLst>
                <a:gd name="adj" fmla="val 3456"/>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Rounded Corners 8">
              <a:extLst>
                <a:ext uri="{FF2B5EF4-FFF2-40B4-BE49-F238E27FC236}">
                  <a16:creationId xmlns:a16="http://schemas.microsoft.com/office/drawing/2014/main" id="{88CB79B4-62A7-B1D8-2AB1-123EA759CAFF}"/>
                </a:ext>
              </a:extLst>
            </p:cNvPr>
            <p:cNvSpPr/>
            <p:nvPr/>
          </p:nvSpPr>
          <p:spPr>
            <a:xfrm>
              <a:off x="5011270" y="957314"/>
              <a:ext cx="645458" cy="310891"/>
            </a:xfrm>
            <a:prstGeom prst="roundRect">
              <a:avLst/>
            </a:prstGeom>
            <a:solidFill>
              <a:srgbClr val="C00000">
                <a:alpha val="20000"/>
              </a:srgbClr>
            </a:solid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3677870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F34D69E-F284-4EF1-8ABC-9556CC80091B}"/>
              </a:ext>
            </a:extLst>
          </p:cNvPr>
          <p:cNvSpPr/>
          <p:nvPr/>
        </p:nvSpPr>
        <p:spPr>
          <a:xfrm>
            <a:off x="176565" y="523174"/>
            <a:ext cx="2376035" cy="470000"/>
          </a:xfrm>
          <a:prstGeom prst="rect">
            <a:avLst/>
          </a:prstGeom>
        </p:spPr>
        <p:txBody>
          <a:bodyPr wrap="non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Flat-file database</a:t>
            </a:r>
          </a:p>
        </p:txBody>
      </p:sp>
      <p:sp>
        <p:nvSpPr>
          <p:cNvPr id="2" name="Rectangle 1">
            <a:extLst>
              <a:ext uri="{FF2B5EF4-FFF2-40B4-BE49-F238E27FC236}">
                <a16:creationId xmlns:a16="http://schemas.microsoft.com/office/drawing/2014/main" id="{C1CE881F-A1C7-B410-D7D8-99AD1895D468}"/>
              </a:ext>
            </a:extLst>
          </p:cNvPr>
          <p:cNvSpPr/>
          <p:nvPr/>
        </p:nvSpPr>
        <p:spPr>
          <a:xfrm>
            <a:off x="176564" y="993174"/>
            <a:ext cx="11498757" cy="774507"/>
          </a:xfrm>
          <a:prstGeom prst="rect">
            <a:avLst/>
          </a:prstGeom>
        </p:spPr>
        <p:txBody>
          <a:bodyPr wrap="square">
            <a:spAutoFit/>
          </a:bodyPr>
          <a:lstStyle/>
          <a:p>
            <a:pPr>
              <a:lnSpc>
                <a:spcPct val="107000"/>
              </a:lnSpc>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A </a:t>
            </a:r>
            <a:r>
              <a:rPr lang="en-GB" b="1" dirty="0">
                <a:latin typeface="Calibri" panose="020F0502020204030204" pitchFamily="34" charset="0"/>
                <a:ea typeface="Calibri" panose="020F0502020204030204" pitchFamily="34" charset="0"/>
                <a:cs typeface="Times New Roman" panose="02020603050405020304" pitchFamily="18" charset="0"/>
              </a:rPr>
              <a:t>flat-file database</a:t>
            </a:r>
            <a:r>
              <a:rPr lang="en-GB" dirty="0">
                <a:latin typeface="Calibri" panose="020F0502020204030204" pitchFamily="34" charset="0"/>
                <a:ea typeface="Calibri" panose="020F0502020204030204" pitchFamily="34" charset="0"/>
                <a:cs typeface="Times New Roman" panose="02020603050405020304" pitchFamily="18" charset="0"/>
              </a:rPr>
              <a:t> consists of one or more </a:t>
            </a:r>
            <a:r>
              <a:rPr lang="en-GB" b="1" dirty="0">
                <a:latin typeface="Calibri" panose="020F0502020204030204" pitchFamily="34" charset="0"/>
                <a:ea typeface="Calibri" panose="020F0502020204030204" pitchFamily="34" charset="0"/>
                <a:cs typeface="Times New Roman" panose="02020603050405020304" pitchFamily="18" charset="0"/>
              </a:rPr>
              <a:t>tables</a:t>
            </a:r>
            <a:r>
              <a:rPr lang="en-GB" dirty="0">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Each </a:t>
            </a:r>
            <a:r>
              <a:rPr lang="en-GB" b="1" dirty="0">
                <a:latin typeface="Calibri" panose="020F0502020204030204" pitchFamily="34" charset="0"/>
                <a:ea typeface="Calibri" panose="020F0502020204030204" pitchFamily="34" charset="0"/>
                <a:cs typeface="Times New Roman" panose="02020603050405020304" pitchFamily="18" charset="0"/>
              </a:rPr>
              <a:t>table</a:t>
            </a:r>
            <a:r>
              <a:rPr lang="en-GB" dirty="0">
                <a:latin typeface="Calibri" panose="020F0502020204030204" pitchFamily="34" charset="0"/>
                <a:ea typeface="Calibri" panose="020F0502020204030204" pitchFamily="34" charset="0"/>
                <a:cs typeface="Times New Roman" panose="02020603050405020304" pitchFamily="18" charset="0"/>
              </a:rPr>
              <a:t> consists of many separate </a:t>
            </a:r>
            <a:r>
              <a:rPr lang="en-GB" b="1" dirty="0">
                <a:latin typeface="Calibri" panose="020F0502020204030204" pitchFamily="34" charset="0"/>
                <a:ea typeface="Calibri" panose="020F0502020204030204" pitchFamily="34" charset="0"/>
                <a:cs typeface="Times New Roman" panose="02020603050405020304" pitchFamily="18" charset="0"/>
              </a:rPr>
              <a:t>records</a:t>
            </a:r>
            <a:r>
              <a:rPr lang="en-GB" dirty="0">
                <a:latin typeface="Calibri" panose="020F0502020204030204" pitchFamily="34" charset="0"/>
                <a:ea typeface="Calibri" panose="020F0502020204030204" pitchFamily="34" charset="0"/>
                <a:cs typeface="Times New Roman" panose="02020603050405020304" pitchFamily="18" charset="0"/>
              </a:rPr>
              <a:t> (rows). </a:t>
            </a:r>
            <a:r>
              <a:rPr lang="en-GB" b="1" dirty="0">
                <a:latin typeface="Calibri" panose="020F0502020204030204" pitchFamily="34" charset="0"/>
                <a:ea typeface="Calibri" panose="020F0502020204030204" pitchFamily="34" charset="0"/>
                <a:cs typeface="Times New Roman" panose="02020603050405020304" pitchFamily="18" charset="0"/>
              </a:rPr>
              <a:t>Records</a:t>
            </a:r>
            <a:r>
              <a:rPr lang="en-GB" dirty="0">
                <a:latin typeface="Calibri" panose="020F0502020204030204" pitchFamily="34" charset="0"/>
                <a:ea typeface="Calibri" panose="020F0502020204030204" pitchFamily="34" charset="0"/>
                <a:cs typeface="Times New Roman" panose="02020603050405020304" pitchFamily="18" charset="0"/>
              </a:rPr>
              <a:t> are identical in structure, though their contents will vary.</a:t>
            </a:r>
          </a:p>
        </p:txBody>
      </p:sp>
      <p:graphicFrame>
        <p:nvGraphicFramePr>
          <p:cNvPr id="3" name="Table 3">
            <a:extLst>
              <a:ext uri="{FF2B5EF4-FFF2-40B4-BE49-F238E27FC236}">
                <a16:creationId xmlns:a16="http://schemas.microsoft.com/office/drawing/2014/main" id="{B5D37DB4-B07F-FB0A-0898-F69B62EC9E42}"/>
              </a:ext>
            </a:extLst>
          </p:cNvPr>
          <p:cNvGraphicFramePr>
            <a:graphicFrameLocks noGrp="1"/>
          </p:cNvGraphicFramePr>
          <p:nvPr/>
        </p:nvGraphicFramePr>
        <p:xfrm>
          <a:off x="1374587" y="3095330"/>
          <a:ext cx="9442825" cy="2966720"/>
        </p:xfrm>
        <a:graphic>
          <a:graphicData uri="http://schemas.openxmlformats.org/drawingml/2006/table">
            <a:tbl>
              <a:tblPr firstRow="1" bandRow="1">
                <a:tableStyleId>{21E4AEA4-8DFA-4A89-87EB-49C32662AFE0}</a:tableStyleId>
              </a:tblPr>
              <a:tblGrid>
                <a:gridCol w="728061">
                  <a:extLst>
                    <a:ext uri="{9D8B030D-6E8A-4147-A177-3AD203B41FA5}">
                      <a16:colId xmlns:a16="http://schemas.microsoft.com/office/drawing/2014/main" val="3996809463"/>
                    </a:ext>
                  </a:extLst>
                </a:gridCol>
                <a:gridCol w="2624491">
                  <a:extLst>
                    <a:ext uri="{9D8B030D-6E8A-4147-A177-3AD203B41FA5}">
                      <a16:colId xmlns:a16="http://schemas.microsoft.com/office/drawing/2014/main" val="3000222899"/>
                    </a:ext>
                  </a:extLst>
                </a:gridCol>
                <a:gridCol w="1518271">
                  <a:extLst>
                    <a:ext uri="{9D8B030D-6E8A-4147-A177-3AD203B41FA5}">
                      <a16:colId xmlns:a16="http://schemas.microsoft.com/office/drawing/2014/main" val="870613421"/>
                    </a:ext>
                  </a:extLst>
                </a:gridCol>
                <a:gridCol w="1810871">
                  <a:extLst>
                    <a:ext uri="{9D8B030D-6E8A-4147-A177-3AD203B41FA5}">
                      <a16:colId xmlns:a16="http://schemas.microsoft.com/office/drawing/2014/main" val="725307633"/>
                    </a:ext>
                  </a:extLst>
                </a:gridCol>
                <a:gridCol w="1855694">
                  <a:extLst>
                    <a:ext uri="{9D8B030D-6E8A-4147-A177-3AD203B41FA5}">
                      <a16:colId xmlns:a16="http://schemas.microsoft.com/office/drawing/2014/main" val="1372900861"/>
                    </a:ext>
                  </a:extLst>
                </a:gridCol>
                <a:gridCol w="905437">
                  <a:extLst>
                    <a:ext uri="{9D8B030D-6E8A-4147-A177-3AD203B41FA5}">
                      <a16:colId xmlns:a16="http://schemas.microsoft.com/office/drawing/2014/main" val="1843823703"/>
                    </a:ext>
                  </a:extLst>
                </a:gridCol>
              </a:tblGrid>
              <a:tr h="370840">
                <a:tc>
                  <a:txBody>
                    <a:bodyPr/>
                    <a:lstStyle/>
                    <a:p>
                      <a:r>
                        <a:rPr lang="en-GB" dirty="0"/>
                        <a:t>ID</a:t>
                      </a:r>
                    </a:p>
                  </a:txBody>
                  <a:tcPr/>
                </a:tc>
                <a:tc>
                  <a:txBody>
                    <a:bodyPr/>
                    <a:lstStyle/>
                    <a:p>
                      <a:r>
                        <a:rPr lang="en-GB" dirty="0"/>
                        <a:t>Customer</a:t>
                      </a:r>
                    </a:p>
                  </a:txBody>
                  <a:tcPr/>
                </a:tc>
                <a:tc>
                  <a:txBody>
                    <a:bodyPr/>
                    <a:lstStyle/>
                    <a:p>
                      <a:r>
                        <a:rPr lang="en-GB" dirty="0"/>
                        <a:t>Country</a:t>
                      </a:r>
                    </a:p>
                  </a:txBody>
                  <a:tcPr/>
                </a:tc>
                <a:tc>
                  <a:txBody>
                    <a:bodyPr/>
                    <a:lstStyle/>
                    <a:p>
                      <a:r>
                        <a:rPr lang="en-GB" dirty="0"/>
                        <a:t>City</a:t>
                      </a:r>
                    </a:p>
                  </a:txBody>
                  <a:tcPr/>
                </a:tc>
                <a:tc>
                  <a:txBody>
                    <a:bodyPr/>
                    <a:lstStyle/>
                    <a:p>
                      <a:r>
                        <a:rPr lang="en-GB" dirty="0"/>
                        <a:t>Date</a:t>
                      </a:r>
                    </a:p>
                  </a:txBody>
                  <a:tcPr/>
                </a:tc>
                <a:tc>
                  <a:txBody>
                    <a:bodyPr/>
                    <a:lstStyle/>
                    <a:p>
                      <a:r>
                        <a:rPr lang="en-GB" dirty="0"/>
                        <a:t>Renew</a:t>
                      </a:r>
                    </a:p>
                  </a:txBody>
                  <a:tcPr/>
                </a:tc>
                <a:extLst>
                  <a:ext uri="{0D108BD9-81ED-4DB2-BD59-A6C34878D82A}">
                    <a16:rowId xmlns:a16="http://schemas.microsoft.com/office/drawing/2014/main" val="4137631760"/>
                  </a:ext>
                </a:extLst>
              </a:tr>
              <a:tr h="370840">
                <a:tc>
                  <a:txBody>
                    <a:bodyPr/>
                    <a:lstStyle/>
                    <a:p>
                      <a:r>
                        <a:rPr lang="en-GB" dirty="0"/>
                        <a:t>1</a:t>
                      </a:r>
                    </a:p>
                  </a:txBody>
                  <a:tcPr/>
                </a:tc>
                <a:tc>
                  <a:txBody>
                    <a:bodyPr/>
                    <a:lstStyle/>
                    <a:p>
                      <a:r>
                        <a:rPr lang="en-GB" dirty="0"/>
                        <a:t>Dongford International</a:t>
                      </a:r>
                    </a:p>
                  </a:txBody>
                  <a:tcPr/>
                </a:tc>
                <a:tc>
                  <a:txBody>
                    <a:bodyPr/>
                    <a:lstStyle/>
                    <a:p>
                      <a:r>
                        <a:rPr lang="en-GB" dirty="0"/>
                        <a:t>USA</a:t>
                      </a:r>
                    </a:p>
                  </a:txBody>
                  <a:tcPr/>
                </a:tc>
                <a:tc>
                  <a:txBody>
                    <a:bodyPr/>
                    <a:lstStyle/>
                    <a:p>
                      <a:r>
                        <a:rPr lang="en-GB" dirty="0"/>
                        <a:t>New York</a:t>
                      </a:r>
                    </a:p>
                  </a:txBody>
                  <a:tcPr/>
                </a:tc>
                <a:tc>
                  <a:txBody>
                    <a:bodyPr/>
                    <a:lstStyle/>
                    <a:p>
                      <a:r>
                        <a:rPr lang="en-GB" dirty="0"/>
                        <a:t>13.09.2018</a:t>
                      </a:r>
                    </a:p>
                  </a:txBody>
                  <a:tcPr/>
                </a:tc>
                <a:tc>
                  <a:txBody>
                    <a:bodyPr/>
                    <a:lstStyle/>
                    <a:p>
                      <a:r>
                        <a:rPr lang="en-GB" dirty="0"/>
                        <a:t>Y</a:t>
                      </a:r>
                    </a:p>
                  </a:txBody>
                  <a:tcPr/>
                </a:tc>
                <a:extLst>
                  <a:ext uri="{0D108BD9-81ED-4DB2-BD59-A6C34878D82A}">
                    <a16:rowId xmlns:a16="http://schemas.microsoft.com/office/drawing/2014/main" val="1073751956"/>
                  </a:ext>
                </a:extLst>
              </a:tr>
              <a:tr h="370840">
                <a:tc>
                  <a:txBody>
                    <a:bodyPr/>
                    <a:lstStyle/>
                    <a:p>
                      <a:r>
                        <a:rPr lang="en-GB" dirty="0"/>
                        <a:t>2</a:t>
                      </a:r>
                    </a:p>
                  </a:txBody>
                  <a:tcPr/>
                </a:tc>
                <a:tc>
                  <a:txBody>
                    <a:bodyPr/>
                    <a:lstStyle/>
                    <a:p>
                      <a:r>
                        <a:rPr lang="en-GB" dirty="0"/>
                        <a:t>Stateford Co.</a:t>
                      </a:r>
                    </a:p>
                  </a:txBody>
                  <a:tcPr/>
                </a:tc>
                <a:tc>
                  <a:txBody>
                    <a:bodyPr/>
                    <a:lstStyle/>
                    <a:p>
                      <a:r>
                        <a:rPr lang="en-GB" dirty="0"/>
                        <a:t>France</a:t>
                      </a:r>
                    </a:p>
                  </a:txBody>
                  <a:tcPr/>
                </a:tc>
                <a:tc>
                  <a:txBody>
                    <a:bodyPr/>
                    <a:lstStyle/>
                    <a:p>
                      <a:r>
                        <a:rPr lang="en-GB" dirty="0"/>
                        <a:t>Paris</a:t>
                      </a:r>
                    </a:p>
                  </a:txBody>
                  <a:tcPr/>
                </a:tc>
                <a:tc>
                  <a:txBody>
                    <a:bodyPr/>
                    <a:lstStyle/>
                    <a:p>
                      <a:r>
                        <a:rPr lang="en-GB" dirty="0"/>
                        <a:t>14.11.2000</a:t>
                      </a:r>
                    </a:p>
                  </a:txBody>
                  <a:tcPr/>
                </a:tc>
                <a:tc>
                  <a:txBody>
                    <a:bodyPr/>
                    <a:lstStyle/>
                    <a:p>
                      <a:r>
                        <a:rPr lang="en-GB" dirty="0"/>
                        <a:t>Y</a:t>
                      </a:r>
                    </a:p>
                  </a:txBody>
                  <a:tcPr/>
                </a:tc>
                <a:extLst>
                  <a:ext uri="{0D108BD9-81ED-4DB2-BD59-A6C34878D82A}">
                    <a16:rowId xmlns:a16="http://schemas.microsoft.com/office/drawing/2014/main" val="2555284218"/>
                  </a:ext>
                </a:extLst>
              </a:tr>
              <a:tr h="370840">
                <a:tc>
                  <a:txBody>
                    <a:bodyPr/>
                    <a:lstStyle/>
                    <a:p>
                      <a:r>
                        <a:rPr lang="en-GB" dirty="0"/>
                        <a:t>3</a:t>
                      </a:r>
                    </a:p>
                  </a:txBody>
                  <a:tcPr/>
                </a:tc>
                <a:tc>
                  <a:txBody>
                    <a:bodyPr/>
                    <a:lstStyle/>
                    <a:p>
                      <a:r>
                        <a:rPr lang="en-GB" dirty="0"/>
                        <a:t>Standard Ltd.</a:t>
                      </a:r>
                    </a:p>
                  </a:txBody>
                  <a:tcPr/>
                </a:tc>
                <a:tc>
                  <a:txBody>
                    <a:bodyPr/>
                    <a:lstStyle/>
                    <a:p>
                      <a:r>
                        <a:rPr lang="en-GB" dirty="0"/>
                        <a:t>USA</a:t>
                      </a:r>
                    </a:p>
                  </a:txBody>
                  <a:tcPr/>
                </a:tc>
                <a:tc>
                  <a:txBody>
                    <a:bodyPr/>
                    <a:lstStyle/>
                    <a:p>
                      <a:r>
                        <a:rPr lang="en-GB" dirty="0"/>
                        <a:t>San Francisco</a:t>
                      </a:r>
                    </a:p>
                  </a:txBody>
                  <a:tcPr/>
                </a:tc>
                <a:tc>
                  <a:txBody>
                    <a:bodyPr/>
                    <a:lstStyle/>
                    <a:p>
                      <a:r>
                        <a:rPr lang="en-GB" dirty="0"/>
                        <a:t>21.03.2007</a:t>
                      </a:r>
                    </a:p>
                  </a:txBody>
                  <a:tcPr/>
                </a:tc>
                <a:tc>
                  <a:txBody>
                    <a:bodyPr/>
                    <a:lstStyle/>
                    <a:p>
                      <a:r>
                        <a:rPr lang="en-GB" dirty="0"/>
                        <a:t>N</a:t>
                      </a:r>
                    </a:p>
                  </a:txBody>
                  <a:tcPr/>
                </a:tc>
                <a:extLst>
                  <a:ext uri="{0D108BD9-81ED-4DB2-BD59-A6C34878D82A}">
                    <a16:rowId xmlns:a16="http://schemas.microsoft.com/office/drawing/2014/main" val="4141681689"/>
                  </a:ext>
                </a:extLst>
              </a:tr>
              <a:tr h="370840">
                <a:tc>
                  <a:txBody>
                    <a:bodyPr/>
                    <a:lstStyle/>
                    <a:p>
                      <a:r>
                        <a:rPr lang="en-GB" dirty="0"/>
                        <a:t>4</a:t>
                      </a:r>
                    </a:p>
                  </a:txBody>
                  <a:tcPr/>
                </a:tc>
                <a:tc>
                  <a:txBody>
                    <a:bodyPr/>
                    <a:lstStyle/>
                    <a:p>
                      <a:r>
                        <a:rPr lang="en-GB" dirty="0"/>
                        <a:t>Nardis</a:t>
                      </a:r>
                    </a:p>
                  </a:txBody>
                  <a:tcPr/>
                </a:tc>
                <a:tc>
                  <a:txBody>
                    <a:bodyPr/>
                    <a:lstStyle/>
                    <a:p>
                      <a:r>
                        <a:rPr lang="en-GB" dirty="0"/>
                        <a:t>Japan</a:t>
                      </a:r>
                    </a:p>
                  </a:txBody>
                  <a:tcPr/>
                </a:tc>
                <a:tc>
                  <a:txBody>
                    <a:bodyPr/>
                    <a:lstStyle/>
                    <a:p>
                      <a:r>
                        <a:rPr lang="en-GB" dirty="0"/>
                        <a:t>Tokyo</a:t>
                      </a:r>
                    </a:p>
                  </a:txBody>
                  <a:tcPr/>
                </a:tc>
                <a:tc>
                  <a:txBody>
                    <a:bodyPr/>
                    <a:lstStyle/>
                    <a:p>
                      <a:r>
                        <a:rPr lang="en-GB" dirty="0"/>
                        <a:t>30.05.2012</a:t>
                      </a:r>
                    </a:p>
                  </a:txBody>
                  <a:tcPr/>
                </a:tc>
                <a:tc>
                  <a:txBody>
                    <a:bodyPr/>
                    <a:lstStyle/>
                    <a:p>
                      <a:r>
                        <a:rPr lang="en-GB" dirty="0"/>
                        <a:t>Y</a:t>
                      </a:r>
                    </a:p>
                  </a:txBody>
                  <a:tcPr/>
                </a:tc>
                <a:extLst>
                  <a:ext uri="{0D108BD9-81ED-4DB2-BD59-A6C34878D82A}">
                    <a16:rowId xmlns:a16="http://schemas.microsoft.com/office/drawing/2014/main" val="3473665056"/>
                  </a:ext>
                </a:extLst>
              </a:tr>
              <a:tr h="370840">
                <a:tc>
                  <a:txBody>
                    <a:bodyPr/>
                    <a:lstStyle/>
                    <a:p>
                      <a:r>
                        <a:rPr lang="en-GB" dirty="0"/>
                        <a:t>5</a:t>
                      </a:r>
                    </a:p>
                  </a:txBody>
                  <a:tcPr/>
                </a:tc>
                <a:tc>
                  <a:txBody>
                    <a:bodyPr/>
                    <a:lstStyle/>
                    <a:p>
                      <a:r>
                        <a:rPr lang="en-GB" dirty="0"/>
                        <a:t>Together Ltd.</a:t>
                      </a:r>
                    </a:p>
                  </a:txBody>
                  <a:tcPr/>
                </a:tc>
                <a:tc>
                  <a:txBody>
                    <a:bodyPr/>
                    <a:lstStyle/>
                    <a:p>
                      <a:r>
                        <a:rPr lang="en-GB" dirty="0"/>
                        <a:t>USA</a:t>
                      </a:r>
                    </a:p>
                  </a:txBody>
                  <a:tcPr/>
                </a:tc>
                <a:tc>
                  <a:txBody>
                    <a:bodyPr/>
                    <a:lstStyle/>
                    <a:p>
                      <a:r>
                        <a:rPr lang="en-GB" dirty="0"/>
                        <a:t>New York</a:t>
                      </a:r>
                    </a:p>
                  </a:txBody>
                  <a:tcPr/>
                </a:tc>
                <a:tc>
                  <a:txBody>
                    <a:bodyPr/>
                    <a:lstStyle/>
                    <a:p>
                      <a:r>
                        <a:rPr lang="en-GB" dirty="0"/>
                        <a:t>01.04.1998</a:t>
                      </a:r>
                    </a:p>
                  </a:txBody>
                  <a:tcPr/>
                </a:tc>
                <a:tc>
                  <a:txBody>
                    <a:bodyPr/>
                    <a:lstStyle/>
                    <a:p>
                      <a:r>
                        <a:rPr lang="en-GB" dirty="0"/>
                        <a:t>N</a:t>
                      </a:r>
                    </a:p>
                  </a:txBody>
                  <a:tcPr/>
                </a:tc>
                <a:extLst>
                  <a:ext uri="{0D108BD9-81ED-4DB2-BD59-A6C34878D82A}">
                    <a16:rowId xmlns:a16="http://schemas.microsoft.com/office/drawing/2014/main" val="3608053961"/>
                  </a:ext>
                </a:extLst>
              </a:tr>
              <a:tr h="370840">
                <a:tc>
                  <a:txBody>
                    <a:bodyPr/>
                    <a:lstStyle/>
                    <a:p>
                      <a:r>
                        <a:rPr lang="en-GB" dirty="0"/>
                        <a:t>6</a:t>
                      </a:r>
                    </a:p>
                  </a:txBody>
                  <a:tcPr/>
                </a:tc>
                <a:tc>
                  <a:txBody>
                    <a:bodyPr/>
                    <a:lstStyle/>
                    <a:p>
                      <a:r>
                        <a:rPr lang="en-GB" dirty="0"/>
                        <a:t>Nori</a:t>
                      </a:r>
                    </a:p>
                  </a:txBody>
                  <a:tcPr/>
                </a:tc>
                <a:tc>
                  <a:txBody>
                    <a:bodyPr/>
                    <a:lstStyle/>
                    <a:p>
                      <a:r>
                        <a:rPr lang="en-GB" dirty="0"/>
                        <a:t>Japan</a:t>
                      </a:r>
                    </a:p>
                  </a:txBody>
                  <a:tcPr/>
                </a:tc>
                <a:tc>
                  <a:txBody>
                    <a:bodyPr/>
                    <a:lstStyle/>
                    <a:p>
                      <a:r>
                        <a:rPr lang="en-GB" dirty="0"/>
                        <a:t>Tokyo</a:t>
                      </a:r>
                    </a:p>
                  </a:txBody>
                  <a:tcPr/>
                </a:tc>
                <a:tc>
                  <a:txBody>
                    <a:bodyPr/>
                    <a:lstStyle/>
                    <a:p>
                      <a:r>
                        <a:rPr lang="en-GB" dirty="0"/>
                        <a:t>07.07.2005</a:t>
                      </a:r>
                    </a:p>
                  </a:txBody>
                  <a:tcPr/>
                </a:tc>
                <a:tc>
                  <a:txBody>
                    <a:bodyPr/>
                    <a:lstStyle/>
                    <a:p>
                      <a:r>
                        <a:rPr lang="en-GB" dirty="0"/>
                        <a:t>Y</a:t>
                      </a:r>
                    </a:p>
                  </a:txBody>
                  <a:tcPr/>
                </a:tc>
                <a:extLst>
                  <a:ext uri="{0D108BD9-81ED-4DB2-BD59-A6C34878D82A}">
                    <a16:rowId xmlns:a16="http://schemas.microsoft.com/office/drawing/2014/main" val="2474386657"/>
                  </a:ext>
                </a:extLst>
              </a:tr>
              <a:tr h="370840">
                <a:tc>
                  <a:txBody>
                    <a:bodyPr/>
                    <a:lstStyle/>
                    <a:p>
                      <a:r>
                        <a:rPr lang="en-GB" dirty="0"/>
                        <a:t>7</a:t>
                      </a:r>
                    </a:p>
                  </a:txBody>
                  <a:tcPr/>
                </a:tc>
                <a:tc>
                  <a:txBody>
                    <a:bodyPr/>
                    <a:lstStyle/>
                    <a:p>
                      <a:r>
                        <a:rPr lang="en-GB" dirty="0"/>
                        <a:t>Intersec Co.</a:t>
                      </a:r>
                    </a:p>
                  </a:txBody>
                  <a:tcPr/>
                </a:tc>
                <a:tc>
                  <a:txBody>
                    <a:bodyPr/>
                    <a:lstStyle/>
                    <a:p>
                      <a:r>
                        <a:rPr lang="en-GB" dirty="0"/>
                        <a:t>Germany</a:t>
                      </a:r>
                    </a:p>
                  </a:txBody>
                  <a:tcPr/>
                </a:tc>
                <a:tc>
                  <a:txBody>
                    <a:bodyPr/>
                    <a:lstStyle/>
                    <a:p>
                      <a:r>
                        <a:rPr lang="en-GB" dirty="0"/>
                        <a:t>Berlin</a:t>
                      </a:r>
                    </a:p>
                  </a:txBody>
                  <a:tcPr/>
                </a:tc>
                <a:tc>
                  <a:txBody>
                    <a:bodyPr/>
                    <a:lstStyle/>
                    <a:p>
                      <a:r>
                        <a:rPr lang="en-GB" dirty="0"/>
                        <a:t>15.11.2020</a:t>
                      </a:r>
                    </a:p>
                  </a:txBody>
                  <a:tcPr/>
                </a:tc>
                <a:tc>
                  <a:txBody>
                    <a:bodyPr/>
                    <a:lstStyle/>
                    <a:p>
                      <a:r>
                        <a:rPr lang="en-GB" dirty="0"/>
                        <a:t>Y</a:t>
                      </a:r>
                    </a:p>
                  </a:txBody>
                  <a:tcPr/>
                </a:tc>
                <a:extLst>
                  <a:ext uri="{0D108BD9-81ED-4DB2-BD59-A6C34878D82A}">
                    <a16:rowId xmlns:a16="http://schemas.microsoft.com/office/drawing/2014/main" val="1146906907"/>
                  </a:ext>
                </a:extLst>
              </a:tr>
            </a:tbl>
          </a:graphicData>
        </a:graphic>
      </p:graphicFrame>
      <p:sp>
        <p:nvSpPr>
          <p:cNvPr id="4" name="Rectangle 3">
            <a:extLst>
              <a:ext uri="{FF2B5EF4-FFF2-40B4-BE49-F238E27FC236}">
                <a16:creationId xmlns:a16="http://schemas.microsoft.com/office/drawing/2014/main" id="{4D1EFA88-87EF-5ACA-4560-BC41652F8275}"/>
              </a:ext>
            </a:extLst>
          </p:cNvPr>
          <p:cNvSpPr/>
          <p:nvPr/>
        </p:nvSpPr>
        <p:spPr>
          <a:xfrm>
            <a:off x="1364582" y="2719778"/>
            <a:ext cx="1116953" cy="375552"/>
          </a:xfrm>
          <a:prstGeom prst="rect">
            <a:avLst/>
          </a:prstGeom>
        </p:spPr>
        <p:txBody>
          <a:bodyPr wrap="square">
            <a:spAutoFit/>
          </a:bodyPr>
          <a:lstStyle/>
          <a:p>
            <a:pPr>
              <a:lnSpc>
                <a:spcPct val="107000"/>
              </a:lnSpc>
              <a:spcAft>
                <a:spcPts val="800"/>
              </a:spcAft>
            </a:pPr>
            <a:r>
              <a:rPr lang="en-GB" b="1" dirty="0">
                <a:latin typeface="Calibri" panose="020F0502020204030204" pitchFamily="34" charset="0"/>
                <a:ea typeface="Calibri" panose="020F0502020204030204" pitchFamily="34" charset="0"/>
                <a:cs typeface="Times New Roman" panose="02020603050405020304" pitchFamily="18" charset="0"/>
              </a:rPr>
              <a:t>ClientsTbl</a:t>
            </a:r>
          </a:p>
        </p:txBody>
      </p:sp>
      <p:sp>
        <p:nvSpPr>
          <p:cNvPr id="6" name="Rectangle: Rounded Corners 5">
            <a:extLst>
              <a:ext uri="{FF2B5EF4-FFF2-40B4-BE49-F238E27FC236}">
                <a16:creationId xmlns:a16="http://schemas.microsoft.com/office/drawing/2014/main" id="{3510223C-70B8-CD00-0844-9AEACBFF1E4A}"/>
              </a:ext>
            </a:extLst>
          </p:cNvPr>
          <p:cNvSpPr/>
          <p:nvPr/>
        </p:nvSpPr>
        <p:spPr>
          <a:xfrm>
            <a:off x="1210234" y="2719778"/>
            <a:ext cx="9789459" cy="3528622"/>
          </a:xfrm>
          <a:prstGeom prst="roundRect">
            <a:avLst>
              <a:gd name="adj" fmla="val 3456"/>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Rounded Corners 7">
            <a:extLst>
              <a:ext uri="{FF2B5EF4-FFF2-40B4-BE49-F238E27FC236}">
                <a16:creationId xmlns:a16="http://schemas.microsoft.com/office/drawing/2014/main" id="{F56A79ED-F8DC-72D8-42EB-73295D2D1A7E}"/>
              </a:ext>
            </a:extLst>
          </p:cNvPr>
          <p:cNvSpPr/>
          <p:nvPr/>
        </p:nvSpPr>
        <p:spPr>
          <a:xfrm>
            <a:off x="5011270" y="957314"/>
            <a:ext cx="645458" cy="310891"/>
          </a:xfrm>
          <a:prstGeom prst="roundRect">
            <a:avLst/>
          </a:prstGeom>
          <a:solidFill>
            <a:srgbClr val="C00000">
              <a:alpha val="20000"/>
            </a:srgbClr>
          </a:solid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Rounded Corners 8">
            <a:extLst>
              <a:ext uri="{FF2B5EF4-FFF2-40B4-BE49-F238E27FC236}">
                <a16:creationId xmlns:a16="http://schemas.microsoft.com/office/drawing/2014/main" id="{5CA58EE2-642D-2D9E-BD93-68201E9F3032}"/>
              </a:ext>
            </a:extLst>
          </p:cNvPr>
          <p:cNvSpPr/>
          <p:nvPr/>
        </p:nvSpPr>
        <p:spPr>
          <a:xfrm>
            <a:off x="1041852" y="4146303"/>
            <a:ext cx="10083347" cy="506379"/>
          </a:xfrm>
          <a:prstGeom prst="roundRect">
            <a:avLst/>
          </a:prstGeom>
          <a:noFill/>
          <a:ln w="571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Rounded Corners 9">
            <a:extLst>
              <a:ext uri="{FF2B5EF4-FFF2-40B4-BE49-F238E27FC236}">
                <a16:creationId xmlns:a16="http://schemas.microsoft.com/office/drawing/2014/main" id="{2CD4BAB1-E638-34BD-DE16-E7FDA62AD1EB}"/>
              </a:ext>
            </a:extLst>
          </p:cNvPr>
          <p:cNvSpPr/>
          <p:nvPr/>
        </p:nvSpPr>
        <p:spPr>
          <a:xfrm>
            <a:off x="11319176" y="1353040"/>
            <a:ext cx="645458" cy="310891"/>
          </a:xfrm>
          <a:prstGeom prst="roundRect">
            <a:avLst/>
          </a:prstGeom>
          <a:solidFill>
            <a:schemeClr val="accent4">
              <a:alpha val="20000"/>
            </a:schemeClr>
          </a:solidFill>
          <a:ln w="571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7627707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F34D69E-F284-4EF1-8ABC-9556CC80091B}"/>
              </a:ext>
            </a:extLst>
          </p:cNvPr>
          <p:cNvSpPr/>
          <p:nvPr/>
        </p:nvSpPr>
        <p:spPr>
          <a:xfrm>
            <a:off x="176565" y="523174"/>
            <a:ext cx="2376035" cy="470000"/>
          </a:xfrm>
          <a:prstGeom prst="rect">
            <a:avLst/>
          </a:prstGeom>
        </p:spPr>
        <p:txBody>
          <a:bodyPr wrap="non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Flat-file database</a:t>
            </a:r>
          </a:p>
        </p:txBody>
      </p:sp>
      <p:sp>
        <p:nvSpPr>
          <p:cNvPr id="2" name="Rectangle 1">
            <a:extLst>
              <a:ext uri="{FF2B5EF4-FFF2-40B4-BE49-F238E27FC236}">
                <a16:creationId xmlns:a16="http://schemas.microsoft.com/office/drawing/2014/main" id="{C1CE881F-A1C7-B410-D7D8-99AD1895D468}"/>
              </a:ext>
            </a:extLst>
          </p:cNvPr>
          <p:cNvSpPr/>
          <p:nvPr/>
        </p:nvSpPr>
        <p:spPr>
          <a:xfrm>
            <a:off x="176564" y="993174"/>
            <a:ext cx="11498757" cy="1173463"/>
          </a:xfrm>
          <a:prstGeom prst="rect">
            <a:avLst/>
          </a:prstGeom>
        </p:spPr>
        <p:txBody>
          <a:bodyPr wrap="square">
            <a:spAutoFit/>
          </a:bodyPr>
          <a:lstStyle/>
          <a:p>
            <a:pPr>
              <a:lnSpc>
                <a:spcPct val="107000"/>
              </a:lnSpc>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A </a:t>
            </a:r>
            <a:r>
              <a:rPr lang="en-GB" b="1" dirty="0">
                <a:latin typeface="Calibri" panose="020F0502020204030204" pitchFamily="34" charset="0"/>
                <a:ea typeface="Calibri" panose="020F0502020204030204" pitchFamily="34" charset="0"/>
                <a:cs typeface="Times New Roman" panose="02020603050405020304" pitchFamily="18" charset="0"/>
              </a:rPr>
              <a:t>flat-file database</a:t>
            </a:r>
            <a:r>
              <a:rPr lang="en-GB" dirty="0">
                <a:latin typeface="Calibri" panose="020F0502020204030204" pitchFamily="34" charset="0"/>
                <a:ea typeface="Calibri" panose="020F0502020204030204" pitchFamily="34" charset="0"/>
                <a:cs typeface="Times New Roman" panose="02020603050405020304" pitchFamily="18" charset="0"/>
              </a:rPr>
              <a:t> consists of one or more </a:t>
            </a:r>
            <a:r>
              <a:rPr lang="en-GB" b="1" dirty="0">
                <a:latin typeface="Calibri" panose="020F0502020204030204" pitchFamily="34" charset="0"/>
                <a:ea typeface="Calibri" panose="020F0502020204030204" pitchFamily="34" charset="0"/>
                <a:cs typeface="Times New Roman" panose="02020603050405020304" pitchFamily="18" charset="0"/>
              </a:rPr>
              <a:t>tables</a:t>
            </a:r>
            <a:r>
              <a:rPr lang="en-GB" dirty="0">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Each </a:t>
            </a:r>
            <a:r>
              <a:rPr lang="en-GB" b="1" dirty="0">
                <a:latin typeface="Calibri" panose="020F0502020204030204" pitchFamily="34" charset="0"/>
                <a:ea typeface="Calibri" panose="020F0502020204030204" pitchFamily="34" charset="0"/>
                <a:cs typeface="Times New Roman" panose="02020603050405020304" pitchFamily="18" charset="0"/>
              </a:rPr>
              <a:t>table</a:t>
            </a:r>
            <a:r>
              <a:rPr lang="en-GB" dirty="0">
                <a:latin typeface="Calibri" panose="020F0502020204030204" pitchFamily="34" charset="0"/>
                <a:ea typeface="Calibri" panose="020F0502020204030204" pitchFamily="34" charset="0"/>
                <a:cs typeface="Times New Roman" panose="02020603050405020304" pitchFamily="18" charset="0"/>
              </a:rPr>
              <a:t> consists of many separate </a:t>
            </a:r>
            <a:r>
              <a:rPr lang="en-GB" b="1" dirty="0">
                <a:latin typeface="Calibri" panose="020F0502020204030204" pitchFamily="34" charset="0"/>
                <a:ea typeface="Calibri" panose="020F0502020204030204" pitchFamily="34" charset="0"/>
                <a:cs typeface="Times New Roman" panose="02020603050405020304" pitchFamily="18" charset="0"/>
              </a:rPr>
              <a:t>records</a:t>
            </a:r>
            <a:r>
              <a:rPr lang="en-GB" dirty="0">
                <a:latin typeface="Calibri" panose="020F0502020204030204" pitchFamily="34" charset="0"/>
                <a:ea typeface="Calibri" panose="020F0502020204030204" pitchFamily="34" charset="0"/>
                <a:cs typeface="Times New Roman" panose="02020603050405020304" pitchFamily="18" charset="0"/>
              </a:rPr>
              <a:t> (rows). </a:t>
            </a:r>
            <a:r>
              <a:rPr lang="en-GB" b="1" dirty="0">
                <a:latin typeface="Calibri" panose="020F0502020204030204" pitchFamily="34" charset="0"/>
                <a:ea typeface="Calibri" panose="020F0502020204030204" pitchFamily="34" charset="0"/>
                <a:cs typeface="Times New Roman" panose="02020603050405020304" pitchFamily="18" charset="0"/>
              </a:rPr>
              <a:t>Records</a:t>
            </a:r>
            <a:r>
              <a:rPr lang="en-GB" dirty="0">
                <a:latin typeface="Calibri" panose="020F0502020204030204" pitchFamily="34" charset="0"/>
                <a:ea typeface="Calibri" panose="020F0502020204030204" pitchFamily="34" charset="0"/>
                <a:cs typeface="Times New Roman" panose="02020603050405020304" pitchFamily="18" charset="0"/>
              </a:rPr>
              <a:t> are identical in structure, though their contents will vary.</a:t>
            </a:r>
          </a:p>
          <a:p>
            <a:pPr>
              <a:lnSpc>
                <a:spcPct val="107000"/>
              </a:lnSpc>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Each </a:t>
            </a:r>
            <a:r>
              <a:rPr lang="en-GB" b="1" dirty="0">
                <a:latin typeface="Calibri" panose="020F0502020204030204" pitchFamily="34" charset="0"/>
                <a:ea typeface="Calibri" panose="020F0502020204030204" pitchFamily="34" charset="0"/>
                <a:cs typeface="Times New Roman" panose="02020603050405020304" pitchFamily="18" charset="0"/>
              </a:rPr>
              <a:t>record</a:t>
            </a:r>
            <a:r>
              <a:rPr lang="en-GB" dirty="0">
                <a:latin typeface="Calibri" panose="020F0502020204030204" pitchFamily="34" charset="0"/>
                <a:ea typeface="Calibri" panose="020F0502020204030204" pitchFamily="34" charset="0"/>
                <a:cs typeface="Times New Roman" panose="02020603050405020304" pitchFamily="18" charset="0"/>
              </a:rPr>
              <a:t> consists of a number of separate </a:t>
            </a:r>
            <a:r>
              <a:rPr lang="en-GB" b="1" dirty="0">
                <a:latin typeface="Calibri" panose="020F0502020204030204" pitchFamily="34" charset="0"/>
                <a:ea typeface="Calibri" panose="020F0502020204030204" pitchFamily="34" charset="0"/>
                <a:cs typeface="Times New Roman" panose="02020603050405020304" pitchFamily="18" charset="0"/>
              </a:rPr>
              <a:t>fields</a:t>
            </a:r>
            <a:r>
              <a:rPr lang="en-GB" dirty="0">
                <a:latin typeface="Calibri" panose="020F0502020204030204" pitchFamily="34" charset="0"/>
                <a:ea typeface="Calibri" panose="020F0502020204030204" pitchFamily="34" charset="0"/>
                <a:cs typeface="Times New Roman" panose="02020603050405020304" pitchFamily="18" charset="0"/>
              </a:rPr>
              <a:t> (columns).</a:t>
            </a:r>
          </a:p>
        </p:txBody>
      </p:sp>
      <p:graphicFrame>
        <p:nvGraphicFramePr>
          <p:cNvPr id="3" name="Table 3">
            <a:extLst>
              <a:ext uri="{FF2B5EF4-FFF2-40B4-BE49-F238E27FC236}">
                <a16:creationId xmlns:a16="http://schemas.microsoft.com/office/drawing/2014/main" id="{B5D37DB4-B07F-FB0A-0898-F69B62EC9E42}"/>
              </a:ext>
            </a:extLst>
          </p:cNvPr>
          <p:cNvGraphicFramePr>
            <a:graphicFrameLocks noGrp="1"/>
          </p:cNvGraphicFramePr>
          <p:nvPr>
            <p:extLst>
              <p:ext uri="{D42A27DB-BD31-4B8C-83A1-F6EECF244321}">
                <p14:modId xmlns:p14="http://schemas.microsoft.com/office/powerpoint/2010/main" val="125903307"/>
              </p:ext>
            </p:extLst>
          </p:nvPr>
        </p:nvGraphicFramePr>
        <p:xfrm>
          <a:off x="1374587" y="3095330"/>
          <a:ext cx="9442825" cy="2966720"/>
        </p:xfrm>
        <a:graphic>
          <a:graphicData uri="http://schemas.openxmlformats.org/drawingml/2006/table">
            <a:tbl>
              <a:tblPr firstRow="1" bandRow="1">
                <a:tableStyleId>{21E4AEA4-8DFA-4A89-87EB-49C32662AFE0}</a:tableStyleId>
              </a:tblPr>
              <a:tblGrid>
                <a:gridCol w="728061">
                  <a:extLst>
                    <a:ext uri="{9D8B030D-6E8A-4147-A177-3AD203B41FA5}">
                      <a16:colId xmlns:a16="http://schemas.microsoft.com/office/drawing/2014/main" val="3996809463"/>
                    </a:ext>
                  </a:extLst>
                </a:gridCol>
                <a:gridCol w="2624491">
                  <a:extLst>
                    <a:ext uri="{9D8B030D-6E8A-4147-A177-3AD203B41FA5}">
                      <a16:colId xmlns:a16="http://schemas.microsoft.com/office/drawing/2014/main" val="3000222899"/>
                    </a:ext>
                  </a:extLst>
                </a:gridCol>
                <a:gridCol w="1518271">
                  <a:extLst>
                    <a:ext uri="{9D8B030D-6E8A-4147-A177-3AD203B41FA5}">
                      <a16:colId xmlns:a16="http://schemas.microsoft.com/office/drawing/2014/main" val="870613421"/>
                    </a:ext>
                  </a:extLst>
                </a:gridCol>
                <a:gridCol w="1810871">
                  <a:extLst>
                    <a:ext uri="{9D8B030D-6E8A-4147-A177-3AD203B41FA5}">
                      <a16:colId xmlns:a16="http://schemas.microsoft.com/office/drawing/2014/main" val="725307633"/>
                    </a:ext>
                  </a:extLst>
                </a:gridCol>
                <a:gridCol w="1855694">
                  <a:extLst>
                    <a:ext uri="{9D8B030D-6E8A-4147-A177-3AD203B41FA5}">
                      <a16:colId xmlns:a16="http://schemas.microsoft.com/office/drawing/2014/main" val="1372900861"/>
                    </a:ext>
                  </a:extLst>
                </a:gridCol>
                <a:gridCol w="905437">
                  <a:extLst>
                    <a:ext uri="{9D8B030D-6E8A-4147-A177-3AD203B41FA5}">
                      <a16:colId xmlns:a16="http://schemas.microsoft.com/office/drawing/2014/main" val="1843823703"/>
                    </a:ext>
                  </a:extLst>
                </a:gridCol>
              </a:tblGrid>
              <a:tr h="370840">
                <a:tc>
                  <a:txBody>
                    <a:bodyPr/>
                    <a:lstStyle/>
                    <a:p>
                      <a:r>
                        <a:rPr lang="en-GB" dirty="0"/>
                        <a:t>ID</a:t>
                      </a:r>
                    </a:p>
                  </a:txBody>
                  <a:tcPr/>
                </a:tc>
                <a:tc>
                  <a:txBody>
                    <a:bodyPr/>
                    <a:lstStyle/>
                    <a:p>
                      <a:r>
                        <a:rPr lang="en-GB" dirty="0"/>
                        <a:t>Customer</a:t>
                      </a:r>
                    </a:p>
                  </a:txBody>
                  <a:tcPr/>
                </a:tc>
                <a:tc>
                  <a:txBody>
                    <a:bodyPr/>
                    <a:lstStyle/>
                    <a:p>
                      <a:r>
                        <a:rPr lang="en-GB" dirty="0"/>
                        <a:t>Country</a:t>
                      </a:r>
                    </a:p>
                  </a:txBody>
                  <a:tcPr/>
                </a:tc>
                <a:tc>
                  <a:txBody>
                    <a:bodyPr/>
                    <a:lstStyle/>
                    <a:p>
                      <a:r>
                        <a:rPr lang="en-GB" dirty="0"/>
                        <a:t>City</a:t>
                      </a:r>
                    </a:p>
                  </a:txBody>
                  <a:tcPr/>
                </a:tc>
                <a:tc>
                  <a:txBody>
                    <a:bodyPr/>
                    <a:lstStyle/>
                    <a:p>
                      <a:r>
                        <a:rPr lang="en-GB" dirty="0"/>
                        <a:t>Date</a:t>
                      </a:r>
                    </a:p>
                  </a:txBody>
                  <a:tcPr/>
                </a:tc>
                <a:tc>
                  <a:txBody>
                    <a:bodyPr/>
                    <a:lstStyle/>
                    <a:p>
                      <a:r>
                        <a:rPr lang="en-GB" dirty="0"/>
                        <a:t>Renew</a:t>
                      </a:r>
                    </a:p>
                  </a:txBody>
                  <a:tcPr/>
                </a:tc>
                <a:extLst>
                  <a:ext uri="{0D108BD9-81ED-4DB2-BD59-A6C34878D82A}">
                    <a16:rowId xmlns:a16="http://schemas.microsoft.com/office/drawing/2014/main" val="4137631760"/>
                  </a:ext>
                </a:extLst>
              </a:tr>
              <a:tr h="370840">
                <a:tc>
                  <a:txBody>
                    <a:bodyPr/>
                    <a:lstStyle/>
                    <a:p>
                      <a:r>
                        <a:rPr lang="en-GB" dirty="0"/>
                        <a:t>1</a:t>
                      </a:r>
                    </a:p>
                  </a:txBody>
                  <a:tcPr/>
                </a:tc>
                <a:tc>
                  <a:txBody>
                    <a:bodyPr/>
                    <a:lstStyle/>
                    <a:p>
                      <a:r>
                        <a:rPr lang="en-GB" dirty="0"/>
                        <a:t>Dongford International</a:t>
                      </a:r>
                    </a:p>
                  </a:txBody>
                  <a:tcPr/>
                </a:tc>
                <a:tc>
                  <a:txBody>
                    <a:bodyPr/>
                    <a:lstStyle/>
                    <a:p>
                      <a:r>
                        <a:rPr lang="en-GB" dirty="0"/>
                        <a:t>USA</a:t>
                      </a:r>
                    </a:p>
                  </a:txBody>
                  <a:tcPr/>
                </a:tc>
                <a:tc>
                  <a:txBody>
                    <a:bodyPr/>
                    <a:lstStyle/>
                    <a:p>
                      <a:r>
                        <a:rPr lang="en-GB" dirty="0"/>
                        <a:t>New York</a:t>
                      </a:r>
                    </a:p>
                  </a:txBody>
                  <a:tcPr/>
                </a:tc>
                <a:tc>
                  <a:txBody>
                    <a:bodyPr/>
                    <a:lstStyle/>
                    <a:p>
                      <a:r>
                        <a:rPr lang="en-GB" dirty="0"/>
                        <a:t>13.09.2018</a:t>
                      </a:r>
                    </a:p>
                  </a:txBody>
                  <a:tcPr/>
                </a:tc>
                <a:tc>
                  <a:txBody>
                    <a:bodyPr/>
                    <a:lstStyle/>
                    <a:p>
                      <a:r>
                        <a:rPr lang="en-GB" dirty="0"/>
                        <a:t>Y</a:t>
                      </a:r>
                    </a:p>
                  </a:txBody>
                  <a:tcPr/>
                </a:tc>
                <a:extLst>
                  <a:ext uri="{0D108BD9-81ED-4DB2-BD59-A6C34878D82A}">
                    <a16:rowId xmlns:a16="http://schemas.microsoft.com/office/drawing/2014/main" val="1073751956"/>
                  </a:ext>
                </a:extLst>
              </a:tr>
              <a:tr h="370840">
                <a:tc>
                  <a:txBody>
                    <a:bodyPr/>
                    <a:lstStyle/>
                    <a:p>
                      <a:r>
                        <a:rPr lang="en-GB" dirty="0"/>
                        <a:t>2</a:t>
                      </a:r>
                    </a:p>
                  </a:txBody>
                  <a:tcPr/>
                </a:tc>
                <a:tc>
                  <a:txBody>
                    <a:bodyPr/>
                    <a:lstStyle/>
                    <a:p>
                      <a:r>
                        <a:rPr lang="en-GB" dirty="0"/>
                        <a:t>Stateford Co.</a:t>
                      </a:r>
                    </a:p>
                  </a:txBody>
                  <a:tcPr/>
                </a:tc>
                <a:tc>
                  <a:txBody>
                    <a:bodyPr/>
                    <a:lstStyle/>
                    <a:p>
                      <a:r>
                        <a:rPr lang="en-GB" dirty="0"/>
                        <a:t>France</a:t>
                      </a:r>
                    </a:p>
                  </a:txBody>
                  <a:tcPr/>
                </a:tc>
                <a:tc>
                  <a:txBody>
                    <a:bodyPr/>
                    <a:lstStyle/>
                    <a:p>
                      <a:r>
                        <a:rPr lang="en-GB" dirty="0"/>
                        <a:t>Paris</a:t>
                      </a:r>
                    </a:p>
                  </a:txBody>
                  <a:tcPr/>
                </a:tc>
                <a:tc>
                  <a:txBody>
                    <a:bodyPr/>
                    <a:lstStyle/>
                    <a:p>
                      <a:r>
                        <a:rPr lang="en-GB" dirty="0"/>
                        <a:t>14.11.2000</a:t>
                      </a:r>
                    </a:p>
                  </a:txBody>
                  <a:tcPr/>
                </a:tc>
                <a:tc>
                  <a:txBody>
                    <a:bodyPr/>
                    <a:lstStyle/>
                    <a:p>
                      <a:r>
                        <a:rPr lang="en-GB" dirty="0"/>
                        <a:t>Y</a:t>
                      </a:r>
                    </a:p>
                  </a:txBody>
                  <a:tcPr/>
                </a:tc>
                <a:extLst>
                  <a:ext uri="{0D108BD9-81ED-4DB2-BD59-A6C34878D82A}">
                    <a16:rowId xmlns:a16="http://schemas.microsoft.com/office/drawing/2014/main" val="2555284218"/>
                  </a:ext>
                </a:extLst>
              </a:tr>
              <a:tr h="370840">
                <a:tc>
                  <a:txBody>
                    <a:bodyPr/>
                    <a:lstStyle/>
                    <a:p>
                      <a:r>
                        <a:rPr lang="en-GB" dirty="0"/>
                        <a:t>3</a:t>
                      </a:r>
                    </a:p>
                  </a:txBody>
                  <a:tcPr/>
                </a:tc>
                <a:tc>
                  <a:txBody>
                    <a:bodyPr/>
                    <a:lstStyle/>
                    <a:p>
                      <a:r>
                        <a:rPr lang="en-GB" dirty="0"/>
                        <a:t>Standard Ltd.</a:t>
                      </a:r>
                    </a:p>
                  </a:txBody>
                  <a:tcPr/>
                </a:tc>
                <a:tc>
                  <a:txBody>
                    <a:bodyPr/>
                    <a:lstStyle/>
                    <a:p>
                      <a:r>
                        <a:rPr lang="en-GB" dirty="0"/>
                        <a:t>USA</a:t>
                      </a:r>
                    </a:p>
                  </a:txBody>
                  <a:tcPr/>
                </a:tc>
                <a:tc>
                  <a:txBody>
                    <a:bodyPr/>
                    <a:lstStyle/>
                    <a:p>
                      <a:r>
                        <a:rPr lang="en-GB" dirty="0"/>
                        <a:t>San Francisco</a:t>
                      </a:r>
                    </a:p>
                  </a:txBody>
                  <a:tcPr/>
                </a:tc>
                <a:tc>
                  <a:txBody>
                    <a:bodyPr/>
                    <a:lstStyle/>
                    <a:p>
                      <a:r>
                        <a:rPr lang="en-GB" dirty="0"/>
                        <a:t>21.03.2007</a:t>
                      </a:r>
                    </a:p>
                  </a:txBody>
                  <a:tcPr/>
                </a:tc>
                <a:tc>
                  <a:txBody>
                    <a:bodyPr/>
                    <a:lstStyle/>
                    <a:p>
                      <a:r>
                        <a:rPr lang="en-GB" dirty="0"/>
                        <a:t>N</a:t>
                      </a:r>
                    </a:p>
                  </a:txBody>
                  <a:tcPr/>
                </a:tc>
                <a:extLst>
                  <a:ext uri="{0D108BD9-81ED-4DB2-BD59-A6C34878D82A}">
                    <a16:rowId xmlns:a16="http://schemas.microsoft.com/office/drawing/2014/main" val="4141681689"/>
                  </a:ext>
                </a:extLst>
              </a:tr>
              <a:tr h="370840">
                <a:tc>
                  <a:txBody>
                    <a:bodyPr/>
                    <a:lstStyle/>
                    <a:p>
                      <a:r>
                        <a:rPr lang="en-GB" dirty="0"/>
                        <a:t>4</a:t>
                      </a:r>
                    </a:p>
                  </a:txBody>
                  <a:tcPr/>
                </a:tc>
                <a:tc>
                  <a:txBody>
                    <a:bodyPr/>
                    <a:lstStyle/>
                    <a:p>
                      <a:r>
                        <a:rPr lang="en-GB" dirty="0"/>
                        <a:t>Nardis</a:t>
                      </a:r>
                    </a:p>
                  </a:txBody>
                  <a:tcPr/>
                </a:tc>
                <a:tc>
                  <a:txBody>
                    <a:bodyPr/>
                    <a:lstStyle/>
                    <a:p>
                      <a:r>
                        <a:rPr lang="en-GB" dirty="0"/>
                        <a:t>Japan</a:t>
                      </a:r>
                    </a:p>
                  </a:txBody>
                  <a:tcPr/>
                </a:tc>
                <a:tc>
                  <a:txBody>
                    <a:bodyPr/>
                    <a:lstStyle/>
                    <a:p>
                      <a:r>
                        <a:rPr lang="en-GB" dirty="0"/>
                        <a:t>Tokyo</a:t>
                      </a:r>
                    </a:p>
                  </a:txBody>
                  <a:tcPr/>
                </a:tc>
                <a:tc>
                  <a:txBody>
                    <a:bodyPr/>
                    <a:lstStyle/>
                    <a:p>
                      <a:r>
                        <a:rPr lang="en-GB" dirty="0"/>
                        <a:t>30.05.2012</a:t>
                      </a:r>
                    </a:p>
                  </a:txBody>
                  <a:tcPr/>
                </a:tc>
                <a:tc>
                  <a:txBody>
                    <a:bodyPr/>
                    <a:lstStyle/>
                    <a:p>
                      <a:r>
                        <a:rPr lang="en-GB" dirty="0"/>
                        <a:t>Y</a:t>
                      </a:r>
                    </a:p>
                  </a:txBody>
                  <a:tcPr/>
                </a:tc>
                <a:extLst>
                  <a:ext uri="{0D108BD9-81ED-4DB2-BD59-A6C34878D82A}">
                    <a16:rowId xmlns:a16="http://schemas.microsoft.com/office/drawing/2014/main" val="3473665056"/>
                  </a:ext>
                </a:extLst>
              </a:tr>
              <a:tr h="370840">
                <a:tc>
                  <a:txBody>
                    <a:bodyPr/>
                    <a:lstStyle/>
                    <a:p>
                      <a:r>
                        <a:rPr lang="en-GB" dirty="0"/>
                        <a:t>5</a:t>
                      </a:r>
                    </a:p>
                  </a:txBody>
                  <a:tcPr/>
                </a:tc>
                <a:tc>
                  <a:txBody>
                    <a:bodyPr/>
                    <a:lstStyle/>
                    <a:p>
                      <a:r>
                        <a:rPr lang="en-GB" dirty="0"/>
                        <a:t>Together Ltd.</a:t>
                      </a:r>
                    </a:p>
                  </a:txBody>
                  <a:tcPr/>
                </a:tc>
                <a:tc>
                  <a:txBody>
                    <a:bodyPr/>
                    <a:lstStyle/>
                    <a:p>
                      <a:r>
                        <a:rPr lang="en-GB" dirty="0"/>
                        <a:t>USA</a:t>
                      </a:r>
                    </a:p>
                  </a:txBody>
                  <a:tcPr/>
                </a:tc>
                <a:tc>
                  <a:txBody>
                    <a:bodyPr/>
                    <a:lstStyle/>
                    <a:p>
                      <a:r>
                        <a:rPr lang="en-GB" dirty="0"/>
                        <a:t>New York</a:t>
                      </a:r>
                    </a:p>
                  </a:txBody>
                  <a:tcPr/>
                </a:tc>
                <a:tc>
                  <a:txBody>
                    <a:bodyPr/>
                    <a:lstStyle/>
                    <a:p>
                      <a:r>
                        <a:rPr lang="en-GB" dirty="0"/>
                        <a:t>01.04.1998</a:t>
                      </a:r>
                    </a:p>
                  </a:txBody>
                  <a:tcPr/>
                </a:tc>
                <a:tc>
                  <a:txBody>
                    <a:bodyPr/>
                    <a:lstStyle/>
                    <a:p>
                      <a:r>
                        <a:rPr lang="en-GB" dirty="0"/>
                        <a:t>N</a:t>
                      </a:r>
                    </a:p>
                  </a:txBody>
                  <a:tcPr/>
                </a:tc>
                <a:extLst>
                  <a:ext uri="{0D108BD9-81ED-4DB2-BD59-A6C34878D82A}">
                    <a16:rowId xmlns:a16="http://schemas.microsoft.com/office/drawing/2014/main" val="3608053961"/>
                  </a:ext>
                </a:extLst>
              </a:tr>
              <a:tr h="370840">
                <a:tc>
                  <a:txBody>
                    <a:bodyPr/>
                    <a:lstStyle/>
                    <a:p>
                      <a:r>
                        <a:rPr lang="en-GB" dirty="0"/>
                        <a:t>6</a:t>
                      </a:r>
                    </a:p>
                  </a:txBody>
                  <a:tcPr/>
                </a:tc>
                <a:tc>
                  <a:txBody>
                    <a:bodyPr/>
                    <a:lstStyle/>
                    <a:p>
                      <a:r>
                        <a:rPr lang="en-GB" dirty="0"/>
                        <a:t>Nori</a:t>
                      </a:r>
                    </a:p>
                  </a:txBody>
                  <a:tcPr/>
                </a:tc>
                <a:tc>
                  <a:txBody>
                    <a:bodyPr/>
                    <a:lstStyle/>
                    <a:p>
                      <a:r>
                        <a:rPr lang="en-GB" dirty="0"/>
                        <a:t>Japan</a:t>
                      </a:r>
                    </a:p>
                  </a:txBody>
                  <a:tcPr/>
                </a:tc>
                <a:tc>
                  <a:txBody>
                    <a:bodyPr/>
                    <a:lstStyle/>
                    <a:p>
                      <a:r>
                        <a:rPr lang="en-GB" dirty="0"/>
                        <a:t>Tokyo</a:t>
                      </a:r>
                    </a:p>
                  </a:txBody>
                  <a:tcPr/>
                </a:tc>
                <a:tc>
                  <a:txBody>
                    <a:bodyPr/>
                    <a:lstStyle/>
                    <a:p>
                      <a:r>
                        <a:rPr lang="en-GB" dirty="0"/>
                        <a:t>07.07.2005</a:t>
                      </a:r>
                    </a:p>
                  </a:txBody>
                  <a:tcPr/>
                </a:tc>
                <a:tc>
                  <a:txBody>
                    <a:bodyPr/>
                    <a:lstStyle/>
                    <a:p>
                      <a:r>
                        <a:rPr lang="en-GB" dirty="0"/>
                        <a:t>Y</a:t>
                      </a:r>
                    </a:p>
                  </a:txBody>
                  <a:tcPr/>
                </a:tc>
                <a:extLst>
                  <a:ext uri="{0D108BD9-81ED-4DB2-BD59-A6C34878D82A}">
                    <a16:rowId xmlns:a16="http://schemas.microsoft.com/office/drawing/2014/main" val="2474386657"/>
                  </a:ext>
                </a:extLst>
              </a:tr>
              <a:tr h="370840">
                <a:tc>
                  <a:txBody>
                    <a:bodyPr/>
                    <a:lstStyle/>
                    <a:p>
                      <a:r>
                        <a:rPr lang="en-GB" dirty="0"/>
                        <a:t>7</a:t>
                      </a:r>
                    </a:p>
                  </a:txBody>
                  <a:tcPr/>
                </a:tc>
                <a:tc>
                  <a:txBody>
                    <a:bodyPr/>
                    <a:lstStyle/>
                    <a:p>
                      <a:r>
                        <a:rPr lang="en-GB" dirty="0"/>
                        <a:t>Intersec Co.</a:t>
                      </a:r>
                    </a:p>
                  </a:txBody>
                  <a:tcPr/>
                </a:tc>
                <a:tc>
                  <a:txBody>
                    <a:bodyPr/>
                    <a:lstStyle/>
                    <a:p>
                      <a:r>
                        <a:rPr lang="en-GB" dirty="0"/>
                        <a:t>Germany</a:t>
                      </a:r>
                    </a:p>
                  </a:txBody>
                  <a:tcPr/>
                </a:tc>
                <a:tc>
                  <a:txBody>
                    <a:bodyPr/>
                    <a:lstStyle/>
                    <a:p>
                      <a:r>
                        <a:rPr lang="en-GB" dirty="0"/>
                        <a:t>Berlin</a:t>
                      </a:r>
                    </a:p>
                  </a:txBody>
                  <a:tcPr/>
                </a:tc>
                <a:tc>
                  <a:txBody>
                    <a:bodyPr/>
                    <a:lstStyle/>
                    <a:p>
                      <a:r>
                        <a:rPr lang="en-GB" dirty="0"/>
                        <a:t>15.11.2020</a:t>
                      </a:r>
                    </a:p>
                  </a:txBody>
                  <a:tcPr/>
                </a:tc>
                <a:tc>
                  <a:txBody>
                    <a:bodyPr/>
                    <a:lstStyle/>
                    <a:p>
                      <a:r>
                        <a:rPr lang="en-GB" dirty="0"/>
                        <a:t>Y</a:t>
                      </a:r>
                    </a:p>
                  </a:txBody>
                  <a:tcPr/>
                </a:tc>
                <a:extLst>
                  <a:ext uri="{0D108BD9-81ED-4DB2-BD59-A6C34878D82A}">
                    <a16:rowId xmlns:a16="http://schemas.microsoft.com/office/drawing/2014/main" val="1146906907"/>
                  </a:ext>
                </a:extLst>
              </a:tr>
            </a:tbl>
          </a:graphicData>
        </a:graphic>
      </p:graphicFrame>
      <p:sp>
        <p:nvSpPr>
          <p:cNvPr id="4" name="Rectangle 3">
            <a:extLst>
              <a:ext uri="{FF2B5EF4-FFF2-40B4-BE49-F238E27FC236}">
                <a16:creationId xmlns:a16="http://schemas.microsoft.com/office/drawing/2014/main" id="{4D1EFA88-87EF-5ACA-4560-BC41652F8275}"/>
              </a:ext>
            </a:extLst>
          </p:cNvPr>
          <p:cNvSpPr/>
          <p:nvPr/>
        </p:nvSpPr>
        <p:spPr>
          <a:xfrm>
            <a:off x="1364582" y="2719778"/>
            <a:ext cx="1116953" cy="375552"/>
          </a:xfrm>
          <a:prstGeom prst="rect">
            <a:avLst/>
          </a:prstGeom>
        </p:spPr>
        <p:txBody>
          <a:bodyPr wrap="square">
            <a:spAutoFit/>
          </a:bodyPr>
          <a:lstStyle/>
          <a:p>
            <a:pPr>
              <a:lnSpc>
                <a:spcPct val="107000"/>
              </a:lnSpc>
              <a:spcAft>
                <a:spcPts val="800"/>
              </a:spcAft>
            </a:pPr>
            <a:r>
              <a:rPr lang="en-GB" b="1" dirty="0">
                <a:latin typeface="Calibri" panose="020F0502020204030204" pitchFamily="34" charset="0"/>
                <a:ea typeface="Calibri" panose="020F0502020204030204" pitchFamily="34" charset="0"/>
                <a:cs typeface="Times New Roman" panose="02020603050405020304" pitchFamily="18" charset="0"/>
              </a:rPr>
              <a:t>ClientsTbl</a:t>
            </a:r>
          </a:p>
        </p:txBody>
      </p:sp>
      <p:grpSp>
        <p:nvGrpSpPr>
          <p:cNvPr id="9" name="Group 8">
            <a:extLst>
              <a:ext uri="{FF2B5EF4-FFF2-40B4-BE49-F238E27FC236}">
                <a16:creationId xmlns:a16="http://schemas.microsoft.com/office/drawing/2014/main" id="{57A5ED44-EC93-8ACB-2790-ADA747B2F3AB}"/>
              </a:ext>
            </a:extLst>
          </p:cNvPr>
          <p:cNvGrpSpPr/>
          <p:nvPr/>
        </p:nvGrpSpPr>
        <p:grpSpPr>
          <a:xfrm>
            <a:off x="1210234" y="957314"/>
            <a:ext cx="9789459" cy="5291086"/>
            <a:chOff x="1210234" y="957314"/>
            <a:chExt cx="9789459" cy="5291086"/>
          </a:xfrm>
        </p:grpSpPr>
        <p:sp>
          <p:nvSpPr>
            <p:cNvPr id="6" name="Rectangle: Rounded Corners 5">
              <a:extLst>
                <a:ext uri="{FF2B5EF4-FFF2-40B4-BE49-F238E27FC236}">
                  <a16:creationId xmlns:a16="http://schemas.microsoft.com/office/drawing/2014/main" id="{46CB1799-0C5A-348C-A15D-2F7EE36DD00B}"/>
                </a:ext>
              </a:extLst>
            </p:cNvPr>
            <p:cNvSpPr/>
            <p:nvPr/>
          </p:nvSpPr>
          <p:spPr>
            <a:xfrm>
              <a:off x="1210234" y="2719778"/>
              <a:ext cx="9789459" cy="3528622"/>
            </a:xfrm>
            <a:prstGeom prst="roundRect">
              <a:avLst>
                <a:gd name="adj" fmla="val 3456"/>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Rounded Corners 7">
              <a:extLst>
                <a:ext uri="{FF2B5EF4-FFF2-40B4-BE49-F238E27FC236}">
                  <a16:creationId xmlns:a16="http://schemas.microsoft.com/office/drawing/2014/main" id="{943A704F-BB29-3446-DA63-760ACC7B5452}"/>
                </a:ext>
              </a:extLst>
            </p:cNvPr>
            <p:cNvSpPr/>
            <p:nvPr/>
          </p:nvSpPr>
          <p:spPr>
            <a:xfrm>
              <a:off x="5011270" y="957314"/>
              <a:ext cx="645458" cy="310891"/>
            </a:xfrm>
            <a:prstGeom prst="roundRect">
              <a:avLst/>
            </a:prstGeom>
            <a:solidFill>
              <a:srgbClr val="C00000">
                <a:alpha val="20000"/>
              </a:srgbClr>
            </a:solid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0" name="Rectangle: Rounded Corners 9">
            <a:extLst>
              <a:ext uri="{FF2B5EF4-FFF2-40B4-BE49-F238E27FC236}">
                <a16:creationId xmlns:a16="http://schemas.microsoft.com/office/drawing/2014/main" id="{180BA785-CBFC-A175-E130-BC4802689C26}"/>
              </a:ext>
            </a:extLst>
          </p:cNvPr>
          <p:cNvSpPr/>
          <p:nvPr/>
        </p:nvSpPr>
        <p:spPr>
          <a:xfrm>
            <a:off x="11319176" y="1353040"/>
            <a:ext cx="645458" cy="310891"/>
          </a:xfrm>
          <a:prstGeom prst="roundRect">
            <a:avLst/>
          </a:prstGeom>
          <a:solidFill>
            <a:schemeClr val="accent4">
              <a:alpha val="20000"/>
            </a:schemeClr>
          </a:solidFill>
          <a:ln w="571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Rounded Corners 10">
            <a:extLst>
              <a:ext uri="{FF2B5EF4-FFF2-40B4-BE49-F238E27FC236}">
                <a16:creationId xmlns:a16="http://schemas.microsoft.com/office/drawing/2014/main" id="{D8CF1B41-D202-3D4E-F638-6EB3A2FD9FA0}"/>
              </a:ext>
            </a:extLst>
          </p:cNvPr>
          <p:cNvSpPr/>
          <p:nvPr/>
        </p:nvSpPr>
        <p:spPr>
          <a:xfrm>
            <a:off x="1041852" y="4146303"/>
            <a:ext cx="10083347" cy="506379"/>
          </a:xfrm>
          <a:prstGeom prst="roundRect">
            <a:avLst/>
          </a:prstGeom>
          <a:noFill/>
          <a:ln w="571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5" name="Group 14">
            <a:extLst>
              <a:ext uri="{FF2B5EF4-FFF2-40B4-BE49-F238E27FC236}">
                <a16:creationId xmlns:a16="http://schemas.microsoft.com/office/drawing/2014/main" id="{DE474C8B-4EE9-EBAB-D416-DF592CF930AB}"/>
              </a:ext>
            </a:extLst>
          </p:cNvPr>
          <p:cNvGrpSpPr/>
          <p:nvPr/>
        </p:nvGrpSpPr>
        <p:grpSpPr>
          <a:xfrm>
            <a:off x="4625786" y="1766581"/>
            <a:ext cx="2115671" cy="4580431"/>
            <a:chOff x="4625786" y="1766581"/>
            <a:chExt cx="2115671" cy="4580431"/>
          </a:xfrm>
        </p:grpSpPr>
        <p:sp>
          <p:nvSpPr>
            <p:cNvPr id="12" name="Rectangle: Rounded Corners 11">
              <a:extLst>
                <a:ext uri="{FF2B5EF4-FFF2-40B4-BE49-F238E27FC236}">
                  <a16:creationId xmlns:a16="http://schemas.microsoft.com/office/drawing/2014/main" id="{B7907CCE-5DC5-4BC6-6BC0-25C9D1E60A3C}"/>
                </a:ext>
              </a:extLst>
            </p:cNvPr>
            <p:cNvSpPr/>
            <p:nvPr/>
          </p:nvSpPr>
          <p:spPr>
            <a:xfrm>
              <a:off x="6095999" y="1766581"/>
              <a:ext cx="645458" cy="310891"/>
            </a:xfrm>
            <a:prstGeom prst="roundRect">
              <a:avLst/>
            </a:prstGeom>
            <a:solidFill>
              <a:schemeClr val="accent6">
                <a:alpha val="20000"/>
              </a:schemeClr>
            </a:solidFill>
            <a:ln w="571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Rounded Corners 12">
              <a:extLst>
                <a:ext uri="{FF2B5EF4-FFF2-40B4-BE49-F238E27FC236}">
                  <a16:creationId xmlns:a16="http://schemas.microsoft.com/office/drawing/2014/main" id="{49B98A2C-3558-D4C3-913D-0B2CF47D28C5}"/>
                </a:ext>
              </a:extLst>
            </p:cNvPr>
            <p:cNvSpPr/>
            <p:nvPr/>
          </p:nvSpPr>
          <p:spPr>
            <a:xfrm>
              <a:off x="4625786" y="3002785"/>
              <a:ext cx="1748119" cy="3344227"/>
            </a:xfrm>
            <a:prstGeom prst="roundRect">
              <a:avLst>
                <a:gd name="adj" fmla="val 8462"/>
              </a:avLst>
            </a:prstGeom>
            <a:noFill/>
            <a:ln w="571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2407133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00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F34D69E-F284-4EF1-8ABC-9556CC80091B}"/>
              </a:ext>
            </a:extLst>
          </p:cNvPr>
          <p:cNvSpPr/>
          <p:nvPr/>
        </p:nvSpPr>
        <p:spPr>
          <a:xfrm>
            <a:off x="176565" y="523174"/>
            <a:ext cx="2635145" cy="470000"/>
          </a:xfrm>
          <a:prstGeom prst="rect">
            <a:avLst/>
          </a:prstGeom>
        </p:spPr>
        <p:txBody>
          <a:bodyPr wrap="non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Relational database</a:t>
            </a:r>
          </a:p>
        </p:txBody>
      </p:sp>
      <p:sp>
        <p:nvSpPr>
          <p:cNvPr id="17" name="Rectangle 16">
            <a:extLst>
              <a:ext uri="{FF2B5EF4-FFF2-40B4-BE49-F238E27FC236}">
                <a16:creationId xmlns:a16="http://schemas.microsoft.com/office/drawing/2014/main" id="{035FF626-5B9E-458A-8AC8-E6DA7548706B}"/>
              </a:ext>
            </a:extLst>
          </p:cNvPr>
          <p:cNvSpPr/>
          <p:nvPr/>
        </p:nvSpPr>
        <p:spPr>
          <a:xfrm>
            <a:off x="176564" y="993174"/>
            <a:ext cx="11498757" cy="774507"/>
          </a:xfrm>
          <a:prstGeom prst="rect">
            <a:avLst/>
          </a:prstGeom>
        </p:spPr>
        <p:txBody>
          <a:bodyPr wrap="square">
            <a:spAutoFit/>
          </a:bodyPr>
          <a:lstStyle/>
          <a:p>
            <a:pPr>
              <a:lnSpc>
                <a:spcPct val="107000"/>
              </a:lnSpc>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A </a:t>
            </a:r>
            <a:r>
              <a:rPr lang="en-GB" b="1" dirty="0">
                <a:latin typeface="Calibri" panose="020F0502020204030204" pitchFamily="34" charset="0"/>
                <a:ea typeface="Calibri" panose="020F0502020204030204" pitchFamily="34" charset="0"/>
                <a:cs typeface="Times New Roman" panose="02020603050405020304" pitchFamily="18" charset="0"/>
              </a:rPr>
              <a:t>relational database</a:t>
            </a:r>
            <a:r>
              <a:rPr lang="en-GB" dirty="0">
                <a:latin typeface="Calibri" panose="020F0502020204030204" pitchFamily="34" charset="0"/>
                <a:ea typeface="Calibri" panose="020F0502020204030204" pitchFamily="34" charset="0"/>
                <a:cs typeface="Times New Roman" panose="02020603050405020304" pitchFamily="18" charset="0"/>
              </a:rPr>
              <a:t> consists of multiple related </a:t>
            </a:r>
            <a:r>
              <a:rPr lang="en-GB" b="1" dirty="0">
                <a:latin typeface="Calibri" panose="020F0502020204030204" pitchFamily="34" charset="0"/>
                <a:ea typeface="Calibri" panose="020F0502020204030204" pitchFamily="34" charset="0"/>
                <a:cs typeface="Times New Roman" panose="02020603050405020304" pitchFamily="18" charset="0"/>
              </a:rPr>
              <a:t>tables</a:t>
            </a:r>
            <a:r>
              <a:rPr lang="en-GB" dirty="0">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In this example, changing the lecturer code for a course will update the associated field for all students on that course.</a:t>
            </a:r>
          </a:p>
        </p:txBody>
      </p:sp>
      <p:pic>
        <p:nvPicPr>
          <p:cNvPr id="3" name="Picture 2" descr="A screenshot of a cell phone&#10;&#10;Description automatically generated">
            <a:extLst>
              <a:ext uri="{FF2B5EF4-FFF2-40B4-BE49-F238E27FC236}">
                <a16:creationId xmlns:a16="http://schemas.microsoft.com/office/drawing/2014/main" id="{D252763B-B0A6-4966-A5A8-47C36FF759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125" y="2038619"/>
            <a:ext cx="4829849" cy="3096057"/>
          </a:xfrm>
          <a:prstGeom prst="rect">
            <a:avLst/>
          </a:prstGeom>
          <a:ln w="19050">
            <a:solidFill>
              <a:schemeClr val="tx1"/>
            </a:solidFill>
          </a:ln>
        </p:spPr>
      </p:pic>
      <p:pic>
        <p:nvPicPr>
          <p:cNvPr id="6" name="Picture 5" descr="A screenshot of a cell phone&#10;&#10;Description automatically generated">
            <a:extLst>
              <a:ext uri="{FF2B5EF4-FFF2-40B4-BE49-F238E27FC236}">
                <a16:creationId xmlns:a16="http://schemas.microsoft.com/office/drawing/2014/main" id="{868B1C42-B126-4603-BB0A-300A4ECD53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57656" y="1943355"/>
            <a:ext cx="3848637" cy="3286584"/>
          </a:xfrm>
          <a:prstGeom prst="rect">
            <a:avLst/>
          </a:prstGeom>
          <a:ln w="19050">
            <a:solidFill>
              <a:schemeClr val="tx1"/>
            </a:solidFill>
          </a:ln>
        </p:spPr>
      </p:pic>
      <p:pic>
        <p:nvPicPr>
          <p:cNvPr id="8" name="Picture 7" descr="A screenshot of a cell phone&#10;&#10;Description automatically generated">
            <a:extLst>
              <a:ext uri="{FF2B5EF4-FFF2-40B4-BE49-F238E27FC236}">
                <a16:creationId xmlns:a16="http://schemas.microsoft.com/office/drawing/2014/main" id="{1C72639A-0BA1-438F-B0EE-39411D7B863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48976" y="1957644"/>
            <a:ext cx="2857899" cy="3258005"/>
          </a:xfrm>
          <a:prstGeom prst="rect">
            <a:avLst/>
          </a:prstGeom>
          <a:ln w="19050">
            <a:solidFill>
              <a:schemeClr val="tx1"/>
            </a:solidFill>
          </a:ln>
        </p:spPr>
      </p:pic>
      <p:sp>
        <p:nvSpPr>
          <p:cNvPr id="9" name="Rectangle 8">
            <a:extLst>
              <a:ext uri="{FF2B5EF4-FFF2-40B4-BE49-F238E27FC236}">
                <a16:creationId xmlns:a16="http://schemas.microsoft.com/office/drawing/2014/main" id="{8CCA8537-ACBB-4B37-A43F-82B2E13656FA}"/>
              </a:ext>
            </a:extLst>
          </p:cNvPr>
          <p:cNvSpPr/>
          <p:nvPr/>
        </p:nvSpPr>
        <p:spPr>
          <a:xfrm>
            <a:off x="176565" y="2617470"/>
            <a:ext cx="4738408" cy="217170"/>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Rectangle 11">
            <a:extLst>
              <a:ext uri="{FF2B5EF4-FFF2-40B4-BE49-F238E27FC236}">
                <a16:creationId xmlns:a16="http://schemas.microsoft.com/office/drawing/2014/main" id="{642D9FC8-443A-4F94-B360-A485388F0A1D}"/>
              </a:ext>
            </a:extLst>
          </p:cNvPr>
          <p:cNvSpPr/>
          <p:nvPr/>
        </p:nvSpPr>
        <p:spPr>
          <a:xfrm>
            <a:off x="5330348" y="2929890"/>
            <a:ext cx="3675945" cy="201930"/>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Rectangle 12">
            <a:extLst>
              <a:ext uri="{FF2B5EF4-FFF2-40B4-BE49-F238E27FC236}">
                <a16:creationId xmlns:a16="http://schemas.microsoft.com/office/drawing/2014/main" id="{FD69D765-E5B6-42E1-A76A-16FC0477AD13}"/>
              </a:ext>
            </a:extLst>
          </p:cNvPr>
          <p:cNvSpPr/>
          <p:nvPr/>
        </p:nvSpPr>
        <p:spPr>
          <a:xfrm>
            <a:off x="5330347" y="3688080"/>
            <a:ext cx="3675945" cy="201930"/>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Rectangle 14">
            <a:extLst>
              <a:ext uri="{FF2B5EF4-FFF2-40B4-BE49-F238E27FC236}">
                <a16:creationId xmlns:a16="http://schemas.microsoft.com/office/drawing/2014/main" id="{0C365FFE-F86F-472E-891C-5FEDD1AEC95F}"/>
              </a:ext>
            </a:extLst>
          </p:cNvPr>
          <p:cNvSpPr/>
          <p:nvPr/>
        </p:nvSpPr>
        <p:spPr>
          <a:xfrm>
            <a:off x="5330346" y="4620861"/>
            <a:ext cx="3675945" cy="201930"/>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Rectangle 15">
            <a:extLst>
              <a:ext uri="{FF2B5EF4-FFF2-40B4-BE49-F238E27FC236}">
                <a16:creationId xmlns:a16="http://schemas.microsoft.com/office/drawing/2014/main" id="{B53741BC-F62E-4C42-8443-976E5A4EC297}"/>
              </a:ext>
            </a:extLst>
          </p:cNvPr>
          <p:cNvSpPr/>
          <p:nvPr/>
        </p:nvSpPr>
        <p:spPr>
          <a:xfrm>
            <a:off x="9431655" y="2929890"/>
            <a:ext cx="2665695" cy="201930"/>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Rectangle 17">
            <a:extLst>
              <a:ext uri="{FF2B5EF4-FFF2-40B4-BE49-F238E27FC236}">
                <a16:creationId xmlns:a16="http://schemas.microsoft.com/office/drawing/2014/main" id="{8F4137FC-ABB0-41E1-BB03-A41F203E76F1}"/>
              </a:ext>
            </a:extLst>
          </p:cNvPr>
          <p:cNvSpPr/>
          <p:nvPr/>
        </p:nvSpPr>
        <p:spPr>
          <a:xfrm>
            <a:off x="9428479" y="4639911"/>
            <a:ext cx="2665695" cy="201930"/>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Rectangle 18">
            <a:extLst>
              <a:ext uri="{FF2B5EF4-FFF2-40B4-BE49-F238E27FC236}">
                <a16:creationId xmlns:a16="http://schemas.microsoft.com/office/drawing/2014/main" id="{E23BD39E-7319-4233-A05F-0B62322EC6E0}"/>
              </a:ext>
            </a:extLst>
          </p:cNvPr>
          <p:cNvSpPr/>
          <p:nvPr/>
        </p:nvSpPr>
        <p:spPr>
          <a:xfrm>
            <a:off x="9429749" y="3879967"/>
            <a:ext cx="2665695" cy="201930"/>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21" name="Straight Connector 20">
            <a:extLst>
              <a:ext uri="{FF2B5EF4-FFF2-40B4-BE49-F238E27FC236}">
                <a16:creationId xmlns:a16="http://schemas.microsoft.com/office/drawing/2014/main" id="{24136C09-2B75-43CF-AC06-44D47BB7DB35}"/>
              </a:ext>
            </a:extLst>
          </p:cNvPr>
          <p:cNvCxnSpPr/>
          <p:nvPr/>
        </p:nvCxnSpPr>
        <p:spPr>
          <a:xfrm>
            <a:off x="4914973" y="2724150"/>
            <a:ext cx="128515"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A640892-C874-40FE-876F-79B1D69AC02E}"/>
              </a:ext>
            </a:extLst>
          </p:cNvPr>
          <p:cNvCxnSpPr>
            <a:cxnSpLocks/>
          </p:cNvCxnSpPr>
          <p:nvPr/>
        </p:nvCxnSpPr>
        <p:spPr>
          <a:xfrm flipV="1">
            <a:off x="5038726" y="2705098"/>
            <a:ext cx="0" cy="2043115"/>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14292A3-A194-40DB-834D-2429508013CF}"/>
              </a:ext>
            </a:extLst>
          </p:cNvPr>
          <p:cNvCxnSpPr>
            <a:cxnSpLocks/>
          </p:cNvCxnSpPr>
          <p:nvPr/>
        </p:nvCxnSpPr>
        <p:spPr>
          <a:xfrm>
            <a:off x="5038726" y="3014663"/>
            <a:ext cx="29162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D415BAA-DDB9-41F9-A30B-195FAC6332B3}"/>
              </a:ext>
            </a:extLst>
          </p:cNvPr>
          <p:cNvCxnSpPr>
            <a:cxnSpLocks/>
          </p:cNvCxnSpPr>
          <p:nvPr/>
        </p:nvCxnSpPr>
        <p:spPr>
          <a:xfrm>
            <a:off x="5038726" y="3776663"/>
            <a:ext cx="29162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6523671-3886-4472-83AB-79F402B1B756}"/>
              </a:ext>
            </a:extLst>
          </p:cNvPr>
          <p:cNvCxnSpPr>
            <a:cxnSpLocks/>
          </p:cNvCxnSpPr>
          <p:nvPr/>
        </p:nvCxnSpPr>
        <p:spPr>
          <a:xfrm>
            <a:off x="5038726" y="4733924"/>
            <a:ext cx="291620"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E318874-F2C3-4487-92A9-103912EA5BA3}"/>
              </a:ext>
            </a:extLst>
          </p:cNvPr>
          <p:cNvCxnSpPr>
            <a:cxnSpLocks/>
          </p:cNvCxnSpPr>
          <p:nvPr/>
        </p:nvCxnSpPr>
        <p:spPr>
          <a:xfrm>
            <a:off x="9022166" y="3033713"/>
            <a:ext cx="423458"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6F38CCC-931E-4FFC-B8DC-B2C4F14290CF}"/>
              </a:ext>
            </a:extLst>
          </p:cNvPr>
          <p:cNvCxnSpPr>
            <a:cxnSpLocks/>
          </p:cNvCxnSpPr>
          <p:nvPr/>
        </p:nvCxnSpPr>
        <p:spPr>
          <a:xfrm>
            <a:off x="9023423" y="3786189"/>
            <a:ext cx="277739"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5FBD894-4F1B-46A5-9BB4-545C0B114D4B}"/>
              </a:ext>
            </a:extLst>
          </p:cNvPr>
          <p:cNvCxnSpPr>
            <a:cxnSpLocks/>
          </p:cNvCxnSpPr>
          <p:nvPr/>
        </p:nvCxnSpPr>
        <p:spPr>
          <a:xfrm flipV="1">
            <a:off x="9301162" y="3769326"/>
            <a:ext cx="0" cy="97155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08A55A9-B46C-4E75-A653-AD5B197D0ED0}"/>
              </a:ext>
            </a:extLst>
          </p:cNvPr>
          <p:cNvCxnSpPr>
            <a:cxnSpLocks/>
          </p:cNvCxnSpPr>
          <p:nvPr/>
        </p:nvCxnSpPr>
        <p:spPr>
          <a:xfrm>
            <a:off x="9280525" y="4737701"/>
            <a:ext cx="177799"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BFE515D-332A-435C-932B-8312C912D0EF}"/>
              </a:ext>
            </a:extLst>
          </p:cNvPr>
          <p:cNvCxnSpPr>
            <a:cxnSpLocks/>
          </p:cNvCxnSpPr>
          <p:nvPr/>
        </p:nvCxnSpPr>
        <p:spPr>
          <a:xfrm>
            <a:off x="9124950" y="3980932"/>
            <a:ext cx="333374"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3D51007-DEFA-47BB-A0BA-16F0950EDE28}"/>
              </a:ext>
            </a:extLst>
          </p:cNvPr>
          <p:cNvCxnSpPr>
            <a:cxnSpLocks/>
          </p:cNvCxnSpPr>
          <p:nvPr/>
        </p:nvCxnSpPr>
        <p:spPr>
          <a:xfrm flipV="1">
            <a:off x="9142412" y="3971407"/>
            <a:ext cx="0" cy="750419"/>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40EB4923-DC20-46C3-A987-09BD3787754E}"/>
              </a:ext>
            </a:extLst>
          </p:cNvPr>
          <p:cNvCxnSpPr>
            <a:cxnSpLocks/>
          </p:cNvCxnSpPr>
          <p:nvPr/>
        </p:nvCxnSpPr>
        <p:spPr>
          <a:xfrm>
            <a:off x="9022166" y="4728176"/>
            <a:ext cx="136951"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4" name="Rectangle: Rounded Corners 3">
            <a:extLst>
              <a:ext uri="{FF2B5EF4-FFF2-40B4-BE49-F238E27FC236}">
                <a16:creationId xmlns:a16="http://schemas.microsoft.com/office/drawing/2014/main" id="{FC02A905-943E-2A67-02D8-DE0D80312F24}"/>
              </a:ext>
            </a:extLst>
          </p:cNvPr>
          <p:cNvSpPr/>
          <p:nvPr/>
        </p:nvSpPr>
        <p:spPr>
          <a:xfrm>
            <a:off x="188710" y="5396628"/>
            <a:ext cx="11653666" cy="1255066"/>
          </a:xfrm>
          <a:prstGeom prst="roundRect">
            <a:avLst>
              <a:gd name="adj" fmla="val 46766"/>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p>
        </p:txBody>
      </p:sp>
      <p:pic>
        <p:nvPicPr>
          <p:cNvPr id="5" name="Graphic 4" descr="Information with solid fill">
            <a:extLst>
              <a:ext uri="{FF2B5EF4-FFF2-40B4-BE49-F238E27FC236}">
                <a16:creationId xmlns:a16="http://schemas.microsoft.com/office/drawing/2014/main" id="{07275884-EA43-CBA9-0B28-CBF914C2FB9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0" y="5229939"/>
            <a:ext cx="1591452" cy="1591452"/>
          </a:xfrm>
          <a:prstGeom prst="rect">
            <a:avLst/>
          </a:prstGeom>
        </p:spPr>
      </p:pic>
      <p:sp>
        <p:nvSpPr>
          <p:cNvPr id="7" name="TextBox 6">
            <a:extLst>
              <a:ext uri="{FF2B5EF4-FFF2-40B4-BE49-F238E27FC236}">
                <a16:creationId xmlns:a16="http://schemas.microsoft.com/office/drawing/2014/main" id="{FA79F2CD-121B-9AB1-4B3B-A454622FAF13}"/>
              </a:ext>
            </a:extLst>
          </p:cNvPr>
          <p:cNvSpPr txBox="1"/>
          <p:nvPr/>
        </p:nvSpPr>
        <p:spPr>
          <a:xfrm>
            <a:off x="1591452" y="5577985"/>
            <a:ext cx="9892336" cy="968278"/>
          </a:xfrm>
          <a:prstGeom prst="rect">
            <a:avLst/>
          </a:prstGeom>
          <a:noFill/>
        </p:spPr>
        <p:txBody>
          <a:bodyPr wrap="square" rtlCol="0">
            <a:spAutoFit/>
          </a:bodyPr>
          <a:lstStyle/>
          <a:p>
            <a:pPr>
              <a:lnSpc>
                <a:spcPct val="107000"/>
              </a:lnSpc>
            </a:pPr>
            <a:r>
              <a:rPr lang="en-GB" dirty="0">
                <a:latin typeface="Calibri" panose="020F0502020204030204" pitchFamily="34" charset="0"/>
                <a:ea typeface="Calibri" panose="020F0502020204030204" pitchFamily="34" charset="0"/>
                <a:cs typeface="Times New Roman" panose="02020603050405020304" pitchFamily="18" charset="0"/>
              </a:rPr>
              <a:t>How separate database tables are linked together to create a relational database is beyond the scope of the IGCSE course. We have included it here for awareness, as it is something you are likely to come across should you continue to study computer science.</a:t>
            </a:r>
            <a:endParaRPr lang="en-GB" b="1"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34692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989BBE4-38CA-4FFB-B9AA-E0BBB2AB22B7}"/>
              </a:ext>
            </a:extLst>
          </p:cNvPr>
          <p:cNvSpPr/>
          <p:nvPr/>
        </p:nvSpPr>
        <p:spPr>
          <a:xfrm>
            <a:off x="176565" y="994805"/>
            <a:ext cx="11496196" cy="2308324"/>
          </a:xfrm>
          <a:prstGeom prst="rect">
            <a:avLst/>
          </a:prstGeom>
        </p:spPr>
        <p:txBody>
          <a:bodyPr wrap="squar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Each </a:t>
            </a:r>
            <a:r>
              <a:rPr lang="en-GB" b="1" dirty="0">
                <a:latin typeface="Calibri" panose="020F0502020204030204" pitchFamily="34" charset="0"/>
                <a:ea typeface="Calibri" panose="020F0502020204030204" pitchFamily="34" charset="0"/>
                <a:cs typeface="Times New Roman" panose="02020603050405020304" pitchFamily="18" charset="0"/>
              </a:rPr>
              <a:t>field</a:t>
            </a:r>
            <a:r>
              <a:rPr lang="en-GB" dirty="0">
                <a:latin typeface="Calibri" panose="020F0502020204030204" pitchFamily="34" charset="0"/>
                <a:ea typeface="Calibri" panose="020F0502020204030204" pitchFamily="34" charset="0"/>
                <a:cs typeface="Times New Roman" panose="02020603050405020304" pitchFamily="18" charset="0"/>
              </a:rPr>
              <a:t> in a database </a:t>
            </a:r>
            <a:r>
              <a:rPr lang="en-GB" b="1" dirty="0">
                <a:latin typeface="Calibri" panose="020F0502020204030204" pitchFamily="34" charset="0"/>
                <a:ea typeface="Calibri" panose="020F0502020204030204" pitchFamily="34" charset="0"/>
                <a:cs typeface="Times New Roman" panose="02020603050405020304" pitchFamily="18" charset="0"/>
              </a:rPr>
              <a:t>table</a:t>
            </a:r>
            <a:r>
              <a:rPr lang="en-GB" dirty="0">
                <a:latin typeface="Calibri" panose="020F0502020204030204" pitchFamily="34" charset="0"/>
                <a:ea typeface="Calibri" panose="020F0502020204030204" pitchFamily="34" charset="0"/>
                <a:cs typeface="Times New Roman" panose="02020603050405020304" pitchFamily="18" charset="0"/>
              </a:rPr>
              <a:t> has a defined </a:t>
            </a:r>
            <a:r>
              <a:rPr lang="en-GB" b="1" dirty="0">
                <a:latin typeface="Calibri" panose="020F0502020204030204" pitchFamily="34" charset="0"/>
                <a:ea typeface="Calibri" panose="020F0502020204030204" pitchFamily="34" charset="0"/>
                <a:cs typeface="Times New Roman" panose="02020603050405020304" pitchFamily="18" charset="0"/>
              </a:rPr>
              <a:t>field type</a:t>
            </a:r>
            <a:r>
              <a:rPr lang="en-GB" dirty="0">
                <a:latin typeface="Calibri" panose="020F0502020204030204" pitchFamily="34" charset="0"/>
                <a:ea typeface="Calibri" panose="020F0502020204030204" pitchFamily="34" charset="0"/>
                <a:cs typeface="Times New Roman" panose="02020603050405020304" pitchFamily="18" charset="0"/>
              </a:rPr>
              <a:t> – these include:</a:t>
            </a:r>
          </a:p>
          <a:p>
            <a:pPr marL="540000"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Text/alphanumeric</a:t>
            </a:r>
          </a:p>
          <a:p>
            <a:pPr marL="540000"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Character</a:t>
            </a:r>
          </a:p>
          <a:p>
            <a:pPr marL="540000"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Boolean</a:t>
            </a:r>
          </a:p>
          <a:p>
            <a:pPr marL="540000"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Integer</a:t>
            </a:r>
          </a:p>
          <a:p>
            <a:pPr marL="540000"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Real</a:t>
            </a:r>
          </a:p>
          <a:p>
            <a:pPr marL="540000"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Date/time </a:t>
            </a:r>
          </a:p>
          <a:p>
            <a:endParaRPr lang="en-GB" dirty="0">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2" name="Table 3">
            <a:extLst>
              <a:ext uri="{FF2B5EF4-FFF2-40B4-BE49-F238E27FC236}">
                <a16:creationId xmlns:a16="http://schemas.microsoft.com/office/drawing/2014/main" id="{59730CA1-C581-7D90-2320-5E39FBC9E88F}"/>
              </a:ext>
            </a:extLst>
          </p:cNvPr>
          <p:cNvGraphicFramePr>
            <a:graphicFrameLocks noGrp="1"/>
          </p:cNvGraphicFramePr>
          <p:nvPr>
            <p:extLst>
              <p:ext uri="{D42A27DB-BD31-4B8C-83A1-F6EECF244321}">
                <p14:modId xmlns:p14="http://schemas.microsoft.com/office/powerpoint/2010/main" val="325766959"/>
              </p:ext>
            </p:extLst>
          </p:nvPr>
        </p:nvGraphicFramePr>
        <p:xfrm>
          <a:off x="1374587" y="3361220"/>
          <a:ext cx="9442825" cy="2712720"/>
        </p:xfrm>
        <a:graphic>
          <a:graphicData uri="http://schemas.openxmlformats.org/drawingml/2006/table">
            <a:tbl>
              <a:tblPr firstRow="1" bandRow="1">
                <a:tableStyleId>{21E4AEA4-8DFA-4A89-87EB-49C32662AFE0}</a:tableStyleId>
              </a:tblPr>
              <a:tblGrid>
                <a:gridCol w="728061">
                  <a:extLst>
                    <a:ext uri="{9D8B030D-6E8A-4147-A177-3AD203B41FA5}">
                      <a16:colId xmlns:a16="http://schemas.microsoft.com/office/drawing/2014/main" val="3996809463"/>
                    </a:ext>
                  </a:extLst>
                </a:gridCol>
                <a:gridCol w="2624491">
                  <a:extLst>
                    <a:ext uri="{9D8B030D-6E8A-4147-A177-3AD203B41FA5}">
                      <a16:colId xmlns:a16="http://schemas.microsoft.com/office/drawing/2014/main" val="3000222899"/>
                    </a:ext>
                  </a:extLst>
                </a:gridCol>
                <a:gridCol w="1664696">
                  <a:extLst>
                    <a:ext uri="{9D8B030D-6E8A-4147-A177-3AD203B41FA5}">
                      <a16:colId xmlns:a16="http://schemas.microsoft.com/office/drawing/2014/main" val="870613421"/>
                    </a:ext>
                  </a:extLst>
                </a:gridCol>
                <a:gridCol w="1664446">
                  <a:extLst>
                    <a:ext uri="{9D8B030D-6E8A-4147-A177-3AD203B41FA5}">
                      <a16:colId xmlns:a16="http://schemas.microsoft.com/office/drawing/2014/main" val="2992480257"/>
                    </a:ext>
                  </a:extLst>
                </a:gridCol>
                <a:gridCol w="1855694">
                  <a:extLst>
                    <a:ext uri="{9D8B030D-6E8A-4147-A177-3AD203B41FA5}">
                      <a16:colId xmlns:a16="http://schemas.microsoft.com/office/drawing/2014/main" val="1372900861"/>
                    </a:ext>
                  </a:extLst>
                </a:gridCol>
                <a:gridCol w="905437">
                  <a:extLst>
                    <a:ext uri="{9D8B030D-6E8A-4147-A177-3AD203B41FA5}">
                      <a16:colId xmlns:a16="http://schemas.microsoft.com/office/drawing/2014/main" val="1843823703"/>
                    </a:ext>
                  </a:extLst>
                </a:gridCol>
              </a:tblGrid>
              <a:tr h="370840">
                <a:tc>
                  <a:txBody>
                    <a:bodyPr/>
                    <a:lstStyle/>
                    <a:p>
                      <a:pPr algn="ctr"/>
                      <a:r>
                        <a:rPr lang="en-GB" sz="1400" dirty="0">
                          <a:solidFill>
                            <a:schemeClr val="tx1"/>
                          </a:solidFill>
                        </a:rPr>
                        <a:t>Integer</a:t>
                      </a:r>
                    </a:p>
                  </a:txBody>
                  <a:tcPr anchor="ctr">
                    <a:lnL w="38100" cap="flat" cmpd="sng" algn="ctr">
                      <a:solidFill>
                        <a:srgbClr val="C00000"/>
                      </a:solidFill>
                      <a:prstDash val="solid"/>
                      <a:round/>
                      <a:headEnd type="none" w="med" len="med"/>
                      <a:tailEnd type="none" w="med" len="med"/>
                    </a:lnL>
                    <a:lnR w="38100" cap="flat" cmpd="sng" algn="ctr">
                      <a:solidFill>
                        <a:srgbClr val="C00000"/>
                      </a:solidFill>
                      <a:prstDash val="solid"/>
                      <a:round/>
                      <a:headEnd type="none" w="med" len="med"/>
                      <a:tailEnd type="none" w="med" len="med"/>
                    </a:lnR>
                    <a:lnT w="38100" cap="flat" cmpd="sng" algn="ctr">
                      <a:solidFill>
                        <a:srgbClr val="C00000"/>
                      </a:solidFill>
                      <a:prstDash val="solid"/>
                      <a:round/>
                      <a:headEnd type="none" w="med" len="med"/>
                      <a:tailEnd type="none" w="med" len="med"/>
                    </a:lnT>
                    <a:lnB w="38100" cap="flat" cmpd="sng" algn="ctr">
                      <a:solidFill>
                        <a:srgbClr val="C00000"/>
                      </a:solidFill>
                      <a:prstDash val="solid"/>
                      <a:round/>
                      <a:headEnd type="none" w="med" len="med"/>
                      <a:tailEnd type="none" w="med" len="med"/>
                    </a:lnB>
                    <a:noFill/>
                  </a:tcPr>
                </a:tc>
                <a:tc>
                  <a:txBody>
                    <a:bodyPr/>
                    <a:lstStyle/>
                    <a:p>
                      <a:pPr algn="ctr"/>
                      <a:r>
                        <a:rPr lang="en-GB" sz="1400" dirty="0">
                          <a:solidFill>
                            <a:schemeClr val="tx1"/>
                          </a:solidFill>
                        </a:rPr>
                        <a:t>Text/alphanumeric</a:t>
                      </a:r>
                    </a:p>
                  </a:txBody>
                  <a:tcPr anchor="ctr">
                    <a:lnL w="38100" cap="flat" cmpd="sng" algn="ctr">
                      <a:solidFill>
                        <a:srgbClr val="C00000"/>
                      </a:solidFill>
                      <a:prstDash val="solid"/>
                      <a:round/>
                      <a:headEnd type="none" w="med" len="med"/>
                      <a:tailEnd type="none" w="med" len="med"/>
                    </a:lnL>
                    <a:lnR w="38100" cap="flat" cmpd="sng" algn="ctr">
                      <a:solidFill>
                        <a:srgbClr val="C00000"/>
                      </a:solidFill>
                      <a:prstDash val="solid"/>
                      <a:round/>
                      <a:headEnd type="none" w="med" len="med"/>
                      <a:tailEnd type="none" w="med" len="med"/>
                    </a:lnR>
                    <a:lnT w="38100" cap="flat" cmpd="sng" algn="ctr">
                      <a:solidFill>
                        <a:srgbClr val="C00000"/>
                      </a:solidFill>
                      <a:prstDash val="solid"/>
                      <a:round/>
                      <a:headEnd type="none" w="med" len="med"/>
                      <a:tailEnd type="none" w="med" len="med"/>
                    </a:lnT>
                    <a:lnB w="38100" cap="flat" cmpd="sng" algn="ctr">
                      <a:solidFill>
                        <a:srgbClr val="C00000"/>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dirty="0">
                          <a:solidFill>
                            <a:schemeClr val="tx1"/>
                          </a:solidFill>
                        </a:rPr>
                        <a:t>Text/alphanumeric</a:t>
                      </a:r>
                    </a:p>
                  </a:txBody>
                  <a:tcPr anchor="ctr">
                    <a:lnL w="38100" cap="flat" cmpd="sng" algn="ctr">
                      <a:solidFill>
                        <a:srgbClr val="C00000"/>
                      </a:solidFill>
                      <a:prstDash val="solid"/>
                      <a:round/>
                      <a:headEnd type="none" w="med" len="med"/>
                      <a:tailEnd type="none" w="med" len="med"/>
                    </a:lnL>
                    <a:lnR w="38100" cap="flat" cmpd="sng" algn="ctr">
                      <a:solidFill>
                        <a:srgbClr val="C00000"/>
                      </a:solidFill>
                      <a:prstDash val="solid"/>
                      <a:round/>
                      <a:headEnd type="none" w="med" len="med"/>
                      <a:tailEnd type="none" w="med" len="med"/>
                    </a:lnR>
                    <a:lnT w="38100" cap="flat" cmpd="sng" algn="ctr">
                      <a:solidFill>
                        <a:srgbClr val="C00000"/>
                      </a:solidFill>
                      <a:prstDash val="solid"/>
                      <a:round/>
                      <a:headEnd type="none" w="med" len="med"/>
                      <a:tailEnd type="none" w="med" len="med"/>
                    </a:lnT>
                    <a:lnB w="38100" cap="flat" cmpd="sng" algn="ctr">
                      <a:solidFill>
                        <a:srgbClr val="C00000"/>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dirty="0">
                          <a:solidFill>
                            <a:schemeClr val="tx1"/>
                          </a:solidFill>
                        </a:rPr>
                        <a:t>Text/alphanumeric</a:t>
                      </a:r>
                    </a:p>
                  </a:txBody>
                  <a:tcPr anchor="ctr">
                    <a:lnL w="38100" cap="flat" cmpd="sng" algn="ctr">
                      <a:solidFill>
                        <a:srgbClr val="C00000"/>
                      </a:solidFill>
                      <a:prstDash val="solid"/>
                      <a:round/>
                      <a:headEnd type="none" w="med" len="med"/>
                      <a:tailEnd type="none" w="med" len="med"/>
                    </a:lnL>
                    <a:lnR w="38100" cap="flat" cmpd="sng" algn="ctr">
                      <a:solidFill>
                        <a:srgbClr val="C00000"/>
                      </a:solidFill>
                      <a:prstDash val="solid"/>
                      <a:round/>
                      <a:headEnd type="none" w="med" len="med"/>
                      <a:tailEnd type="none" w="med" len="med"/>
                    </a:lnR>
                    <a:lnT w="38100" cap="flat" cmpd="sng" algn="ctr">
                      <a:solidFill>
                        <a:srgbClr val="C00000"/>
                      </a:solidFill>
                      <a:prstDash val="solid"/>
                      <a:round/>
                      <a:headEnd type="none" w="med" len="med"/>
                      <a:tailEnd type="none" w="med" len="med"/>
                    </a:lnT>
                    <a:lnB w="38100" cap="flat" cmpd="sng" algn="ctr">
                      <a:solidFill>
                        <a:srgbClr val="C00000"/>
                      </a:solidFill>
                      <a:prstDash val="solid"/>
                      <a:round/>
                      <a:headEnd type="none" w="med" len="med"/>
                      <a:tailEnd type="none" w="med" len="med"/>
                    </a:lnB>
                    <a:noFill/>
                  </a:tcPr>
                </a:tc>
                <a:tc>
                  <a:txBody>
                    <a:bodyPr/>
                    <a:lstStyle/>
                    <a:p>
                      <a:pPr algn="ctr"/>
                      <a:r>
                        <a:rPr lang="en-GB" sz="1400" dirty="0">
                          <a:solidFill>
                            <a:schemeClr val="tx1"/>
                          </a:solidFill>
                        </a:rPr>
                        <a:t>Date/time</a:t>
                      </a:r>
                    </a:p>
                  </a:txBody>
                  <a:tcPr anchor="ctr">
                    <a:lnL w="38100" cap="flat" cmpd="sng" algn="ctr">
                      <a:solidFill>
                        <a:srgbClr val="C00000"/>
                      </a:solidFill>
                      <a:prstDash val="solid"/>
                      <a:round/>
                      <a:headEnd type="none" w="med" len="med"/>
                      <a:tailEnd type="none" w="med" len="med"/>
                    </a:lnL>
                    <a:lnR w="38100" cap="flat" cmpd="sng" algn="ctr">
                      <a:solidFill>
                        <a:srgbClr val="C00000"/>
                      </a:solidFill>
                      <a:prstDash val="solid"/>
                      <a:round/>
                      <a:headEnd type="none" w="med" len="med"/>
                      <a:tailEnd type="none" w="med" len="med"/>
                    </a:lnR>
                    <a:lnT w="38100" cap="flat" cmpd="sng" algn="ctr">
                      <a:solidFill>
                        <a:srgbClr val="C00000"/>
                      </a:solidFill>
                      <a:prstDash val="solid"/>
                      <a:round/>
                      <a:headEnd type="none" w="med" len="med"/>
                      <a:tailEnd type="none" w="med" len="med"/>
                    </a:lnT>
                    <a:lnB w="38100" cap="flat" cmpd="sng" algn="ctr">
                      <a:solidFill>
                        <a:srgbClr val="C00000"/>
                      </a:solidFill>
                      <a:prstDash val="solid"/>
                      <a:round/>
                      <a:headEnd type="none" w="med" len="med"/>
                      <a:tailEnd type="none" w="med" len="med"/>
                    </a:lnB>
                    <a:noFill/>
                  </a:tcPr>
                </a:tc>
                <a:tc>
                  <a:txBody>
                    <a:bodyPr/>
                    <a:lstStyle/>
                    <a:p>
                      <a:pPr algn="ctr"/>
                      <a:r>
                        <a:rPr lang="en-GB" sz="1400" dirty="0">
                          <a:solidFill>
                            <a:schemeClr val="tx1"/>
                          </a:solidFill>
                        </a:rPr>
                        <a:t>Character</a:t>
                      </a:r>
                    </a:p>
                  </a:txBody>
                  <a:tcPr anchor="ctr">
                    <a:lnL w="38100" cap="flat" cmpd="sng" algn="ctr">
                      <a:solidFill>
                        <a:srgbClr val="C00000"/>
                      </a:solidFill>
                      <a:prstDash val="solid"/>
                      <a:round/>
                      <a:headEnd type="none" w="med" len="med"/>
                      <a:tailEnd type="none" w="med" len="med"/>
                    </a:lnL>
                    <a:lnR w="38100" cap="flat" cmpd="sng" algn="ctr">
                      <a:solidFill>
                        <a:srgbClr val="C00000"/>
                      </a:solidFill>
                      <a:prstDash val="solid"/>
                      <a:round/>
                      <a:headEnd type="none" w="med" len="med"/>
                      <a:tailEnd type="none" w="med" len="med"/>
                    </a:lnR>
                    <a:lnT w="38100" cap="flat" cmpd="sng" algn="ctr">
                      <a:solidFill>
                        <a:srgbClr val="C00000"/>
                      </a:solidFill>
                      <a:prstDash val="solid"/>
                      <a:round/>
                      <a:headEnd type="none" w="med" len="med"/>
                      <a:tailEnd type="none" w="med" len="med"/>
                    </a:lnT>
                    <a:lnB w="38100" cap="flat" cmpd="sng" algn="ctr">
                      <a:solidFill>
                        <a:srgbClr val="C00000"/>
                      </a:solidFill>
                      <a:prstDash val="solid"/>
                      <a:round/>
                      <a:headEnd type="none" w="med" len="med"/>
                      <a:tailEnd type="none" w="med" len="med"/>
                    </a:lnB>
                    <a:noFill/>
                  </a:tcPr>
                </a:tc>
                <a:extLst>
                  <a:ext uri="{0D108BD9-81ED-4DB2-BD59-A6C34878D82A}">
                    <a16:rowId xmlns:a16="http://schemas.microsoft.com/office/drawing/2014/main" val="571469801"/>
                  </a:ext>
                </a:extLst>
              </a:tr>
              <a:tr h="0">
                <a:tc gridSpan="6">
                  <a:txBody>
                    <a:bodyPr/>
                    <a:lstStyle/>
                    <a:p>
                      <a:endParaRPr lang="en-GB" sz="100" dirty="0"/>
                    </a:p>
                  </a:txBody>
                  <a:tcPr>
                    <a:lnT w="38100" cap="flat" cmpd="sng" algn="ctr">
                      <a:solidFill>
                        <a:srgbClr val="C00000"/>
                      </a:solidFill>
                      <a:prstDash val="solid"/>
                      <a:round/>
                      <a:headEnd type="none" w="med" len="med"/>
                      <a:tailEnd type="none" w="med" len="med"/>
                    </a:lnT>
                    <a:solidFill>
                      <a:schemeClr val="bg1"/>
                    </a:solidFill>
                  </a:tcPr>
                </a:tc>
                <a:tc hMerge="1">
                  <a:txBody>
                    <a:bodyPr/>
                    <a:lstStyle/>
                    <a:p>
                      <a:endParaRPr lang="en-GB" dirty="0"/>
                    </a:p>
                  </a:txBody>
                  <a:tcPr>
                    <a:solidFill>
                      <a:schemeClr val="bg1"/>
                    </a:solidFill>
                  </a:tcPr>
                </a:tc>
                <a:tc hMerge="1">
                  <a:txBody>
                    <a:bodyPr/>
                    <a:lstStyle/>
                    <a:p>
                      <a:endParaRPr lang="en-GB" dirty="0"/>
                    </a:p>
                  </a:txBody>
                  <a:tcPr>
                    <a:solidFill>
                      <a:schemeClr val="bg1"/>
                    </a:solidFill>
                  </a:tcPr>
                </a:tc>
                <a:tc hMerge="1">
                  <a:txBody>
                    <a:bodyPr/>
                    <a:lstStyle/>
                    <a:p>
                      <a:endParaRPr lang="en-GB"/>
                    </a:p>
                  </a:txBody>
                  <a:tcPr>
                    <a:lnT w="38100" cap="flat" cmpd="sng" algn="ctr">
                      <a:solidFill>
                        <a:srgbClr val="C00000"/>
                      </a:solidFill>
                      <a:prstDash val="solid"/>
                      <a:round/>
                      <a:headEnd type="none" w="med" len="med"/>
                      <a:tailEnd type="none" w="med" len="med"/>
                    </a:lnT>
                  </a:tcPr>
                </a:tc>
                <a:tc hMerge="1">
                  <a:txBody>
                    <a:bodyPr/>
                    <a:lstStyle/>
                    <a:p>
                      <a:endParaRPr lang="en-GB" dirty="0"/>
                    </a:p>
                  </a:txBody>
                  <a:tcPr>
                    <a:solidFill>
                      <a:schemeClr val="bg1"/>
                    </a:solidFill>
                  </a:tcPr>
                </a:tc>
                <a:tc hMerge="1">
                  <a:txBody>
                    <a:bodyPr/>
                    <a:lstStyle/>
                    <a:p>
                      <a:endParaRPr lang="en-GB" dirty="0"/>
                    </a:p>
                  </a:txBody>
                  <a:tcPr>
                    <a:solidFill>
                      <a:schemeClr val="bg1"/>
                    </a:solidFill>
                  </a:tcPr>
                </a:tc>
                <a:extLst>
                  <a:ext uri="{0D108BD9-81ED-4DB2-BD59-A6C34878D82A}">
                    <a16:rowId xmlns:a16="http://schemas.microsoft.com/office/drawing/2014/main" val="193167412"/>
                  </a:ext>
                </a:extLst>
              </a:tr>
              <a:tr h="370840">
                <a:tc>
                  <a:txBody>
                    <a:bodyPr/>
                    <a:lstStyle/>
                    <a:p>
                      <a:r>
                        <a:rPr lang="en-GB" b="1" dirty="0">
                          <a:solidFill>
                            <a:schemeClr val="bg1"/>
                          </a:solidFill>
                        </a:rPr>
                        <a:t>ID</a:t>
                      </a:r>
                    </a:p>
                  </a:txBody>
                  <a:tcPr>
                    <a:solidFill>
                      <a:schemeClr val="accent2"/>
                    </a:solidFill>
                  </a:tcPr>
                </a:tc>
                <a:tc>
                  <a:txBody>
                    <a:bodyPr/>
                    <a:lstStyle/>
                    <a:p>
                      <a:r>
                        <a:rPr lang="en-GB" b="1" dirty="0">
                          <a:solidFill>
                            <a:schemeClr val="bg1"/>
                          </a:solidFill>
                        </a:rPr>
                        <a:t>Customer</a:t>
                      </a:r>
                    </a:p>
                  </a:txBody>
                  <a:tcPr>
                    <a:solidFill>
                      <a:schemeClr val="accent2"/>
                    </a:solidFill>
                  </a:tcPr>
                </a:tc>
                <a:tc>
                  <a:txBody>
                    <a:bodyPr/>
                    <a:lstStyle/>
                    <a:p>
                      <a:r>
                        <a:rPr lang="en-GB" b="1" dirty="0">
                          <a:solidFill>
                            <a:schemeClr val="bg1"/>
                          </a:solidFill>
                        </a:rPr>
                        <a:t>Country</a:t>
                      </a:r>
                    </a:p>
                  </a:txBody>
                  <a:tcPr>
                    <a:solidFill>
                      <a:schemeClr val="accent2"/>
                    </a:solidFill>
                  </a:tcPr>
                </a:tc>
                <a:tc>
                  <a:txBody>
                    <a:bodyPr/>
                    <a:lstStyle/>
                    <a:p>
                      <a:r>
                        <a:rPr lang="en-GB" b="1" dirty="0">
                          <a:solidFill>
                            <a:schemeClr val="bg1"/>
                          </a:solidFill>
                        </a:rPr>
                        <a:t>City</a:t>
                      </a:r>
                    </a:p>
                  </a:txBody>
                  <a:tcPr>
                    <a:solidFill>
                      <a:schemeClr val="accent2"/>
                    </a:solidFill>
                  </a:tcPr>
                </a:tc>
                <a:tc>
                  <a:txBody>
                    <a:bodyPr/>
                    <a:lstStyle/>
                    <a:p>
                      <a:r>
                        <a:rPr lang="en-GB" b="1" dirty="0">
                          <a:solidFill>
                            <a:schemeClr val="bg1"/>
                          </a:solidFill>
                        </a:rPr>
                        <a:t>Date</a:t>
                      </a:r>
                    </a:p>
                  </a:txBody>
                  <a:tcPr>
                    <a:solidFill>
                      <a:schemeClr val="accent2"/>
                    </a:solidFill>
                  </a:tcPr>
                </a:tc>
                <a:tc>
                  <a:txBody>
                    <a:bodyPr/>
                    <a:lstStyle/>
                    <a:p>
                      <a:r>
                        <a:rPr lang="en-GB" b="1" dirty="0">
                          <a:solidFill>
                            <a:schemeClr val="bg1"/>
                          </a:solidFill>
                        </a:rPr>
                        <a:t>Renew</a:t>
                      </a:r>
                    </a:p>
                  </a:txBody>
                  <a:tcPr>
                    <a:solidFill>
                      <a:schemeClr val="accent2"/>
                    </a:solidFill>
                  </a:tcPr>
                </a:tc>
                <a:extLst>
                  <a:ext uri="{0D108BD9-81ED-4DB2-BD59-A6C34878D82A}">
                    <a16:rowId xmlns:a16="http://schemas.microsoft.com/office/drawing/2014/main" val="4137631760"/>
                  </a:ext>
                </a:extLst>
              </a:tr>
              <a:tr h="370840">
                <a:tc>
                  <a:txBody>
                    <a:bodyPr/>
                    <a:lstStyle/>
                    <a:p>
                      <a:r>
                        <a:rPr lang="en-GB" dirty="0"/>
                        <a:t>1</a:t>
                      </a:r>
                    </a:p>
                  </a:txBody>
                  <a:tcPr/>
                </a:tc>
                <a:tc>
                  <a:txBody>
                    <a:bodyPr/>
                    <a:lstStyle/>
                    <a:p>
                      <a:r>
                        <a:rPr lang="en-GB" dirty="0"/>
                        <a:t>Dongford International</a:t>
                      </a:r>
                    </a:p>
                  </a:txBody>
                  <a:tcPr/>
                </a:tc>
                <a:tc>
                  <a:txBody>
                    <a:bodyPr/>
                    <a:lstStyle/>
                    <a:p>
                      <a:r>
                        <a:rPr lang="en-GB" dirty="0"/>
                        <a:t>USA</a:t>
                      </a:r>
                    </a:p>
                  </a:txBody>
                  <a:tcPr/>
                </a:tc>
                <a:tc>
                  <a:txBody>
                    <a:bodyPr/>
                    <a:lstStyle/>
                    <a:p>
                      <a:r>
                        <a:rPr lang="en-GB"/>
                        <a:t>New York</a:t>
                      </a:r>
                      <a:endParaRPr lang="en-GB" dirty="0"/>
                    </a:p>
                  </a:txBody>
                  <a:tcPr/>
                </a:tc>
                <a:tc>
                  <a:txBody>
                    <a:bodyPr/>
                    <a:lstStyle/>
                    <a:p>
                      <a:r>
                        <a:rPr lang="en-GB" dirty="0"/>
                        <a:t>13.09.2018</a:t>
                      </a:r>
                    </a:p>
                  </a:txBody>
                  <a:tcPr/>
                </a:tc>
                <a:tc>
                  <a:txBody>
                    <a:bodyPr/>
                    <a:lstStyle/>
                    <a:p>
                      <a:r>
                        <a:rPr lang="en-GB" dirty="0"/>
                        <a:t>Y</a:t>
                      </a:r>
                    </a:p>
                  </a:txBody>
                  <a:tcPr/>
                </a:tc>
                <a:extLst>
                  <a:ext uri="{0D108BD9-81ED-4DB2-BD59-A6C34878D82A}">
                    <a16:rowId xmlns:a16="http://schemas.microsoft.com/office/drawing/2014/main" val="1073751956"/>
                  </a:ext>
                </a:extLst>
              </a:tr>
              <a:tr h="370840">
                <a:tc>
                  <a:txBody>
                    <a:bodyPr/>
                    <a:lstStyle/>
                    <a:p>
                      <a:r>
                        <a:rPr lang="en-GB" dirty="0"/>
                        <a:t>2</a:t>
                      </a:r>
                    </a:p>
                  </a:txBody>
                  <a:tcPr/>
                </a:tc>
                <a:tc>
                  <a:txBody>
                    <a:bodyPr/>
                    <a:lstStyle/>
                    <a:p>
                      <a:r>
                        <a:rPr lang="en-GB" dirty="0"/>
                        <a:t>Stateford Co.</a:t>
                      </a:r>
                    </a:p>
                  </a:txBody>
                  <a:tcPr/>
                </a:tc>
                <a:tc>
                  <a:txBody>
                    <a:bodyPr/>
                    <a:lstStyle/>
                    <a:p>
                      <a:r>
                        <a:rPr lang="en-GB" dirty="0"/>
                        <a:t>France</a:t>
                      </a:r>
                    </a:p>
                  </a:txBody>
                  <a:tcPr/>
                </a:tc>
                <a:tc>
                  <a:txBody>
                    <a:bodyPr/>
                    <a:lstStyle/>
                    <a:p>
                      <a:r>
                        <a:rPr lang="en-GB"/>
                        <a:t>Paris</a:t>
                      </a:r>
                      <a:endParaRPr lang="en-GB" dirty="0"/>
                    </a:p>
                  </a:txBody>
                  <a:tcPr/>
                </a:tc>
                <a:tc>
                  <a:txBody>
                    <a:bodyPr/>
                    <a:lstStyle/>
                    <a:p>
                      <a:r>
                        <a:rPr lang="en-GB" dirty="0"/>
                        <a:t>14.11.2000</a:t>
                      </a:r>
                    </a:p>
                  </a:txBody>
                  <a:tcPr/>
                </a:tc>
                <a:tc>
                  <a:txBody>
                    <a:bodyPr/>
                    <a:lstStyle/>
                    <a:p>
                      <a:r>
                        <a:rPr lang="en-GB" dirty="0"/>
                        <a:t>Y</a:t>
                      </a:r>
                    </a:p>
                  </a:txBody>
                  <a:tcPr/>
                </a:tc>
                <a:extLst>
                  <a:ext uri="{0D108BD9-81ED-4DB2-BD59-A6C34878D82A}">
                    <a16:rowId xmlns:a16="http://schemas.microsoft.com/office/drawing/2014/main" val="2555284218"/>
                  </a:ext>
                </a:extLst>
              </a:tr>
              <a:tr h="370840">
                <a:tc>
                  <a:txBody>
                    <a:bodyPr/>
                    <a:lstStyle/>
                    <a:p>
                      <a:r>
                        <a:rPr lang="en-GB" dirty="0"/>
                        <a:t>3</a:t>
                      </a:r>
                    </a:p>
                  </a:txBody>
                  <a:tcPr/>
                </a:tc>
                <a:tc>
                  <a:txBody>
                    <a:bodyPr/>
                    <a:lstStyle/>
                    <a:p>
                      <a:r>
                        <a:rPr lang="en-GB" dirty="0"/>
                        <a:t>Standard Ltd.</a:t>
                      </a:r>
                    </a:p>
                  </a:txBody>
                  <a:tcPr/>
                </a:tc>
                <a:tc>
                  <a:txBody>
                    <a:bodyPr/>
                    <a:lstStyle/>
                    <a:p>
                      <a:r>
                        <a:rPr lang="en-GB" dirty="0"/>
                        <a:t>USA</a:t>
                      </a:r>
                    </a:p>
                  </a:txBody>
                  <a:tcPr/>
                </a:tc>
                <a:tc>
                  <a:txBody>
                    <a:bodyPr/>
                    <a:lstStyle/>
                    <a:p>
                      <a:r>
                        <a:rPr lang="en-GB"/>
                        <a:t>San Francisco</a:t>
                      </a:r>
                      <a:endParaRPr lang="en-GB" dirty="0"/>
                    </a:p>
                  </a:txBody>
                  <a:tcPr/>
                </a:tc>
                <a:tc>
                  <a:txBody>
                    <a:bodyPr/>
                    <a:lstStyle/>
                    <a:p>
                      <a:r>
                        <a:rPr lang="en-GB" dirty="0"/>
                        <a:t>21.03.2007</a:t>
                      </a:r>
                    </a:p>
                  </a:txBody>
                  <a:tcPr/>
                </a:tc>
                <a:tc>
                  <a:txBody>
                    <a:bodyPr/>
                    <a:lstStyle/>
                    <a:p>
                      <a:r>
                        <a:rPr lang="en-GB" dirty="0"/>
                        <a:t>N</a:t>
                      </a:r>
                    </a:p>
                  </a:txBody>
                  <a:tcPr/>
                </a:tc>
                <a:extLst>
                  <a:ext uri="{0D108BD9-81ED-4DB2-BD59-A6C34878D82A}">
                    <a16:rowId xmlns:a16="http://schemas.microsoft.com/office/drawing/2014/main" val="4141681689"/>
                  </a:ext>
                </a:extLst>
              </a:tr>
              <a:tr h="370840">
                <a:tc>
                  <a:txBody>
                    <a:bodyPr/>
                    <a:lstStyle/>
                    <a:p>
                      <a:r>
                        <a:rPr lang="en-GB" dirty="0"/>
                        <a:t>4</a:t>
                      </a:r>
                    </a:p>
                  </a:txBody>
                  <a:tcPr/>
                </a:tc>
                <a:tc>
                  <a:txBody>
                    <a:bodyPr/>
                    <a:lstStyle/>
                    <a:p>
                      <a:r>
                        <a:rPr lang="en-GB" dirty="0"/>
                        <a:t>Nardis</a:t>
                      </a:r>
                    </a:p>
                  </a:txBody>
                  <a:tcPr/>
                </a:tc>
                <a:tc>
                  <a:txBody>
                    <a:bodyPr/>
                    <a:lstStyle/>
                    <a:p>
                      <a:r>
                        <a:rPr lang="en-GB" dirty="0"/>
                        <a:t>Japan</a:t>
                      </a:r>
                    </a:p>
                  </a:txBody>
                  <a:tcPr/>
                </a:tc>
                <a:tc>
                  <a:txBody>
                    <a:bodyPr/>
                    <a:lstStyle/>
                    <a:p>
                      <a:r>
                        <a:rPr lang="en-GB"/>
                        <a:t>Tokyo</a:t>
                      </a:r>
                      <a:endParaRPr lang="en-GB" dirty="0"/>
                    </a:p>
                  </a:txBody>
                  <a:tcPr/>
                </a:tc>
                <a:tc>
                  <a:txBody>
                    <a:bodyPr/>
                    <a:lstStyle/>
                    <a:p>
                      <a:r>
                        <a:rPr lang="en-GB" dirty="0"/>
                        <a:t>30.05.2012</a:t>
                      </a:r>
                    </a:p>
                  </a:txBody>
                  <a:tcPr/>
                </a:tc>
                <a:tc>
                  <a:txBody>
                    <a:bodyPr/>
                    <a:lstStyle/>
                    <a:p>
                      <a:r>
                        <a:rPr lang="en-GB" dirty="0"/>
                        <a:t>Y</a:t>
                      </a:r>
                    </a:p>
                  </a:txBody>
                  <a:tcPr/>
                </a:tc>
                <a:extLst>
                  <a:ext uri="{0D108BD9-81ED-4DB2-BD59-A6C34878D82A}">
                    <a16:rowId xmlns:a16="http://schemas.microsoft.com/office/drawing/2014/main" val="3473665056"/>
                  </a:ext>
                </a:extLst>
              </a:tr>
              <a:tr h="370840">
                <a:tc>
                  <a:txBody>
                    <a:bodyPr/>
                    <a:lstStyle/>
                    <a:p>
                      <a:r>
                        <a:rPr lang="en-GB" dirty="0"/>
                        <a:t>5</a:t>
                      </a:r>
                    </a:p>
                  </a:txBody>
                  <a:tcPr/>
                </a:tc>
                <a:tc>
                  <a:txBody>
                    <a:bodyPr/>
                    <a:lstStyle/>
                    <a:p>
                      <a:r>
                        <a:rPr lang="en-GB" dirty="0"/>
                        <a:t>Together Ltd.</a:t>
                      </a:r>
                    </a:p>
                  </a:txBody>
                  <a:tcPr/>
                </a:tc>
                <a:tc>
                  <a:txBody>
                    <a:bodyPr/>
                    <a:lstStyle/>
                    <a:p>
                      <a:r>
                        <a:rPr lang="en-GB" dirty="0"/>
                        <a:t>USA</a:t>
                      </a:r>
                    </a:p>
                  </a:txBody>
                  <a:tcPr/>
                </a:tc>
                <a:tc>
                  <a:txBody>
                    <a:bodyPr/>
                    <a:lstStyle/>
                    <a:p>
                      <a:r>
                        <a:rPr lang="en-GB" dirty="0"/>
                        <a:t>New York</a:t>
                      </a:r>
                    </a:p>
                  </a:txBody>
                  <a:tcPr/>
                </a:tc>
                <a:tc>
                  <a:txBody>
                    <a:bodyPr/>
                    <a:lstStyle/>
                    <a:p>
                      <a:r>
                        <a:rPr lang="en-GB" dirty="0"/>
                        <a:t>01.04.1998</a:t>
                      </a:r>
                    </a:p>
                  </a:txBody>
                  <a:tcPr/>
                </a:tc>
                <a:tc>
                  <a:txBody>
                    <a:bodyPr/>
                    <a:lstStyle/>
                    <a:p>
                      <a:r>
                        <a:rPr lang="en-GB" dirty="0"/>
                        <a:t>N</a:t>
                      </a:r>
                    </a:p>
                  </a:txBody>
                  <a:tcPr/>
                </a:tc>
                <a:extLst>
                  <a:ext uri="{0D108BD9-81ED-4DB2-BD59-A6C34878D82A}">
                    <a16:rowId xmlns:a16="http://schemas.microsoft.com/office/drawing/2014/main" val="3608053961"/>
                  </a:ext>
                </a:extLst>
              </a:tr>
            </a:tbl>
          </a:graphicData>
        </a:graphic>
      </p:graphicFrame>
      <p:sp>
        <p:nvSpPr>
          <p:cNvPr id="3" name="Rectangle 2">
            <a:extLst>
              <a:ext uri="{FF2B5EF4-FFF2-40B4-BE49-F238E27FC236}">
                <a16:creationId xmlns:a16="http://schemas.microsoft.com/office/drawing/2014/main" id="{AEDC772E-A8A0-A8B7-FE54-EE732FA23A3B}"/>
              </a:ext>
            </a:extLst>
          </p:cNvPr>
          <p:cNvSpPr/>
          <p:nvPr/>
        </p:nvSpPr>
        <p:spPr>
          <a:xfrm>
            <a:off x="176565" y="523174"/>
            <a:ext cx="1468415" cy="470000"/>
          </a:xfrm>
          <a:prstGeom prst="rect">
            <a:avLst/>
          </a:prstGeom>
        </p:spPr>
        <p:txBody>
          <a:bodyPr wrap="non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Databases</a:t>
            </a:r>
            <a:endParaRPr lang="en-GB" sz="1200" dirty="0">
              <a:solidFill>
                <a:srgbClr val="0087B1"/>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886809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989BBE4-38CA-4FFB-B9AA-E0BBB2AB22B7}"/>
              </a:ext>
            </a:extLst>
          </p:cNvPr>
          <p:cNvSpPr/>
          <p:nvPr/>
        </p:nvSpPr>
        <p:spPr>
          <a:xfrm>
            <a:off x="176565" y="993174"/>
            <a:ext cx="11755425" cy="1025922"/>
          </a:xfrm>
          <a:prstGeom prst="rect">
            <a:avLst/>
          </a:prstGeom>
        </p:spPr>
        <p:txBody>
          <a:bodyPr wrap="square">
            <a:spAutoFit/>
          </a:bodyPr>
          <a:lstStyle/>
          <a:p>
            <a:pPr>
              <a:spcAft>
                <a:spcPts val="800"/>
              </a:spcAft>
              <a:buClr>
                <a:schemeClr val="tx1"/>
              </a:buClr>
            </a:pPr>
            <a:r>
              <a:rPr lang="en-GB" sz="1800" dirty="0">
                <a:solidFill>
                  <a:schemeClr val="tx1"/>
                </a:solidFill>
              </a:rPr>
              <a:t>With a </a:t>
            </a:r>
            <a:r>
              <a:rPr lang="en-GB" sz="1800" b="1" dirty="0">
                <a:solidFill>
                  <a:schemeClr val="tx1"/>
                </a:solidFill>
              </a:rPr>
              <a:t>database</a:t>
            </a:r>
            <a:r>
              <a:rPr lang="en-GB" sz="1800" dirty="0">
                <a:solidFill>
                  <a:schemeClr val="tx1"/>
                </a:solidFill>
              </a:rPr>
              <a:t>, we should make sure each </a:t>
            </a:r>
            <a:r>
              <a:rPr lang="en-GB" sz="1800" b="1" dirty="0">
                <a:solidFill>
                  <a:schemeClr val="tx1"/>
                </a:solidFill>
              </a:rPr>
              <a:t>record</a:t>
            </a:r>
            <a:r>
              <a:rPr lang="en-GB" sz="1800" dirty="0">
                <a:solidFill>
                  <a:schemeClr val="tx1"/>
                </a:solidFill>
              </a:rPr>
              <a:t> within a </a:t>
            </a:r>
            <a:r>
              <a:rPr lang="en-GB" sz="1800" b="1" dirty="0">
                <a:solidFill>
                  <a:schemeClr val="tx1"/>
                </a:solidFill>
              </a:rPr>
              <a:t>table</a:t>
            </a:r>
            <a:r>
              <a:rPr lang="en-GB" sz="1800" dirty="0">
                <a:solidFill>
                  <a:schemeClr val="tx1"/>
                </a:solidFill>
              </a:rPr>
              <a:t> is uniquely identifiable.</a:t>
            </a:r>
          </a:p>
          <a:p>
            <a:pPr>
              <a:buClr>
                <a:schemeClr val="tx1"/>
              </a:buClr>
            </a:pPr>
            <a:r>
              <a:rPr lang="en-GB" sz="1800" dirty="0">
                <a:solidFill>
                  <a:schemeClr val="tx1"/>
                </a:solidFill>
              </a:rPr>
              <a:t>Consequently, at least one </a:t>
            </a:r>
            <a:r>
              <a:rPr lang="en-GB" sz="1800" b="1" dirty="0">
                <a:solidFill>
                  <a:schemeClr val="tx1"/>
                </a:solidFill>
              </a:rPr>
              <a:t>field</a:t>
            </a:r>
            <a:r>
              <a:rPr lang="en-GB" sz="1800" dirty="0">
                <a:solidFill>
                  <a:schemeClr val="tx1"/>
                </a:solidFill>
              </a:rPr>
              <a:t> in each </a:t>
            </a:r>
            <a:r>
              <a:rPr lang="en-GB" sz="1800" b="1" dirty="0">
                <a:solidFill>
                  <a:schemeClr val="tx1"/>
                </a:solidFill>
              </a:rPr>
              <a:t>record</a:t>
            </a:r>
            <a:r>
              <a:rPr lang="en-GB" sz="1800" dirty="0">
                <a:solidFill>
                  <a:schemeClr val="tx1"/>
                </a:solidFill>
              </a:rPr>
              <a:t> shoul</a:t>
            </a:r>
            <a:r>
              <a:rPr lang="en-GB" dirty="0"/>
              <a:t>d be</a:t>
            </a:r>
            <a:r>
              <a:rPr lang="en-GB" sz="1800" dirty="0">
                <a:solidFill>
                  <a:schemeClr val="tx1"/>
                </a:solidFill>
              </a:rPr>
              <a:t> guaranteed to be unique – this </a:t>
            </a:r>
            <a:r>
              <a:rPr lang="en-GB" sz="1800" b="1" dirty="0">
                <a:solidFill>
                  <a:schemeClr val="tx1"/>
                </a:solidFill>
              </a:rPr>
              <a:t>field</a:t>
            </a:r>
            <a:r>
              <a:rPr lang="en-GB" sz="1800" dirty="0">
                <a:solidFill>
                  <a:schemeClr val="tx1"/>
                </a:solidFill>
              </a:rPr>
              <a:t> is known as the </a:t>
            </a:r>
            <a:r>
              <a:rPr lang="en-GB" sz="1800" b="1" dirty="0">
                <a:solidFill>
                  <a:schemeClr val="tx1"/>
                </a:solidFill>
              </a:rPr>
              <a:t>primary</a:t>
            </a:r>
            <a:r>
              <a:rPr lang="en-GB" sz="1800" dirty="0">
                <a:solidFill>
                  <a:schemeClr val="tx1"/>
                </a:solidFill>
              </a:rPr>
              <a:t> </a:t>
            </a:r>
            <a:r>
              <a:rPr lang="en-GB" sz="1800" b="1" dirty="0">
                <a:solidFill>
                  <a:schemeClr val="tx1"/>
                </a:solidFill>
              </a:rPr>
              <a:t>key</a:t>
            </a:r>
            <a:r>
              <a:rPr lang="en-GB" sz="1800" dirty="0">
                <a:solidFill>
                  <a:schemeClr val="tx1"/>
                </a:solidFill>
              </a:rPr>
              <a:t>.</a:t>
            </a:r>
            <a:endParaRPr lang="en-GB" sz="1800" b="1" dirty="0">
              <a:solidFill>
                <a:schemeClr val="tx1"/>
              </a:solidFill>
            </a:endParaRPr>
          </a:p>
          <a:p>
            <a:endParaRPr lang="en-GB" dirty="0">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3" name="Table 3">
            <a:extLst>
              <a:ext uri="{FF2B5EF4-FFF2-40B4-BE49-F238E27FC236}">
                <a16:creationId xmlns:a16="http://schemas.microsoft.com/office/drawing/2014/main" id="{D6558C0F-F422-BD07-DF74-67F67AC764C8}"/>
              </a:ext>
            </a:extLst>
          </p:cNvPr>
          <p:cNvGraphicFramePr>
            <a:graphicFrameLocks noGrp="1"/>
          </p:cNvGraphicFramePr>
          <p:nvPr>
            <p:extLst>
              <p:ext uri="{D42A27DB-BD31-4B8C-83A1-F6EECF244321}">
                <p14:modId xmlns:p14="http://schemas.microsoft.com/office/powerpoint/2010/main" val="440049872"/>
              </p:ext>
            </p:extLst>
          </p:nvPr>
        </p:nvGraphicFramePr>
        <p:xfrm>
          <a:off x="1374587" y="3095330"/>
          <a:ext cx="9442825" cy="2966720"/>
        </p:xfrm>
        <a:graphic>
          <a:graphicData uri="http://schemas.openxmlformats.org/drawingml/2006/table">
            <a:tbl>
              <a:tblPr firstRow="1" bandRow="1">
                <a:tableStyleId>{21E4AEA4-8DFA-4A89-87EB-49C32662AFE0}</a:tableStyleId>
              </a:tblPr>
              <a:tblGrid>
                <a:gridCol w="728061">
                  <a:extLst>
                    <a:ext uri="{9D8B030D-6E8A-4147-A177-3AD203B41FA5}">
                      <a16:colId xmlns:a16="http://schemas.microsoft.com/office/drawing/2014/main" val="3996809463"/>
                    </a:ext>
                  </a:extLst>
                </a:gridCol>
                <a:gridCol w="2624491">
                  <a:extLst>
                    <a:ext uri="{9D8B030D-6E8A-4147-A177-3AD203B41FA5}">
                      <a16:colId xmlns:a16="http://schemas.microsoft.com/office/drawing/2014/main" val="3000222899"/>
                    </a:ext>
                  </a:extLst>
                </a:gridCol>
                <a:gridCol w="1518271">
                  <a:extLst>
                    <a:ext uri="{9D8B030D-6E8A-4147-A177-3AD203B41FA5}">
                      <a16:colId xmlns:a16="http://schemas.microsoft.com/office/drawing/2014/main" val="870613421"/>
                    </a:ext>
                  </a:extLst>
                </a:gridCol>
                <a:gridCol w="1810871">
                  <a:extLst>
                    <a:ext uri="{9D8B030D-6E8A-4147-A177-3AD203B41FA5}">
                      <a16:colId xmlns:a16="http://schemas.microsoft.com/office/drawing/2014/main" val="725307633"/>
                    </a:ext>
                  </a:extLst>
                </a:gridCol>
                <a:gridCol w="1855694">
                  <a:extLst>
                    <a:ext uri="{9D8B030D-6E8A-4147-A177-3AD203B41FA5}">
                      <a16:colId xmlns:a16="http://schemas.microsoft.com/office/drawing/2014/main" val="1372900861"/>
                    </a:ext>
                  </a:extLst>
                </a:gridCol>
                <a:gridCol w="905437">
                  <a:extLst>
                    <a:ext uri="{9D8B030D-6E8A-4147-A177-3AD203B41FA5}">
                      <a16:colId xmlns:a16="http://schemas.microsoft.com/office/drawing/2014/main" val="1843823703"/>
                    </a:ext>
                  </a:extLst>
                </a:gridCol>
              </a:tblGrid>
              <a:tr h="370840">
                <a:tc>
                  <a:txBody>
                    <a:bodyPr/>
                    <a:lstStyle/>
                    <a:p>
                      <a:r>
                        <a:rPr lang="en-GB" dirty="0"/>
                        <a:t>ID</a:t>
                      </a:r>
                    </a:p>
                  </a:txBody>
                  <a:tcPr>
                    <a:solidFill>
                      <a:schemeClr val="accent4">
                        <a:lumMod val="75000"/>
                      </a:schemeClr>
                    </a:solidFill>
                  </a:tcPr>
                </a:tc>
                <a:tc>
                  <a:txBody>
                    <a:bodyPr/>
                    <a:lstStyle/>
                    <a:p>
                      <a:r>
                        <a:rPr lang="en-GB" dirty="0"/>
                        <a:t>Customer</a:t>
                      </a:r>
                    </a:p>
                  </a:txBody>
                  <a:tcPr/>
                </a:tc>
                <a:tc>
                  <a:txBody>
                    <a:bodyPr/>
                    <a:lstStyle/>
                    <a:p>
                      <a:r>
                        <a:rPr lang="en-GB" dirty="0"/>
                        <a:t>Country</a:t>
                      </a:r>
                    </a:p>
                  </a:txBody>
                  <a:tcPr/>
                </a:tc>
                <a:tc>
                  <a:txBody>
                    <a:bodyPr/>
                    <a:lstStyle/>
                    <a:p>
                      <a:r>
                        <a:rPr lang="en-GB" dirty="0"/>
                        <a:t>City</a:t>
                      </a:r>
                    </a:p>
                  </a:txBody>
                  <a:tcPr/>
                </a:tc>
                <a:tc>
                  <a:txBody>
                    <a:bodyPr/>
                    <a:lstStyle/>
                    <a:p>
                      <a:r>
                        <a:rPr lang="en-GB" dirty="0"/>
                        <a:t>Date</a:t>
                      </a:r>
                    </a:p>
                  </a:txBody>
                  <a:tcPr/>
                </a:tc>
                <a:tc>
                  <a:txBody>
                    <a:bodyPr/>
                    <a:lstStyle/>
                    <a:p>
                      <a:r>
                        <a:rPr lang="en-GB" dirty="0"/>
                        <a:t>Renew</a:t>
                      </a:r>
                    </a:p>
                  </a:txBody>
                  <a:tcPr/>
                </a:tc>
                <a:extLst>
                  <a:ext uri="{0D108BD9-81ED-4DB2-BD59-A6C34878D82A}">
                    <a16:rowId xmlns:a16="http://schemas.microsoft.com/office/drawing/2014/main" val="4137631760"/>
                  </a:ext>
                </a:extLst>
              </a:tr>
              <a:tr h="370840">
                <a:tc>
                  <a:txBody>
                    <a:bodyPr/>
                    <a:lstStyle/>
                    <a:p>
                      <a:r>
                        <a:rPr lang="en-GB" dirty="0"/>
                        <a:t>1</a:t>
                      </a:r>
                    </a:p>
                  </a:txBody>
                  <a:tcPr>
                    <a:solidFill>
                      <a:schemeClr val="accent4"/>
                    </a:solidFill>
                  </a:tcPr>
                </a:tc>
                <a:tc>
                  <a:txBody>
                    <a:bodyPr/>
                    <a:lstStyle/>
                    <a:p>
                      <a:r>
                        <a:rPr lang="en-GB" dirty="0"/>
                        <a:t>Dongford International</a:t>
                      </a:r>
                    </a:p>
                  </a:txBody>
                  <a:tcPr/>
                </a:tc>
                <a:tc>
                  <a:txBody>
                    <a:bodyPr/>
                    <a:lstStyle/>
                    <a:p>
                      <a:r>
                        <a:rPr lang="en-GB" dirty="0"/>
                        <a:t>USA</a:t>
                      </a:r>
                    </a:p>
                  </a:txBody>
                  <a:tcPr/>
                </a:tc>
                <a:tc>
                  <a:txBody>
                    <a:bodyPr/>
                    <a:lstStyle/>
                    <a:p>
                      <a:r>
                        <a:rPr lang="en-GB" dirty="0"/>
                        <a:t>New York</a:t>
                      </a:r>
                    </a:p>
                  </a:txBody>
                  <a:tcPr/>
                </a:tc>
                <a:tc>
                  <a:txBody>
                    <a:bodyPr/>
                    <a:lstStyle/>
                    <a:p>
                      <a:r>
                        <a:rPr lang="en-GB" dirty="0"/>
                        <a:t>13.09.2018</a:t>
                      </a:r>
                    </a:p>
                  </a:txBody>
                  <a:tcPr/>
                </a:tc>
                <a:tc>
                  <a:txBody>
                    <a:bodyPr/>
                    <a:lstStyle/>
                    <a:p>
                      <a:r>
                        <a:rPr lang="en-GB" dirty="0"/>
                        <a:t>Y</a:t>
                      </a:r>
                    </a:p>
                  </a:txBody>
                  <a:tcPr/>
                </a:tc>
                <a:extLst>
                  <a:ext uri="{0D108BD9-81ED-4DB2-BD59-A6C34878D82A}">
                    <a16:rowId xmlns:a16="http://schemas.microsoft.com/office/drawing/2014/main" val="1073751956"/>
                  </a:ext>
                </a:extLst>
              </a:tr>
              <a:tr h="370840">
                <a:tc>
                  <a:txBody>
                    <a:bodyPr/>
                    <a:lstStyle/>
                    <a:p>
                      <a:r>
                        <a:rPr lang="en-GB" dirty="0"/>
                        <a:t>2</a:t>
                      </a:r>
                    </a:p>
                  </a:txBody>
                  <a:tcPr>
                    <a:solidFill>
                      <a:schemeClr val="accent4">
                        <a:lumMod val="20000"/>
                        <a:lumOff val="80000"/>
                      </a:schemeClr>
                    </a:solidFill>
                  </a:tcPr>
                </a:tc>
                <a:tc>
                  <a:txBody>
                    <a:bodyPr/>
                    <a:lstStyle/>
                    <a:p>
                      <a:r>
                        <a:rPr lang="en-GB" dirty="0"/>
                        <a:t>Stateford Co.</a:t>
                      </a:r>
                    </a:p>
                  </a:txBody>
                  <a:tcPr/>
                </a:tc>
                <a:tc>
                  <a:txBody>
                    <a:bodyPr/>
                    <a:lstStyle/>
                    <a:p>
                      <a:r>
                        <a:rPr lang="en-GB" dirty="0"/>
                        <a:t>France</a:t>
                      </a:r>
                    </a:p>
                  </a:txBody>
                  <a:tcPr/>
                </a:tc>
                <a:tc>
                  <a:txBody>
                    <a:bodyPr/>
                    <a:lstStyle/>
                    <a:p>
                      <a:r>
                        <a:rPr lang="en-GB" dirty="0"/>
                        <a:t>Paris</a:t>
                      </a:r>
                    </a:p>
                  </a:txBody>
                  <a:tcPr/>
                </a:tc>
                <a:tc>
                  <a:txBody>
                    <a:bodyPr/>
                    <a:lstStyle/>
                    <a:p>
                      <a:r>
                        <a:rPr lang="en-GB" dirty="0"/>
                        <a:t>14.11.2000</a:t>
                      </a:r>
                    </a:p>
                  </a:txBody>
                  <a:tcPr/>
                </a:tc>
                <a:tc>
                  <a:txBody>
                    <a:bodyPr/>
                    <a:lstStyle/>
                    <a:p>
                      <a:r>
                        <a:rPr lang="en-GB" dirty="0"/>
                        <a:t>Y</a:t>
                      </a:r>
                    </a:p>
                  </a:txBody>
                  <a:tcPr/>
                </a:tc>
                <a:extLst>
                  <a:ext uri="{0D108BD9-81ED-4DB2-BD59-A6C34878D82A}">
                    <a16:rowId xmlns:a16="http://schemas.microsoft.com/office/drawing/2014/main" val="2555284218"/>
                  </a:ext>
                </a:extLst>
              </a:tr>
              <a:tr h="370840">
                <a:tc>
                  <a:txBody>
                    <a:bodyPr/>
                    <a:lstStyle/>
                    <a:p>
                      <a:r>
                        <a:rPr lang="en-GB" dirty="0"/>
                        <a:t>3</a:t>
                      </a:r>
                    </a:p>
                  </a:txBody>
                  <a:tcPr>
                    <a:solidFill>
                      <a:schemeClr val="accent4"/>
                    </a:solidFill>
                  </a:tcPr>
                </a:tc>
                <a:tc>
                  <a:txBody>
                    <a:bodyPr/>
                    <a:lstStyle/>
                    <a:p>
                      <a:r>
                        <a:rPr lang="en-GB" dirty="0"/>
                        <a:t>Standard Ltd.</a:t>
                      </a:r>
                    </a:p>
                  </a:txBody>
                  <a:tcPr/>
                </a:tc>
                <a:tc>
                  <a:txBody>
                    <a:bodyPr/>
                    <a:lstStyle/>
                    <a:p>
                      <a:r>
                        <a:rPr lang="en-GB" dirty="0"/>
                        <a:t>USA</a:t>
                      </a:r>
                    </a:p>
                  </a:txBody>
                  <a:tcPr/>
                </a:tc>
                <a:tc>
                  <a:txBody>
                    <a:bodyPr/>
                    <a:lstStyle/>
                    <a:p>
                      <a:r>
                        <a:rPr lang="en-GB" dirty="0"/>
                        <a:t>San Francisco</a:t>
                      </a:r>
                    </a:p>
                  </a:txBody>
                  <a:tcPr/>
                </a:tc>
                <a:tc>
                  <a:txBody>
                    <a:bodyPr/>
                    <a:lstStyle/>
                    <a:p>
                      <a:r>
                        <a:rPr lang="en-GB" dirty="0"/>
                        <a:t>21.03.2007</a:t>
                      </a:r>
                    </a:p>
                  </a:txBody>
                  <a:tcPr/>
                </a:tc>
                <a:tc>
                  <a:txBody>
                    <a:bodyPr/>
                    <a:lstStyle/>
                    <a:p>
                      <a:r>
                        <a:rPr lang="en-GB" dirty="0"/>
                        <a:t>N</a:t>
                      </a:r>
                    </a:p>
                  </a:txBody>
                  <a:tcPr/>
                </a:tc>
                <a:extLst>
                  <a:ext uri="{0D108BD9-81ED-4DB2-BD59-A6C34878D82A}">
                    <a16:rowId xmlns:a16="http://schemas.microsoft.com/office/drawing/2014/main" val="4141681689"/>
                  </a:ext>
                </a:extLst>
              </a:tr>
              <a:tr h="370840">
                <a:tc>
                  <a:txBody>
                    <a:bodyPr/>
                    <a:lstStyle/>
                    <a:p>
                      <a:r>
                        <a:rPr lang="en-GB" dirty="0"/>
                        <a:t>4</a:t>
                      </a:r>
                    </a:p>
                  </a:txBody>
                  <a:tcPr>
                    <a:solidFill>
                      <a:schemeClr val="accent4">
                        <a:lumMod val="20000"/>
                        <a:lumOff val="80000"/>
                      </a:schemeClr>
                    </a:solidFill>
                  </a:tcPr>
                </a:tc>
                <a:tc>
                  <a:txBody>
                    <a:bodyPr/>
                    <a:lstStyle/>
                    <a:p>
                      <a:r>
                        <a:rPr lang="en-GB" dirty="0"/>
                        <a:t>Nardis</a:t>
                      </a:r>
                    </a:p>
                  </a:txBody>
                  <a:tcPr/>
                </a:tc>
                <a:tc>
                  <a:txBody>
                    <a:bodyPr/>
                    <a:lstStyle/>
                    <a:p>
                      <a:r>
                        <a:rPr lang="en-GB" dirty="0"/>
                        <a:t>Japan</a:t>
                      </a:r>
                    </a:p>
                  </a:txBody>
                  <a:tcPr/>
                </a:tc>
                <a:tc>
                  <a:txBody>
                    <a:bodyPr/>
                    <a:lstStyle/>
                    <a:p>
                      <a:r>
                        <a:rPr lang="en-GB" dirty="0"/>
                        <a:t>Tokyo</a:t>
                      </a:r>
                    </a:p>
                  </a:txBody>
                  <a:tcPr/>
                </a:tc>
                <a:tc>
                  <a:txBody>
                    <a:bodyPr/>
                    <a:lstStyle/>
                    <a:p>
                      <a:r>
                        <a:rPr lang="en-GB" dirty="0"/>
                        <a:t>30.05.2012</a:t>
                      </a:r>
                    </a:p>
                  </a:txBody>
                  <a:tcPr/>
                </a:tc>
                <a:tc>
                  <a:txBody>
                    <a:bodyPr/>
                    <a:lstStyle/>
                    <a:p>
                      <a:r>
                        <a:rPr lang="en-GB" dirty="0"/>
                        <a:t>Y</a:t>
                      </a:r>
                    </a:p>
                  </a:txBody>
                  <a:tcPr/>
                </a:tc>
                <a:extLst>
                  <a:ext uri="{0D108BD9-81ED-4DB2-BD59-A6C34878D82A}">
                    <a16:rowId xmlns:a16="http://schemas.microsoft.com/office/drawing/2014/main" val="3473665056"/>
                  </a:ext>
                </a:extLst>
              </a:tr>
              <a:tr h="370840">
                <a:tc>
                  <a:txBody>
                    <a:bodyPr/>
                    <a:lstStyle/>
                    <a:p>
                      <a:r>
                        <a:rPr lang="en-GB" dirty="0"/>
                        <a:t>5</a:t>
                      </a:r>
                    </a:p>
                  </a:txBody>
                  <a:tcPr>
                    <a:solidFill>
                      <a:schemeClr val="accent4"/>
                    </a:solidFill>
                  </a:tcPr>
                </a:tc>
                <a:tc>
                  <a:txBody>
                    <a:bodyPr/>
                    <a:lstStyle/>
                    <a:p>
                      <a:r>
                        <a:rPr lang="en-GB" dirty="0"/>
                        <a:t>Together Ltd.</a:t>
                      </a:r>
                    </a:p>
                  </a:txBody>
                  <a:tcPr/>
                </a:tc>
                <a:tc>
                  <a:txBody>
                    <a:bodyPr/>
                    <a:lstStyle/>
                    <a:p>
                      <a:r>
                        <a:rPr lang="en-GB" dirty="0"/>
                        <a:t>USA</a:t>
                      </a:r>
                    </a:p>
                  </a:txBody>
                  <a:tcPr/>
                </a:tc>
                <a:tc>
                  <a:txBody>
                    <a:bodyPr/>
                    <a:lstStyle/>
                    <a:p>
                      <a:r>
                        <a:rPr lang="en-GB" dirty="0"/>
                        <a:t>New York</a:t>
                      </a:r>
                    </a:p>
                  </a:txBody>
                  <a:tcPr/>
                </a:tc>
                <a:tc>
                  <a:txBody>
                    <a:bodyPr/>
                    <a:lstStyle/>
                    <a:p>
                      <a:r>
                        <a:rPr lang="en-GB" dirty="0"/>
                        <a:t>01.04.1998</a:t>
                      </a:r>
                    </a:p>
                  </a:txBody>
                  <a:tcPr/>
                </a:tc>
                <a:tc>
                  <a:txBody>
                    <a:bodyPr/>
                    <a:lstStyle/>
                    <a:p>
                      <a:r>
                        <a:rPr lang="en-GB" dirty="0"/>
                        <a:t>N</a:t>
                      </a:r>
                    </a:p>
                  </a:txBody>
                  <a:tcPr/>
                </a:tc>
                <a:extLst>
                  <a:ext uri="{0D108BD9-81ED-4DB2-BD59-A6C34878D82A}">
                    <a16:rowId xmlns:a16="http://schemas.microsoft.com/office/drawing/2014/main" val="3608053961"/>
                  </a:ext>
                </a:extLst>
              </a:tr>
              <a:tr h="370840">
                <a:tc>
                  <a:txBody>
                    <a:bodyPr/>
                    <a:lstStyle/>
                    <a:p>
                      <a:r>
                        <a:rPr lang="en-GB" dirty="0"/>
                        <a:t>6</a:t>
                      </a:r>
                    </a:p>
                  </a:txBody>
                  <a:tcPr>
                    <a:solidFill>
                      <a:schemeClr val="accent4">
                        <a:lumMod val="20000"/>
                        <a:lumOff val="80000"/>
                      </a:schemeClr>
                    </a:solidFill>
                  </a:tcPr>
                </a:tc>
                <a:tc>
                  <a:txBody>
                    <a:bodyPr/>
                    <a:lstStyle/>
                    <a:p>
                      <a:r>
                        <a:rPr lang="en-GB" dirty="0"/>
                        <a:t>Nori</a:t>
                      </a:r>
                    </a:p>
                  </a:txBody>
                  <a:tcPr/>
                </a:tc>
                <a:tc>
                  <a:txBody>
                    <a:bodyPr/>
                    <a:lstStyle/>
                    <a:p>
                      <a:r>
                        <a:rPr lang="en-GB" dirty="0"/>
                        <a:t>Japan</a:t>
                      </a:r>
                    </a:p>
                  </a:txBody>
                  <a:tcPr/>
                </a:tc>
                <a:tc>
                  <a:txBody>
                    <a:bodyPr/>
                    <a:lstStyle/>
                    <a:p>
                      <a:r>
                        <a:rPr lang="en-GB" dirty="0"/>
                        <a:t>Tokyo</a:t>
                      </a:r>
                    </a:p>
                  </a:txBody>
                  <a:tcPr/>
                </a:tc>
                <a:tc>
                  <a:txBody>
                    <a:bodyPr/>
                    <a:lstStyle/>
                    <a:p>
                      <a:r>
                        <a:rPr lang="en-GB" dirty="0"/>
                        <a:t>07.07.2005</a:t>
                      </a:r>
                    </a:p>
                  </a:txBody>
                  <a:tcPr/>
                </a:tc>
                <a:tc>
                  <a:txBody>
                    <a:bodyPr/>
                    <a:lstStyle/>
                    <a:p>
                      <a:r>
                        <a:rPr lang="en-GB" dirty="0"/>
                        <a:t>Y</a:t>
                      </a:r>
                    </a:p>
                  </a:txBody>
                  <a:tcPr/>
                </a:tc>
                <a:extLst>
                  <a:ext uri="{0D108BD9-81ED-4DB2-BD59-A6C34878D82A}">
                    <a16:rowId xmlns:a16="http://schemas.microsoft.com/office/drawing/2014/main" val="2474386657"/>
                  </a:ext>
                </a:extLst>
              </a:tr>
              <a:tr h="370840">
                <a:tc>
                  <a:txBody>
                    <a:bodyPr/>
                    <a:lstStyle/>
                    <a:p>
                      <a:r>
                        <a:rPr lang="en-GB" dirty="0"/>
                        <a:t>7</a:t>
                      </a:r>
                    </a:p>
                  </a:txBody>
                  <a:tcPr>
                    <a:solidFill>
                      <a:schemeClr val="accent4"/>
                    </a:solidFill>
                  </a:tcPr>
                </a:tc>
                <a:tc>
                  <a:txBody>
                    <a:bodyPr/>
                    <a:lstStyle/>
                    <a:p>
                      <a:r>
                        <a:rPr lang="en-GB" dirty="0"/>
                        <a:t>Intersec Co.</a:t>
                      </a:r>
                    </a:p>
                  </a:txBody>
                  <a:tcPr/>
                </a:tc>
                <a:tc>
                  <a:txBody>
                    <a:bodyPr/>
                    <a:lstStyle/>
                    <a:p>
                      <a:r>
                        <a:rPr lang="en-GB" dirty="0"/>
                        <a:t>Germany</a:t>
                      </a:r>
                    </a:p>
                  </a:txBody>
                  <a:tcPr/>
                </a:tc>
                <a:tc>
                  <a:txBody>
                    <a:bodyPr/>
                    <a:lstStyle/>
                    <a:p>
                      <a:r>
                        <a:rPr lang="en-GB" dirty="0"/>
                        <a:t>Berlin</a:t>
                      </a:r>
                    </a:p>
                  </a:txBody>
                  <a:tcPr/>
                </a:tc>
                <a:tc>
                  <a:txBody>
                    <a:bodyPr/>
                    <a:lstStyle/>
                    <a:p>
                      <a:r>
                        <a:rPr lang="en-GB" dirty="0"/>
                        <a:t>15.11.2020</a:t>
                      </a:r>
                    </a:p>
                  </a:txBody>
                  <a:tcPr/>
                </a:tc>
                <a:tc>
                  <a:txBody>
                    <a:bodyPr/>
                    <a:lstStyle/>
                    <a:p>
                      <a:r>
                        <a:rPr lang="en-GB" dirty="0"/>
                        <a:t>Y</a:t>
                      </a:r>
                    </a:p>
                  </a:txBody>
                  <a:tcPr/>
                </a:tc>
                <a:extLst>
                  <a:ext uri="{0D108BD9-81ED-4DB2-BD59-A6C34878D82A}">
                    <a16:rowId xmlns:a16="http://schemas.microsoft.com/office/drawing/2014/main" val="1146906907"/>
                  </a:ext>
                </a:extLst>
              </a:tr>
            </a:tbl>
          </a:graphicData>
        </a:graphic>
      </p:graphicFrame>
      <p:pic>
        <p:nvPicPr>
          <p:cNvPr id="7" name="Graphic 6" descr="Key with solid fill">
            <a:extLst>
              <a:ext uri="{FF2B5EF4-FFF2-40B4-BE49-F238E27FC236}">
                <a16:creationId xmlns:a16="http://schemas.microsoft.com/office/drawing/2014/main" id="{46A91A0B-9D9D-1762-A126-94C7C1CDA8C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64024" y="2331609"/>
            <a:ext cx="914400" cy="914400"/>
          </a:xfrm>
          <a:prstGeom prst="rect">
            <a:avLst/>
          </a:prstGeom>
        </p:spPr>
      </p:pic>
      <p:sp>
        <p:nvSpPr>
          <p:cNvPr id="8" name="Rectangle 7">
            <a:extLst>
              <a:ext uri="{FF2B5EF4-FFF2-40B4-BE49-F238E27FC236}">
                <a16:creationId xmlns:a16="http://schemas.microsoft.com/office/drawing/2014/main" id="{63F5C088-F123-F5A3-E0BC-EC1356F1C0DE}"/>
              </a:ext>
            </a:extLst>
          </p:cNvPr>
          <p:cNvSpPr/>
          <p:nvPr/>
        </p:nvSpPr>
        <p:spPr>
          <a:xfrm>
            <a:off x="176565" y="523174"/>
            <a:ext cx="1769587" cy="470000"/>
          </a:xfrm>
          <a:prstGeom prst="rect">
            <a:avLst/>
          </a:prstGeom>
        </p:spPr>
        <p:txBody>
          <a:bodyPr wrap="non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Primary keys</a:t>
            </a:r>
            <a:endParaRPr lang="en-GB" sz="1200" dirty="0">
              <a:solidFill>
                <a:srgbClr val="0087B1"/>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88317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989BBE4-38CA-4FFB-B9AA-E0BBB2AB22B7}"/>
              </a:ext>
            </a:extLst>
          </p:cNvPr>
          <p:cNvSpPr/>
          <p:nvPr/>
        </p:nvSpPr>
        <p:spPr>
          <a:xfrm>
            <a:off x="175104" y="993174"/>
            <a:ext cx="11496196" cy="1025922"/>
          </a:xfrm>
          <a:prstGeom prst="rect">
            <a:avLst/>
          </a:prstGeom>
        </p:spPr>
        <p:txBody>
          <a:bodyPr wrap="square">
            <a:spAutoFit/>
          </a:bodyPr>
          <a:lstStyle/>
          <a:p>
            <a:pPr>
              <a:spcAft>
                <a:spcPts val="800"/>
              </a:spcAft>
              <a:buClr>
                <a:schemeClr val="tx1"/>
              </a:buClr>
            </a:pPr>
            <a:r>
              <a:rPr lang="en-GB" sz="1800" dirty="0">
                <a:solidFill>
                  <a:schemeClr val="tx1"/>
                </a:solidFill>
              </a:rPr>
              <a:t>While designing a </a:t>
            </a:r>
            <a:r>
              <a:rPr lang="en-GB" sz="1800" b="1" dirty="0">
                <a:solidFill>
                  <a:schemeClr val="tx1"/>
                </a:solidFill>
              </a:rPr>
              <a:t>table</a:t>
            </a:r>
            <a:r>
              <a:rPr lang="en-GB" sz="1800" dirty="0">
                <a:solidFill>
                  <a:schemeClr val="tx1"/>
                </a:solidFill>
              </a:rPr>
              <a:t>, you might discover one of the </a:t>
            </a:r>
            <a:r>
              <a:rPr lang="en-GB" sz="1800" b="1" dirty="0">
                <a:solidFill>
                  <a:schemeClr val="tx1"/>
                </a:solidFill>
              </a:rPr>
              <a:t>fields</a:t>
            </a:r>
            <a:r>
              <a:rPr lang="en-GB" sz="1800" dirty="0">
                <a:solidFill>
                  <a:schemeClr val="tx1"/>
                </a:solidFill>
              </a:rPr>
              <a:t> can act as a </a:t>
            </a:r>
            <a:r>
              <a:rPr lang="en-GB" sz="1800" b="1" dirty="0">
                <a:solidFill>
                  <a:schemeClr val="tx1"/>
                </a:solidFill>
              </a:rPr>
              <a:t>primary key</a:t>
            </a:r>
            <a:r>
              <a:rPr lang="en-GB" sz="1800" dirty="0">
                <a:solidFill>
                  <a:schemeClr val="tx1"/>
                </a:solidFill>
              </a:rPr>
              <a:t>.</a:t>
            </a:r>
          </a:p>
          <a:p>
            <a:pPr>
              <a:buClr>
                <a:schemeClr val="tx1"/>
              </a:buClr>
            </a:pPr>
            <a:r>
              <a:rPr lang="en-GB" sz="1800" dirty="0">
                <a:solidFill>
                  <a:schemeClr val="tx1"/>
                </a:solidFill>
              </a:rPr>
              <a:t>In other situations, it will be necessary to create an additional </a:t>
            </a:r>
            <a:r>
              <a:rPr lang="en-GB" sz="1800" b="1" dirty="0">
                <a:solidFill>
                  <a:schemeClr val="tx1"/>
                </a:solidFill>
              </a:rPr>
              <a:t>field</a:t>
            </a:r>
            <a:r>
              <a:rPr lang="en-GB" sz="1800" dirty="0">
                <a:solidFill>
                  <a:schemeClr val="tx1"/>
                </a:solidFill>
              </a:rPr>
              <a:t> to act as the </a:t>
            </a:r>
            <a:r>
              <a:rPr lang="en-GB" sz="1800" b="1" dirty="0">
                <a:solidFill>
                  <a:schemeClr val="tx1"/>
                </a:solidFill>
              </a:rPr>
              <a:t>primary key</a:t>
            </a:r>
            <a:r>
              <a:rPr lang="en-GB" sz="1800" dirty="0">
                <a:solidFill>
                  <a:schemeClr val="tx1"/>
                </a:solidFill>
              </a:rPr>
              <a:t>.</a:t>
            </a:r>
          </a:p>
          <a:p>
            <a:endParaRPr lang="en-GB" dirty="0">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2" name="Table 4">
            <a:extLst>
              <a:ext uri="{FF2B5EF4-FFF2-40B4-BE49-F238E27FC236}">
                <a16:creationId xmlns:a16="http://schemas.microsoft.com/office/drawing/2014/main" id="{20B564AA-5C5B-6A36-31AA-3CC585DE5029}"/>
              </a:ext>
            </a:extLst>
          </p:cNvPr>
          <p:cNvGraphicFramePr>
            <a:graphicFrameLocks noGrp="1"/>
          </p:cNvGraphicFramePr>
          <p:nvPr>
            <p:extLst>
              <p:ext uri="{D42A27DB-BD31-4B8C-83A1-F6EECF244321}">
                <p14:modId xmlns:p14="http://schemas.microsoft.com/office/powerpoint/2010/main" val="2314881609"/>
              </p:ext>
            </p:extLst>
          </p:nvPr>
        </p:nvGraphicFramePr>
        <p:xfrm>
          <a:off x="460862" y="2384614"/>
          <a:ext cx="4813339" cy="3840676"/>
        </p:xfrm>
        <a:graphic>
          <a:graphicData uri="http://schemas.openxmlformats.org/drawingml/2006/table">
            <a:tbl>
              <a:tblPr firstRow="1" bandRow="1">
                <a:tableStyleId>{21E4AEA4-8DFA-4A89-87EB-49C32662AFE0}</a:tableStyleId>
              </a:tblPr>
              <a:tblGrid>
                <a:gridCol w="869418">
                  <a:extLst>
                    <a:ext uri="{9D8B030D-6E8A-4147-A177-3AD203B41FA5}">
                      <a16:colId xmlns:a16="http://schemas.microsoft.com/office/drawing/2014/main" val="3308151903"/>
                    </a:ext>
                  </a:extLst>
                </a:gridCol>
                <a:gridCol w="714411">
                  <a:extLst>
                    <a:ext uri="{9D8B030D-6E8A-4147-A177-3AD203B41FA5}">
                      <a16:colId xmlns:a16="http://schemas.microsoft.com/office/drawing/2014/main" val="1441476482"/>
                    </a:ext>
                  </a:extLst>
                </a:gridCol>
                <a:gridCol w="835102">
                  <a:extLst>
                    <a:ext uri="{9D8B030D-6E8A-4147-A177-3AD203B41FA5}">
                      <a16:colId xmlns:a16="http://schemas.microsoft.com/office/drawing/2014/main" val="1186943031"/>
                    </a:ext>
                  </a:extLst>
                </a:gridCol>
                <a:gridCol w="696481">
                  <a:extLst>
                    <a:ext uri="{9D8B030D-6E8A-4147-A177-3AD203B41FA5}">
                      <a16:colId xmlns:a16="http://schemas.microsoft.com/office/drawing/2014/main" val="1171864252"/>
                    </a:ext>
                  </a:extLst>
                </a:gridCol>
                <a:gridCol w="713425">
                  <a:extLst>
                    <a:ext uri="{9D8B030D-6E8A-4147-A177-3AD203B41FA5}">
                      <a16:colId xmlns:a16="http://schemas.microsoft.com/office/drawing/2014/main" val="134835398"/>
                    </a:ext>
                  </a:extLst>
                </a:gridCol>
                <a:gridCol w="984502">
                  <a:extLst>
                    <a:ext uri="{9D8B030D-6E8A-4147-A177-3AD203B41FA5}">
                      <a16:colId xmlns:a16="http://schemas.microsoft.com/office/drawing/2014/main" val="3713121083"/>
                    </a:ext>
                  </a:extLst>
                </a:gridCol>
              </a:tblGrid>
              <a:tr h="0">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1" u="none" strike="noStrike" cap="none" normalizeH="0" baseline="0" dirty="0">
                          <a:ln>
                            <a:noFill/>
                          </a:ln>
                          <a:solidFill>
                            <a:schemeClr val="bg1"/>
                          </a:solidFill>
                          <a:effectLst/>
                        </a:rPr>
                        <a:t>Car_reg</a:t>
                      </a:r>
                      <a:endParaRPr kumimoji="0" lang="en-GB" sz="1200" b="1" i="0" u="none" strike="noStrike" cap="none" normalizeH="0" baseline="0" dirty="0">
                        <a:ln>
                          <a:noFill/>
                        </a:ln>
                        <a:solidFill>
                          <a:schemeClr val="bg1"/>
                        </a:solidFill>
                        <a:effectLst/>
                        <a:latin typeface="Calibri" panose="020F0502020204030204" pitchFamily="34" charset="0"/>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1" u="none" strike="noStrike" cap="none" normalizeH="0" baseline="0" dirty="0">
                          <a:ln>
                            <a:noFill/>
                          </a:ln>
                          <a:solidFill>
                            <a:schemeClr val="bg1"/>
                          </a:solidFill>
                          <a:effectLst/>
                        </a:rPr>
                        <a:t>Make </a:t>
                      </a:r>
                      <a:endParaRPr kumimoji="0" lang="en-GB" sz="1200" b="1" i="0" u="none" strike="noStrike" cap="none" normalizeH="0" baseline="0" dirty="0">
                        <a:ln>
                          <a:noFill/>
                        </a:ln>
                        <a:solidFill>
                          <a:schemeClr val="bg1"/>
                        </a:solidFill>
                        <a:effectLst/>
                        <a:latin typeface="Calibri" panose="020F0502020204030204" pitchFamily="34" charset="0"/>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1" u="none" strike="noStrike" cap="none" normalizeH="0" baseline="0" dirty="0">
                          <a:ln>
                            <a:noFill/>
                          </a:ln>
                          <a:solidFill>
                            <a:schemeClr val="bg1"/>
                          </a:solidFill>
                          <a:effectLst/>
                        </a:rPr>
                        <a:t>Model</a:t>
                      </a:r>
                      <a:endParaRPr kumimoji="0" lang="en-GB" sz="1200" b="1" i="0" u="none" strike="noStrike" cap="none" normalizeH="0" baseline="0" dirty="0">
                        <a:ln>
                          <a:noFill/>
                        </a:ln>
                        <a:solidFill>
                          <a:schemeClr val="bg1"/>
                        </a:solidFill>
                        <a:effectLst/>
                        <a:latin typeface="Calibri" panose="020F0502020204030204" pitchFamily="34" charset="0"/>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1" u="none" strike="noStrike" cap="none" normalizeH="0" baseline="0" dirty="0">
                          <a:ln>
                            <a:noFill/>
                          </a:ln>
                          <a:solidFill>
                            <a:schemeClr val="bg1"/>
                          </a:solidFill>
                          <a:effectLst/>
                        </a:rPr>
                        <a:t>Colour</a:t>
                      </a:r>
                      <a:endParaRPr kumimoji="0" lang="en-GB" sz="1200" b="1" i="0" u="none" strike="noStrike" cap="none" normalizeH="0" baseline="0" dirty="0">
                        <a:ln>
                          <a:noFill/>
                        </a:ln>
                        <a:solidFill>
                          <a:schemeClr val="bg1"/>
                        </a:solidFill>
                        <a:effectLst/>
                        <a:latin typeface="Calibri" panose="020F0502020204030204" pitchFamily="34" charset="0"/>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1" u="none" strike="noStrike" cap="none" normalizeH="0" baseline="0" dirty="0">
                          <a:ln>
                            <a:noFill/>
                          </a:ln>
                          <a:solidFill>
                            <a:schemeClr val="bg1"/>
                          </a:solidFill>
                          <a:effectLst/>
                        </a:rPr>
                        <a:t>Engine</a:t>
                      </a:r>
                      <a:endParaRPr kumimoji="0" lang="en-GB" sz="1200" b="1" i="0" u="none" strike="noStrike" cap="none" normalizeH="0" baseline="0" dirty="0">
                        <a:ln>
                          <a:noFill/>
                        </a:ln>
                        <a:solidFill>
                          <a:schemeClr val="bg1"/>
                        </a:solidFill>
                        <a:effectLst/>
                        <a:latin typeface="Calibri" panose="020F0502020204030204" pitchFamily="34" charset="0"/>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1" u="none" strike="noStrike" cap="none" normalizeH="0" baseline="0" dirty="0">
                          <a:ln>
                            <a:noFill/>
                          </a:ln>
                          <a:solidFill>
                            <a:schemeClr val="bg1"/>
                          </a:solidFill>
                          <a:effectLst/>
                        </a:rPr>
                        <a:t>Showroom</a:t>
                      </a:r>
                      <a:endParaRPr kumimoji="0" lang="en-GB" sz="1200" b="1" i="0" u="none" strike="noStrike" cap="none" normalizeH="0" baseline="0" dirty="0">
                        <a:ln>
                          <a:noFill/>
                        </a:ln>
                        <a:solidFill>
                          <a:schemeClr val="bg1"/>
                        </a:solidFill>
                        <a:effectLst/>
                        <a:latin typeface="Calibri" panose="020F0502020204030204" pitchFamily="34" charset="0"/>
                      </a:endParaRPr>
                    </a:p>
                  </a:txBody>
                  <a:tcPr marT="45727" marB="45727" horzOverflow="overflow"/>
                </a:tc>
                <a:extLst>
                  <a:ext uri="{0D108BD9-81ED-4DB2-BD59-A6C34878D82A}">
                    <a16:rowId xmlns:a16="http://schemas.microsoft.com/office/drawing/2014/main" val="12792177"/>
                  </a:ext>
                </a:extLst>
              </a:tr>
              <a:tr h="0">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VK12 TKB</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Vauxhall</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Corsa</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Red</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1.2</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Cars4U</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1474983060"/>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K33 MAK</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Audi</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A1</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Green</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1.5</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Cars4U</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741537929"/>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1975 CS</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Fiat</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Panda</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Black</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0.9</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DriveIT</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1947808707"/>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MI76 HEL</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BMW</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i8</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Black</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1.5</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Need4Speed</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3656935586"/>
                  </a:ext>
                </a:extLst>
              </a:tr>
              <a:tr h="177090">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BT32 UIK</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Vauxhall</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Carlton</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Red</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1.8</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Cars4U</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2254328251"/>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BL16 UDK</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Mazda </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Eunos 800</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White</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2.5</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Need4Speed</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2833459274"/>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GH63KDM</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Fiat</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Freemont</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Green</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1.2</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DriveIT</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1517490987"/>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ST26VUL</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Fiat</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Ducato</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Blue</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2.3</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Cars4U</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3242093261"/>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BP38 YTE</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Audi</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TT</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Black</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2.0</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Need4Speed</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2131839061"/>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W77 NDX</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Audi</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Avant</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White</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2.0</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DriveIT</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949812253"/>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5690 AR</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Vauxhall</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Crossland</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Red</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1.2</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DriveIT</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153684083"/>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MAG 247H</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BMW</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X5 (G05)</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Blue</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3.0</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Need4Speed</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2559249485"/>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NV27 XAW</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Fiat</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Toro</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Black</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2.4</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Cars4U</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2381301335"/>
                  </a:ext>
                </a:extLst>
              </a:tr>
            </a:tbl>
          </a:graphicData>
        </a:graphic>
      </p:graphicFrame>
      <p:graphicFrame>
        <p:nvGraphicFramePr>
          <p:cNvPr id="8" name="Table 4">
            <a:extLst>
              <a:ext uri="{FF2B5EF4-FFF2-40B4-BE49-F238E27FC236}">
                <a16:creationId xmlns:a16="http://schemas.microsoft.com/office/drawing/2014/main" id="{BDE69455-0E5A-6C92-029C-616AC77E833A}"/>
              </a:ext>
            </a:extLst>
          </p:cNvPr>
          <p:cNvGraphicFramePr>
            <a:graphicFrameLocks noGrp="1"/>
          </p:cNvGraphicFramePr>
          <p:nvPr>
            <p:extLst>
              <p:ext uri="{D42A27DB-BD31-4B8C-83A1-F6EECF244321}">
                <p14:modId xmlns:p14="http://schemas.microsoft.com/office/powerpoint/2010/main" val="897885332"/>
              </p:ext>
            </p:extLst>
          </p:nvPr>
        </p:nvGraphicFramePr>
        <p:xfrm>
          <a:off x="6460824" y="2363664"/>
          <a:ext cx="3914968" cy="4023556"/>
        </p:xfrm>
        <a:graphic>
          <a:graphicData uri="http://schemas.openxmlformats.org/drawingml/2006/table">
            <a:tbl>
              <a:tblPr firstRow="1" bandRow="1">
                <a:tableStyleId>{21E4AEA4-8DFA-4A89-87EB-49C32662AFE0}</a:tableStyleId>
              </a:tblPr>
              <a:tblGrid>
                <a:gridCol w="862521">
                  <a:extLst>
                    <a:ext uri="{9D8B030D-6E8A-4147-A177-3AD203B41FA5}">
                      <a16:colId xmlns:a16="http://schemas.microsoft.com/office/drawing/2014/main" val="3308151903"/>
                    </a:ext>
                  </a:extLst>
                </a:gridCol>
                <a:gridCol w="873443">
                  <a:extLst>
                    <a:ext uri="{9D8B030D-6E8A-4147-A177-3AD203B41FA5}">
                      <a16:colId xmlns:a16="http://schemas.microsoft.com/office/drawing/2014/main" val="1441476482"/>
                    </a:ext>
                  </a:extLst>
                </a:gridCol>
                <a:gridCol w="863918">
                  <a:extLst>
                    <a:ext uri="{9D8B030D-6E8A-4147-A177-3AD203B41FA5}">
                      <a16:colId xmlns:a16="http://schemas.microsoft.com/office/drawing/2014/main" val="1186943031"/>
                    </a:ext>
                  </a:extLst>
                </a:gridCol>
                <a:gridCol w="583369">
                  <a:extLst>
                    <a:ext uri="{9D8B030D-6E8A-4147-A177-3AD203B41FA5}">
                      <a16:colId xmlns:a16="http://schemas.microsoft.com/office/drawing/2014/main" val="1171864252"/>
                    </a:ext>
                  </a:extLst>
                </a:gridCol>
                <a:gridCol w="731717">
                  <a:extLst>
                    <a:ext uri="{9D8B030D-6E8A-4147-A177-3AD203B41FA5}">
                      <a16:colId xmlns:a16="http://schemas.microsoft.com/office/drawing/2014/main" val="134835398"/>
                    </a:ext>
                  </a:extLst>
                </a:gridCol>
              </a:tblGrid>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endParaRPr kumimoji="0" lang="en-GB" sz="1200" b="1" i="0" u="none" strike="noStrike" cap="none" normalizeH="0" baseline="0" dirty="0">
                        <a:ln>
                          <a:noFill/>
                        </a:ln>
                        <a:solidFill>
                          <a:schemeClr val="bg1"/>
                        </a:solidFill>
                        <a:effectLst/>
                        <a:latin typeface="Calibri" panose="020F0502020204030204" pitchFamily="34" charset="0"/>
                      </a:endParaRPr>
                    </a:p>
                  </a:txBody>
                  <a:tcPr marT="45727" marB="45727" horzOverflow="overflow">
                    <a:solidFill>
                      <a:schemeClr val="bg1"/>
                    </a:solidFill>
                  </a:tcPr>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1" u="none" strike="noStrike" cap="none" normalizeH="0" baseline="0" dirty="0">
                          <a:ln>
                            <a:noFill/>
                          </a:ln>
                          <a:solidFill>
                            <a:schemeClr val="bg1"/>
                          </a:solidFill>
                          <a:effectLst/>
                        </a:rPr>
                        <a:t>First name</a:t>
                      </a:r>
                      <a:endParaRPr kumimoji="0" lang="en-GB" sz="1200" b="1" i="0" u="none" strike="noStrike" cap="none" normalizeH="0" baseline="0" dirty="0">
                        <a:ln>
                          <a:noFill/>
                        </a:ln>
                        <a:solidFill>
                          <a:schemeClr val="bg1"/>
                        </a:solidFill>
                        <a:effectLst/>
                        <a:latin typeface="Calibri" panose="020F0502020204030204" pitchFamily="34" charset="0"/>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1" u="none" strike="noStrike" cap="none" normalizeH="0" baseline="0" dirty="0">
                          <a:ln>
                            <a:noFill/>
                          </a:ln>
                          <a:solidFill>
                            <a:schemeClr val="bg1"/>
                          </a:solidFill>
                          <a:effectLst/>
                        </a:rPr>
                        <a:t>Surname</a:t>
                      </a:r>
                      <a:endParaRPr kumimoji="0" lang="en-GB" sz="1200" b="1" i="0" u="none" strike="noStrike" cap="none" normalizeH="0" baseline="0" dirty="0">
                        <a:ln>
                          <a:noFill/>
                        </a:ln>
                        <a:solidFill>
                          <a:schemeClr val="bg1"/>
                        </a:solidFill>
                        <a:effectLst/>
                        <a:latin typeface="Calibri" panose="020F0502020204030204" pitchFamily="34" charset="0"/>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1" u="none" strike="noStrike" cap="none" normalizeH="0" baseline="0" dirty="0">
                          <a:ln>
                            <a:noFill/>
                          </a:ln>
                          <a:solidFill>
                            <a:schemeClr val="bg1"/>
                          </a:solidFill>
                          <a:effectLst/>
                        </a:rPr>
                        <a:t>Age</a:t>
                      </a:r>
                      <a:endParaRPr kumimoji="0" lang="en-GB" sz="1200" b="1" i="0" u="none" strike="noStrike" cap="none" normalizeH="0" baseline="0" dirty="0">
                        <a:ln>
                          <a:noFill/>
                        </a:ln>
                        <a:solidFill>
                          <a:schemeClr val="bg1"/>
                        </a:solidFill>
                        <a:effectLst/>
                        <a:latin typeface="Calibri" panose="020F0502020204030204" pitchFamily="34" charset="0"/>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1" u="none" strike="noStrike" cap="none" normalizeH="0" baseline="0" dirty="0">
                          <a:ln>
                            <a:noFill/>
                          </a:ln>
                          <a:solidFill>
                            <a:schemeClr val="bg1"/>
                          </a:solidFill>
                          <a:effectLst/>
                        </a:rPr>
                        <a:t>Tutor group</a:t>
                      </a:r>
                      <a:endParaRPr kumimoji="0" lang="en-GB" sz="1200" b="1" i="0" u="none" strike="noStrike" cap="none" normalizeH="0" baseline="0" dirty="0">
                        <a:ln>
                          <a:noFill/>
                        </a:ln>
                        <a:solidFill>
                          <a:schemeClr val="bg1"/>
                        </a:solidFill>
                        <a:effectLst/>
                        <a:latin typeface="Calibri" panose="020F0502020204030204" pitchFamily="34" charset="0"/>
                      </a:endParaRPr>
                    </a:p>
                  </a:txBody>
                  <a:tcPr marT="45727" marB="45727" horzOverflow="overflow"/>
                </a:tc>
                <a:extLst>
                  <a:ext uri="{0D108BD9-81ED-4DB2-BD59-A6C34878D82A}">
                    <a16:rowId xmlns:a16="http://schemas.microsoft.com/office/drawing/2014/main" val="12792177"/>
                  </a:ext>
                </a:extLst>
              </a:tr>
              <a:tr h="0">
                <a:tc>
                  <a:txBody>
                    <a:bodyPr/>
                    <a:lstStyle/>
                    <a:p>
                      <a:pPr marL="0" marR="0" lvl="0" indent="0" algn="ctr" defTabSz="914400" rtl="0" eaLnBrk="0" fontAlgn="base" latinLnBrk="0" hangingPunct="0">
                        <a:lnSpc>
                          <a:spcPct val="100000"/>
                        </a:lnSpc>
                        <a:spcBef>
                          <a:spcPts val="0"/>
                        </a:spcBef>
                        <a:spcAft>
                          <a:spcPts val="0"/>
                        </a:spcAft>
                        <a:buClrTx/>
                        <a:buSzTx/>
                        <a:buFontTx/>
                        <a:buNone/>
                        <a:tabLst/>
                      </a:pPr>
                      <a:endParaRPr kumimoji="0" lang="en-GB" sz="1200" b="0" i="0" u="none" strike="noStrike" cap="none" normalizeH="0" baseline="0" dirty="0">
                        <a:ln>
                          <a:noFill/>
                        </a:ln>
                        <a:solidFill>
                          <a:schemeClr val="tx1"/>
                        </a:solidFill>
                        <a:effectLst/>
                        <a:latin typeface="+mn-lt"/>
                      </a:endParaRPr>
                    </a:p>
                  </a:txBody>
                  <a:tcPr marT="45727" marB="45727" horzOverflow="overflow">
                    <a:solidFill>
                      <a:schemeClr val="bg1"/>
                    </a:solidFill>
                  </a:tcPr>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Tony</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Hilton</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14</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10C</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1474983060"/>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endParaRPr kumimoji="0" lang="en-GB" sz="1200" b="0" i="0" u="none" strike="noStrike" cap="none" normalizeH="0" baseline="0" dirty="0">
                        <a:ln>
                          <a:noFill/>
                        </a:ln>
                        <a:solidFill>
                          <a:schemeClr val="tx1"/>
                        </a:solidFill>
                        <a:effectLst/>
                        <a:latin typeface="+mn-lt"/>
                      </a:endParaRPr>
                    </a:p>
                  </a:txBody>
                  <a:tcPr marT="45727" marB="45727" horzOverflow="overflow">
                    <a:solidFill>
                      <a:schemeClr val="bg1"/>
                    </a:solidFill>
                  </a:tcPr>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Amar</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Aggarwal</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15</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10E</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741537929"/>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endParaRPr kumimoji="0" lang="en-GB" sz="1200" b="0" i="0" u="none" strike="noStrike" cap="none" normalizeH="0" baseline="0" dirty="0">
                        <a:ln>
                          <a:noFill/>
                        </a:ln>
                        <a:solidFill>
                          <a:schemeClr val="tx1"/>
                        </a:solidFill>
                        <a:effectLst/>
                        <a:latin typeface="+mn-lt"/>
                      </a:endParaRPr>
                    </a:p>
                  </a:txBody>
                  <a:tcPr marT="45727" marB="45727" horzOverflow="overflow">
                    <a:solidFill>
                      <a:schemeClr val="bg1"/>
                    </a:solidFill>
                  </a:tcPr>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Michael</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Andrews</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14</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10C</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1947808707"/>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endParaRPr kumimoji="0" lang="en-GB" sz="1200" b="0" i="0" u="none" strike="noStrike" cap="none" normalizeH="0" baseline="0" dirty="0">
                        <a:ln>
                          <a:noFill/>
                        </a:ln>
                        <a:solidFill>
                          <a:schemeClr val="tx1"/>
                        </a:solidFill>
                        <a:effectLst/>
                        <a:latin typeface="+mn-lt"/>
                      </a:endParaRPr>
                    </a:p>
                  </a:txBody>
                  <a:tcPr marT="45727" marB="45727" horzOverflow="overflow">
                    <a:solidFill>
                      <a:schemeClr val="bg1"/>
                    </a:solidFill>
                  </a:tcPr>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Claire</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Smith</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15</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10E</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3656935586"/>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endParaRPr kumimoji="0" lang="en-GB" sz="1200" b="0" i="0" u="none" strike="noStrike" cap="none" normalizeH="0" baseline="0" dirty="0">
                        <a:ln>
                          <a:noFill/>
                        </a:ln>
                        <a:solidFill>
                          <a:schemeClr val="tx1"/>
                        </a:solidFill>
                        <a:effectLst/>
                        <a:latin typeface="+mn-lt"/>
                      </a:endParaRPr>
                    </a:p>
                  </a:txBody>
                  <a:tcPr marT="45727" marB="45727" horzOverflow="overflow">
                    <a:solidFill>
                      <a:schemeClr val="bg1"/>
                    </a:solidFill>
                  </a:tcPr>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Nalini</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Chahal</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15</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10C</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2254328251"/>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endParaRPr kumimoji="0" lang="en-GB" sz="1200" b="0" i="0" u="none" strike="noStrike" cap="none" normalizeH="0" baseline="0" dirty="0">
                        <a:ln>
                          <a:noFill/>
                        </a:ln>
                        <a:solidFill>
                          <a:schemeClr val="tx1"/>
                        </a:solidFill>
                        <a:effectLst/>
                        <a:latin typeface="+mn-lt"/>
                      </a:endParaRPr>
                    </a:p>
                  </a:txBody>
                  <a:tcPr marT="45727" marB="45727" horzOverflow="overflow">
                    <a:solidFill>
                      <a:schemeClr val="bg1"/>
                    </a:solidFill>
                  </a:tcPr>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Chetan</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Talwar</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14</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10C</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2833459274"/>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endParaRPr kumimoji="0" lang="en-GB" sz="1200" b="0" i="0" u="none" strike="noStrike" cap="none" normalizeH="0" baseline="0" dirty="0">
                        <a:ln>
                          <a:noFill/>
                        </a:ln>
                        <a:solidFill>
                          <a:schemeClr val="tx1"/>
                        </a:solidFill>
                        <a:effectLst/>
                        <a:latin typeface="+mn-lt"/>
                      </a:endParaRPr>
                    </a:p>
                  </a:txBody>
                  <a:tcPr marT="45727" marB="45727" horzOverflow="overflow">
                    <a:solidFill>
                      <a:schemeClr val="bg1"/>
                    </a:solidFill>
                  </a:tcPr>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Andrew</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Watts</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14</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10C</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1517490987"/>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endParaRPr kumimoji="0" lang="en-GB" sz="1200" b="0" i="0" u="none" strike="noStrike" cap="none" normalizeH="0" baseline="0" dirty="0">
                        <a:ln>
                          <a:noFill/>
                        </a:ln>
                        <a:solidFill>
                          <a:schemeClr val="tx1"/>
                        </a:solidFill>
                        <a:effectLst/>
                        <a:latin typeface="+mn-lt"/>
                      </a:endParaRPr>
                    </a:p>
                  </a:txBody>
                  <a:tcPr marT="45727" marB="45727" horzOverflow="overflow">
                    <a:solidFill>
                      <a:schemeClr val="bg1"/>
                    </a:solidFill>
                  </a:tcPr>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Khasi</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Vohra</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15</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10B</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3242093261"/>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endParaRPr kumimoji="0" lang="en-GB" sz="1200" b="0" i="0" u="none" strike="noStrike" cap="none" normalizeH="0" baseline="0" dirty="0">
                        <a:ln>
                          <a:noFill/>
                        </a:ln>
                        <a:solidFill>
                          <a:schemeClr val="tx1"/>
                        </a:solidFill>
                        <a:effectLst/>
                        <a:latin typeface="+mn-lt"/>
                      </a:endParaRPr>
                    </a:p>
                  </a:txBody>
                  <a:tcPr marT="45727" marB="45727" horzOverflow="overflow">
                    <a:solidFill>
                      <a:schemeClr val="bg1"/>
                    </a:solidFill>
                  </a:tcPr>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James</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Watkins</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15</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10C</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2131839061"/>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endParaRPr kumimoji="0" lang="en-GB" sz="1200" b="0" i="0" u="none" strike="noStrike" cap="none" normalizeH="0" baseline="0" dirty="0">
                        <a:ln>
                          <a:noFill/>
                        </a:ln>
                        <a:solidFill>
                          <a:schemeClr val="tx1"/>
                        </a:solidFill>
                        <a:effectLst/>
                        <a:latin typeface="+mn-lt"/>
                      </a:endParaRPr>
                    </a:p>
                  </a:txBody>
                  <a:tcPr marT="45727" marB="45727" horzOverflow="overflow">
                    <a:solidFill>
                      <a:schemeClr val="bg1"/>
                    </a:solidFill>
                  </a:tcPr>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Sarah</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Matthews</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15</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10B</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949812253"/>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endParaRPr kumimoji="0" lang="en-GB" sz="1200" b="0" i="0" u="none" strike="noStrike" cap="none" normalizeH="0" baseline="0" dirty="0">
                        <a:ln>
                          <a:noFill/>
                        </a:ln>
                        <a:solidFill>
                          <a:schemeClr val="tx1"/>
                        </a:solidFill>
                        <a:effectLst/>
                        <a:latin typeface="+mn-lt"/>
                      </a:endParaRPr>
                    </a:p>
                  </a:txBody>
                  <a:tcPr marT="45727" marB="45727" horzOverflow="overflow">
                    <a:solidFill>
                      <a:schemeClr val="bg1"/>
                    </a:solidFill>
                  </a:tcPr>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Tom</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Nibblet</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15</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10E</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153684083"/>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endParaRPr kumimoji="0" lang="en-GB" sz="1200" b="0" i="0" u="none" strike="noStrike" cap="none" normalizeH="0" baseline="0" dirty="0">
                        <a:ln>
                          <a:noFill/>
                        </a:ln>
                        <a:solidFill>
                          <a:schemeClr val="tx1"/>
                        </a:solidFill>
                        <a:effectLst/>
                        <a:latin typeface="+mn-lt"/>
                      </a:endParaRPr>
                    </a:p>
                  </a:txBody>
                  <a:tcPr marT="45727" marB="45727" horzOverflow="overflow">
                    <a:solidFill>
                      <a:schemeClr val="bg1"/>
                    </a:solidFill>
                  </a:tcPr>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Mohandas</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Majumdar</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14</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10E</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2559249485"/>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endParaRPr kumimoji="0" lang="en-GB" sz="1200" b="0" i="0" u="none" strike="noStrike" cap="none" normalizeH="0" baseline="0" dirty="0">
                        <a:ln>
                          <a:noFill/>
                        </a:ln>
                        <a:solidFill>
                          <a:schemeClr val="tx1"/>
                        </a:solidFill>
                        <a:effectLst/>
                        <a:latin typeface="+mn-lt"/>
                      </a:endParaRPr>
                    </a:p>
                  </a:txBody>
                  <a:tcPr marT="45727" marB="45727" horzOverflow="overflow">
                    <a:solidFill>
                      <a:schemeClr val="bg1"/>
                    </a:solidFill>
                  </a:tcPr>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Andrew</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Kuruvilla</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14</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10B</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2381301335"/>
                  </a:ext>
                </a:extLst>
              </a:tr>
            </a:tbl>
          </a:graphicData>
        </a:graphic>
      </p:graphicFrame>
      <p:graphicFrame>
        <p:nvGraphicFramePr>
          <p:cNvPr id="10" name="Table 4">
            <a:extLst>
              <a:ext uri="{FF2B5EF4-FFF2-40B4-BE49-F238E27FC236}">
                <a16:creationId xmlns:a16="http://schemas.microsoft.com/office/drawing/2014/main" id="{7FD680FE-3B6F-B1A6-2CB8-758C696EAF9E}"/>
              </a:ext>
            </a:extLst>
          </p:cNvPr>
          <p:cNvGraphicFramePr>
            <a:graphicFrameLocks noGrp="1"/>
          </p:cNvGraphicFramePr>
          <p:nvPr>
            <p:extLst>
              <p:ext uri="{D42A27DB-BD31-4B8C-83A1-F6EECF244321}">
                <p14:modId xmlns:p14="http://schemas.microsoft.com/office/powerpoint/2010/main" val="3305642249"/>
              </p:ext>
            </p:extLst>
          </p:nvPr>
        </p:nvGraphicFramePr>
        <p:xfrm>
          <a:off x="460862" y="2384614"/>
          <a:ext cx="4813339" cy="3840676"/>
        </p:xfrm>
        <a:graphic>
          <a:graphicData uri="http://schemas.openxmlformats.org/drawingml/2006/table">
            <a:tbl>
              <a:tblPr firstRow="1" bandRow="1">
                <a:tableStyleId>{21E4AEA4-8DFA-4A89-87EB-49C32662AFE0}</a:tableStyleId>
              </a:tblPr>
              <a:tblGrid>
                <a:gridCol w="869418">
                  <a:extLst>
                    <a:ext uri="{9D8B030D-6E8A-4147-A177-3AD203B41FA5}">
                      <a16:colId xmlns:a16="http://schemas.microsoft.com/office/drawing/2014/main" val="3308151903"/>
                    </a:ext>
                  </a:extLst>
                </a:gridCol>
                <a:gridCol w="714411">
                  <a:extLst>
                    <a:ext uri="{9D8B030D-6E8A-4147-A177-3AD203B41FA5}">
                      <a16:colId xmlns:a16="http://schemas.microsoft.com/office/drawing/2014/main" val="1441476482"/>
                    </a:ext>
                  </a:extLst>
                </a:gridCol>
                <a:gridCol w="835102">
                  <a:extLst>
                    <a:ext uri="{9D8B030D-6E8A-4147-A177-3AD203B41FA5}">
                      <a16:colId xmlns:a16="http://schemas.microsoft.com/office/drawing/2014/main" val="1186943031"/>
                    </a:ext>
                  </a:extLst>
                </a:gridCol>
                <a:gridCol w="696481">
                  <a:extLst>
                    <a:ext uri="{9D8B030D-6E8A-4147-A177-3AD203B41FA5}">
                      <a16:colId xmlns:a16="http://schemas.microsoft.com/office/drawing/2014/main" val="1171864252"/>
                    </a:ext>
                  </a:extLst>
                </a:gridCol>
                <a:gridCol w="713425">
                  <a:extLst>
                    <a:ext uri="{9D8B030D-6E8A-4147-A177-3AD203B41FA5}">
                      <a16:colId xmlns:a16="http://schemas.microsoft.com/office/drawing/2014/main" val="134835398"/>
                    </a:ext>
                  </a:extLst>
                </a:gridCol>
                <a:gridCol w="984502">
                  <a:extLst>
                    <a:ext uri="{9D8B030D-6E8A-4147-A177-3AD203B41FA5}">
                      <a16:colId xmlns:a16="http://schemas.microsoft.com/office/drawing/2014/main" val="3713121083"/>
                    </a:ext>
                  </a:extLst>
                </a:gridCol>
              </a:tblGrid>
              <a:tr h="0">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1" u="none" strike="noStrike" cap="none" normalizeH="0" baseline="0" dirty="0">
                          <a:ln>
                            <a:noFill/>
                          </a:ln>
                          <a:solidFill>
                            <a:schemeClr val="bg1"/>
                          </a:solidFill>
                          <a:effectLst/>
                        </a:rPr>
                        <a:t>Car_reg</a:t>
                      </a:r>
                      <a:endParaRPr kumimoji="0" lang="en-GB" sz="1200" b="1" i="0" u="none" strike="noStrike" cap="none" normalizeH="0" baseline="0" dirty="0">
                        <a:ln>
                          <a:noFill/>
                        </a:ln>
                        <a:solidFill>
                          <a:schemeClr val="bg1"/>
                        </a:solidFill>
                        <a:effectLst/>
                        <a:latin typeface="Calibri" panose="020F0502020204030204" pitchFamily="34" charset="0"/>
                      </a:endParaRPr>
                    </a:p>
                  </a:txBody>
                  <a:tcPr marT="45727" marB="45727" horzOverflow="overflow">
                    <a:solidFill>
                      <a:schemeClr val="accent4"/>
                    </a:solidFill>
                  </a:tcPr>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1" u="none" strike="noStrike" cap="none" normalizeH="0" baseline="0" dirty="0">
                          <a:ln>
                            <a:noFill/>
                          </a:ln>
                          <a:solidFill>
                            <a:schemeClr val="bg1"/>
                          </a:solidFill>
                          <a:effectLst/>
                        </a:rPr>
                        <a:t>Make </a:t>
                      </a:r>
                      <a:endParaRPr kumimoji="0" lang="en-GB" sz="1200" b="1" i="0" u="none" strike="noStrike" cap="none" normalizeH="0" baseline="0" dirty="0">
                        <a:ln>
                          <a:noFill/>
                        </a:ln>
                        <a:solidFill>
                          <a:schemeClr val="bg1"/>
                        </a:solidFill>
                        <a:effectLst/>
                        <a:latin typeface="Calibri" panose="020F0502020204030204" pitchFamily="34" charset="0"/>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1" u="none" strike="noStrike" cap="none" normalizeH="0" baseline="0" dirty="0">
                          <a:ln>
                            <a:noFill/>
                          </a:ln>
                          <a:solidFill>
                            <a:schemeClr val="bg1"/>
                          </a:solidFill>
                          <a:effectLst/>
                        </a:rPr>
                        <a:t>Model</a:t>
                      </a:r>
                      <a:endParaRPr kumimoji="0" lang="en-GB" sz="1200" b="1" i="0" u="none" strike="noStrike" cap="none" normalizeH="0" baseline="0" dirty="0">
                        <a:ln>
                          <a:noFill/>
                        </a:ln>
                        <a:solidFill>
                          <a:schemeClr val="bg1"/>
                        </a:solidFill>
                        <a:effectLst/>
                        <a:latin typeface="Calibri" panose="020F0502020204030204" pitchFamily="34" charset="0"/>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1" u="none" strike="noStrike" cap="none" normalizeH="0" baseline="0" dirty="0">
                          <a:ln>
                            <a:noFill/>
                          </a:ln>
                          <a:solidFill>
                            <a:schemeClr val="bg1"/>
                          </a:solidFill>
                          <a:effectLst/>
                        </a:rPr>
                        <a:t>Colour</a:t>
                      </a:r>
                      <a:endParaRPr kumimoji="0" lang="en-GB" sz="1200" b="1" i="0" u="none" strike="noStrike" cap="none" normalizeH="0" baseline="0" dirty="0">
                        <a:ln>
                          <a:noFill/>
                        </a:ln>
                        <a:solidFill>
                          <a:schemeClr val="bg1"/>
                        </a:solidFill>
                        <a:effectLst/>
                        <a:latin typeface="Calibri" panose="020F0502020204030204" pitchFamily="34" charset="0"/>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1" u="none" strike="noStrike" cap="none" normalizeH="0" baseline="0" dirty="0">
                          <a:ln>
                            <a:noFill/>
                          </a:ln>
                          <a:solidFill>
                            <a:schemeClr val="bg1"/>
                          </a:solidFill>
                          <a:effectLst/>
                        </a:rPr>
                        <a:t>Engine</a:t>
                      </a:r>
                      <a:endParaRPr kumimoji="0" lang="en-GB" sz="1200" b="1" i="0" u="none" strike="noStrike" cap="none" normalizeH="0" baseline="0" dirty="0">
                        <a:ln>
                          <a:noFill/>
                        </a:ln>
                        <a:solidFill>
                          <a:schemeClr val="bg1"/>
                        </a:solidFill>
                        <a:effectLst/>
                        <a:latin typeface="Calibri" panose="020F0502020204030204" pitchFamily="34" charset="0"/>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1" u="none" strike="noStrike" cap="none" normalizeH="0" baseline="0" dirty="0">
                          <a:ln>
                            <a:noFill/>
                          </a:ln>
                          <a:solidFill>
                            <a:schemeClr val="bg1"/>
                          </a:solidFill>
                          <a:effectLst/>
                        </a:rPr>
                        <a:t>Showroom</a:t>
                      </a:r>
                      <a:endParaRPr kumimoji="0" lang="en-GB" sz="1200" b="1" i="0" u="none" strike="noStrike" cap="none" normalizeH="0" baseline="0" dirty="0">
                        <a:ln>
                          <a:noFill/>
                        </a:ln>
                        <a:solidFill>
                          <a:schemeClr val="bg1"/>
                        </a:solidFill>
                        <a:effectLst/>
                        <a:latin typeface="Calibri" panose="020F0502020204030204" pitchFamily="34" charset="0"/>
                      </a:endParaRPr>
                    </a:p>
                  </a:txBody>
                  <a:tcPr marT="45727" marB="45727" horzOverflow="overflow"/>
                </a:tc>
                <a:extLst>
                  <a:ext uri="{0D108BD9-81ED-4DB2-BD59-A6C34878D82A}">
                    <a16:rowId xmlns:a16="http://schemas.microsoft.com/office/drawing/2014/main" val="12792177"/>
                  </a:ext>
                </a:extLst>
              </a:tr>
              <a:tr h="0">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VK12 TKB</a:t>
                      </a:r>
                      <a:endParaRPr kumimoji="0" lang="en-GB" sz="1200" b="0" i="0" u="none" strike="noStrike" cap="none" normalizeH="0" baseline="0" dirty="0">
                        <a:ln>
                          <a:noFill/>
                        </a:ln>
                        <a:solidFill>
                          <a:schemeClr val="tx1"/>
                        </a:solidFill>
                        <a:effectLst/>
                        <a:latin typeface="+mn-lt"/>
                      </a:endParaRPr>
                    </a:p>
                  </a:txBody>
                  <a:tcPr marT="45727" marB="45727" horzOverflow="overflow">
                    <a:solidFill>
                      <a:schemeClr val="accent4">
                        <a:lumMod val="20000"/>
                        <a:lumOff val="80000"/>
                      </a:schemeClr>
                    </a:solidFill>
                  </a:tcPr>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Vauxhall</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Corsa</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Red</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1.2</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Cars4U</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1474983060"/>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K33 MAK</a:t>
                      </a:r>
                      <a:endParaRPr kumimoji="0" lang="en-GB" sz="1200" b="0" i="0" u="none" strike="noStrike" cap="none" normalizeH="0" baseline="0" dirty="0">
                        <a:ln>
                          <a:noFill/>
                        </a:ln>
                        <a:solidFill>
                          <a:schemeClr val="tx1"/>
                        </a:solidFill>
                        <a:effectLst/>
                        <a:latin typeface="+mn-lt"/>
                      </a:endParaRPr>
                    </a:p>
                  </a:txBody>
                  <a:tcPr marT="45727" marB="45727" horzOverflow="overflow">
                    <a:solidFill>
                      <a:schemeClr val="accent4">
                        <a:lumMod val="20000"/>
                        <a:lumOff val="80000"/>
                      </a:schemeClr>
                    </a:solidFill>
                  </a:tcPr>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Audi</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A1</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Green</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1.5</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Cars4U</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741537929"/>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1975 CS</a:t>
                      </a:r>
                      <a:endParaRPr kumimoji="0" lang="en-GB" sz="1200" b="0" i="0" u="none" strike="noStrike" cap="none" normalizeH="0" baseline="0" dirty="0">
                        <a:ln>
                          <a:noFill/>
                        </a:ln>
                        <a:solidFill>
                          <a:schemeClr val="tx1"/>
                        </a:solidFill>
                        <a:effectLst/>
                        <a:latin typeface="+mn-lt"/>
                      </a:endParaRPr>
                    </a:p>
                  </a:txBody>
                  <a:tcPr marT="45727" marB="45727" horzOverflow="overflow">
                    <a:solidFill>
                      <a:schemeClr val="accent4">
                        <a:lumMod val="20000"/>
                        <a:lumOff val="80000"/>
                      </a:schemeClr>
                    </a:solidFill>
                  </a:tcPr>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Fiat</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Panda</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Black</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0.9</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DriveIT</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1947808707"/>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MI76 HEL</a:t>
                      </a:r>
                      <a:endParaRPr kumimoji="0" lang="en-GB" sz="1200" b="0" i="0" u="none" strike="noStrike" cap="none" normalizeH="0" baseline="0" dirty="0">
                        <a:ln>
                          <a:noFill/>
                        </a:ln>
                        <a:solidFill>
                          <a:schemeClr val="tx1"/>
                        </a:solidFill>
                        <a:effectLst/>
                        <a:latin typeface="+mn-lt"/>
                      </a:endParaRPr>
                    </a:p>
                  </a:txBody>
                  <a:tcPr marT="45727" marB="45727" horzOverflow="overflow">
                    <a:solidFill>
                      <a:schemeClr val="accent4">
                        <a:lumMod val="20000"/>
                        <a:lumOff val="80000"/>
                      </a:schemeClr>
                    </a:solidFill>
                  </a:tcPr>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BMW</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i8</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Black</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1.5</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Need4Speed</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3656935586"/>
                  </a:ext>
                </a:extLst>
              </a:tr>
              <a:tr h="177090">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BT32 UIK</a:t>
                      </a:r>
                      <a:endParaRPr kumimoji="0" lang="en-GB" sz="1200" b="0" i="0" u="none" strike="noStrike" cap="none" normalizeH="0" baseline="0" dirty="0">
                        <a:ln>
                          <a:noFill/>
                        </a:ln>
                        <a:solidFill>
                          <a:schemeClr val="tx1"/>
                        </a:solidFill>
                        <a:effectLst/>
                        <a:latin typeface="+mn-lt"/>
                      </a:endParaRPr>
                    </a:p>
                  </a:txBody>
                  <a:tcPr marT="45727" marB="45727" horzOverflow="overflow">
                    <a:solidFill>
                      <a:schemeClr val="accent4">
                        <a:lumMod val="20000"/>
                        <a:lumOff val="80000"/>
                      </a:schemeClr>
                    </a:solidFill>
                  </a:tcPr>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Vauxhall</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Carlton</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Red</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1.8</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Cars4U</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2254328251"/>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BL16 UDK</a:t>
                      </a:r>
                      <a:endParaRPr kumimoji="0" lang="en-GB" sz="1200" b="0" i="0" u="none" strike="noStrike" cap="none" normalizeH="0" baseline="0" dirty="0">
                        <a:ln>
                          <a:noFill/>
                        </a:ln>
                        <a:solidFill>
                          <a:schemeClr val="tx1"/>
                        </a:solidFill>
                        <a:effectLst/>
                        <a:latin typeface="+mn-lt"/>
                      </a:endParaRPr>
                    </a:p>
                  </a:txBody>
                  <a:tcPr marT="45727" marB="45727" horzOverflow="overflow">
                    <a:solidFill>
                      <a:schemeClr val="accent4">
                        <a:lumMod val="20000"/>
                        <a:lumOff val="80000"/>
                      </a:schemeClr>
                    </a:solidFill>
                  </a:tcPr>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Mazda </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Eunos 800</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White</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2.5</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Need4Speed</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2833459274"/>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GH63KDM</a:t>
                      </a:r>
                      <a:endParaRPr kumimoji="0" lang="en-GB" sz="1200" b="0" i="0" u="none" strike="noStrike" cap="none" normalizeH="0" baseline="0" dirty="0">
                        <a:ln>
                          <a:noFill/>
                        </a:ln>
                        <a:solidFill>
                          <a:schemeClr val="tx1"/>
                        </a:solidFill>
                        <a:effectLst/>
                        <a:latin typeface="+mn-lt"/>
                      </a:endParaRPr>
                    </a:p>
                  </a:txBody>
                  <a:tcPr marT="45727" marB="45727" horzOverflow="overflow">
                    <a:solidFill>
                      <a:schemeClr val="accent4">
                        <a:lumMod val="20000"/>
                        <a:lumOff val="80000"/>
                      </a:schemeClr>
                    </a:solidFill>
                  </a:tcPr>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Fiat</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Freemont</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Green</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1.2</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DriveIT</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1517490987"/>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ST26VUL</a:t>
                      </a:r>
                      <a:endParaRPr kumimoji="0" lang="en-GB" sz="1200" b="0" i="0" u="none" strike="noStrike" cap="none" normalizeH="0" baseline="0" dirty="0">
                        <a:ln>
                          <a:noFill/>
                        </a:ln>
                        <a:solidFill>
                          <a:schemeClr val="tx1"/>
                        </a:solidFill>
                        <a:effectLst/>
                        <a:latin typeface="+mn-lt"/>
                      </a:endParaRPr>
                    </a:p>
                  </a:txBody>
                  <a:tcPr marT="45727" marB="45727" horzOverflow="overflow">
                    <a:solidFill>
                      <a:schemeClr val="accent4">
                        <a:lumMod val="20000"/>
                        <a:lumOff val="80000"/>
                      </a:schemeClr>
                    </a:solidFill>
                  </a:tcPr>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Fiat</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Ducato</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Blue</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2.3</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Cars4U</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3242093261"/>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BP38 YTE</a:t>
                      </a:r>
                      <a:endParaRPr kumimoji="0" lang="en-GB" sz="1200" b="0" i="0" u="none" strike="noStrike" cap="none" normalizeH="0" baseline="0" dirty="0">
                        <a:ln>
                          <a:noFill/>
                        </a:ln>
                        <a:solidFill>
                          <a:schemeClr val="tx1"/>
                        </a:solidFill>
                        <a:effectLst/>
                        <a:latin typeface="+mn-lt"/>
                      </a:endParaRPr>
                    </a:p>
                  </a:txBody>
                  <a:tcPr marT="45727" marB="45727" horzOverflow="overflow">
                    <a:solidFill>
                      <a:schemeClr val="accent4">
                        <a:lumMod val="20000"/>
                        <a:lumOff val="80000"/>
                      </a:schemeClr>
                    </a:solidFill>
                  </a:tcPr>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Audi</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TT</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Black</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2.0</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Need4Speed</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2131839061"/>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W77 NDX</a:t>
                      </a:r>
                      <a:endParaRPr kumimoji="0" lang="en-GB" sz="1200" b="0" i="0" u="none" strike="noStrike" cap="none" normalizeH="0" baseline="0" dirty="0">
                        <a:ln>
                          <a:noFill/>
                        </a:ln>
                        <a:solidFill>
                          <a:schemeClr val="tx1"/>
                        </a:solidFill>
                        <a:effectLst/>
                        <a:latin typeface="+mn-lt"/>
                      </a:endParaRPr>
                    </a:p>
                  </a:txBody>
                  <a:tcPr marT="45727" marB="45727" horzOverflow="overflow">
                    <a:solidFill>
                      <a:schemeClr val="accent4">
                        <a:lumMod val="20000"/>
                        <a:lumOff val="80000"/>
                      </a:schemeClr>
                    </a:solidFill>
                  </a:tcPr>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Audi</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Avant</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White</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2.0</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DriveIT</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949812253"/>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5690 AR</a:t>
                      </a:r>
                      <a:endParaRPr kumimoji="0" lang="en-GB" sz="1200" b="0" i="0" u="none" strike="noStrike" cap="none" normalizeH="0" baseline="0" dirty="0">
                        <a:ln>
                          <a:noFill/>
                        </a:ln>
                        <a:solidFill>
                          <a:schemeClr val="tx1"/>
                        </a:solidFill>
                        <a:effectLst/>
                        <a:latin typeface="+mn-lt"/>
                      </a:endParaRPr>
                    </a:p>
                  </a:txBody>
                  <a:tcPr marT="45727" marB="45727" horzOverflow="overflow">
                    <a:solidFill>
                      <a:schemeClr val="accent4">
                        <a:lumMod val="20000"/>
                        <a:lumOff val="80000"/>
                      </a:schemeClr>
                    </a:solidFill>
                  </a:tcPr>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Vauxhall</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Crossland</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Red</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1.2</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DriveIT</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153684083"/>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MAG 247H</a:t>
                      </a:r>
                      <a:endParaRPr kumimoji="0" lang="en-GB" sz="1200" b="0" i="0" u="none" strike="noStrike" cap="none" normalizeH="0" baseline="0" dirty="0">
                        <a:ln>
                          <a:noFill/>
                        </a:ln>
                        <a:solidFill>
                          <a:schemeClr val="tx1"/>
                        </a:solidFill>
                        <a:effectLst/>
                        <a:latin typeface="+mn-lt"/>
                      </a:endParaRPr>
                    </a:p>
                  </a:txBody>
                  <a:tcPr marT="45727" marB="45727" horzOverflow="overflow">
                    <a:solidFill>
                      <a:schemeClr val="accent4">
                        <a:lumMod val="20000"/>
                        <a:lumOff val="80000"/>
                      </a:schemeClr>
                    </a:solidFill>
                  </a:tcPr>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BMW</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X5 (G05)</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Blue</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3.0</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Need4Speed</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2559249485"/>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NV27 XAW</a:t>
                      </a:r>
                      <a:endParaRPr kumimoji="0" lang="en-GB" sz="1200" b="0" i="0" u="none" strike="noStrike" cap="none" normalizeH="0" baseline="0" dirty="0">
                        <a:ln>
                          <a:noFill/>
                        </a:ln>
                        <a:solidFill>
                          <a:schemeClr val="tx1"/>
                        </a:solidFill>
                        <a:effectLst/>
                        <a:latin typeface="+mn-lt"/>
                      </a:endParaRPr>
                    </a:p>
                  </a:txBody>
                  <a:tcPr marT="45727" marB="45727" horzOverflow="overflow">
                    <a:solidFill>
                      <a:schemeClr val="accent4">
                        <a:lumMod val="20000"/>
                        <a:lumOff val="80000"/>
                      </a:schemeClr>
                    </a:solidFill>
                  </a:tcPr>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Fiat</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Toro</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Black</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2.4</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Cars4U</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2381301335"/>
                  </a:ext>
                </a:extLst>
              </a:tr>
            </a:tbl>
          </a:graphicData>
        </a:graphic>
      </p:graphicFrame>
      <p:pic>
        <p:nvPicPr>
          <p:cNvPr id="11" name="Graphic 10" descr="Key with solid fill">
            <a:extLst>
              <a:ext uri="{FF2B5EF4-FFF2-40B4-BE49-F238E27FC236}">
                <a16:creationId xmlns:a16="http://schemas.microsoft.com/office/drawing/2014/main" id="{C37BB084-C9B4-A6FE-6A41-AD78D5C682E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0862" y="1597410"/>
            <a:ext cx="914400" cy="914400"/>
          </a:xfrm>
          <a:prstGeom prst="rect">
            <a:avLst/>
          </a:prstGeom>
        </p:spPr>
      </p:pic>
      <p:graphicFrame>
        <p:nvGraphicFramePr>
          <p:cNvPr id="12" name="Table 4">
            <a:extLst>
              <a:ext uri="{FF2B5EF4-FFF2-40B4-BE49-F238E27FC236}">
                <a16:creationId xmlns:a16="http://schemas.microsoft.com/office/drawing/2014/main" id="{A4BE1EDD-565D-107E-54AE-AE3EE81BDFD3}"/>
              </a:ext>
            </a:extLst>
          </p:cNvPr>
          <p:cNvGraphicFramePr>
            <a:graphicFrameLocks noGrp="1"/>
          </p:cNvGraphicFramePr>
          <p:nvPr>
            <p:extLst>
              <p:ext uri="{D42A27DB-BD31-4B8C-83A1-F6EECF244321}">
                <p14:modId xmlns:p14="http://schemas.microsoft.com/office/powerpoint/2010/main" val="709694732"/>
              </p:ext>
            </p:extLst>
          </p:nvPr>
        </p:nvGraphicFramePr>
        <p:xfrm>
          <a:off x="6460824" y="2363664"/>
          <a:ext cx="3914968" cy="4023556"/>
        </p:xfrm>
        <a:graphic>
          <a:graphicData uri="http://schemas.openxmlformats.org/drawingml/2006/table">
            <a:tbl>
              <a:tblPr firstRow="1" bandRow="1">
                <a:tableStyleId>{21E4AEA4-8DFA-4A89-87EB-49C32662AFE0}</a:tableStyleId>
              </a:tblPr>
              <a:tblGrid>
                <a:gridCol w="862521">
                  <a:extLst>
                    <a:ext uri="{9D8B030D-6E8A-4147-A177-3AD203B41FA5}">
                      <a16:colId xmlns:a16="http://schemas.microsoft.com/office/drawing/2014/main" val="3308151903"/>
                    </a:ext>
                  </a:extLst>
                </a:gridCol>
                <a:gridCol w="873443">
                  <a:extLst>
                    <a:ext uri="{9D8B030D-6E8A-4147-A177-3AD203B41FA5}">
                      <a16:colId xmlns:a16="http://schemas.microsoft.com/office/drawing/2014/main" val="1441476482"/>
                    </a:ext>
                  </a:extLst>
                </a:gridCol>
                <a:gridCol w="863918">
                  <a:extLst>
                    <a:ext uri="{9D8B030D-6E8A-4147-A177-3AD203B41FA5}">
                      <a16:colId xmlns:a16="http://schemas.microsoft.com/office/drawing/2014/main" val="1186943031"/>
                    </a:ext>
                  </a:extLst>
                </a:gridCol>
                <a:gridCol w="583369">
                  <a:extLst>
                    <a:ext uri="{9D8B030D-6E8A-4147-A177-3AD203B41FA5}">
                      <a16:colId xmlns:a16="http://schemas.microsoft.com/office/drawing/2014/main" val="1171864252"/>
                    </a:ext>
                  </a:extLst>
                </a:gridCol>
                <a:gridCol w="731717">
                  <a:extLst>
                    <a:ext uri="{9D8B030D-6E8A-4147-A177-3AD203B41FA5}">
                      <a16:colId xmlns:a16="http://schemas.microsoft.com/office/drawing/2014/main" val="134835398"/>
                    </a:ext>
                  </a:extLst>
                </a:gridCol>
              </a:tblGrid>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1" u="none" strike="noStrike" cap="none" normalizeH="0" baseline="0" dirty="0">
                          <a:ln>
                            <a:noFill/>
                          </a:ln>
                          <a:solidFill>
                            <a:schemeClr val="bg1"/>
                          </a:solidFill>
                          <a:effectLst/>
                        </a:rPr>
                        <a:t>Student ID</a:t>
                      </a:r>
                      <a:endParaRPr kumimoji="0" lang="en-GB" sz="1200" b="1" i="0" u="none" strike="noStrike" cap="none" normalizeH="0" baseline="0" dirty="0">
                        <a:ln>
                          <a:noFill/>
                        </a:ln>
                        <a:solidFill>
                          <a:schemeClr val="bg1"/>
                        </a:solidFill>
                        <a:effectLst/>
                        <a:latin typeface="Calibri" panose="020F0502020204030204" pitchFamily="34" charset="0"/>
                      </a:endParaRPr>
                    </a:p>
                  </a:txBody>
                  <a:tcPr marT="45727" marB="45727" horzOverflow="overflow">
                    <a:solidFill>
                      <a:schemeClr val="accent4"/>
                    </a:solidFill>
                  </a:tcPr>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1" u="none" strike="noStrike" cap="none" normalizeH="0" baseline="0" dirty="0">
                          <a:ln>
                            <a:noFill/>
                          </a:ln>
                          <a:solidFill>
                            <a:schemeClr val="bg1"/>
                          </a:solidFill>
                          <a:effectLst/>
                        </a:rPr>
                        <a:t>First name</a:t>
                      </a:r>
                      <a:endParaRPr kumimoji="0" lang="en-GB" sz="1200" b="1" i="0" u="none" strike="noStrike" cap="none" normalizeH="0" baseline="0" dirty="0">
                        <a:ln>
                          <a:noFill/>
                        </a:ln>
                        <a:solidFill>
                          <a:schemeClr val="bg1"/>
                        </a:solidFill>
                        <a:effectLst/>
                        <a:latin typeface="Calibri" panose="020F0502020204030204" pitchFamily="34" charset="0"/>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1" u="none" strike="noStrike" cap="none" normalizeH="0" baseline="0" dirty="0">
                          <a:ln>
                            <a:noFill/>
                          </a:ln>
                          <a:solidFill>
                            <a:schemeClr val="bg1"/>
                          </a:solidFill>
                          <a:effectLst/>
                        </a:rPr>
                        <a:t>Surname</a:t>
                      </a:r>
                      <a:endParaRPr kumimoji="0" lang="en-GB" sz="1200" b="1" i="0" u="none" strike="noStrike" cap="none" normalizeH="0" baseline="0" dirty="0">
                        <a:ln>
                          <a:noFill/>
                        </a:ln>
                        <a:solidFill>
                          <a:schemeClr val="bg1"/>
                        </a:solidFill>
                        <a:effectLst/>
                        <a:latin typeface="Calibri" panose="020F0502020204030204" pitchFamily="34" charset="0"/>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1" u="none" strike="noStrike" cap="none" normalizeH="0" baseline="0" dirty="0">
                          <a:ln>
                            <a:noFill/>
                          </a:ln>
                          <a:solidFill>
                            <a:schemeClr val="bg1"/>
                          </a:solidFill>
                          <a:effectLst/>
                        </a:rPr>
                        <a:t>Age</a:t>
                      </a:r>
                      <a:endParaRPr kumimoji="0" lang="en-GB" sz="1200" b="1" i="0" u="none" strike="noStrike" cap="none" normalizeH="0" baseline="0" dirty="0">
                        <a:ln>
                          <a:noFill/>
                        </a:ln>
                        <a:solidFill>
                          <a:schemeClr val="bg1"/>
                        </a:solidFill>
                        <a:effectLst/>
                        <a:latin typeface="Calibri" panose="020F0502020204030204" pitchFamily="34" charset="0"/>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1" u="none" strike="noStrike" cap="none" normalizeH="0" baseline="0" dirty="0">
                          <a:ln>
                            <a:noFill/>
                          </a:ln>
                          <a:solidFill>
                            <a:schemeClr val="bg1"/>
                          </a:solidFill>
                          <a:effectLst/>
                        </a:rPr>
                        <a:t>Tutor group</a:t>
                      </a:r>
                      <a:endParaRPr kumimoji="0" lang="en-GB" sz="1200" b="1" i="0" u="none" strike="noStrike" cap="none" normalizeH="0" baseline="0" dirty="0">
                        <a:ln>
                          <a:noFill/>
                        </a:ln>
                        <a:solidFill>
                          <a:schemeClr val="bg1"/>
                        </a:solidFill>
                        <a:effectLst/>
                        <a:latin typeface="Calibri" panose="020F0502020204030204" pitchFamily="34" charset="0"/>
                      </a:endParaRPr>
                    </a:p>
                  </a:txBody>
                  <a:tcPr marT="45727" marB="45727" horzOverflow="overflow"/>
                </a:tc>
                <a:extLst>
                  <a:ext uri="{0D108BD9-81ED-4DB2-BD59-A6C34878D82A}">
                    <a16:rowId xmlns:a16="http://schemas.microsoft.com/office/drawing/2014/main" val="12792177"/>
                  </a:ext>
                </a:extLst>
              </a:tr>
              <a:tr h="0">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0001</a:t>
                      </a:r>
                      <a:endParaRPr kumimoji="0" lang="en-GB" sz="1200" b="0" i="0" u="none" strike="noStrike" cap="none" normalizeH="0" baseline="0" dirty="0">
                        <a:ln>
                          <a:noFill/>
                        </a:ln>
                        <a:solidFill>
                          <a:schemeClr val="tx1"/>
                        </a:solidFill>
                        <a:effectLst/>
                        <a:latin typeface="+mn-lt"/>
                      </a:endParaRPr>
                    </a:p>
                  </a:txBody>
                  <a:tcPr marT="45727" marB="45727" horzOverflow="overflow">
                    <a:solidFill>
                      <a:schemeClr val="accent4">
                        <a:lumMod val="20000"/>
                        <a:lumOff val="80000"/>
                      </a:schemeClr>
                    </a:solidFill>
                  </a:tcPr>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Tony</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Hilton</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14</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10C</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1474983060"/>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0002</a:t>
                      </a:r>
                      <a:endParaRPr kumimoji="0" lang="en-GB" sz="1200" b="0" i="0" u="none" strike="noStrike" cap="none" normalizeH="0" baseline="0" dirty="0">
                        <a:ln>
                          <a:noFill/>
                        </a:ln>
                        <a:solidFill>
                          <a:schemeClr val="tx1"/>
                        </a:solidFill>
                        <a:effectLst/>
                        <a:latin typeface="+mn-lt"/>
                      </a:endParaRPr>
                    </a:p>
                  </a:txBody>
                  <a:tcPr marT="45727" marB="45727" horzOverflow="overflow">
                    <a:solidFill>
                      <a:schemeClr val="accent4">
                        <a:lumMod val="20000"/>
                        <a:lumOff val="80000"/>
                      </a:schemeClr>
                    </a:solidFill>
                  </a:tcPr>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Amar</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Aggarwal</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15</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10E</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741537929"/>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0003</a:t>
                      </a:r>
                      <a:endParaRPr kumimoji="0" lang="en-GB" sz="1200" b="0" i="0" u="none" strike="noStrike" cap="none" normalizeH="0" baseline="0" dirty="0">
                        <a:ln>
                          <a:noFill/>
                        </a:ln>
                        <a:solidFill>
                          <a:schemeClr val="tx1"/>
                        </a:solidFill>
                        <a:effectLst/>
                        <a:latin typeface="+mn-lt"/>
                      </a:endParaRPr>
                    </a:p>
                  </a:txBody>
                  <a:tcPr marT="45727" marB="45727" horzOverflow="overflow">
                    <a:solidFill>
                      <a:schemeClr val="accent4">
                        <a:lumMod val="20000"/>
                        <a:lumOff val="80000"/>
                      </a:schemeClr>
                    </a:solidFill>
                  </a:tcPr>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Michael</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Andrews</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14</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10C</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1947808707"/>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0004</a:t>
                      </a:r>
                      <a:endParaRPr kumimoji="0" lang="en-GB" sz="1200" b="0" i="0" u="none" strike="noStrike" cap="none" normalizeH="0" baseline="0" dirty="0">
                        <a:ln>
                          <a:noFill/>
                        </a:ln>
                        <a:solidFill>
                          <a:schemeClr val="tx1"/>
                        </a:solidFill>
                        <a:effectLst/>
                        <a:latin typeface="+mn-lt"/>
                      </a:endParaRPr>
                    </a:p>
                  </a:txBody>
                  <a:tcPr marT="45727" marB="45727" horzOverflow="overflow">
                    <a:solidFill>
                      <a:schemeClr val="accent4">
                        <a:lumMod val="20000"/>
                        <a:lumOff val="80000"/>
                      </a:schemeClr>
                    </a:solidFill>
                  </a:tcPr>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Claire</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Smith</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15</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10E</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3656935586"/>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0005</a:t>
                      </a:r>
                      <a:endParaRPr kumimoji="0" lang="en-GB" sz="1200" b="0" i="0" u="none" strike="noStrike" cap="none" normalizeH="0" baseline="0" dirty="0">
                        <a:ln>
                          <a:noFill/>
                        </a:ln>
                        <a:solidFill>
                          <a:schemeClr val="tx1"/>
                        </a:solidFill>
                        <a:effectLst/>
                        <a:latin typeface="+mn-lt"/>
                      </a:endParaRPr>
                    </a:p>
                  </a:txBody>
                  <a:tcPr marT="45727" marB="45727" horzOverflow="overflow">
                    <a:solidFill>
                      <a:schemeClr val="accent4">
                        <a:lumMod val="20000"/>
                        <a:lumOff val="80000"/>
                      </a:schemeClr>
                    </a:solidFill>
                  </a:tcPr>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Nalini</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Chahal</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15</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10C</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2254328251"/>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0006</a:t>
                      </a:r>
                      <a:endParaRPr kumimoji="0" lang="en-GB" sz="1200" b="0" i="0" u="none" strike="noStrike" cap="none" normalizeH="0" baseline="0" dirty="0">
                        <a:ln>
                          <a:noFill/>
                        </a:ln>
                        <a:solidFill>
                          <a:schemeClr val="tx1"/>
                        </a:solidFill>
                        <a:effectLst/>
                        <a:latin typeface="+mn-lt"/>
                      </a:endParaRPr>
                    </a:p>
                  </a:txBody>
                  <a:tcPr marT="45727" marB="45727" horzOverflow="overflow">
                    <a:solidFill>
                      <a:schemeClr val="accent4">
                        <a:lumMod val="20000"/>
                        <a:lumOff val="80000"/>
                      </a:schemeClr>
                    </a:solidFill>
                  </a:tcPr>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Chetan</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Talwar</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14</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10C</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2833459274"/>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0007</a:t>
                      </a:r>
                      <a:endParaRPr kumimoji="0" lang="en-GB" sz="1200" b="0" i="0" u="none" strike="noStrike" cap="none" normalizeH="0" baseline="0" dirty="0">
                        <a:ln>
                          <a:noFill/>
                        </a:ln>
                        <a:solidFill>
                          <a:schemeClr val="tx1"/>
                        </a:solidFill>
                        <a:effectLst/>
                        <a:latin typeface="+mn-lt"/>
                      </a:endParaRPr>
                    </a:p>
                  </a:txBody>
                  <a:tcPr marT="45727" marB="45727" horzOverflow="overflow">
                    <a:solidFill>
                      <a:schemeClr val="accent4">
                        <a:lumMod val="20000"/>
                        <a:lumOff val="80000"/>
                      </a:schemeClr>
                    </a:solidFill>
                  </a:tcPr>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Andrew</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Watts</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14</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10C</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1517490987"/>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0008</a:t>
                      </a:r>
                      <a:endParaRPr kumimoji="0" lang="en-GB" sz="1200" b="0" i="0" u="none" strike="noStrike" cap="none" normalizeH="0" baseline="0" dirty="0">
                        <a:ln>
                          <a:noFill/>
                        </a:ln>
                        <a:solidFill>
                          <a:schemeClr val="tx1"/>
                        </a:solidFill>
                        <a:effectLst/>
                        <a:latin typeface="+mn-lt"/>
                      </a:endParaRPr>
                    </a:p>
                  </a:txBody>
                  <a:tcPr marT="45727" marB="45727" horzOverflow="overflow">
                    <a:solidFill>
                      <a:schemeClr val="accent4">
                        <a:lumMod val="20000"/>
                        <a:lumOff val="80000"/>
                      </a:schemeClr>
                    </a:solidFill>
                  </a:tcPr>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Khasi</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Vohra</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15</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10B</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3242093261"/>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0010</a:t>
                      </a:r>
                      <a:endParaRPr kumimoji="0" lang="en-GB" sz="1200" b="0" i="0" u="none" strike="noStrike" cap="none" normalizeH="0" baseline="0" dirty="0">
                        <a:ln>
                          <a:noFill/>
                        </a:ln>
                        <a:solidFill>
                          <a:schemeClr val="tx1"/>
                        </a:solidFill>
                        <a:effectLst/>
                        <a:latin typeface="+mn-lt"/>
                      </a:endParaRPr>
                    </a:p>
                  </a:txBody>
                  <a:tcPr marT="45727" marB="45727" horzOverflow="overflow">
                    <a:solidFill>
                      <a:schemeClr val="accent4">
                        <a:lumMod val="20000"/>
                        <a:lumOff val="80000"/>
                      </a:schemeClr>
                    </a:solidFill>
                  </a:tcPr>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James</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Watkins</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15</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10C</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2131839061"/>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0011</a:t>
                      </a:r>
                      <a:endParaRPr kumimoji="0" lang="en-GB" sz="1200" b="0" i="0" u="none" strike="noStrike" cap="none" normalizeH="0" baseline="0" dirty="0">
                        <a:ln>
                          <a:noFill/>
                        </a:ln>
                        <a:solidFill>
                          <a:schemeClr val="tx1"/>
                        </a:solidFill>
                        <a:effectLst/>
                        <a:latin typeface="+mn-lt"/>
                      </a:endParaRPr>
                    </a:p>
                  </a:txBody>
                  <a:tcPr marT="45727" marB="45727" horzOverflow="overflow">
                    <a:solidFill>
                      <a:schemeClr val="accent4">
                        <a:lumMod val="20000"/>
                        <a:lumOff val="80000"/>
                      </a:schemeClr>
                    </a:solidFill>
                  </a:tcPr>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Sarah</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Matthews</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15</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10B</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949812253"/>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0012</a:t>
                      </a:r>
                      <a:endParaRPr kumimoji="0" lang="en-GB" sz="1200" b="0" i="0" u="none" strike="noStrike" cap="none" normalizeH="0" baseline="0" dirty="0">
                        <a:ln>
                          <a:noFill/>
                        </a:ln>
                        <a:solidFill>
                          <a:schemeClr val="tx1"/>
                        </a:solidFill>
                        <a:effectLst/>
                        <a:latin typeface="+mn-lt"/>
                      </a:endParaRPr>
                    </a:p>
                  </a:txBody>
                  <a:tcPr marT="45727" marB="45727" horzOverflow="overflow">
                    <a:solidFill>
                      <a:schemeClr val="accent4">
                        <a:lumMod val="20000"/>
                        <a:lumOff val="80000"/>
                      </a:schemeClr>
                    </a:solidFill>
                  </a:tcPr>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Tom</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Nibblet</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15</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10E</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153684083"/>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0013</a:t>
                      </a:r>
                      <a:endParaRPr kumimoji="0" lang="en-GB" sz="1200" b="0" i="0" u="none" strike="noStrike" cap="none" normalizeH="0" baseline="0" dirty="0">
                        <a:ln>
                          <a:noFill/>
                        </a:ln>
                        <a:solidFill>
                          <a:schemeClr val="tx1"/>
                        </a:solidFill>
                        <a:effectLst/>
                        <a:latin typeface="+mn-lt"/>
                      </a:endParaRPr>
                    </a:p>
                  </a:txBody>
                  <a:tcPr marT="45727" marB="45727" horzOverflow="overflow">
                    <a:solidFill>
                      <a:schemeClr val="accent4">
                        <a:lumMod val="20000"/>
                        <a:lumOff val="80000"/>
                      </a:schemeClr>
                    </a:solidFill>
                  </a:tcPr>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Mohandas</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Majumdar</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14</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10E</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2559249485"/>
                  </a:ext>
                </a:extLst>
              </a:tr>
              <a:tr h="128588">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0014</a:t>
                      </a:r>
                      <a:endParaRPr kumimoji="0" lang="en-GB" sz="1200" b="0" i="0" u="none" strike="noStrike" cap="none" normalizeH="0" baseline="0" dirty="0">
                        <a:ln>
                          <a:noFill/>
                        </a:ln>
                        <a:solidFill>
                          <a:schemeClr val="tx1"/>
                        </a:solidFill>
                        <a:effectLst/>
                        <a:latin typeface="+mn-lt"/>
                      </a:endParaRPr>
                    </a:p>
                  </a:txBody>
                  <a:tcPr marT="45727" marB="45727" horzOverflow="overflow">
                    <a:solidFill>
                      <a:schemeClr val="accent4">
                        <a:lumMod val="20000"/>
                        <a:lumOff val="80000"/>
                      </a:schemeClr>
                    </a:solidFill>
                  </a:tcPr>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Andrew</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Kuruvilla</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14</a:t>
                      </a:r>
                      <a:endParaRPr kumimoji="0" lang="en-GB" sz="1200" b="0" i="0" u="none" strike="noStrike" cap="none" normalizeH="0" baseline="0" dirty="0">
                        <a:ln>
                          <a:noFill/>
                        </a:ln>
                        <a:solidFill>
                          <a:schemeClr val="tx1"/>
                        </a:solidFill>
                        <a:effectLst/>
                        <a:latin typeface="+mn-lt"/>
                      </a:endParaRPr>
                    </a:p>
                  </a:txBody>
                  <a:tcPr marT="45727" marB="45727" horzOverflow="overflow"/>
                </a:tc>
                <a:tc>
                  <a:txBody>
                    <a:bodyPr/>
                    <a:lstStyle/>
                    <a:p>
                      <a:pPr marL="0" marR="0" lvl="0" indent="0" algn="ctr" defTabSz="914400" rtl="0" eaLnBrk="0" fontAlgn="base" latinLnBrk="0" hangingPunct="0">
                        <a:lnSpc>
                          <a:spcPct val="100000"/>
                        </a:lnSpc>
                        <a:spcBef>
                          <a:spcPts val="0"/>
                        </a:spcBef>
                        <a:spcAft>
                          <a:spcPts val="0"/>
                        </a:spcAft>
                        <a:buClrTx/>
                        <a:buSzTx/>
                        <a:buFontTx/>
                        <a:buNone/>
                        <a:tabLst/>
                      </a:pPr>
                      <a:r>
                        <a:rPr kumimoji="0" lang="en-GB" sz="1200" b="0" u="none" strike="noStrike" cap="none" normalizeH="0" baseline="0" dirty="0">
                          <a:ln>
                            <a:noFill/>
                          </a:ln>
                          <a:solidFill>
                            <a:schemeClr val="tx1"/>
                          </a:solidFill>
                          <a:effectLst/>
                        </a:rPr>
                        <a:t>10B</a:t>
                      </a:r>
                      <a:endParaRPr kumimoji="0" lang="en-GB" sz="1200" b="0" i="0" u="none" strike="noStrike" cap="none" normalizeH="0" baseline="0" dirty="0">
                        <a:ln>
                          <a:noFill/>
                        </a:ln>
                        <a:solidFill>
                          <a:schemeClr val="tx1"/>
                        </a:solidFill>
                        <a:effectLst/>
                        <a:latin typeface="+mn-lt"/>
                      </a:endParaRPr>
                    </a:p>
                  </a:txBody>
                  <a:tcPr marT="45727" marB="45727" horzOverflow="overflow"/>
                </a:tc>
                <a:extLst>
                  <a:ext uri="{0D108BD9-81ED-4DB2-BD59-A6C34878D82A}">
                    <a16:rowId xmlns:a16="http://schemas.microsoft.com/office/drawing/2014/main" val="2381301335"/>
                  </a:ext>
                </a:extLst>
              </a:tr>
            </a:tbl>
          </a:graphicData>
        </a:graphic>
      </p:graphicFrame>
      <p:pic>
        <p:nvPicPr>
          <p:cNvPr id="13" name="Graphic 12" descr="Key with solid fill">
            <a:extLst>
              <a:ext uri="{FF2B5EF4-FFF2-40B4-BE49-F238E27FC236}">
                <a16:creationId xmlns:a16="http://schemas.microsoft.com/office/drawing/2014/main" id="{6B27136A-D9E8-D936-15A1-2560BA382D2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60824" y="1597410"/>
            <a:ext cx="914400" cy="914400"/>
          </a:xfrm>
          <a:prstGeom prst="rect">
            <a:avLst/>
          </a:prstGeom>
        </p:spPr>
      </p:pic>
      <p:sp>
        <p:nvSpPr>
          <p:cNvPr id="3" name="Rectangle 2">
            <a:extLst>
              <a:ext uri="{FF2B5EF4-FFF2-40B4-BE49-F238E27FC236}">
                <a16:creationId xmlns:a16="http://schemas.microsoft.com/office/drawing/2014/main" id="{C29AEB75-EFBF-A9EE-69E5-BCA8613E755F}"/>
              </a:ext>
            </a:extLst>
          </p:cNvPr>
          <p:cNvSpPr/>
          <p:nvPr/>
        </p:nvSpPr>
        <p:spPr>
          <a:xfrm>
            <a:off x="176565" y="523174"/>
            <a:ext cx="1769587" cy="470000"/>
          </a:xfrm>
          <a:prstGeom prst="rect">
            <a:avLst/>
          </a:prstGeom>
        </p:spPr>
        <p:txBody>
          <a:bodyPr wrap="non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Primary keys</a:t>
            </a:r>
            <a:endParaRPr lang="en-GB" sz="1200" dirty="0">
              <a:solidFill>
                <a:srgbClr val="0087B1"/>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62511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par>
                          <p:cTn id="8" fill="hold">
                            <p:stCondLst>
                              <p:cond delay="2000"/>
                            </p:stCondLst>
                            <p:childTnLst>
                              <p:par>
                                <p:cTn id="9" presetID="1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1000"/>
                                        <p:tgtEl>
                                          <p:spTgt spid="10"/>
                                        </p:tgtEl>
                                      </p:cBhvr>
                                    </p:animEffect>
                                  </p:childTnLst>
                                </p:cTn>
                              </p:par>
                              <p:par>
                                <p:cTn id="12" presetID="10" presetClass="entr" presetSubtype="0" fill="hold"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childTnLst>
                                </p:cTn>
                              </p:par>
                            </p:childTnLst>
                          </p:cTn>
                        </p:par>
                        <p:par>
                          <p:cTn id="15" fill="hold">
                            <p:stCondLst>
                              <p:cond delay="3000"/>
                            </p:stCondLst>
                            <p:childTnLst>
                              <p:par>
                                <p:cTn id="16" presetID="10" presetClass="entr" presetSubtype="0" fill="hold" nodeType="afterEffect">
                                  <p:stCondLst>
                                    <p:cond delay="100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1000"/>
                                        <p:tgtEl>
                                          <p:spTgt spid="8"/>
                                        </p:tgtEl>
                                      </p:cBhvr>
                                    </p:animEffect>
                                  </p:childTnLst>
                                </p:cTn>
                              </p:par>
                            </p:childTnLst>
                          </p:cTn>
                        </p:par>
                        <p:par>
                          <p:cTn id="19" fill="hold">
                            <p:stCondLst>
                              <p:cond delay="5000"/>
                            </p:stCondLst>
                            <p:childTnLst>
                              <p:par>
                                <p:cTn id="20" presetID="10" presetClass="entr" presetSubtype="0" fill="hold"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1000"/>
                                        <p:tgtEl>
                                          <p:spTgt spid="12"/>
                                        </p:tgtEl>
                                      </p:cBhvr>
                                    </p:animEffect>
                                  </p:childTnLst>
                                </p:cTn>
                              </p:par>
                              <p:par>
                                <p:cTn id="23" presetID="10"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B857B84-6C35-9D44-085A-43AF56A70A48}"/>
              </a:ext>
            </a:extLst>
          </p:cNvPr>
          <p:cNvPicPr>
            <a:picLocks noChangeAspect="1"/>
          </p:cNvPicPr>
          <p:nvPr/>
        </p:nvPicPr>
        <p:blipFill>
          <a:blip r:embed="rId2"/>
          <a:stretch>
            <a:fillRect/>
          </a:stretch>
        </p:blipFill>
        <p:spPr>
          <a:xfrm>
            <a:off x="0" y="414528"/>
            <a:ext cx="12192000" cy="6443472"/>
          </a:xfrm>
          <a:prstGeom prst="rect">
            <a:avLst/>
          </a:prstGeom>
        </p:spPr>
      </p:pic>
      <p:sp>
        <p:nvSpPr>
          <p:cNvPr id="4" name="Rectangle 3">
            <a:extLst>
              <a:ext uri="{FF2B5EF4-FFF2-40B4-BE49-F238E27FC236}">
                <a16:creationId xmlns:a16="http://schemas.microsoft.com/office/drawing/2014/main" id="{D989BBE4-38CA-4FFB-B9AA-E0BBB2AB22B7}"/>
              </a:ext>
            </a:extLst>
          </p:cNvPr>
          <p:cNvSpPr/>
          <p:nvPr/>
        </p:nvSpPr>
        <p:spPr>
          <a:xfrm>
            <a:off x="176565" y="1034679"/>
            <a:ext cx="8763154" cy="2133918"/>
          </a:xfrm>
          <a:prstGeom prst="rect">
            <a:avLst/>
          </a:prstGeom>
          <a:solidFill>
            <a:schemeClr val="bg1">
              <a:lumMod val="95000"/>
              <a:alpha val="80000"/>
            </a:schemeClr>
          </a:solidFill>
        </p:spPr>
        <p:txBody>
          <a:bodyPr wrap="square">
            <a:spAutoFit/>
          </a:bodyPr>
          <a:lstStyle/>
          <a:p>
            <a:pPr>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When a </a:t>
            </a:r>
            <a:r>
              <a:rPr lang="en-GB" b="1" dirty="0">
                <a:latin typeface="Calibri" panose="020F0502020204030204" pitchFamily="34" charset="0"/>
                <a:ea typeface="Calibri" panose="020F0502020204030204" pitchFamily="34" charset="0"/>
                <a:cs typeface="Times New Roman" panose="02020603050405020304" pitchFamily="18" charset="0"/>
              </a:rPr>
              <a:t>database</a:t>
            </a:r>
            <a:r>
              <a:rPr lang="en-GB" dirty="0">
                <a:latin typeface="Calibri" panose="020F0502020204030204" pitchFamily="34" charset="0"/>
                <a:ea typeface="Calibri" panose="020F0502020204030204" pitchFamily="34" charset="0"/>
                <a:cs typeface="Times New Roman" panose="02020603050405020304" pitchFamily="18" charset="0"/>
              </a:rPr>
              <a:t> </a:t>
            </a:r>
            <a:r>
              <a:rPr lang="en-GB" b="1" dirty="0">
                <a:latin typeface="Calibri" panose="020F0502020204030204" pitchFamily="34" charset="0"/>
                <a:ea typeface="Calibri" panose="020F0502020204030204" pitchFamily="34" charset="0"/>
                <a:cs typeface="Times New Roman" panose="02020603050405020304" pitchFamily="18" charset="0"/>
              </a:rPr>
              <a:t>table</a:t>
            </a:r>
            <a:r>
              <a:rPr lang="en-GB" dirty="0">
                <a:latin typeface="Calibri" panose="020F0502020204030204" pitchFamily="34" charset="0"/>
                <a:ea typeface="Calibri" panose="020F0502020204030204" pitchFamily="34" charset="0"/>
                <a:cs typeface="Times New Roman" panose="02020603050405020304" pitchFamily="18" charset="0"/>
              </a:rPr>
              <a:t> structure is first created, it can be assigned various </a:t>
            </a:r>
            <a:r>
              <a:rPr lang="en-GB" b="1" dirty="0">
                <a:latin typeface="Calibri" panose="020F0502020204030204" pitchFamily="34" charset="0"/>
                <a:ea typeface="Calibri" panose="020F0502020204030204" pitchFamily="34" charset="0"/>
                <a:cs typeface="Times New Roman" panose="02020603050405020304" pitchFamily="18" charset="0"/>
              </a:rPr>
              <a:t>validation rules</a:t>
            </a:r>
            <a:r>
              <a:rPr lang="en-GB" dirty="0">
                <a:latin typeface="Calibri" panose="020F0502020204030204" pitchFamily="34" charset="0"/>
                <a:ea typeface="Calibri" panose="020F0502020204030204" pitchFamily="34" charset="0"/>
                <a:cs typeface="Times New Roman" panose="02020603050405020304" pitchFamily="18" charset="0"/>
              </a:rPr>
              <a:t>.</a:t>
            </a:r>
          </a:p>
          <a:p>
            <a:r>
              <a:rPr lang="en-GB" b="1" dirty="0">
                <a:latin typeface="Calibri" panose="020F0502020204030204" pitchFamily="34" charset="0"/>
                <a:ea typeface="Calibri" panose="020F0502020204030204" pitchFamily="34" charset="0"/>
                <a:cs typeface="Times New Roman" panose="02020603050405020304" pitchFamily="18" charset="0"/>
              </a:rPr>
              <a:t>Validation rules</a:t>
            </a:r>
            <a:r>
              <a:rPr lang="en-GB" dirty="0">
                <a:latin typeface="Calibri" panose="020F0502020204030204" pitchFamily="34" charset="0"/>
                <a:ea typeface="Calibri" panose="020F0502020204030204" pitchFamily="34" charset="0"/>
                <a:cs typeface="Times New Roman" panose="02020603050405020304" pitchFamily="18" charset="0"/>
              </a:rPr>
              <a:t> can be assigned to any </a:t>
            </a:r>
            <a:r>
              <a:rPr lang="en-GB" b="1" dirty="0">
                <a:latin typeface="Calibri" panose="020F0502020204030204" pitchFamily="34" charset="0"/>
                <a:ea typeface="Calibri" panose="020F0502020204030204" pitchFamily="34" charset="0"/>
                <a:cs typeface="Times New Roman" panose="02020603050405020304" pitchFamily="18" charset="0"/>
              </a:rPr>
              <a:t>field</a:t>
            </a:r>
            <a:r>
              <a:rPr lang="en-GB" dirty="0">
                <a:latin typeface="Calibri" panose="020F0502020204030204" pitchFamily="34" charset="0"/>
                <a:ea typeface="Calibri" panose="020F0502020204030204" pitchFamily="34" charset="0"/>
                <a:cs typeface="Times New Roman" panose="02020603050405020304" pitchFamily="18" charset="0"/>
              </a:rPr>
              <a:t> of a </a:t>
            </a:r>
            <a:r>
              <a:rPr lang="en-GB" b="1" dirty="0">
                <a:latin typeface="Calibri" panose="020F0502020204030204" pitchFamily="34" charset="0"/>
                <a:ea typeface="Calibri" panose="020F0502020204030204" pitchFamily="34" charset="0"/>
                <a:cs typeface="Times New Roman" panose="02020603050405020304" pitchFamily="18" charset="0"/>
              </a:rPr>
              <a:t>table </a:t>
            </a:r>
            <a:r>
              <a:rPr lang="en-GB" dirty="0">
                <a:latin typeface="Calibri" panose="020F0502020204030204" pitchFamily="34" charset="0"/>
                <a:ea typeface="Calibri" panose="020F0502020204030204" pitchFamily="34" charset="0"/>
                <a:cs typeface="Times New Roman" panose="02020603050405020304" pitchFamily="18" charset="0"/>
              </a:rPr>
              <a:t>– these include:</a:t>
            </a:r>
          </a:p>
          <a:p>
            <a:pPr marL="540000"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Length check</a:t>
            </a:r>
          </a:p>
          <a:p>
            <a:pPr marL="540000"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Format check</a:t>
            </a:r>
          </a:p>
          <a:p>
            <a:pPr marL="540000"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Range check</a:t>
            </a:r>
          </a:p>
          <a:p>
            <a:pPr marL="540000"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Presence check</a:t>
            </a:r>
          </a:p>
          <a:p>
            <a:pPr marL="540000"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Custom rule such as </a:t>
            </a:r>
            <a:r>
              <a:rPr lang="en-GB" i="1" dirty="0">
                <a:latin typeface="Calibri" panose="020F0502020204030204" pitchFamily="34" charset="0"/>
                <a:ea typeface="Calibri" panose="020F0502020204030204" pitchFamily="34" charset="0"/>
                <a:cs typeface="Times New Roman" panose="02020603050405020304" pitchFamily="18" charset="0"/>
              </a:rPr>
              <a:t>Apprentice</a:t>
            </a:r>
            <a:r>
              <a:rPr lang="en-GB" dirty="0">
                <a:latin typeface="Calibri" panose="020F0502020204030204" pitchFamily="34" charset="0"/>
                <a:ea typeface="Calibri" panose="020F0502020204030204" pitchFamily="34" charset="0"/>
                <a:cs typeface="Times New Roman" panose="02020603050405020304" pitchFamily="18" charset="0"/>
              </a:rPr>
              <a:t>, </a:t>
            </a:r>
            <a:r>
              <a:rPr lang="en-GB" i="1" dirty="0">
                <a:latin typeface="Calibri" panose="020F0502020204030204" pitchFamily="34" charset="0"/>
                <a:ea typeface="Calibri" panose="020F0502020204030204" pitchFamily="34" charset="0"/>
                <a:cs typeface="Times New Roman" panose="02020603050405020304" pitchFamily="18" charset="0"/>
              </a:rPr>
              <a:t>Expert</a:t>
            </a:r>
            <a:r>
              <a:rPr lang="en-GB" dirty="0">
                <a:latin typeface="Calibri" panose="020F0502020204030204" pitchFamily="34" charset="0"/>
                <a:ea typeface="Calibri" panose="020F0502020204030204" pitchFamily="34" charset="0"/>
                <a:cs typeface="Times New Roman" panose="02020603050405020304" pitchFamily="18" charset="0"/>
              </a:rPr>
              <a:t> or </a:t>
            </a:r>
            <a:r>
              <a:rPr lang="en-GB" i="1" dirty="0">
                <a:latin typeface="Calibri" panose="020F0502020204030204" pitchFamily="34" charset="0"/>
                <a:ea typeface="Calibri" panose="020F0502020204030204" pitchFamily="34" charset="0"/>
                <a:cs typeface="Times New Roman" panose="02020603050405020304" pitchFamily="18" charset="0"/>
              </a:rPr>
              <a:t>Master</a:t>
            </a:r>
            <a:r>
              <a:rPr lang="en-GB" dirty="0">
                <a:latin typeface="Calibri" panose="020F0502020204030204" pitchFamily="34" charset="0"/>
                <a:ea typeface="Calibri" panose="020F0502020204030204" pitchFamily="34" charset="0"/>
                <a:cs typeface="Times New Roman" panose="02020603050405020304" pitchFamily="18" charset="0"/>
              </a:rPr>
              <a:t>.</a:t>
            </a:r>
          </a:p>
        </p:txBody>
      </p:sp>
      <p:sp>
        <p:nvSpPr>
          <p:cNvPr id="9" name="Rectangle: Rounded Corners 8">
            <a:extLst>
              <a:ext uri="{FF2B5EF4-FFF2-40B4-BE49-F238E27FC236}">
                <a16:creationId xmlns:a16="http://schemas.microsoft.com/office/drawing/2014/main" id="{F8FD03EB-1A1A-E3FD-C2ED-13550F10A63B}"/>
              </a:ext>
            </a:extLst>
          </p:cNvPr>
          <p:cNvSpPr/>
          <p:nvPr/>
        </p:nvSpPr>
        <p:spPr>
          <a:xfrm>
            <a:off x="188710" y="5396628"/>
            <a:ext cx="8636454" cy="1255066"/>
          </a:xfrm>
          <a:prstGeom prst="roundRect">
            <a:avLst>
              <a:gd name="adj" fmla="val 46766"/>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p>
        </p:txBody>
      </p:sp>
      <p:pic>
        <p:nvPicPr>
          <p:cNvPr id="10" name="Graphic 9" descr="Information with solid fill">
            <a:extLst>
              <a:ext uri="{FF2B5EF4-FFF2-40B4-BE49-F238E27FC236}">
                <a16:creationId xmlns:a16="http://schemas.microsoft.com/office/drawing/2014/main" id="{3AA309CC-8E4A-8EA9-AA92-04DB946B111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5229939"/>
            <a:ext cx="1591452" cy="1591452"/>
          </a:xfrm>
          <a:prstGeom prst="rect">
            <a:avLst/>
          </a:prstGeom>
        </p:spPr>
      </p:pic>
      <p:sp>
        <p:nvSpPr>
          <p:cNvPr id="11" name="TextBox 10">
            <a:extLst>
              <a:ext uri="{FF2B5EF4-FFF2-40B4-BE49-F238E27FC236}">
                <a16:creationId xmlns:a16="http://schemas.microsoft.com/office/drawing/2014/main" id="{EBE273F1-2377-3F3B-88A2-4E83C2E3F98B}"/>
              </a:ext>
            </a:extLst>
          </p:cNvPr>
          <p:cNvSpPr txBox="1"/>
          <p:nvPr/>
        </p:nvSpPr>
        <p:spPr>
          <a:xfrm>
            <a:off x="1591452" y="5703493"/>
            <a:ext cx="6978807" cy="671915"/>
          </a:xfrm>
          <a:prstGeom prst="rect">
            <a:avLst/>
          </a:prstGeom>
          <a:noFill/>
        </p:spPr>
        <p:txBody>
          <a:bodyPr wrap="square" rtlCol="0">
            <a:spAutoFit/>
          </a:bodyPr>
          <a:lstStyle/>
          <a:p>
            <a:pPr>
              <a:lnSpc>
                <a:spcPct val="107000"/>
              </a:lnSpc>
            </a:pPr>
            <a:r>
              <a:rPr lang="en-GB" dirty="0">
                <a:latin typeface="Calibri" panose="020F0502020204030204" pitchFamily="34" charset="0"/>
                <a:ea typeface="Calibri" panose="020F0502020204030204" pitchFamily="34" charset="0"/>
                <a:cs typeface="Times New Roman" panose="02020603050405020304" pitchFamily="18" charset="0"/>
              </a:rPr>
              <a:t>We discussed various validation methods in detail in the following video:</a:t>
            </a:r>
          </a:p>
          <a:p>
            <a:pPr marL="285750" indent="-285750">
              <a:lnSpc>
                <a:spcPct val="107000"/>
              </a:lnSpc>
              <a:buFont typeface="Arial" panose="020B0604020202020204" pitchFamily="34" charset="0"/>
              <a:buChar char="•"/>
            </a:pPr>
            <a:r>
              <a:rPr lang="en-GB" b="1" dirty="0">
                <a:latin typeface="Calibri" panose="020F0502020204030204" pitchFamily="34" charset="0"/>
                <a:ea typeface="Calibri" panose="020F0502020204030204" pitchFamily="34" charset="0"/>
                <a:cs typeface="Times New Roman" panose="02020603050405020304" pitchFamily="18" charset="0"/>
              </a:rPr>
              <a:t>83. CAMBRIDGE IGCSE (0478-0984) 7 Validation</a:t>
            </a:r>
          </a:p>
        </p:txBody>
      </p:sp>
      <p:sp>
        <p:nvSpPr>
          <p:cNvPr id="2" name="Rectangle 1">
            <a:extLst>
              <a:ext uri="{FF2B5EF4-FFF2-40B4-BE49-F238E27FC236}">
                <a16:creationId xmlns:a16="http://schemas.microsoft.com/office/drawing/2014/main" id="{E0539E15-0990-FC23-B816-C15D1E58579A}"/>
              </a:ext>
            </a:extLst>
          </p:cNvPr>
          <p:cNvSpPr/>
          <p:nvPr/>
        </p:nvSpPr>
        <p:spPr>
          <a:xfrm>
            <a:off x="176565" y="523174"/>
            <a:ext cx="2764283" cy="470000"/>
          </a:xfrm>
          <a:prstGeom prst="rect">
            <a:avLst/>
          </a:prstGeom>
          <a:solidFill>
            <a:schemeClr val="bg1">
              <a:lumMod val="95000"/>
              <a:alpha val="80000"/>
            </a:schemeClr>
          </a:solidFill>
        </p:spPr>
        <p:txBody>
          <a:bodyPr wrap="non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Databases validation</a:t>
            </a:r>
            <a:endParaRPr lang="en-GB" sz="1200" dirty="0">
              <a:solidFill>
                <a:srgbClr val="0087B1"/>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856506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F34D69E-F284-4EF1-8ABC-9556CC80091B}"/>
              </a:ext>
            </a:extLst>
          </p:cNvPr>
          <p:cNvSpPr/>
          <p:nvPr/>
        </p:nvSpPr>
        <p:spPr>
          <a:xfrm>
            <a:off x="176565" y="993174"/>
            <a:ext cx="11185341" cy="3698448"/>
          </a:xfrm>
          <a:prstGeom prst="rect">
            <a:avLst/>
          </a:prstGeom>
        </p:spPr>
        <p:txBody>
          <a:bodyPr wrap="square">
            <a:spAutoFit/>
          </a:bodyPr>
          <a:lstStyle/>
          <a:p>
            <a:pPr>
              <a:spcAft>
                <a:spcPts val="800"/>
              </a:spcAft>
            </a:pPr>
            <a:r>
              <a:rPr lang="en-GB" b="1" dirty="0">
                <a:latin typeface="Calibri" panose="020F0502020204030204" pitchFamily="34" charset="0"/>
                <a:ea typeface="Calibri" panose="020F0502020204030204" pitchFamily="34" charset="0"/>
                <a:cs typeface="Times New Roman" panose="02020603050405020304" pitchFamily="18" charset="0"/>
              </a:rPr>
              <a:t>Databases</a:t>
            </a:r>
            <a:r>
              <a:rPr lang="en-GB" dirty="0">
                <a:latin typeface="Calibri" panose="020F0502020204030204" pitchFamily="34" charset="0"/>
                <a:ea typeface="Calibri" panose="020F0502020204030204" pitchFamily="34" charset="0"/>
                <a:cs typeface="Times New Roman" panose="02020603050405020304" pitchFamily="18" charset="0"/>
              </a:rPr>
              <a:t> are structured, persistent collections of data. </a:t>
            </a:r>
          </a:p>
          <a:p>
            <a:pPr>
              <a:spcAft>
                <a:spcPts val="1400"/>
              </a:spcAft>
            </a:pPr>
            <a:r>
              <a:rPr lang="en-GB" b="1" dirty="0">
                <a:latin typeface="Calibri" panose="020F0502020204030204" pitchFamily="34" charset="0"/>
                <a:ea typeface="Calibri" panose="020F0502020204030204" pitchFamily="34" charset="0"/>
                <a:cs typeface="Times New Roman" panose="02020603050405020304" pitchFamily="18" charset="0"/>
              </a:rPr>
              <a:t>Databases</a:t>
            </a:r>
            <a:r>
              <a:rPr lang="en-GB" dirty="0">
                <a:latin typeface="Calibri" panose="020F0502020204030204" pitchFamily="34" charset="0"/>
                <a:ea typeface="Calibri" panose="020F0502020204030204" pitchFamily="34" charset="0"/>
                <a:cs typeface="Times New Roman" panose="02020603050405020304" pitchFamily="18" charset="0"/>
              </a:rPr>
              <a:t> come in two forms – </a:t>
            </a:r>
            <a:r>
              <a:rPr lang="en-GB" b="1" dirty="0">
                <a:latin typeface="Calibri" panose="020F0502020204030204" pitchFamily="34" charset="0"/>
                <a:ea typeface="Calibri" panose="020F0502020204030204" pitchFamily="34" charset="0"/>
                <a:cs typeface="Times New Roman" panose="02020603050405020304" pitchFamily="18" charset="0"/>
              </a:rPr>
              <a:t>single-table, flat file databases </a:t>
            </a:r>
            <a:r>
              <a:rPr lang="en-GB" dirty="0">
                <a:latin typeface="Calibri" panose="020F0502020204030204" pitchFamily="34" charset="0"/>
                <a:ea typeface="Calibri" panose="020F0502020204030204" pitchFamily="34" charset="0"/>
                <a:cs typeface="Times New Roman" panose="02020603050405020304" pitchFamily="18" charset="0"/>
              </a:rPr>
              <a:t>and relational databases. You are only </a:t>
            </a:r>
            <a:br>
              <a:rPr lang="en-GB" dirty="0">
                <a:latin typeface="Calibri" panose="020F0502020204030204" pitchFamily="34" charset="0"/>
                <a:ea typeface="Calibri" panose="020F0502020204030204" pitchFamily="34" charset="0"/>
                <a:cs typeface="Times New Roman" panose="02020603050405020304" pitchFamily="18" charset="0"/>
              </a:rPr>
            </a:br>
            <a:r>
              <a:rPr lang="en-GB" dirty="0">
                <a:latin typeface="Calibri" panose="020F0502020204030204" pitchFamily="34" charset="0"/>
                <a:ea typeface="Calibri" panose="020F0502020204030204" pitchFamily="34" charset="0"/>
                <a:cs typeface="Times New Roman" panose="02020603050405020304" pitchFamily="18" charset="0"/>
              </a:rPr>
              <a:t>required to know about </a:t>
            </a:r>
            <a:r>
              <a:rPr lang="en-GB" b="1" dirty="0">
                <a:latin typeface="Calibri" panose="020F0502020204030204" pitchFamily="34" charset="0"/>
                <a:ea typeface="Calibri" panose="020F0502020204030204" pitchFamily="34" charset="0"/>
                <a:cs typeface="Times New Roman" panose="02020603050405020304" pitchFamily="18" charset="0"/>
              </a:rPr>
              <a:t>single-table databases</a:t>
            </a:r>
            <a:r>
              <a:rPr lang="en-GB" dirty="0">
                <a:latin typeface="Calibri" panose="020F0502020204030204" pitchFamily="34" charset="0"/>
                <a:ea typeface="Calibri" panose="020F0502020204030204" pitchFamily="34" charset="0"/>
                <a:cs typeface="Times New Roman" panose="02020603050405020304" pitchFamily="18" charset="0"/>
              </a:rPr>
              <a:t>.</a:t>
            </a:r>
          </a:p>
          <a:p>
            <a:r>
              <a:rPr lang="en-GB" b="1" dirty="0">
                <a:latin typeface="Calibri" panose="020F0502020204030204" pitchFamily="34" charset="0"/>
                <a:ea typeface="Calibri" panose="020F0502020204030204" pitchFamily="34" charset="0"/>
                <a:cs typeface="Times New Roman" panose="02020603050405020304" pitchFamily="18" charset="0"/>
              </a:rPr>
              <a:t>Flat file databases</a:t>
            </a:r>
          </a:p>
          <a:p>
            <a:pPr marL="540000" lvl="1"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Consist of separate </a:t>
            </a:r>
            <a:r>
              <a:rPr lang="en-GB" b="1" dirty="0">
                <a:latin typeface="Calibri" panose="020F0502020204030204" pitchFamily="34" charset="0"/>
                <a:ea typeface="Calibri" panose="020F0502020204030204" pitchFamily="34" charset="0"/>
                <a:cs typeface="Times New Roman" panose="02020603050405020304" pitchFamily="18" charset="0"/>
              </a:rPr>
              <a:t>tables</a:t>
            </a:r>
            <a:r>
              <a:rPr lang="en-GB" dirty="0">
                <a:latin typeface="Calibri" panose="020F0502020204030204" pitchFamily="34" charset="0"/>
                <a:ea typeface="Calibri" panose="020F0502020204030204" pitchFamily="34" charset="0"/>
                <a:cs typeface="Times New Roman" panose="02020603050405020304" pitchFamily="18" charset="0"/>
              </a:rPr>
              <a:t>.</a:t>
            </a:r>
          </a:p>
          <a:p>
            <a:pPr marL="540000" lvl="1"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Each </a:t>
            </a:r>
            <a:r>
              <a:rPr lang="en-GB" b="1" dirty="0">
                <a:latin typeface="Calibri" panose="020F0502020204030204" pitchFamily="34" charset="0"/>
                <a:ea typeface="Calibri" panose="020F0502020204030204" pitchFamily="34" charset="0"/>
                <a:cs typeface="Times New Roman" panose="02020603050405020304" pitchFamily="18" charset="0"/>
              </a:rPr>
              <a:t>table</a:t>
            </a:r>
            <a:r>
              <a:rPr lang="en-GB" dirty="0">
                <a:latin typeface="Calibri" panose="020F0502020204030204" pitchFamily="34" charset="0"/>
                <a:ea typeface="Calibri" panose="020F0502020204030204" pitchFamily="34" charset="0"/>
                <a:cs typeface="Times New Roman" panose="02020603050405020304" pitchFamily="18" charset="0"/>
              </a:rPr>
              <a:t> is made up of a number of </a:t>
            </a:r>
            <a:r>
              <a:rPr lang="en-GB" b="1" dirty="0">
                <a:latin typeface="Calibri" panose="020F0502020204030204" pitchFamily="34" charset="0"/>
                <a:ea typeface="Calibri" panose="020F0502020204030204" pitchFamily="34" charset="0"/>
                <a:cs typeface="Times New Roman" panose="02020603050405020304" pitchFamily="18" charset="0"/>
              </a:rPr>
              <a:t>records</a:t>
            </a:r>
            <a:r>
              <a:rPr lang="en-GB" dirty="0">
                <a:latin typeface="Calibri" panose="020F0502020204030204" pitchFamily="34" charset="0"/>
                <a:ea typeface="Calibri" panose="020F0502020204030204" pitchFamily="34" charset="0"/>
                <a:cs typeface="Times New Roman" panose="02020603050405020304" pitchFamily="18" charset="0"/>
              </a:rPr>
              <a:t>.</a:t>
            </a:r>
          </a:p>
          <a:p>
            <a:pPr marL="540000" lvl="1"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Each </a:t>
            </a:r>
            <a:r>
              <a:rPr lang="en-GB" b="1" dirty="0">
                <a:latin typeface="Calibri" panose="020F0502020204030204" pitchFamily="34" charset="0"/>
                <a:ea typeface="Calibri" panose="020F0502020204030204" pitchFamily="34" charset="0"/>
                <a:cs typeface="Times New Roman" panose="02020603050405020304" pitchFamily="18" charset="0"/>
              </a:rPr>
              <a:t>record</a:t>
            </a:r>
            <a:r>
              <a:rPr lang="en-GB" dirty="0">
                <a:latin typeface="Calibri" panose="020F0502020204030204" pitchFamily="34" charset="0"/>
                <a:ea typeface="Calibri" panose="020F0502020204030204" pitchFamily="34" charset="0"/>
                <a:cs typeface="Times New Roman" panose="02020603050405020304" pitchFamily="18" charset="0"/>
              </a:rPr>
              <a:t> has a number of separate </a:t>
            </a:r>
            <a:r>
              <a:rPr lang="en-GB" b="1" dirty="0">
                <a:latin typeface="Calibri" panose="020F0502020204030204" pitchFamily="34" charset="0"/>
                <a:ea typeface="Calibri" panose="020F0502020204030204" pitchFamily="34" charset="0"/>
                <a:cs typeface="Times New Roman" panose="02020603050405020304" pitchFamily="18" charset="0"/>
              </a:rPr>
              <a:t>fields</a:t>
            </a:r>
            <a:r>
              <a:rPr lang="en-GB" dirty="0">
                <a:latin typeface="Calibri" panose="020F0502020204030204" pitchFamily="34" charset="0"/>
                <a:ea typeface="Calibri" panose="020F0502020204030204" pitchFamily="34" charset="0"/>
                <a:cs typeface="Times New Roman" panose="02020603050405020304" pitchFamily="18" charset="0"/>
              </a:rPr>
              <a:t>.</a:t>
            </a:r>
          </a:p>
          <a:p>
            <a:pPr marL="540000" lvl="1" indent="-285750">
              <a:buFont typeface="Arial" panose="020B0604020202020204" pitchFamily="34" charset="0"/>
              <a:buChar char="•"/>
            </a:pPr>
            <a:r>
              <a:rPr lang="en-GB" b="1" dirty="0">
                <a:latin typeface="Calibri" panose="020F0502020204030204" pitchFamily="34" charset="0"/>
                <a:ea typeface="Calibri" panose="020F0502020204030204" pitchFamily="34" charset="0"/>
                <a:cs typeface="Times New Roman" panose="02020603050405020304" pitchFamily="18" charset="0"/>
              </a:rPr>
              <a:t>Fields</a:t>
            </a:r>
            <a:r>
              <a:rPr lang="en-GB" dirty="0">
                <a:latin typeface="Calibri" panose="020F0502020204030204" pitchFamily="34" charset="0"/>
                <a:ea typeface="Calibri" panose="020F0502020204030204" pitchFamily="34" charset="0"/>
                <a:cs typeface="Times New Roman" panose="02020603050405020304" pitchFamily="18" charset="0"/>
              </a:rPr>
              <a:t> can be one of several </a:t>
            </a:r>
            <a:r>
              <a:rPr lang="en-GB" b="1" dirty="0">
                <a:latin typeface="Calibri" panose="020F0502020204030204" pitchFamily="34" charset="0"/>
                <a:ea typeface="Calibri" panose="020F0502020204030204" pitchFamily="34" charset="0"/>
                <a:cs typeface="Times New Roman" panose="02020603050405020304" pitchFamily="18" charset="0"/>
              </a:rPr>
              <a:t>basic data types </a:t>
            </a:r>
            <a:r>
              <a:rPr lang="en-GB" dirty="0">
                <a:latin typeface="Calibri" panose="020F0502020204030204" pitchFamily="34" charset="0"/>
                <a:ea typeface="Calibri" panose="020F0502020204030204" pitchFamily="34" charset="0"/>
                <a:cs typeface="Times New Roman" panose="02020603050405020304" pitchFamily="18" charset="0"/>
              </a:rPr>
              <a:t>– text/alphanumeric, character, Boolean, integer, real, date/time.</a:t>
            </a:r>
          </a:p>
          <a:p>
            <a:pPr marL="540000" lvl="1"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Each </a:t>
            </a:r>
            <a:r>
              <a:rPr lang="en-GB" b="1" dirty="0">
                <a:latin typeface="Calibri" panose="020F0502020204030204" pitchFamily="34" charset="0"/>
                <a:ea typeface="Calibri" panose="020F0502020204030204" pitchFamily="34" charset="0"/>
                <a:cs typeface="Times New Roman" panose="02020603050405020304" pitchFamily="18" charset="0"/>
              </a:rPr>
              <a:t>table</a:t>
            </a:r>
            <a:r>
              <a:rPr lang="en-GB" dirty="0">
                <a:latin typeface="Calibri" panose="020F0502020204030204" pitchFamily="34" charset="0"/>
                <a:ea typeface="Calibri" panose="020F0502020204030204" pitchFamily="34" charset="0"/>
                <a:cs typeface="Times New Roman" panose="02020603050405020304" pitchFamily="18" charset="0"/>
              </a:rPr>
              <a:t> in a </a:t>
            </a:r>
            <a:r>
              <a:rPr lang="en-GB" b="1" dirty="0">
                <a:latin typeface="Calibri" panose="020F0502020204030204" pitchFamily="34" charset="0"/>
                <a:ea typeface="Calibri" panose="020F0502020204030204" pitchFamily="34" charset="0"/>
                <a:cs typeface="Times New Roman" panose="02020603050405020304" pitchFamily="18" charset="0"/>
              </a:rPr>
              <a:t>database</a:t>
            </a:r>
            <a:r>
              <a:rPr lang="en-GB" dirty="0">
                <a:latin typeface="Calibri" panose="020F0502020204030204" pitchFamily="34" charset="0"/>
                <a:ea typeface="Calibri" panose="020F0502020204030204" pitchFamily="34" charset="0"/>
                <a:cs typeface="Times New Roman" panose="02020603050405020304" pitchFamily="18" charset="0"/>
              </a:rPr>
              <a:t> should have a </a:t>
            </a:r>
            <a:r>
              <a:rPr lang="en-GB" b="1" dirty="0">
                <a:latin typeface="Calibri" panose="020F0502020204030204" pitchFamily="34" charset="0"/>
                <a:ea typeface="Calibri" panose="020F0502020204030204" pitchFamily="34" charset="0"/>
                <a:cs typeface="Times New Roman" panose="02020603050405020304" pitchFamily="18" charset="0"/>
              </a:rPr>
              <a:t>primary key</a:t>
            </a:r>
            <a:r>
              <a:rPr lang="en-GB" dirty="0">
                <a:latin typeface="Calibri" panose="020F0502020204030204" pitchFamily="34" charset="0"/>
                <a:ea typeface="Calibri" panose="020F0502020204030204" pitchFamily="34" charset="0"/>
                <a:cs typeface="Times New Roman" panose="02020603050405020304" pitchFamily="18" charset="0"/>
              </a:rPr>
              <a:t>. The </a:t>
            </a:r>
            <a:r>
              <a:rPr lang="en-GB" b="1" dirty="0">
                <a:latin typeface="Calibri" panose="020F0502020204030204" pitchFamily="34" charset="0"/>
                <a:ea typeface="Calibri" panose="020F0502020204030204" pitchFamily="34" charset="0"/>
                <a:cs typeface="Times New Roman" panose="02020603050405020304" pitchFamily="18" charset="0"/>
              </a:rPr>
              <a:t>primary key field</a:t>
            </a:r>
            <a:r>
              <a:rPr lang="en-GB" dirty="0">
                <a:latin typeface="Calibri" panose="020F0502020204030204" pitchFamily="34" charset="0"/>
                <a:ea typeface="Calibri" panose="020F0502020204030204" pitchFamily="34" charset="0"/>
                <a:cs typeface="Times New Roman" panose="02020603050405020304" pitchFamily="18" charset="0"/>
              </a:rPr>
              <a:t> must be a </a:t>
            </a:r>
            <a:r>
              <a:rPr lang="en-GB" b="1" dirty="0">
                <a:latin typeface="Calibri" panose="020F0502020204030204" pitchFamily="34" charset="0"/>
                <a:ea typeface="Calibri" panose="020F0502020204030204" pitchFamily="34" charset="0"/>
                <a:cs typeface="Times New Roman" panose="02020603050405020304" pitchFamily="18" charset="0"/>
              </a:rPr>
              <a:t>field</a:t>
            </a:r>
            <a:r>
              <a:rPr lang="en-GB" dirty="0">
                <a:latin typeface="Calibri" panose="020F0502020204030204" pitchFamily="34" charset="0"/>
                <a:ea typeface="Calibri" panose="020F0502020204030204" pitchFamily="34" charset="0"/>
                <a:cs typeface="Times New Roman" panose="02020603050405020304" pitchFamily="18" charset="0"/>
              </a:rPr>
              <a:t> that can uniquely identify each </a:t>
            </a:r>
            <a:r>
              <a:rPr lang="en-GB" b="1" dirty="0">
                <a:latin typeface="Calibri" panose="020F0502020204030204" pitchFamily="34" charset="0"/>
                <a:ea typeface="Calibri" panose="020F0502020204030204" pitchFamily="34" charset="0"/>
                <a:cs typeface="Times New Roman" panose="02020603050405020304" pitchFamily="18" charset="0"/>
              </a:rPr>
              <a:t>record</a:t>
            </a:r>
            <a:r>
              <a:rPr lang="en-GB" dirty="0">
                <a:latin typeface="Calibri" panose="020F0502020204030204" pitchFamily="34" charset="0"/>
                <a:ea typeface="Calibri" panose="020F0502020204030204" pitchFamily="34" charset="0"/>
                <a:cs typeface="Times New Roman" panose="02020603050405020304" pitchFamily="18" charset="0"/>
              </a:rPr>
              <a:t> in the </a:t>
            </a:r>
            <a:r>
              <a:rPr lang="en-GB" b="1" dirty="0">
                <a:latin typeface="Calibri" panose="020F0502020204030204" pitchFamily="34" charset="0"/>
                <a:ea typeface="Calibri" panose="020F0502020204030204" pitchFamily="34" charset="0"/>
                <a:cs typeface="Times New Roman" panose="02020603050405020304" pitchFamily="18" charset="0"/>
              </a:rPr>
              <a:t>table</a:t>
            </a:r>
            <a:r>
              <a:rPr lang="en-GB" dirty="0">
                <a:latin typeface="Calibri" panose="020F0502020204030204" pitchFamily="34" charset="0"/>
                <a:ea typeface="Calibri" panose="020F0502020204030204" pitchFamily="34" charset="0"/>
                <a:cs typeface="Times New Roman" panose="02020603050405020304" pitchFamily="18" charset="0"/>
              </a:rPr>
              <a:t>.</a:t>
            </a:r>
          </a:p>
          <a:p>
            <a:pPr marL="540000" lvl="1" indent="-285750">
              <a:buFont typeface="Arial" panose="020B0604020202020204" pitchFamily="34" charset="0"/>
              <a:buChar char="•"/>
            </a:pPr>
            <a:r>
              <a:rPr lang="en-GB" b="1" dirty="0">
                <a:latin typeface="Calibri" panose="020F0502020204030204" pitchFamily="34" charset="0"/>
                <a:ea typeface="Calibri" panose="020F0502020204030204" pitchFamily="34" charset="0"/>
                <a:cs typeface="Times New Roman" panose="02020603050405020304" pitchFamily="18" charset="0"/>
              </a:rPr>
              <a:t>Database table fields </a:t>
            </a:r>
            <a:r>
              <a:rPr lang="en-GB" dirty="0">
                <a:latin typeface="Calibri" panose="020F0502020204030204" pitchFamily="34" charset="0"/>
                <a:ea typeface="Calibri" panose="020F0502020204030204" pitchFamily="34" charset="0"/>
                <a:cs typeface="Times New Roman" panose="02020603050405020304" pitchFamily="18" charset="0"/>
              </a:rPr>
              <a:t>can be assigned various </a:t>
            </a:r>
            <a:r>
              <a:rPr lang="en-GB" b="1" dirty="0">
                <a:latin typeface="Calibri" panose="020F0502020204030204" pitchFamily="34" charset="0"/>
                <a:ea typeface="Calibri" panose="020F0502020204030204" pitchFamily="34" charset="0"/>
                <a:cs typeface="Times New Roman" panose="02020603050405020304" pitchFamily="18" charset="0"/>
              </a:rPr>
              <a:t>validation rules</a:t>
            </a:r>
            <a:r>
              <a:rPr lang="en-GB" dirty="0">
                <a:latin typeface="Calibri" panose="020F0502020204030204" pitchFamily="34" charset="0"/>
                <a:ea typeface="Calibri" panose="020F0502020204030204" pitchFamily="34" charset="0"/>
                <a:cs typeface="Times New Roman" panose="02020603050405020304" pitchFamily="18" charset="0"/>
              </a:rPr>
              <a:t> – length check, format check, range check, presence check, custom rule, etc.</a:t>
            </a:r>
          </a:p>
        </p:txBody>
      </p:sp>
      <p:pic>
        <p:nvPicPr>
          <p:cNvPr id="2" name="Picture 2" descr="make_notes">
            <a:extLst>
              <a:ext uri="{FF2B5EF4-FFF2-40B4-BE49-F238E27FC236}">
                <a16:creationId xmlns:a16="http://schemas.microsoft.com/office/drawing/2014/main" id="{C99CB530-C10B-C14C-0C92-29D7799F99A7}"/>
              </a:ext>
            </a:extLst>
          </p:cNvPr>
          <p:cNvPicPr>
            <a:picLocks noChangeAspect="1" noChangeArrowheads="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10823658" y="715649"/>
            <a:ext cx="1113436" cy="111343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02804B4F-F9CB-52B7-BA5B-DDDCBCDECA30}"/>
              </a:ext>
            </a:extLst>
          </p:cNvPr>
          <p:cNvSpPr/>
          <p:nvPr/>
        </p:nvSpPr>
        <p:spPr>
          <a:xfrm>
            <a:off x="176565" y="523174"/>
            <a:ext cx="2979470" cy="470000"/>
          </a:xfrm>
          <a:prstGeom prst="rect">
            <a:avLst/>
          </a:prstGeom>
        </p:spPr>
        <p:txBody>
          <a:bodyPr wrap="non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Single-table databases</a:t>
            </a:r>
          </a:p>
        </p:txBody>
      </p:sp>
    </p:spTree>
    <p:extLst>
      <p:ext uri="{BB962C8B-B14F-4D97-AF65-F5344CB8AC3E}">
        <p14:creationId xmlns:p14="http://schemas.microsoft.com/office/powerpoint/2010/main" val="6652864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82947853-E1EE-4D77-9DC1-BD14C2A8064E}"/>
              </a:ext>
            </a:extLst>
          </p:cNvPr>
          <p:cNvPicPr>
            <a:picLocks noChangeAspect="1"/>
          </p:cNvPicPr>
          <p:nvPr/>
        </p:nvPicPr>
        <p:blipFill>
          <a:blip r:embed="rId2"/>
          <a:stretch>
            <a:fillRect/>
          </a:stretch>
        </p:blipFill>
        <p:spPr>
          <a:xfrm>
            <a:off x="-47625" y="-28575"/>
            <a:ext cx="12239625" cy="6886575"/>
          </a:xfrm>
          <a:prstGeom prst="rect">
            <a:avLst/>
          </a:prstGeom>
        </p:spPr>
      </p:pic>
    </p:spTree>
    <p:extLst>
      <p:ext uri="{BB962C8B-B14F-4D97-AF65-F5344CB8AC3E}">
        <p14:creationId xmlns:p14="http://schemas.microsoft.com/office/powerpoint/2010/main" val="381486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913</TotalTime>
  <Words>1194</Words>
  <Application>Microsoft Office PowerPoint</Application>
  <PresentationFormat>Widescreen</PresentationFormat>
  <Paragraphs>590</Paragraphs>
  <Slides>13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Century Gothic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Craig Sargent</dc:creator>
  <cp:lastModifiedBy>Craig Sargent</cp:lastModifiedBy>
  <cp:revision>204</cp:revision>
  <dcterms:created xsi:type="dcterms:W3CDTF">2019-10-14T15:21:06Z</dcterms:created>
  <dcterms:modified xsi:type="dcterms:W3CDTF">2022-09-15T09:48:23Z</dcterms:modified>
</cp:coreProperties>
</file>