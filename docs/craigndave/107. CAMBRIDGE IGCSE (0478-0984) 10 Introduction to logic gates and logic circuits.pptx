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331" r:id="rId3"/>
    <p:sldId id="393" r:id="rId4"/>
    <p:sldId id="395" r:id="rId5"/>
    <p:sldId id="396" r:id="rId6"/>
    <p:sldId id="397" r:id="rId7"/>
    <p:sldId id="398" r:id="rId8"/>
    <p:sldId id="399" r:id="rId9"/>
    <p:sldId id="394" r:id="rId10"/>
    <p:sldId id="400" r:id="rId11"/>
    <p:sldId id="401" r:id="rId12"/>
    <p:sldId id="402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03" r:id="rId22"/>
    <p:sldId id="404" r:id="rId23"/>
    <p:sldId id="405" r:id="rId24"/>
    <p:sldId id="406" r:id="rId25"/>
    <p:sldId id="407" r:id="rId26"/>
    <p:sldId id="371" r:id="rId27"/>
    <p:sldId id="373" r:id="rId28"/>
    <p:sldId id="375" r:id="rId29"/>
    <p:sldId id="377" r:id="rId30"/>
    <p:sldId id="33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3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104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096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2067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523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838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150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1969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78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0511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44EDB-C93B-43CC-8A74-9CE6A52B984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107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44EDB-C93B-43CC-8A74-9CE6A52B984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687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44EDB-C93B-43CC-8A74-9CE6A52B984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10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44EDB-C93B-43CC-8A74-9CE6A52B984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07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10 Boolean logic | Introduction to logic gates and logic circuits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10 Boolean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Introduction to logic gates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and logic circuits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5620731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 adder: An example of a logic diagram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176566" y="6128035"/>
            <a:ext cx="11873724" cy="58113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An example of a </a:t>
            </a:r>
            <a:r>
              <a:rPr lang="en-GB" sz="1600" b="1" dirty="0">
                <a:solidFill>
                  <a:schemeClr val="tx1"/>
                </a:solidFill>
              </a:rPr>
              <a:t>logic diagram </a:t>
            </a:r>
            <a:r>
              <a:rPr lang="en-GB" sz="1600" dirty="0">
                <a:solidFill>
                  <a:schemeClr val="tx1"/>
                </a:solidFill>
              </a:rPr>
              <a:t>created using a selection of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and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Also sometimes referred to as a </a:t>
            </a:r>
            <a:r>
              <a:rPr lang="en-GB" sz="1600" b="1" dirty="0">
                <a:solidFill>
                  <a:schemeClr val="tx1"/>
                </a:solidFill>
              </a:rPr>
              <a:t>circuit diagram </a:t>
            </a:r>
            <a:r>
              <a:rPr lang="en-GB" sz="1600" dirty="0">
                <a:solidFill>
                  <a:schemeClr val="tx1"/>
                </a:solidFill>
              </a:rPr>
              <a:t>or </a:t>
            </a:r>
            <a:r>
              <a:rPr lang="en-GB" sz="1600" b="1" dirty="0">
                <a:solidFill>
                  <a:schemeClr val="tx1"/>
                </a:solidFill>
              </a:rPr>
              <a:t>logic circuits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DDBBA-0D72-49A2-9DDE-37193AD4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09" y="1121475"/>
            <a:ext cx="11101778" cy="434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E7C6FD-4E45-4D38-B74B-372FE643DDA4}"/>
              </a:ext>
            </a:extLst>
          </p:cNvPr>
          <p:cNvSpPr txBox="1"/>
          <p:nvPr/>
        </p:nvSpPr>
        <p:spPr>
          <a:xfrm>
            <a:off x="185709" y="140893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AF465-0E85-420D-93A5-FA21C5ED79F0}"/>
              </a:ext>
            </a:extLst>
          </p:cNvPr>
          <p:cNvSpPr txBox="1"/>
          <p:nvPr/>
        </p:nvSpPr>
        <p:spPr>
          <a:xfrm>
            <a:off x="187895" y="487892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69700-C875-48F8-854E-2B015D7A2F78}"/>
              </a:ext>
            </a:extLst>
          </p:cNvPr>
          <p:cNvSpPr txBox="1"/>
          <p:nvPr/>
        </p:nvSpPr>
        <p:spPr>
          <a:xfrm>
            <a:off x="3748059" y="1561338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CA60B-2C46-4C63-9FE8-9838A6E73E86}"/>
              </a:ext>
            </a:extLst>
          </p:cNvPr>
          <p:cNvSpPr txBox="1"/>
          <p:nvPr/>
        </p:nvSpPr>
        <p:spPr>
          <a:xfrm>
            <a:off x="11636681" y="445535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06328-3EBF-4BFD-A5E4-8D220DDBD3F0}"/>
              </a:ext>
            </a:extLst>
          </p:cNvPr>
          <p:cNvSpPr txBox="1"/>
          <p:nvPr/>
        </p:nvSpPr>
        <p:spPr>
          <a:xfrm>
            <a:off x="11636681" y="216265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0D26F-2B84-4F4E-9850-C5CEECC51328}"/>
              </a:ext>
            </a:extLst>
          </p:cNvPr>
          <p:cNvSpPr txBox="1"/>
          <p:nvPr/>
        </p:nvSpPr>
        <p:spPr>
          <a:xfrm>
            <a:off x="7617131" y="3064054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E778FB-51D7-4A78-8E03-BA090F0CD661}"/>
              </a:ext>
            </a:extLst>
          </p:cNvPr>
          <p:cNvGrpSpPr/>
          <p:nvPr/>
        </p:nvGrpSpPr>
        <p:grpSpPr>
          <a:xfrm>
            <a:off x="5705855" y="2573416"/>
            <a:ext cx="2042439" cy="1680212"/>
            <a:chOff x="5705855" y="2573416"/>
            <a:chExt cx="2042439" cy="168021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9D1A8B-CE25-4866-9193-5AAF0CC2FE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54" r="10913"/>
            <a:stretch/>
          </p:blipFill>
          <p:spPr>
            <a:xfrm>
              <a:off x="5705855" y="2573416"/>
              <a:ext cx="2042439" cy="1680212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0A7054-6120-49AC-AB33-FA04C57AF4FA}"/>
                </a:ext>
              </a:extLst>
            </p:cNvPr>
            <p:cNvSpPr/>
            <p:nvPr/>
          </p:nvSpPr>
          <p:spPr>
            <a:xfrm>
              <a:off x="5781293" y="3201471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NOT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4822316-3D84-4BD0-9A2D-93D07578E318}"/>
              </a:ext>
            </a:extLst>
          </p:cNvPr>
          <p:cNvGrpSpPr/>
          <p:nvPr/>
        </p:nvGrpSpPr>
        <p:grpSpPr>
          <a:xfrm>
            <a:off x="2045383" y="1466088"/>
            <a:ext cx="8998526" cy="4019097"/>
            <a:chOff x="2045383" y="1466088"/>
            <a:chExt cx="8998526" cy="401909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319E9C0-BFAC-4CA4-84CE-8400C1BAFE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85" r="20199"/>
            <a:stretch/>
          </p:blipFill>
          <p:spPr>
            <a:xfrm>
              <a:off x="2045383" y="3787449"/>
              <a:ext cx="1838324" cy="1697736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6DD035-64D0-496B-8151-EE5277758AC2}"/>
                </a:ext>
              </a:extLst>
            </p:cNvPr>
            <p:cNvSpPr/>
            <p:nvPr/>
          </p:nvSpPr>
          <p:spPr>
            <a:xfrm>
              <a:off x="2330301" y="443029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AND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30C2971-1A58-4471-8B0E-7DD79CDAA8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85" r="20199"/>
            <a:stretch/>
          </p:blipFill>
          <p:spPr>
            <a:xfrm>
              <a:off x="9205585" y="1466088"/>
              <a:ext cx="1838324" cy="1697736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4014D4-9223-4564-8141-1DAD43E494E3}"/>
                </a:ext>
              </a:extLst>
            </p:cNvPr>
            <p:cNvSpPr/>
            <p:nvPr/>
          </p:nvSpPr>
          <p:spPr>
            <a:xfrm>
              <a:off x="9521676" y="2108938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AND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014B7A-5993-4E7C-89EB-F8CDA01E5146}"/>
              </a:ext>
            </a:extLst>
          </p:cNvPr>
          <p:cNvGrpSpPr/>
          <p:nvPr/>
        </p:nvGrpSpPr>
        <p:grpSpPr>
          <a:xfrm>
            <a:off x="2147723" y="1111330"/>
            <a:ext cx="1745128" cy="1682033"/>
            <a:chOff x="2168505" y="1111330"/>
            <a:chExt cx="1745128" cy="16820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B4F9E92-52D1-4BE3-BA1C-1CE32EA29A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18" r="20007"/>
            <a:stretch/>
          </p:blipFill>
          <p:spPr>
            <a:xfrm>
              <a:off x="2168505" y="1111330"/>
              <a:ext cx="1745128" cy="1682033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4D7D32-9E56-4B75-8334-DF5D9F3F063E}"/>
                </a:ext>
              </a:extLst>
            </p:cNvPr>
            <p:cNvSpPr/>
            <p:nvPr/>
          </p:nvSpPr>
          <p:spPr>
            <a:xfrm>
              <a:off x="2338244" y="1729995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OR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909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reverses the input.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0/FALSE/OFF, then the output is 1/TRUE/ON.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97B195-D02F-40C1-A644-0145DA062B53}"/>
              </a:ext>
            </a:extLst>
          </p:cNvPr>
          <p:cNvGrpSpPr/>
          <p:nvPr/>
        </p:nvGrpSpPr>
        <p:grpSpPr>
          <a:xfrm>
            <a:off x="-148532" y="993174"/>
            <a:ext cx="8675321" cy="3761785"/>
            <a:chOff x="-153376" y="717704"/>
            <a:chExt cx="9633633" cy="41773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E4E90D-77BE-4276-AF25-3BA12C9C4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42" y="717704"/>
              <a:ext cx="7409396" cy="417732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EFF5CB-457D-4E02-A460-7E92AF0FAD20}"/>
                </a:ext>
              </a:extLst>
            </p:cNvPr>
            <p:cNvSpPr/>
            <p:nvPr/>
          </p:nvSpPr>
          <p:spPr>
            <a:xfrm>
              <a:off x="-153376" y="2254672"/>
              <a:ext cx="1310052" cy="1469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8000" b="1" dirty="0">
                  <a:solidFill>
                    <a:srgbClr val="C00000"/>
                  </a:solidFill>
                </a:rPr>
                <a:t>0</a:t>
              </a:r>
              <a:endParaRPr lang="en-GB" sz="5400" dirty="0">
                <a:solidFill>
                  <a:srgbClr val="C00000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3A0F8F-DD32-48C1-A166-E7E4FE335AD9}"/>
                </a:ext>
              </a:extLst>
            </p:cNvPr>
            <p:cNvSpPr/>
            <p:nvPr/>
          </p:nvSpPr>
          <p:spPr>
            <a:xfrm>
              <a:off x="8170205" y="2311305"/>
              <a:ext cx="1310052" cy="1469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8000" b="1" dirty="0">
                  <a:solidFill>
                    <a:srgbClr val="C00000"/>
                  </a:solidFill>
                </a:rPr>
                <a:t>1</a:t>
              </a:r>
              <a:endParaRPr lang="en-GB" sz="5400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10211AF-91B5-471F-8209-46438B5CA260}"/>
                </a:ext>
              </a:extLst>
            </p:cNvPr>
            <p:cNvCxnSpPr/>
            <p:nvPr/>
          </p:nvCxnSpPr>
          <p:spPr>
            <a:xfrm>
              <a:off x="7301230" y="3004566"/>
              <a:ext cx="1066908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367F0067-25C5-4E8A-9E3A-22C2AD794667}"/>
              </a:ext>
            </a:extLst>
          </p:cNvPr>
          <p:cNvGraphicFramePr>
            <a:graphicFrameLocks noGrp="1"/>
          </p:cNvGraphicFramePr>
          <p:nvPr/>
        </p:nvGraphicFramePr>
        <p:xfrm>
          <a:off x="6055622" y="5309269"/>
          <a:ext cx="2298350" cy="13999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7426508-51CC-4AB1-83B6-05634B8BCC6D}"/>
              </a:ext>
            </a:extLst>
          </p:cNvPr>
          <p:cNvSpPr/>
          <p:nvPr/>
        </p:nvSpPr>
        <p:spPr>
          <a:xfrm>
            <a:off x="1020282" y="2310569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6008899" y="4900440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6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reverses the input.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1/TRUE/ON, then the output is 0/FALSE/OFF.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97B195-D02F-40C1-A644-0145DA062B53}"/>
              </a:ext>
            </a:extLst>
          </p:cNvPr>
          <p:cNvGrpSpPr/>
          <p:nvPr/>
        </p:nvGrpSpPr>
        <p:grpSpPr>
          <a:xfrm>
            <a:off x="-151822" y="993174"/>
            <a:ext cx="8675321" cy="3761785"/>
            <a:chOff x="-153376" y="717704"/>
            <a:chExt cx="9633633" cy="41773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E4E90D-77BE-4276-AF25-3BA12C9C4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42" y="717704"/>
              <a:ext cx="7409396" cy="417732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EFF5CB-457D-4E02-A460-7E92AF0FAD20}"/>
                </a:ext>
              </a:extLst>
            </p:cNvPr>
            <p:cNvSpPr/>
            <p:nvPr/>
          </p:nvSpPr>
          <p:spPr>
            <a:xfrm>
              <a:off x="-153376" y="2275609"/>
              <a:ext cx="1310052" cy="1469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8000" b="1" dirty="0">
                  <a:solidFill>
                    <a:srgbClr val="C00000"/>
                  </a:solidFill>
                </a:rPr>
                <a:t>1</a:t>
              </a:r>
              <a:endParaRPr lang="en-GB" sz="5400" dirty="0">
                <a:solidFill>
                  <a:srgbClr val="C00000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3A0F8F-DD32-48C1-A166-E7E4FE335AD9}"/>
                </a:ext>
              </a:extLst>
            </p:cNvPr>
            <p:cNvSpPr/>
            <p:nvPr/>
          </p:nvSpPr>
          <p:spPr>
            <a:xfrm>
              <a:off x="8170205" y="2279900"/>
              <a:ext cx="1310052" cy="1469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8000" b="1" dirty="0">
                  <a:solidFill>
                    <a:srgbClr val="C00000"/>
                  </a:solidFill>
                </a:rPr>
                <a:t>0</a:t>
              </a:r>
              <a:endParaRPr lang="en-GB" sz="5400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10211AF-91B5-471F-8209-46438B5CA260}"/>
                </a:ext>
              </a:extLst>
            </p:cNvPr>
            <p:cNvCxnSpPr>
              <a:cxnSpLocks/>
            </p:cNvCxnSpPr>
            <p:nvPr/>
          </p:nvCxnSpPr>
          <p:spPr>
            <a:xfrm>
              <a:off x="957547" y="3004566"/>
              <a:ext cx="1855822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367F0067-25C5-4E8A-9E3A-22C2AD794667}"/>
              </a:ext>
            </a:extLst>
          </p:cNvPr>
          <p:cNvGraphicFramePr>
            <a:graphicFrameLocks noGrp="1"/>
          </p:cNvGraphicFramePr>
          <p:nvPr/>
        </p:nvGraphicFramePr>
        <p:xfrm>
          <a:off x="6055622" y="5309269"/>
          <a:ext cx="2298350" cy="13999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7426508-51CC-4AB1-83B6-05634B8BCC6D}"/>
              </a:ext>
            </a:extLst>
          </p:cNvPr>
          <p:cNvSpPr/>
          <p:nvPr/>
        </p:nvSpPr>
        <p:spPr>
          <a:xfrm>
            <a:off x="1020282" y="2310569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6008899" y="4900440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51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 is TRUE if both of its inputs are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0,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32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 is TRUE if both of its inputs are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1,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3652582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24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 is TRUE if both of its inputs are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0,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2031171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60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 is TRUE if both of its inputs are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1,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2031171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651729-E6F7-4A80-8E9E-C463635C2945}"/>
              </a:ext>
            </a:extLst>
          </p:cNvPr>
          <p:cNvCxnSpPr>
            <a:cxnSpLocks/>
          </p:cNvCxnSpPr>
          <p:nvPr/>
        </p:nvCxnSpPr>
        <p:spPr>
          <a:xfrm>
            <a:off x="846470" y="3644725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F76376-42F8-4119-B13E-A1462188506B}"/>
              </a:ext>
            </a:extLst>
          </p:cNvPr>
          <p:cNvCxnSpPr>
            <a:cxnSpLocks/>
          </p:cNvCxnSpPr>
          <p:nvPr/>
        </p:nvCxnSpPr>
        <p:spPr>
          <a:xfrm>
            <a:off x="5721845" y="2839445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86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output is TRUE if at least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0,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ED4629-DA6E-49C3-9934-8AE22254F18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8DFC0-17BF-419A-BE0C-1F990CD0BBC9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07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output is TRUE if at least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1,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3709140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99DACE-05E6-4C73-A1C9-00BAEA7E333B}"/>
              </a:ext>
            </a:extLst>
          </p:cNvPr>
          <p:cNvCxnSpPr>
            <a:cxnSpLocks/>
          </p:cNvCxnSpPr>
          <p:nvPr/>
        </p:nvCxnSpPr>
        <p:spPr>
          <a:xfrm>
            <a:off x="5759777" y="2871723"/>
            <a:ext cx="165801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1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output is TRUE if at least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0,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2050023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99DACE-05E6-4C73-A1C9-00BAEA7E333B}"/>
              </a:ext>
            </a:extLst>
          </p:cNvPr>
          <p:cNvCxnSpPr>
            <a:cxnSpLocks/>
          </p:cNvCxnSpPr>
          <p:nvPr/>
        </p:nvCxnSpPr>
        <p:spPr>
          <a:xfrm>
            <a:off x="5759777" y="2871723"/>
            <a:ext cx="165801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96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output is TRUE if at least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1,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2050023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99DACE-05E6-4C73-A1C9-00BAEA7E333B}"/>
              </a:ext>
            </a:extLst>
          </p:cNvPr>
          <p:cNvCxnSpPr>
            <a:cxnSpLocks/>
          </p:cNvCxnSpPr>
          <p:nvPr/>
        </p:nvCxnSpPr>
        <p:spPr>
          <a:xfrm>
            <a:off x="5759777" y="2871723"/>
            <a:ext cx="165801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8A91DF-B1B1-4175-969E-2A171F44C0D9}"/>
              </a:ext>
            </a:extLst>
          </p:cNvPr>
          <p:cNvCxnSpPr>
            <a:cxnSpLocks/>
          </p:cNvCxnSpPr>
          <p:nvPr/>
        </p:nvCxnSpPr>
        <p:spPr>
          <a:xfrm>
            <a:off x="846470" y="3700600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8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BCEE00-F2E5-B5B9-4D5B-A96570F78D09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0,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636345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E8142A7-38AD-EE85-A6AB-E3180FECC3F2}"/>
              </a:ext>
            </a:extLst>
          </p:cNvPr>
          <p:cNvSpPr/>
          <p:nvPr/>
        </p:nvSpPr>
        <p:spPr>
          <a:xfrm>
            <a:off x="5734050" y="2662520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608628-460D-7DEC-2DB3-E0709EB2816B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6086475" y="2838733"/>
            <a:ext cx="1249296" cy="71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EBEC7C-79D8-F842-B501-55043B89D9B2}"/>
              </a:ext>
            </a:extLst>
          </p:cNvPr>
          <p:cNvGrpSpPr/>
          <p:nvPr/>
        </p:nvGrpSpPr>
        <p:grpSpPr>
          <a:xfrm>
            <a:off x="382863" y="5733925"/>
            <a:ext cx="4363648" cy="761049"/>
            <a:chOff x="299043" y="5581525"/>
            <a:chExt cx="4363648" cy="76104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C17F134-BF6C-4420-49BA-E5CB19568162}"/>
                </a:ext>
              </a:extLst>
            </p:cNvPr>
            <p:cNvGrpSpPr/>
            <p:nvPr/>
          </p:nvGrpSpPr>
          <p:grpSpPr>
            <a:xfrm>
              <a:off x="299043" y="5582120"/>
              <a:ext cx="2678597" cy="760454"/>
              <a:chOff x="636921" y="5495764"/>
              <a:chExt cx="2278526" cy="64687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98B7181-678E-DDDD-2BFE-CBD90DC67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921" y="5498912"/>
                <a:ext cx="1147371" cy="643358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2C7757A-9DEA-EC91-7738-4A6E9071A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8076" y="5495764"/>
                <a:ext cx="1147371" cy="646874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9FB7797-976E-6F06-5D71-C345BC62855B}"/>
                </a:ext>
              </a:extLst>
            </p:cNvPr>
            <p:cNvGrpSpPr/>
            <p:nvPr/>
          </p:nvGrpSpPr>
          <p:grpSpPr>
            <a:xfrm>
              <a:off x="3313861" y="5581525"/>
              <a:ext cx="1348830" cy="756321"/>
              <a:chOff x="3565321" y="5581525"/>
              <a:chExt cx="1348830" cy="75632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B5814D7-C15F-647E-85DE-CD23208AA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5321" y="5581525"/>
                <a:ext cx="1348830" cy="756321"/>
              </a:xfrm>
              <a:prstGeom prst="rect">
                <a:avLst/>
              </a:prstGeom>
            </p:spPr>
          </p:pic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22BB946-6D06-C6AA-28D5-9D6E0CF289FD}"/>
                  </a:ext>
                </a:extLst>
              </p:cNvPr>
              <p:cNvSpPr/>
              <p:nvPr/>
            </p:nvSpPr>
            <p:spPr>
              <a:xfrm>
                <a:off x="4577721" y="5928040"/>
                <a:ext cx="134774" cy="134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2C54F86-072E-FF2E-55B2-C1EB5BDD3801}"/>
              </a:ext>
            </a:extLst>
          </p:cNvPr>
          <p:cNvSpPr txBox="1"/>
          <p:nvPr/>
        </p:nvSpPr>
        <p:spPr>
          <a:xfrm>
            <a:off x="696121" y="5367681"/>
            <a:ext cx="376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       +       NOT             =        </a:t>
            </a:r>
            <a:r>
              <a:rPr lang="en-GB" b="1" dirty="0">
                <a:solidFill>
                  <a:srgbClr val="C00000"/>
                </a:solidFill>
              </a:rPr>
              <a:t>NAND</a:t>
            </a:r>
          </a:p>
        </p:txBody>
      </p:sp>
    </p:spTree>
    <p:extLst>
      <p:ext uri="{BB962C8B-B14F-4D97-AF65-F5344CB8AC3E}">
        <p14:creationId xmlns:p14="http://schemas.microsoft.com/office/powerpoint/2010/main" val="1189412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1,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15948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3652582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F93FEE5-6E8A-26B8-C325-AF97EFB430D1}"/>
              </a:ext>
            </a:extLst>
          </p:cNvPr>
          <p:cNvSpPr/>
          <p:nvPr/>
        </p:nvSpPr>
        <p:spPr>
          <a:xfrm>
            <a:off x="5734050" y="2662520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EF582C-6C30-06A4-08B6-0597AF56BD84}"/>
              </a:ext>
            </a:extLst>
          </p:cNvPr>
          <p:cNvCxnSpPr>
            <a:cxnSpLocks/>
          </p:cNvCxnSpPr>
          <p:nvPr/>
        </p:nvCxnSpPr>
        <p:spPr>
          <a:xfrm>
            <a:off x="6086475" y="2838733"/>
            <a:ext cx="1249296" cy="71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36EBD0-F447-1728-8B6A-33951B0D870F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D4C7C2-2F41-BD7F-BE88-774679C766D1}"/>
              </a:ext>
            </a:extLst>
          </p:cNvPr>
          <p:cNvGrpSpPr/>
          <p:nvPr/>
        </p:nvGrpSpPr>
        <p:grpSpPr>
          <a:xfrm>
            <a:off x="382863" y="5733925"/>
            <a:ext cx="4363648" cy="761049"/>
            <a:chOff x="299043" y="5581525"/>
            <a:chExt cx="4363648" cy="7610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59288DC-9FD8-0746-9C5A-DA3274EA1DE9}"/>
                </a:ext>
              </a:extLst>
            </p:cNvPr>
            <p:cNvGrpSpPr/>
            <p:nvPr/>
          </p:nvGrpSpPr>
          <p:grpSpPr>
            <a:xfrm>
              <a:off x="299043" y="5582120"/>
              <a:ext cx="2678597" cy="760454"/>
              <a:chOff x="636921" y="5495764"/>
              <a:chExt cx="2278526" cy="64687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71FF91A-7C58-F386-FFEF-B4AB052E01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921" y="5498912"/>
                <a:ext cx="1147371" cy="643358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8C5EFF7-5AF0-24FB-F99D-8EF5A8058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8076" y="5495764"/>
                <a:ext cx="1147371" cy="646874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1103CF0-D2BD-4433-FDB5-6801B7A77511}"/>
                </a:ext>
              </a:extLst>
            </p:cNvPr>
            <p:cNvGrpSpPr/>
            <p:nvPr/>
          </p:nvGrpSpPr>
          <p:grpSpPr>
            <a:xfrm>
              <a:off x="3313861" y="5581525"/>
              <a:ext cx="1348830" cy="756321"/>
              <a:chOff x="3565321" y="5581525"/>
              <a:chExt cx="1348830" cy="75632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29FD9F3-B602-65A4-BADD-1AB1ACBA8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5321" y="5581525"/>
                <a:ext cx="1348830" cy="756321"/>
              </a:xfrm>
              <a:prstGeom prst="rect">
                <a:avLst/>
              </a:prstGeom>
            </p:spPr>
          </p:pic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ED26596-7B51-991A-E9A0-D851502C1D90}"/>
                  </a:ext>
                </a:extLst>
              </p:cNvPr>
              <p:cNvSpPr/>
              <p:nvPr/>
            </p:nvSpPr>
            <p:spPr>
              <a:xfrm>
                <a:off x="4577721" y="5928040"/>
                <a:ext cx="134774" cy="134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BC602FB-3D16-AE39-5BF4-21DFE68CD2F4}"/>
              </a:ext>
            </a:extLst>
          </p:cNvPr>
          <p:cNvSpPr txBox="1"/>
          <p:nvPr/>
        </p:nvSpPr>
        <p:spPr>
          <a:xfrm>
            <a:off x="696121" y="5367681"/>
            <a:ext cx="376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       +       NOT             =        </a:t>
            </a:r>
            <a:r>
              <a:rPr lang="en-GB" b="1" dirty="0">
                <a:solidFill>
                  <a:srgbClr val="C00000"/>
                </a:solidFill>
              </a:rPr>
              <a:t>NAND</a:t>
            </a:r>
          </a:p>
        </p:txBody>
      </p:sp>
    </p:spTree>
    <p:extLst>
      <p:ext uri="{BB962C8B-B14F-4D97-AF65-F5344CB8AC3E}">
        <p14:creationId xmlns:p14="http://schemas.microsoft.com/office/powerpoint/2010/main" val="275514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0,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03211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2031171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CF9CDB09-5640-23CB-00B5-4122748184FE}"/>
              </a:ext>
            </a:extLst>
          </p:cNvPr>
          <p:cNvSpPr/>
          <p:nvPr/>
        </p:nvSpPr>
        <p:spPr>
          <a:xfrm>
            <a:off x="5734050" y="2662520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AE71F6-F67D-EA7C-09D5-CE3538C52FDD}"/>
              </a:ext>
            </a:extLst>
          </p:cNvPr>
          <p:cNvCxnSpPr>
            <a:cxnSpLocks/>
          </p:cNvCxnSpPr>
          <p:nvPr/>
        </p:nvCxnSpPr>
        <p:spPr>
          <a:xfrm>
            <a:off x="6086475" y="2838733"/>
            <a:ext cx="1249296" cy="71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E19FC-024C-5607-9503-82F21111530B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E7FF9A-8FD5-0E97-3A18-68E6FF622165}"/>
              </a:ext>
            </a:extLst>
          </p:cNvPr>
          <p:cNvGrpSpPr/>
          <p:nvPr/>
        </p:nvGrpSpPr>
        <p:grpSpPr>
          <a:xfrm>
            <a:off x="382863" y="5733925"/>
            <a:ext cx="4363648" cy="761049"/>
            <a:chOff x="299043" y="5581525"/>
            <a:chExt cx="4363648" cy="7610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9AF2C1-5DF5-C623-A127-DCD9402EC214}"/>
                </a:ext>
              </a:extLst>
            </p:cNvPr>
            <p:cNvGrpSpPr/>
            <p:nvPr/>
          </p:nvGrpSpPr>
          <p:grpSpPr>
            <a:xfrm>
              <a:off x="299043" y="5582120"/>
              <a:ext cx="2678597" cy="760454"/>
              <a:chOff x="636921" y="5495764"/>
              <a:chExt cx="2278526" cy="64687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496126E-47C3-5DCF-3ECC-82BF036659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921" y="5498912"/>
                <a:ext cx="1147371" cy="643358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7CAF80A-A99C-E8F2-E9AF-03775581F2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8076" y="5495764"/>
                <a:ext cx="1147371" cy="646874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4E3D37-C117-00ED-8683-F6E018F905BB}"/>
                </a:ext>
              </a:extLst>
            </p:cNvPr>
            <p:cNvGrpSpPr/>
            <p:nvPr/>
          </p:nvGrpSpPr>
          <p:grpSpPr>
            <a:xfrm>
              <a:off x="3313861" y="5581525"/>
              <a:ext cx="1348830" cy="756321"/>
              <a:chOff x="3565321" y="5581525"/>
              <a:chExt cx="1348830" cy="75632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9480106-497D-5D33-42B5-D3FC004D7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5321" y="5581525"/>
                <a:ext cx="1348830" cy="756321"/>
              </a:xfrm>
              <a:prstGeom prst="rect">
                <a:avLst/>
              </a:prstGeom>
            </p:spPr>
          </p:pic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555926C-6B80-BD56-7BA0-66D44EE293E1}"/>
                  </a:ext>
                </a:extLst>
              </p:cNvPr>
              <p:cNvSpPr/>
              <p:nvPr/>
            </p:nvSpPr>
            <p:spPr>
              <a:xfrm>
                <a:off x="4577721" y="5928040"/>
                <a:ext cx="134774" cy="134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6D0126-EDBB-665E-340E-3369C0B6B415}"/>
              </a:ext>
            </a:extLst>
          </p:cNvPr>
          <p:cNvSpPr txBox="1"/>
          <p:nvPr/>
        </p:nvSpPr>
        <p:spPr>
          <a:xfrm>
            <a:off x="696121" y="5367681"/>
            <a:ext cx="376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       +       NOT             =        </a:t>
            </a:r>
            <a:r>
              <a:rPr lang="en-GB" b="1" dirty="0">
                <a:solidFill>
                  <a:srgbClr val="C00000"/>
                </a:solidFill>
              </a:rPr>
              <a:t>NAND</a:t>
            </a:r>
          </a:p>
        </p:txBody>
      </p:sp>
    </p:spTree>
    <p:extLst>
      <p:ext uri="{BB962C8B-B14F-4D97-AF65-F5344CB8AC3E}">
        <p14:creationId xmlns:p14="http://schemas.microsoft.com/office/powerpoint/2010/main" val="60194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48687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NAND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NAND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1,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619AE-2463-4DAF-B479-49B3AB9C1AAD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9521C-5D3C-4B51-B856-65C5E17F9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38815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C0EC41F-311D-4162-8A05-663BCB24F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0" y="841854"/>
            <a:ext cx="6489301" cy="363870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05131ED-24B2-49BC-AC7F-9FE3B07E0BFF}"/>
              </a:ext>
            </a:extLst>
          </p:cNvPr>
          <p:cNvSpPr/>
          <p:nvPr/>
        </p:nvSpPr>
        <p:spPr>
          <a:xfrm>
            <a:off x="-122242" y="1374484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BCB3E2-2896-4993-9547-357A31995A3A}"/>
              </a:ext>
            </a:extLst>
          </p:cNvPr>
          <p:cNvSpPr/>
          <p:nvPr/>
        </p:nvSpPr>
        <p:spPr>
          <a:xfrm>
            <a:off x="-122242" y="3004465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5A0817-1789-4ED1-A12A-518071289F30}"/>
              </a:ext>
            </a:extLst>
          </p:cNvPr>
          <p:cNvSpPr/>
          <p:nvPr/>
        </p:nvSpPr>
        <p:spPr>
          <a:xfrm>
            <a:off x="7145734" y="2193103"/>
            <a:ext cx="1147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BC366-6285-498C-B07A-163C3EFCCF7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CA45B-0441-47F3-95E1-6671C168B7D3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F31EFF-73A8-4544-8597-0A61D3B5C82B}"/>
              </a:ext>
            </a:extLst>
          </p:cNvPr>
          <p:cNvCxnSpPr>
            <a:cxnSpLocks/>
          </p:cNvCxnSpPr>
          <p:nvPr/>
        </p:nvCxnSpPr>
        <p:spPr>
          <a:xfrm>
            <a:off x="846470" y="2031171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651729-E6F7-4A80-8E9E-C463635C2945}"/>
              </a:ext>
            </a:extLst>
          </p:cNvPr>
          <p:cNvCxnSpPr>
            <a:cxnSpLocks/>
          </p:cNvCxnSpPr>
          <p:nvPr/>
        </p:nvCxnSpPr>
        <p:spPr>
          <a:xfrm>
            <a:off x="846470" y="3644725"/>
            <a:ext cx="161392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A8A5A38B-5002-D4C4-47F1-F44A6FAB758C}"/>
              </a:ext>
            </a:extLst>
          </p:cNvPr>
          <p:cNvSpPr/>
          <p:nvPr/>
        </p:nvSpPr>
        <p:spPr>
          <a:xfrm>
            <a:off x="5734050" y="2662520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5FC396-612E-2C45-F7A3-A00E8DD6DE58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DDC45E-95CC-C1FC-4C7B-1C711EC5BD7E}"/>
              </a:ext>
            </a:extLst>
          </p:cNvPr>
          <p:cNvGrpSpPr/>
          <p:nvPr/>
        </p:nvGrpSpPr>
        <p:grpSpPr>
          <a:xfrm>
            <a:off x="382863" y="5733925"/>
            <a:ext cx="4363648" cy="761049"/>
            <a:chOff x="299043" y="5581525"/>
            <a:chExt cx="4363648" cy="76104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436F1A-B3C8-4C9E-ABCC-C27B4C2478B0}"/>
                </a:ext>
              </a:extLst>
            </p:cNvPr>
            <p:cNvGrpSpPr/>
            <p:nvPr/>
          </p:nvGrpSpPr>
          <p:grpSpPr>
            <a:xfrm>
              <a:off x="299043" y="5582120"/>
              <a:ext cx="2678597" cy="760454"/>
              <a:chOff x="636921" y="5495764"/>
              <a:chExt cx="2278526" cy="64687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34BB711-6900-7C58-1953-D6B674DF1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921" y="5498912"/>
                <a:ext cx="1147371" cy="643358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10B09C0-6CEF-C855-EE6C-1BA43FF803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8076" y="5495764"/>
                <a:ext cx="1147371" cy="646874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89ADC7-6D3D-61FB-0575-4EA137BBCF02}"/>
                </a:ext>
              </a:extLst>
            </p:cNvPr>
            <p:cNvGrpSpPr/>
            <p:nvPr/>
          </p:nvGrpSpPr>
          <p:grpSpPr>
            <a:xfrm>
              <a:off x="3313861" y="5581525"/>
              <a:ext cx="1348830" cy="756321"/>
              <a:chOff x="3565321" y="5581525"/>
              <a:chExt cx="1348830" cy="75632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1ED2A3D-EFAF-62DF-762A-F34A7BB7E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5321" y="5581525"/>
                <a:ext cx="1348830" cy="756321"/>
              </a:xfrm>
              <a:prstGeom prst="rect">
                <a:avLst/>
              </a:prstGeom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8E25DA-F28E-208D-8EB2-72BA26A71D12}"/>
                  </a:ext>
                </a:extLst>
              </p:cNvPr>
              <p:cNvSpPr/>
              <p:nvPr/>
            </p:nvSpPr>
            <p:spPr>
              <a:xfrm>
                <a:off x="4577721" y="5928040"/>
                <a:ext cx="134774" cy="1347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D193C29-88CC-528D-152E-7D806EAFEE75}"/>
              </a:ext>
            </a:extLst>
          </p:cNvPr>
          <p:cNvSpPr txBox="1"/>
          <p:nvPr/>
        </p:nvSpPr>
        <p:spPr>
          <a:xfrm>
            <a:off x="696121" y="5367681"/>
            <a:ext cx="376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       +       NOT             =        </a:t>
            </a:r>
            <a:r>
              <a:rPr lang="en-GB" b="1" dirty="0">
                <a:solidFill>
                  <a:srgbClr val="C00000"/>
                </a:solidFill>
              </a:rPr>
              <a:t>NAND</a:t>
            </a:r>
          </a:p>
        </p:txBody>
      </p:sp>
    </p:spTree>
    <p:extLst>
      <p:ext uri="{BB962C8B-B14F-4D97-AF65-F5344CB8AC3E}">
        <p14:creationId xmlns:p14="http://schemas.microsoft.com/office/powerpoint/2010/main" val="291754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0,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992602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ED4629-DA6E-49C3-9934-8AE22254F185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8DFC0-17BF-419A-BE0C-1F990CD0BBC9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D6B5C1-EF00-5C0F-F3AB-EEFBFF5E0EAE}"/>
              </a:ext>
            </a:extLst>
          </p:cNvPr>
          <p:cNvSpPr/>
          <p:nvPr/>
        </p:nvSpPr>
        <p:spPr>
          <a:xfrm>
            <a:off x="5791342" y="2697408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0591EA-9428-49C6-77B0-887A3AA62278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6143767" y="2871723"/>
            <a:ext cx="1274029" cy="1898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1A27E9-65E7-FFCF-92A9-524D58278142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89716C-7085-9F86-F628-D03068AF5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2" y="5717191"/>
            <a:ext cx="1400103" cy="78507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471B888-1406-2FB9-83DD-25AAF8BE9737}"/>
              </a:ext>
            </a:extLst>
          </p:cNvPr>
          <p:cNvGrpSpPr/>
          <p:nvPr/>
        </p:nvGrpSpPr>
        <p:grpSpPr>
          <a:xfrm>
            <a:off x="1712630" y="5734520"/>
            <a:ext cx="2832225" cy="760454"/>
            <a:chOff x="1628810" y="5582120"/>
            <a:chExt cx="2832225" cy="760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11A4B9E-BD41-7EB8-3CA9-6109EAF16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8810" y="5582120"/>
              <a:ext cx="1348830" cy="760454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F6E9682-01A7-EC15-BA65-5C494D2857E1}"/>
                </a:ext>
              </a:extLst>
            </p:cNvPr>
            <p:cNvSpPr/>
            <p:nvPr/>
          </p:nvSpPr>
          <p:spPr>
            <a:xfrm>
              <a:off x="4326261" y="5928040"/>
              <a:ext cx="134774" cy="1347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3075C27-662F-6CB8-6862-64B25038AFE2}"/>
              </a:ext>
            </a:extLst>
          </p:cNvPr>
          <p:cNvSpPr txBox="1"/>
          <p:nvPr/>
        </p:nvSpPr>
        <p:spPr>
          <a:xfrm>
            <a:off x="696121" y="5367681"/>
            <a:ext cx="361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 OR        +       NOT             =         </a:t>
            </a:r>
            <a:r>
              <a:rPr lang="en-GB" b="1" dirty="0">
                <a:solidFill>
                  <a:srgbClr val="C00000"/>
                </a:solidFill>
              </a:rPr>
              <a:t>NOR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CEECAA-C180-DA37-B432-1648CFDD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7" y="5721138"/>
            <a:ext cx="1400103" cy="7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9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1,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358929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3709140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51DCC63-F80E-CA8D-14AA-78A424DAFC33}"/>
              </a:ext>
            </a:extLst>
          </p:cNvPr>
          <p:cNvSpPr/>
          <p:nvPr/>
        </p:nvSpPr>
        <p:spPr>
          <a:xfrm>
            <a:off x="5791342" y="2697408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2B8071-3A2A-8CB1-C7EE-5457F7624C4A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4D053-1DC0-B536-78FC-60BFDE379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2" y="5717191"/>
            <a:ext cx="1400103" cy="7850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C717813-170A-E376-09F3-19B71BBA231B}"/>
              </a:ext>
            </a:extLst>
          </p:cNvPr>
          <p:cNvGrpSpPr/>
          <p:nvPr/>
        </p:nvGrpSpPr>
        <p:grpSpPr>
          <a:xfrm>
            <a:off x="1712630" y="5734520"/>
            <a:ext cx="2832225" cy="760454"/>
            <a:chOff x="1628810" y="5582120"/>
            <a:chExt cx="2832225" cy="76045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433719C-E5F6-32DB-CB8B-E7BAE67C0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8810" y="5582120"/>
              <a:ext cx="1348830" cy="760454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C6ADC5-C181-83A0-6FA6-95A875A817FE}"/>
                </a:ext>
              </a:extLst>
            </p:cNvPr>
            <p:cNvSpPr/>
            <p:nvPr/>
          </p:nvSpPr>
          <p:spPr>
            <a:xfrm>
              <a:off x="4326261" y="5928040"/>
              <a:ext cx="134774" cy="1347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02BCCF8-D18F-2386-56CC-6F62E7473B39}"/>
              </a:ext>
            </a:extLst>
          </p:cNvPr>
          <p:cNvSpPr txBox="1"/>
          <p:nvPr/>
        </p:nvSpPr>
        <p:spPr>
          <a:xfrm>
            <a:off x="696121" y="5367681"/>
            <a:ext cx="3664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  OR        +       NOT             =         </a:t>
            </a:r>
            <a:r>
              <a:rPr lang="en-GB" b="1" dirty="0">
                <a:solidFill>
                  <a:srgbClr val="C00000"/>
                </a:solidFill>
              </a:rPr>
              <a:t>NOR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E124FB-FF8C-8181-2015-AE228FBB4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7" y="5721138"/>
            <a:ext cx="1400103" cy="7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6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0,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999489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2050023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190AF18-BD60-D152-CE7E-4EA8BF32B24A}"/>
              </a:ext>
            </a:extLst>
          </p:cNvPr>
          <p:cNvSpPr/>
          <p:nvPr/>
        </p:nvSpPr>
        <p:spPr>
          <a:xfrm>
            <a:off x="5791342" y="2697408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500F58-3D53-179B-1310-BB2485EC8F44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A6224-160C-D8AA-A569-E36A45231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2" y="5717191"/>
            <a:ext cx="1400103" cy="7850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AF34D9-0423-E81C-5103-CD2F3D780ECF}"/>
              </a:ext>
            </a:extLst>
          </p:cNvPr>
          <p:cNvGrpSpPr/>
          <p:nvPr/>
        </p:nvGrpSpPr>
        <p:grpSpPr>
          <a:xfrm>
            <a:off x="1712630" y="5734520"/>
            <a:ext cx="2832225" cy="760454"/>
            <a:chOff x="1628810" y="5582120"/>
            <a:chExt cx="2832225" cy="76045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FBD71DC-951D-89F4-F7C2-8A99A35F5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8810" y="5582120"/>
              <a:ext cx="1348830" cy="760454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7BF53D3-5350-4F07-90F8-D0664A92402B}"/>
                </a:ext>
              </a:extLst>
            </p:cNvPr>
            <p:cNvSpPr/>
            <p:nvPr/>
          </p:nvSpPr>
          <p:spPr>
            <a:xfrm>
              <a:off x="4326261" y="5928040"/>
              <a:ext cx="134774" cy="1347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9A787B0-30B7-9BB1-AC84-9E3C1FEE0E88}"/>
              </a:ext>
            </a:extLst>
          </p:cNvPr>
          <p:cNvSpPr txBox="1"/>
          <p:nvPr/>
        </p:nvSpPr>
        <p:spPr>
          <a:xfrm>
            <a:off x="696121" y="5367681"/>
            <a:ext cx="3664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  OR        +       NOT             =         </a:t>
            </a:r>
            <a:r>
              <a:rPr lang="en-GB" b="1" dirty="0">
                <a:solidFill>
                  <a:srgbClr val="C00000"/>
                </a:solidFill>
              </a:rPr>
              <a:t>NOR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633D75-EEF5-DFEB-0762-7CEB0CF0C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7" y="5721138"/>
            <a:ext cx="1400103" cy="7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82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NOR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b="1" dirty="0">
                <a:solidFill>
                  <a:schemeClr val="tx1"/>
                </a:solidFill>
              </a:rPr>
              <a:t>NOR</a:t>
            </a:r>
            <a:r>
              <a:rPr lang="en-GB" sz="1600" dirty="0">
                <a:solidFill>
                  <a:schemeClr val="tx1"/>
                </a:solidFill>
              </a:rPr>
              <a:t> gate is like putting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together. It effectively reverses the output from a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1,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086759"/>
              </p:ext>
            </p:extLst>
          </p:nvPr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9C8281-EA83-4739-8E84-0322F0D2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5" y="858560"/>
            <a:ext cx="6560671" cy="3678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4788EB-3AB8-457B-A0FD-9E54DEBE39A0}"/>
              </a:ext>
            </a:extLst>
          </p:cNvPr>
          <p:cNvSpPr/>
          <p:nvPr/>
        </p:nvSpPr>
        <p:spPr>
          <a:xfrm>
            <a:off x="-122242" y="1411565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F42EA-72A1-45F6-AC6F-4724682E4AD9}"/>
              </a:ext>
            </a:extLst>
          </p:cNvPr>
          <p:cNvSpPr/>
          <p:nvPr/>
        </p:nvSpPr>
        <p:spPr>
          <a:xfrm>
            <a:off x="-122242" y="3040308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C7DB2-230B-4169-84B9-2CF2B0E4BD45}"/>
              </a:ext>
            </a:extLst>
          </p:cNvPr>
          <p:cNvSpPr/>
          <p:nvPr/>
        </p:nvSpPr>
        <p:spPr>
          <a:xfrm>
            <a:off x="7225669" y="2229657"/>
            <a:ext cx="11599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086EE5-ACA2-488B-95B5-CB13F340D369}"/>
              </a:ext>
            </a:extLst>
          </p:cNvPr>
          <p:cNvCxnSpPr>
            <a:cxnSpLocks/>
          </p:cNvCxnSpPr>
          <p:nvPr/>
        </p:nvCxnSpPr>
        <p:spPr>
          <a:xfrm>
            <a:off x="846470" y="2050023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8A91DF-B1B1-4175-969E-2A171F44C0D9}"/>
              </a:ext>
            </a:extLst>
          </p:cNvPr>
          <p:cNvCxnSpPr>
            <a:cxnSpLocks/>
          </p:cNvCxnSpPr>
          <p:nvPr/>
        </p:nvCxnSpPr>
        <p:spPr>
          <a:xfrm>
            <a:off x="846470" y="3700600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242D0C3-FD37-8B8C-AFC5-380555D5A4DD}"/>
              </a:ext>
            </a:extLst>
          </p:cNvPr>
          <p:cNvSpPr/>
          <p:nvPr/>
        </p:nvSpPr>
        <p:spPr>
          <a:xfrm>
            <a:off x="5791342" y="2697408"/>
            <a:ext cx="352425" cy="35242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0F0A12-0F7A-6C21-AAB9-51CFFDA598FF}"/>
              </a:ext>
            </a:extLst>
          </p:cNvPr>
          <p:cNvSpPr/>
          <p:nvPr/>
        </p:nvSpPr>
        <p:spPr>
          <a:xfrm>
            <a:off x="228601" y="5261544"/>
            <a:ext cx="4678680" cy="1390715"/>
          </a:xfrm>
          <a:prstGeom prst="roundRect">
            <a:avLst>
              <a:gd name="adj" fmla="val 9385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E8427-42A5-6D37-1C43-3B6163452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852" y="5717191"/>
            <a:ext cx="1400103" cy="7850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1CE5267-BFBA-9E52-29F1-E3E70B6F9987}"/>
              </a:ext>
            </a:extLst>
          </p:cNvPr>
          <p:cNvGrpSpPr/>
          <p:nvPr/>
        </p:nvGrpSpPr>
        <p:grpSpPr>
          <a:xfrm>
            <a:off x="1712630" y="5734520"/>
            <a:ext cx="2832225" cy="760454"/>
            <a:chOff x="1628810" y="5582120"/>
            <a:chExt cx="2832225" cy="76045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6C93119-AE65-422E-A439-9CBED5E1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8810" y="5582120"/>
              <a:ext cx="1348830" cy="760454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2367A35-5F3B-6135-5911-C0B6F6CEC3DA}"/>
                </a:ext>
              </a:extLst>
            </p:cNvPr>
            <p:cNvSpPr/>
            <p:nvPr/>
          </p:nvSpPr>
          <p:spPr>
            <a:xfrm>
              <a:off x="4326261" y="5928040"/>
              <a:ext cx="134774" cy="1347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2292F3C-B69D-DD99-3826-5C891798009C}"/>
              </a:ext>
            </a:extLst>
          </p:cNvPr>
          <p:cNvSpPr txBox="1"/>
          <p:nvPr/>
        </p:nvSpPr>
        <p:spPr>
          <a:xfrm>
            <a:off x="696121" y="5367681"/>
            <a:ext cx="367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   OR        +       NOT             =         </a:t>
            </a:r>
            <a:r>
              <a:rPr lang="en-GB" b="1" dirty="0">
                <a:solidFill>
                  <a:srgbClr val="C00000"/>
                </a:solidFill>
              </a:rPr>
              <a:t>NOR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2236E0-F31F-B0F0-3040-B2F221CDD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7" y="5721138"/>
            <a:ext cx="1400103" cy="7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4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XOR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 output is TRUE if one and only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0,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78F09-E278-4636-8806-0E9BEC8A9598}"/>
              </a:ext>
            </a:extLst>
          </p:cNvPr>
          <p:cNvSpPr/>
          <p:nvPr/>
        </p:nvSpPr>
        <p:spPr>
          <a:xfrm>
            <a:off x="-75416" y="1397519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8240B-3968-491A-BBE1-7B5A5B88CB08}"/>
              </a:ext>
            </a:extLst>
          </p:cNvPr>
          <p:cNvSpPr/>
          <p:nvPr/>
        </p:nvSpPr>
        <p:spPr>
          <a:xfrm>
            <a:off x="-75416" y="302857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DC94E-3C43-4C36-9F05-259F9BF099C4}"/>
              </a:ext>
            </a:extLst>
          </p:cNvPr>
          <p:cNvSpPr/>
          <p:nvPr/>
        </p:nvSpPr>
        <p:spPr>
          <a:xfrm>
            <a:off x="7240195" y="222144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0609C7-4E31-4B32-8224-9D954F9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8" y="854326"/>
            <a:ext cx="6572203" cy="368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64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XOR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 output is TRUE if one and only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0 and B is 1,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81227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78F09-E278-4636-8806-0E9BEC8A9598}"/>
              </a:ext>
            </a:extLst>
          </p:cNvPr>
          <p:cNvSpPr/>
          <p:nvPr/>
        </p:nvSpPr>
        <p:spPr>
          <a:xfrm>
            <a:off x="-75416" y="1397519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8240B-3968-491A-BBE1-7B5A5B88CB08}"/>
              </a:ext>
            </a:extLst>
          </p:cNvPr>
          <p:cNvSpPr/>
          <p:nvPr/>
        </p:nvSpPr>
        <p:spPr>
          <a:xfrm>
            <a:off x="-75416" y="302857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DC94E-3C43-4C36-9F05-259F9BF099C4}"/>
              </a:ext>
            </a:extLst>
          </p:cNvPr>
          <p:cNvSpPr/>
          <p:nvPr/>
        </p:nvSpPr>
        <p:spPr>
          <a:xfrm>
            <a:off x="7240195" y="2233716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0609C7-4E31-4B32-8224-9D954F9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8" y="854326"/>
            <a:ext cx="6572203" cy="36851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4A831A-3C0B-42D9-8646-4D44644F4384}"/>
              </a:ext>
            </a:extLst>
          </p:cNvPr>
          <p:cNvCxnSpPr>
            <a:cxnSpLocks/>
          </p:cNvCxnSpPr>
          <p:nvPr/>
        </p:nvCxnSpPr>
        <p:spPr>
          <a:xfrm>
            <a:off x="849760" y="3703004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4A5F68-E9B0-4A1E-BF37-225969652669}"/>
              </a:ext>
            </a:extLst>
          </p:cNvPr>
          <p:cNvCxnSpPr>
            <a:cxnSpLocks/>
          </p:cNvCxnSpPr>
          <p:nvPr/>
        </p:nvCxnSpPr>
        <p:spPr>
          <a:xfrm>
            <a:off x="5753640" y="2883554"/>
            <a:ext cx="165801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34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XOR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 output is TRUE if one and only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0, the output is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78F09-E278-4636-8806-0E9BEC8A9598}"/>
              </a:ext>
            </a:extLst>
          </p:cNvPr>
          <p:cNvSpPr/>
          <p:nvPr/>
        </p:nvSpPr>
        <p:spPr>
          <a:xfrm>
            <a:off x="-75416" y="1397519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8240B-3968-491A-BBE1-7B5A5B88CB08}"/>
              </a:ext>
            </a:extLst>
          </p:cNvPr>
          <p:cNvSpPr/>
          <p:nvPr/>
        </p:nvSpPr>
        <p:spPr>
          <a:xfrm>
            <a:off x="-75416" y="302857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DC94E-3C43-4C36-9F05-259F9BF099C4}"/>
              </a:ext>
            </a:extLst>
          </p:cNvPr>
          <p:cNvSpPr/>
          <p:nvPr/>
        </p:nvSpPr>
        <p:spPr>
          <a:xfrm>
            <a:off x="7240195" y="222144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0609C7-4E31-4B32-8224-9D954F9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8" y="854326"/>
            <a:ext cx="6572203" cy="36851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4A831A-3C0B-42D9-8646-4D44644F4384}"/>
              </a:ext>
            </a:extLst>
          </p:cNvPr>
          <p:cNvCxnSpPr>
            <a:cxnSpLocks/>
          </p:cNvCxnSpPr>
          <p:nvPr/>
        </p:nvCxnSpPr>
        <p:spPr>
          <a:xfrm>
            <a:off x="849760" y="2050465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67469F-438D-4277-8D06-8080D7D0E76C}"/>
              </a:ext>
            </a:extLst>
          </p:cNvPr>
          <p:cNvCxnSpPr>
            <a:cxnSpLocks/>
          </p:cNvCxnSpPr>
          <p:nvPr/>
        </p:nvCxnSpPr>
        <p:spPr>
          <a:xfrm>
            <a:off x="5753640" y="2871280"/>
            <a:ext cx="1658019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032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83434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XOR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98BEC78-F24D-4D62-B215-E40371AFDE37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is the symbol for 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 output is TRUE if one and only one of its inputs is TRUE – otherwise, the output is FALSE.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input A is 1 and B is 1, the output is 0.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63DB-7BF4-4426-A086-315F41B41534}"/>
              </a:ext>
            </a:extLst>
          </p:cNvPr>
          <p:cNvSpPr/>
          <p:nvPr/>
        </p:nvSpPr>
        <p:spPr>
          <a:xfrm>
            <a:off x="5213023" y="3968953"/>
            <a:ext cx="1528114" cy="40703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Truth table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AF9D31AE-1019-48E5-AC31-6FDDFCD5C0B3}"/>
              </a:ext>
            </a:extLst>
          </p:cNvPr>
          <p:cNvGraphicFramePr>
            <a:graphicFrameLocks noGrp="1"/>
          </p:cNvGraphicFramePr>
          <p:nvPr/>
        </p:nvGraphicFramePr>
        <p:xfrm>
          <a:off x="5213023" y="4375988"/>
          <a:ext cx="3088675" cy="23331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325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790325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50802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46663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9618D19-DA9C-4803-9CDA-65140C9F10D6}"/>
              </a:ext>
            </a:extLst>
          </p:cNvPr>
          <p:cNvSpPr/>
          <p:nvPr/>
        </p:nvSpPr>
        <p:spPr>
          <a:xfrm>
            <a:off x="1025129" y="1276475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A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7A10B-1FA5-4A47-AE35-9BAC7293DF5C}"/>
              </a:ext>
            </a:extLst>
          </p:cNvPr>
          <p:cNvSpPr/>
          <p:nvPr/>
        </p:nvSpPr>
        <p:spPr>
          <a:xfrm>
            <a:off x="1025129" y="2888457"/>
            <a:ext cx="11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>
                <a:solidFill>
                  <a:schemeClr val="accent2"/>
                </a:solidFill>
              </a:rPr>
              <a:t>B</a:t>
            </a:r>
            <a:endParaRPr lang="en-GB" sz="32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A78F09-E278-4636-8806-0E9BEC8A9598}"/>
              </a:ext>
            </a:extLst>
          </p:cNvPr>
          <p:cNvSpPr/>
          <p:nvPr/>
        </p:nvSpPr>
        <p:spPr>
          <a:xfrm>
            <a:off x="-75416" y="1397519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8240B-3968-491A-BBE1-7B5A5B88CB08}"/>
              </a:ext>
            </a:extLst>
          </p:cNvPr>
          <p:cNvSpPr/>
          <p:nvPr/>
        </p:nvSpPr>
        <p:spPr>
          <a:xfrm>
            <a:off x="-75416" y="302857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1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DC94E-3C43-4C36-9F05-259F9BF099C4}"/>
              </a:ext>
            </a:extLst>
          </p:cNvPr>
          <p:cNvSpPr/>
          <p:nvPr/>
        </p:nvSpPr>
        <p:spPr>
          <a:xfrm>
            <a:off x="7240195" y="2221442"/>
            <a:ext cx="1154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</a:rPr>
              <a:t>0</a:t>
            </a:r>
            <a:endParaRPr lang="en-GB" sz="5400" dirty="0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0609C7-4E31-4B32-8224-9D954F9FC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8" y="854326"/>
            <a:ext cx="6572203" cy="36851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4A831A-3C0B-42D9-8646-4D44644F4384}"/>
              </a:ext>
            </a:extLst>
          </p:cNvPr>
          <p:cNvCxnSpPr>
            <a:cxnSpLocks/>
          </p:cNvCxnSpPr>
          <p:nvPr/>
        </p:nvCxnSpPr>
        <p:spPr>
          <a:xfrm>
            <a:off x="849760" y="2050465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648B62-66E2-4F8D-9E83-3D5561F1006C}"/>
              </a:ext>
            </a:extLst>
          </p:cNvPr>
          <p:cNvCxnSpPr>
            <a:cxnSpLocks/>
          </p:cNvCxnSpPr>
          <p:nvPr/>
        </p:nvCxnSpPr>
        <p:spPr>
          <a:xfrm>
            <a:off x="849760" y="3700157"/>
            <a:ext cx="200985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862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911881"/>
              </p:ext>
            </p:extLst>
          </p:nvPr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1DFE4DC-7DA0-06EE-3AA8-4FCAA92F9976}"/>
              </a:ext>
            </a:extLst>
          </p:cNvPr>
          <p:cNvGrpSpPr/>
          <p:nvPr/>
        </p:nvGrpSpPr>
        <p:grpSpPr>
          <a:xfrm>
            <a:off x="1041081" y="996034"/>
            <a:ext cx="2351473" cy="1286845"/>
            <a:chOff x="18854" y="1660295"/>
            <a:chExt cx="2862579" cy="156654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E9D9963-B582-4E62-9E60-733667ABD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20" y="1660295"/>
              <a:ext cx="2778613" cy="156654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39AA1D-77B6-48A1-BCB1-F8D98B11C9D7}"/>
                </a:ext>
              </a:extLst>
            </p:cNvPr>
            <p:cNvSpPr txBox="1"/>
            <p:nvPr/>
          </p:nvSpPr>
          <p:spPr>
            <a:xfrm>
              <a:off x="950691" y="2265768"/>
              <a:ext cx="787751" cy="487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NOT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BF5B10-C497-4B56-873C-01ABA62631AB}"/>
                </a:ext>
              </a:extLst>
            </p:cNvPr>
            <p:cNvSpPr txBox="1"/>
            <p:nvPr/>
          </p:nvSpPr>
          <p:spPr>
            <a:xfrm>
              <a:off x="18854" y="2098919"/>
              <a:ext cx="414093" cy="487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14F2BC-E154-71A8-57C4-B209A4C791AC}"/>
              </a:ext>
            </a:extLst>
          </p:cNvPr>
          <p:cNvGrpSpPr/>
          <p:nvPr/>
        </p:nvGrpSpPr>
        <p:grpSpPr>
          <a:xfrm>
            <a:off x="4966888" y="982679"/>
            <a:ext cx="2348027" cy="1279851"/>
            <a:chOff x="4966888" y="982679"/>
            <a:chExt cx="2348027" cy="127985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6AA6C2C-17B4-4D1D-813C-73374A576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2416" y="982679"/>
              <a:ext cx="2282499" cy="12798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AC6E007-890A-4E52-A3E8-9E0BA7652248}"/>
                </a:ext>
              </a:extLst>
            </p:cNvPr>
            <p:cNvSpPr txBox="1"/>
            <p:nvPr/>
          </p:nvSpPr>
          <p:spPr>
            <a:xfrm>
              <a:off x="5833263" y="1473052"/>
              <a:ext cx="6703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AND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1E4EB0-598E-4139-B621-83CEB6236DAF}"/>
                </a:ext>
              </a:extLst>
            </p:cNvPr>
            <p:cNvSpPr txBox="1"/>
            <p:nvPr/>
          </p:nvSpPr>
          <p:spPr>
            <a:xfrm>
              <a:off x="4966888" y="1051548"/>
              <a:ext cx="340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E39B12-4E19-4FFD-A441-C70F63A973F6}"/>
                </a:ext>
              </a:extLst>
            </p:cNvPr>
            <p:cNvSpPr txBox="1"/>
            <p:nvPr/>
          </p:nvSpPr>
          <p:spPr>
            <a:xfrm>
              <a:off x="4966888" y="1619108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B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643709-DEB1-43E4-1874-DEEDE9EC5318}"/>
              </a:ext>
            </a:extLst>
          </p:cNvPr>
          <p:cNvGrpSpPr/>
          <p:nvPr/>
        </p:nvGrpSpPr>
        <p:grpSpPr>
          <a:xfrm>
            <a:off x="9171862" y="984209"/>
            <a:ext cx="2332928" cy="1279851"/>
            <a:chOff x="9171862" y="984209"/>
            <a:chExt cx="2332928" cy="1279851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66EABD-1F01-4089-85B4-E58881097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2291" y="984209"/>
              <a:ext cx="2282499" cy="127985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0B2355-9F25-4A4C-B895-E1A2FA3EDC5A}"/>
                </a:ext>
              </a:extLst>
            </p:cNvPr>
            <p:cNvSpPr txBox="1"/>
            <p:nvPr/>
          </p:nvSpPr>
          <p:spPr>
            <a:xfrm>
              <a:off x="10112567" y="1451658"/>
              <a:ext cx="5020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OR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EE5473-03EE-4B1D-AE21-F6AC2BC7B452}"/>
                </a:ext>
              </a:extLst>
            </p:cNvPr>
            <p:cNvSpPr txBox="1"/>
            <p:nvPr/>
          </p:nvSpPr>
          <p:spPr>
            <a:xfrm>
              <a:off x="9171862" y="1071007"/>
              <a:ext cx="340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06D2D3-E2C3-40CE-802C-5DA91D1A5471}"/>
                </a:ext>
              </a:extLst>
            </p:cNvPr>
            <p:cNvSpPr txBox="1"/>
            <p:nvPr/>
          </p:nvSpPr>
          <p:spPr>
            <a:xfrm>
              <a:off x="9171862" y="1640535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B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229380"/>
              </p:ext>
            </p:extLst>
          </p:nvPr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450243"/>
              </p:ext>
            </p:extLst>
          </p:nvPr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ADE3E55E-133C-4E9B-BB57-F32E86DE3046}"/>
              </a:ext>
            </a:extLst>
          </p:cNvPr>
          <p:cNvGrpSpPr/>
          <p:nvPr/>
        </p:nvGrpSpPr>
        <p:grpSpPr>
          <a:xfrm>
            <a:off x="1105594" y="3900289"/>
            <a:ext cx="2337378" cy="1270178"/>
            <a:chOff x="7146629" y="1351641"/>
            <a:chExt cx="3771668" cy="204960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C5E0FB5-9948-499A-B95D-B3875B4FC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022" y="1351641"/>
              <a:ext cx="3655275" cy="20496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8C30DD1-4978-4685-947C-ABDF2A20FEEE}"/>
                </a:ext>
              </a:extLst>
            </p:cNvPr>
            <p:cNvSpPr txBox="1"/>
            <p:nvPr/>
          </p:nvSpPr>
          <p:spPr>
            <a:xfrm>
              <a:off x="7146629" y="1406027"/>
              <a:ext cx="548890" cy="645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7005BD-88C9-48CF-8AA6-EFF13801847C}"/>
                </a:ext>
              </a:extLst>
            </p:cNvPr>
            <p:cNvSpPr txBox="1"/>
            <p:nvPr/>
          </p:nvSpPr>
          <p:spPr>
            <a:xfrm>
              <a:off x="7146629" y="2318090"/>
              <a:ext cx="530782" cy="645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B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2E8BF9-D2D8-4152-A8AE-664DBFC18A30}"/>
                </a:ext>
              </a:extLst>
            </p:cNvPr>
            <p:cNvSpPr txBox="1"/>
            <p:nvPr/>
          </p:nvSpPr>
          <p:spPr>
            <a:xfrm>
              <a:off x="8592637" y="2136942"/>
              <a:ext cx="1023593" cy="645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XOR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461627"/>
              </p:ext>
            </p:extLst>
          </p:nvPr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BEB416DA-8ACF-5A10-37B9-DF447D85BD78}"/>
              </a:ext>
            </a:extLst>
          </p:cNvPr>
          <p:cNvGrpSpPr/>
          <p:nvPr/>
        </p:nvGrpSpPr>
        <p:grpSpPr>
          <a:xfrm>
            <a:off x="4967188" y="3881613"/>
            <a:ext cx="2349741" cy="1281280"/>
            <a:chOff x="4967188" y="3881613"/>
            <a:chExt cx="2349741" cy="128128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80436A-B63C-0475-E7D3-E6729C18D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430" y="3881613"/>
              <a:ext cx="2282499" cy="12812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8D54A0-E00F-B4AA-F4AC-6236853F23CE}"/>
                </a:ext>
              </a:extLst>
            </p:cNvPr>
            <p:cNvSpPr txBox="1"/>
            <p:nvPr/>
          </p:nvSpPr>
          <p:spPr>
            <a:xfrm>
              <a:off x="5743917" y="4394936"/>
              <a:ext cx="8386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NAND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04B67F-B60A-E43F-00CC-379EA7E57DDD}"/>
                </a:ext>
              </a:extLst>
            </p:cNvPr>
            <p:cNvSpPr txBox="1"/>
            <p:nvPr/>
          </p:nvSpPr>
          <p:spPr>
            <a:xfrm>
              <a:off x="4967188" y="3973432"/>
              <a:ext cx="340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C69B74-EA21-9A4E-6B6B-F8F390B7E5B5}"/>
                </a:ext>
              </a:extLst>
            </p:cNvPr>
            <p:cNvSpPr txBox="1"/>
            <p:nvPr/>
          </p:nvSpPr>
          <p:spPr>
            <a:xfrm>
              <a:off x="4967188" y="4540992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B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68484D-6979-9E90-B7E0-675AFCA99CB5}"/>
              </a:ext>
            </a:extLst>
          </p:cNvPr>
          <p:cNvGrpSpPr/>
          <p:nvPr/>
        </p:nvGrpSpPr>
        <p:grpSpPr>
          <a:xfrm>
            <a:off x="9144165" y="3878279"/>
            <a:ext cx="2360625" cy="1281280"/>
            <a:chOff x="9144165" y="3878279"/>
            <a:chExt cx="2360625" cy="12812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640D421-394A-E66E-6CD1-06456726C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2291" y="3878279"/>
              <a:ext cx="2282499" cy="128128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D3D206-0668-EBFC-E0FC-C6A031EC12C1}"/>
                </a:ext>
              </a:extLst>
            </p:cNvPr>
            <p:cNvSpPr txBox="1"/>
            <p:nvPr/>
          </p:nvSpPr>
          <p:spPr>
            <a:xfrm>
              <a:off x="10088086" y="4374697"/>
              <a:ext cx="6703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NOR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3C0C67-1D3B-030C-A541-2592D8329CF2}"/>
                </a:ext>
              </a:extLst>
            </p:cNvPr>
            <p:cNvSpPr txBox="1"/>
            <p:nvPr/>
          </p:nvSpPr>
          <p:spPr>
            <a:xfrm>
              <a:off x="9144165" y="3966089"/>
              <a:ext cx="340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A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B9186E-741A-DA70-6015-43DB19FBA85F}"/>
                </a:ext>
              </a:extLst>
            </p:cNvPr>
            <p:cNvSpPr txBox="1"/>
            <p:nvPr/>
          </p:nvSpPr>
          <p:spPr>
            <a:xfrm>
              <a:off x="9144165" y="4535617"/>
              <a:ext cx="328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solidFill>
                    <a:srgbClr val="C00000"/>
                  </a:solidFill>
                </a:rPr>
                <a:t>B</a:t>
              </a:r>
              <a:endParaRPr lang="en-GB" sz="1100" b="1" dirty="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09062"/>
              </p:ext>
            </p:extLst>
          </p:nvPr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88360"/>
              </p:ext>
            </p:extLst>
          </p:nvPr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1184416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 and truth tables: Summary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0" name="Picture 2" descr="make_notes">
            <a:extLst>
              <a:ext uri="{FF2B5EF4-FFF2-40B4-BE49-F238E27FC236}">
                <a16:creationId xmlns:a16="http://schemas.microsoft.com/office/drawing/2014/main" id="{A0A4C34B-95CE-FA1A-2482-33B206FF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840311" cy="84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163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6CAAB21-9AD8-432C-9FFA-D8F70A0AD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137" y="1785074"/>
            <a:ext cx="5208045" cy="292027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5142DC9-EB83-4E83-B9A4-6746E703033F}"/>
              </a:ext>
            </a:extLst>
          </p:cNvPr>
          <p:cNvSpPr/>
          <p:nvPr/>
        </p:nvSpPr>
        <p:spPr>
          <a:xfrm>
            <a:off x="4905375" y="2085975"/>
            <a:ext cx="411787" cy="2600325"/>
          </a:xfrm>
          <a:custGeom>
            <a:avLst/>
            <a:gdLst>
              <a:gd name="connsiteX0" fmla="*/ 0 w 411787"/>
              <a:gd name="connsiteY0" fmla="*/ 0 h 2600325"/>
              <a:gd name="connsiteX1" fmla="*/ 238125 w 411787"/>
              <a:gd name="connsiteY1" fmla="*/ 409575 h 2600325"/>
              <a:gd name="connsiteX2" fmla="*/ 390525 w 411787"/>
              <a:gd name="connsiteY2" fmla="*/ 952500 h 2600325"/>
              <a:gd name="connsiteX3" fmla="*/ 409575 w 411787"/>
              <a:gd name="connsiteY3" fmla="*/ 1257300 h 2600325"/>
              <a:gd name="connsiteX4" fmla="*/ 381000 w 411787"/>
              <a:gd name="connsiteY4" fmla="*/ 1657350 h 2600325"/>
              <a:gd name="connsiteX5" fmla="*/ 323850 w 411787"/>
              <a:gd name="connsiteY5" fmla="*/ 1962150 h 2600325"/>
              <a:gd name="connsiteX6" fmla="*/ 161925 w 411787"/>
              <a:gd name="connsiteY6" fmla="*/ 2324100 h 2600325"/>
              <a:gd name="connsiteX7" fmla="*/ 0 w 411787"/>
              <a:gd name="connsiteY7" fmla="*/ 2600325 h 26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787" h="2600325">
                <a:moveTo>
                  <a:pt x="0" y="0"/>
                </a:moveTo>
                <a:cubicBezTo>
                  <a:pt x="86519" y="125412"/>
                  <a:pt x="173038" y="250825"/>
                  <a:pt x="238125" y="409575"/>
                </a:cubicBezTo>
                <a:cubicBezTo>
                  <a:pt x="303212" y="568325"/>
                  <a:pt x="361950" y="811213"/>
                  <a:pt x="390525" y="952500"/>
                </a:cubicBezTo>
                <a:cubicBezTo>
                  <a:pt x="419100" y="1093787"/>
                  <a:pt x="411163" y="1139825"/>
                  <a:pt x="409575" y="1257300"/>
                </a:cubicBezTo>
                <a:cubicBezTo>
                  <a:pt x="407988" y="1374775"/>
                  <a:pt x="395287" y="1539875"/>
                  <a:pt x="381000" y="1657350"/>
                </a:cubicBezTo>
                <a:cubicBezTo>
                  <a:pt x="366713" y="1774825"/>
                  <a:pt x="360362" y="1851025"/>
                  <a:pt x="323850" y="1962150"/>
                </a:cubicBezTo>
                <a:cubicBezTo>
                  <a:pt x="287338" y="2073275"/>
                  <a:pt x="215900" y="2217738"/>
                  <a:pt x="161925" y="2324100"/>
                </a:cubicBezTo>
                <a:cubicBezTo>
                  <a:pt x="107950" y="2430462"/>
                  <a:pt x="53975" y="2515393"/>
                  <a:pt x="0" y="2600325"/>
                </a:cubicBezTo>
              </a:path>
            </a:pathLst>
          </a:custGeom>
          <a:noFill/>
          <a:ln>
            <a:solidFill>
              <a:schemeClr val="tx1"/>
            </a:solidFill>
          </a:ln>
          <a:effectLst>
            <a:glow rad="571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CF33-44C6-42CF-AF20-6F05A3870A2B}"/>
              </a:ext>
            </a:extLst>
          </p:cNvPr>
          <p:cNvSpPr/>
          <p:nvPr/>
        </p:nvSpPr>
        <p:spPr>
          <a:xfrm>
            <a:off x="175876" y="502359"/>
            <a:ext cx="670117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remember the different logic gate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1470D-243A-4529-B754-642AA2F701A3}"/>
              </a:ext>
            </a:extLst>
          </p:cNvPr>
          <p:cNvSpPr txBox="1"/>
          <p:nvPr/>
        </p:nvSpPr>
        <p:spPr>
          <a:xfrm>
            <a:off x="-6285920" y="123205"/>
            <a:ext cx="8400469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1300" dirty="0">
                <a:solidFill>
                  <a:schemeClr val="accent4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23492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0.6763 0.00093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1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2E0D3-B5FA-4014-B12E-3EE1897FA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087" y="1860974"/>
            <a:ext cx="5592863" cy="3136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10EBD9-CA2A-4A8A-87FF-06D528AF6F06}"/>
              </a:ext>
            </a:extLst>
          </p:cNvPr>
          <p:cNvSpPr txBox="1"/>
          <p:nvPr/>
        </p:nvSpPr>
        <p:spPr>
          <a:xfrm>
            <a:off x="343624" y="640913"/>
            <a:ext cx="5765076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900" dirty="0">
                <a:solidFill>
                  <a:schemeClr val="accent4"/>
                </a:solidFill>
              </a:rPr>
              <a:t>OR</a:t>
            </a:r>
          </a:p>
          <a:p>
            <a:pPr algn="ctr"/>
            <a:r>
              <a:rPr lang="en-GB" sz="19900" dirty="0">
                <a:solidFill>
                  <a:schemeClr val="accent4"/>
                </a:solidFill>
              </a:rPr>
              <a:t>XOR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DDF398B5-67D6-456F-90ED-0ED3401AD4F3}"/>
              </a:ext>
            </a:extLst>
          </p:cNvPr>
          <p:cNvSpPr/>
          <p:nvPr/>
        </p:nvSpPr>
        <p:spPr>
          <a:xfrm>
            <a:off x="6118225" y="2133600"/>
            <a:ext cx="1270000" cy="2863426"/>
          </a:xfrm>
          <a:prstGeom prst="arc">
            <a:avLst>
              <a:gd name="adj1" fmla="val 16690878"/>
              <a:gd name="adj2" fmla="val 4854122"/>
            </a:avLst>
          </a:prstGeom>
          <a:ln>
            <a:solidFill>
              <a:schemeClr val="tx1"/>
            </a:solidFill>
          </a:ln>
          <a:effectLst>
            <a:glow rad="571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28AB82-2266-4116-BB49-E6207965E96C}"/>
              </a:ext>
            </a:extLst>
          </p:cNvPr>
          <p:cNvCxnSpPr/>
          <p:nvPr/>
        </p:nvCxnSpPr>
        <p:spPr>
          <a:xfrm>
            <a:off x="1803400" y="1155700"/>
            <a:ext cx="1422762" cy="227330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CBA4952-04C2-4031-9B2C-1E6DFAB2E232}"/>
              </a:ext>
            </a:extLst>
          </p:cNvPr>
          <p:cNvSpPr/>
          <p:nvPr/>
        </p:nvSpPr>
        <p:spPr>
          <a:xfrm>
            <a:off x="175876" y="502359"/>
            <a:ext cx="670117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remember the different logic gate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1AF135-AA33-4069-9809-CD75D0B5D0D0}"/>
              </a:ext>
            </a:extLst>
          </p:cNvPr>
          <p:cNvGrpSpPr/>
          <p:nvPr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D95710-27C5-8E13-4142-D0E97A774D09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10 Boolean logic | Introduction to logic gates and logic circuits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C07E89-9EC1-82EA-DF50-E52041B6D0EF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165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69C184-28A6-4F21-B16B-C3CDE8CEA6A8}"/>
              </a:ext>
            </a:extLst>
          </p:cNvPr>
          <p:cNvSpPr txBox="1"/>
          <p:nvPr/>
        </p:nvSpPr>
        <p:spPr>
          <a:xfrm>
            <a:off x="-9638720" y="123205"/>
            <a:ext cx="9857795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1300" dirty="0">
                <a:solidFill>
                  <a:schemeClr val="accent4"/>
                </a:solidFill>
              </a:rPr>
              <a:t>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6D90B-4613-4F16-9DB1-8EE23BEEA9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49" y="1594409"/>
            <a:ext cx="4610101" cy="3291916"/>
          </a:xfrm>
          <a:prstGeom prst="rect">
            <a:avLst/>
          </a:prstGeom>
        </p:spPr>
      </p:pic>
      <p:sp>
        <p:nvSpPr>
          <p:cNvPr id="2" name="Flowchart: Delay 1">
            <a:extLst>
              <a:ext uri="{FF2B5EF4-FFF2-40B4-BE49-F238E27FC236}">
                <a16:creationId xmlns:a16="http://schemas.microsoft.com/office/drawing/2014/main" id="{98B98D67-E9E3-4221-9752-748152CB79EB}"/>
              </a:ext>
            </a:extLst>
          </p:cNvPr>
          <p:cNvSpPr/>
          <p:nvPr/>
        </p:nvSpPr>
        <p:spPr>
          <a:xfrm>
            <a:off x="7391399" y="1944967"/>
            <a:ext cx="2314575" cy="2941358"/>
          </a:xfrm>
          <a:prstGeom prst="flowChartDelay">
            <a:avLst/>
          </a:prstGeom>
          <a:noFill/>
          <a:ln>
            <a:solidFill>
              <a:schemeClr val="tx1"/>
            </a:solidFill>
          </a:ln>
          <a:effectLst>
            <a:glow rad="571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787FE9-5B9A-4924-9623-1863E57DC3FD}"/>
              </a:ext>
            </a:extLst>
          </p:cNvPr>
          <p:cNvSpPr/>
          <p:nvPr/>
        </p:nvSpPr>
        <p:spPr>
          <a:xfrm>
            <a:off x="0" y="419099"/>
            <a:ext cx="12192000" cy="5532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8D56B7-2A82-46E5-A825-1D30C303097F}"/>
              </a:ext>
            </a:extLst>
          </p:cNvPr>
          <p:cNvSpPr/>
          <p:nvPr/>
        </p:nvSpPr>
        <p:spPr>
          <a:xfrm>
            <a:off x="175876" y="502359"/>
            <a:ext cx="670117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remember the different logic gate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59A3D6-A27F-B772-5A58-89542F994ADD}"/>
              </a:ext>
            </a:extLst>
          </p:cNvPr>
          <p:cNvGrpSpPr/>
          <p:nvPr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599018-12EA-6214-2DFA-5292C0502A7D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10 Boolean logic | Introduction to logic gates and logic circuits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503062-6A0A-1DD3-8F18-DF2712027253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7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0.81446 -0.00046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54D8E-E5B0-48C2-B31A-6510204B8402}"/>
              </a:ext>
            </a:extLst>
          </p:cNvPr>
          <p:cNvSpPr txBox="1"/>
          <p:nvPr/>
        </p:nvSpPr>
        <p:spPr>
          <a:xfrm rot="5400000">
            <a:off x="-1390930" y="8573208"/>
            <a:ext cx="9834779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1300" dirty="0">
                <a:solidFill>
                  <a:schemeClr val="accent4"/>
                </a:solidFill>
              </a:rPr>
              <a:t>NOT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F303C-52B4-4086-ACA0-7E0ABF0A75B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63" y="1751313"/>
            <a:ext cx="5332838" cy="300659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9DEFDA-0CC8-44F6-80FC-A205808FED7F}"/>
              </a:ext>
            </a:extLst>
          </p:cNvPr>
          <p:cNvCxnSpPr/>
          <p:nvPr/>
        </p:nvCxnSpPr>
        <p:spPr>
          <a:xfrm>
            <a:off x="3620663" y="3400719"/>
            <a:ext cx="1337836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  <a:effectLst>
            <a:glow rad="571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2D3863-3FA4-47F8-9838-F669D1F9F31C}"/>
              </a:ext>
            </a:extLst>
          </p:cNvPr>
          <p:cNvCxnSpPr>
            <a:cxnSpLocks/>
          </p:cNvCxnSpPr>
          <p:nvPr/>
        </p:nvCxnSpPr>
        <p:spPr>
          <a:xfrm>
            <a:off x="4949072" y="2062883"/>
            <a:ext cx="0" cy="269502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  <a:effectLst>
            <a:glow rad="571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2E28B1-F77C-43A1-A226-64FC3D4843C7}"/>
              </a:ext>
            </a:extLst>
          </p:cNvPr>
          <p:cNvGrpSpPr/>
          <p:nvPr/>
        </p:nvGrpSpPr>
        <p:grpSpPr>
          <a:xfrm>
            <a:off x="0" y="419099"/>
            <a:ext cx="12192000" cy="553260"/>
            <a:chOff x="0" y="419099"/>
            <a:chExt cx="12192000" cy="5532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85655A1-F5AB-44BD-95E7-7C74E19BA8C9}"/>
                </a:ext>
              </a:extLst>
            </p:cNvPr>
            <p:cNvSpPr/>
            <p:nvPr/>
          </p:nvSpPr>
          <p:spPr>
            <a:xfrm>
              <a:off x="0" y="419099"/>
              <a:ext cx="12192000" cy="5532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A49DED-4FA1-41BA-A2EB-6D3379D34463}"/>
                </a:ext>
              </a:extLst>
            </p:cNvPr>
            <p:cNvSpPr/>
            <p:nvPr/>
          </p:nvSpPr>
          <p:spPr>
            <a:xfrm>
              <a:off x="175876" y="502359"/>
              <a:ext cx="6701173" cy="470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solidFill>
                    <a:schemeClr val="accent2">
                      <a:lumMod val="7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remember the different logic gate symbols</a:t>
              </a:r>
              <a:endParaRPr lang="en-GB" sz="12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1CED6B-09A0-45EC-C1DD-684F4AE220C7}"/>
              </a:ext>
            </a:extLst>
          </p:cNvPr>
          <p:cNvGrpSpPr/>
          <p:nvPr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C9B89A-9447-D727-274B-120EE11C4374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10 Boolean logic | Introduction to logic gates and logic circuits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4B0988-ACEE-C5F3-E580-7817754D4690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94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0.00144 -1.6868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8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1960</Words>
  <Application>Microsoft Office PowerPoint</Application>
  <PresentationFormat>Widescreen</PresentationFormat>
  <Paragraphs>646</Paragraphs>
  <Slides>30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193</cp:revision>
  <dcterms:created xsi:type="dcterms:W3CDTF">2019-10-14T15:21:06Z</dcterms:created>
  <dcterms:modified xsi:type="dcterms:W3CDTF">2022-09-15T09:48:47Z</dcterms:modified>
</cp:coreProperties>
</file>