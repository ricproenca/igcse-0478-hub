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257" r:id="rId2"/>
    <p:sldId id="407" r:id="rId3"/>
    <p:sldId id="408" r:id="rId4"/>
    <p:sldId id="409" r:id="rId5"/>
    <p:sldId id="410" r:id="rId6"/>
    <p:sldId id="411" r:id="rId7"/>
    <p:sldId id="412" r:id="rId8"/>
    <p:sldId id="413" r:id="rId9"/>
    <p:sldId id="414" r:id="rId10"/>
    <p:sldId id="415" r:id="rId11"/>
    <p:sldId id="416" r:id="rId12"/>
    <p:sldId id="417" r:id="rId13"/>
    <p:sldId id="418" r:id="rId14"/>
    <p:sldId id="419" r:id="rId15"/>
    <p:sldId id="420" r:id="rId16"/>
    <p:sldId id="421" r:id="rId17"/>
    <p:sldId id="422" r:id="rId18"/>
    <p:sldId id="423" r:id="rId19"/>
    <p:sldId id="424" r:id="rId20"/>
    <p:sldId id="425" r:id="rId21"/>
    <p:sldId id="426" r:id="rId22"/>
    <p:sldId id="427" r:id="rId23"/>
    <p:sldId id="428" r:id="rId24"/>
    <p:sldId id="429" r:id="rId25"/>
    <p:sldId id="430" r:id="rId26"/>
    <p:sldId id="431" r:id="rId27"/>
    <p:sldId id="432" r:id="rId28"/>
    <p:sldId id="433" r:id="rId29"/>
    <p:sldId id="434" r:id="rId30"/>
    <p:sldId id="435" r:id="rId31"/>
    <p:sldId id="436" r:id="rId32"/>
    <p:sldId id="437" r:id="rId33"/>
    <p:sldId id="455" r:id="rId34"/>
    <p:sldId id="456" r:id="rId35"/>
    <p:sldId id="457" r:id="rId36"/>
    <p:sldId id="458" r:id="rId37"/>
    <p:sldId id="459" r:id="rId38"/>
    <p:sldId id="438" r:id="rId39"/>
    <p:sldId id="439" r:id="rId40"/>
    <p:sldId id="440" r:id="rId41"/>
    <p:sldId id="441" r:id="rId42"/>
    <p:sldId id="442" r:id="rId43"/>
    <p:sldId id="443" r:id="rId44"/>
    <p:sldId id="444" r:id="rId45"/>
    <p:sldId id="445" r:id="rId46"/>
    <p:sldId id="446" r:id="rId47"/>
    <p:sldId id="447" r:id="rId48"/>
    <p:sldId id="448" r:id="rId49"/>
    <p:sldId id="449" r:id="rId50"/>
    <p:sldId id="450" r:id="rId51"/>
    <p:sldId id="330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521"/>
    <a:srgbClr val="FFFFFF"/>
    <a:srgbClr val="0087B1"/>
    <a:srgbClr val="000956"/>
    <a:srgbClr val="99E265"/>
    <a:srgbClr val="008C8C"/>
    <a:srgbClr val="00B2B2"/>
    <a:srgbClr val="26C9FF"/>
    <a:srgbClr val="7CD0DA"/>
    <a:srgbClr val="197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590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109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15/09/2022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800" b="1" dirty="0">
                  <a:solidFill>
                    <a:schemeClr val="bg1"/>
                  </a:solidFill>
                </a:rPr>
                <a:t>10 Boolean logic | Logic circuits, truth tables and logic expressions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9100868" y="0"/>
              <a:ext cx="309113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46800"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image" Target="../media/image12.png"/><Relationship Id="rId7" Type="http://schemas.openxmlformats.org/officeDocument/2006/relationships/image" Target="../media/image4.w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2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image" Target="../media/image12.png"/><Relationship Id="rId7" Type="http://schemas.openxmlformats.org/officeDocument/2006/relationships/image" Target="../media/image4.w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2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image" Target="../media/image12.png"/><Relationship Id="rId7" Type="http://schemas.openxmlformats.org/officeDocument/2006/relationships/image" Target="../media/image4.w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2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image" Target="../media/image12.png"/><Relationship Id="rId7" Type="http://schemas.openxmlformats.org/officeDocument/2006/relationships/image" Target="../media/image4.w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2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image" Target="../media/image12.png"/><Relationship Id="rId7" Type="http://schemas.openxmlformats.org/officeDocument/2006/relationships/image" Target="../media/image4.w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2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image" Target="../media/image12.png"/><Relationship Id="rId7" Type="http://schemas.openxmlformats.org/officeDocument/2006/relationships/image" Target="../media/image4.w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2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w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w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w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wmf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10 Boolean logic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Creating logic circuits, completing truth tables and writing logical expressions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D206BA0-A731-6A03-4943-7D7BF85BD882}"/>
              </a:ext>
            </a:extLst>
          </p:cNvPr>
          <p:cNvSpPr/>
          <p:nvPr/>
        </p:nvSpPr>
        <p:spPr>
          <a:xfrm>
            <a:off x="1431604" y="2487492"/>
            <a:ext cx="1493164" cy="111252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22" name="Table 14">
            <a:extLst>
              <a:ext uri="{FF2B5EF4-FFF2-40B4-BE49-F238E27FC236}">
                <a16:creationId xmlns:a16="http://schemas.microsoft.com/office/drawing/2014/main" id="{A09A1B32-3D28-4B13-9B12-6133B55A95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9577647"/>
              </p:ext>
            </p:extLst>
          </p:nvPr>
        </p:nvGraphicFramePr>
        <p:xfrm>
          <a:off x="1431604" y="2487492"/>
          <a:ext cx="1493164" cy="1112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13449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979715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NOT 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</a:tbl>
          </a:graphicData>
        </a:graphic>
      </p:graphicFrame>
      <p:pic>
        <p:nvPicPr>
          <p:cNvPr id="32" name="Picture 31">
            <a:extLst>
              <a:ext uri="{FF2B5EF4-FFF2-40B4-BE49-F238E27FC236}">
                <a16:creationId xmlns:a16="http://schemas.microsoft.com/office/drawing/2014/main" id="{7E9D9963-B582-4E62-9E60-733667ABDC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055" y="996034"/>
            <a:ext cx="2282499" cy="1286845"/>
          </a:xfrm>
          <a:prstGeom prst="rec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1339AA1D-77B6-48A1-BCB1-F8D98B11C9D7}"/>
              </a:ext>
            </a:extLst>
          </p:cNvPr>
          <p:cNvSpPr txBox="1"/>
          <p:nvPr/>
        </p:nvSpPr>
        <p:spPr>
          <a:xfrm>
            <a:off x="1806541" y="1493401"/>
            <a:ext cx="6471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NOT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BF5B10-C497-4B56-873C-01ABA62631AB}"/>
              </a:ext>
            </a:extLst>
          </p:cNvPr>
          <p:cNvSpPr txBox="1"/>
          <p:nvPr/>
        </p:nvSpPr>
        <p:spPr>
          <a:xfrm>
            <a:off x="1041081" y="1356343"/>
            <a:ext cx="340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A</a:t>
            </a:r>
            <a:endParaRPr lang="en-GB" sz="1100" b="1" dirty="0">
              <a:solidFill>
                <a:srgbClr val="C00000"/>
              </a:solidFill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6AA6C2C-17B4-4D1D-813C-73374A576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2416" y="982679"/>
            <a:ext cx="2282499" cy="1279851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2AC6E007-890A-4E52-A3E8-9E0BA7652248}"/>
              </a:ext>
            </a:extLst>
          </p:cNvPr>
          <p:cNvSpPr txBox="1"/>
          <p:nvPr/>
        </p:nvSpPr>
        <p:spPr>
          <a:xfrm>
            <a:off x="5833263" y="1473052"/>
            <a:ext cx="6703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AND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1E4EB0-598E-4139-B621-83CEB6236DAF}"/>
              </a:ext>
            </a:extLst>
          </p:cNvPr>
          <p:cNvSpPr txBox="1"/>
          <p:nvPr/>
        </p:nvSpPr>
        <p:spPr>
          <a:xfrm>
            <a:off x="4966888" y="1051548"/>
            <a:ext cx="340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A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1E39B12-4E19-4FFD-A441-C70F63A973F6}"/>
              </a:ext>
            </a:extLst>
          </p:cNvPr>
          <p:cNvSpPr txBox="1"/>
          <p:nvPr/>
        </p:nvSpPr>
        <p:spPr>
          <a:xfrm>
            <a:off x="4966888" y="1619108"/>
            <a:ext cx="328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B</a:t>
            </a:r>
            <a:endParaRPr lang="en-GB" sz="1100" b="1" dirty="0">
              <a:solidFill>
                <a:srgbClr val="C00000"/>
              </a:solidFill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AE66EABD-1F01-4089-85B4-E58881097A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291" y="984209"/>
            <a:ext cx="2282499" cy="1279851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710B2355-9F25-4A4C-B895-E1A2FA3EDC5A}"/>
              </a:ext>
            </a:extLst>
          </p:cNvPr>
          <p:cNvSpPr txBox="1"/>
          <p:nvPr/>
        </p:nvSpPr>
        <p:spPr>
          <a:xfrm>
            <a:off x="10112567" y="1451658"/>
            <a:ext cx="5020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OR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EE5473-03EE-4B1D-AE21-F6AC2BC7B452}"/>
              </a:ext>
            </a:extLst>
          </p:cNvPr>
          <p:cNvSpPr txBox="1"/>
          <p:nvPr/>
        </p:nvSpPr>
        <p:spPr>
          <a:xfrm>
            <a:off x="9171862" y="1071007"/>
            <a:ext cx="340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A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706D2D3-E2C3-40CE-802C-5DA91D1A5471}"/>
              </a:ext>
            </a:extLst>
          </p:cNvPr>
          <p:cNvSpPr txBox="1"/>
          <p:nvPr/>
        </p:nvSpPr>
        <p:spPr>
          <a:xfrm>
            <a:off x="9171862" y="1640535"/>
            <a:ext cx="328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B</a:t>
            </a:r>
            <a:endParaRPr lang="en-GB" sz="1100" b="1" dirty="0">
              <a:solidFill>
                <a:srgbClr val="C00000"/>
              </a:solidFill>
            </a:endParaRPr>
          </a:p>
        </p:txBody>
      </p:sp>
      <p:graphicFrame>
        <p:nvGraphicFramePr>
          <p:cNvPr id="36" name="Table 14">
            <a:extLst>
              <a:ext uri="{FF2B5EF4-FFF2-40B4-BE49-F238E27FC236}">
                <a16:creationId xmlns:a16="http://schemas.microsoft.com/office/drawing/2014/main" id="{EB845A61-7C15-4007-B15B-171AF9259A93}"/>
              </a:ext>
            </a:extLst>
          </p:cNvPr>
          <p:cNvGraphicFramePr>
            <a:graphicFrameLocks noGrp="1"/>
          </p:cNvGraphicFramePr>
          <p:nvPr/>
        </p:nvGraphicFramePr>
        <p:xfrm>
          <a:off x="4803370" y="2317862"/>
          <a:ext cx="2585260" cy="1524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1512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661512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262236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 AND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</a:tbl>
          </a:graphicData>
        </a:graphic>
      </p:graphicFrame>
      <p:graphicFrame>
        <p:nvGraphicFramePr>
          <p:cNvPr id="37" name="Table 14">
            <a:extLst>
              <a:ext uri="{FF2B5EF4-FFF2-40B4-BE49-F238E27FC236}">
                <a16:creationId xmlns:a16="http://schemas.microsoft.com/office/drawing/2014/main" id="{DF57D146-BAC3-4B4B-86B3-2D3705427AA0}"/>
              </a:ext>
            </a:extLst>
          </p:cNvPr>
          <p:cNvGraphicFramePr>
            <a:graphicFrameLocks noGrp="1"/>
          </p:cNvGraphicFramePr>
          <p:nvPr/>
        </p:nvGraphicFramePr>
        <p:xfrm>
          <a:off x="8939071" y="2330625"/>
          <a:ext cx="2585260" cy="1524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1512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661512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262236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 OR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/>
                        <a:t>1</a:t>
                      </a:r>
                      <a:endParaRPr lang="en-GB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</a:tbl>
          </a:graphicData>
        </a:graphic>
      </p:graphicFrame>
      <p:pic>
        <p:nvPicPr>
          <p:cNvPr id="39" name="Picture 38">
            <a:extLst>
              <a:ext uri="{FF2B5EF4-FFF2-40B4-BE49-F238E27FC236}">
                <a16:creationId xmlns:a16="http://schemas.microsoft.com/office/drawing/2014/main" id="{BC5E0FB5-9948-499A-B95D-B3875B4FC6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725" y="3900289"/>
            <a:ext cx="2265247" cy="1270178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68C30DD1-4978-4685-947C-ABDF2A20FEEE}"/>
              </a:ext>
            </a:extLst>
          </p:cNvPr>
          <p:cNvSpPr txBox="1"/>
          <p:nvPr/>
        </p:nvSpPr>
        <p:spPr>
          <a:xfrm>
            <a:off x="1105594" y="3933993"/>
            <a:ext cx="340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A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47005BD-88C9-48CF-8AA6-EFF13801847C}"/>
              </a:ext>
            </a:extLst>
          </p:cNvPr>
          <p:cNvSpPr txBox="1"/>
          <p:nvPr/>
        </p:nvSpPr>
        <p:spPr>
          <a:xfrm>
            <a:off x="1105594" y="4499217"/>
            <a:ext cx="328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B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D2E8BF9-D2D8-4152-A8AE-664DBFC18A30}"/>
              </a:ext>
            </a:extLst>
          </p:cNvPr>
          <p:cNvSpPr txBox="1"/>
          <p:nvPr/>
        </p:nvSpPr>
        <p:spPr>
          <a:xfrm>
            <a:off x="2001714" y="4386956"/>
            <a:ext cx="6343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XOR</a:t>
            </a:r>
            <a:endParaRPr lang="en-GB" sz="1100" b="1" dirty="0">
              <a:solidFill>
                <a:srgbClr val="C00000"/>
              </a:solidFill>
            </a:endParaRPr>
          </a:p>
        </p:txBody>
      </p:sp>
      <p:graphicFrame>
        <p:nvGraphicFramePr>
          <p:cNvPr id="43" name="Table 14">
            <a:extLst>
              <a:ext uri="{FF2B5EF4-FFF2-40B4-BE49-F238E27FC236}">
                <a16:creationId xmlns:a16="http://schemas.microsoft.com/office/drawing/2014/main" id="{041A965B-E23C-464A-B958-17EEC5A2BBD3}"/>
              </a:ext>
            </a:extLst>
          </p:cNvPr>
          <p:cNvGraphicFramePr>
            <a:graphicFrameLocks noGrp="1"/>
          </p:cNvGraphicFramePr>
          <p:nvPr/>
        </p:nvGraphicFramePr>
        <p:xfrm>
          <a:off x="807294" y="5277439"/>
          <a:ext cx="2585260" cy="1524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1512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661512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262236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 XOR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F280436A-B63C-0475-E7D3-E6729C18D6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430" y="3881613"/>
            <a:ext cx="2282499" cy="128128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48D54A0-E00F-B4AA-F4AC-6236853F23CE}"/>
              </a:ext>
            </a:extLst>
          </p:cNvPr>
          <p:cNvSpPr txBox="1"/>
          <p:nvPr/>
        </p:nvSpPr>
        <p:spPr>
          <a:xfrm>
            <a:off x="5743917" y="4394936"/>
            <a:ext cx="838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NAND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04B67F-B60A-E43F-00CC-379EA7E57DDD}"/>
              </a:ext>
            </a:extLst>
          </p:cNvPr>
          <p:cNvSpPr txBox="1"/>
          <p:nvPr/>
        </p:nvSpPr>
        <p:spPr>
          <a:xfrm>
            <a:off x="4967188" y="3973432"/>
            <a:ext cx="340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A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C69B74-EA21-9A4E-6B6B-F8F390B7E5B5}"/>
              </a:ext>
            </a:extLst>
          </p:cNvPr>
          <p:cNvSpPr txBox="1"/>
          <p:nvPr/>
        </p:nvSpPr>
        <p:spPr>
          <a:xfrm>
            <a:off x="4967188" y="4540992"/>
            <a:ext cx="328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B</a:t>
            </a:r>
            <a:endParaRPr lang="en-GB" sz="1100" b="1" dirty="0">
              <a:solidFill>
                <a:srgbClr val="C00000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640D421-394A-E66E-6CD1-06456726C17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291" y="3878279"/>
            <a:ext cx="2282499" cy="128128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0D3D206-0668-EBFC-E0FC-C6A031EC12C1}"/>
              </a:ext>
            </a:extLst>
          </p:cNvPr>
          <p:cNvSpPr txBox="1"/>
          <p:nvPr/>
        </p:nvSpPr>
        <p:spPr>
          <a:xfrm>
            <a:off x="10088086" y="4374697"/>
            <a:ext cx="6703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NOR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3C0C67-1D3B-030C-A541-2592D8329CF2}"/>
              </a:ext>
            </a:extLst>
          </p:cNvPr>
          <p:cNvSpPr txBox="1"/>
          <p:nvPr/>
        </p:nvSpPr>
        <p:spPr>
          <a:xfrm>
            <a:off x="9144165" y="3966089"/>
            <a:ext cx="340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A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B9186E-741A-DA70-6015-43DB19FBA85F}"/>
              </a:ext>
            </a:extLst>
          </p:cNvPr>
          <p:cNvSpPr txBox="1"/>
          <p:nvPr/>
        </p:nvSpPr>
        <p:spPr>
          <a:xfrm>
            <a:off x="9144165" y="4535617"/>
            <a:ext cx="328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B</a:t>
            </a:r>
            <a:endParaRPr lang="en-GB" sz="1100" b="1" dirty="0">
              <a:solidFill>
                <a:srgbClr val="C00000"/>
              </a:solidFill>
            </a:endParaRPr>
          </a:p>
        </p:txBody>
      </p:sp>
      <p:graphicFrame>
        <p:nvGraphicFramePr>
          <p:cNvPr id="45" name="Table 14">
            <a:extLst>
              <a:ext uri="{FF2B5EF4-FFF2-40B4-BE49-F238E27FC236}">
                <a16:creationId xmlns:a16="http://schemas.microsoft.com/office/drawing/2014/main" id="{FB5A6C33-145A-63CA-DBD1-E62B6A486849}"/>
              </a:ext>
            </a:extLst>
          </p:cNvPr>
          <p:cNvGraphicFramePr>
            <a:graphicFrameLocks noGrp="1"/>
          </p:cNvGraphicFramePr>
          <p:nvPr/>
        </p:nvGraphicFramePr>
        <p:xfrm>
          <a:off x="4807441" y="5258260"/>
          <a:ext cx="2585260" cy="1524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1512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661512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262236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 AND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</a:tbl>
          </a:graphicData>
        </a:graphic>
      </p:graphicFrame>
      <p:graphicFrame>
        <p:nvGraphicFramePr>
          <p:cNvPr id="46" name="Table 14">
            <a:extLst>
              <a:ext uri="{FF2B5EF4-FFF2-40B4-BE49-F238E27FC236}">
                <a16:creationId xmlns:a16="http://schemas.microsoft.com/office/drawing/2014/main" id="{4A4C71F9-1929-7A48-9F2F-B0852CBF93D4}"/>
              </a:ext>
            </a:extLst>
          </p:cNvPr>
          <p:cNvGraphicFramePr>
            <a:graphicFrameLocks noGrp="1"/>
          </p:cNvGraphicFramePr>
          <p:nvPr/>
        </p:nvGraphicFramePr>
        <p:xfrm>
          <a:off x="8943142" y="5271023"/>
          <a:ext cx="2585260" cy="1524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1512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661512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262236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 OR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</a:tbl>
          </a:graphicData>
        </a:graphic>
      </p:graphicFrame>
      <p:sp>
        <p:nvSpPr>
          <p:cNvPr id="47" name="Rectangle 46">
            <a:extLst>
              <a:ext uri="{FF2B5EF4-FFF2-40B4-BE49-F238E27FC236}">
                <a16:creationId xmlns:a16="http://schemas.microsoft.com/office/drawing/2014/main" id="{709A92FB-BF1E-06CD-8C26-46F379C3FC77}"/>
              </a:ext>
            </a:extLst>
          </p:cNvPr>
          <p:cNvSpPr/>
          <p:nvPr/>
        </p:nvSpPr>
        <p:spPr>
          <a:xfrm>
            <a:off x="256716" y="523174"/>
            <a:ext cx="854273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Recap of basic Boolean operators and their associated logic gates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4163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E8CCC5-74DF-6F88-29FA-7802B5C25333}"/>
              </a:ext>
            </a:extLst>
          </p:cNvPr>
          <p:cNvSpPr/>
          <p:nvPr/>
        </p:nvSpPr>
        <p:spPr>
          <a:xfrm>
            <a:off x="4803369" y="2326734"/>
            <a:ext cx="2585259" cy="1515128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22" name="Table 14">
            <a:extLst>
              <a:ext uri="{FF2B5EF4-FFF2-40B4-BE49-F238E27FC236}">
                <a16:creationId xmlns:a16="http://schemas.microsoft.com/office/drawing/2014/main" id="{A09A1B32-3D28-4B13-9B12-6133B55A95DA}"/>
              </a:ext>
            </a:extLst>
          </p:cNvPr>
          <p:cNvGraphicFramePr>
            <a:graphicFrameLocks noGrp="1"/>
          </p:cNvGraphicFramePr>
          <p:nvPr/>
        </p:nvGraphicFramePr>
        <p:xfrm>
          <a:off x="1431604" y="2487492"/>
          <a:ext cx="1493164" cy="1112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13449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979715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NOT 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</a:tbl>
          </a:graphicData>
        </a:graphic>
      </p:graphicFrame>
      <p:pic>
        <p:nvPicPr>
          <p:cNvPr id="32" name="Picture 31">
            <a:extLst>
              <a:ext uri="{FF2B5EF4-FFF2-40B4-BE49-F238E27FC236}">
                <a16:creationId xmlns:a16="http://schemas.microsoft.com/office/drawing/2014/main" id="{7E9D9963-B582-4E62-9E60-733667ABDC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055" y="996034"/>
            <a:ext cx="2282499" cy="128684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1339AA1D-77B6-48A1-BCB1-F8D98B11C9D7}"/>
              </a:ext>
            </a:extLst>
          </p:cNvPr>
          <p:cNvSpPr txBox="1"/>
          <p:nvPr/>
        </p:nvSpPr>
        <p:spPr>
          <a:xfrm>
            <a:off x="1806541" y="1493401"/>
            <a:ext cx="6471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NOT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BF5B10-C497-4B56-873C-01ABA62631AB}"/>
              </a:ext>
            </a:extLst>
          </p:cNvPr>
          <p:cNvSpPr txBox="1"/>
          <p:nvPr/>
        </p:nvSpPr>
        <p:spPr>
          <a:xfrm>
            <a:off x="1041081" y="1356343"/>
            <a:ext cx="340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A</a:t>
            </a:r>
            <a:endParaRPr lang="en-GB" sz="1100" b="1" dirty="0">
              <a:solidFill>
                <a:srgbClr val="C00000"/>
              </a:solidFill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6AA6C2C-17B4-4D1D-813C-73374A576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2416" y="982679"/>
            <a:ext cx="2282499" cy="1279851"/>
          </a:xfrm>
          <a:prstGeom prst="rec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2AC6E007-890A-4E52-A3E8-9E0BA7652248}"/>
              </a:ext>
            </a:extLst>
          </p:cNvPr>
          <p:cNvSpPr txBox="1"/>
          <p:nvPr/>
        </p:nvSpPr>
        <p:spPr>
          <a:xfrm>
            <a:off x="5833263" y="1473052"/>
            <a:ext cx="6703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AND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1E4EB0-598E-4139-B621-83CEB6236DAF}"/>
              </a:ext>
            </a:extLst>
          </p:cNvPr>
          <p:cNvSpPr txBox="1"/>
          <p:nvPr/>
        </p:nvSpPr>
        <p:spPr>
          <a:xfrm>
            <a:off x="4966888" y="1051548"/>
            <a:ext cx="340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A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1E39B12-4E19-4FFD-A441-C70F63A973F6}"/>
              </a:ext>
            </a:extLst>
          </p:cNvPr>
          <p:cNvSpPr txBox="1"/>
          <p:nvPr/>
        </p:nvSpPr>
        <p:spPr>
          <a:xfrm>
            <a:off x="4966888" y="1619108"/>
            <a:ext cx="328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B</a:t>
            </a:r>
            <a:endParaRPr lang="en-GB" sz="1100" b="1" dirty="0">
              <a:solidFill>
                <a:srgbClr val="C00000"/>
              </a:solidFill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AE66EABD-1F01-4089-85B4-E58881097A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291" y="984209"/>
            <a:ext cx="2282499" cy="1279851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710B2355-9F25-4A4C-B895-E1A2FA3EDC5A}"/>
              </a:ext>
            </a:extLst>
          </p:cNvPr>
          <p:cNvSpPr txBox="1"/>
          <p:nvPr/>
        </p:nvSpPr>
        <p:spPr>
          <a:xfrm>
            <a:off x="10112567" y="1451658"/>
            <a:ext cx="5020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OR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EE5473-03EE-4B1D-AE21-F6AC2BC7B452}"/>
              </a:ext>
            </a:extLst>
          </p:cNvPr>
          <p:cNvSpPr txBox="1"/>
          <p:nvPr/>
        </p:nvSpPr>
        <p:spPr>
          <a:xfrm>
            <a:off x="9171862" y="1071007"/>
            <a:ext cx="340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A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706D2D3-E2C3-40CE-802C-5DA91D1A5471}"/>
              </a:ext>
            </a:extLst>
          </p:cNvPr>
          <p:cNvSpPr txBox="1"/>
          <p:nvPr/>
        </p:nvSpPr>
        <p:spPr>
          <a:xfrm>
            <a:off x="9171862" y="1640535"/>
            <a:ext cx="328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B</a:t>
            </a:r>
            <a:endParaRPr lang="en-GB" sz="1100" b="1" dirty="0">
              <a:solidFill>
                <a:srgbClr val="C00000"/>
              </a:solidFill>
            </a:endParaRPr>
          </a:p>
        </p:txBody>
      </p:sp>
      <p:graphicFrame>
        <p:nvGraphicFramePr>
          <p:cNvPr id="36" name="Table 14">
            <a:extLst>
              <a:ext uri="{FF2B5EF4-FFF2-40B4-BE49-F238E27FC236}">
                <a16:creationId xmlns:a16="http://schemas.microsoft.com/office/drawing/2014/main" id="{EB845A61-7C15-4007-B15B-171AF9259A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9776374"/>
              </p:ext>
            </p:extLst>
          </p:nvPr>
        </p:nvGraphicFramePr>
        <p:xfrm>
          <a:off x="4803370" y="2326827"/>
          <a:ext cx="2585260" cy="1524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1512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661512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262236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 AND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</a:tbl>
          </a:graphicData>
        </a:graphic>
      </p:graphicFrame>
      <p:graphicFrame>
        <p:nvGraphicFramePr>
          <p:cNvPr id="37" name="Table 14">
            <a:extLst>
              <a:ext uri="{FF2B5EF4-FFF2-40B4-BE49-F238E27FC236}">
                <a16:creationId xmlns:a16="http://schemas.microsoft.com/office/drawing/2014/main" id="{DF57D146-BAC3-4B4B-86B3-2D3705427AA0}"/>
              </a:ext>
            </a:extLst>
          </p:cNvPr>
          <p:cNvGraphicFramePr>
            <a:graphicFrameLocks noGrp="1"/>
          </p:cNvGraphicFramePr>
          <p:nvPr/>
        </p:nvGraphicFramePr>
        <p:xfrm>
          <a:off x="8939071" y="2330625"/>
          <a:ext cx="2585260" cy="1524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1512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661512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262236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 OR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/>
                        <a:t>1</a:t>
                      </a:r>
                      <a:endParaRPr lang="en-GB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</a:tbl>
          </a:graphicData>
        </a:graphic>
      </p:graphicFrame>
      <p:pic>
        <p:nvPicPr>
          <p:cNvPr id="39" name="Picture 38">
            <a:extLst>
              <a:ext uri="{FF2B5EF4-FFF2-40B4-BE49-F238E27FC236}">
                <a16:creationId xmlns:a16="http://schemas.microsoft.com/office/drawing/2014/main" id="{BC5E0FB5-9948-499A-B95D-B3875B4FC6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725" y="3900289"/>
            <a:ext cx="2265247" cy="1270178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68C30DD1-4978-4685-947C-ABDF2A20FEEE}"/>
              </a:ext>
            </a:extLst>
          </p:cNvPr>
          <p:cNvSpPr txBox="1"/>
          <p:nvPr/>
        </p:nvSpPr>
        <p:spPr>
          <a:xfrm>
            <a:off x="1105594" y="3933993"/>
            <a:ext cx="340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A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47005BD-88C9-48CF-8AA6-EFF13801847C}"/>
              </a:ext>
            </a:extLst>
          </p:cNvPr>
          <p:cNvSpPr txBox="1"/>
          <p:nvPr/>
        </p:nvSpPr>
        <p:spPr>
          <a:xfrm>
            <a:off x="1105594" y="4499217"/>
            <a:ext cx="328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B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D2E8BF9-D2D8-4152-A8AE-664DBFC18A30}"/>
              </a:ext>
            </a:extLst>
          </p:cNvPr>
          <p:cNvSpPr txBox="1"/>
          <p:nvPr/>
        </p:nvSpPr>
        <p:spPr>
          <a:xfrm>
            <a:off x="2001714" y="4386956"/>
            <a:ext cx="6343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XOR</a:t>
            </a:r>
            <a:endParaRPr lang="en-GB" sz="1100" b="1" dirty="0">
              <a:solidFill>
                <a:srgbClr val="C00000"/>
              </a:solidFill>
            </a:endParaRPr>
          </a:p>
        </p:txBody>
      </p:sp>
      <p:graphicFrame>
        <p:nvGraphicFramePr>
          <p:cNvPr id="43" name="Table 14">
            <a:extLst>
              <a:ext uri="{FF2B5EF4-FFF2-40B4-BE49-F238E27FC236}">
                <a16:creationId xmlns:a16="http://schemas.microsoft.com/office/drawing/2014/main" id="{041A965B-E23C-464A-B958-17EEC5A2BBD3}"/>
              </a:ext>
            </a:extLst>
          </p:cNvPr>
          <p:cNvGraphicFramePr>
            <a:graphicFrameLocks noGrp="1"/>
          </p:cNvGraphicFramePr>
          <p:nvPr/>
        </p:nvGraphicFramePr>
        <p:xfrm>
          <a:off x="807294" y="5277439"/>
          <a:ext cx="2585260" cy="1524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1512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661512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262236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 XOR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F280436A-B63C-0475-E7D3-E6729C18D6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430" y="3881613"/>
            <a:ext cx="2282499" cy="128128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48D54A0-E00F-B4AA-F4AC-6236853F23CE}"/>
              </a:ext>
            </a:extLst>
          </p:cNvPr>
          <p:cNvSpPr txBox="1"/>
          <p:nvPr/>
        </p:nvSpPr>
        <p:spPr>
          <a:xfrm>
            <a:off x="5743917" y="4394936"/>
            <a:ext cx="838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NAND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04B67F-B60A-E43F-00CC-379EA7E57DDD}"/>
              </a:ext>
            </a:extLst>
          </p:cNvPr>
          <p:cNvSpPr txBox="1"/>
          <p:nvPr/>
        </p:nvSpPr>
        <p:spPr>
          <a:xfrm>
            <a:off x="4967188" y="3973432"/>
            <a:ext cx="340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A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C69B74-EA21-9A4E-6B6B-F8F390B7E5B5}"/>
              </a:ext>
            </a:extLst>
          </p:cNvPr>
          <p:cNvSpPr txBox="1"/>
          <p:nvPr/>
        </p:nvSpPr>
        <p:spPr>
          <a:xfrm>
            <a:off x="4967188" y="4540992"/>
            <a:ext cx="328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B</a:t>
            </a:r>
            <a:endParaRPr lang="en-GB" sz="1100" b="1" dirty="0">
              <a:solidFill>
                <a:srgbClr val="C00000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640D421-394A-E66E-6CD1-06456726C17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291" y="3878279"/>
            <a:ext cx="2282499" cy="128128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0D3D206-0668-EBFC-E0FC-C6A031EC12C1}"/>
              </a:ext>
            </a:extLst>
          </p:cNvPr>
          <p:cNvSpPr txBox="1"/>
          <p:nvPr/>
        </p:nvSpPr>
        <p:spPr>
          <a:xfrm>
            <a:off x="10088086" y="4374697"/>
            <a:ext cx="6703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NOR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3C0C67-1D3B-030C-A541-2592D8329CF2}"/>
              </a:ext>
            </a:extLst>
          </p:cNvPr>
          <p:cNvSpPr txBox="1"/>
          <p:nvPr/>
        </p:nvSpPr>
        <p:spPr>
          <a:xfrm>
            <a:off x="9144165" y="3966089"/>
            <a:ext cx="340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A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B9186E-741A-DA70-6015-43DB19FBA85F}"/>
              </a:ext>
            </a:extLst>
          </p:cNvPr>
          <p:cNvSpPr txBox="1"/>
          <p:nvPr/>
        </p:nvSpPr>
        <p:spPr>
          <a:xfrm>
            <a:off x="9144165" y="4535617"/>
            <a:ext cx="328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B</a:t>
            </a:r>
            <a:endParaRPr lang="en-GB" sz="1100" b="1" dirty="0">
              <a:solidFill>
                <a:srgbClr val="C00000"/>
              </a:solidFill>
            </a:endParaRPr>
          </a:p>
        </p:txBody>
      </p:sp>
      <p:graphicFrame>
        <p:nvGraphicFramePr>
          <p:cNvPr id="45" name="Table 14">
            <a:extLst>
              <a:ext uri="{FF2B5EF4-FFF2-40B4-BE49-F238E27FC236}">
                <a16:creationId xmlns:a16="http://schemas.microsoft.com/office/drawing/2014/main" id="{FB5A6C33-145A-63CA-DBD1-E62B6A486849}"/>
              </a:ext>
            </a:extLst>
          </p:cNvPr>
          <p:cNvGraphicFramePr>
            <a:graphicFrameLocks noGrp="1"/>
          </p:cNvGraphicFramePr>
          <p:nvPr/>
        </p:nvGraphicFramePr>
        <p:xfrm>
          <a:off x="4807441" y="5258260"/>
          <a:ext cx="2585260" cy="1524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1512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661512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262236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 AND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</a:tbl>
          </a:graphicData>
        </a:graphic>
      </p:graphicFrame>
      <p:graphicFrame>
        <p:nvGraphicFramePr>
          <p:cNvPr id="46" name="Table 14">
            <a:extLst>
              <a:ext uri="{FF2B5EF4-FFF2-40B4-BE49-F238E27FC236}">
                <a16:creationId xmlns:a16="http://schemas.microsoft.com/office/drawing/2014/main" id="{4A4C71F9-1929-7A48-9F2F-B0852CBF93D4}"/>
              </a:ext>
            </a:extLst>
          </p:cNvPr>
          <p:cNvGraphicFramePr>
            <a:graphicFrameLocks noGrp="1"/>
          </p:cNvGraphicFramePr>
          <p:nvPr/>
        </p:nvGraphicFramePr>
        <p:xfrm>
          <a:off x="8943142" y="5271023"/>
          <a:ext cx="2585260" cy="1524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1512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661512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262236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 OR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</a:tbl>
          </a:graphicData>
        </a:graphic>
      </p:graphicFrame>
      <p:sp>
        <p:nvSpPr>
          <p:cNvPr id="47" name="Rectangle 46">
            <a:extLst>
              <a:ext uri="{FF2B5EF4-FFF2-40B4-BE49-F238E27FC236}">
                <a16:creationId xmlns:a16="http://schemas.microsoft.com/office/drawing/2014/main" id="{709A92FB-BF1E-06CD-8C26-46F379C3FC77}"/>
              </a:ext>
            </a:extLst>
          </p:cNvPr>
          <p:cNvSpPr/>
          <p:nvPr/>
        </p:nvSpPr>
        <p:spPr>
          <a:xfrm>
            <a:off x="256716" y="523174"/>
            <a:ext cx="854273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Recap of basic Boolean operators and their associated logic gates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8122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E592E8-F77C-A472-1A8F-283D54724CFB}"/>
              </a:ext>
            </a:extLst>
          </p:cNvPr>
          <p:cNvSpPr/>
          <p:nvPr/>
        </p:nvSpPr>
        <p:spPr>
          <a:xfrm>
            <a:off x="8936096" y="2326734"/>
            <a:ext cx="2585259" cy="1515128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22" name="Table 14">
            <a:extLst>
              <a:ext uri="{FF2B5EF4-FFF2-40B4-BE49-F238E27FC236}">
                <a16:creationId xmlns:a16="http://schemas.microsoft.com/office/drawing/2014/main" id="{A09A1B32-3D28-4B13-9B12-6133B55A95DA}"/>
              </a:ext>
            </a:extLst>
          </p:cNvPr>
          <p:cNvGraphicFramePr>
            <a:graphicFrameLocks noGrp="1"/>
          </p:cNvGraphicFramePr>
          <p:nvPr/>
        </p:nvGraphicFramePr>
        <p:xfrm>
          <a:off x="1431604" y="2487492"/>
          <a:ext cx="1493164" cy="1112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13449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979715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NOT 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</a:tbl>
          </a:graphicData>
        </a:graphic>
      </p:graphicFrame>
      <p:pic>
        <p:nvPicPr>
          <p:cNvPr id="32" name="Picture 31">
            <a:extLst>
              <a:ext uri="{FF2B5EF4-FFF2-40B4-BE49-F238E27FC236}">
                <a16:creationId xmlns:a16="http://schemas.microsoft.com/office/drawing/2014/main" id="{7E9D9963-B582-4E62-9E60-733667ABDC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055" y="996034"/>
            <a:ext cx="2282499" cy="128684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1339AA1D-77B6-48A1-BCB1-F8D98B11C9D7}"/>
              </a:ext>
            </a:extLst>
          </p:cNvPr>
          <p:cNvSpPr txBox="1"/>
          <p:nvPr/>
        </p:nvSpPr>
        <p:spPr>
          <a:xfrm>
            <a:off x="1806541" y="1493401"/>
            <a:ext cx="6471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NOT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BF5B10-C497-4B56-873C-01ABA62631AB}"/>
              </a:ext>
            </a:extLst>
          </p:cNvPr>
          <p:cNvSpPr txBox="1"/>
          <p:nvPr/>
        </p:nvSpPr>
        <p:spPr>
          <a:xfrm>
            <a:off x="1041081" y="1356343"/>
            <a:ext cx="340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A</a:t>
            </a:r>
            <a:endParaRPr lang="en-GB" sz="1100" b="1" dirty="0">
              <a:solidFill>
                <a:srgbClr val="C00000"/>
              </a:solidFill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6AA6C2C-17B4-4D1D-813C-73374A576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2416" y="982679"/>
            <a:ext cx="2282499" cy="1279851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2AC6E007-890A-4E52-A3E8-9E0BA7652248}"/>
              </a:ext>
            </a:extLst>
          </p:cNvPr>
          <p:cNvSpPr txBox="1"/>
          <p:nvPr/>
        </p:nvSpPr>
        <p:spPr>
          <a:xfrm>
            <a:off x="5833263" y="1473052"/>
            <a:ext cx="6703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AND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1E4EB0-598E-4139-B621-83CEB6236DAF}"/>
              </a:ext>
            </a:extLst>
          </p:cNvPr>
          <p:cNvSpPr txBox="1"/>
          <p:nvPr/>
        </p:nvSpPr>
        <p:spPr>
          <a:xfrm>
            <a:off x="4966888" y="1051548"/>
            <a:ext cx="340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A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1E39B12-4E19-4FFD-A441-C70F63A973F6}"/>
              </a:ext>
            </a:extLst>
          </p:cNvPr>
          <p:cNvSpPr txBox="1"/>
          <p:nvPr/>
        </p:nvSpPr>
        <p:spPr>
          <a:xfrm>
            <a:off x="4966888" y="1619108"/>
            <a:ext cx="328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B</a:t>
            </a:r>
            <a:endParaRPr lang="en-GB" sz="1100" b="1" dirty="0">
              <a:solidFill>
                <a:srgbClr val="C00000"/>
              </a:solidFill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AE66EABD-1F01-4089-85B4-E58881097A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291" y="984209"/>
            <a:ext cx="2282499" cy="1279851"/>
          </a:xfrm>
          <a:prstGeom prst="rec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710B2355-9F25-4A4C-B895-E1A2FA3EDC5A}"/>
              </a:ext>
            </a:extLst>
          </p:cNvPr>
          <p:cNvSpPr txBox="1"/>
          <p:nvPr/>
        </p:nvSpPr>
        <p:spPr>
          <a:xfrm>
            <a:off x="10112567" y="1451658"/>
            <a:ext cx="5020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OR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EE5473-03EE-4B1D-AE21-F6AC2BC7B452}"/>
              </a:ext>
            </a:extLst>
          </p:cNvPr>
          <p:cNvSpPr txBox="1"/>
          <p:nvPr/>
        </p:nvSpPr>
        <p:spPr>
          <a:xfrm>
            <a:off x="9171862" y="1071007"/>
            <a:ext cx="340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A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706D2D3-E2C3-40CE-802C-5DA91D1A5471}"/>
              </a:ext>
            </a:extLst>
          </p:cNvPr>
          <p:cNvSpPr txBox="1"/>
          <p:nvPr/>
        </p:nvSpPr>
        <p:spPr>
          <a:xfrm>
            <a:off x="9171862" y="1640535"/>
            <a:ext cx="328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B</a:t>
            </a:r>
            <a:endParaRPr lang="en-GB" sz="1100" b="1" dirty="0">
              <a:solidFill>
                <a:srgbClr val="C00000"/>
              </a:solidFill>
            </a:endParaRPr>
          </a:p>
        </p:txBody>
      </p:sp>
      <p:graphicFrame>
        <p:nvGraphicFramePr>
          <p:cNvPr id="36" name="Table 14">
            <a:extLst>
              <a:ext uri="{FF2B5EF4-FFF2-40B4-BE49-F238E27FC236}">
                <a16:creationId xmlns:a16="http://schemas.microsoft.com/office/drawing/2014/main" id="{EB845A61-7C15-4007-B15B-171AF9259A93}"/>
              </a:ext>
            </a:extLst>
          </p:cNvPr>
          <p:cNvGraphicFramePr>
            <a:graphicFrameLocks noGrp="1"/>
          </p:cNvGraphicFramePr>
          <p:nvPr/>
        </p:nvGraphicFramePr>
        <p:xfrm>
          <a:off x="4803370" y="2317862"/>
          <a:ext cx="2585260" cy="1524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1512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661512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262236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 AND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</a:tbl>
          </a:graphicData>
        </a:graphic>
      </p:graphicFrame>
      <p:graphicFrame>
        <p:nvGraphicFramePr>
          <p:cNvPr id="37" name="Table 14">
            <a:extLst>
              <a:ext uri="{FF2B5EF4-FFF2-40B4-BE49-F238E27FC236}">
                <a16:creationId xmlns:a16="http://schemas.microsoft.com/office/drawing/2014/main" id="{DF57D146-BAC3-4B4B-86B3-2D3705427AA0}"/>
              </a:ext>
            </a:extLst>
          </p:cNvPr>
          <p:cNvGraphicFramePr>
            <a:graphicFrameLocks noGrp="1"/>
          </p:cNvGraphicFramePr>
          <p:nvPr/>
        </p:nvGraphicFramePr>
        <p:xfrm>
          <a:off x="8939071" y="2330625"/>
          <a:ext cx="2585260" cy="1524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1512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661512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262236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 OR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/>
                        <a:t>1</a:t>
                      </a:r>
                      <a:endParaRPr lang="en-GB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</a:tbl>
          </a:graphicData>
        </a:graphic>
      </p:graphicFrame>
      <p:pic>
        <p:nvPicPr>
          <p:cNvPr id="39" name="Picture 38">
            <a:extLst>
              <a:ext uri="{FF2B5EF4-FFF2-40B4-BE49-F238E27FC236}">
                <a16:creationId xmlns:a16="http://schemas.microsoft.com/office/drawing/2014/main" id="{BC5E0FB5-9948-499A-B95D-B3875B4FC6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725" y="3900289"/>
            <a:ext cx="2265247" cy="1270178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68C30DD1-4978-4685-947C-ABDF2A20FEEE}"/>
              </a:ext>
            </a:extLst>
          </p:cNvPr>
          <p:cNvSpPr txBox="1"/>
          <p:nvPr/>
        </p:nvSpPr>
        <p:spPr>
          <a:xfrm>
            <a:off x="1105594" y="3933993"/>
            <a:ext cx="340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A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47005BD-88C9-48CF-8AA6-EFF13801847C}"/>
              </a:ext>
            </a:extLst>
          </p:cNvPr>
          <p:cNvSpPr txBox="1"/>
          <p:nvPr/>
        </p:nvSpPr>
        <p:spPr>
          <a:xfrm>
            <a:off x="1105594" y="4499217"/>
            <a:ext cx="328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B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D2E8BF9-D2D8-4152-A8AE-664DBFC18A30}"/>
              </a:ext>
            </a:extLst>
          </p:cNvPr>
          <p:cNvSpPr txBox="1"/>
          <p:nvPr/>
        </p:nvSpPr>
        <p:spPr>
          <a:xfrm>
            <a:off x="2001714" y="4386956"/>
            <a:ext cx="6343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XOR</a:t>
            </a:r>
            <a:endParaRPr lang="en-GB" sz="1100" b="1" dirty="0">
              <a:solidFill>
                <a:srgbClr val="C00000"/>
              </a:solidFill>
            </a:endParaRPr>
          </a:p>
        </p:txBody>
      </p:sp>
      <p:graphicFrame>
        <p:nvGraphicFramePr>
          <p:cNvPr id="43" name="Table 14">
            <a:extLst>
              <a:ext uri="{FF2B5EF4-FFF2-40B4-BE49-F238E27FC236}">
                <a16:creationId xmlns:a16="http://schemas.microsoft.com/office/drawing/2014/main" id="{041A965B-E23C-464A-B958-17EEC5A2BBD3}"/>
              </a:ext>
            </a:extLst>
          </p:cNvPr>
          <p:cNvGraphicFramePr>
            <a:graphicFrameLocks noGrp="1"/>
          </p:cNvGraphicFramePr>
          <p:nvPr/>
        </p:nvGraphicFramePr>
        <p:xfrm>
          <a:off x="807294" y="5277439"/>
          <a:ext cx="2585260" cy="1524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1512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661512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262236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 XOR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F280436A-B63C-0475-E7D3-E6729C18D6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430" y="3881613"/>
            <a:ext cx="2282499" cy="128128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48D54A0-E00F-B4AA-F4AC-6236853F23CE}"/>
              </a:ext>
            </a:extLst>
          </p:cNvPr>
          <p:cNvSpPr txBox="1"/>
          <p:nvPr/>
        </p:nvSpPr>
        <p:spPr>
          <a:xfrm>
            <a:off x="5743917" y="4394936"/>
            <a:ext cx="838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NAND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04B67F-B60A-E43F-00CC-379EA7E57DDD}"/>
              </a:ext>
            </a:extLst>
          </p:cNvPr>
          <p:cNvSpPr txBox="1"/>
          <p:nvPr/>
        </p:nvSpPr>
        <p:spPr>
          <a:xfrm>
            <a:off x="4967188" y="3973432"/>
            <a:ext cx="340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A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C69B74-EA21-9A4E-6B6B-F8F390B7E5B5}"/>
              </a:ext>
            </a:extLst>
          </p:cNvPr>
          <p:cNvSpPr txBox="1"/>
          <p:nvPr/>
        </p:nvSpPr>
        <p:spPr>
          <a:xfrm>
            <a:off x="4967188" y="4540992"/>
            <a:ext cx="328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B</a:t>
            </a:r>
            <a:endParaRPr lang="en-GB" sz="1100" b="1" dirty="0">
              <a:solidFill>
                <a:srgbClr val="C00000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640D421-394A-E66E-6CD1-06456726C17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291" y="3878279"/>
            <a:ext cx="2282499" cy="128128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0D3D206-0668-EBFC-E0FC-C6A031EC12C1}"/>
              </a:ext>
            </a:extLst>
          </p:cNvPr>
          <p:cNvSpPr txBox="1"/>
          <p:nvPr/>
        </p:nvSpPr>
        <p:spPr>
          <a:xfrm>
            <a:off x="10088086" y="4374697"/>
            <a:ext cx="6703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NOR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3C0C67-1D3B-030C-A541-2592D8329CF2}"/>
              </a:ext>
            </a:extLst>
          </p:cNvPr>
          <p:cNvSpPr txBox="1"/>
          <p:nvPr/>
        </p:nvSpPr>
        <p:spPr>
          <a:xfrm>
            <a:off x="9144165" y="3966089"/>
            <a:ext cx="340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A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B9186E-741A-DA70-6015-43DB19FBA85F}"/>
              </a:ext>
            </a:extLst>
          </p:cNvPr>
          <p:cNvSpPr txBox="1"/>
          <p:nvPr/>
        </p:nvSpPr>
        <p:spPr>
          <a:xfrm>
            <a:off x="9144165" y="4535617"/>
            <a:ext cx="328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B</a:t>
            </a:r>
            <a:endParaRPr lang="en-GB" sz="1100" b="1" dirty="0">
              <a:solidFill>
                <a:srgbClr val="C00000"/>
              </a:solidFill>
            </a:endParaRPr>
          </a:p>
        </p:txBody>
      </p:sp>
      <p:graphicFrame>
        <p:nvGraphicFramePr>
          <p:cNvPr id="45" name="Table 14">
            <a:extLst>
              <a:ext uri="{FF2B5EF4-FFF2-40B4-BE49-F238E27FC236}">
                <a16:creationId xmlns:a16="http://schemas.microsoft.com/office/drawing/2014/main" id="{FB5A6C33-145A-63CA-DBD1-E62B6A486849}"/>
              </a:ext>
            </a:extLst>
          </p:cNvPr>
          <p:cNvGraphicFramePr>
            <a:graphicFrameLocks noGrp="1"/>
          </p:cNvGraphicFramePr>
          <p:nvPr/>
        </p:nvGraphicFramePr>
        <p:xfrm>
          <a:off x="4807441" y="5258260"/>
          <a:ext cx="2585260" cy="1524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1512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661512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262236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 AND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</a:tbl>
          </a:graphicData>
        </a:graphic>
      </p:graphicFrame>
      <p:graphicFrame>
        <p:nvGraphicFramePr>
          <p:cNvPr id="46" name="Table 14">
            <a:extLst>
              <a:ext uri="{FF2B5EF4-FFF2-40B4-BE49-F238E27FC236}">
                <a16:creationId xmlns:a16="http://schemas.microsoft.com/office/drawing/2014/main" id="{4A4C71F9-1929-7A48-9F2F-B0852CBF93D4}"/>
              </a:ext>
            </a:extLst>
          </p:cNvPr>
          <p:cNvGraphicFramePr>
            <a:graphicFrameLocks noGrp="1"/>
          </p:cNvGraphicFramePr>
          <p:nvPr/>
        </p:nvGraphicFramePr>
        <p:xfrm>
          <a:off x="8943142" y="5271023"/>
          <a:ext cx="2585260" cy="1524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1512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661512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262236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 OR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</a:tbl>
          </a:graphicData>
        </a:graphic>
      </p:graphicFrame>
      <p:sp>
        <p:nvSpPr>
          <p:cNvPr id="47" name="Rectangle 46">
            <a:extLst>
              <a:ext uri="{FF2B5EF4-FFF2-40B4-BE49-F238E27FC236}">
                <a16:creationId xmlns:a16="http://schemas.microsoft.com/office/drawing/2014/main" id="{709A92FB-BF1E-06CD-8C26-46F379C3FC77}"/>
              </a:ext>
            </a:extLst>
          </p:cNvPr>
          <p:cNvSpPr/>
          <p:nvPr/>
        </p:nvSpPr>
        <p:spPr>
          <a:xfrm>
            <a:off x="256716" y="523174"/>
            <a:ext cx="854273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Recap of basic Boolean operators and their associated logic gates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0197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A57446-1B95-E220-92D9-80A70CAE0076}"/>
              </a:ext>
            </a:extLst>
          </p:cNvPr>
          <p:cNvSpPr/>
          <p:nvPr/>
        </p:nvSpPr>
        <p:spPr>
          <a:xfrm>
            <a:off x="807294" y="5276190"/>
            <a:ext cx="2585259" cy="1515128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22" name="Table 14">
            <a:extLst>
              <a:ext uri="{FF2B5EF4-FFF2-40B4-BE49-F238E27FC236}">
                <a16:creationId xmlns:a16="http://schemas.microsoft.com/office/drawing/2014/main" id="{A09A1B32-3D28-4B13-9B12-6133B55A95DA}"/>
              </a:ext>
            </a:extLst>
          </p:cNvPr>
          <p:cNvGraphicFramePr>
            <a:graphicFrameLocks noGrp="1"/>
          </p:cNvGraphicFramePr>
          <p:nvPr/>
        </p:nvGraphicFramePr>
        <p:xfrm>
          <a:off x="1431604" y="2487492"/>
          <a:ext cx="1493164" cy="1112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13449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979715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NOT 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</a:tbl>
          </a:graphicData>
        </a:graphic>
      </p:graphicFrame>
      <p:pic>
        <p:nvPicPr>
          <p:cNvPr id="32" name="Picture 31">
            <a:extLst>
              <a:ext uri="{FF2B5EF4-FFF2-40B4-BE49-F238E27FC236}">
                <a16:creationId xmlns:a16="http://schemas.microsoft.com/office/drawing/2014/main" id="{7E9D9963-B582-4E62-9E60-733667ABDC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055" y="996034"/>
            <a:ext cx="2282499" cy="128684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1339AA1D-77B6-48A1-BCB1-F8D98B11C9D7}"/>
              </a:ext>
            </a:extLst>
          </p:cNvPr>
          <p:cNvSpPr txBox="1"/>
          <p:nvPr/>
        </p:nvSpPr>
        <p:spPr>
          <a:xfrm>
            <a:off x="1806541" y="1493401"/>
            <a:ext cx="6471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NOT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BF5B10-C497-4B56-873C-01ABA62631AB}"/>
              </a:ext>
            </a:extLst>
          </p:cNvPr>
          <p:cNvSpPr txBox="1"/>
          <p:nvPr/>
        </p:nvSpPr>
        <p:spPr>
          <a:xfrm>
            <a:off x="1041081" y="1356343"/>
            <a:ext cx="340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A</a:t>
            </a:r>
            <a:endParaRPr lang="en-GB" sz="1100" b="1" dirty="0">
              <a:solidFill>
                <a:srgbClr val="C00000"/>
              </a:solidFill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6AA6C2C-17B4-4D1D-813C-73374A576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2416" y="982679"/>
            <a:ext cx="2282499" cy="1279851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2AC6E007-890A-4E52-A3E8-9E0BA7652248}"/>
              </a:ext>
            </a:extLst>
          </p:cNvPr>
          <p:cNvSpPr txBox="1"/>
          <p:nvPr/>
        </p:nvSpPr>
        <p:spPr>
          <a:xfrm>
            <a:off x="5833263" y="1473052"/>
            <a:ext cx="6703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AND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1E4EB0-598E-4139-B621-83CEB6236DAF}"/>
              </a:ext>
            </a:extLst>
          </p:cNvPr>
          <p:cNvSpPr txBox="1"/>
          <p:nvPr/>
        </p:nvSpPr>
        <p:spPr>
          <a:xfrm>
            <a:off x="4966888" y="1051548"/>
            <a:ext cx="340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A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1E39B12-4E19-4FFD-A441-C70F63A973F6}"/>
              </a:ext>
            </a:extLst>
          </p:cNvPr>
          <p:cNvSpPr txBox="1"/>
          <p:nvPr/>
        </p:nvSpPr>
        <p:spPr>
          <a:xfrm>
            <a:off x="4966888" y="1619108"/>
            <a:ext cx="328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B</a:t>
            </a:r>
            <a:endParaRPr lang="en-GB" sz="1100" b="1" dirty="0">
              <a:solidFill>
                <a:srgbClr val="C00000"/>
              </a:solidFill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AE66EABD-1F01-4089-85B4-E58881097A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291" y="984209"/>
            <a:ext cx="2282499" cy="1279851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710B2355-9F25-4A4C-B895-E1A2FA3EDC5A}"/>
              </a:ext>
            </a:extLst>
          </p:cNvPr>
          <p:cNvSpPr txBox="1"/>
          <p:nvPr/>
        </p:nvSpPr>
        <p:spPr>
          <a:xfrm>
            <a:off x="10112567" y="1451658"/>
            <a:ext cx="5020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OR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EE5473-03EE-4B1D-AE21-F6AC2BC7B452}"/>
              </a:ext>
            </a:extLst>
          </p:cNvPr>
          <p:cNvSpPr txBox="1"/>
          <p:nvPr/>
        </p:nvSpPr>
        <p:spPr>
          <a:xfrm>
            <a:off x="9171862" y="1071007"/>
            <a:ext cx="340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A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706D2D3-E2C3-40CE-802C-5DA91D1A5471}"/>
              </a:ext>
            </a:extLst>
          </p:cNvPr>
          <p:cNvSpPr txBox="1"/>
          <p:nvPr/>
        </p:nvSpPr>
        <p:spPr>
          <a:xfrm>
            <a:off x="9171862" y="1640535"/>
            <a:ext cx="328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B</a:t>
            </a:r>
            <a:endParaRPr lang="en-GB" sz="1100" b="1" dirty="0">
              <a:solidFill>
                <a:srgbClr val="C00000"/>
              </a:solidFill>
            </a:endParaRPr>
          </a:p>
        </p:txBody>
      </p:sp>
      <p:graphicFrame>
        <p:nvGraphicFramePr>
          <p:cNvPr id="36" name="Table 14">
            <a:extLst>
              <a:ext uri="{FF2B5EF4-FFF2-40B4-BE49-F238E27FC236}">
                <a16:creationId xmlns:a16="http://schemas.microsoft.com/office/drawing/2014/main" id="{EB845A61-7C15-4007-B15B-171AF9259A93}"/>
              </a:ext>
            </a:extLst>
          </p:cNvPr>
          <p:cNvGraphicFramePr>
            <a:graphicFrameLocks noGrp="1"/>
          </p:cNvGraphicFramePr>
          <p:nvPr/>
        </p:nvGraphicFramePr>
        <p:xfrm>
          <a:off x="4803370" y="2317862"/>
          <a:ext cx="2585260" cy="1524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1512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661512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262236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 AND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</a:tbl>
          </a:graphicData>
        </a:graphic>
      </p:graphicFrame>
      <p:graphicFrame>
        <p:nvGraphicFramePr>
          <p:cNvPr id="37" name="Table 14">
            <a:extLst>
              <a:ext uri="{FF2B5EF4-FFF2-40B4-BE49-F238E27FC236}">
                <a16:creationId xmlns:a16="http://schemas.microsoft.com/office/drawing/2014/main" id="{DF57D146-BAC3-4B4B-86B3-2D3705427AA0}"/>
              </a:ext>
            </a:extLst>
          </p:cNvPr>
          <p:cNvGraphicFramePr>
            <a:graphicFrameLocks noGrp="1"/>
          </p:cNvGraphicFramePr>
          <p:nvPr/>
        </p:nvGraphicFramePr>
        <p:xfrm>
          <a:off x="8939071" y="2330625"/>
          <a:ext cx="2585260" cy="1524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1512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661512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262236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 OR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/>
                        <a:t>1</a:t>
                      </a:r>
                      <a:endParaRPr lang="en-GB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</a:tbl>
          </a:graphicData>
        </a:graphic>
      </p:graphicFrame>
      <p:pic>
        <p:nvPicPr>
          <p:cNvPr id="39" name="Picture 38">
            <a:extLst>
              <a:ext uri="{FF2B5EF4-FFF2-40B4-BE49-F238E27FC236}">
                <a16:creationId xmlns:a16="http://schemas.microsoft.com/office/drawing/2014/main" id="{BC5E0FB5-9948-499A-B95D-B3875B4FC6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725" y="3900289"/>
            <a:ext cx="2265247" cy="1270178"/>
          </a:xfrm>
          <a:prstGeom prst="rec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68C30DD1-4978-4685-947C-ABDF2A20FEEE}"/>
              </a:ext>
            </a:extLst>
          </p:cNvPr>
          <p:cNvSpPr txBox="1"/>
          <p:nvPr/>
        </p:nvSpPr>
        <p:spPr>
          <a:xfrm>
            <a:off x="1105594" y="3933993"/>
            <a:ext cx="340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A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47005BD-88C9-48CF-8AA6-EFF13801847C}"/>
              </a:ext>
            </a:extLst>
          </p:cNvPr>
          <p:cNvSpPr txBox="1"/>
          <p:nvPr/>
        </p:nvSpPr>
        <p:spPr>
          <a:xfrm>
            <a:off x="1105594" y="4499217"/>
            <a:ext cx="328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B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D2E8BF9-D2D8-4152-A8AE-664DBFC18A30}"/>
              </a:ext>
            </a:extLst>
          </p:cNvPr>
          <p:cNvSpPr txBox="1"/>
          <p:nvPr/>
        </p:nvSpPr>
        <p:spPr>
          <a:xfrm>
            <a:off x="2001714" y="4386956"/>
            <a:ext cx="6343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XOR</a:t>
            </a:r>
            <a:endParaRPr lang="en-GB" sz="1100" b="1" dirty="0">
              <a:solidFill>
                <a:srgbClr val="C00000"/>
              </a:solidFill>
            </a:endParaRPr>
          </a:p>
        </p:txBody>
      </p:sp>
      <p:graphicFrame>
        <p:nvGraphicFramePr>
          <p:cNvPr id="43" name="Table 14">
            <a:extLst>
              <a:ext uri="{FF2B5EF4-FFF2-40B4-BE49-F238E27FC236}">
                <a16:creationId xmlns:a16="http://schemas.microsoft.com/office/drawing/2014/main" id="{041A965B-E23C-464A-B958-17EEC5A2BBD3}"/>
              </a:ext>
            </a:extLst>
          </p:cNvPr>
          <p:cNvGraphicFramePr>
            <a:graphicFrameLocks noGrp="1"/>
          </p:cNvGraphicFramePr>
          <p:nvPr/>
        </p:nvGraphicFramePr>
        <p:xfrm>
          <a:off x="807294" y="5277439"/>
          <a:ext cx="2585260" cy="1524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1512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661512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262236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 XOR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F280436A-B63C-0475-E7D3-E6729C18D6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430" y="3881613"/>
            <a:ext cx="2282499" cy="128128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48D54A0-E00F-B4AA-F4AC-6236853F23CE}"/>
              </a:ext>
            </a:extLst>
          </p:cNvPr>
          <p:cNvSpPr txBox="1"/>
          <p:nvPr/>
        </p:nvSpPr>
        <p:spPr>
          <a:xfrm>
            <a:off x="5743917" y="4394936"/>
            <a:ext cx="838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NAND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04B67F-B60A-E43F-00CC-379EA7E57DDD}"/>
              </a:ext>
            </a:extLst>
          </p:cNvPr>
          <p:cNvSpPr txBox="1"/>
          <p:nvPr/>
        </p:nvSpPr>
        <p:spPr>
          <a:xfrm>
            <a:off x="4967188" y="3973432"/>
            <a:ext cx="340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A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C69B74-EA21-9A4E-6B6B-F8F390B7E5B5}"/>
              </a:ext>
            </a:extLst>
          </p:cNvPr>
          <p:cNvSpPr txBox="1"/>
          <p:nvPr/>
        </p:nvSpPr>
        <p:spPr>
          <a:xfrm>
            <a:off x="4967188" y="4540992"/>
            <a:ext cx="328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B</a:t>
            </a:r>
            <a:endParaRPr lang="en-GB" sz="1100" b="1" dirty="0">
              <a:solidFill>
                <a:srgbClr val="C00000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640D421-394A-E66E-6CD1-06456726C17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291" y="3878279"/>
            <a:ext cx="2282499" cy="128128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0D3D206-0668-EBFC-E0FC-C6A031EC12C1}"/>
              </a:ext>
            </a:extLst>
          </p:cNvPr>
          <p:cNvSpPr txBox="1"/>
          <p:nvPr/>
        </p:nvSpPr>
        <p:spPr>
          <a:xfrm>
            <a:off x="10088086" y="4374697"/>
            <a:ext cx="6703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NOR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3C0C67-1D3B-030C-A541-2592D8329CF2}"/>
              </a:ext>
            </a:extLst>
          </p:cNvPr>
          <p:cNvSpPr txBox="1"/>
          <p:nvPr/>
        </p:nvSpPr>
        <p:spPr>
          <a:xfrm>
            <a:off x="9144165" y="3966089"/>
            <a:ext cx="340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A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B9186E-741A-DA70-6015-43DB19FBA85F}"/>
              </a:ext>
            </a:extLst>
          </p:cNvPr>
          <p:cNvSpPr txBox="1"/>
          <p:nvPr/>
        </p:nvSpPr>
        <p:spPr>
          <a:xfrm>
            <a:off x="9144165" y="4535617"/>
            <a:ext cx="328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B</a:t>
            </a:r>
            <a:endParaRPr lang="en-GB" sz="1100" b="1" dirty="0">
              <a:solidFill>
                <a:srgbClr val="C00000"/>
              </a:solidFill>
            </a:endParaRPr>
          </a:p>
        </p:txBody>
      </p:sp>
      <p:graphicFrame>
        <p:nvGraphicFramePr>
          <p:cNvPr id="45" name="Table 14">
            <a:extLst>
              <a:ext uri="{FF2B5EF4-FFF2-40B4-BE49-F238E27FC236}">
                <a16:creationId xmlns:a16="http://schemas.microsoft.com/office/drawing/2014/main" id="{FB5A6C33-145A-63CA-DBD1-E62B6A486849}"/>
              </a:ext>
            </a:extLst>
          </p:cNvPr>
          <p:cNvGraphicFramePr>
            <a:graphicFrameLocks noGrp="1"/>
          </p:cNvGraphicFramePr>
          <p:nvPr/>
        </p:nvGraphicFramePr>
        <p:xfrm>
          <a:off x="4807441" y="5258260"/>
          <a:ext cx="2585260" cy="1524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1512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661512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262236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 AND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</a:tbl>
          </a:graphicData>
        </a:graphic>
      </p:graphicFrame>
      <p:graphicFrame>
        <p:nvGraphicFramePr>
          <p:cNvPr id="46" name="Table 14">
            <a:extLst>
              <a:ext uri="{FF2B5EF4-FFF2-40B4-BE49-F238E27FC236}">
                <a16:creationId xmlns:a16="http://schemas.microsoft.com/office/drawing/2014/main" id="{4A4C71F9-1929-7A48-9F2F-B0852CBF93D4}"/>
              </a:ext>
            </a:extLst>
          </p:cNvPr>
          <p:cNvGraphicFramePr>
            <a:graphicFrameLocks noGrp="1"/>
          </p:cNvGraphicFramePr>
          <p:nvPr/>
        </p:nvGraphicFramePr>
        <p:xfrm>
          <a:off x="8943142" y="5271023"/>
          <a:ext cx="2585260" cy="1524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1512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661512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262236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 OR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</a:tbl>
          </a:graphicData>
        </a:graphic>
      </p:graphicFrame>
      <p:sp>
        <p:nvSpPr>
          <p:cNvPr id="47" name="Rectangle 46">
            <a:extLst>
              <a:ext uri="{FF2B5EF4-FFF2-40B4-BE49-F238E27FC236}">
                <a16:creationId xmlns:a16="http://schemas.microsoft.com/office/drawing/2014/main" id="{709A92FB-BF1E-06CD-8C26-46F379C3FC77}"/>
              </a:ext>
            </a:extLst>
          </p:cNvPr>
          <p:cNvSpPr/>
          <p:nvPr/>
        </p:nvSpPr>
        <p:spPr>
          <a:xfrm>
            <a:off x="256716" y="523174"/>
            <a:ext cx="854273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Recap of basic Boolean operators and their associated logic gates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9404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48AAA6-9427-F7F8-6019-057BE70A8791}"/>
              </a:ext>
            </a:extLst>
          </p:cNvPr>
          <p:cNvSpPr/>
          <p:nvPr/>
        </p:nvSpPr>
        <p:spPr>
          <a:xfrm>
            <a:off x="4803369" y="5267155"/>
            <a:ext cx="2585259" cy="1515128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22" name="Table 14">
            <a:extLst>
              <a:ext uri="{FF2B5EF4-FFF2-40B4-BE49-F238E27FC236}">
                <a16:creationId xmlns:a16="http://schemas.microsoft.com/office/drawing/2014/main" id="{A09A1B32-3D28-4B13-9B12-6133B55A95DA}"/>
              </a:ext>
            </a:extLst>
          </p:cNvPr>
          <p:cNvGraphicFramePr>
            <a:graphicFrameLocks noGrp="1"/>
          </p:cNvGraphicFramePr>
          <p:nvPr/>
        </p:nvGraphicFramePr>
        <p:xfrm>
          <a:off x="1431604" y="2487492"/>
          <a:ext cx="1493164" cy="1112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13449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979715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NOT 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</a:tbl>
          </a:graphicData>
        </a:graphic>
      </p:graphicFrame>
      <p:pic>
        <p:nvPicPr>
          <p:cNvPr id="32" name="Picture 31">
            <a:extLst>
              <a:ext uri="{FF2B5EF4-FFF2-40B4-BE49-F238E27FC236}">
                <a16:creationId xmlns:a16="http://schemas.microsoft.com/office/drawing/2014/main" id="{7E9D9963-B582-4E62-9E60-733667ABDC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055" y="996034"/>
            <a:ext cx="2282499" cy="128684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1339AA1D-77B6-48A1-BCB1-F8D98B11C9D7}"/>
              </a:ext>
            </a:extLst>
          </p:cNvPr>
          <p:cNvSpPr txBox="1"/>
          <p:nvPr/>
        </p:nvSpPr>
        <p:spPr>
          <a:xfrm>
            <a:off x="1806541" y="1493401"/>
            <a:ext cx="6471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NOT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BF5B10-C497-4B56-873C-01ABA62631AB}"/>
              </a:ext>
            </a:extLst>
          </p:cNvPr>
          <p:cNvSpPr txBox="1"/>
          <p:nvPr/>
        </p:nvSpPr>
        <p:spPr>
          <a:xfrm>
            <a:off x="1041081" y="1356343"/>
            <a:ext cx="340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A</a:t>
            </a:r>
            <a:endParaRPr lang="en-GB" sz="1100" b="1" dirty="0">
              <a:solidFill>
                <a:srgbClr val="C00000"/>
              </a:solidFill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6AA6C2C-17B4-4D1D-813C-73374A576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2416" y="982679"/>
            <a:ext cx="2282499" cy="1279851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2AC6E007-890A-4E52-A3E8-9E0BA7652248}"/>
              </a:ext>
            </a:extLst>
          </p:cNvPr>
          <p:cNvSpPr txBox="1"/>
          <p:nvPr/>
        </p:nvSpPr>
        <p:spPr>
          <a:xfrm>
            <a:off x="5833263" y="1473052"/>
            <a:ext cx="6703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AND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1E4EB0-598E-4139-B621-83CEB6236DAF}"/>
              </a:ext>
            </a:extLst>
          </p:cNvPr>
          <p:cNvSpPr txBox="1"/>
          <p:nvPr/>
        </p:nvSpPr>
        <p:spPr>
          <a:xfrm>
            <a:off x="4966888" y="1051548"/>
            <a:ext cx="340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A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1E39B12-4E19-4FFD-A441-C70F63A973F6}"/>
              </a:ext>
            </a:extLst>
          </p:cNvPr>
          <p:cNvSpPr txBox="1"/>
          <p:nvPr/>
        </p:nvSpPr>
        <p:spPr>
          <a:xfrm>
            <a:off x="4966888" y="1619108"/>
            <a:ext cx="328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B</a:t>
            </a:r>
            <a:endParaRPr lang="en-GB" sz="1100" b="1" dirty="0">
              <a:solidFill>
                <a:srgbClr val="C00000"/>
              </a:solidFill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AE66EABD-1F01-4089-85B4-E58881097A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291" y="984209"/>
            <a:ext cx="2282499" cy="1279851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710B2355-9F25-4A4C-B895-E1A2FA3EDC5A}"/>
              </a:ext>
            </a:extLst>
          </p:cNvPr>
          <p:cNvSpPr txBox="1"/>
          <p:nvPr/>
        </p:nvSpPr>
        <p:spPr>
          <a:xfrm>
            <a:off x="10112567" y="1451658"/>
            <a:ext cx="5020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OR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EE5473-03EE-4B1D-AE21-F6AC2BC7B452}"/>
              </a:ext>
            </a:extLst>
          </p:cNvPr>
          <p:cNvSpPr txBox="1"/>
          <p:nvPr/>
        </p:nvSpPr>
        <p:spPr>
          <a:xfrm>
            <a:off x="9171862" y="1071007"/>
            <a:ext cx="340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A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706D2D3-E2C3-40CE-802C-5DA91D1A5471}"/>
              </a:ext>
            </a:extLst>
          </p:cNvPr>
          <p:cNvSpPr txBox="1"/>
          <p:nvPr/>
        </p:nvSpPr>
        <p:spPr>
          <a:xfrm>
            <a:off x="9171862" y="1640535"/>
            <a:ext cx="328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B</a:t>
            </a:r>
            <a:endParaRPr lang="en-GB" sz="1100" b="1" dirty="0">
              <a:solidFill>
                <a:srgbClr val="C00000"/>
              </a:solidFill>
            </a:endParaRPr>
          </a:p>
        </p:txBody>
      </p:sp>
      <p:graphicFrame>
        <p:nvGraphicFramePr>
          <p:cNvPr id="36" name="Table 14">
            <a:extLst>
              <a:ext uri="{FF2B5EF4-FFF2-40B4-BE49-F238E27FC236}">
                <a16:creationId xmlns:a16="http://schemas.microsoft.com/office/drawing/2014/main" id="{EB845A61-7C15-4007-B15B-171AF9259A93}"/>
              </a:ext>
            </a:extLst>
          </p:cNvPr>
          <p:cNvGraphicFramePr>
            <a:graphicFrameLocks noGrp="1"/>
          </p:cNvGraphicFramePr>
          <p:nvPr/>
        </p:nvGraphicFramePr>
        <p:xfrm>
          <a:off x="4803370" y="2317862"/>
          <a:ext cx="2585260" cy="1524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1512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661512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262236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 AND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</a:tbl>
          </a:graphicData>
        </a:graphic>
      </p:graphicFrame>
      <p:graphicFrame>
        <p:nvGraphicFramePr>
          <p:cNvPr id="37" name="Table 14">
            <a:extLst>
              <a:ext uri="{FF2B5EF4-FFF2-40B4-BE49-F238E27FC236}">
                <a16:creationId xmlns:a16="http://schemas.microsoft.com/office/drawing/2014/main" id="{DF57D146-BAC3-4B4B-86B3-2D3705427AA0}"/>
              </a:ext>
            </a:extLst>
          </p:cNvPr>
          <p:cNvGraphicFramePr>
            <a:graphicFrameLocks noGrp="1"/>
          </p:cNvGraphicFramePr>
          <p:nvPr/>
        </p:nvGraphicFramePr>
        <p:xfrm>
          <a:off x="8939071" y="2330625"/>
          <a:ext cx="2585260" cy="1524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1512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661512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262236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 OR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/>
                        <a:t>1</a:t>
                      </a:r>
                      <a:endParaRPr lang="en-GB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</a:tbl>
          </a:graphicData>
        </a:graphic>
      </p:graphicFrame>
      <p:pic>
        <p:nvPicPr>
          <p:cNvPr id="39" name="Picture 38">
            <a:extLst>
              <a:ext uri="{FF2B5EF4-FFF2-40B4-BE49-F238E27FC236}">
                <a16:creationId xmlns:a16="http://schemas.microsoft.com/office/drawing/2014/main" id="{BC5E0FB5-9948-499A-B95D-B3875B4FC6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725" y="3900289"/>
            <a:ext cx="2265247" cy="1270178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68C30DD1-4978-4685-947C-ABDF2A20FEEE}"/>
              </a:ext>
            </a:extLst>
          </p:cNvPr>
          <p:cNvSpPr txBox="1"/>
          <p:nvPr/>
        </p:nvSpPr>
        <p:spPr>
          <a:xfrm>
            <a:off x="1105594" y="3933993"/>
            <a:ext cx="340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A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47005BD-88C9-48CF-8AA6-EFF13801847C}"/>
              </a:ext>
            </a:extLst>
          </p:cNvPr>
          <p:cNvSpPr txBox="1"/>
          <p:nvPr/>
        </p:nvSpPr>
        <p:spPr>
          <a:xfrm>
            <a:off x="1105594" y="4499217"/>
            <a:ext cx="328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B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D2E8BF9-D2D8-4152-A8AE-664DBFC18A30}"/>
              </a:ext>
            </a:extLst>
          </p:cNvPr>
          <p:cNvSpPr txBox="1"/>
          <p:nvPr/>
        </p:nvSpPr>
        <p:spPr>
          <a:xfrm>
            <a:off x="2001714" y="4386956"/>
            <a:ext cx="6343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XOR</a:t>
            </a:r>
            <a:endParaRPr lang="en-GB" sz="1100" b="1" dirty="0">
              <a:solidFill>
                <a:srgbClr val="C00000"/>
              </a:solidFill>
            </a:endParaRPr>
          </a:p>
        </p:txBody>
      </p:sp>
      <p:graphicFrame>
        <p:nvGraphicFramePr>
          <p:cNvPr id="43" name="Table 14">
            <a:extLst>
              <a:ext uri="{FF2B5EF4-FFF2-40B4-BE49-F238E27FC236}">
                <a16:creationId xmlns:a16="http://schemas.microsoft.com/office/drawing/2014/main" id="{041A965B-E23C-464A-B958-17EEC5A2BBD3}"/>
              </a:ext>
            </a:extLst>
          </p:cNvPr>
          <p:cNvGraphicFramePr>
            <a:graphicFrameLocks noGrp="1"/>
          </p:cNvGraphicFramePr>
          <p:nvPr/>
        </p:nvGraphicFramePr>
        <p:xfrm>
          <a:off x="807294" y="5277439"/>
          <a:ext cx="2585260" cy="1524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1512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661512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262236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 XOR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F280436A-B63C-0475-E7D3-E6729C18D6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430" y="3881613"/>
            <a:ext cx="2282499" cy="1281280"/>
          </a:xfrm>
          <a:prstGeom prst="rec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48D54A0-E00F-B4AA-F4AC-6236853F23CE}"/>
              </a:ext>
            </a:extLst>
          </p:cNvPr>
          <p:cNvSpPr txBox="1"/>
          <p:nvPr/>
        </p:nvSpPr>
        <p:spPr>
          <a:xfrm>
            <a:off x="5743917" y="4394936"/>
            <a:ext cx="838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NAND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04B67F-B60A-E43F-00CC-379EA7E57DDD}"/>
              </a:ext>
            </a:extLst>
          </p:cNvPr>
          <p:cNvSpPr txBox="1"/>
          <p:nvPr/>
        </p:nvSpPr>
        <p:spPr>
          <a:xfrm>
            <a:off x="4967188" y="3973432"/>
            <a:ext cx="340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A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C69B74-EA21-9A4E-6B6B-F8F390B7E5B5}"/>
              </a:ext>
            </a:extLst>
          </p:cNvPr>
          <p:cNvSpPr txBox="1"/>
          <p:nvPr/>
        </p:nvSpPr>
        <p:spPr>
          <a:xfrm>
            <a:off x="4967188" y="4540992"/>
            <a:ext cx="328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B</a:t>
            </a:r>
            <a:endParaRPr lang="en-GB" sz="1100" b="1" dirty="0">
              <a:solidFill>
                <a:srgbClr val="C00000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640D421-394A-E66E-6CD1-06456726C17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291" y="3878279"/>
            <a:ext cx="2282499" cy="128128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0D3D206-0668-EBFC-E0FC-C6A031EC12C1}"/>
              </a:ext>
            </a:extLst>
          </p:cNvPr>
          <p:cNvSpPr txBox="1"/>
          <p:nvPr/>
        </p:nvSpPr>
        <p:spPr>
          <a:xfrm>
            <a:off x="10088086" y="4374697"/>
            <a:ext cx="6703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NOR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3C0C67-1D3B-030C-A541-2592D8329CF2}"/>
              </a:ext>
            </a:extLst>
          </p:cNvPr>
          <p:cNvSpPr txBox="1"/>
          <p:nvPr/>
        </p:nvSpPr>
        <p:spPr>
          <a:xfrm>
            <a:off x="9144165" y="3966089"/>
            <a:ext cx="340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A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B9186E-741A-DA70-6015-43DB19FBA85F}"/>
              </a:ext>
            </a:extLst>
          </p:cNvPr>
          <p:cNvSpPr txBox="1"/>
          <p:nvPr/>
        </p:nvSpPr>
        <p:spPr>
          <a:xfrm>
            <a:off x="9144165" y="4535617"/>
            <a:ext cx="328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B</a:t>
            </a:r>
            <a:endParaRPr lang="en-GB" sz="1100" b="1" dirty="0">
              <a:solidFill>
                <a:srgbClr val="C00000"/>
              </a:solidFill>
            </a:endParaRPr>
          </a:p>
        </p:txBody>
      </p:sp>
      <p:graphicFrame>
        <p:nvGraphicFramePr>
          <p:cNvPr id="45" name="Table 14">
            <a:extLst>
              <a:ext uri="{FF2B5EF4-FFF2-40B4-BE49-F238E27FC236}">
                <a16:creationId xmlns:a16="http://schemas.microsoft.com/office/drawing/2014/main" id="{FB5A6C33-145A-63CA-DBD1-E62B6A486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7201217"/>
              </p:ext>
            </p:extLst>
          </p:nvPr>
        </p:nvGraphicFramePr>
        <p:xfrm>
          <a:off x="4807441" y="5267225"/>
          <a:ext cx="2585260" cy="1524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1512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661512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262236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 AND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</a:tbl>
          </a:graphicData>
        </a:graphic>
      </p:graphicFrame>
      <p:graphicFrame>
        <p:nvGraphicFramePr>
          <p:cNvPr id="46" name="Table 14">
            <a:extLst>
              <a:ext uri="{FF2B5EF4-FFF2-40B4-BE49-F238E27FC236}">
                <a16:creationId xmlns:a16="http://schemas.microsoft.com/office/drawing/2014/main" id="{4A4C71F9-1929-7A48-9F2F-B0852CBF93D4}"/>
              </a:ext>
            </a:extLst>
          </p:cNvPr>
          <p:cNvGraphicFramePr>
            <a:graphicFrameLocks noGrp="1"/>
          </p:cNvGraphicFramePr>
          <p:nvPr/>
        </p:nvGraphicFramePr>
        <p:xfrm>
          <a:off x="8943142" y="5271023"/>
          <a:ext cx="2585260" cy="1524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1512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661512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262236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 OR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</a:tbl>
          </a:graphicData>
        </a:graphic>
      </p:graphicFrame>
      <p:sp>
        <p:nvSpPr>
          <p:cNvPr id="47" name="Rectangle 46">
            <a:extLst>
              <a:ext uri="{FF2B5EF4-FFF2-40B4-BE49-F238E27FC236}">
                <a16:creationId xmlns:a16="http://schemas.microsoft.com/office/drawing/2014/main" id="{709A92FB-BF1E-06CD-8C26-46F379C3FC77}"/>
              </a:ext>
            </a:extLst>
          </p:cNvPr>
          <p:cNvSpPr/>
          <p:nvPr/>
        </p:nvSpPr>
        <p:spPr>
          <a:xfrm>
            <a:off x="256716" y="523174"/>
            <a:ext cx="854273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Recap of basic Boolean operators and their associated logic gates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922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95841F-A282-9555-B070-CB3C044FDF0C}"/>
              </a:ext>
            </a:extLst>
          </p:cNvPr>
          <p:cNvSpPr/>
          <p:nvPr/>
        </p:nvSpPr>
        <p:spPr>
          <a:xfrm>
            <a:off x="8936098" y="5267155"/>
            <a:ext cx="2585259" cy="1515128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22" name="Table 14">
            <a:extLst>
              <a:ext uri="{FF2B5EF4-FFF2-40B4-BE49-F238E27FC236}">
                <a16:creationId xmlns:a16="http://schemas.microsoft.com/office/drawing/2014/main" id="{A09A1B32-3D28-4B13-9B12-6133B55A95DA}"/>
              </a:ext>
            </a:extLst>
          </p:cNvPr>
          <p:cNvGraphicFramePr>
            <a:graphicFrameLocks noGrp="1"/>
          </p:cNvGraphicFramePr>
          <p:nvPr/>
        </p:nvGraphicFramePr>
        <p:xfrm>
          <a:off x="1431604" y="2487492"/>
          <a:ext cx="1493164" cy="1112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13449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979715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NOT 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</a:tbl>
          </a:graphicData>
        </a:graphic>
      </p:graphicFrame>
      <p:pic>
        <p:nvPicPr>
          <p:cNvPr id="32" name="Picture 31">
            <a:extLst>
              <a:ext uri="{FF2B5EF4-FFF2-40B4-BE49-F238E27FC236}">
                <a16:creationId xmlns:a16="http://schemas.microsoft.com/office/drawing/2014/main" id="{7E9D9963-B582-4E62-9E60-733667ABDC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055" y="996034"/>
            <a:ext cx="2282499" cy="128684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1339AA1D-77B6-48A1-BCB1-F8D98B11C9D7}"/>
              </a:ext>
            </a:extLst>
          </p:cNvPr>
          <p:cNvSpPr txBox="1"/>
          <p:nvPr/>
        </p:nvSpPr>
        <p:spPr>
          <a:xfrm>
            <a:off x="1806541" y="1493401"/>
            <a:ext cx="6471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NOT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BF5B10-C497-4B56-873C-01ABA62631AB}"/>
              </a:ext>
            </a:extLst>
          </p:cNvPr>
          <p:cNvSpPr txBox="1"/>
          <p:nvPr/>
        </p:nvSpPr>
        <p:spPr>
          <a:xfrm>
            <a:off x="1041081" y="1356343"/>
            <a:ext cx="340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A</a:t>
            </a:r>
            <a:endParaRPr lang="en-GB" sz="1100" b="1" dirty="0">
              <a:solidFill>
                <a:srgbClr val="C00000"/>
              </a:solidFill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6AA6C2C-17B4-4D1D-813C-73374A576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2416" y="982679"/>
            <a:ext cx="2282499" cy="1279851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2AC6E007-890A-4E52-A3E8-9E0BA7652248}"/>
              </a:ext>
            </a:extLst>
          </p:cNvPr>
          <p:cNvSpPr txBox="1"/>
          <p:nvPr/>
        </p:nvSpPr>
        <p:spPr>
          <a:xfrm>
            <a:off x="5833263" y="1473052"/>
            <a:ext cx="6703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AND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1E4EB0-598E-4139-B621-83CEB6236DAF}"/>
              </a:ext>
            </a:extLst>
          </p:cNvPr>
          <p:cNvSpPr txBox="1"/>
          <p:nvPr/>
        </p:nvSpPr>
        <p:spPr>
          <a:xfrm>
            <a:off x="4966888" y="1051548"/>
            <a:ext cx="340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A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1E39B12-4E19-4FFD-A441-C70F63A973F6}"/>
              </a:ext>
            </a:extLst>
          </p:cNvPr>
          <p:cNvSpPr txBox="1"/>
          <p:nvPr/>
        </p:nvSpPr>
        <p:spPr>
          <a:xfrm>
            <a:off x="4966888" y="1619108"/>
            <a:ext cx="328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B</a:t>
            </a:r>
            <a:endParaRPr lang="en-GB" sz="1100" b="1" dirty="0">
              <a:solidFill>
                <a:srgbClr val="C00000"/>
              </a:solidFill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AE66EABD-1F01-4089-85B4-E58881097A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291" y="984209"/>
            <a:ext cx="2282499" cy="1279851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710B2355-9F25-4A4C-B895-E1A2FA3EDC5A}"/>
              </a:ext>
            </a:extLst>
          </p:cNvPr>
          <p:cNvSpPr txBox="1"/>
          <p:nvPr/>
        </p:nvSpPr>
        <p:spPr>
          <a:xfrm>
            <a:off x="10112567" y="1451658"/>
            <a:ext cx="5020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OR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EE5473-03EE-4B1D-AE21-F6AC2BC7B452}"/>
              </a:ext>
            </a:extLst>
          </p:cNvPr>
          <p:cNvSpPr txBox="1"/>
          <p:nvPr/>
        </p:nvSpPr>
        <p:spPr>
          <a:xfrm>
            <a:off x="9171862" y="1071007"/>
            <a:ext cx="340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A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706D2D3-E2C3-40CE-802C-5DA91D1A5471}"/>
              </a:ext>
            </a:extLst>
          </p:cNvPr>
          <p:cNvSpPr txBox="1"/>
          <p:nvPr/>
        </p:nvSpPr>
        <p:spPr>
          <a:xfrm>
            <a:off x="9171862" y="1640535"/>
            <a:ext cx="328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B</a:t>
            </a:r>
            <a:endParaRPr lang="en-GB" sz="1100" b="1" dirty="0">
              <a:solidFill>
                <a:srgbClr val="C00000"/>
              </a:solidFill>
            </a:endParaRPr>
          </a:p>
        </p:txBody>
      </p:sp>
      <p:graphicFrame>
        <p:nvGraphicFramePr>
          <p:cNvPr id="36" name="Table 14">
            <a:extLst>
              <a:ext uri="{FF2B5EF4-FFF2-40B4-BE49-F238E27FC236}">
                <a16:creationId xmlns:a16="http://schemas.microsoft.com/office/drawing/2014/main" id="{EB845A61-7C15-4007-B15B-171AF9259A93}"/>
              </a:ext>
            </a:extLst>
          </p:cNvPr>
          <p:cNvGraphicFramePr>
            <a:graphicFrameLocks noGrp="1"/>
          </p:cNvGraphicFramePr>
          <p:nvPr/>
        </p:nvGraphicFramePr>
        <p:xfrm>
          <a:off x="4803370" y="2317862"/>
          <a:ext cx="2585260" cy="1524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1512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661512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262236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 AND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</a:tbl>
          </a:graphicData>
        </a:graphic>
      </p:graphicFrame>
      <p:graphicFrame>
        <p:nvGraphicFramePr>
          <p:cNvPr id="37" name="Table 14">
            <a:extLst>
              <a:ext uri="{FF2B5EF4-FFF2-40B4-BE49-F238E27FC236}">
                <a16:creationId xmlns:a16="http://schemas.microsoft.com/office/drawing/2014/main" id="{DF57D146-BAC3-4B4B-86B3-2D3705427AA0}"/>
              </a:ext>
            </a:extLst>
          </p:cNvPr>
          <p:cNvGraphicFramePr>
            <a:graphicFrameLocks noGrp="1"/>
          </p:cNvGraphicFramePr>
          <p:nvPr/>
        </p:nvGraphicFramePr>
        <p:xfrm>
          <a:off x="8939071" y="2330625"/>
          <a:ext cx="2585260" cy="1524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1512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661512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262236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 OR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/>
                        <a:t>1</a:t>
                      </a:r>
                      <a:endParaRPr lang="en-GB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</a:tbl>
          </a:graphicData>
        </a:graphic>
      </p:graphicFrame>
      <p:pic>
        <p:nvPicPr>
          <p:cNvPr id="39" name="Picture 38">
            <a:extLst>
              <a:ext uri="{FF2B5EF4-FFF2-40B4-BE49-F238E27FC236}">
                <a16:creationId xmlns:a16="http://schemas.microsoft.com/office/drawing/2014/main" id="{BC5E0FB5-9948-499A-B95D-B3875B4FC6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725" y="3900289"/>
            <a:ext cx="2265247" cy="1270178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68C30DD1-4978-4685-947C-ABDF2A20FEEE}"/>
              </a:ext>
            </a:extLst>
          </p:cNvPr>
          <p:cNvSpPr txBox="1"/>
          <p:nvPr/>
        </p:nvSpPr>
        <p:spPr>
          <a:xfrm>
            <a:off x="1105594" y="3933993"/>
            <a:ext cx="340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A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47005BD-88C9-48CF-8AA6-EFF13801847C}"/>
              </a:ext>
            </a:extLst>
          </p:cNvPr>
          <p:cNvSpPr txBox="1"/>
          <p:nvPr/>
        </p:nvSpPr>
        <p:spPr>
          <a:xfrm>
            <a:off x="1105594" y="4499217"/>
            <a:ext cx="328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B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D2E8BF9-D2D8-4152-A8AE-664DBFC18A30}"/>
              </a:ext>
            </a:extLst>
          </p:cNvPr>
          <p:cNvSpPr txBox="1"/>
          <p:nvPr/>
        </p:nvSpPr>
        <p:spPr>
          <a:xfrm>
            <a:off x="2001714" y="4386956"/>
            <a:ext cx="6343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XOR</a:t>
            </a:r>
            <a:endParaRPr lang="en-GB" sz="1100" b="1" dirty="0">
              <a:solidFill>
                <a:srgbClr val="C00000"/>
              </a:solidFill>
            </a:endParaRPr>
          </a:p>
        </p:txBody>
      </p:sp>
      <p:graphicFrame>
        <p:nvGraphicFramePr>
          <p:cNvPr id="43" name="Table 14">
            <a:extLst>
              <a:ext uri="{FF2B5EF4-FFF2-40B4-BE49-F238E27FC236}">
                <a16:creationId xmlns:a16="http://schemas.microsoft.com/office/drawing/2014/main" id="{041A965B-E23C-464A-B958-17EEC5A2BBD3}"/>
              </a:ext>
            </a:extLst>
          </p:cNvPr>
          <p:cNvGraphicFramePr>
            <a:graphicFrameLocks noGrp="1"/>
          </p:cNvGraphicFramePr>
          <p:nvPr/>
        </p:nvGraphicFramePr>
        <p:xfrm>
          <a:off x="807294" y="5277439"/>
          <a:ext cx="2585260" cy="1524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1512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661512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262236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 XOR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F280436A-B63C-0475-E7D3-E6729C18D6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430" y="3881613"/>
            <a:ext cx="2282499" cy="128128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48D54A0-E00F-B4AA-F4AC-6236853F23CE}"/>
              </a:ext>
            </a:extLst>
          </p:cNvPr>
          <p:cNvSpPr txBox="1"/>
          <p:nvPr/>
        </p:nvSpPr>
        <p:spPr>
          <a:xfrm>
            <a:off x="5743917" y="4394936"/>
            <a:ext cx="838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NAND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04B67F-B60A-E43F-00CC-379EA7E57DDD}"/>
              </a:ext>
            </a:extLst>
          </p:cNvPr>
          <p:cNvSpPr txBox="1"/>
          <p:nvPr/>
        </p:nvSpPr>
        <p:spPr>
          <a:xfrm>
            <a:off x="4967188" y="3973432"/>
            <a:ext cx="340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A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C69B74-EA21-9A4E-6B6B-F8F390B7E5B5}"/>
              </a:ext>
            </a:extLst>
          </p:cNvPr>
          <p:cNvSpPr txBox="1"/>
          <p:nvPr/>
        </p:nvSpPr>
        <p:spPr>
          <a:xfrm>
            <a:off x="4967188" y="4540992"/>
            <a:ext cx="328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B</a:t>
            </a:r>
            <a:endParaRPr lang="en-GB" sz="1100" b="1" dirty="0">
              <a:solidFill>
                <a:srgbClr val="C00000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640D421-394A-E66E-6CD1-06456726C17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291" y="3878279"/>
            <a:ext cx="2282499" cy="1281280"/>
          </a:xfrm>
          <a:prstGeom prst="rec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0D3D206-0668-EBFC-E0FC-C6A031EC12C1}"/>
              </a:ext>
            </a:extLst>
          </p:cNvPr>
          <p:cNvSpPr txBox="1"/>
          <p:nvPr/>
        </p:nvSpPr>
        <p:spPr>
          <a:xfrm>
            <a:off x="10088086" y="4374697"/>
            <a:ext cx="6703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NOR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3C0C67-1D3B-030C-A541-2592D8329CF2}"/>
              </a:ext>
            </a:extLst>
          </p:cNvPr>
          <p:cNvSpPr txBox="1"/>
          <p:nvPr/>
        </p:nvSpPr>
        <p:spPr>
          <a:xfrm>
            <a:off x="9144165" y="3966089"/>
            <a:ext cx="340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A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B9186E-741A-DA70-6015-43DB19FBA85F}"/>
              </a:ext>
            </a:extLst>
          </p:cNvPr>
          <p:cNvSpPr txBox="1"/>
          <p:nvPr/>
        </p:nvSpPr>
        <p:spPr>
          <a:xfrm>
            <a:off x="9144165" y="4535617"/>
            <a:ext cx="328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</a:rPr>
              <a:t>B</a:t>
            </a:r>
            <a:endParaRPr lang="en-GB" sz="1100" b="1" dirty="0">
              <a:solidFill>
                <a:srgbClr val="C00000"/>
              </a:solidFill>
            </a:endParaRPr>
          </a:p>
        </p:txBody>
      </p:sp>
      <p:graphicFrame>
        <p:nvGraphicFramePr>
          <p:cNvPr id="45" name="Table 14">
            <a:extLst>
              <a:ext uri="{FF2B5EF4-FFF2-40B4-BE49-F238E27FC236}">
                <a16:creationId xmlns:a16="http://schemas.microsoft.com/office/drawing/2014/main" id="{FB5A6C33-145A-63CA-DBD1-E62B6A486849}"/>
              </a:ext>
            </a:extLst>
          </p:cNvPr>
          <p:cNvGraphicFramePr>
            <a:graphicFrameLocks noGrp="1"/>
          </p:cNvGraphicFramePr>
          <p:nvPr/>
        </p:nvGraphicFramePr>
        <p:xfrm>
          <a:off x="4807441" y="5258260"/>
          <a:ext cx="2585260" cy="1524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1512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661512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262236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 AND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</a:tbl>
          </a:graphicData>
        </a:graphic>
      </p:graphicFrame>
      <p:graphicFrame>
        <p:nvGraphicFramePr>
          <p:cNvPr id="46" name="Table 14">
            <a:extLst>
              <a:ext uri="{FF2B5EF4-FFF2-40B4-BE49-F238E27FC236}">
                <a16:creationId xmlns:a16="http://schemas.microsoft.com/office/drawing/2014/main" id="{4A4C71F9-1929-7A48-9F2F-B0852CBF93D4}"/>
              </a:ext>
            </a:extLst>
          </p:cNvPr>
          <p:cNvGraphicFramePr>
            <a:graphicFrameLocks noGrp="1"/>
          </p:cNvGraphicFramePr>
          <p:nvPr/>
        </p:nvGraphicFramePr>
        <p:xfrm>
          <a:off x="8943142" y="5271023"/>
          <a:ext cx="2585260" cy="1524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1512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661512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262236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A OR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</a:tbl>
          </a:graphicData>
        </a:graphic>
      </p:graphicFrame>
      <p:sp>
        <p:nvSpPr>
          <p:cNvPr id="47" name="Rectangle 46">
            <a:extLst>
              <a:ext uri="{FF2B5EF4-FFF2-40B4-BE49-F238E27FC236}">
                <a16:creationId xmlns:a16="http://schemas.microsoft.com/office/drawing/2014/main" id="{709A92FB-BF1E-06CD-8C26-46F379C3FC77}"/>
              </a:ext>
            </a:extLst>
          </p:cNvPr>
          <p:cNvSpPr/>
          <p:nvPr/>
        </p:nvSpPr>
        <p:spPr>
          <a:xfrm>
            <a:off x="256716" y="523174"/>
            <a:ext cx="854273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Recap of basic Boolean operators and their associated logic gates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0035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9415110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note from the exam board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 descr="Icon&#10;&#10;Description automatically generated">
            <a:extLst>
              <a:ext uri="{FF2B5EF4-FFF2-40B4-BE49-F238E27FC236}">
                <a16:creationId xmlns:a16="http://schemas.microsoft.com/office/drawing/2014/main" id="{1FF611C5-DFCC-454C-B93B-15C73D66B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125" y="781050"/>
            <a:ext cx="5857875" cy="58578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4638CC8-B1BC-42FF-9B85-F708C60F0482}"/>
              </a:ext>
            </a:extLst>
          </p:cNvPr>
          <p:cNvSpPr txBox="1"/>
          <p:nvPr/>
        </p:nvSpPr>
        <p:spPr>
          <a:xfrm>
            <a:off x="176565" y="993174"/>
            <a:ext cx="568131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/>
              <a:t>The Cambridge IGCSE syllabus states:</a:t>
            </a:r>
            <a:endParaRPr lang="en-GB" i="1" dirty="0"/>
          </a:p>
          <a:p>
            <a:pPr>
              <a:spcAft>
                <a:spcPts val="800"/>
              </a:spcAft>
            </a:pPr>
            <a:r>
              <a:rPr lang="en-GB" i="1" dirty="0"/>
              <a:t>“Candidates should be able to create logic circuits, complete truth tables and write logic expressions from a problem statement, logic expression, truth table or logic circuit and vice versa.”</a:t>
            </a:r>
          </a:p>
          <a:p>
            <a:pPr>
              <a:spcAft>
                <a:spcPts val="800"/>
              </a:spcAft>
            </a:pPr>
            <a:r>
              <a:rPr lang="en-GB" dirty="0"/>
              <a:t>Logic expressions, truth tables and logic circuits are all alternative ways of representing the same thing.</a:t>
            </a:r>
          </a:p>
          <a:p>
            <a:pPr>
              <a:spcAft>
                <a:spcPts val="800"/>
              </a:spcAft>
            </a:pPr>
            <a:r>
              <a:rPr lang="en-GB" dirty="0"/>
              <a:t>To make sure you are completely ready for the exams, you should be comfortable with at least one of the three and be able to reproduce the other two.</a:t>
            </a:r>
          </a:p>
        </p:txBody>
      </p:sp>
    </p:spTree>
    <p:extLst>
      <p:ext uri="{BB962C8B-B14F-4D97-AF65-F5344CB8AC3E}">
        <p14:creationId xmlns:p14="http://schemas.microsoft.com/office/powerpoint/2010/main" val="3872014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9415110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logic circuits to truth tables to logic expressions and vice versa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BDBE54-E7CD-4EFA-97AE-6C4F27C9E4B3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Let’s have a go at completing the truth table for this logic circuit. 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The first thing we need to do is create columns for each of the inputs – A, B and C.</a:t>
            </a:r>
            <a:endParaRPr lang="en-GB" sz="1400" dirty="0">
              <a:solidFill>
                <a:schemeClr val="tx1"/>
              </a:solidFill>
            </a:endParaRP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We then need to list all the possible combinations. The easiest way to do this is to count up in binary from 000 to 111 – in other words, from 0 to 7. 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We then need a blank column for any interim outputs/inputs and the final output.</a:t>
            </a:r>
            <a:endParaRPr lang="en-GB" sz="1400" dirty="0">
              <a:solidFill>
                <a:schemeClr val="tx1"/>
              </a:solidFill>
            </a:endParaRP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So, we have output D – the result of A OR B – which becomes an input for the final AND gate.</a:t>
            </a:r>
            <a:endParaRPr lang="en-GB" sz="1400" dirty="0">
              <a:solidFill>
                <a:schemeClr val="tx1"/>
              </a:solidFill>
            </a:endParaRP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Finally, we have output E.</a:t>
            </a:r>
          </a:p>
          <a:p>
            <a:pPr>
              <a:spcAft>
                <a:spcPts val="800"/>
              </a:spcAft>
              <a:buClr>
                <a:schemeClr val="tx1"/>
              </a:buClr>
            </a:pPr>
            <a:endParaRPr lang="en-GB" sz="1600" dirty="0">
              <a:solidFill>
                <a:schemeClr val="tx1"/>
              </a:solidFill>
            </a:endParaRPr>
          </a:p>
          <a:p>
            <a:pPr>
              <a:spcAft>
                <a:spcPts val="800"/>
              </a:spcAft>
              <a:buClr>
                <a:schemeClr val="tx1"/>
              </a:buClr>
            </a:pPr>
            <a:endParaRPr lang="en-GB" sz="1600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14">
            <a:extLst>
              <a:ext uri="{FF2B5EF4-FFF2-40B4-BE49-F238E27FC236}">
                <a16:creationId xmlns:a16="http://schemas.microsoft.com/office/drawing/2014/main" id="{2BFE5F57-68FA-4671-84C3-D062E8055D2B}"/>
              </a:ext>
            </a:extLst>
          </p:cNvPr>
          <p:cNvGraphicFramePr>
            <a:graphicFrameLocks noGrp="1"/>
          </p:cNvGraphicFramePr>
          <p:nvPr/>
        </p:nvGraphicFramePr>
        <p:xfrm>
          <a:off x="2138670" y="3102371"/>
          <a:ext cx="4575193" cy="3606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99207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399207">
                  <a:extLst>
                    <a:ext uri="{9D8B030D-6E8A-4147-A177-3AD203B41FA5}">
                      <a16:colId xmlns:a16="http://schemas.microsoft.com/office/drawing/2014/main" val="4147067161"/>
                    </a:ext>
                  </a:extLst>
                </a:gridCol>
                <a:gridCol w="399207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688786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  <a:gridCol w="1688786">
                  <a:extLst>
                    <a:ext uri="{9D8B030D-6E8A-4147-A177-3AD203B41FA5}">
                      <a16:colId xmlns:a16="http://schemas.microsoft.com/office/drawing/2014/main" val="5629128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 OR B</a:t>
                      </a:r>
                    </a:p>
                    <a:p>
                      <a:pPr algn="ctr"/>
                      <a:r>
                        <a:rPr lang="en-GB" i="1" dirty="0">
                          <a:solidFill>
                            <a:schemeClr val="accent4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(A OR B) AND C</a:t>
                      </a:r>
                    </a:p>
                    <a:p>
                      <a:pPr algn="ctr"/>
                      <a:r>
                        <a:rPr lang="en-GB" i="1" dirty="0">
                          <a:solidFill>
                            <a:schemeClr val="accent4"/>
                          </a:solidFill>
                        </a:rPr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148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7170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1047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528922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FF53B2F5-802E-411D-8F01-66C5189369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586" y="855549"/>
            <a:ext cx="3128491" cy="17542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B71FE4-A318-4AA0-82E6-3752AA1D07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6091" y="1244964"/>
            <a:ext cx="3128491" cy="17542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0DEE768-AC90-43F8-B860-58C780835CE2}"/>
              </a:ext>
            </a:extLst>
          </p:cNvPr>
          <p:cNvSpPr txBox="1"/>
          <p:nvPr/>
        </p:nvSpPr>
        <p:spPr>
          <a:xfrm>
            <a:off x="1097436" y="1103952"/>
            <a:ext cx="4651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rgbClr val="C00000"/>
                </a:solidFill>
              </a:rPr>
              <a:t>A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25A034-DC22-4021-A261-3BE79D99EACB}"/>
              </a:ext>
            </a:extLst>
          </p:cNvPr>
          <p:cNvSpPr txBox="1"/>
          <p:nvPr/>
        </p:nvSpPr>
        <p:spPr>
          <a:xfrm>
            <a:off x="1097436" y="1881874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rgbClr val="C00000"/>
                </a:solidFill>
              </a:rPr>
              <a:t>B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6A6B10-FD34-46CE-8B6D-3D7C1611A914}"/>
              </a:ext>
            </a:extLst>
          </p:cNvPr>
          <p:cNvSpPr txBox="1"/>
          <p:nvPr/>
        </p:nvSpPr>
        <p:spPr>
          <a:xfrm>
            <a:off x="4264342" y="2276026"/>
            <a:ext cx="4283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rgbClr val="C00000"/>
                </a:solidFill>
              </a:rPr>
              <a:t>C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0A3B78-869D-492B-A45F-E6FD6D4B64B2}"/>
              </a:ext>
            </a:extLst>
          </p:cNvPr>
          <p:cNvSpPr txBox="1"/>
          <p:nvPr/>
        </p:nvSpPr>
        <p:spPr>
          <a:xfrm>
            <a:off x="3885400" y="1282881"/>
            <a:ext cx="4764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chemeClr val="accent4"/>
                </a:solidFill>
              </a:rPr>
              <a:t>D</a:t>
            </a:r>
            <a:endParaRPr lang="en-GB" b="1" dirty="0">
              <a:solidFill>
                <a:schemeClr val="accent4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56754D-3298-4567-BC21-231112853A11}"/>
              </a:ext>
            </a:extLst>
          </p:cNvPr>
          <p:cNvSpPr txBox="1"/>
          <p:nvPr/>
        </p:nvSpPr>
        <p:spPr>
          <a:xfrm>
            <a:off x="7736595" y="1881874"/>
            <a:ext cx="4090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chemeClr val="accent4"/>
                </a:solidFill>
              </a:rPr>
              <a:t>E</a:t>
            </a:r>
            <a:endParaRPr lang="en-GB" b="1" dirty="0">
              <a:solidFill>
                <a:schemeClr val="accent4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38AD58-108F-4EFC-9B68-CE6B4CA3A9BE}"/>
              </a:ext>
            </a:extLst>
          </p:cNvPr>
          <p:cNvSpPr txBox="1"/>
          <p:nvPr/>
        </p:nvSpPr>
        <p:spPr>
          <a:xfrm>
            <a:off x="1798512" y="3700283"/>
            <a:ext cx="340158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C00000"/>
                </a:solidFill>
              </a:rPr>
              <a:t>0</a:t>
            </a:r>
          </a:p>
          <a:p>
            <a:r>
              <a:rPr lang="en-GB" sz="2400" dirty="0">
                <a:solidFill>
                  <a:srgbClr val="C00000"/>
                </a:solidFill>
              </a:rPr>
              <a:t>1</a:t>
            </a:r>
          </a:p>
          <a:p>
            <a:r>
              <a:rPr lang="en-GB" sz="2400" dirty="0">
                <a:solidFill>
                  <a:srgbClr val="C00000"/>
                </a:solidFill>
              </a:rPr>
              <a:t>2</a:t>
            </a:r>
          </a:p>
          <a:p>
            <a:r>
              <a:rPr lang="en-GB" sz="2400" dirty="0">
                <a:solidFill>
                  <a:srgbClr val="C00000"/>
                </a:solidFill>
              </a:rPr>
              <a:t>3</a:t>
            </a:r>
          </a:p>
          <a:p>
            <a:r>
              <a:rPr lang="en-GB" sz="2400" dirty="0">
                <a:solidFill>
                  <a:srgbClr val="C00000"/>
                </a:solidFill>
              </a:rPr>
              <a:t>4</a:t>
            </a:r>
          </a:p>
          <a:p>
            <a:r>
              <a:rPr lang="en-GB" sz="2400" dirty="0">
                <a:solidFill>
                  <a:srgbClr val="C00000"/>
                </a:solidFill>
              </a:rPr>
              <a:t>5</a:t>
            </a:r>
          </a:p>
          <a:p>
            <a:r>
              <a:rPr lang="en-GB" sz="2400" dirty="0">
                <a:solidFill>
                  <a:srgbClr val="C00000"/>
                </a:solidFill>
              </a:rPr>
              <a:t>6</a:t>
            </a:r>
          </a:p>
          <a:p>
            <a:r>
              <a:rPr lang="en-GB" sz="2400" dirty="0">
                <a:solidFill>
                  <a:srgbClr val="C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06682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9415110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logic circuits to truth tables to logic expressions and vice versa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BDBE54-E7CD-4EFA-97AE-6C4F27C9E4B3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Take each row in turn, working through the logic gates in order.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Start with the OR gate on the left.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If we consider the first two rows, A is 0 and B is 0. Both of these rows would result in the output, D, being 0.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Remember, with an OR gate, at least one of the inputs needs to be 1 for the output to be 1.</a:t>
            </a:r>
          </a:p>
          <a:p>
            <a:pPr>
              <a:spcAft>
                <a:spcPts val="800"/>
              </a:spcAft>
              <a:buClr>
                <a:schemeClr val="tx1"/>
              </a:buClr>
            </a:pPr>
            <a:endParaRPr lang="en-GB" sz="1600" dirty="0">
              <a:solidFill>
                <a:schemeClr val="tx1"/>
              </a:solidFill>
            </a:endParaRPr>
          </a:p>
          <a:p>
            <a:pPr>
              <a:spcAft>
                <a:spcPts val="800"/>
              </a:spcAft>
              <a:buClr>
                <a:schemeClr val="tx1"/>
              </a:buClr>
            </a:pPr>
            <a:endParaRPr lang="en-GB" sz="1600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14">
            <a:extLst>
              <a:ext uri="{FF2B5EF4-FFF2-40B4-BE49-F238E27FC236}">
                <a16:creationId xmlns:a16="http://schemas.microsoft.com/office/drawing/2014/main" id="{2BFE5F57-68FA-4671-84C3-D062E8055D2B}"/>
              </a:ext>
            </a:extLst>
          </p:cNvPr>
          <p:cNvGraphicFramePr>
            <a:graphicFrameLocks noGrp="1"/>
          </p:cNvGraphicFramePr>
          <p:nvPr/>
        </p:nvGraphicFramePr>
        <p:xfrm>
          <a:off x="2138670" y="3102371"/>
          <a:ext cx="4575193" cy="3606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99207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399207">
                  <a:extLst>
                    <a:ext uri="{9D8B030D-6E8A-4147-A177-3AD203B41FA5}">
                      <a16:colId xmlns:a16="http://schemas.microsoft.com/office/drawing/2014/main" val="4147067161"/>
                    </a:ext>
                  </a:extLst>
                </a:gridCol>
                <a:gridCol w="399207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688786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  <a:gridCol w="1688786">
                  <a:extLst>
                    <a:ext uri="{9D8B030D-6E8A-4147-A177-3AD203B41FA5}">
                      <a16:colId xmlns:a16="http://schemas.microsoft.com/office/drawing/2014/main" val="5629128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 OR B</a:t>
                      </a:r>
                    </a:p>
                    <a:p>
                      <a:pPr algn="ctr"/>
                      <a:r>
                        <a:rPr lang="en-GB" i="1" dirty="0">
                          <a:solidFill>
                            <a:schemeClr val="accent4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(A OR B) AND C</a:t>
                      </a:r>
                    </a:p>
                    <a:p>
                      <a:pPr algn="ctr"/>
                      <a:r>
                        <a:rPr lang="en-GB" i="1" dirty="0">
                          <a:solidFill>
                            <a:schemeClr val="accent4"/>
                          </a:solidFill>
                        </a:rPr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148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7170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1047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528922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FF53B2F5-802E-411D-8F01-66C5189369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586" y="855549"/>
            <a:ext cx="3128491" cy="17542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B71FE4-A318-4AA0-82E6-3752AA1D07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6091" y="1244964"/>
            <a:ext cx="3128491" cy="17542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0DEE768-AC90-43F8-B860-58C780835CE2}"/>
              </a:ext>
            </a:extLst>
          </p:cNvPr>
          <p:cNvSpPr txBox="1"/>
          <p:nvPr/>
        </p:nvSpPr>
        <p:spPr>
          <a:xfrm>
            <a:off x="1097436" y="1103952"/>
            <a:ext cx="4651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rgbClr val="C00000"/>
                </a:solidFill>
              </a:rPr>
              <a:t>A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25A034-DC22-4021-A261-3BE79D99EACB}"/>
              </a:ext>
            </a:extLst>
          </p:cNvPr>
          <p:cNvSpPr txBox="1"/>
          <p:nvPr/>
        </p:nvSpPr>
        <p:spPr>
          <a:xfrm>
            <a:off x="1097436" y="1881874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rgbClr val="C00000"/>
                </a:solidFill>
              </a:rPr>
              <a:t>B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6A6B10-FD34-46CE-8B6D-3D7C1611A914}"/>
              </a:ext>
            </a:extLst>
          </p:cNvPr>
          <p:cNvSpPr txBox="1"/>
          <p:nvPr/>
        </p:nvSpPr>
        <p:spPr>
          <a:xfrm>
            <a:off x="4264342" y="2276026"/>
            <a:ext cx="4283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rgbClr val="C00000"/>
                </a:solidFill>
              </a:rPr>
              <a:t>C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0A3B78-869D-492B-A45F-E6FD6D4B64B2}"/>
              </a:ext>
            </a:extLst>
          </p:cNvPr>
          <p:cNvSpPr txBox="1"/>
          <p:nvPr/>
        </p:nvSpPr>
        <p:spPr>
          <a:xfrm>
            <a:off x="3885400" y="1282881"/>
            <a:ext cx="4764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chemeClr val="accent4"/>
                </a:solidFill>
              </a:rPr>
              <a:t>D</a:t>
            </a:r>
            <a:endParaRPr lang="en-GB" b="1" dirty="0">
              <a:solidFill>
                <a:schemeClr val="accent4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56754D-3298-4567-BC21-231112853A11}"/>
              </a:ext>
            </a:extLst>
          </p:cNvPr>
          <p:cNvSpPr txBox="1"/>
          <p:nvPr/>
        </p:nvSpPr>
        <p:spPr>
          <a:xfrm>
            <a:off x="7736595" y="1881874"/>
            <a:ext cx="4090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chemeClr val="accent4"/>
                </a:solidFill>
              </a:rPr>
              <a:t>E</a:t>
            </a:r>
            <a:endParaRPr lang="en-GB" b="1" dirty="0">
              <a:solidFill>
                <a:schemeClr val="accent4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38AD58-108F-4EFC-9B68-CE6B4CA3A9BE}"/>
              </a:ext>
            </a:extLst>
          </p:cNvPr>
          <p:cNvSpPr txBox="1"/>
          <p:nvPr/>
        </p:nvSpPr>
        <p:spPr>
          <a:xfrm>
            <a:off x="1798512" y="3700283"/>
            <a:ext cx="340158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C00000"/>
                </a:solidFill>
              </a:rPr>
              <a:t>0</a:t>
            </a:r>
          </a:p>
          <a:p>
            <a:r>
              <a:rPr lang="en-GB" sz="2400" dirty="0">
                <a:solidFill>
                  <a:srgbClr val="C00000"/>
                </a:solidFill>
              </a:rPr>
              <a:t>1</a:t>
            </a:r>
          </a:p>
          <a:p>
            <a:r>
              <a:rPr lang="en-GB" sz="2400" dirty="0">
                <a:solidFill>
                  <a:srgbClr val="C00000"/>
                </a:solidFill>
              </a:rPr>
              <a:t>2</a:t>
            </a:r>
          </a:p>
          <a:p>
            <a:r>
              <a:rPr lang="en-GB" sz="2400" dirty="0">
                <a:solidFill>
                  <a:srgbClr val="C00000"/>
                </a:solidFill>
              </a:rPr>
              <a:t>3</a:t>
            </a:r>
          </a:p>
          <a:p>
            <a:r>
              <a:rPr lang="en-GB" sz="2400" dirty="0">
                <a:solidFill>
                  <a:srgbClr val="C00000"/>
                </a:solidFill>
              </a:rPr>
              <a:t>4</a:t>
            </a:r>
          </a:p>
          <a:p>
            <a:r>
              <a:rPr lang="en-GB" sz="2400" dirty="0">
                <a:solidFill>
                  <a:srgbClr val="C00000"/>
                </a:solidFill>
              </a:rPr>
              <a:t>5</a:t>
            </a:r>
          </a:p>
          <a:p>
            <a:r>
              <a:rPr lang="en-GB" sz="2400" dirty="0">
                <a:solidFill>
                  <a:srgbClr val="C00000"/>
                </a:solidFill>
              </a:rPr>
              <a:t>6</a:t>
            </a:r>
          </a:p>
          <a:p>
            <a:r>
              <a:rPr lang="en-GB" sz="2400" dirty="0">
                <a:solidFill>
                  <a:srgbClr val="C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798927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9415110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logic circuits to truth tables to logic expressions and vice versa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BDBE54-E7CD-4EFA-97AE-6C4F27C9E4B3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600" dirty="0">
                <a:solidFill>
                  <a:schemeClr val="tx1"/>
                </a:solidFill>
              </a:rPr>
              <a:t>In the next two rows, A is 0 and B is 1. Both of these would result in D being 1.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14">
            <a:extLst>
              <a:ext uri="{FF2B5EF4-FFF2-40B4-BE49-F238E27FC236}">
                <a16:creationId xmlns:a16="http://schemas.microsoft.com/office/drawing/2014/main" id="{2BFE5F57-68FA-4671-84C3-D062E8055D2B}"/>
              </a:ext>
            </a:extLst>
          </p:cNvPr>
          <p:cNvGraphicFramePr>
            <a:graphicFrameLocks noGrp="1"/>
          </p:cNvGraphicFramePr>
          <p:nvPr/>
        </p:nvGraphicFramePr>
        <p:xfrm>
          <a:off x="2138670" y="3102371"/>
          <a:ext cx="4575193" cy="3606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99207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399207">
                  <a:extLst>
                    <a:ext uri="{9D8B030D-6E8A-4147-A177-3AD203B41FA5}">
                      <a16:colId xmlns:a16="http://schemas.microsoft.com/office/drawing/2014/main" val="4147067161"/>
                    </a:ext>
                  </a:extLst>
                </a:gridCol>
                <a:gridCol w="399207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688786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  <a:gridCol w="1688786">
                  <a:extLst>
                    <a:ext uri="{9D8B030D-6E8A-4147-A177-3AD203B41FA5}">
                      <a16:colId xmlns:a16="http://schemas.microsoft.com/office/drawing/2014/main" val="5629128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 OR B</a:t>
                      </a:r>
                    </a:p>
                    <a:p>
                      <a:pPr algn="ctr"/>
                      <a:r>
                        <a:rPr lang="en-GB" i="1" dirty="0">
                          <a:solidFill>
                            <a:schemeClr val="accent4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(A OR B) AND C</a:t>
                      </a:r>
                    </a:p>
                    <a:p>
                      <a:pPr algn="ctr"/>
                      <a:r>
                        <a:rPr lang="en-GB" i="1" dirty="0">
                          <a:solidFill>
                            <a:schemeClr val="accent4"/>
                          </a:solidFill>
                        </a:rPr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148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7170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1047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528922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FF53B2F5-802E-411D-8F01-66C5189369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586" y="855549"/>
            <a:ext cx="3128491" cy="17542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B71FE4-A318-4AA0-82E6-3752AA1D07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6091" y="1244964"/>
            <a:ext cx="3128491" cy="17542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0DEE768-AC90-43F8-B860-58C780835CE2}"/>
              </a:ext>
            </a:extLst>
          </p:cNvPr>
          <p:cNvSpPr txBox="1"/>
          <p:nvPr/>
        </p:nvSpPr>
        <p:spPr>
          <a:xfrm>
            <a:off x="1097436" y="1103952"/>
            <a:ext cx="4651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rgbClr val="C00000"/>
                </a:solidFill>
              </a:rPr>
              <a:t>A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25A034-DC22-4021-A261-3BE79D99EACB}"/>
              </a:ext>
            </a:extLst>
          </p:cNvPr>
          <p:cNvSpPr txBox="1"/>
          <p:nvPr/>
        </p:nvSpPr>
        <p:spPr>
          <a:xfrm>
            <a:off x="1097436" y="1881874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rgbClr val="C00000"/>
                </a:solidFill>
              </a:rPr>
              <a:t>B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6A6B10-FD34-46CE-8B6D-3D7C1611A914}"/>
              </a:ext>
            </a:extLst>
          </p:cNvPr>
          <p:cNvSpPr txBox="1"/>
          <p:nvPr/>
        </p:nvSpPr>
        <p:spPr>
          <a:xfrm>
            <a:off x="4264342" y="2276026"/>
            <a:ext cx="4283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rgbClr val="C00000"/>
                </a:solidFill>
              </a:rPr>
              <a:t>C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0A3B78-869D-492B-A45F-E6FD6D4B64B2}"/>
              </a:ext>
            </a:extLst>
          </p:cNvPr>
          <p:cNvSpPr txBox="1"/>
          <p:nvPr/>
        </p:nvSpPr>
        <p:spPr>
          <a:xfrm>
            <a:off x="3885400" y="1282881"/>
            <a:ext cx="4764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chemeClr val="accent4"/>
                </a:solidFill>
              </a:rPr>
              <a:t>D</a:t>
            </a:r>
            <a:endParaRPr lang="en-GB" b="1" dirty="0">
              <a:solidFill>
                <a:schemeClr val="accent4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56754D-3298-4567-BC21-231112853A11}"/>
              </a:ext>
            </a:extLst>
          </p:cNvPr>
          <p:cNvSpPr txBox="1"/>
          <p:nvPr/>
        </p:nvSpPr>
        <p:spPr>
          <a:xfrm>
            <a:off x="7736595" y="1881874"/>
            <a:ext cx="4090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chemeClr val="accent4"/>
                </a:solidFill>
              </a:rPr>
              <a:t>E</a:t>
            </a:r>
            <a:endParaRPr lang="en-GB" b="1" dirty="0">
              <a:solidFill>
                <a:schemeClr val="accent4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38AD58-108F-4EFC-9B68-CE6B4CA3A9BE}"/>
              </a:ext>
            </a:extLst>
          </p:cNvPr>
          <p:cNvSpPr txBox="1"/>
          <p:nvPr/>
        </p:nvSpPr>
        <p:spPr>
          <a:xfrm>
            <a:off x="1798512" y="3700283"/>
            <a:ext cx="340158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C00000"/>
                </a:solidFill>
              </a:rPr>
              <a:t>0</a:t>
            </a:r>
          </a:p>
          <a:p>
            <a:r>
              <a:rPr lang="en-GB" sz="2400" dirty="0">
                <a:solidFill>
                  <a:srgbClr val="C00000"/>
                </a:solidFill>
              </a:rPr>
              <a:t>1</a:t>
            </a:r>
          </a:p>
          <a:p>
            <a:r>
              <a:rPr lang="en-GB" sz="2400" dirty="0">
                <a:solidFill>
                  <a:srgbClr val="C00000"/>
                </a:solidFill>
              </a:rPr>
              <a:t>2</a:t>
            </a:r>
          </a:p>
          <a:p>
            <a:r>
              <a:rPr lang="en-GB" sz="2400" dirty="0">
                <a:solidFill>
                  <a:srgbClr val="C00000"/>
                </a:solidFill>
              </a:rPr>
              <a:t>3</a:t>
            </a:r>
          </a:p>
          <a:p>
            <a:r>
              <a:rPr lang="en-GB" sz="2400" dirty="0">
                <a:solidFill>
                  <a:srgbClr val="C00000"/>
                </a:solidFill>
              </a:rPr>
              <a:t>4</a:t>
            </a:r>
          </a:p>
          <a:p>
            <a:r>
              <a:rPr lang="en-GB" sz="2400" dirty="0">
                <a:solidFill>
                  <a:srgbClr val="C00000"/>
                </a:solidFill>
              </a:rPr>
              <a:t>5</a:t>
            </a:r>
          </a:p>
          <a:p>
            <a:r>
              <a:rPr lang="en-GB" sz="2400" dirty="0">
                <a:solidFill>
                  <a:srgbClr val="C00000"/>
                </a:solidFill>
              </a:rPr>
              <a:t>6</a:t>
            </a:r>
          </a:p>
          <a:p>
            <a:r>
              <a:rPr lang="en-GB" sz="2400" dirty="0">
                <a:solidFill>
                  <a:srgbClr val="C00000"/>
                </a:solidFill>
              </a:rPr>
              <a:t>7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355E87D-D459-46ED-BC47-DE89BF6E36A5}"/>
              </a:ext>
            </a:extLst>
          </p:cNvPr>
          <p:cNvCxnSpPr>
            <a:cxnSpLocks/>
          </p:cNvCxnSpPr>
          <p:nvPr/>
        </p:nvCxnSpPr>
        <p:spPr>
          <a:xfrm>
            <a:off x="1498836" y="2211733"/>
            <a:ext cx="958614" cy="0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082B118-2B23-4C8D-A851-606BAF127F81}"/>
              </a:ext>
            </a:extLst>
          </p:cNvPr>
          <p:cNvCxnSpPr>
            <a:cxnSpLocks/>
          </p:cNvCxnSpPr>
          <p:nvPr/>
        </p:nvCxnSpPr>
        <p:spPr>
          <a:xfrm>
            <a:off x="3844405" y="1807607"/>
            <a:ext cx="1565795" cy="0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3788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9415110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logic circuits to truth tables to logic expressions and vice versa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BDBE54-E7CD-4EFA-97AE-6C4F27C9E4B3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600" dirty="0">
                <a:solidFill>
                  <a:schemeClr val="tx1"/>
                </a:solidFill>
              </a:rPr>
              <a:t>In the next two rows, A is 1 and B is 0. Both of these would result in D being 1.</a:t>
            </a:r>
          </a:p>
        </p:txBody>
      </p:sp>
      <p:graphicFrame>
        <p:nvGraphicFramePr>
          <p:cNvPr id="6" name="Table 14">
            <a:extLst>
              <a:ext uri="{FF2B5EF4-FFF2-40B4-BE49-F238E27FC236}">
                <a16:creationId xmlns:a16="http://schemas.microsoft.com/office/drawing/2014/main" id="{2BFE5F57-68FA-4671-84C3-D062E8055D2B}"/>
              </a:ext>
            </a:extLst>
          </p:cNvPr>
          <p:cNvGraphicFramePr>
            <a:graphicFrameLocks noGrp="1"/>
          </p:cNvGraphicFramePr>
          <p:nvPr/>
        </p:nvGraphicFramePr>
        <p:xfrm>
          <a:off x="2138670" y="3102371"/>
          <a:ext cx="4575193" cy="3606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99207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399207">
                  <a:extLst>
                    <a:ext uri="{9D8B030D-6E8A-4147-A177-3AD203B41FA5}">
                      <a16:colId xmlns:a16="http://schemas.microsoft.com/office/drawing/2014/main" val="4147067161"/>
                    </a:ext>
                  </a:extLst>
                </a:gridCol>
                <a:gridCol w="399207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688786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  <a:gridCol w="1688786">
                  <a:extLst>
                    <a:ext uri="{9D8B030D-6E8A-4147-A177-3AD203B41FA5}">
                      <a16:colId xmlns:a16="http://schemas.microsoft.com/office/drawing/2014/main" val="5629128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 OR B</a:t>
                      </a:r>
                    </a:p>
                    <a:p>
                      <a:pPr algn="ctr"/>
                      <a:r>
                        <a:rPr lang="en-GB" i="1" dirty="0">
                          <a:solidFill>
                            <a:schemeClr val="accent4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(A OR B) AND C</a:t>
                      </a:r>
                    </a:p>
                    <a:p>
                      <a:pPr algn="ctr"/>
                      <a:r>
                        <a:rPr lang="en-GB" i="1" dirty="0">
                          <a:solidFill>
                            <a:schemeClr val="accent4"/>
                          </a:solidFill>
                        </a:rPr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148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7170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1047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528922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FF53B2F5-802E-411D-8F01-66C5189369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586" y="855549"/>
            <a:ext cx="3128491" cy="17542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B71FE4-A318-4AA0-82E6-3752AA1D07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6091" y="1244964"/>
            <a:ext cx="3128491" cy="17542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0DEE768-AC90-43F8-B860-58C780835CE2}"/>
              </a:ext>
            </a:extLst>
          </p:cNvPr>
          <p:cNvSpPr txBox="1"/>
          <p:nvPr/>
        </p:nvSpPr>
        <p:spPr>
          <a:xfrm>
            <a:off x="1097436" y="1103952"/>
            <a:ext cx="4651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rgbClr val="C00000"/>
                </a:solidFill>
              </a:rPr>
              <a:t>A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25A034-DC22-4021-A261-3BE79D99EACB}"/>
              </a:ext>
            </a:extLst>
          </p:cNvPr>
          <p:cNvSpPr txBox="1"/>
          <p:nvPr/>
        </p:nvSpPr>
        <p:spPr>
          <a:xfrm>
            <a:off x="1097436" y="1881874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rgbClr val="C00000"/>
                </a:solidFill>
              </a:rPr>
              <a:t>B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6A6B10-FD34-46CE-8B6D-3D7C1611A914}"/>
              </a:ext>
            </a:extLst>
          </p:cNvPr>
          <p:cNvSpPr txBox="1"/>
          <p:nvPr/>
        </p:nvSpPr>
        <p:spPr>
          <a:xfrm>
            <a:off x="4264342" y="2276026"/>
            <a:ext cx="4283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rgbClr val="C00000"/>
                </a:solidFill>
              </a:rPr>
              <a:t>C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0A3B78-869D-492B-A45F-E6FD6D4B64B2}"/>
              </a:ext>
            </a:extLst>
          </p:cNvPr>
          <p:cNvSpPr txBox="1"/>
          <p:nvPr/>
        </p:nvSpPr>
        <p:spPr>
          <a:xfrm>
            <a:off x="3885400" y="1282881"/>
            <a:ext cx="4764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chemeClr val="accent4"/>
                </a:solidFill>
              </a:rPr>
              <a:t>D</a:t>
            </a:r>
            <a:endParaRPr lang="en-GB" b="1" dirty="0">
              <a:solidFill>
                <a:schemeClr val="accent4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56754D-3298-4567-BC21-231112853A11}"/>
              </a:ext>
            </a:extLst>
          </p:cNvPr>
          <p:cNvSpPr txBox="1"/>
          <p:nvPr/>
        </p:nvSpPr>
        <p:spPr>
          <a:xfrm>
            <a:off x="7736595" y="1881874"/>
            <a:ext cx="4090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chemeClr val="accent4"/>
                </a:solidFill>
              </a:rPr>
              <a:t>E</a:t>
            </a:r>
            <a:endParaRPr lang="en-GB" b="1" dirty="0">
              <a:solidFill>
                <a:schemeClr val="accent4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38AD58-108F-4EFC-9B68-CE6B4CA3A9BE}"/>
              </a:ext>
            </a:extLst>
          </p:cNvPr>
          <p:cNvSpPr txBox="1"/>
          <p:nvPr/>
        </p:nvSpPr>
        <p:spPr>
          <a:xfrm>
            <a:off x="1798512" y="3700283"/>
            <a:ext cx="340158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C00000"/>
                </a:solidFill>
              </a:rPr>
              <a:t>0</a:t>
            </a:r>
          </a:p>
          <a:p>
            <a:r>
              <a:rPr lang="en-GB" sz="2400" dirty="0">
                <a:solidFill>
                  <a:srgbClr val="C00000"/>
                </a:solidFill>
              </a:rPr>
              <a:t>1</a:t>
            </a:r>
          </a:p>
          <a:p>
            <a:r>
              <a:rPr lang="en-GB" sz="2400" dirty="0">
                <a:solidFill>
                  <a:srgbClr val="C00000"/>
                </a:solidFill>
              </a:rPr>
              <a:t>2</a:t>
            </a:r>
          </a:p>
          <a:p>
            <a:r>
              <a:rPr lang="en-GB" sz="2400" dirty="0">
                <a:solidFill>
                  <a:srgbClr val="C00000"/>
                </a:solidFill>
              </a:rPr>
              <a:t>3</a:t>
            </a:r>
          </a:p>
          <a:p>
            <a:r>
              <a:rPr lang="en-GB" sz="2400" dirty="0">
                <a:solidFill>
                  <a:srgbClr val="C00000"/>
                </a:solidFill>
              </a:rPr>
              <a:t>4</a:t>
            </a:r>
          </a:p>
          <a:p>
            <a:r>
              <a:rPr lang="en-GB" sz="2400" dirty="0">
                <a:solidFill>
                  <a:srgbClr val="C00000"/>
                </a:solidFill>
              </a:rPr>
              <a:t>5</a:t>
            </a:r>
          </a:p>
          <a:p>
            <a:r>
              <a:rPr lang="en-GB" sz="2400" dirty="0">
                <a:solidFill>
                  <a:srgbClr val="C00000"/>
                </a:solidFill>
              </a:rPr>
              <a:t>6</a:t>
            </a:r>
          </a:p>
          <a:p>
            <a:r>
              <a:rPr lang="en-GB" sz="2400" dirty="0">
                <a:solidFill>
                  <a:srgbClr val="C00000"/>
                </a:solidFill>
              </a:rPr>
              <a:t>7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355E87D-D459-46ED-BC47-DE89BF6E36A5}"/>
              </a:ext>
            </a:extLst>
          </p:cNvPr>
          <p:cNvCxnSpPr>
            <a:cxnSpLocks/>
          </p:cNvCxnSpPr>
          <p:nvPr/>
        </p:nvCxnSpPr>
        <p:spPr>
          <a:xfrm>
            <a:off x="1498836" y="1421158"/>
            <a:ext cx="958614" cy="0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082B118-2B23-4C8D-A851-606BAF127F81}"/>
              </a:ext>
            </a:extLst>
          </p:cNvPr>
          <p:cNvCxnSpPr>
            <a:cxnSpLocks/>
          </p:cNvCxnSpPr>
          <p:nvPr/>
        </p:nvCxnSpPr>
        <p:spPr>
          <a:xfrm>
            <a:off x="3844405" y="1807607"/>
            <a:ext cx="1565795" cy="0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34610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9415110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logic circuits to truth tables to logic expressions and vice versa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BDBE54-E7CD-4EFA-97AE-6C4F27C9E4B3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600" dirty="0">
                <a:solidFill>
                  <a:schemeClr val="tx1"/>
                </a:solidFill>
              </a:rPr>
              <a:t>In the next two rows, A is 1 and B is 1. Both of these would result in D being 1.</a:t>
            </a:r>
          </a:p>
        </p:txBody>
      </p:sp>
      <p:graphicFrame>
        <p:nvGraphicFramePr>
          <p:cNvPr id="6" name="Table 14">
            <a:extLst>
              <a:ext uri="{FF2B5EF4-FFF2-40B4-BE49-F238E27FC236}">
                <a16:creationId xmlns:a16="http://schemas.microsoft.com/office/drawing/2014/main" id="{2BFE5F57-68FA-4671-84C3-D062E8055D2B}"/>
              </a:ext>
            </a:extLst>
          </p:cNvPr>
          <p:cNvGraphicFramePr>
            <a:graphicFrameLocks noGrp="1"/>
          </p:cNvGraphicFramePr>
          <p:nvPr/>
        </p:nvGraphicFramePr>
        <p:xfrm>
          <a:off x="2138670" y="3102371"/>
          <a:ext cx="4575193" cy="3606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99207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399207">
                  <a:extLst>
                    <a:ext uri="{9D8B030D-6E8A-4147-A177-3AD203B41FA5}">
                      <a16:colId xmlns:a16="http://schemas.microsoft.com/office/drawing/2014/main" val="4147067161"/>
                    </a:ext>
                  </a:extLst>
                </a:gridCol>
                <a:gridCol w="399207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688786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  <a:gridCol w="1688786">
                  <a:extLst>
                    <a:ext uri="{9D8B030D-6E8A-4147-A177-3AD203B41FA5}">
                      <a16:colId xmlns:a16="http://schemas.microsoft.com/office/drawing/2014/main" val="5629128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 OR B</a:t>
                      </a:r>
                    </a:p>
                    <a:p>
                      <a:pPr algn="ctr"/>
                      <a:r>
                        <a:rPr lang="en-GB" i="1" dirty="0">
                          <a:solidFill>
                            <a:schemeClr val="accent4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(A OR B) AND C</a:t>
                      </a:r>
                    </a:p>
                    <a:p>
                      <a:pPr algn="ctr"/>
                      <a:r>
                        <a:rPr lang="en-GB" i="1" dirty="0">
                          <a:solidFill>
                            <a:schemeClr val="accent4"/>
                          </a:solidFill>
                        </a:rPr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148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7170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1047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528922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FF53B2F5-802E-411D-8F01-66C5189369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586" y="855549"/>
            <a:ext cx="3128491" cy="17542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B71FE4-A318-4AA0-82E6-3752AA1D07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6091" y="1244964"/>
            <a:ext cx="3128491" cy="17542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0DEE768-AC90-43F8-B860-58C780835CE2}"/>
              </a:ext>
            </a:extLst>
          </p:cNvPr>
          <p:cNvSpPr txBox="1"/>
          <p:nvPr/>
        </p:nvSpPr>
        <p:spPr>
          <a:xfrm>
            <a:off x="1097436" y="1103952"/>
            <a:ext cx="4651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rgbClr val="C00000"/>
                </a:solidFill>
              </a:rPr>
              <a:t>A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25A034-DC22-4021-A261-3BE79D99EACB}"/>
              </a:ext>
            </a:extLst>
          </p:cNvPr>
          <p:cNvSpPr txBox="1"/>
          <p:nvPr/>
        </p:nvSpPr>
        <p:spPr>
          <a:xfrm>
            <a:off x="1097436" y="1881874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rgbClr val="C00000"/>
                </a:solidFill>
              </a:rPr>
              <a:t>B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6A6B10-FD34-46CE-8B6D-3D7C1611A914}"/>
              </a:ext>
            </a:extLst>
          </p:cNvPr>
          <p:cNvSpPr txBox="1"/>
          <p:nvPr/>
        </p:nvSpPr>
        <p:spPr>
          <a:xfrm>
            <a:off x="4264342" y="2276026"/>
            <a:ext cx="4283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rgbClr val="C00000"/>
                </a:solidFill>
              </a:rPr>
              <a:t>C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0A3B78-869D-492B-A45F-E6FD6D4B64B2}"/>
              </a:ext>
            </a:extLst>
          </p:cNvPr>
          <p:cNvSpPr txBox="1"/>
          <p:nvPr/>
        </p:nvSpPr>
        <p:spPr>
          <a:xfrm>
            <a:off x="3885400" y="1282881"/>
            <a:ext cx="4764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chemeClr val="accent4"/>
                </a:solidFill>
              </a:rPr>
              <a:t>D</a:t>
            </a:r>
            <a:endParaRPr lang="en-GB" b="1" dirty="0">
              <a:solidFill>
                <a:schemeClr val="accent4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56754D-3298-4567-BC21-231112853A11}"/>
              </a:ext>
            </a:extLst>
          </p:cNvPr>
          <p:cNvSpPr txBox="1"/>
          <p:nvPr/>
        </p:nvSpPr>
        <p:spPr>
          <a:xfrm>
            <a:off x="7736595" y="1881874"/>
            <a:ext cx="4090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chemeClr val="accent4"/>
                </a:solidFill>
              </a:rPr>
              <a:t>E</a:t>
            </a:r>
            <a:endParaRPr lang="en-GB" b="1" dirty="0">
              <a:solidFill>
                <a:schemeClr val="accent4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38AD58-108F-4EFC-9B68-CE6B4CA3A9BE}"/>
              </a:ext>
            </a:extLst>
          </p:cNvPr>
          <p:cNvSpPr txBox="1"/>
          <p:nvPr/>
        </p:nvSpPr>
        <p:spPr>
          <a:xfrm>
            <a:off x="1798512" y="3700283"/>
            <a:ext cx="340158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C00000"/>
                </a:solidFill>
              </a:rPr>
              <a:t>0</a:t>
            </a:r>
          </a:p>
          <a:p>
            <a:r>
              <a:rPr lang="en-GB" sz="2400" dirty="0">
                <a:solidFill>
                  <a:srgbClr val="C00000"/>
                </a:solidFill>
              </a:rPr>
              <a:t>1</a:t>
            </a:r>
          </a:p>
          <a:p>
            <a:r>
              <a:rPr lang="en-GB" sz="2400" dirty="0">
                <a:solidFill>
                  <a:srgbClr val="C00000"/>
                </a:solidFill>
              </a:rPr>
              <a:t>2</a:t>
            </a:r>
          </a:p>
          <a:p>
            <a:r>
              <a:rPr lang="en-GB" sz="2400" dirty="0">
                <a:solidFill>
                  <a:srgbClr val="C00000"/>
                </a:solidFill>
              </a:rPr>
              <a:t>3</a:t>
            </a:r>
          </a:p>
          <a:p>
            <a:r>
              <a:rPr lang="en-GB" sz="2400" dirty="0">
                <a:solidFill>
                  <a:srgbClr val="C00000"/>
                </a:solidFill>
              </a:rPr>
              <a:t>4</a:t>
            </a:r>
          </a:p>
          <a:p>
            <a:r>
              <a:rPr lang="en-GB" sz="2400" dirty="0">
                <a:solidFill>
                  <a:srgbClr val="C00000"/>
                </a:solidFill>
              </a:rPr>
              <a:t>5</a:t>
            </a:r>
          </a:p>
          <a:p>
            <a:r>
              <a:rPr lang="en-GB" sz="2400" dirty="0">
                <a:solidFill>
                  <a:srgbClr val="C00000"/>
                </a:solidFill>
              </a:rPr>
              <a:t>6</a:t>
            </a:r>
          </a:p>
          <a:p>
            <a:r>
              <a:rPr lang="en-GB" sz="2400" dirty="0">
                <a:solidFill>
                  <a:srgbClr val="C00000"/>
                </a:solidFill>
              </a:rPr>
              <a:t>7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355E87D-D459-46ED-BC47-DE89BF6E36A5}"/>
              </a:ext>
            </a:extLst>
          </p:cNvPr>
          <p:cNvCxnSpPr>
            <a:cxnSpLocks/>
          </p:cNvCxnSpPr>
          <p:nvPr/>
        </p:nvCxnSpPr>
        <p:spPr>
          <a:xfrm>
            <a:off x="1498836" y="1421158"/>
            <a:ext cx="958614" cy="0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082B118-2B23-4C8D-A851-606BAF127F81}"/>
              </a:ext>
            </a:extLst>
          </p:cNvPr>
          <p:cNvCxnSpPr>
            <a:cxnSpLocks/>
          </p:cNvCxnSpPr>
          <p:nvPr/>
        </p:nvCxnSpPr>
        <p:spPr>
          <a:xfrm>
            <a:off x="3844405" y="1807607"/>
            <a:ext cx="1565795" cy="0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A3C480F-6B69-4C2F-875A-1BE1262019F0}"/>
              </a:ext>
            </a:extLst>
          </p:cNvPr>
          <p:cNvCxnSpPr>
            <a:cxnSpLocks/>
          </p:cNvCxnSpPr>
          <p:nvPr/>
        </p:nvCxnSpPr>
        <p:spPr>
          <a:xfrm>
            <a:off x="1495586" y="2199826"/>
            <a:ext cx="958614" cy="0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0083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EBDBE54-E7CD-4EFA-97AE-6C4F27C9E4B3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We are finished with the OR gate, so we can move onto the AND gate.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This gate has two inputs, C and D. If we consider the first row, C is 0 and D is 0 – this means the output, E, will also be 0.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Both inputs to an AND gate must be 1 for the output to be 1.</a:t>
            </a:r>
          </a:p>
          <a:p>
            <a:pPr>
              <a:spcAft>
                <a:spcPts val="800"/>
              </a:spcAft>
              <a:buClr>
                <a:schemeClr val="tx1"/>
              </a:buClr>
            </a:pPr>
            <a:endParaRPr lang="en-GB" sz="1600" dirty="0">
              <a:solidFill>
                <a:schemeClr val="tx1"/>
              </a:solidFill>
            </a:endParaRPr>
          </a:p>
          <a:p>
            <a:pPr>
              <a:spcAft>
                <a:spcPts val="800"/>
              </a:spcAft>
              <a:buClr>
                <a:schemeClr val="tx1"/>
              </a:buClr>
            </a:pP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9415110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logic circuits to truth tables to logic expressions and vice versa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14">
            <a:extLst>
              <a:ext uri="{FF2B5EF4-FFF2-40B4-BE49-F238E27FC236}">
                <a16:creationId xmlns:a16="http://schemas.microsoft.com/office/drawing/2014/main" id="{2BFE5F57-68FA-4671-84C3-D062E8055D2B}"/>
              </a:ext>
            </a:extLst>
          </p:cNvPr>
          <p:cNvGraphicFramePr>
            <a:graphicFrameLocks noGrp="1"/>
          </p:cNvGraphicFramePr>
          <p:nvPr/>
        </p:nvGraphicFramePr>
        <p:xfrm>
          <a:off x="2138670" y="3102371"/>
          <a:ext cx="4575193" cy="3606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99207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399207">
                  <a:extLst>
                    <a:ext uri="{9D8B030D-6E8A-4147-A177-3AD203B41FA5}">
                      <a16:colId xmlns:a16="http://schemas.microsoft.com/office/drawing/2014/main" val="4147067161"/>
                    </a:ext>
                  </a:extLst>
                </a:gridCol>
                <a:gridCol w="399207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688786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  <a:gridCol w="1688786">
                  <a:extLst>
                    <a:ext uri="{9D8B030D-6E8A-4147-A177-3AD203B41FA5}">
                      <a16:colId xmlns:a16="http://schemas.microsoft.com/office/drawing/2014/main" val="5629128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 OR B</a:t>
                      </a:r>
                    </a:p>
                    <a:p>
                      <a:pPr algn="ctr"/>
                      <a:r>
                        <a:rPr lang="en-GB" i="1" dirty="0">
                          <a:solidFill>
                            <a:schemeClr val="accent4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(A OR B) AND C</a:t>
                      </a:r>
                    </a:p>
                    <a:p>
                      <a:pPr algn="ctr"/>
                      <a:r>
                        <a:rPr lang="en-GB" i="1" dirty="0">
                          <a:solidFill>
                            <a:schemeClr val="accent4"/>
                          </a:solidFill>
                        </a:rPr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148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7170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1047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528922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FF53B2F5-802E-411D-8F01-66C5189369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586" y="855549"/>
            <a:ext cx="3128491" cy="17542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B71FE4-A318-4AA0-82E6-3752AA1D07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6091" y="1244964"/>
            <a:ext cx="3128491" cy="17542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0DEE768-AC90-43F8-B860-58C780835CE2}"/>
              </a:ext>
            </a:extLst>
          </p:cNvPr>
          <p:cNvSpPr txBox="1"/>
          <p:nvPr/>
        </p:nvSpPr>
        <p:spPr>
          <a:xfrm>
            <a:off x="1097436" y="1103952"/>
            <a:ext cx="4651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rgbClr val="C00000"/>
                </a:solidFill>
              </a:rPr>
              <a:t>A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25A034-DC22-4021-A261-3BE79D99EACB}"/>
              </a:ext>
            </a:extLst>
          </p:cNvPr>
          <p:cNvSpPr txBox="1"/>
          <p:nvPr/>
        </p:nvSpPr>
        <p:spPr>
          <a:xfrm>
            <a:off x="1097436" y="1881874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rgbClr val="C00000"/>
                </a:solidFill>
              </a:rPr>
              <a:t>B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6A6B10-FD34-46CE-8B6D-3D7C1611A914}"/>
              </a:ext>
            </a:extLst>
          </p:cNvPr>
          <p:cNvSpPr txBox="1"/>
          <p:nvPr/>
        </p:nvSpPr>
        <p:spPr>
          <a:xfrm>
            <a:off x="4264342" y="2276026"/>
            <a:ext cx="4283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rgbClr val="C00000"/>
                </a:solidFill>
              </a:rPr>
              <a:t>C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0A3B78-869D-492B-A45F-E6FD6D4B64B2}"/>
              </a:ext>
            </a:extLst>
          </p:cNvPr>
          <p:cNvSpPr txBox="1"/>
          <p:nvPr/>
        </p:nvSpPr>
        <p:spPr>
          <a:xfrm>
            <a:off x="3885400" y="1282881"/>
            <a:ext cx="4764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chemeClr val="accent4"/>
                </a:solidFill>
              </a:rPr>
              <a:t>D</a:t>
            </a:r>
            <a:endParaRPr lang="en-GB" b="1" dirty="0">
              <a:solidFill>
                <a:schemeClr val="accent4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56754D-3298-4567-BC21-231112853A11}"/>
              </a:ext>
            </a:extLst>
          </p:cNvPr>
          <p:cNvSpPr txBox="1"/>
          <p:nvPr/>
        </p:nvSpPr>
        <p:spPr>
          <a:xfrm>
            <a:off x="7736595" y="1881874"/>
            <a:ext cx="4090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chemeClr val="accent4"/>
                </a:solidFill>
              </a:rPr>
              <a:t>E</a:t>
            </a:r>
            <a:endParaRPr lang="en-GB" b="1" dirty="0">
              <a:solidFill>
                <a:schemeClr val="accent4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38AD58-108F-4EFC-9B68-CE6B4CA3A9BE}"/>
              </a:ext>
            </a:extLst>
          </p:cNvPr>
          <p:cNvSpPr txBox="1"/>
          <p:nvPr/>
        </p:nvSpPr>
        <p:spPr>
          <a:xfrm>
            <a:off x="1798512" y="3700283"/>
            <a:ext cx="340158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C00000"/>
                </a:solidFill>
              </a:rPr>
              <a:t>0</a:t>
            </a:r>
          </a:p>
          <a:p>
            <a:r>
              <a:rPr lang="en-GB" sz="2400" dirty="0">
                <a:solidFill>
                  <a:srgbClr val="C00000"/>
                </a:solidFill>
              </a:rPr>
              <a:t>1</a:t>
            </a:r>
          </a:p>
          <a:p>
            <a:r>
              <a:rPr lang="en-GB" sz="2400" dirty="0">
                <a:solidFill>
                  <a:srgbClr val="C00000"/>
                </a:solidFill>
              </a:rPr>
              <a:t>2</a:t>
            </a:r>
          </a:p>
          <a:p>
            <a:r>
              <a:rPr lang="en-GB" sz="2400" dirty="0">
                <a:solidFill>
                  <a:srgbClr val="C00000"/>
                </a:solidFill>
              </a:rPr>
              <a:t>3</a:t>
            </a:r>
          </a:p>
          <a:p>
            <a:r>
              <a:rPr lang="en-GB" sz="2400" dirty="0">
                <a:solidFill>
                  <a:srgbClr val="C00000"/>
                </a:solidFill>
              </a:rPr>
              <a:t>4</a:t>
            </a:r>
          </a:p>
          <a:p>
            <a:r>
              <a:rPr lang="en-GB" sz="2400" dirty="0">
                <a:solidFill>
                  <a:srgbClr val="C00000"/>
                </a:solidFill>
              </a:rPr>
              <a:t>5</a:t>
            </a:r>
          </a:p>
          <a:p>
            <a:r>
              <a:rPr lang="en-GB" sz="2400" dirty="0">
                <a:solidFill>
                  <a:srgbClr val="C00000"/>
                </a:solidFill>
              </a:rPr>
              <a:t>6</a:t>
            </a:r>
          </a:p>
          <a:p>
            <a:r>
              <a:rPr lang="en-GB" sz="2400" dirty="0">
                <a:solidFill>
                  <a:srgbClr val="C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9751941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9415110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logic circuits to truth tables to logic expressions and vice versa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BDBE54-E7CD-4EFA-97AE-6C4F27C9E4B3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600" dirty="0">
                <a:solidFill>
                  <a:schemeClr val="tx1"/>
                </a:solidFill>
              </a:rPr>
              <a:t>In the next row, C is 1 and D is 0 – this would result in E being 0.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14">
            <a:extLst>
              <a:ext uri="{FF2B5EF4-FFF2-40B4-BE49-F238E27FC236}">
                <a16:creationId xmlns:a16="http://schemas.microsoft.com/office/drawing/2014/main" id="{2BFE5F57-68FA-4671-84C3-D062E8055D2B}"/>
              </a:ext>
            </a:extLst>
          </p:cNvPr>
          <p:cNvGraphicFramePr>
            <a:graphicFrameLocks noGrp="1"/>
          </p:cNvGraphicFramePr>
          <p:nvPr/>
        </p:nvGraphicFramePr>
        <p:xfrm>
          <a:off x="2138670" y="3102371"/>
          <a:ext cx="4575193" cy="3606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99207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399207">
                  <a:extLst>
                    <a:ext uri="{9D8B030D-6E8A-4147-A177-3AD203B41FA5}">
                      <a16:colId xmlns:a16="http://schemas.microsoft.com/office/drawing/2014/main" val="4147067161"/>
                    </a:ext>
                  </a:extLst>
                </a:gridCol>
                <a:gridCol w="399207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688786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  <a:gridCol w="1688786">
                  <a:extLst>
                    <a:ext uri="{9D8B030D-6E8A-4147-A177-3AD203B41FA5}">
                      <a16:colId xmlns:a16="http://schemas.microsoft.com/office/drawing/2014/main" val="5629128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 OR B</a:t>
                      </a:r>
                    </a:p>
                    <a:p>
                      <a:pPr algn="ctr"/>
                      <a:r>
                        <a:rPr lang="en-GB" i="1" dirty="0">
                          <a:solidFill>
                            <a:schemeClr val="accent4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(A OR B) AND C</a:t>
                      </a:r>
                    </a:p>
                    <a:p>
                      <a:pPr algn="ctr"/>
                      <a:r>
                        <a:rPr lang="en-GB" i="1" dirty="0">
                          <a:solidFill>
                            <a:schemeClr val="accent4"/>
                          </a:solidFill>
                        </a:rPr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148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7170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1047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528922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FF53B2F5-802E-411D-8F01-66C5189369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586" y="855549"/>
            <a:ext cx="3128491" cy="17542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B71FE4-A318-4AA0-82E6-3752AA1D07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6091" y="1244964"/>
            <a:ext cx="3128491" cy="17542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0DEE768-AC90-43F8-B860-58C780835CE2}"/>
              </a:ext>
            </a:extLst>
          </p:cNvPr>
          <p:cNvSpPr txBox="1"/>
          <p:nvPr/>
        </p:nvSpPr>
        <p:spPr>
          <a:xfrm>
            <a:off x="1097436" y="1103952"/>
            <a:ext cx="4651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rgbClr val="C00000"/>
                </a:solidFill>
              </a:rPr>
              <a:t>A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25A034-DC22-4021-A261-3BE79D99EACB}"/>
              </a:ext>
            </a:extLst>
          </p:cNvPr>
          <p:cNvSpPr txBox="1"/>
          <p:nvPr/>
        </p:nvSpPr>
        <p:spPr>
          <a:xfrm>
            <a:off x="1097436" y="1881874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rgbClr val="C00000"/>
                </a:solidFill>
              </a:rPr>
              <a:t>B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6A6B10-FD34-46CE-8B6D-3D7C1611A914}"/>
              </a:ext>
            </a:extLst>
          </p:cNvPr>
          <p:cNvSpPr txBox="1"/>
          <p:nvPr/>
        </p:nvSpPr>
        <p:spPr>
          <a:xfrm>
            <a:off x="4264342" y="2276026"/>
            <a:ext cx="4283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rgbClr val="C00000"/>
                </a:solidFill>
              </a:rPr>
              <a:t>C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0A3B78-869D-492B-A45F-E6FD6D4B64B2}"/>
              </a:ext>
            </a:extLst>
          </p:cNvPr>
          <p:cNvSpPr txBox="1"/>
          <p:nvPr/>
        </p:nvSpPr>
        <p:spPr>
          <a:xfrm>
            <a:off x="3885400" y="1282881"/>
            <a:ext cx="4764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chemeClr val="accent4"/>
                </a:solidFill>
              </a:rPr>
              <a:t>D</a:t>
            </a:r>
            <a:endParaRPr lang="en-GB" b="1" dirty="0">
              <a:solidFill>
                <a:schemeClr val="accent4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56754D-3298-4567-BC21-231112853A11}"/>
              </a:ext>
            </a:extLst>
          </p:cNvPr>
          <p:cNvSpPr txBox="1"/>
          <p:nvPr/>
        </p:nvSpPr>
        <p:spPr>
          <a:xfrm>
            <a:off x="7736595" y="1881874"/>
            <a:ext cx="4090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chemeClr val="accent4"/>
                </a:solidFill>
              </a:rPr>
              <a:t>E</a:t>
            </a:r>
            <a:endParaRPr lang="en-GB" b="1" dirty="0">
              <a:solidFill>
                <a:schemeClr val="accent4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38AD58-108F-4EFC-9B68-CE6B4CA3A9BE}"/>
              </a:ext>
            </a:extLst>
          </p:cNvPr>
          <p:cNvSpPr txBox="1"/>
          <p:nvPr/>
        </p:nvSpPr>
        <p:spPr>
          <a:xfrm>
            <a:off x="1798512" y="3700283"/>
            <a:ext cx="340158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C00000"/>
                </a:solidFill>
              </a:rPr>
              <a:t>0</a:t>
            </a:r>
          </a:p>
          <a:p>
            <a:r>
              <a:rPr lang="en-GB" sz="2400" dirty="0">
                <a:solidFill>
                  <a:srgbClr val="C00000"/>
                </a:solidFill>
              </a:rPr>
              <a:t>1</a:t>
            </a:r>
          </a:p>
          <a:p>
            <a:r>
              <a:rPr lang="en-GB" sz="2400" dirty="0">
                <a:solidFill>
                  <a:srgbClr val="C00000"/>
                </a:solidFill>
              </a:rPr>
              <a:t>2</a:t>
            </a:r>
          </a:p>
          <a:p>
            <a:r>
              <a:rPr lang="en-GB" sz="2400" dirty="0">
                <a:solidFill>
                  <a:srgbClr val="C00000"/>
                </a:solidFill>
              </a:rPr>
              <a:t>3</a:t>
            </a:r>
          </a:p>
          <a:p>
            <a:r>
              <a:rPr lang="en-GB" sz="2400" dirty="0">
                <a:solidFill>
                  <a:srgbClr val="C00000"/>
                </a:solidFill>
              </a:rPr>
              <a:t>4</a:t>
            </a:r>
          </a:p>
          <a:p>
            <a:r>
              <a:rPr lang="en-GB" sz="2400" dirty="0">
                <a:solidFill>
                  <a:srgbClr val="C00000"/>
                </a:solidFill>
              </a:rPr>
              <a:t>5</a:t>
            </a:r>
          </a:p>
          <a:p>
            <a:r>
              <a:rPr lang="en-GB" sz="2400" dirty="0">
                <a:solidFill>
                  <a:srgbClr val="C00000"/>
                </a:solidFill>
              </a:rPr>
              <a:t>6</a:t>
            </a:r>
          </a:p>
          <a:p>
            <a:r>
              <a:rPr lang="en-GB" sz="2400" dirty="0">
                <a:solidFill>
                  <a:srgbClr val="C00000"/>
                </a:solidFill>
              </a:rPr>
              <a:t>7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9BD02E8-0C2C-4A2E-BC11-28DD25AA2F18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4692664" y="2590720"/>
            <a:ext cx="701742" cy="8472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88183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9415110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logic circuits to truth tables to logic expressions and vice versa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BDBE54-E7CD-4EFA-97AE-6C4F27C9E4B3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600" dirty="0">
                <a:solidFill>
                  <a:schemeClr val="tx1"/>
                </a:solidFill>
              </a:rPr>
              <a:t>In the next row, C is 0 and D is 1 – this would result in E being 0.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14">
            <a:extLst>
              <a:ext uri="{FF2B5EF4-FFF2-40B4-BE49-F238E27FC236}">
                <a16:creationId xmlns:a16="http://schemas.microsoft.com/office/drawing/2014/main" id="{2BFE5F57-68FA-4671-84C3-D062E8055D2B}"/>
              </a:ext>
            </a:extLst>
          </p:cNvPr>
          <p:cNvGraphicFramePr>
            <a:graphicFrameLocks noGrp="1"/>
          </p:cNvGraphicFramePr>
          <p:nvPr/>
        </p:nvGraphicFramePr>
        <p:xfrm>
          <a:off x="2138670" y="3102371"/>
          <a:ext cx="4575193" cy="3606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99207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399207">
                  <a:extLst>
                    <a:ext uri="{9D8B030D-6E8A-4147-A177-3AD203B41FA5}">
                      <a16:colId xmlns:a16="http://schemas.microsoft.com/office/drawing/2014/main" val="4147067161"/>
                    </a:ext>
                  </a:extLst>
                </a:gridCol>
                <a:gridCol w="399207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688786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  <a:gridCol w="1688786">
                  <a:extLst>
                    <a:ext uri="{9D8B030D-6E8A-4147-A177-3AD203B41FA5}">
                      <a16:colId xmlns:a16="http://schemas.microsoft.com/office/drawing/2014/main" val="5629128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 OR B</a:t>
                      </a:r>
                    </a:p>
                    <a:p>
                      <a:pPr algn="ctr"/>
                      <a:r>
                        <a:rPr lang="en-GB" i="1" dirty="0">
                          <a:solidFill>
                            <a:schemeClr val="accent4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(A OR B) AND C</a:t>
                      </a:r>
                    </a:p>
                    <a:p>
                      <a:pPr algn="ctr"/>
                      <a:r>
                        <a:rPr lang="en-GB" i="1" dirty="0">
                          <a:solidFill>
                            <a:schemeClr val="accent4"/>
                          </a:solidFill>
                        </a:rPr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148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7170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1047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528922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FF53B2F5-802E-411D-8F01-66C5189369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586" y="855549"/>
            <a:ext cx="3128491" cy="17542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B71FE4-A318-4AA0-82E6-3752AA1D07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6091" y="1244964"/>
            <a:ext cx="3128491" cy="17542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0DEE768-AC90-43F8-B860-58C780835CE2}"/>
              </a:ext>
            </a:extLst>
          </p:cNvPr>
          <p:cNvSpPr txBox="1"/>
          <p:nvPr/>
        </p:nvSpPr>
        <p:spPr>
          <a:xfrm>
            <a:off x="1097436" y="1103952"/>
            <a:ext cx="4651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rgbClr val="C00000"/>
                </a:solidFill>
              </a:rPr>
              <a:t>A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25A034-DC22-4021-A261-3BE79D99EACB}"/>
              </a:ext>
            </a:extLst>
          </p:cNvPr>
          <p:cNvSpPr txBox="1"/>
          <p:nvPr/>
        </p:nvSpPr>
        <p:spPr>
          <a:xfrm>
            <a:off x="1097436" y="1881874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rgbClr val="C00000"/>
                </a:solidFill>
              </a:rPr>
              <a:t>B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6A6B10-FD34-46CE-8B6D-3D7C1611A914}"/>
              </a:ext>
            </a:extLst>
          </p:cNvPr>
          <p:cNvSpPr txBox="1"/>
          <p:nvPr/>
        </p:nvSpPr>
        <p:spPr>
          <a:xfrm>
            <a:off x="4264342" y="2276026"/>
            <a:ext cx="4283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rgbClr val="C00000"/>
                </a:solidFill>
              </a:rPr>
              <a:t>C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0A3B78-869D-492B-A45F-E6FD6D4B64B2}"/>
              </a:ext>
            </a:extLst>
          </p:cNvPr>
          <p:cNvSpPr txBox="1"/>
          <p:nvPr/>
        </p:nvSpPr>
        <p:spPr>
          <a:xfrm>
            <a:off x="3885400" y="1282881"/>
            <a:ext cx="4764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chemeClr val="accent4"/>
                </a:solidFill>
              </a:rPr>
              <a:t>D</a:t>
            </a:r>
            <a:endParaRPr lang="en-GB" b="1" dirty="0">
              <a:solidFill>
                <a:schemeClr val="accent4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56754D-3298-4567-BC21-231112853A11}"/>
              </a:ext>
            </a:extLst>
          </p:cNvPr>
          <p:cNvSpPr txBox="1"/>
          <p:nvPr/>
        </p:nvSpPr>
        <p:spPr>
          <a:xfrm>
            <a:off x="7736595" y="1881874"/>
            <a:ext cx="4090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chemeClr val="accent4"/>
                </a:solidFill>
              </a:rPr>
              <a:t>E</a:t>
            </a:r>
            <a:endParaRPr lang="en-GB" b="1" dirty="0">
              <a:solidFill>
                <a:schemeClr val="accent4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38AD58-108F-4EFC-9B68-CE6B4CA3A9BE}"/>
              </a:ext>
            </a:extLst>
          </p:cNvPr>
          <p:cNvSpPr txBox="1"/>
          <p:nvPr/>
        </p:nvSpPr>
        <p:spPr>
          <a:xfrm>
            <a:off x="1798512" y="3700283"/>
            <a:ext cx="340158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C00000"/>
                </a:solidFill>
              </a:rPr>
              <a:t>0</a:t>
            </a:r>
          </a:p>
          <a:p>
            <a:r>
              <a:rPr lang="en-GB" sz="2400" dirty="0">
                <a:solidFill>
                  <a:srgbClr val="C00000"/>
                </a:solidFill>
              </a:rPr>
              <a:t>1</a:t>
            </a:r>
          </a:p>
          <a:p>
            <a:r>
              <a:rPr lang="en-GB" sz="2400" dirty="0">
                <a:solidFill>
                  <a:srgbClr val="C00000"/>
                </a:solidFill>
              </a:rPr>
              <a:t>2</a:t>
            </a:r>
          </a:p>
          <a:p>
            <a:r>
              <a:rPr lang="en-GB" sz="2400" dirty="0">
                <a:solidFill>
                  <a:srgbClr val="C00000"/>
                </a:solidFill>
              </a:rPr>
              <a:t>3</a:t>
            </a:r>
          </a:p>
          <a:p>
            <a:r>
              <a:rPr lang="en-GB" sz="2400" dirty="0">
                <a:solidFill>
                  <a:srgbClr val="C00000"/>
                </a:solidFill>
              </a:rPr>
              <a:t>4</a:t>
            </a:r>
          </a:p>
          <a:p>
            <a:r>
              <a:rPr lang="en-GB" sz="2400" dirty="0">
                <a:solidFill>
                  <a:srgbClr val="C00000"/>
                </a:solidFill>
              </a:rPr>
              <a:t>5</a:t>
            </a:r>
          </a:p>
          <a:p>
            <a:r>
              <a:rPr lang="en-GB" sz="2400" dirty="0">
                <a:solidFill>
                  <a:srgbClr val="C00000"/>
                </a:solidFill>
              </a:rPr>
              <a:t>6</a:t>
            </a:r>
          </a:p>
          <a:p>
            <a:r>
              <a:rPr lang="en-GB" sz="2400" dirty="0">
                <a:solidFill>
                  <a:srgbClr val="C00000"/>
                </a:solidFill>
              </a:rPr>
              <a:t>7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DC8848A-E26E-4EB3-B250-D9FCB5701973}"/>
              </a:ext>
            </a:extLst>
          </p:cNvPr>
          <p:cNvCxnSpPr>
            <a:cxnSpLocks/>
          </p:cNvCxnSpPr>
          <p:nvPr/>
        </p:nvCxnSpPr>
        <p:spPr>
          <a:xfrm>
            <a:off x="3844405" y="1807607"/>
            <a:ext cx="1565795" cy="0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02206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9415110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logic circuits to truth tables to logic expressions and vice versa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BDBE54-E7CD-4EFA-97AE-6C4F27C9E4B3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600" dirty="0">
                <a:solidFill>
                  <a:schemeClr val="tx1"/>
                </a:solidFill>
              </a:rPr>
              <a:t>In the next row, C is 1 and D is 1 – this would result in E being 1.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14">
            <a:extLst>
              <a:ext uri="{FF2B5EF4-FFF2-40B4-BE49-F238E27FC236}">
                <a16:creationId xmlns:a16="http://schemas.microsoft.com/office/drawing/2014/main" id="{2BFE5F57-68FA-4671-84C3-D062E8055D2B}"/>
              </a:ext>
            </a:extLst>
          </p:cNvPr>
          <p:cNvGraphicFramePr>
            <a:graphicFrameLocks noGrp="1"/>
          </p:cNvGraphicFramePr>
          <p:nvPr/>
        </p:nvGraphicFramePr>
        <p:xfrm>
          <a:off x="2138670" y="3102371"/>
          <a:ext cx="4575193" cy="3606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99207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399207">
                  <a:extLst>
                    <a:ext uri="{9D8B030D-6E8A-4147-A177-3AD203B41FA5}">
                      <a16:colId xmlns:a16="http://schemas.microsoft.com/office/drawing/2014/main" val="4147067161"/>
                    </a:ext>
                  </a:extLst>
                </a:gridCol>
                <a:gridCol w="399207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688786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  <a:gridCol w="1688786">
                  <a:extLst>
                    <a:ext uri="{9D8B030D-6E8A-4147-A177-3AD203B41FA5}">
                      <a16:colId xmlns:a16="http://schemas.microsoft.com/office/drawing/2014/main" val="5629128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 OR B</a:t>
                      </a:r>
                    </a:p>
                    <a:p>
                      <a:pPr algn="ctr"/>
                      <a:r>
                        <a:rPr lang="en-GB" i="1" dirty="0">
                          <a:solidFill>
                            <a:schemeClr val="accent4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(A OR B) AND C</a:t>
                      </a:r>
                    </a:p>
                    <a:p>
                      <a:pPr algn="ctr"/>
                      <a:r>
                        <a:rPr lang="en-GB" i="1" dirty="0">
                          <a:solidFill>
                            <a:schemeClr val="accent4"/>
                          </a:solidFill>
                        </a:rPr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148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7170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1047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528922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FF53B2F5-802E-411D-8F01-66C5189369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586" y="855549"/>
            <a:ext cx="3128491" cy="17542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B71FE4-A318-4AA0-82E6-3752AA1D07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6091" y="1244964"/>
            <a:ext cx="3128491" cy="17542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0DEE768-AC90-43F8-B860-58C780835CE2}"/>
              </a:ext>
            </a:extLst>
          </p:cNvPr>
          <p:cNvSpPr txBox="1"/>
          <p:nvPr/>
        </p:nvSpPr>
        <p:spPr>
          <a:xfrm>
            <a:off x="1097436" y="1103952"/>
            <a:ext cx="4651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rgbClr val="C00000"/>
                </a:solidFill>
              </a:rPr>
              <a:t>A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25A034-DC22-4021-A261-3BE79D99EACB}"/>
              </a:ext>
            </a:extLst>
          </p:cNvPr>
          <p:cNvSpPr txBox="1"/>
          <p:nvPr/>
        </p:nvSpPr>
        <p:spPr>
          <a:xfrm>
            <a:off x="1097436" y="1881874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rgbClr val="C00000"/>
                </a:solidFill>
              </a:rPr>
              <a:t>B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6A6B10-FD34-46CE-8B6D-3D7C1611A914}"/>
              </a:ext>
            </a:extLst>
          </p:cNvPr>
          <p:cNvSpPr txBox="1"/>
          <p:nvPr/>
        </p:nvSpPr>
        <p:spPr>
          <a:xfrm>
            <a:off x="4264342" y="2276026"/>
            <a:ext cx="4283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rgbClr val="C00000"/>
                </a:solidFill>
              </a:rPr>
              <a:t>C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0A3B78-869D-492B-A45F-E6FD6D4B64B2}"/>
              </a:ext>
            </a:extLst>
          </p:cNvPr>
          <p:cNvSpPr txBox="1"/>
          <p:nvPr/>
        </p:nvSpPr>
        <p:spPr>
          <a:xfrm>
            <a:off x="3885400" y="1282881"/>
            <a:ext cx="4764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chemeClr val="accent4"/>
                </a:solidFill>
              </a:rPr>
              <a:t>D</a:t>
            </a:r>
            <a:endParaRPr lang="en-GB" b="1" dirty="0">
              <a:solidFill>
                <a:schemeClr val="accent4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56754D-3298-4567-BC21-231112853A11}"/>
              </a:ext>
            </a:extLst>
          </p:cNvPr>
          <p:cNvSpPr txBox="1"/>
          <p:nvPr/>
        </p:nvSpPr>
        <p:spPr>
          <a:xfrm>
            <a:off x="7736595" y="1881874"/>
            <a:ext cx="4090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chemeClr val="accent4"/>
                </a:solidFill>
              </a:rPr>
              <a:t>E</a:t>
            </a:r>
            <a:endParaRPr lang="en-GB" b="1" dirty="0">
              <a:solidFill>
                <a:schemeClr val="accent4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38AD58-108F-4EFC-9B68-CE6B4CA3A9BE}"/>
              </a:ext>
            </a:extLst>
          </p:cNvPr>
          <p:cNvSpPr txBox="1"/>
          <p:nvPr/>
        </p:nvSpPr>
        <p:spPr>
          <a:xfrm>
            <a:off x="1798512" y="3700283"/>
            <a:ext cx="340158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C00000"/>
                </a:solidFill>
              </a:rPr>
              <a:t>0</a:t>
            </a:r>
          </a:p>
          <a:p>
            <a:r>
              <a:rPr lang="en-GB" sz="2400" dirty="0">
                <a:solidFill>
                  <a:srgbClr val="C00000"/>
                </a:solidFill>
              </a:rPr>
              <a:t>1</a:t>
            </a:r>
          </a:p>
          <a:p>
            <a:r>
              <a:rPr lang="en-GB" sz="2400" dirty="0">
                <a:solidFill>
                  <a:srgbClr val="C00000"/>
                </a:solidFill>
              </a:rPr>
              <a:t>2</a:t>
            </a:r>
          </a:p>
          <a:p>
            <a:r>
              <a:rPr lang="en-GB" sz="2400" dirty="0">
                <a:solidFill>
                  <a:srgbClr val="C00000"/>
                </a:solidFill>
              </a:rPr>
              <a:t>3</a:t>
            </a:r>
          </a:p>
          <a:p>
            <a:r>
              <a:rPr lang="en-GB" sz="2400" dirty="0">
                <a:solidFill>
                  <a:srgbClr val="C00000"/>
                </a:solidFill>
              </a:rPr>
              <a:t>4</a:t>
            </a:r>
          </a:p>
          <a:p>
            <a:r>
              <a:rPr lang="en-GB" sz="2400" dirty="0">
                <a:solidFill>
                  <a:srgbClr val="C00000"/>
                </a:solidFill>
              </a:rPr>
              <a:t>5</a:t>
            </a:r>
          </a:p>
          <a:p>
            <a:r>
              <a:rPr lang="en-GB" sz="2400" dirty="0">
                <a:solidFill>
                  <a:srgbClr val="C00000"/>
                </a:solidFill>
              </a:rPr>
              <a:t>6</a:t>
            </a:r>
          </a:p>
          <a:p>
            <a:r>
              <a:rPr lang="en-GB" sz="2400" dirty="0">
                <a:solidFill>
                  <a:srgbClr val="C00000"/>
                </a:solidFill>
              </a:rPr>
              <a:t>7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2C39E0A-59C6-40F0-B14E-EDE77FDD0B1D}"/>
              </a:ext>
            </a:extLst>
          </p:cNvPr>
          <p:cNvCxnSpPr>
            <a:cxnSpLocks/>
          </p:cNvCxnSpPr>
          <p:nvPr/>
        </p:nvCxnSpPr>
        <p:spPr>
          <a:xfrm flipV="1">
            <a:off x="4692664" y="2590720"/>
            <a:ext cx="701742" cy="8472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8BCE9D8-66AD-48C7-A318-F874D45823F5}"/>
              </a:ext>
            </a:extLst>
          </p:cNvPr>
          <p:cNvCxnSpPr>
            <a:cxnSpLocks/>
          </p:cNvCxnSpPr>
          <p:nvPr/>
        </p:nvCxnSpPr>
        <p:spPr>
          <a:xfrm>
            <a:off x="3844405" y="1807607"/>
            <a:ext cx="1565795" cy="0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02CACA2-B4A9-49C2-8AA5-9C007EC931F3}"/>
              </a:ext>
            </a:extLst>
          </p:cNvPr>
          <p:cNvCxnSpPr>
            <a:cxnSpLocks/>
          </p:cNvCxnSpPr>
          <p:nvPr/>
        </p:nvCxnSpPr>
        <p:spPr>
          <a:xfrm flipV="1">
            <a:off x="6966266" y="2195514"/>
            <a:ext cx="701742" cy="8472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30322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9415110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logic circuits to truth tables to logic expressions and vice versa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BDBE54-E7CD-4EFA-97AE-6C4F27C9E4B3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600" dirty="0">
                <a:solidFill>
                  <a:schemeClr val="tx1"/>
                </a:solidFill>
              </a:rPr>
              <a:t>In the next row, C is 0 and D is 1 – this would result in E being 0.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14">
            <a:extLst>
              <a:ext uri="{FF2B5EF4-FFF2-40B4-BE49-F238E27FC236}">
                <a16:creationId xmlns:a16="http://schemas.microsoft.com/office/drawing/2014/main" id="{2BFE5F57-68FA-4671-84C3-D062E8055D2B}"/>
              </a:ext>
            </a:extLst>
          </p:cNvPr>
          <p:cNvGraphicFramePr>
            <a:graphicFrameLocks noGrp="1"/>
          </p:cNvGraphicFramePr>
          <p:nvPr/>
        </p:nvGraphicFramePr>
        <p:xfrm>
          <a:off x="2138670" y="3102371"/>
          <a:ext cx="4575193" cy="3606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99207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399207">
                  <a:extLst>
                    <a:ext uri="{9D8B030D-6E8A-4147-A177-3AD203B41FA5}">
                      <a16:colId xmlns:a16="http://schemas.microsoft.com/office/drawing/2014/main" val="4147067161"/>
                    </a:ext>
                  </a:extLst>
                </a:gridCol>
                <a:gridCol w="399207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688786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  <a:gridCol w="1688786">
                  <a:extLst>
                    <a:ext uri="{9D8B030D-6E8A-4147-A177-3AD203B41FA5}">
                      <a16:colId xmlns:a16="http://schemas.microsoft.com/office/drawing/2014/main" val="5629128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 OR B</a:t>
                      </a:r>
                    </a:p>
                    <a:p>
                      <a:pPr algn="ctr"/>
                      <a:r>
                        <a:rPr lang="en-GB" i="1" dirty="0">
                          <a:solidFill>
                            <a:schemeClr val="accent4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(A OR B) AND C</a:t>
                      </a:r>
                    </a:p>
                    <a:p>
                      <a:pPr algn="ctr"/>
                      <a:r>
                        <a:rPr lang="en-GB" i="1" dirty="0">
                          <a:solidFill>
                            <a:schemeClr val="accent4"/>
                          </a:solidFill>
                        </a:rPr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0148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7170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1047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528922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FF53B2F5-802E-411D-8F01-66C5189369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586" y="855549"/>
            <a:ext cx="3128491" cy="17542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B71FE4-A318-4AA0-82E6-3752AA1D07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6091" y="1244964"/>
            <a:ext cx="3128491" cy="17542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0DEE768-AC90-43F8-B860-58C780835CE2}"/>
              </a:ext>
            </a:extLst>
          </p:cNvPr>
          <p:cNvSpPr txBox="1"/>
          <p:nvPr/>
        </p:nvSpPr>
        <p:spPr>
          <a:xfrm>
            <a:off x="1097436" y="1103952"/>
            <a:ext cx="4651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rgbClr val="C00000"/>
                </a:solidFill>
              </a:rPr>
              <a:t>A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25A034-DC22-4021-A261-3BE79D99EACB}"/>
              </a:ext>
            </a:extLst>
          </p:cNvPr>
          <p:cNvSpPr txBox="1"/>
          <p:nvPr/>
        </p:nvSpPr>
        <p:spPr>
          <a:xfrm>
            <a:off x="1097436" y="1881874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rgbClr val="C00000"/>
                </a:solidFill>
              </a:rPr>
              <a:t>B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6A6B10-FD34-46CE-8B6D-3D7C1611A914}"/>
              </a:ext>
            </a:extLst>
          </p:cNvPr>
          <p:cNvSpPr txBox="1"/>
          <p:nvPr/>
        </p:nvSpPr>
        <p:spPr>
          <a:xfrm>
            <a:off x="4264342" y="2276026"/>
            <a:ext cx="4283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rgbClr val="C00000"/>
                </a:solidFill>
              </a:rPr>
              <a:t>C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0A3B78-869D-492B-A45F-E6FD6D4B64B2}"/>
              </a:ext>
            </a:extLst>
          </p:cNvPr>
          <p:cNvSpPr txBox="1"/>
          <p:nvPr/>
        </p:nvSpPr>
        <p:spPr>
          <a:xfrm>
            <a:off x="3885400" y="1282881"/>
            <a:ext cx="4764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chemeClr val="accent4"/>
                </a:solidFill>
              </a:rPr>
              <a:t>D</a:t>
            </a:r>
            <a:endParaRPr lang="en-GB" b="1" dirty="0">
              <a:solidFill>
                <a:schemeClr val="accent4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56754D-3298-4567-BC21-231112853A11}"/>
              </a:ext>
            </a:extLst>
          </p:cNvPr>
          <p:cNvSpPr txBox="1"/>
          <p:nvPr/>
        </p:nvSpPr>
        <p:spPr>
          <a:xfrm>
            <a:off x="7736595" y="1881874"/>
            <a:ext cx="4090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chemeClr val="accent4"/>
                </a:solidFill>
              </a:rPr>
              <a:t>E</a:t>
            </a:r>
            <a:endParaRPr lang="en-GB" b="1" dirty="0">
              <a:solidFill>
                <a:schemeClr val="accent4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38AD58-108F-4EFC-9B68-CE6B4CA3A9BE}"/>
              </a:ext>
            </a:extLst>
          </p:cNvPr>
          <p:cNvSpPr txBox="1"/>
          <p:nvPr/>
        </p:nvSpPr>
        <p:spPr>
          <a:xfrm>
            <a:off x="1798512" y="3700283"/>
            <a:ext cx="340158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C00000"/>
                </a:solidFill>
              </a:rPr>
              <a:t>0</a:t>
            </a:r>
          </a:p>
          <a:p>
            <a:r>
              <a:rPr lang="en-GB" sz="2400" dirty="0">
                <a:solidFill>
                  <a:srgbClr val="C00000"/>
                </a:solidFill>
              </a:rPr>
              <a:t>1</a:t>
            </a:r>
          </a:p>
          <a:p>
            <a:r>
              <a:rPr lang="en-GB" sz="2400" dirty="0">
                <a:solidFill>
                  <a:srgbClr val="C00000"/>
                </a:solidFill>
              </a:rPr>
              <a:t>2</a:t>
            </a:r>
          </a:p>
          <a:p>
            <a:r>
              <a:rPr lang="en-GB" sz="2400" dirty="0">
                <a:solidFill>
                  <a:srgbClr val="C00000"/>
                </a:solidFill>
              </a:rPr>
              <a:t>3</a:t>
            </a:r>
          </a:p>
          <a:p>
            <a:r>
              <a:rPr lang="en-GB" sz="2400" dirty="0">
                <a:solidFill>
                  <a:srgbClr val="C00000"/>
                </a:solidFill>
              </a:rPr>
              <a:t>4</a:t>
            </a:r>
          </a:p>
          <a:p>
            <a:r>
              <a:rPr lang="en-GB" sz="2400" dirty="0">
                <a:solidFill>
                  <a:srgbClr val="C00000"/>
                </a:solidFill>
              </a:rPr>
              <a:t>5</a:t>
            </a:r>
          </a:p>
          <a:p>
            <a:r>
              <a:rPr lang="en-GB" sz="2400" dirty="0">
                <a:solidFill>
                  <a:srgbClr val="C00000"/>
                </a:solidFill>
              </a:rPr>
              <a:t>6</a:t>
            </a:r>
          </a:p>
          <a:p>
            <a:r>
              <a:rPr lang="en-GB" sz="2400" dirty="0">
                <a:solidFill>
                  <a:srgbClr val="C00000"/>
                </a:solidFill>
              </a:rPr>
              <a:t>7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2DAC75D-1A1B-4983-A941-2771EDED3D58}"/>
              </a:ext>
            </a:extLst>
          </p:cNvPr>
          <p:cNvCxnSpPr>
            <a:cxnSpLocks/>
          </p:cNvCxnSpPr>
          <p:nvPr/>
        </p:nvCxnSpPr>
        <p:spPr>
          <a:xfrm>
            <a:off x="3844405" y="1807607"/>
            <a:ext cx="1565795" cy="0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94754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9415110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logic circuits to truth tables to logic expressions and vice versa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BDBE54-E7CD-4EFA-97AE-6C4F27C9E4B3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600" dirty="0">
                <a:solidFill>
                  <a:schemeClr val="tx1"/>
                </a:solidFill>
              </a:rPr>
              <a:t>In the next row, C is 1 and D is 1 – this would result in E being 1.</a:t>
            </a:r>
          </a:p>
        </p:txBody>
      </p:sp>
      <p:graphicFrame>
        <p:nvGraphicFramePr>
          <p:cNvPr id="6" name="Table 14">
            <a:extLst>
              <a:ext uri="{FF2B5EF4-FFF2-40B4-BE49-F238E27FC236}">
                <a16:creationId xmlns:a16="http://schemas.microsoft.com/office/drawing/2014/main" id="{2BFE5F57-68FA-4671-84C3-D062E8055D2B}"/>
              </a:ext>
            </a:extLst>
          </p:cNvPr>
          <p:cNvGraphicFramePr>
            <a:graphicFrameLocks noGrp="1"/>
          </p:cNvGraphicFramePr>
          <p:nvPr/>
        </p:nvGraphicFramePr>
        <p:xfrm>
          <a:off x="2138670" y="3102371"/>
          <a:ext cx="4575193" cy="3606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99207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399207">
                  <a:extLst>
                    <a:ext uri="{9D8B030D-6E8A-4147-A177-3AD203B41FA5}">
                      <a16:colId xmlns:a16="http://schemas.microsoft.com/office/drawing/2014/main" val="4147067161"/>
                    </a:ext>
                  </a:extLst>
                </a:gridCol>
                <a:gridCol w="399207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688786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  <a:gridCol w="1688786">
                  <a:extLst>
                    <a:ext uri="{9D8B030D-6E8A-4147-A177-3AD203B41FA5}">
                      <a16:colId xmlns:a16="http://schemas.microsoft.com/office/drawing/2014/main" val="5629128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 OR B</a:t>
                      </a:r>
                    </a:p>
                    <a:p>
                      <a:pPr algn="ctr"/>
                      <a:r>
                        <a:rPr lang="en-GB" i="1" dirty="0">
                          <a:solidFill>
                            <a:schemeClr val="accent4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(A OR B) AND C</a:t>
                      </a:r>
                    </a:p>
                    <a:p>
                      <a:pPr algn="ctr"/>
                      <a:r>
                        <a:rPr lang="en-GB" i="1" dirty="0">
                          <a:solidFill>
                            <a:schemeClr val="accent4"/>
                          </a:solidFill>
                        </a:rPr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148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170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1047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528922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FF53B2F5-802E-411D-8F01-66C5189369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586" y="855549"/>
            <a:ext cx="3128491" cy="17542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B71FE4-A318-4AA0-82E6-3752AA1D07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6091" y="1244964"/>
            <a:ext cx="3128491" cy="17542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0DEE768-AC90-43F8-B860-58C780835CE2}"/>
              </a:ext>
            </a:extLst>
          </p:cNvPr>
          <p:cNvSpPr txBox="1"/>
          <p:nvPr/>
        </p:nvSpPr>
        <p:spPr>
          <a:xfrm>
            <a:off x="1097436" y="1103952"/>
            <a:ext cx="4651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rgbClr val="C00000"/>
                </a:solidFill>
              </a:rPr>
              <a:t>A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25A034-DC22-4021-A261-3BE79D99EACB}"/>
              </a:ext>
            </a:extLst>
          </p:cNvPr>
          <p:cNvSpPr txBox="1"/>
          <p:nvPr/>
        </p:nvSpPr>
        <p:spPr>
          <a:xfrm>
            <a:off x="1097436" y="1881874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rgbClr val="C00000"/>
                </a:solidFill>
              </a:rPr>
              <a:t>B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6A6B10-FD34-46CE-8B6D-3D7C1611A914}"/>
              </a:ext>
            </a:extLst>
          </p:cNvPr>
          <p:cNvSpPr txBox="1"/>
          <p:nvPr/>
        </p:nvSpPr>
        <p:spPr>
          <a:xfrm>
            <a:off x="4264342" y="2276026"/>
            <a:ext cx="4283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rgbClr val="C00000"/>
                </a:solidFill>
              </a:rPr>
              <a:t>C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0A3B78-869D-492B-A45F-E6FD6D4B64B2}"/>
              </a:ext>
            </a:extLst>
          </p:cNvPr>
          <p:cNvSpPr txBox="1"/>
          <p:nvPr/>
        </p:nvSpPr>
        <p:spPr>
          <a:xfrm>
            <a:off x="3885400" y="1282881"/>
            <a:ext cx="4764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chemeClr val="accent4"/>
                </a:solidFill>
              </a:rPr>
              <a:t>D</a:t>
            </a:r>
            <a:endParaRPr lang="en-GB" b="1" dirty="0">
              <a:solidFill>
                <a:schemeClr val="accent4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56754D-3298-4567-BC21-231112853A11}"/>
              </a:ext>
            </a:extLst>
          </p:cNvPr>
          <p:cNvSpPr txBox="1"/>
          <p:nvPr/>
        </p:nvSpPr>
        <p:spPr>
          <a:xfrm>
            <a:off x="7736595" y="1881874"/>
            <a:ext cx="4090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chemeClr val="accent4"/>
                </a:solidFill>
              </a:rPr>
              <a:t>E</a:t>
            </a:r>
            <a:endParaRPr lang="en-GB" b="1" dirty="0">
              <a:solidFill>
                <a:schemeClr val="accent4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38AD58-108F-4EFC-9B68-CE6B4CA3A9BE}"/>
              </a:ext>
            </a:extLst>
          </p:cNvPr>
          <p:cNvSpPr txBox="1"/>
          <p:nvPr/>
        </p:nvSpPr>
        <p:spPr>
          <a:xfrm>
            <a:off x="1798512" y="3700283"/>
            <a:ext cx="340158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C00000"/>
                </a:solidFill>
              </a:rPr>
              <a:t>0</a:t>
            </a:r>
          </a:p>
          <a:p>
            <a:r>
              <a:rPr lang="en-GB" sz="2400" dirty="0">
                <a:solidFill>
                  <a:srgbClr val="C00000"/>
                </a:solidFill>
              </a:rPr>
              <a:t>1</a:t>
            </a:r>
          </a:p>
          <a:p>
            <a:r>
              <a:rPr lang="en-GB" sz="2400" dirty="0">
                <a:solidFill>
                  <a:srgbClr val="C00000"/>
                </a:solidFill>
              </a:rPr>
              <a:t>2</a:t>
            </a:r>
          </a:p>
          <a:p>
            <a:r>
              <a:rPr lang="en-GB" sz="2400" dirty="0">
                <a:solidFill>
                  <a:srgbClr val="C00000"/>
                </a:solidFill>
              </a:rPr>
              <a:t>3</a:t>
            </a:r>
          </a:p>
          <a:p>
            <a:r>
              <a:rPr lang="en-GB" sz="2400" dirty="0">
                <a:solidFill>
                  <a:srgbClr val="C00000"/>
                </a:solidFill>
              </a:rPr>
              <a:t>4</a:t>
            </a:r>
          </a:p>
          <a:p>
            <a:r>
              <a:rPr lang="en-GB" sz="2400" dirty="0">
                <a:solidFill>
                  <a:srgbClr val="C00000"/>
                </a:solidFill>
              </a:rPr>
              <a:t>5</a:t>
            </a:r>
          </a:p>
          <a:p>
            <a:r>
              <a:rPr lang="en-GB" sz="2400" dirty="0">
                <a:solidFill>
                  <a:srgbClr val="C00000"/>
                </a:solidFill>
              </a:rPr>
              <a:t>6</a:t>
            </a:r>
          </a:p>
          <a:p>
            <a:r>
              <a:rPr lang="en-GB" sz="2400" dirty="0">
                <a:solidFill>
                  <a:srgbClr val="C00000"/>
                </a:solidFill>
              </a:rPr>
              <a:t>7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272B436-91A2-436A-BDC1-5424CA278E47}"/>
              </a:ext>
            </a:extLst>
          </p:cNvPr>
          <p:cNvCxnSpPr>
            <a:cxnSpLocks/>
          </p:cNvCxnSpPr>
          <p:nvPr/>
        </p:nvCxnSpPr>
        <p:spPr>
          <a:xfrm flipV="1">
            <a:off x="4692664" y="2590720"/>
            <a:ext cx="701742" cy="8472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EC53A1E-C7EE-4E6B-B700-4D13BDCCAB11}"/>
              </a:ext>
            </a:extLst>
          </p:cNvPr>
          <p:cNvCxnSpPr>
            <a:cxnSpLocks/>
          </p:cNvCxnSpPr>
          <p:nvPr/>
        </p:nvCxnSpPr>
        <p:spPr>
          <a:xfrm>
            <a:off x="3844405" y="1807607"/>
            <a:ext cx="1565795" cy="0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8678561-EA3E-486F-85DF-247B931F4A2F}"/>
              </a:ext>
            </a:extLst>
          </p:cNvPr>
          <p:cNvCxnSpPr>
            <a:cxnSpLocks/>
          </p:cNvCxnSpPr>
          <p:nvPr/>
        </p:nvCxnSpPr>
        <p:spPr>
          <a:xfrm flipV="1">
            <a:off x="6966266" y="2195514"/>
            <a:ext cx="701742" cy="8472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82827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9415110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logic circuits to truth tables to logic expressions and vice versa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BDBE54-E7CD-4EFA-97AE-6C4F27C9E4B3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600" dirty="0">
                <a:solidFill>
                  <a:schemeClr val="tx1"/>
                </a:solidFill>
              </a:rPr>
              <a:t>In the next row, C is 0 and D is 1 – this would result in E being 0.</a:t>
            </a:r>
          </a:p>
        </p:txBody>
      </p:sp>
      <p:graphicFrame>
        <p:nvGraphicFramePr>
          <p:cNvPr id="6" name="Table 14">
            <a:extLst>
              <a:ext uri="{FF2B5EF4-FFF2-40B4-BE49-F238E27FC236}">
                <a16:creationId xmlns:a16="http://schemas.microsoft.com/office/drawing/2014/main" id="{2BFE5F57-68FA-4671-84C3-D062E8055D2B}"/>
              </a:ext>
            </a:extLst>
          </p:cNvPr>
          <p:cNvGraphicFramePr>
            <a:graphicFrameLocks noGrp="1"/>
          </p:cNvGraphicFramePr>
          <p:nvPr/>
        </p:nvGraphicFramePr>
        <p:xfrm>
          <a:off x="2138670" y="3102371"/>
          <a:ext cx="4575193" cy="3606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99207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399207">
                  <a:extLst>
                    <a:ext uri="{9D8B030D-6E8A-4147-A177-3AD203B41FA5}">
                      <a16:colId xmlns:a16="http://schemas.microsoft.com/office/drawing/2014/main" val="4147067161"/>
                    </a:ext>
                  </a:extLst>
                </a:gridCol>
                <a:gridCol w="399207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688786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  <a:gridCol w="1688786">
                  <a:extLst>
                    <a:ext uri="{9D8B030D-6E8A-4147-A177-3AD203B41FA5}">
                      <a16:colId xmlns:a16="http://schemas.microsoft.com/office/drawing/2014/main" val="5629128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 OR B</a:t>
                      </a:r>
                    </a:p>
                    <a:p>
                      <a:pPr algn="ctr"/>
                      <a:r>
                        <a:rPr lang="en-GB" i="1" dirty="0">
                          <a:solidFill>
                            <a:schemeClr val="accent4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(A OR B) AND C</a:t>
                      </a:r>
                    </a:p>
                    <a:p>
                      <a:pPr algn="ctr"/>
                      <a:r>
                        <a:rPr lang="en-GB" i="1" dirty="0">
                          <a:solidFill>
                            <a:schemeClr val="accent4"/>
                          </a:solidFill>
                        </a:rPr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148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7170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1047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528922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FF53B2F5-802E-411D-8F01-66C5189369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586" y="855549"/>
            <a:ext cx="3128491" cy="17542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B71FE4-A318-4AA0-82E6-3752AA1D07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6091" y="1244964"/>
            <a:ext cx="3128491" cy="17542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0DEE768-AC90-43F8-B860-58C780835CE2}"/>
              </a:ext>
            </a:extLst>
          </p:cNvPr>
          <p:cNvSpPr txBox="1"/>
          <p:nvPr/>
        </p:nvSpPr>
        <p:spPr>
          <a:xfrm>
            <a:off x="1097436" y="1103952"/>
            <a:ext cx="4651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rgbClr val="C00000"/>
                </a:solidFill>
              </a:rPr>
              <a:t>A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25A034-DC22-4021-A261-3BE79D99EACB}"/>
              </a:ext>
            </a:extLst>
          </p:cNvPr>
          <p:cNvSpPr txBox="1"/>
          <p:nvPr/>
        </p:nvSpPr>
        <p:spPr>
          <a:xfrm>
            <a:off x="1097436" y="1881874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rgbClr val="C00000"/>
                </a:solidFill>
              </a:rPr>
              <a:t>B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6A6B10-FD34-46CE-8B6D-3D7C1611A914}"/>
              </a:ext>
            </a:extLst>
          </p:cNvPr>
          <p:cNvSpPr txBox="1"/>
          <p:nvPr/>
        </p:nvSpPr>
        <p:spPr>
          <a:xfrm>
            <a:off x="4264342" y="2276026"/>
            <a:ext cx="4283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rgbClr val="C00000"/>
                </a:solidFill>
              </a:rPr>
              <a:t>C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0A3B78-869D-492B-A45F-E6FD6D4B64B2}"/>
              </a:ext>
            </a:extLst>
          </p:cNvPr>
          <p:cNvSpPr txBox="1"/>
          <p:nvPr/>
        </p:nvSpPr>
        <p:spPr>
          <a:xfrm>
            <a:off x="3885400" y="1282881"/>
            <a:ext cx="4764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chemeClr val="accent4"/>
                </a:solidFill>
              </a:rPr>
              <a:t>D</a:t>
            </a:r>
            <a:endParaRPr lang="en-GB" b="1" dirty="0">
              <a:solidFill>
                <a:schemeClr val="accent4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56754D-3298-4567-BC21-231112853A11}"/>
              </a:ext>
            </a:extLst>
          </p:cNvPr>
          <p:cNvSpPr txBox="1"/>
          <p:nvPr/>
        </p:nvSpPr>
        <p:spPr>
          <a:xfrm>
            <a:off x="7736595" y="1881874"/>
            <a:ext cx="4090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chemeClr val="accent4"/>
                </a:solidFill>
              </a:rPr>
              <a:t>E</a:t>
            </a:r>
            <a:endParaRPr lang="en-GB" b="1" dirty="0">
              <a:solidFill>
                <a:schemeClr val="accent4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38AD58-108F-4EFC-9B68-CE6B4CA3A9BE}"/>
              </a:ext>
            </a:extLst>
          </p:cNvPr>
          <p:cNvSpPr txBox="1"/>
          <p:nvPr/>
        </p:nvSpPr>
        <p:spPr>
          <a:xfrm>
            <a:off x="1798512" y="3700283"/>
            <a:ext cx="340158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C00000"/>
                </a:solidFill>
              </a:rPr>
              <a:t>0</a:t>
            </a:r>
          </a:p>
          <a:p>
            <a:r>
              <a:rPr lang="en-GB" sz="2400" dirty="0">
                <a:solidFill>
                  <a:srgbClr val="C00000"/>
                </a:solidFill>
              </a:rPr>
              <a:t>1</a:t>
            </a:r>
          </a:p>
          <a:p>
            <a:r>
              <a:rPr lang="en-GB" sz="2400" dirty="0">
                <a:solidFill>
                  <a:srgbClr val="C00000"/>
                </a:solidFill>
              </a:rPr>
              <a:t>2</a:t>
            </a:r>
          </a:p>
          <a:p>
            <a:r>
              <a:rPr lang="en-GB" sz="2400" dirty="0">
                <a:solidFill>
                  <a:srgbClr val="C00000"/>
                </a:solidFill>
              </a:rPr>
              <a:t>3</a:t>
            </a:r>
          </a:p>
          <a:p>
            <a:r>
              <a:rPr lang="en-GB" sz="2400" dirty="0">
                <a:solidFill>
                  <a:srgbClr val="C00000"/>
                </a:solidFill>
              </a:rPr>
              <a:t>4</a:t>
            </a:r>
          </a:p>
          <a:p>
            <a:r>
              <a:rPr lang="en-GB" sz="2400" dirty="0">
                <a:solidFill>
                  <a:srgbClr val="C00000"/>
                </a:solidFill>
              </a:rPr>
              <a:t>5</a:t>
            </a:r>
          </a:p>
          <a:p>
            <a:r>
              <a:rPr lang="en-GB" sz="2400" dirty="0">
                <a:solidFill>
                  <a:srgbClr val="C00000"/>
                </a:solidFill>
              </a:rPr>
              <a:t>6</a:t>
            </a:r>
          </a:p>
          <a:p>
            <a:r>
              <a:rPr lang="en-GB" sz="2400" dirty="0">
                <a:solidFill>
                  <a:srgbClr val="C00000"/>
                </a:solidFill>
              </a:rPr>
              <a:t>7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0E193BF-EF57-4909-9F6D-F6C38803F60C}"/>
              </a:ext>
            </a:extLst>
          </p:cNvPr>
          <p:cNvCxnSpPr>
            <a:cxnSpLocks/>
          </p:cNvCxnSpPr>
          <p:nvPr/>
        </p:nvCxnSpPr>
        <p:spPr>
          <a:xfrm>
            <a:off x="3844405" y="1807607"/>
            <a:ext cx="1565795" cy="0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07765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9415110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logic circuits to truth tables to logic expressions and vice versa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BDBE54-E7CD-4EFA-97AE-6C4F27C9E4B3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600" dirty="0">
                <a:solidFill>
                  <a:schemeClr val="tx1"/>
                </a:solidFill>
              </a:rPr>
              <a:t>In the next row, C is 1 and D is 1 – this would result in E being 1.</a:t>
            </a:r>
          </a:p>
        </p:txBody>
      </p:sp>
      <p:graphicFrame>
        <p:nvGraphicFramePr>
          <p:cNvPr id="6" name="Table 14">
            <a:extLst>
              <a:ext uri="{FF2B5EF4-FFF2-40B4-BE49-F238E27FC236}">
                <a16:creationId xmlns:a16="http://schemas.microsoft.com/office/drawing/2014/main" id="{2BFE5F57-68FA-4671-84C3-D062E8055D2B}"/>
              </a:ext>
            </a:extLst>
          </p:cNvPr>
          <p:cNvGraphicFramePr>
            <a:graphicFrameLocks noGrp="1"/>
          </p:cNvGraphicFramePr>
          <p:nvPr/>
        </p:nvGraphicFramePr>
        <p:xfrm>
          <a:off x="2138670" y="3102371"/>
          <a:ext cx="4575193" cy="3606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99207">
                  <a:extLst>
                    <a:ext uri="{9D8B030D-6E8A-4147-A177-3AD203B41FA5}">
                      <a16:colId xmlns:a16="http://schemas.microsoft.com/office/drawing/2014/main" val="348032489"/>
                    </a:ext>
                  </a:extLst>
                </a:gridCol>
                <a:gridCol w="399207">
                  <a:extLst>
                    <a:ext uri="{9D8B030D-6E8A-4147-A177-3AD203B41FA5}">
                      <a16:colId xmlns:a16="http://schemas.microsoft.com/office/drawing/2014/main" val="4147067161"/>
                    </a:ext>
                  </a:extLst>
                </a:gridCol>
                <a:gridCol w="399207">
                  <a:extLst>
                    <a:ext uri="{9D8B030D-6E8A-4147-A177-3AD203B41FA5}">
                      <a16:colId xmlns:a16="http://schemas.microsoft.com/office/drawing/2014/main" val="925555144"/>
                    </a:ext>
                  </a:extLst>
                </a:gridCol>
                <a:gridCol w="1688786">
                  <a:extLst>
                    <a:ext uri="{9D8B030D-6E8A-4147-A177-3AD203B41FA5}">
                      <a16:colId xmlns:a16="http://schemas.microsoft.com/office/drawing/2014/main" val="927292865"/>
                    </a:ext>
                  </a:extLst>
                </a:gridCol>
                <a:gridCol w="1688786">
                  <a:extLst>
                    <a:ext uri="{9D8B030D-6E8A-4147-A177-3AD203B41FA5}">
                      <a16:colId xmlns:a16="http://schemas.microsoft.com/office/drawing/2014/main" val="5629128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 OR B</a:t>
                      </a:r>
                    </a:p>
                    <a:p>
                      <a:pPr algn="ctr"/>
                      <a:r>
                        <a:rPr lang="en-GB" i="1" dirty="0">
                          <a:solidFill>
                            <a:schemeClr val="accent4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(A OR B) AND C</a:t>
                      </a:r>
                    </a:p>
                    <a:p>
                      <a:pPr algn="ctr"/>
                      <a:r>
                        <a:rPr lang="en-GB" i="1" dirty="0">
                          <a:solidFill>
                            <a:schemeClr val="accent4"/>
                          </a:solidFill>
                        </a:rPr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515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312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4046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253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272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148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7170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1047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528922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FF53B2F5-802E-411D-8F01-66C5189369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586" y="855549"/>
            <a:ext cx="3128491" cy="17542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B71FE4-A318-4AA0-82E6-3752AA1D07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6091" y="1244964"/>
            <a:ext cx="3128491" cy="17542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0DEE768-AC90-43F8-B860-58C780835CE2}"/>
              </a:ext>
            </a:extLst>
          </p:cNvPr>
          <p:cNvSpPr txBox="1"/>
          <p:nvPr/>
        </p:nvSpPr>
        <p:spPr>
          <a:xfrm>
            <a:off x="1097436" y="1103952"/>
            <a:ext cx="4651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rgbClr val="C00000"/>
                </a:solidFill>
              </a:rPr>
              <a:t>A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25A034-DC22-4021-A261-3BE79D99EACB}"/>
              </a:ext>
            </a:extLst>
          </p:cNvPr>
          <p:cNvSpPr txBox="1"/>
          <p:nvPr/>
        </p:nvSpPr>
        <p:spPr>
          <a:xfrm>
            <a:off x="1097436" y="1881874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rgbClr val="C00000"/>
                </a:solidFill>
              </a:rPr>
              <a:t>B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6A6B10-FD34-46CE-8B6D-3D7C1611A914}"/>
              </a:ext>
            </a:extLst>
          </p:cNvPr>
          <p:cNvSpPr txBox="1"/>
          <p:nvPr/>
        </p:nvSpPr>
        <p:spPr>
          <a:xfrm>
            <a:off x="4264342" y="2276026"/>
            <a:ext cx="4283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rgbClr val="C00000"/>
                </a:solidFill>
              </a:rPr>
              <a:t>C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0A3B78-869D-492B-A45F-E6FD6D4B64B2}"/>
              </a:ext>
            </a:extLst>
          </p:cNvPr>
          <p:cNvSpPr txBox="1"/>
          <p:nvPr/>
        </p:nvSpPr>
        <p:spPr>
          <a:xfrm>
            <a:off x="3885400" y="1282881"/>
            <a:ext cx="4764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chemeClr val="accent4"/>
                </a:solidFill>
              </a:rPr>
              <a:t>D</a:t>
            </a:r>
            <a:endParaRPr lang="en-GB" b="1" dirty="0">
              <a:solidFill>
                <a:schemeClr val="accent4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56754D-3298-4567-BC21-231112853A11}"/>
              </a:ext>
            </a:extLst>
          </p:cNvPr>
          <p:cNvSpPr txBox="1"/>
          <p:nvPr/>
        </p:nvSpPr>
        <p:spPr>
          <a:xfrm>
            <a:off x="7736595" y="1881874"/>
            <a:ext cx="4090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chemeClr val="accent4"/>
                </a:solidFill>
              </a:rPr>
              <a:t>E</a:t>
            </a:r>
            <a:endParaRPr lang="en-GB" b="1" dirty="0">
              <a:solidFill>
                <a:schemeClr val="accent4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38AD58-108F-4EFC-9B68-CE6B4CA3A9BE}"/>
              </a:ext>
            </a:extLst>
          </p:cNvPr>
          <p:cNvSpPr txBox="1"/>
          <p:nvPr/>
        </p:nvSpPr>
        <p:spPr>
          <a:xfrm>
            <a:off x="1798512" y="3700283"/>
            <a:ext cx="340158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C00000"/>
                </a:solidFill>
              </a:rPr>
              <a:t>0</a:t>
            </a:r>
          </a:p>
          <a:p>
            <a:r>
              <a:rPr lang="en-GB" sz="2400" dirty="0">
                <a:solidFill>
                  <a:srgbClr val="C00000"/>
                </a:solidFill>
              </a:rPr>
              <a:t>1</a:t>
            </a:r>
          </a:p>
          <a:p>
            <a:r>
              <a:rPr lang="en-GB" sz="2400" dirty="0">
                <a:solidFill>
                  <a:srgbClr val="C00000"/>
                </a:solidFill>
              </a:rPr>
              <a:t>2</a:t>
            </a:r>
          </a:p>
          <a:p>
            <a:r>
              <a:rPr lang="en-GB" sz="2400" dirty="0">
                <a:solidFill>
                  <a:srgbClr val="C00000"/>
                </a:solidFill>
              </a:rPr>
              <a:t>3</a:t>
            </a:r>
          </a:p>
          <a:p>
            <a:r>
              <a:rPr lang="en-GB" sz="2400" dirty="0">
                <a:solidFill>
                  <a:srgbClr val="C00000"/>
                </a:solidFill>
              </a:rPr>
              <a:t>4</a:t>
            </a:r>
          </a:p>
          <a:p>
            <a:r>
              <a:rPr lang="en-GB" sz="2400" dirty="0">
                <a:solidFill>
                  <a:srgbClr val="C00000"/>
                </a:solidFill>
              </a:rPr>
              <a:t>5</a:t>
            </a:r>
          </a:p>
          <a:p>
            <a:r>
              <a:rPr lang="en-GB" sz="2400" dirty="0">
                <a:solidFill>
                  <a:srgbClr val="C00000"/>
                </a:solidFill>
              </a:rPr>
              <a:t>6</a:t>
            </a:r>
          </a:p>
          <a:p>
            <a:r>
              <a:rPr lang="en-GB" sz="2400" dirty="0">
                <a:solidFill>
                  <a:srgbClr val="C00000"/>
                </a:solidFill>
              </a:rPr>
              <a:t>7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7F23871-32E8-4EE9-A1F0-429963CA9262}"/>
              </a:ext>
            </a:extLst>
          </p:cNvPr>
          <p:cNvCxnSpPr>
            <a:cxnSpLocks/>
          </p:cNvCxnSpPr>
          <p:nvPr/>
        </p:nvCxnSpPr>
        <p:spPr>
          <a:xfrm flipV="1">
            <a:off x="4692664" y="2590720"/>
            <a:ext cx="701742" cy="8472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FBFC391-072B-41F2-940E-1BCCC985B69B}"/>
              </a:ext>
            </a:extLst>
          </p:cNvPr>
          <p:cNvCxnSpPr>
            <a:cxnSpLocks/>
          </p:cNvCxnSpPr>
          <p:nvPr/>
        </p:nvCxnSpPr>
        <p:spPr>
          <a:xfrm>
            <a:off x="3844405" y="1807607"/>
            <a:ext cx="1565795" cy="0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B3C2F36-B215-4D51-9A46-91D78A05CF34}"/>
              </a:ext>
            </a:extLst>
          </p:cNvPr>
          <p:cNvCxnSpPr>
            <a:cxnSpLocks/>
          </p:cNvCxnSpPr>
          <p:nvPr/>
        </p:nvCxnSpPr>
        <p:spPr>
          <a:xfrm flipV="1">
            <a:off x="6966266" y="2195514"/>
            <a:ext cx="701742" cy="8472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55420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9415110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logic circuits to truth tables to logic expressions and vice versa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BDBE54-E7CD-4EFA-97AE-6C4F27C9E4B3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Let’s try constructing a </a:t>
            </a:r>
            <a:r>
              <a:rPr lang="en-GB" sz="1600" b="1" dirty="0">
                <a:solidFill>
                  <a:schemeClr val="tx1"/>
                </a:solidFill>
              </a:rPr>
              <a:t>logic expression</a:t>
            </a:r>
            <a:r>
              <a:rPr lang="en-GB" sz="1600" dirty="0">
                <a:solidFill>
                  <a:schemeClr val="tx1"/>
                </a:solidFill>
              </a:rPr>
              <a:t> from a </a:t>
            </a:r>
            <a:r>
              <a:rPr lang="en-GB" sz="1600" b="1" dirty="0">
                <a:solidFill>
                  <a:schemeClr val="tx1"/>
                </a:solidFill>
              </a:rPr>
              <a:t>logic circuit</a:t>
            </a:r>
            <a:r>
              <a:rPr lang="en-GB" sz="1600" dirty="0">
                <a:solidFill>
                  <a:schemeClr val="tx1"/>
                </a:solidFill>
              </a:rPr>
              <a:t>.</a:t>
            </a:r>
          </a:p>
          <a:p>
            <a:pPr>
              <a:spcAft>
                <a:spcPts val="800"/>
              </a:spcAft>
              <a:buClr>
                <a:schemeClr val="tx1"/>
              </a:buClr>
            </a:pPr>
            <a:r>
              <a:rPr lang="en-GB" sz="1600" dirty="0">
                <a:solidFill>
                  <a:schemeClr val="tx1"/>
                </a:solidFill>
              </a:rPr>
              <a:t>The final output of the</a:t>
            </a:r>
            <a:r>
              <a:rPr lang="en-GB" sz="1600" b="1" dirty="0">
                <a:solidFill>
                  <a:schemeClr val="tx1"/>
                </a:solidFill>
              </a:rPr>
              <a:t> </a:t>
            </a:r>
            <a:r>
              <a:rPr lang="en-GB" sz="1600" dirty="0">
                <a:solidFill>
                  <a:schemeClr val="tx1"/>
                </a:solidFill>
              </a:rPr>
              <a:t>diagram is D, so we start the expression with: D =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DC6AE80-FBFA-47BD-A241-E20AC5A00625}"/>
              </a:ext>
            </a:extLst>
          </p:cNvPr>
          <p:cNvSpPr/>
          <p:nvPr/>
        </p:nvSpPr>
        <p:spPr>
          <a:xfrm>
            <a:off x="-194592" y="2285152"/>
            <a:ext cx="131005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</a:rPr>
              <a:t>B</a:t>
            </a: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9D4B3D4-BB87-4BA1-9862-22CE349B20D2}"/>
              </a:ext>
            </a:extLst>
          </p:cNvPr>
          <p:cNvSpPr/>
          <p:nvPr/>
        </p:nvSpPr>
        <p:spPr>
          <a:xfrm>
            <a:off x="-350102" y="4710033"/>
            <a:ext cx="131005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</a:rPr>
              <a:t>C</a:t>
            </a:r>
            <a:endParaRPr lang="en-GB" dirty="0">
              <a:solidFill>
                <a:srgbClr val="C00000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2BB7CA6-5C52-472A-A71E-52D44934C61C}"/>
              </a:ext>
            </a:extLst>
          </p:cNvPr>
          <p:cNvGrpSpPr/>
          <p:nvPr/>
        </p:nvGrpSpPr>
        <p:grpSpPr>
          <a:xfrm>
            <a:off x="-178453" y="1075981"/>
            <a:ext cx="8934989" cy="4968671"/>
            <a:chOff x="-178453" y="1075981"/>
            <a:chExt cx="8934989" cy="4968671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655FA6FF-7F5F-4324-B4BE-A8F7966BBF7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49603"/>
            <a:stretch/>
          </p:blipFill>
          <p:spPr>
            <a:xfrm>
              <a:off x="460434" y="1075981"/>
              <a:ext cx="4568766" cy="4968671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A2865AE-3D01-4C88-8187-B3B0052C8F2E}"/>
                </a:ext>
              </a:extLst>
            </p:cNvPr>
            <p:cNvSpPr/>
            <p:nvPr/>
          </p:nvSpPr>
          <p:spPr>
            <a:xfrm>
              <a:off x="1603892" y="4710034"/>
              <a:ext cx="131005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</a:rPr>
                <a:t>NOT</a:t>
              </a:r>
              <a:endParaRPr lang="en-GB" dirty="0">
                <a:solidFill>
                  <a:srgbClr val="C00000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E0CE782-6475-438E-B022-D61C6C1FA626}"/>
                </a:ext>
              </a:extLst>
            </p:cNvPr>
            <p:cNvSpPr/>
            <p:nvPr/>
          </p:nvSpPr>
          <p:spPr>
            <a:xfrm>
              <a:off x="1737242" y="1823959"/>
              <a:ext cx="131005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</a:rPr>
                <a:t>AND</a:t>
              </a:r>
              <a:endParaRPr lang="en-GB" dirty="0">
                <a:solidFill>
                  <a:srgbClr val="C00000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C10692C-A274-4B02-802E-48C5F4AA02D0}"/>
                </a:ext>
              </a:extLst>
            </p:cNvPr>
            <p:cNvSpPr/>
            <p:nvPr/>
          </p:nvSpPr>
          <p:spPr>
            <a:xfrm>
              <a:off x="-178453" y="1388179"/>
              <a:ext cx="131005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</a:rPr>
                <a:t>A</a:t>
              </a:r>
              <a:endParaRPr lang="en-GB" dirty="0">
                <a:solidFill>
                  <a:srgbClr val="C00000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1B8B74D-7C24-4202-A17F-5B098193D541}"/>
                </a:ext>
              </a:extLst>
            </p:cNvPr>
            <p:cNvSpPr/>
            <p:nvPr/>
          </p:nvSpPr>
          <p:spPr>
            <a:xfrm>
              <a:off x="7446484" y="3108741"/>
              <a:ext cx="1310052" cy="584775"/>
            </a:xfrm>
            <a:prstGeom prst="rect">
              <a:avLst/>
            </a:prstGeom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  <a:effectLst>
                    <a:glow rad="228600">
                      <a:schemeClr val="accent2">
                        <a:satMod val="175000"/>
                        <a:alpha val="40000"/>
                      </a:schemeClr>
                    </a:glow>
                  </a:effectLst>
                </a:rPr>
                <a:t>D</a:t>
              </a:r>
              <a:endParaRPr lang="en-GB" dirty="0">
                <a:solidFill>
                  <a:srgbClr val="C00000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F72FDB57-F158-4E83-B27B-F047110B46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8479"/>
            <a:stretch/>
          </p:blipFill>
          <p:spPr>
            <a:xfrm>
              <a:off x="4991521" y="1075981"/>
              <a:ext cx="2857573" cy="4968671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9354260-AECD-4EC9-8D65-EFBE9F7172D4}"/>
                </a:ext>
              </a:extLst>
            </p:cNvPr>
            <p:cNvSpPr/>
            <p:nvPr/>
          </p:nvSpPr>
          <p:spPr>
            <a:xfrm>
              <a:off x="5464874" y="3090783"/>
              <a:ext cx="131005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</a:rPr>
                <a:t>OR</a:t>
              </a:r>
              <a:endParaRPr lang="en-GB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9F60D9F-F693-41BA-B41C-F011E56EF4C8}"/>
              </a:ext>
            </a:extLst>
          </p:cNvPr>
          <p:cNvGrpSpPr/>
          <p:nvPr/>
        </p:nvGrpSpPr>
        <p:grpSpPr>
          <a:xfrm>
            <a:off x="2601717" y="5762969"/>
            <a:ext cx="5726313" cy="919357"/>
            <a:chOff x="6170218" y="824087"/>
            <a:chExt cx="5726313" cy="919357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6026EB4-C2BC-4318-845C-BEFD4F37ADDD}"/>
                </a:ext>
              </a:extLst>
            </p:cNvPr>
            <p:cNvSpPr/>
            <p:nvPr/>
          </p:nvSpPr>
          <p:spPr>
            <a:xfrm>
              <a:off x="6170218" y="824087"/>
              <a:ext cx="4837449" cy="3755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Logic expression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30CA746-5B5E-4A34-BAC1-F6423FBE243C}"/>
                </a:ext>
              </a:extLst>
            </p:cNvPr>
            <p:cNvSpPr/>
            <p:nvPr/>
          </p:nvSpPr>
          <p:spPr>
            <a:xfrm>
              <a:off x="6260841" y="1186726"/>
              <a:ext cx="5635690" cy="5567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2400" b="1" dirty="0">
                  <a:solidFill>
                    <a:srgbClr val="C00000"/>
                  </a:solidFill>
                </a:rPr>
                <a:t>D =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458778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9415110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logic circuits to truth tables to logic expressions and vice versa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BDBE54-E7CD-4EFA-97AE-6C4F27C9E4B3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There are two gates feeding into the </a:t>
            </a:r>
            <a:r>
              <a:rPr lang="en-GB" sz="1600" b="1" dirty="0">
                <a:solidFill>
                  <a:schemeClr val="tx1"/>
                </a:solidFill>
              </a:rPr>
              <a:t>OR</a:t>
            </a:r>
            <a:r>
              <a:rPr lang="en-GB" sz="1600" dirty="0">
                <a:solidFill>
                  <a:schemeClr val="tx1"/>
                </a:solidFill>
              </a:rPr>
              <a:t> gate. The first is an </a:t>
            </a:r>
            <a:r>
              <a:rPr lang="en-GB" sz="1600" b="1" dirty="0">
                <a:solidFill>
                  <a:schemeClr val="tx1"/>
                </a:solidFill>
              </a:rPr>
              <a:t>AND</a:t>
            </a:r>
            <a:r>
              <a:rPr lang="en-GB" sz="1600" dirty="0">
                <a:solidFill>
                  <a:schemeClr val="tx1"/>
                </a:solidFill>
              </a:rPr>
              <a:t> gate with the inputs A and B.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The </a:t>
            </a:r>
            <a:r>
              <a:rPr lang="en-GB" sz="1600" b="1" dirty="0">
                <a:solidFill>
                  <a:schemeClr val="tx1"/>
                </a:solidFill>
              </a:rPr>
              <a:t>AND</a:t>
            </a:r>
            <a:r>
              <a:rPr lang="en-GB" sz="1600" dirty="0">
                <a:solidFill>
                  <a:schemeClr val="tx1"/>
                </a:solidFill>
              </a:rPr>
              <a:t> gate can be represented as: 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(A AND B)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DC6AE80-FBFA-47BD-A241-E20AC5A00625}"/>
              </a:ext>
            </a:extLst>
          </p:cNvPr>
          <p:cNvSpPr/>
          <p:nvPr/>
        </p:nvSpPr>
        <p:spPr>
          <a:xfrm>
            <a:off x="-194592" y="2285152"/>
            <a:ext cx="131005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B</a:t>
            </a:r>
            <a:endParaRPr lang="en-GB" dirty="0">
              <a:solidFill>
                <a:srgbClr val="C00000"/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9D4B3D4-BB87-4BA1-9862-22CE349B20D2}"/>
              </a:ext>
            </a:extLst>
          </p:cNvPr>
          <p:cNvSpPr/>
          <p:nvPr/>
        </p:nvSpPr>
        <p:spPr>
          <a:xfrm>
            <a:off x="-350102" y="4710033"/>
            <a:ext cx="131005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</a:rPr>
              <a:t>C</a:t>
            </a:r>
            <a:endParaRPr lang="en-GB" dirty="0">
              <a:solidFill>
                <a:srgbClr val="C00000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2BB7CA6-5C52-472A-A71E-52D44934C61C}"/>
              </a:ext>
            </a:extLst>
          </p:cNvPr>
          <p:cNvGrpSpPr/>
          <p:nvPr/>
        </p:nvGrpSpPr>
        <p:grpSpPr>
          <a:xfrm>
            <a:off x="-178453" y="1075981"/>
            <a:ext cx="8934989" cy="4968671"/>
            <a:chOff x="-178453" y="1075981"/>
            <a:chExt cx="8934989" cy="4968671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655FA6FF-7F5F-4324-B4BE-A8F7966BBF7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49603"/>
            <a:stretch/>
          </p:blipFill>
          <p:spPr>
            <a:xfrm>
              <a:off x="460434" y="1075981"/>
              <a:ext cx="4568766" cy="4968671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A2865AE-3D01-4C88-8187-B3B0052C8F2E}"/>
                </a:ext>
              </a:extLst>
            </p:cNvPr>
            <p:cNvSpPr/>
            <p:nvPr/>
          </p:nvSpPr>
          <p:spPr>
            <a:xfrm>
              <a:off x="1603892" y="4710034"/>
              <a:ext cx="131005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</a:rPr>
                <a:t>NOT</a:t>
              </a:r>
              <a:endParaRPr lang="en-GB" dirty="0">
                <a:solidFill>
                  <a:srgbClr val="C00000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E0CE782-6475-438E-B022-D61C6C1FA626}"/>
                </a:ext>
              </a:extLst>
            </p:cNvPr>
            <p:cNvSpPr/>
            <p:nvPr/>
          </p:nvSpPr>
          <p:spPr>
            <a:xfrm>
              <a:off x="1737242" y="1823959"/>
              <a:ext cx="131005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  <a:effectLst>
                    <a:glow rad="228600">
                      <a:schemeClr val="accent2">
                        <a:satMod val="175000"/>
                        <a:alpha val="40000"/>
                      </a:schemeClr>
                    </a:glow>
                  </a:effectLst>
                </a:rPr>
                <a:t>AND</a:t>
              </a:r>
              <a:endParaRPr lang="en-GB" dirty="0">
                <a:solidFill>
                  <a:srgbClr val="C00000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C10692C-A274-4B02-802E-48C5F4AA02D0}"/>
                </a:ext>
              </a:extLst>
            </p:cNvPr>
            <p:cNvSpPr/>
            <p:nvPr/>
          </p:nvSpPr>
          <p:spPr>
            <a:xfrm>
              <a:off x="-178453" y="1388179"/>
              <a:ext cx="131005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  <a:effectLst>
                    <a:glow rad="228600">
                      <a:schemeClr val="accent2">
                        <a:satMod val="175000"/>
                        <a:alpha val="40000"/>
                      </a:schemeClr>
                    </a:glow>
                  </a:effectLst>
                </a:rPr>
                <a:t>A</a:t>
              </a:r>
              <a:endParaRPr lang="en-GB" dirty="0">
                <a:solidFill>
                  <a:srgbClr val="C00000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1B8B74D-7C24-4202-A17F-5B098193D541}"/>
                </a:ext>
              </a:extLst>
            </p:cNvPr>
            <p:cNvSpPr/>
            <p:nvPr/>
          </p:nvSpPr>
          <p:spPr>
            <a:xfrm>
              <a:off x="7446484" y="3108741"/>
              <a:ext cx="1310052" cy="584775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  <a:effectLst/>
                </a:rPr>
                <a:t>D</a:t>
              </a:r>
              <a:endParaRPr lang="en-GB" dirty="0">
                <a:solidFill>
                  <a:srgbClr val="C00000"/>
                </a:solidFill>
                <a:effectLst/>
              </a:endParaRP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F72FDB57-F158-4E83-B27B-F047110B46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8479"/>
            <a:stretch/>
          </p:blipFill>
          <p:spPr>
            <a:xfrm>
              <a:off x="4991521" y="1075981"/>
              <a:ext cx="2857573" cy="4968671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9354260-AECD-4EC9-8D65-EFBE9F7172D4}"/>
                </a:ext>
              </a:extLst>
            </p:cNvPr>
            <p:cNvSpPr/>
            <p:nvPr/>
          </p:nvSpPr>
          <p:spPr>
            <a:xfrm>
              <a:off x="5464874" y="3090783"/>
              <a:ext cx="131005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</a:rPr>
                <a:t>OR</a:t>
              </a:r>
              <a:endParaRPr lang="en-GB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9F60D9F-F693-41BA-B41C-F011E56EF4C8}"/>
              </a:ext>
            </a:extLst>
          </p:cNvPr>
          <p:cNvGrpSpPr/>
          <p:nvPr/>
        </p:nvGrpSpPr>
        <p:grpSpPr>
          <a:xfrm>
            <a:off x="2601717" y="5762969"/>
            <a:ext cx="5726313" cy="919357"/>
            <a:chOff x="6170218" y="824087"/>
            <a:chExt cx="5726313" cy="919357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6026EB4-C2BC-4318-845C-BEFD4F37ADDD}"/>
                </a:ext>
              </a:extLst>
            </p:cNvPr>
            <p:cNvSpPr/>
            <p:nvPr/>
          </p:nvSpPr>
          <p:spPr>
            <a:xfrm>
              <a:off x="6170218" y="824087"/>
              <a:ext cx="4837449" cy="3755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Logic expression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30CA746-5B5E-4A34-BAC1-F6423FBE243C}"/>
                </a:ext>
              </a:extLst>
            </p:cNvPr>
            <p:cNvSpPr/>
            <p:nvPr/>
          </p:nvSpPr>
          <p:spPr>
            <a:xfrm>
              <a:off x="6260841" y="1186726"/>
              <a:ext cx="5635690" cy="5567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2400" b="1" dirty="0">
                  <a:solidFill>
                    <a:srgbClr val="C00000"/>
                  </a:solidFill>
                </a:rPr>
                <a:t>D = (A AND B) </a:t>
              </a: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BA367446-E634-41DD-9990-0BB52754B47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51" y="1079767"/>
            <a:ext cx="3430084" cy="1923330"/>
          </a:xfrm>
          <a:prstGeom prst="rec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5732220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9415110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logic circuits to truth tables to logic expressions and vice versa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BDBE54-E7CD-4EFA-97AE-6C4F27C9E4B3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The output from this </a:t>
            </a:r>
            <a:r>
              <a:rPr lang="en-GB" sz="1600" b="1" dirty="0">
                <a:solidFill>
                  <a:schemeClr val="tx1"/>
                </a:solidFill>
              </a:rPr>
              <a:t>AND</a:t>
            </a:r>
            <a:r>
              <a:rPr lang="en-GB" sz="1600" dirty="0">
                <a:solidFill>
                  <a:schemeClr val="tx1"/>
                </a:solidFill>
              </a:rPr>
              <a:t> gate is combined with the output from the </a:t>
            </a:r>
            <a:r>
              <a:rPr lang="en-GB" sz="1600" b="1" dirty="0">
                <a:solidFill>
                  <a:schemeClr val="tx1"/>
                </a:solidFill>
              </a:rPr>
              <a:t>NOT</a:t>
            </a:r>
            <a:r>
              <a:rPr lang="en-GB" sz="1600" dirty="0">
                <a:solidFill>
                  <a:schemeClr val="tx1"/>
                </a:solidFill>
              </a:rPr>
              <a:t> gate to become the two inputs for the </a:t>
            </a:r>
            <a:r>
              <a:rPr lang="en-GB" sz="1600" b="1" dirty="0">
                <a:solidFill>
                  <a:schemeClr val="tx1"/>
                </a:solidFill>
              </a:rPr>
              <a:t>OR</a:t>
            </a:r>
            <a:r>
              <a:rPr lang="en-GB" sz="1600" dirty="0">
                <a:solidFill>
                  <a:schemeClr val="tx1"/>
                </a:solidFill>
              </a:rPr>
              <a:t> gate.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Therefore, directly after (A AND B), we need an </a:t>
            </a:r>
            <a:r>
              <a:rPr lang="en-GB" sz="1600" b="1" dirty="0">
                <a:solidFill>
                  <a:schemeClr val="tx1"/>
                </a:solidFill>
              </a:rPr>
              <a:t>OR</a:t>
            </a:r>
            <a:r>
              <a:rPr lang="en-GB" sz="1600" dirty="0">
                <a:solidFill>
                  <a:schemeClr val="tx1"/>
                </a:solidFill>
              </a:rPr>
              <a:t>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We now have: D = (A AND B) OR </a:t>
            </a:r>
          </a:p>
          <a:p>
            <a:pPr lvl="1">
              <a:spcAft>
                <a:spcPts val="800"/>
              </a:spcAft>
            </a:pPr>
            <a:endParaRPr lang="en-GB" sz="1600" dirty="0">
              <a:solidFill>
                <a:schemeClr val="tx1"/>
              </a:solidFill>
            </a:endParaRPr>
          </a:p>
          <a:p>
            <a:pPr>
              <a:spcAft>
                <a:spcPts val="800"/>
              </a:spcAft>
            </a:pP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DC6AE80-FBFA-47BD-A241-E20AC5A00625}"/>
              </a:ext>
            </a:extLst>
          </p:cNvPr>
          <p:cNvSpPr/>
          <p:nvPr/>
        </p:nvSpPr>
        <p:spPr>
          <a:xfrm>
            <a:off x="-194592" y="2285152"/>
            <a:ext cx="131005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</a:rPr>
              <a:t>B</a:t>
            </a: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9D4B3D4-BB87-4BA1-9862-22CE349B20D2}"/>
              </a:ext>
            </a:extLst>
          </p:cNvPr>
          <p:cNvSpPr/>
          <p:nvPr/>
        </p:nvSpPr>
        <p:spPr>
          <a:xfrm>
            <a:off x="-350102" y="4710033"/>
            <a:ext cx="131005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</a:rPr>
              <a:t>C</a:t>
            </a:r>
            <a:endParaRPr lang="en-GB" dirty="0">
              <a:solidFill>
                <a:srgbClr val="C00000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2BB7CA6-5C52-472A-A71E-52D44934C61C}"/>
              </a:ext>
            </a:extLst>
          </p:cNvPr>
          <p:cNvGrpSpPr/>
          <p:nvPr/>
        </p:nvGrpSpPr>
        <p:grpSpPr>
          <a:xfrm>
            <a:off x="-178453" y="1075981"/>
            <a:ext cx="8934989" cy="4968671"/>
            <a:chOff x="-178453" y="1075981"/>
            <a:chExt cx="8934989" cy="4968671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655FA6FF-7F5F-4324-B4BE-A8F7966BBF7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49603"/>
            <a:stretch/>
          </p:blipFill>
          <p:spPr>
            <a:xfrm>
              <a:off x="460434" y="1075981"/>
              <a:ext cx="4568766" cy="4968671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A2865AE-3D01-4C88-8187-B3B0052C8F2E}"/>
                </a:ext>
              </a:extLst>
            </p:cNvPr>
            <p:cNvSpPr/>
            <p:nvPr/>
          </p:nvSpPr>
          <p:spPr>
            <a:xfrm>
              <a:off x="1603892" y="4710034"/>
              <a:ext cx="131005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</a:rPr>
                <a:t>NOT</a:t>
              </a:r>
              <a:endParaRPr lang="en-GB" dirty="0">
                <a:solidFill>
                  <a:srgbClr val="C00000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E0CE782-6475-438E-B022-D61C6C1FA626}"/>
                </a:ext>
              </a:extLst>
            </p:cNvPr>
            <p:cNvSpPr/>
            <p:nvPr/>
          </p:nvSpPr>
          <p:spPr>
            <a:xfrm>
              <a:off x="1737242" y="1823959"/>
              <a:ext cx="131005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</a:rPr>
                <a:t>AND</a:t>
              </a:r>
              <a:endParaRPr lang="en-GB" dirty="0">
                <a:solidFill>
                  <a:srgbClr val="C00000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C10692C-A274-4B02-802E-48C5F4AA02D0}"/>
                </a:ext>
              </a:extLst>
            </p:cNvPr>
            <p:cNvSpPr/>
            <p:nvPr/>
          </p:nvSpPr>
          <p:spPr>
            <a:xfrm>
              <a:off x="-178453" y="1388179"/>
              <a:ext cx="131005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</a:rPr>
                <a:t>A</a:t>
              </a:r>
              <a:endParaRPr lang="en-GB" dirty="0">
                <a:solidFill>
                  <a:srgbClr val="C00000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1B8B74D-7C24-4202-A17F-5B098193D541}"/>
                </a:ext>
              </a:extLst>
            </p:cNvPr>
            <p:cNvSpPr/>
            <p:nvPr/>
          </p:nvSpPr>
          <p:spPr>
            <a:xfrm>
              <a:off x="7446484" y="3108741"/>
              <a:ext cx="1310052" cy="584775"/>
            </a:xfrm>
            <a:prstGeom prst="rect">
              <a:avLst/>
            </a:prstGeom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  <a:effectLst/>
                </a:rPr>
                <a:t>D</a:t>
              </a:r>
              <a:endParaRPr lang="en-GB" dirty="0">
                <a:solidFill>
                  <a:srgbClr val="C00000"/>
                </a:solidFill>
                <a:effectLst/>
              </a:endParaRP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F72FDB57-F158-4E83-B27B-F047110B46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8479"/>
            <a:stretch/>
          </p:blipFill>
          <p:spPr>
            <a:xfrm>
              <a:off x="4991521" y="1075981"/>
              <a:ext cx="2857573" cy="4968671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9354260-AECD-4EC9-8D65-EFBE9F7172D4}"/>
                </a:ext>
              </a:extLst>
            </p:cNvPr>
            <p:cNvSpPr/>
            <p:nvPr/>
          </p:nvSpPr>
          <p:spPr>
            <a:xfrm>
              <a:off x="5464874" y="3090783"/>
              <a:ext cx="131005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  <a:effectLst>
                    <a:glow rad="228600">
                      <a:schemeClr val="accent2">
                        <a:satMod val="175000"/>
                        <a:alpha val="40000"/>
                      </a:schemeClr>
                    </a:glow>
                  </a:effectLst>
                </a:rPr>
                <a:t>OR</a:t>
              </a:r>
              <a:endParaRPr lang="en-GB" dirty="0">
                <a:solidFill>
                  <a:srgbClr val="C00000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9F60D9F-F693-41BA-B41C-F011E56EF4C8}"/>
              </a:ext>
            </a:extLst>
          </p:cNvPr>
          <p:cNvGrpSpPr/>
          <p:nvPr/>
        </p:nvGrpSpPr>
        <p:grpSpPr>
          <a:xfrm>
            <a:off x="2601717" y="5762969"/>
            <a:ext cx="5726313" cy="919357"/>
            <a:chOff x="6170218" y="824087"/>
            <a:chExt cx="5726313" cy="919357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6026EB4-C2BC-4318-845C-BEFD4F37ADDD}"/>
                </a:ext>
              </a:extLst>
            </p:cNvPr>
            <p:cNvSpPr/>
            <p:nvPr/>
          </p:nvSpPr>
          <p:spPr>
            <a:xfrm>
              <a:off x="6170218" y="824087"/>
              <a:ext cx="4837449" cy="3755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Logic expression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30CA746-5B5E-4A34-BAC1-F6423FBE243C}"/>
                </a:ext>
              </a:extLst>
            </p:cNvPr>
            <p:cNvSpPr/>
            <p:nvPr/>
          </p:nvSpPr>
          <p:spPr>
            <a:xfrm>
              <a:off x="6260841" y="1186726"/>
              <a:ext cx="5635690" cy="5567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2400" b="1" dirty="0">
                  <a:solidFill>
                    <a:srgbClr val="C00000"/>
                  </a:solidFill>
                </a:rPr>
                <a:t>D = (A AND B) OR </a:t>
              </a: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A93915DA-4A01-4AEE-A02B-DDA0805E06F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0"/>
          <a:stretch/>
        </p:blipFill>
        <p:spPr>
          <a:xfrm>
            <a:off x="4557553" y="2346311"/>
            <a:ext cx="3296144" cy="1912697"/>
          </a:xfrm>
          <a:prstGeom prst="rec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1537278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9415110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logic circuits to truth tables to logic expressions and vice versa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BDBE54-E7CD-4EFA-97AE-6C4F27C9E4B3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All that is left is to represent the other input to the </a:t>
            </a:r>
            <a:r>
              <a:rPr lang="en-GB" sz="1600" b="1" dirty="0">
                <a:solidFill>
                  <a:schemeClr val="tx1"/>
                </a:solidFill>
              </a:rPr>
              <a:t>OR</a:t>
            </a:r>
            <a:r>
              <a:rPr lang="en-GB" sz="1600" dirty="0">
                <a:solidFill>
                  <a:schemeClr val="tx1"/>
                </a:solidFill>
              </a:rPr>
              <a:t> gate: </a:t>
            </a:r>
            <a:r>
              <a:rPr lang="en-GB" sz="1600" b="1" dirty="0">
                <a:solidFill>
                  <a:schemeClr val="tx1"/>
                </a:solidFill>
              </a:rPr>
              <a:t>NOT</a:t>
            </a:r>
            <a:r>
              <a:rPr lang="en-GB" sz="1600" dirty="0">
                <a:solidFill>
                  <a:schemeClr val="tx1"/>
                </a:solidFill>
              </a:rPr>
              <a:t> C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So, the final </a:t>
            </a:r>
            <a:r>
              <a:rPr lang="en-GB" sz="1600" b="1" dirty="0">
                <a:solidFill>
                  <a:schemeClr val="tx1"/>
                </a:solidFill>
              </a:rPr>
              <a:t>logic expression </a:t>
            </a:r>
            <a:r>
              <a:rPr lang="en-GB" sz="1600" dirty="0">
                <a:solidFill>
                  <a:schemeClr val="tx1"/>
                </a:solidFill>
              </a:rPr>
              <a:t>is:        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D</a:t>
            </a:r>
            <a:r>
              <a:rPr lang="pt-BR" sz="1600" dirty="0">
                <a:solidFill>
                  <a:schemeClr val="tx1"/>
                </a:solidFill>
              </a:rPr>
              <a:t> = (A AND B) OR (NOT C)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GB" sz="1600" b="1" dirty="0">
              <a:solidFill>
                <a:schemeClr val="tx1"/>
              </a:solidFill>
            </a:endParaRP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DC6AE80-FBFA-47BD-A241-E20AC5A00625}"/>
              </a:ext>
            </a:extLst>
          </p:cNvPr>
          <p:cNvSpPr/>
          <p:nvPr/>
        </p:nvSpPr>
        <p:spPr>
          <a:xfrm>
            <a:off x="-194592" y="2285152"/>
            <a:ext cx="131005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</a:rPr>
              <a:t>B</a:t>
            </a: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9D4B3D4-BB87-4BA1-9862-22CE349B20D2}"/>
              </a:ext>
            </a:extLst>
          </p:cNvPr>
          <p:cNvSpPr/>
          <p:nvPr/>
        </p:nvSpPr>
        <p:spPr>
          <a:xfrm>
            <a:off x="-350102" y="4710033"/>
            <a:ext cx="131005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C</a:t>
            </a:r>
            <a:endParaRPr lang="en-GB" dirty="0">
              <a:solidFill>
                <a:srgbClr val="C00000"/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2BB7CA6-5C52-472A-A71E-52D44934C61C}"/>
              </a:ext>
            </a:extLst>
          </p:cNvPr>
          <p:cNvGrpSpPr/>
          <p:nvPr/>
        </p:nvGrpSpPr>
        <p:grpSpPr>
          <a:xfrm>
            <a:off x="-178453" y="1075981"/>
            <a:ext cx="8934989" cy="4968671"/>
            <a:chOff x="-178453" y="1075981"/>
            <a:chExt cx="8934989" cy="4968671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655FA6FF-7F5F-4324-B4BE-A8F7966BBF7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49603"/>
            <a:stretch/>
          </p:blipFill>
          <p:spPr>
            <a:xfrm>
              <a:off x="460434" y="1075981"/>
              <a:ext cx="4568766" cy="4968671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A2865AE-3D01-4C88-8187-B3B0052C8F2E}"/>
                </a:ext>
              </a:extLst>
            </p:cNvPr>
            <p:cNvSpPr/>
            <p:nvPr/>
          </p:nvSpPr>
          <p:spPr>
            <a:xfrm>
              <a:off x="1603892" y="4710034"/>
              <a:ext cx="131005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</a:rPr>
                <a:t>NOT</a:t>
              </a:r>
              <a:endParaRPr lang="en-GB" dirty="0">
                <a:solidFill>
                  <a:srgbClr val="C00000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E0CE782-6475-438E-B022-D61C6C1FA626}"/>
                </a:ext>
              </a:extLst>
            </p:cNvPr>
            <p:cNvSpPr/>
            <p:nvPr/>
          </p:nvSpPr>
          <p:spPr>
            <a:xfrm>
              <a:off x="1737242" y="1823959"/>
              <a:ext cx="131005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</a:rPr>
                <a:t>AND</a:t>
              </a:r>
              <a:endParaRPr lang="en-GB" dirty="0">
                <a:solidFill>
                  <a:srgbClr val="C00000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C10692C-A274-4B02-802E-48C5F4AA02D0}"/>
                </a:ext>
              </a:extLst>
            </p:cNvPr>
            <p:cNvSpPr/>
            <p:nvPr/>
          </p:nvSpPr>
          <p:spPr>
            <a:xfrm>
              <a:off x="-178453" y="1388179"/>
              <a:ext cx="131005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</a:rPr>
                <a:t>A</a:t>
              </a:r>
              <a:endParaRPr lang="en-GB" dirty="0">
                <a:solidFill>
                  <a:srgbClr val="C00000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1B8B74D-7C24-4202-A17F-5B098193D541}"/>
                </a:ext>
              </a:extLst>
            </p:cNvPr>
            <p:cNvSpPr/>
            <p:nvPr/>
          </p:nvSpPr>
          <p:spPr>
            <a:xfrm>
              <a:off x="7446484" y="3108741"/>
              <a:ext cx="1310052" cy="584775"/>
            </a:xfrm>
            <a:prstGeom prst="rect">
              <a:avLst/>
            </a:prstGeom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  <a:effectLst/>
                </a:rPr>
                <a:t>D</a:t>
              </a:r>
              <a:endParaRPr lang="en-GB" dirty="0">
                <a:solidFill>
                  <a:srgbClr val="C00000"/>
                </a:solidFill>
                <a:effectLst/>
              </a:endParaRP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F72FDB57-F158-4E83-B27B-F047110B46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8479"/>
            <a:stretch/>
          </p:blipFill>
          <p:spPr>
            <a:xfrm>
              <a:off x="4991521" y="1075981"/>
              <a:ext cx="2857573" cy="4968671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9354260-AECD-4EC9-8D65-EFBE9F7172D4}"/>
                </a:ext>
              </a:extLst>
            </p:cNvPr>
            <p:cNvSpPr/>
            <p:nvPr/>
          </p:nvSpPr>
          <p:spPr>
            <a:xfrm>
              <a:off x="5464874" y="3090783"/>
              <a:ext cx="131005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  <a:effectLst/>
                </a:rPr>
                <a:t>OR</a:t>
              </a:r>
              <a:endParaRPr lang="en-GB" dirty="0">
                <a:solidFill>
                  <a:srgbClr val="C00000"/>
                </a:solidFill>
                <a:effectLst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9F60D9F-F693-41BA-B41C-F011E56EF4C8}"/>
              </a:ext>
            </a:extLst>
          </p:cNvPr>
          <p:cNvGrpSpPr/>
          <p:nvPr/>
        </p:nvGrpSpPr>
        <p:grpSpPr>
          <a:xfrm>
            <a:off x="2601717" y="5762969"/>
            <a:ext cx="5726313" cy="919357"/>
            <a:chOff x="6170218" y="824087"/>
            <a:chExt cx="5726313" cy="919357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6026EB4-C2BC-4318-845C-BEFD4F37ADDD}"/>
                </a:ext>
              </a:extLst>
            </p:cNvPr>
            <p:cNvSpPr/>
            <p:nvPr/>
          </p:nvSpPr>
          <p:spPr>
            <a:xfrm>
              <a:off x="6170218" y="824087"/>
              <a:ext cx="4837449" cy="3755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Logic expression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30CA746-5B5E-4A34-BAC1-F6423FBE243C}"/>
                </a:ext>
              </a:extLst>
            </p:cNvPr>
            <p:cNvSpPr/>
            <p:nvPr/>
          </p:nvSpPr>
          <p:spPr>
            <a:xfrm>
              <a:off x="6260841" y="1186726"/>
              <a:ext cx="5635690" cy="5567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2400" b="1" dirty="0">
                  <a:solidFill>
                    <a:srgbClr val="C00000"/>
                  </a:solidFill>
                </a:rPr>
                <a:t>D = (A AND B) OR (NOT C) </a:t>
              </a: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715AA231-DC0D-4A60-9A0A-F8DC34A0E20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586" y="3730154"/>
            <a:ext cx="4109482" cy="2316876"/>
          </a:xfrm>
          <a:prstGeom prst="rec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0962571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9415110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logic circuits to truth tables to logic expressions and vice versa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BDBE54-E7CD-4EFA-97AE-6C4F27C9E4B3}"/>
              </a:ext>
            </a:extLst>
          </p:cNvPr>
          <p:cNvSpPr/>
          <p:nvPr/>
        </p:nvSpPr>
        <p:spPr>
          <a:xfrm>
            <a:off x="176566" y="6375204"/>
            <a:ext cx="11873724" cy="333965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Try this example yourself. Pause the video and write out the </a:t>
            </a:r>
            <a:r>
              <a:rPr lang="en-GB" sz="1600" b="1" dirty="0">
                <a:solidFill>
                  <a:schemeClr val="tx1"/>
                </a:solidFill>
              </a:rPr>
              <a:t>logic expression </a:t>
            </a:r>
            <a:r>
              <a:rPr lang="en-GB" sz="1600" dirty="0">
                <a:solidFill>
                  <a:schemeClr val="tx1"/>
                </a:solidFill>
              </a:rPr>
              <a:t>for this </a:t>
            </a:r>
            <a:r>
              <a:rPr lang="en-GB" sz="1600" b="1" dirty="0">
                <a:solidFill>
                  <a:schemeClr val="tx1"/>
                </a:solidFill>
              </a:rPr>
              <a:t>logic circuit</a:t>
            </a:r>
            <a:r>
              <a:rPr lang="en-GB" sz="1600" dirty="0">
                <a:solidFill>
                  <a:schemeClr val="tx1"/>
                </a:solidFill>
              </a:rPr>
              <a:t> – then check your answer.</a:t>
            </a:r>
            <a:endParaRPr lang="en-GB" sz="1600" b="1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9F60D9F-F693-41BA-B41C-F011E56EF4C8}"/>
              </a:ext>
            </a:extLst>
          </p:cNvPr>
          <p:cNvGrpSpPr/>
          <p:nvPr/>
        </p:nvGrpSpPr>
        <p:grpSpPr>
          <a:xfrm>
            <a:off x="87117" y="4769546"/>
            <a:ext cx="5726313" cy="919357"/>
            <a:chOff x="6170218" y="824087"/>
            <a:chExt cx="5726313" cy="919357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6026EB4-C2BC-4318-845C-BEFD4F37ADDD}"/>
                </a:ext>
              </a:extLst>
            </p:cNvPr>
            <p:cNvSpPr/>
            <p:nvPr/>
          </p:nvSpPr>
          <p:spPr>
            <a:xfrm>
              <a:off x="6170218" y="824087"/>
              <a:ext cx="4837449" cy="3755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Logic expression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30CA746-5B5E-4A34-BAC1-F6423FBE243C}"/>
                </a:ext>
              </a:extLst>
            </p:cNvPr>
            <p:cNvSpPr/>
            <p:nvPr/>
          </p:nvSpPr>
          <p:spPr>
            <a:xfrm>
              <a:off x="6260841" y="1186726"/>
              <a:ext cx="5635690" cy="5567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GB" sz="2400" b="1" dirty="0">
                <a:solidFill>
                  <a:srgbClr val="C00000"/>
                </a:solidFill>
              </a:endParaRPr>
            </a:p>
          </p:txBody>
        </p: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B4AF6005-9DC2-4D29-874C-AF20959090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087" y="1197452"/>
            <a:ext cx="3655275" cy="20496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2F71412-6480-4528-A4D1-624E0B7CE9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8362" y="1650128"/>
            <a:ext cx="3655275" cy="20496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2D45BAB-943A-4A72-BDE9-45FF489C15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3637" y="1638928"/>
            <a:ext cx="3655275" cy="20608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66765C5F-EEB2-4768-AE05-15740C6DC3A9}"/>
              </a:ext>
            </a:extLst>
          </p:cNvPr>
          <p:cNvSpPr/>
          <p:nvPr/>
        </p:nvSpPr>
        <p:spPr>
          <a:xfrm>
            <a:off x="8848001" y="2475927"/>
            <a:ext cx="131005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</a:rPr>
              <a:t>NOT</a:t>
            </a: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9920A07-EA6F-4367-986B-B7FA3044BCF9}"/>
              </a:ext>
            </a:extLst>
          </p:cNvPr>
          <p:cNvSpPr/>
          <p:nvPr/>
        </p:nvSpPr>
        <p:spPr>
          <a:xfrm>
            <a:off x="5440973" y="2475928"/>
            <a:ext cx="131005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</a:rPr>
              <a:t>AND</a:t>
            </a: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A263962-04A7-447D-B9AC-C63D97251019}"/>
              </a:ext>
            </a:extLst>
          </p:cNvPr>
          <p:cNvSpPr/>
          <p:nvPr/>
        </p:nvSpPr>
        <p:spPr>
          <a:xfrm>
            <a:off x="1819207" y="2006259"/>
            <a:ext cx="131005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</a:rPr>
              <a:t>OR</a:t>
            </a: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BC02EC3-EF7C-45C0-95B4-3E4426391003}"/>
              </a:ext>
            </a:extLst>
          </p:cNvPr>
          <p:cNvSpPr/>
          <p:nvPr/>
        </p:nvSpPr>
        <p:spPr>
          <a:xfrm>
            <a:off x="-23700" y="1598765"/>
            <a:ext cx="8350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</a:rPr>
              <a:t>A</a:t>
            </a: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A327B7A-5850-4B44-90C2-69802A23E30D}"/>
              </a:ext>
            </a:extLst>
          </p:cNvPr>
          <p:cNvSpPr/>
          <p:nvPr/>
        </p:nvSpPr>
        <p:spPr>
          <a:xfrm>
            <a:off x="-36396" y="2475926"/>
            <a:ext cx="8350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</a:rPr>
              <a:t>B</a:t>
            </a: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15C6203-5020-4E89-B6FD-4CC4E0386E6A}"/>
              </a:ext>
            </a:extLst>
          </p:cNvPr>
          <p:cNvSpPr/>
          <p:nvPr/>
        </p:nvSpPr>
        <p:spPr>
          <a:xfrm>
            <a:off x="3618878" y="2954664"/>
            <a:ext cx="8350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</a:rPr>
              <a:t>C</a:t>
            </a: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CA846B7-1511-491D-AEC9-F1E8DA44AB97}"/>
              </a:ext>
            </a:extLst>
          </p:cNvPr>
          <p:cNvSpPr/>
          <p:nvPr/>
        </p:nvSpPr>
        <p:spPr>
          <a:xfrm>
            <a:off x="11393366" y="2485479"/>
            <a:ext cx="8350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  <a:effectLst/>
              </a:rPr>
              <a:t>D</a:t>
            </a:r>
            <a:endParaRPr lang="en-GB" dirty="0">
              <a:solidFill>
                <a:srgbClr val="C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14771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9415110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logic circuits to truth tables to logic expressions and vice versa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9F60D9F-F693-41BA-B41C-F011E56EF4C8}"/>
              </a:ext>
            </a:extLst>
          </p:cNvPr>
          <p:cNvGrpSpPr/>
          <p:nvPr/>
        </p:nvGrpSpPr>
        <p:grpSpPr>
          <a:xfrm>
            <a:off x="87117" y="4769546"/>
            <a:ext cx="5726313" cy="919357"/>
            <a:chOff x="6170218" y="824087"/>
            <a:chExt cx="5726313" cy="919357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6026EB4-C2BC-4318-845C-BEFD4F37ADDD}"/>
                </a:ext>
              </a:extLst>
            </p:cNvPr>
            <p:cNvSpPr/>
            <p:nvPr/>
          </p:nvSpPr>
          <p:spPr>
            <a:xfrm>
              <a:off x="6170218" y="824087"/>
              <a:ext cx="4837449" cy="3755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Logic expression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30CA746-5B5E-4A34-BAC1-F6423FBE243C}"/>
                </a:ext>
              </a:extLst>
            </p:cNvPr>
            <p:cNvSpPr/>
            <p:nvPr/>
          </p:nvSpPr>
          <p:spPr>
            <a:xfrm>
              <a:off x="6260841" y="1186726"/>
              <a:ext cx="5635690" cy="5567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2400" b="1" dirty="0">
                  <a:solidFill>
                    <a:srgbClr val="C00000"/>
                  </a:solidFill>
                </a:rPr>
                <a:t>D =</a:t>
              </a:r>
            </a:p>
          </p:txBody>
        </p: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B4AF6005-9DC2-4D29-874C-AF20959090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087" y="1197452"/>
            <a:ext cx="3655275" cy="20496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2F71412-6480-4528-A4D1-624E0B7CE9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8362" y="1650128"/>
            <a:ext cx="3655275" cy="20496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2D45BAB-943A-4A72-BDE9-45FF489C15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3637" y="1638928"/>
            <a:ext cx="3655275" cy="20608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66765C5F-EEB2-4768-AE05-15740C6DC3A9}"/>
              </a:ext>
            </a:extLst>
          </p:cNvPr>
          <p:cNvSpPr/>
          <p:nvPr/>
        </p:nvSpPr>
        <p:spPr>
          <a:xfrm>
            <a:off x="8848001" y="2475927"/>
            <a:ext cx="131005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</a:rPr>
              <a:t>NOT</a:t>
            </a: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9920A07-EA6F-4367-986B-B7FA3044BCF9}"/>
              </a:ext>
            </a:extLst>
          </p:cNvPr>
          <p:cNvSpPr/>
          <p:nvPr/>
        </p:nvSpPr>
        <p:spPr>
          <a:xfrm>
            <a:off x="5440973" y="2475928"/>
            <a:ext cx="131005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</a:rPr>
              <a:t>AND</a:t>
            </a: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A263962-04A7-447D-B9AC-C63D97251019}"/>
              </a:ext>
            </a:extLst>
          </p:cNvPr>
          <p:cNvSpPr/>
          <p:nvPr/>
        </p:nvSpPr>
        <p:spPr>
          <a:xfrm>
            <a:off x="1819207" y="2006259"/>
            <a:ext cx="131005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</a:rPr>
              <a:t>OR</a:t>
            </a: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BC02EC3-EF7C-45C0-95B4-3E4426391003}"/>
              </a:ext>
            </a:extLst>
          </p:cNvPr>
          <p:cNvSpPr/>
          <p:nvPr/>
        </p:nvSpPr>
        <p:spPr>
          <a:xfrm>
            <a:off x="-23700" y="1598765"/>
            <a:ext cx="8350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</a:rPr>
              <a:t>A</a:t>
            </a: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A327B7A-5850-4B44-90C2-69802A23E30D}"/>
              </a:ext>
            </a:extLst>
          </p:cNvPr>
          <p:cNvSpPr/>
          <p:nvPr/>
        </p:nvSpPr>
        <p:spPr>
          <a:xfrm>
            <a:off x="-36396" y="2475926"/>
            <a:ext cx="8350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</a:rPr>
              <a:t>B</a:t>
            </a: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15C6203-5020-4E89-B6FD-4CC4E0386E6A}"/>
              </a:ext>
            </a:extLst>
          </p:cNvPr>
          <p:cNvSpPr/>
          <p:nvPr/>
        </p:nvSpPr>
        <p:spPr>
          <a:xfrm>
            <a:off x="3618878" y="2954664"/>
            <a:ext cx="8350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</a:rPr>
              <a:t>C</a:t>
            </a: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CA846B7-1511-491D-AEC9-F1E8DA44AB97}"/>
              </a:ext>
            </a:extLst>
          </p:cNvPr>
          <p:cNvSpPr/>
          <p:nvPr/>
        </p:nvSpPr>
        <p:spPr>
          <a:xfrm>
            <a:off x="11393366" y="2485479"/>
            <a:ext cx="8350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D</a:t>
            </a:r>
            <a:endParaRPr lang="en-GB" dirty="0">
              <a:solidFill>
                <a:srgbClr val="C00000"/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F08989-EE9D-E542-AD6E-5A0AFC562A9E}"/>
              </a:ext>
            </a:extLst>
          </p:cNvPr>
          <p:cNvSpPr/>
          <p:nvPr/>
        </p:nvSpPr>
        <p:spPr>
          <a:xfrm>
            <a:off x="176566" y="6375204"/>
            <a:ext cx="11873724" cy="333965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Try this example yourself. Pause the video and write out the </a:t>
            </a:r>
            <a:r>
              <a:rPr lang="en-GB" sz="1600" b="1" dirty="0">
                <a:solidFill>
                  <a:schemeClr val="tx1"/>
                </a:solidFill>
              </a:rPr>
              <a:t>logic expression </a:t>
            </a:r>
            <a:r>
              <a:rPr lang="en-GB" sz="1600" dirty="0">
                <a:solidFill>
                  <a:schemeClr val="tx1"/>
                </a:solidFill>
              </a:rPr>
              <a:t>for this </a:t>
            </a:r>
            <a:r>
              <a:rPr lang="en-GB" sz="1600" b="1" dirty="0">
                <a:solidFill>
                  <a:schemeClr val="tx1"/>
                </a:solidFill>
              </a:rPr>
              <a:t>logic circuit</a:t>
            </a:r>
            <a:r>
              <a:rPr lang="en-GB" sz="1600" dirty="0">
                <a:solidFill>
                  <a:schemeClr val="tx1"/>
                </a:solidFill>
              </a:rPr>
              <a:t> – then check your answer.</a:t>
            </a:r>
            <a:endParaRPr lang="en-GB" sz="1600" b="1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78465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B6343EB5-FC53-4D7F-BBC9-F839FDFBD0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9188" y="1638928"/>
            <a:ext cx="3655275" cy="2060800"/>
          </a:xfrm>
          <a:prstGeom prst="rec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9415110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logic circuits to truth tables to logic expressions and vice versa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9F60D9F-F693-41BA-B41C-F011E56EF4C8}"/>
              </a:ext>
            </a:extLst>
          </p:cNvPr>
          <p:cNvGrpSpPr/>
          <p:nvPr/>
        </p:nvGrpSpPr>
        <p:grpSpPr>
          <a:xfrm>
            <a:off x="87117" y="4769546"/>
            <a:ext cx="5726313" cy="919357"/>
            <a:chOff x="6170218" y="824087"/>
            <a:chExt cx="5726313" cy="919357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6026EB4-C2BC-4318-845C-BEFD4F37ADDD}"/>
                </a:ext>
              </a:extLst>
            </p:cNvPr>
            <p:cNvSpPr/>
            <p:nvPr/>
          </p:nvSpPr>
          <p:spPr>
            <a:xfrm>
              <a:off x="6170218" y="824087"/>
              <a:ext cx="4837449" cy="3755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Logic expression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30CA746-5B5E-4A34-BAC1-F6423FBE243C}"/>
                </a:ext>
              </a:extLst>
            </p:cNvPr>
            <p:cNvSpPr/>
            <p:nvPr/>
          </p:nvSpPr>
          <p:spPr>
            <a:xfrm>
              <a:off x="6260841" y="1186726"/>
              <a:ext cx="5635690" cy="5567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2400" b="1" dirty="0">
                  <a:solidFill>
                    <a:srgbClr val="C00000"/>
                  </a:solidFill>
                </a:rPr>
                <a:t>D = NOT</a:t>
              </a:r>
            </a:p>
          </p:txBody>
        </p: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B4AF6005-9DC2-4D29-874C-AF20959090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087" y="1197452"/>
            <a:ext cx="3655275" cy="20496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2F71412-6480-4528-A4D1-624E0B7CE9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8362" y="1650128"/>
            <a:ext cx="3655275" cy="20496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2D45BAB-943A-4A72-BDE9-45FF489C15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3637" y="1638928"/>
            <a:ext cx="3655275" cy="20608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66765C5F-EEB2-4768-AE05-15740C6DC3A9}"/>
              </a:ext>
            </a:extLst>
          </p:cNvPr>
          <p:cNvSpPr/>
          <p:nvPr/>
        </p:nvSpPr>
        <p:spPr>
          <a:xfrm>
            <a:off x="8848001" y="2475927"/>
            <a:ext cx="131005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NOT</a:t>
            </a:r>
            <a:endParaRPr lang="en-GB" dirty="0">
              <a:solidFill>
                <a:srgbClr val="C00000"/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9920A07-EA6F-4367-986B-B7FA3044BCF9}"/>
              </a:ext>
            </a:extLst>
          </p:cNvPr>
          <p:cNvSpPr/>
          <p:nvPr/>
        </p:nvSpPr>
        <p:spPr>
          <a:xfrm>
            <a:off x="5440973" y="2475928"/>
            <a:ext cx="131005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</a:rPr>
              <a:t>AND</a:t>
            </a: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A263962-04A7-447D-B9AC-C63D97251019}"/>
              </a:ext>
            </a:extLst>
          </p:cNvPr>
          <p:cNvSpPr/>
          <p:nvPr/>
        </p:nvSpPr>
        <p:spPr>
          <a:xfrm>
            <a:off x="1819207" y="2006259"/>
            <a:ext cx="131005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</a:rPr>
              <a:t>OR</a:t>
            </a: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BC02EC3-EF7C-45C0-95B4-3E4426391003}"/>
              </a:ext>
            </a:extLst>
          </p:cNvPr>
          <p:cNvSpPr/>
          <p:nvPr/>
        </p:nvSpPr>
        <p:spPr>
          <a:xfrm>
            <a:off x="-23700" y="1598765"/>
            <a:ext cx="8350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</a:rPr>
              <a:t>A</a:t>
            </a: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A327B7A-5850-4B44-90C2-69802A23E30D}"/>
              </a:ext>
            </a:extLst>
          </p:cNvPr>
          <p:cNvSpPr/>
          <p:nvPr/>
        </p:nvSpPr>
        <p:spPr>
          <a:xfrm>
            <a:off x="-36396" y="2475926"/>
            <a:ext cx="8350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</a:rPr>
              <a:t>B</a:t>
            </a: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15C6203-5020-4E89-B6FD-4CC4E0386E6A}"/>
              </a:ext>
            </a:extLst>
          </p:cNvPr>
          <p:cNvSpPr/>
          <p:nvPr/>
        </p:nvSpPr>
        <p:spPr>
          <a:xfrm>
            <a:off x="3618878" y="2954664"/>
            <a:ext cx="8350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</a:rPr>
              <a:t>C</a:t>
            </a: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CA846B7-1511-491D-AEC9-F1E8DA44AB97}"/>
              </a:ext>
            </a:extLst>
          </p:cNvPr>
          <p:cNvSpPr/>
          <p:nvPr/>
        </p:nvSpPr>
        <p:spPr>
          <a:xfrm>
            <a:off x="11393366" y="2485479"/>
            <a:ext cx="8350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  <a:effectLst/>
              </a:rPr>
              <a:t>D</a:t>
            </a:r>
            <a:endParaRPr lang="en-GB" dirty="0">
              <a:solidFill>
                <a:srgbClr val="C00000"/>
              </a:solidFill>
              <a:effectLst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BDD4D94-0250-2347-8674-A2FBF6853897}"/>
              </a:ext>
            </a:extLst>
          </p:cNvPr>
          <p:cNvSpPr/>
          <p:nvPr/>
        </p:nvSpPr>
        <p:spPr>
          <a:xfrm>
            <a:off x="176566" y="6375204"/>
            <a:ext cx="11873724" cy="333965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Try this example yourself. Pause the video and write out the </a:t>
            </a:r>
            <a:r>
              <a:rPr lang="en-GB" sz="1600" b="1" dirty="0">
                <a:solidFill>
                  <a:schemeClr val="tx1"/>
                </a:solidFill>
              </a:rPr>
              <a:t>logic expression </a:t>
            </a:r>
            <a:r>
              <a:rPr lang="en-GB" sz="1600" dirty="0">
                <a:solidFill>
                  <a:schemeClr val="tx1"/>
                </a:solidFill>
              </a:rPr>
              <a:t>for this </a:t>
            </a:r>
            <a:r>
              <a:rPr lang="en-GB" sz="1600" b="1" dirty="0">
                <a:solidFill>
                  <a:schemeClr val="tx1"/>
                </a:solidFill>
              </a:rPr>
              <a:t>logic circuit</a:t>
            </a:r>
            <a:r>
              <a:rPr lang="en-GB" sz="1600" dirty="0">
                <a:solidFill>
                  <a:schemeClr val="tx1"/>
                </a:solidFill>
              </a:rPr>
              <a:t> – then check your answer.</a:t>
            </a:r>
            <a:endParaRPr lang="en-GB" sz="1600" b="1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2981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CF3F3D77-3AED-431A-BD5B-F28081BEAE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1533" y="1646785"/>
            <a:ext cx="3655275" cy="2049600"/>
          </a:xfrm>
          <a:prstGeom prst="rec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9415110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logic circuits to truth tables to logic expressions and vice versa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9F60D9F-F693-41BA-B41C-F011E56EF4C8}"/>
              </a:ext>
            </a:extLst>
          </p:cNvPr>
          <p:cNvGrpSpPr/>
          <p:nvPr/>
        </p:nvGrpSpPr>
        <p:grpSpPr>
          <a:xfrm>
            <a:off x="87117" y="4769546"/>
            <a:ext cx="5726313" cy="919357"/>
            <a:chOff x="6170218" y="824087"/>
            <a:chExt cx="5726313" cy="919357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6026EB4-C2BC-4318-845C-BEFD4F37ADDD}"/>
                </a:ext>
              </a:extLst>
            </p:cNvPr>
            <p:cNvSpPr/>
            <p:nvPr/>
          </p:nvSpPr>
          <p:spPr>
            <a:xfrm>
              <a:off x="6170218" y="824087"/>
              <a:ext cx="4837449" cy="3755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Logic expression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30CA746-5B5E-4A34-BAC1-F6423FBE243C}"/>
                </a:ext>
              </a:extLst>
            </p:cNvPr>
            <p:cNvSpPr/>
            <p:nvPr/>
          </p:nvSpPr>
          <p:spPr>
            <a:xfrm>
              <a:off x="6260841" y="1186726"/>
              <a:ext cx="5635690" cy="5567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2400" b="1" dirty="0">
                  <a:solidFill>
                    <a:srgbClr val="C00000"/>
                  </a:solidFill>
                </a:rPr>
                <a:t>D = NOT(C AND ) </a:t>
              </a:r>
            </a:p>
          </p:txBody>
        </p: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B4AF6005-9DC2-4D29-874C-AF20959090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087" y="1197452"/>
            <a:ext cx="3655275" cy="20496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2F71412-6480-4528-A4D1-624E0B7CE9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8362" y="1650128"/>
            <a:ext cx="3655275" cy="20496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2D45BAB-943A-4A72-BDE9-45FF489C15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0940" y="1640603"/>
            <a:ext cx="3655275" cy="20608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66765C5F-EEB2-4768-AE05-15740C6DC3A9}"/>
              </a:ext>
            </a:extLst>
          </p:cNvPr>
          <p:cNvSpPr/>
          <p:nvPr/>
        </p:nvSpPr>
        <p:spPr>
          <a:xfrm>
            <a:off x="8848001" y="2475927"/>
            <a:ext cx="131005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  <a:effectLst/>
              </a:rPr>
              <a:t>NOT</a:t>
            </a:r>
            <a:endParaRPr lang="en-GB" dirty="0">
              <a:solidFill>
                <a:srgbClr val="C00000"/>
              </a:solidFill>
              <a:effectLst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9920A07-EA6F-4367-986B-B7FA3044BCF9}"/>
              </a:ext>
            </a:extLst>
          </p:cNvPr>
          <p:cNvSpPr/>
          <p:nvPr/>
        </p:nvSpPr>
        <p:spPr>
          <a:xfrm>
            <a:off x="5440973" y="2475928"/>
            <a:ext cx="131005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AND</a:t>
            </a:r>
            <a:endParaRPr lang="en-GB" dirty="0">
              <a:solidFill>
                <a:srgbClr val="C00000"/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A263962-04A7-447D-B9AC-C63D97251019}"/>
              </a:ext>
            </a:extLst>
          </p:cNvPr>
          <p:cNvSpPr/>
          <p:nvPr/>
        </p:nvSpPr>
        <p:spPr>
          <a:xfrm>
            <a:off x="1819207" y="2006259"/>
            <a:ext cx="131005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</a:rPr>
              <a:t>OR</a:t>
            </a: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BC02EC3-EF7C-45C0-95B4-3E4426391003}"/>
              </a:ext>
            </a:extLst>
          </p:cNvPr>
          <p:cNvSpPr/>
          <p:nvPr/>
        </p:nvSpPr>
        <p:spPr>
          <a:xfrm>
            <a:off x="-23700" y="1598765"/>
            <a:ext cx="8350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</a:rPr>
              <a:t>A</a:t>
            </a: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A327B7A-5850-4B44-90C2-69802A23E30D}"/>
              </a:ext>
            </a:extLst>
          </p:cNvPr>
          <p:cNvSpPr/>
          <p:nvPr/>
        </p:nvSpPr>
        <p:spPr>
          <a:xfrm>
            <a:off x="-36396" y="2475926"/>
            <a:ext cx="8350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</a:rPr>
              <a:t>B</a:t>
            </a: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15C6203-5020-4E89-B6FD-4CC4E0386E6A}"/>
              </a:ext>
            </a:extLst>
          </p:cNvPr>
          <p:cNvSpPr/>
          <p:nvPr/>
        </p:nvSpPr>
        <p:spPr>
          <a:xfrm>
            <a:off x="3618878" y="2954664"/>
            <a:ext cx="8350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C</a:t>
            </a:r>
            <a:endParaRPr lang="en-GB" dirty="0">
              <a:solidFill>
                <a:srgbClr val="C00000"/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CA846B7-1511-491D-AEC9-F1E8DA44AB97}"/>
              </a:ext>
            </a:extLst>
          </p:cNvPr>
          <p:cNvSpPr/>
          <p:nvPr/>
        </p:nvSpPr>
        <p:spPr>
          <a:xfrm>
            <a:off x="11393366" y="2485479"/>
            <a:ext cx="8350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  <a:effectLst/>
              </a:rPr>
              <a:t>D</a:t>
            </a:r>
            <a:endParaRPr lang="en-GB" dirty="0">
              <a:solidFill>
                <a:srgbClr val="C00000"/>
              </a:solidFill>
              <a:effectLst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8AFC16-693D-4B40-8098-A3384D0C5361}"/>
              </a:ext>
            </a:extLst>
          </p:cNvPr>
          <p:cNvSpPr/>
          <p:nvPr/>
        </p:nvSpPr>
        <p:spPr>
          <a:xfrm>
            <a:off x="176566" y="6375204"/>
            <a:ext cx="11873724" cy="333965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Try this example yourself. Pause the video and write out the </a:t>
            </a:r>
            <a:r>
              <a:rPr lang="en-GB" sz="1600" b="1" dirty="0">
                <a:solidFill>
                  <a:schemeClr val="tx1"/>
                </a:solidFill>
              </a:rPr>
              <a:t>logic expression </a:t>
            </a:r>
            <a:r>
              <a:rPr lang="en-GB" sz="1600" dirty="0">
                <a:solidFill>
                  <a:schemeClr val="tx1"/>
                </a:solidFill>
              </a:rPr>
              <a:t>for this </a:t>
            </a:r>
            <a:r>
              <a:rPr lang="en-GB" sz="1600" b="1" dirty="0">
                <a:solidFill>
                  <a:schemeClr val="tx1"/>
                </a:solidFill>
              </a:rPr>
              <a:t>logic circuit</a:t>
            </a:r>
            <a:r>
              <a:rPr lang="en-GB" sz="1600" dirty="0">
                <a:solidFill>
                  <a:schemeClr val="tx1"/>
                </a:solidFill>
              </a:rPr>
              <a:t> – then check your answer.</a:t>
            </a:r>
            <a:endParaRPr lang="en-GB" sz="1600" b="1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33352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4BF5FE9-8153-4BF3-B9AB-5AFC84C08B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087" y="1202710"/>
            <a:ext cx="3655275" cy="2049600"/>
          </a:xfrm>
          <a:prstGeom prst="rec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9415110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logic circuits to truth tables to logic expressions and vice versa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9F60D9F-F693-41BA-B41C-F011E56EF4C8}"/>
              </a:ext>
            </a:extLst>
          </p:cNvPr>
          <p:cNvGrpSpPr/>
          <p:nvPr/>
        </p:nvGrpSpPr>
        <p:grpSpPr>
          <a:xfrm>
            <a:off x="87117" y="4769546"/>
            <a:ext cx="5726313" cy="919357"/>
            <a:chOff x="6170218" y="824087"/>
            <a:chExt cx="5726313" cy="919357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6026EB4-C2BC-4318-845C-BEFD4F37ADDD}"/>
                </a:ext>
              </a:extLst>
            </p:cNvPr>
            <p:cNvSpPr/>
            <p:nvPr/>
          </p:nvSpPr>
          <p:spPr>
            <a:xfrm>
              <a:off x="6170218" y="824087"/>
              <a:ext cx="4837449" cy="3755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Logic expression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30CA746-5B5E-4A34-BAC1-F6423FBE243C}"/>
                </a:ext>
              </a:extLst>
            </p:cNvPr>
            <p:cNvSpPr/>
            <p:nvPr/>
          </p:nvSpPr>
          <p:spPr>
            <a:xfrm>
              <a:off x="6260841" y="1186726"/>
              <a:ext cx="5635690" cy="5567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2400" b="1" dirty="0">
                  <a:solidFill>
                    <a:srgbClr val="C00000"/>
                  </a:solidFill>
                </a:rPr>
                <a:t>D = NOT(C AND (A OR B)) </a:t>
              </a:r>
            </a:p>
          </p:txBody>
        </p: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B4AF6005-9DC2-4D29-874C-AF20959090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087" y="1197452"/>
            <a:ext cx="3655275" cy="20496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2F71412-6480-4528-A4D1-624E0B7CE9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8362" y="1650128"/>
            <a:ext cx="3655275" cy="20496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2D45BAB-943A-4A72-BDE9-45FF489C15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0940" y="1640603"/>
            <a:ext cx="3655275" cy="20608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66765C5F-EEB2-4768-AE05-15740C6DC3A9}"/>
              </a:ext>
            </a:extLst>
          </p:cNvPr>
          <p:cNvSpPr/>
          <p:nvPr/>
        </p:nvSpPr>
        <p:spPr>
          <a:xfrm>
            <a:off x="8848001" y="2475927"/>
            <a:ext cx="131005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  <a:effectLst/>
              </a:rPr>
              <a:t>NOT</a:t>
            </a:r>
            <a:endParaRPr lang="en-GB" dirty="0">
              <a:solidFill>
                <a:srgbClr val="C00000"/>
              </a:solidFill>
              <a:effectLst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9920A07-EA6F-4367-986B-B7FA3044BCF9}"/>
              </a:ext>
            </a:extLst>
          </p:cNvPr>
          <p:cNvSpPr/>
          <p:nvPr/>
        </p:nvSpPr>
        <p:spPr>
          <a:xfrm>
            <a:off x="5440973" y="2475928"/>
            <a:ext cx="1310052" cy="584775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  <a:effectLst/>
              </a:rPr>
              <a:t>AND</a:t>
            </a:r>
            <a:endParaRPr lang="en-GB" dirty="0">
              <a:solidFill>
                <a:srgbClr val="C00000"/>
              </a:solidFill>
              <a:effectLst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A263962-04A7-447D-B9AC-C63D97251019}"/>
              </a:ext>
            </a:extLst>
          </p:cNvPr>
          <p:cNvSpPr/>
          <p:nvPr/>
        </p:nvSpPr>
        <p:spPr>
          <a:xfrm>
            <a:off x="1819207" y="2006259"/>
            <a:ext cx="131005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OR</a:t>
            </a:r>
            <a:endParaRPr lang="en-GB" dirty="0">
              <a:solidFill>
                <a:srgbClr val="C00000"/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BC02EC3-EF7C-45C0-95B4-3E4426391003}"/>
              </a:ext>
            </a:extLst>
          </p:cNvPr>
          <p:cNvSpPr/>
          <p:nvPr/>
        </p:nvSpPr>
        <p:spPr>
          <a:xfrm>
            <a:off x="-23700" y="1598765"/>
            <a:ext cx="8350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A</a:t>
            </a:r>
            <a:endParaRPr lang="en-GB" dirty="0">
              <a:solidFill>
                <a:srgbClr val="C00000"/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A327B7A-5850-4B44-90C2-69802A23E30D}"/>
              </a:ext>
            </a:extLst>
          </p:cNvPr>
          <p:cNvSpPr/>
          <p:nvPr/>
        </p:nvSpPr>
        <p:spPr>
          <a:xfrm>
            <a:off x="-36396" y="2475926"/>
            <a:ext cx="8350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B</a:t>
            </a:r>
            <a:endParaRPr lang="en-GB" dirty="0">
              <a:solidFill>
                <a:srgbClr val="C00000"/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15C6203-5020-4E89-B6FD-4CC4E0386E6A}"/>
              </a:ext>
            </a:extLst>
          </p:cNvPr>
          <p:cNvSpPr/>
          <p:nvPr/>
        </p:nvSpPr>
        <p:spPr>
          <a:xfrm>
            <a:off x="3618878" y="2954664"/>
            <a:ext cx="835029" cy="584775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  <a:effectLst/>
              </a:rPr>
              <a:t>C</a:t>
            </a:r>
            <a:endParaRPr lang="en-GB" dirty="0">
              <a:solidFill>
                <a:srgbClr val="C00000"/>
              </a:solidFill>
              <a:effectLst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CA846B7-1511-491D-AEC9-F1E8DA44AB97}"/>
              </a:ext>
            </a:extLst>
          </p:cNvPr>
          <p:cNvSpPr/>
          <p:nvPr/>
        </p:nvSpPr>
        <p:spPr>
          <a:xfrm>
            <a:off x="11393366" y="2485479"/>
            <a:ext cx="8350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  <a:effectLst/>
              </a:rPr>
              <a:t>D</a:t>
            </a:r>
            <a:endParaRPr lang="en-GB" dirty="0">
              <a:solidFill>
                <a:srgbClr val="C00000"/>
              </a:solidFill>
              <a:effectLst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A0D7C6-38E3-3042-944F-FB4958EC0E6B}"/>
              </a:ext>
            </a:extLst>
          </p:cNvPr>
          <p:cNvSpPr/>
          <p:nvPr/>
        </p:nvSpPr>
        <p:spPr>
          <a:xfrm>
            <a:off x="176566" y="6375204"/>
            <a:ext cx="11873724" cy="333965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Try this example yourself. Pause the video and write out the </a:t>
            </a:r>
            <a:r>
              <a:rPr lang="en-GB" sz="1600" b="1" dirty="0">
                <a:solidFill>
                  <a:schemeClr val="tx1"/>
                </a:solidFill>
              </a:rPr>
              <a:t>logic expression </a:t>
            </a:r>
            <a:r>
              <a:rPr lang="en-GB" sz="1600" dirty="0">
                <a:solidFill>
                  <a:schemeClr val="tx1"/>
                </a:solidFill>
              </a:rPr>
              <a:t>for this </a:t>
            </a:r>
            <a:r>
              <a:rPr lang="en-GB" sz="1600" b="1" dirty="0">
                <a:solidFill>
                  <a:schemeClr val="tx1"/>
                </a:solidFill>
              </a:rPr>
              <a:t>logic circuit</a:t>
            </a:r>
            <a:r>
              <a:rPr lang="en-GB" sz="1600" dirty="0">
                <a:solidFill>
                  <a:schemeClr val="tx1"/>
                </a:solidFill>
              </a:rPr>
              <a:t> – then check your answer.</a:t>
            </a:r>
            <a:endParaRPr lang="en-GB" sz="1600" b="1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4924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9415110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logic circuits to truth tables to logic expressions and vice versa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9F60D9F-F693-41BA-B41C-F011E56EF4C8}"/>
              </a:ext>
            </a:extLst>
          </p:cNvPr>
          <p:cNvGrpSpPr/>
          <p:nvPr/>
        </p:nvGrpSpPr>
        <p:grpSpPr>
          <a:xfrm>
            <a:off x="87117" y="4321871"/>
            <a:ext cx="5726313" cy="1459895"/>
            <a:chOff x="6170218" y="824087"/>
            <a:chExt cx="5726313" cy="1459895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6026EB4-C2BC-4318-845C-BEFD4F37ADDD}"/>
                </a:ext>
              </a:extLst>
            </p:cNvPr>
            <p:cNvSpPr/>
            <p:nvPr/>
          </p:nvSpPr>
          <p:spPr>
            <a:xfrm>
              <a:off x="6170218" y="824087"/>
              <a:ext cx="4837449" cy="3755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Logic expression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30CA746-5B5E-4A34-BAC1-F6423FBE243C}"/>
                </a:ext>
              </a:extLst>
            </p:cNvPr>
            <p:cNvSpPr/>
            <p:nvPr/>
          </p:nvSpPr>
          <p:spPr>
            <a:xfrm>
              <a:off x="6260841" y="1186725"/>
              <a:ext cx="5635690" cy="109725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2400" b="1" dirty="0">
                  <a:solidFill>
                    <a:srgbClr val="C00000"/>
                  </a:solidFill>
                </a:rPr>
                <a:t>D = NOT(C AND (A OR B)) </a:t>
              </a:r>
            </a:p>
            <a:p>
              <a:r>
                <a:rPr lang="en-GB" sz="2400" b="1" dirty="0">
                  <a:solidFill>
                    <a:srgbClr val="C00000"/>
                  </a:solidFill>
                </a:rPr>
                <a:t>D = NOT((A OR B) AND C)</a:t>
              </a:r>
            </a:p>
          </p:txBody>
        </p: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B4AF6005-9DC2-4D29-874C-AF20959090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087" y="1187927"/>
            <a:ext cx="3655275" cy="20496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2F71412-6480-4528-A4D1-624E0B7CE9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8362" y="1650128"/>
            <a:ext cx="3655275" cy="20496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2D45BAB-943A-4A72-BDE9-45FF489C15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0940" y="1640603"/>
            <a:ext cx="3655275" cy="20608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66765C5F-EEB2-4768-AE05-15740C6DC3A9}"/>
              </a:ext>
            </a:extLst>
          </p:cNvPr>
          <p:cNvSpPr/>
          <p:nvPr/>
        </p:nvSpPr>
        <p:spPr>
          <a:xfrm>
            <a:off x="8848001" y="2475927"/>
            <a:ext cx="131005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  <a:effectLst/>
              </a:rPr>
              <a:t>NOT</a:t>
            </a:r>
            <a:endParaRPr lang="en-GB" dirty="0">
              <a:solidFill>
                <a:srgbClr val="C00000"/>
              </a:solidFill>
              <a:effectLst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9920A07-EA6F-4367-986B-B7FA3044BCF9}"/>
              </a:ext>
            </a:extLst>
          </p:cNvPr>
          <p:cNvSpPr/>
          <p:nvPr/>
        </p:nvSpPr>
        <p:spPr>
          <a:xfrm>
            <a:off x="5440973" y="2475928"/>
            <a:ext cx="1310052" cy="584775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  <a:effectLst/>
              </a:rPr>
              <a:t>AND</a:t>
            </a:r>
            <a:endParaRPr lang="en-GB" dirty="0">
              <a:solidFill>
                <a:srgbClr val="C00000"/>
              </a:solidFill>
              <a:effectLst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A263962-04A7-447D-B9AC-C63D97251019}"/>
              </a:ext>
            </a:extLst>
          </p:cNvPr>
          <p:cNvSpPr/>
          <p:nvPr/>
        </p:nvSpPr>
        <p:spPr>
          <a:xfrm>
            <a:off x="1819207" y="2006259"/>
            <a:ext cx="131005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  <a:effectLst/>
              </a:rPr>
              <a:t>OR</a:t>
            </a:r>
            <a:endParaRPr lang="en-GB" dirty="0">
              <a:solidFill>
                <a:srgbClr val="C00000"/>
              </a:solidFill>
              <a:effectLst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BC02EC3-EF7C-45C0-95B4-3E4426391003}"/>
              </a:ext>
            </a:extLst>
          </p:cNvPr>
          <p:cNvSpPr/>
          <p:nvPr/>
        </p:nvSpPr>
        <p:spPr>
          <a:xfrm>
            <a:off x="-23700" y="1598765"/>
            <a:ext cx="8350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  <a:effectLst/>
              </a:rPr>
              <a:t>A</a:t>
            </a:r>
            <a:endParaRPr lang="en-GB" dirty="0">
              <a:solidFill>
                <a:srgbClr val="C00000"/>
              </a:solidFill>
              <a:effectLst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A327B7A-5850-4B44-90C2-69802A23E30D}"/>
              </a:ext>
            </a:extLst>
          </p:cNvPr>
          <p:cNvSpPr/>
          <p:nvPr/>
        </p:nvSpPr>
        <p:spPr>
          <a:xfrm>
            <a:off x="-36396" y="2475926"/>
            <a:ext cx="8350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  <a:effectLst/>
              </a:rPr>
              <a:t>B</a:t>
            </a:r>
            <a:endParaRPr lang="en-GB" dirty="0">
              <a:solidFill>
                <a:srgbClr val="C00000"/>
              </a:solidFill>
              <a:effectLst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15C6203-5020-4E89-B6FD-4CC4E0386E6A}"/>
              </a:ext>
            </a:extLst>
          </p:cNvPr>
          <p:cNvSpPr/>
          <p:nvPr/>
        </p:nvSpPr>
        <p:spPr>
          <a:xfrm>
            <a:off x="3618878" y="2954664"/>
            <a:ext cx="835029" cy="584775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  <a:effectLst/>
              </a:rPr>
              <a:t>C</a:t>
            </a:r>
            <a:endParaRPr lang="en-GB" dirty="0">
              <a:solidFill>
                <a:srgbClr val="C00000"/>
              </a:solidFill>
              <a:effectLst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CA846B7-1511-491D-AEC9-F1E8DA44AB97}"/>
              </a:ext>
            </a:extLst>
          </p:cNvPr>
          <p:cNvSpPr/>
          <p:nvPr/>
        </p:nvSpPr>
        <p:spPr>
          <a:xfrm>
            <a:off x="11393366" y="2485479"/>
            <a:ext cx="8350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  <a:effectLst/>
              </a:rPr>
              <a:t>D</a:t>
            </a:r>
            <a:endParaRPr lang="en-GB" dirty="0">
              <a:solidFill>
                <a:srgbClr val="C00000"/>
              </a:solidFill>
              <a:effectLst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EC50D81-18ED-6441-AEC1-21693ADBBFDE}"/>
              </a:ext>
            </a:extLst>
          </p:cNvPr>
          <p:cNvSpPr/>
          <p:nvPr/>
        </p:nvSpPr>
        <p:spPr>
          <a:xfrm>
            <a:off x="176566" y="6375204"/>
            <a:ext cx="11873724" cy="333965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Another acceptable answer would be D = NOT((A OR B) AND C) – these two expressions mean the same thing.</a:t>
            </a:r>
            <a:endParaRPr lang="en-GB" sz="1600" b="1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02807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9415110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logic circuits to truth tables to logic expressions and vice versa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9F60D9F-F693-41BA-B41C-F011E56EF4C8}"/>
              </a:ext>
            </a:extLst>
          </p:cNvPr>
          <p:cNvGrpSpPr/>
          <p:nvPr/>
        </p:nvGrpSpPr>
        <p:grpSpPr>
          <a:xfrm>
            <a:off x="2608641" y="5276170"/>
            <a:ext cx="5726313" cy="1433001"/>
            <a:chOff x="6170218" y="824088"/>
            <a:chExt cx="5726313" cy="14330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6026EB4-C2BC-4318-845C-BEFD4F37ADDD}"/>
                </a:ext>
              </a:extLst>
            </p:cNvPr>
            <p:cNvSpPr/>
            <p:nvPr/>
          </p:nvSpPr>
          <p:spPr>
            <a:xfrm>
              <a:off x="6170218" y="824088"/>
              <a:ext cx="4837449" cy="3755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Logic expression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30CA746-5B5E-4A34-BAC1-F6423FBE243C}"/>
                </a:ext>
              </a:extLst>
            </p:cNvPr>
            <p:cNvSpPr/>
            <p:nvPr/>
          </p:nvSpPr>
          <p:spPr>
            <a:xfrm>
              <a:off x="6260841" y="1186726"/>
              <a:ext cx="5635690" cy="10703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GB" sz="2400" b="1" dirty="0">
                <a:solidFill>
                  <a:srgbClr val="C00000"/>
                </a:solidFill>
              </a:endParaRP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ADD30296-14F8-4DB8-B246-15D471B48551}"/>
              </a:ext>
            </a:extLst>
          </p:cNvPr>
          <p:cNvSpPr/>
          <p:nvPr/>
        </p:nvSpPr>
        <p:spPr>
          <a:xfrm>
            <a:off x="-13934" y="1434480"/>
            <a:ext cx="8350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  <a:effectLst/>
              </a:rPr>
              <a:t>A</a:t>
            </a:r>
            <a:endParaRPr lang="en-GB" dirty="0">
              <a:solidFill>
                <a:srgbClr val="C00000"/>
              </a:solidFill>
              <a:effectLst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18C213-063A-4B15-B991-04B7B4BC8FFD}"/>
              </a:ext>
            </a:extLst>
          </p:cNvPr>
          <p:cNvSpPr/>
          <p:nvPr/>
        </p:nvSpPr>
        <p:spPr>
          <a:xfrm>
            <a:off x="-13934" y="2379872"/>
            <a:ext cx="8350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  <a:effectLst/>
              </a:rPr>
              <a:t>B</a:t>
            </a:r>
            <a:endParaRPr lang="en-GB" dirty="0">
              <a:solidFill>
                <a:srgbClr val="C00000"/>
              </a:solidFill>
              <a:effectLst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090037-E4BC-443F-B2CB-778080A58FFD}"/>
              </a:ext>
            </a:extLst>
          </p:cNvPr>
          <p:cNvSpPr/>
          <p:nvPr/>
        </p:nvSpPr>
        <p:spPr>
          <a:xfrm>
            <a:off x="-13935" y="4620874"/>
            <a:ext cx="8350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  <a:effectLst/>
              </a:rPr>
              <a:t>C</a:t>
            </a:r>
            <a:endParaRPr lang="en-GB" dirty="0">
              <a:solidFill>
                <a:srgbClr val="C00000"/>
              </a:solidFill>
              <a:effectLst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0338177-C930-4095-87D1-6D75DF0A8DB4}"/>
              </a:ext>
            </a:extLst>
          </p:cNvPr>
          <p:cNvSpPr/>
          <p:nvPr/>
        </p:nvSpPr>
        <p:spPr>
          <a:xfrm>
            <a:off x="7810455" y="3261986"/>
            <a:ext cx="8350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  <a:effectLst/>
              </a:rPr>
              <a:t>D</a:t>
            </a:r>
            <a:endParaRPr lang="en-GB" dirty="0">
              <a:solidFill>
                <a:srgbClr val="C00000"/>
              </a:solidFill>
              <a:effectLst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AA89315-5157-4BC0-936D-E5559A65C43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175" y="1054099"/>
            <a:ext cx="7315200" cy="480377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964D798-BF4F-4060-BCF0-FA7230B352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00" y="1057275"/>
            <a:ext cx="3655275" cy="20496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E1DB3443-1F7C-4438-939F-B2ADA41794CF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Let’s try another example.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Pause the video and write out </a:t>
            </a:r>
            <a:r>
              <a:rPr lang="en-GB" sz="1600" b="1" dirty="0">
                <a:solidFill>
                  <a:schemeClr val="tx1"/>
                </a:solidFill>
              </a:rPr>
              <a:t>the logic expression </a:t>
            </a:r>
            <a:r>
              <a:rPr lang="en-GB" sz="1600" dirty="0">
                <a:solidFill>
                  <a:schemeClr val="tx1"/>
                </a:solidFill>
              </a:rPr>
              <a:t>for this logic circuit – then check your answer.</a:t>
            </a:r>
          </a:p>
          <a:p>
            <a:pPr>
              <a:spcAft>
                <a:spcPts val="800"/>
              </a:spcAft>
            </a:pPr>
            <a:endParaRPr lang="en-GB" sz="1600" b="1" dirty="0">
              <a:solidFill>
                <a:schemeClr val="tx1"/>
              </a:solidFill>
            </a:endParaRPr>
          </a:p>
          <a:p>
            <a:pPr>
              <a:spcAft>
                <a:spcPts val="800"/>
              </a:spcAft>
            </a:pPr>
            <a:endParaRPr lang="en-GB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36631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9415110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logic circuits to truth tables to logic expressions and vice versa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9F60D9F-F693-41BA-B41C-F011E56EF4C8}"/>
              </a:ext>
            </a:extLst>
          </p:cNvPr>
          <p:cNvGrpSpPr/>
          <p:nvPr/>
        </p:nvGrpSpPr>
        <p:grpSpPr>
          <a:xfrm>
            <a:off x="2608641" y="5276170"/>
            <a:ext cx="5726313" cy="1433001"/>
            <a:chOff x="6170218" y="824088"/>
            <a:chExt cx="5726313" cy="14330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6026EB4-C2BC-4318-845C-BEFD4F37ADDD}"/>
                </a:ext>
              </a:extLst>
            </p:cNvPr>
            <p:cNvSpPr/>
            <p:nvPr/>
          </p:nvSpPr>
          <p:spPr>
            <a:xfrm>
              <a:off x="6170218" y="824088"/>
              <a:ext cx="4837449" cy="3755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Logic expression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30CA746-5B5E-4A34-BAC1-F6423FBE243C}"/>
                </a:ext>
              </a:extLst>
            </p:cNvPr>
            <p:cNvSpPr/>
            <p:nvPr/>
          </p:nvSpPr>
          <p:spPr>
            <a:xfrm>
              <a:off x="6260841" y="1186726"/>
              <a:ext cx="5635690" cy="10703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2400" b="1" dirty="0">
                  <a:solidFill>
                    <a:srgbClr val="C00000"/>
                  </a:solidFill>
                </a:rPr>
                <a:t>D = (A XOR B) AND (NOT C)</a:t>
              </a:r>
            </a:p>
            <a:p>
              <a:r>
                <a:rPr lang="en-GB" sz="2400" b="1" dirty="0">
                  <a:solidFill>
                    <a:srgbClr val="C00000"/>
                  </a:solidFill>
                </a:rPr>
                <a:t>D = (NOT C) AND (A OR B)</a:t>
              </a: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ADD30296-14F8-4DB8-B246-15D471B48551}"/>
              </a:ext>
            </a:extLst>
          </p:cNvPr>
          <p:cNvSpPr/>
          <p:nvPr/>
        </p:nvSpPr>
        <p:spPr>
          <a:xfrm>
            <a:off x="-13934" y="1434480"/>
            <a:ext cx="8350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  <a:effectLst/>
              </a:rPr>
              <a:t>A</a:t>
            </a:r>
            <a:endParaRPr lang="en-GB" dirty="0">
              <a:solidFill>
                <a:srgbClr val="C00000"/>
              </a:solidFill>
              <a:effectLst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18C213-063A-4B15-B991-04B7B4BC8FFD}"/>
              </a:ext>
            </a:extLst>
          </p:cNvPr>
          <p:cNvSpPr/>
          <p:nvPr/>
        </p:nvSpPr>
        <p:spPr>
          <a:xfrm>
            <a:off x="-13934" y="2379872"/>
            <a:ext cx="8350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  <a:effectLst/>
              </a:rPr>
              <a:t>B</a:t>
            </a:r>
            <a:endParaRPr lang="en-GB" dirty="0">
              <a:solidFill>
                <a:srgbClr val="C00000"/>
              </a:solidFill>
              <a:effectLst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090037-E4BC-443F-B2CB-778080A58FFD}"/>
              </a:ext>
            </a:extLst>
          </p:cNvPr>
          <p:cNvSpPr/>
          <p:nvPr/>
        </p:nvSpPr>
        <p:spPr>
          <a:xfrm>
            <a:off x="-13935" y="4620874"/>
            <a:ext cx="8350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  <a:effectLst/>
              </a:rPr>
              <a:t>C</a:t>
            </a:r>
            <a:endParaRPr lang="en-GB" dirty="0">
              <a:solidFill>
                <a:srgbClr val="C00000"/>
              </a:solidFill>
              <a:effectLst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0338177-C930-4095-87D1-6D75DF0A8DB4}"/>
              </a:ext>
            </a:extLst>
          </p:cNvPr>
          <p:cNvSpPr/>
          <p:nvPr/>
        </p:nvSpPr>
        <p:spPr>
          <a:xfrm>
            <a:off x="7810455" y="3261986"/>
            <a:ext cx="8350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  <a:effectLst/>
              </a:rPr>
              <a:t>D</a:t>
            </a:r>
            <a:endParaRPr lang="en-GB" dirty="0">
              <a:solidFill>
                <a:srgbClr val="C00000"/>
              </a:solidFill>
              <a:effectLst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AA89315-5157-4BC0-936D-E5559A65C43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175" y="1054102"/>
            <a:ext cx="7315200" cy="480377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964D798-BF4F-4060-BCF0-FA7230B352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00" y="1057275"/>
            <a:ext cx="3655275" cy="20496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E1DB3443-1F7C-4438-939F-B2ADA41794CF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Let’s try another example.</a:t>
            </a:r>
          </a:p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Pause the video and write out </a:t>
            </a:r>
            <a:r>
              <a:rPr lang="en-GB" sz="1600" b="1" dirty="0">
                <a:solidFill>
                  <a:schemeClr val="tx1"/>
                </a:solidFill>
              </a:rPr>
              <a:t>the logic expression </a:t>
            </a:r>
            <a:r>
              <a:rPr lang="en-GB" sz="1600" dirty="0">
                <a:solidFill>
                  <a:schemeClr val="tx1"/>
                </a:solidFill>
              </a:rPr>
              <a:t>for this logic circuit – then check your answer.</a:t>
            </a:r>
            <a:endParaRPr lang="en-GB" sz="1600" b="1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Either of the following two </a:t>
            </a:r>
            <a:r>
              <a:rPr lang="en-GB" sz="1600" b="1" dirty="0">
                <a:solidFill>
                  <a:schemeClr val="tx1"/>
                </a:solidFill>
              </a:rPr>
              <a:t>logic expressions</a:t>
            </a:r>
            <a:r>
              <a:rPr lang="en-GB" sz="1600" dirty="0">
                <a:solidFill>
                  <a:schemeClr val="tx1"/>
                </a:solidFill>
              </a:rPr>
              <a:t> are correct – it all depends which gate you start with: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D = (A XOR B) AND (NOT C)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D = (NOT C) AND (A OR 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97885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9415110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logic circuits to truth tables to logic expressions and vice versa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DB3443-1F7C-4438-939F-B2ADA41794CF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800"/>
              </a:spcAft>
            </a:pPr>
            <a:r>
              <a:rPr lang="en-GB" sz="1600" dirty="0">
                <a:solidFill>
                  <a:schemeClr val="tx1"/>
                </a:solidFill>
              </a:rPr>
              <a:t>In this final example, we are going to tie everything we have learned so far together.</a:t>
            </a:r>
          </a:p>
          <a:p>
            <a:r>
              <a:rPr lang="en-GB" sz="1600" dirty="0">
                <a:solidFill>
                  <a:schemeClr val="tx1"/>
                </a:solidFill>
              </a:rPr>
              <a:t>Carefully read the scenario – then pause the video and try to: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Draw the </a:t>
            </a:r>
            <a:r>
              <a:rPr lang="en-GB" sz="1600" b="1" dirty="0">
                <a:solidFill>
                  <a:schemeClr val="tx1"/>
                </a:solidFill>
              </a:rPr>
              <a:t>logic circuit</a:t>
            </a:r>
            <a:r>
              <a:rPr lang="en-GB" sz="1600" dirty="0">
                <a:solidFill>
                  <a:schemeClr val="tx1"/>
                </a:solidFill>
              </a:rPr>
              <a:t>.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Construct the </a:t>
            </a:r>
            <a:r>
              <a:rPr lang="en-GB" sz="1600" b="1" dirty="0">
                <a:solidFill>
                  <a:schemeClr val="tx1"/>
                </a:solidFill>
              </a:rPr>
              <a:t>truth table</a:t>
            </a:r>
            <a:r>
              <a:rPr lang="en-GB" sz="1600" dirty="0">
                <a:solidFill>
                  <a:schemeClr val="tx1"/>
                </a:solidFill>
              </a:rPr>
              <a:t>.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Write the </a:t>
            </a:r>
            <a:r>
              <a:rPr lang="en-GB" sz="1600" b="1" dirty="0">
                <a:solidFill>
                  <a:schemeClr val="tx1"/>
                </a:solidFill>
              </a:rPr>
              <a:t>logic expression</a:t>
            </a:r>
            <a:r>
              <a:rPr lang="en-GB" sz="1600" dirty="0">
                <a:solidFill>
                  <a:schemeClr val="tx1"/>
                </a:solidFill>
              </a:rPr>
              <a:t>.</a:t>
            </a:r>
          </a:p>
          <a:p>
            <a:pPr lvl="1"/>
            <a:endParaRPr lang="pt-BR" sz="1600" dirty="0">
              <a:solidFill>
                <a:schemeClr val="tx1"/>
              </a:solidFill>
            </a:endParaRPr>
          </a:p>
          <a:p>
            <a:pPr lvl="1"/>
            <a:endParaRPr lang="en-GB" sz="1600" dirty="0">
              <a:solidFill>
                <a:schemeClr val="tx1"/>
              </a:solidFill>
            </a:endParaRPr>
          </a:p>
          <a:p>
            <a:pPr lvl="1"/>
            <a:endParaRPr lang="en-GB" sz="1600" dirty="0">
              <a:solidFill>
                <a:schemeClr val="tx1"/>
              </a:solidFill>
            </a:endParaRPr>
          </a:p>
          <a:p>
            <a:pPr lvl="1"/>
            <a:endParaRPr lang="en-GB" sz="1600" dirty="0">
              <a:solidFill>
                <a:schemeClr val="tx1"/>
              </a:solidFill>
            </a:endParaRPr>
          </a:p>
          <a:p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358F2A6-1C3E-4596-AF7A-2CBEFD882843}"/>
              </a:ext>
            </a:extLst>
          </p:cNvPr>
          <p:cNvSpPr/>
          <p:nvPr/>
        </p:nvSpPr>
        <p:spPr>
          <a:xfrm>
            <a:off x="175877" y="1080733"/>
            <a:ext cx="8148973" cy="1579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A fire alarm goes off if either: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/>
              <a:t>the temperature inside the building rises above 60</a:t>
            </a:r>
            <a:r>
              <a:rPr lang="en-GB" baseline="30000" dirty="0">
                <a:ea typeface="Arial" panose="020B0604020202020204" pitchFamily="34" charset="0"/>
              </a:rPr>
              <a:t>o </a:t>
            </a:r>
            <a:r>
              <a:rPr lang="en-GB" dirty="0">
                <a:ea typeface="Arial" panose="020B0604020202020204" pitchFamily="34" charset="0"/>
              </a:rPr>
              <a:t>Celsius; or</a:t>
            </a:r>
          </a:p>
          <a:p>
            <a:pPr marL="54000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/>
              <a:t>someone manually activates a fire alarm.</a:t>
            </a:r>
          </a:p>
          <a:p>
            <a:r>
              <a:rPr lang="en-GB" dirty="0"/>
              <a:t>A firefighter should be able to manually shut the fire alarm off, regardless of how the alarm was triggered.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3BA4E67-29DF-4DC3-A4F1-88C0CE387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471" y="3114900"/>
            <a:ext cx="2489603" cy="2499661"/>
          </a:xfrm>
          <a:prstGeom prst="rect">
            <a:avLst/>
          </a:prstGeom>
        </p:spPr>
      </p:pic>
      <p:pic>
        <p:nvPicPr>
          <p:cNvPr id="33" name="Picture 32" descr="A close up of a logo&#10;&#10;Description automatically generated">
            <a:extLst>
              <a:ext uri="{FF2B5EF4-FFF2-40B4-BE49-F238E27FC236}">
                <a16:creationId xmlns:a16="http://schemas.microsoft.com/office/drawing/2014/main" id="{3F96C9AA-9503-4060-83DD-1215C87E98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9172" y="2847770"/>
            <a:ext cx="1659047" cy="1659047"/>
          </a:xfrm>
          <a:prstGeom prst="rect">
            <a:avLst/>
          </a:prstGeom>
        </p:spPr>
      </p:pic>
      <p:pic>
        <p:nvPicPr>
          <p:cNvPr id="34" name="Picture 33" descr="A close up of a sign&#10;&#10;Description automatically generated">
            <a:extLst>
              <a:ext uri="{FF2B5EF4-FFF2-40B4-BE49-F238E27FC236}">
                <a16:creationId xmlns:a16="http://schemas.microsoft.com/office/drawing/2014/main" id="{1DA58BEA-967E-4709-AD12-122A027912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4471" y="4757517"/>
            <a:ext cx="1547726" cy="1547726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F0DB754A-59EE-486D-9800-5383D23319F1}"/>
              </a:ext>
            </a:extLst>
          </p:cNvPr>
          <p:cNvGrpSpPr/>
          <p:nvPr/>
        </p:nvGrpSpPr>
        <p:grpSpPr>
          <a:xfrm>
            <a:off x="6018660" y="2938306"/>
            <a:ext cx="2272025" cy="3567836"/>
            <a:chOff x="9144000" y="3524635"/>
            <a:chExt cx="2104608" cy="3304936"/>
          </a:xfrm>
        </p:grpSpPr>
        <p:pic>
          <p:nvPicPr>
            <p:cNvPr id="38" name="Picture 37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42A6E871-89BF-4919-8B7E-E0BDCF2A5B3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44000" y="3524635"/>
              <a:ext cx="2104608" cy="2104608"/>
            </a:xfrm>
            <a:prstGeom prst="rect">
              <a:avLst/>
            </a:prstGeom>
          </p:spPr>
        </p:pic>
        <p:pic>
          <p:nvPicPr>
            <p:cNvPr id="39" name="Picture 38" descr="A close up of a logo&#10;&#10;Description automatically generated">
              <a:extLst>
                <a:ext uri="{FF2B5EF4-FFF2-40B4-BE49-F238E27FC236}">
                  <a16:creationId xmlns:a16="http://schemas.microsoft.com/office/drawing/2014/main" id="{C30C9394-9E84-4323-919B-6B015CC5CE0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44000" y="4724963"/>
              <a:ext cx="2104608" cy="2104608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0E09D2E-8684-4272-A5EC-2045E6E13473}"/>
              </a:ext>
            </a:extLst>
          </p:cNvPr>
          <p:cNvGrpSpPr/>
          <p:nvPr/>
        </p:nvGrpSpPr>
        <p:grpSpPr>
          <a:xfrm>
            <a:off x="2759073" y="3696344"/>
            <a:ext cx="930100" cy="1336773"/>
            <a:chOff x="2759073" y="3696344"/>
            <a:chExt cx="930100" cy="1336773"/>
          </a:xfrm>
        </p:grpSpPr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D3FCFB65-EC8A-442E-BFD4-8B9E36D097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59074" y="3696344"/>
              <a:ext cx="930099" cy="687437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88662EAE-1241-463F-9327-AE4D6DDD47AF}"/>
                </a:ext>
              </a:extLst>
            </p:cNvPr>
            <p:cNvCxnSpPr>
              <a:cxnSpLocks/>
            </p:cNvCxnSpPr>
            <p:nvPr/>
          </p:nvCxnSpPr>
          <p:spPr>
            <a:xfrm>
              <a:off x="2759073" y="4345680"/>
              <a:ext cx="930099" cy="687437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55232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9415110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Constructing a logic circuit for a scenario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DB3443-1F7C-4438-939F-B2ADA41794CF}"/>
              </a:ext>
            </a:extLst>
          </p:cNvPr>
          <p:cNvSpPr/>
          <p:nvPr/>
        </p:nvSpPr>
        <p:spPr>
          <a:xfrm>
            <a:off x="175878" y="6326051"/>
            <a:ext cx="11874412" cy="383119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Here is the correct </a:t>
            </a:r>
            <a:r>
              <a:rPr lang="en-GB" sz="1600" b="1" dirty="0">
                <a:solidFill>
                  <a:schemeClr val="tx1"/>
                </a:solidFill>
              </a:rPr>
              <a:t>logic circuit</a:t>
            </a:r>
            <a:r>
              <a:rPr lang="en-GB" sz="1600" dirty="0">
                <a:solidFill>
                  <a:schemeClr val="tx1"/>
                </a:solidFill>
              </a:rPr>
              <a:t>. Let’s work through the scenario to check it is correct.</a:t>
            </a:r>
          </a:p>
          <a:p>
            <a:pPr lvl="1"/>
            <a:endParaRPr lang="pt-BR" sz="1600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6F40685-0FCB-4516-9747-144607BA2788}"/>
              </a:ext>
            </a:extLst>
          </p:cNvPr>
          <p:cNvGrpSpPr/>
          <p:nvPr/>
        </p:nvGrpSpPr>
        <p:grpSpPr>
          <a:xfrm>
            <a:off x="265415" y="1321018"/>
            <a:ext cx="11695337" cy="4215963"/>
            <a:chOff x="303830" y="2334125"/>
            <a:chExt cx="11695337" cy="4215963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DA7E16A-8FF1-4AA2-9B9C-C670D6BDF3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304217" y="3449041"/>
              <a:ext cx="1694950" cy="1701798"/>
            </a:xfrm>
            <a:prstGeom prst="rect">
              <a:avLst/>
            </a:prstGeom>
          </p:spPr>
        </p:pic>
        <p:pic>
          <p:nvPicPr>
            <p:cNvPr id="16" name="Picture 15" descr="A close up of a logo&#10;&#10;Description automatically generated">
              <a:extLst>
                <a:ext uri="{FF2B5EF4-FFF2-40B4-BE49-F238E27FC236}">
                  <a16:creationId xmlns:a16="http://schemas.microsoft.com/office/drawing/2014/main" id="{3539B0E7-F798-4DBD-A41E-4C9009CC90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3830" y="2692876"/>
              <a:ext cx="722128" cy="722128"/>
            </a:xfrm>
            <a:prstGeom prst="rect">
              <a:avLst/>
            </a:prstGeom>
          </p:spPr>
        </p:pic>
        <p:pic>
          <p:nvPicPr>
            <p:cNvPr id="17" name="Picture 16" descr="A close up of a sign&#10;&#10;Description automatically generated">
              <a:extLst>
                <a:ext uri="{FF2B5EF4-FFF2-40B4-BE49-F238E27FC236}">
                  <a16:creationId xmlns:a16="http://schemas.microsoft.com/office/drawing/2014/main" id="{EEE93E6D-2C57-4E97-BE0B-CFD4C2F26B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7802" y="3549819"/>
              <a:ext cx="673673" cy="673673"/>
            </a:xfrm>
            <a:prstGeom prst="rect">
              <a:avLst/>
            </a:prstGeom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207AE0C-D033-428A-8372-1591ABBFED30}"/>
                </a:ext>
              </a:extLst>
            </p:cNvPr>
            <p:cNvGrpSpPr/>
            <p:nvPr/>
          </p:nvGrpSpPr>
          <p:grpSpPr>
            <a:xfrm>
              <a:off x="339181" y="5127849"/>
              <a:ext cx="890914" cy="1399032"/>
              <a:chOff x="9144000" y="3524635"/>
              <a:chExt cx="2104608" cy="3304936"/>
            </a:xfrm>
          </p:grpSpPr>
          <p:pic>
            <p:nvPicPr>
              <p:cNvPr id="27" name="Picture 26" descr="A picture containing drawing&#10;&#10;Description automatically generated">
                <a:extLst>
                  <a:ext uri="{FF2B5EF4-FFF2-40B4-BE49-F238E27FC236}">
                    <a16:creationId xmlns:a16="http://schemas.microsoft.com/office/drawing/2014/main" id="{35FE0FE6-F621-453D-8B15-F26A183F92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44000" y="3524635"/>
                <a:ext cx="2104608" cy="2104608"/>
              </a:xfrm>
              <a:prstGeom prst="rect">
                <a:avLst/>
              </a:prstGeom>
            </p:spPr>
          </p:pic>
          <p:pic>
            <p:nvPicPr>
              <p:cNvPr id="28" name="Picture 27" descr="A close up of a logo&#10;&#10;Description automatically generated">
                <a:extLst>
                  <a:ext uri="{FF2B5EF4-FFF2-40B4-BE49-F238E27FC236}">
                    <a16:creationId xmlns:a16="http://schemas.microsoft.com/office/drawing/2014/main" id="{790F9B43-7A61-4CC8-B36B-5D29D1CBDB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44000" y="4724963"/>
                <a:ext cx="2104608" cy="2104608"/>
              </a:xfrm>
              <a:prstGeom prst="rect">
                <a:avLst/>
              </a:prstGeom>
            </p:spPr>
          </p:pic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8A21E45-C9B2-4250-B828-D03C27564CB4}"/>
                </a:ext>
              </a:extLst>
            </p:cNvPr>
            <p:cNvGrpSpPr/>
            <p:nvPr/>
          </p:nvGrpSpPr>
          <p:grpSpPr>
            <a:xfrm>
              <a:off x="1153911" y="2334125"/>
              <a:ext cx="9185944" cy="4215963"/>
              <a:chOff x="1153911" y="2334125"/>
              <a:chExt cx="9185944" cy="4215963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913869D1-D854-4199-B0CF-47A70E7511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3911" y="2334125"/>
                <a:ext cx="3575117" cy="2004653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14334097-878A-4C74-8AD2-74D637A410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64738" y="3345782"/>
                <a:ext cx="3575117" cy="2004653"/>
              </a:xfrm>
              <a:prstGeom prst="rect">
                <a:avLst/>
              </a:prstGeom>
            </p:spPr>
          </p:pic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6676796F-A6BA-42C9-A239-3AF5253504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3911" y="4534480"/>
                <a:ext cx="3575117" cy="2015608"/>
              </a:xfrm>
              <a:prstGeom prst="rect">
                <a:avLst/>
              </a:prstGeom>
              <a:effectLst/>
            </p:spPr>
          </p:pic>
          <p:cxnSp>
            <p:nvCxnSpPr>
              <p:cNvPr id="25" name="Connector: Elbow 24">
                <a:extLst>
                  <a:ext uri="{FF2B5EF4-FFF2-40B4-BE49-F238E27FC236}">
                    <a16:creationId xmlns:a16="http://schemas.microsoft.com/office/drawing/2014/main" id="{639F4258-CA9F-4686-9A05-FF0E9DFA2F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38575" y="3432175"/>
                <a:ext cx="3816350" cy="565150"/>
              </a:xfrm>
              <a:prstGeom prst="bentConnector3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Connector: Elbow 25">
                <a:extLst>
                  <a:ext uri="{FF2B5EF4-FFF2-40B4-BE49-F238E27FC236}">
                    <a16:creationId xmlns:a16="http://schemas.microsoft.com/office/drawing/2014/main" id="{2B882833-2A6B-47B6-9D35-386C74FE06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06875" y="4893664"/>
                <a:ext cx="3448050" cy="745478"/>
              </a:xfrm>
              <a:prstGeom prst="bentConnector3">
                <a:avLst>
                  <a:gd name="adj1" fmla="val 45028"/>
                </a:avLst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CC51DE76-B81D-2042-A252-942DBD05BAB8}"/>
              </a:ext>
            </a:extLst>
          </p:cNvPr>
          <p:cNvSpPr/>
          <p:nvPr/>
        </p:nvSpPr>
        <p:spPr>
          <a:xfrm>
            <a:off x="6204419" y="519229"/>
            <a:ext cx="5845871" cy="14260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GB" sz="1600" dirty="0"/>
              <a:t>A fire alarm goes off if either: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sz="1600" dirty="0"/>
              <a:t>the temperature inside the building rises above 60</a:t>
            </a:r>
            <a:r>
              <a:rPr lang="en-GB" sz="1600" baseline="30000" dirty="0">
                <a:ea typeface="Arial" panose="020B0604020202020204" pitchFamily="34" charset="0"/>
              </a:rPr>
              <a:t>o </a:t>
            </a:r>
            <a:r>
              <a:rPr lang="en-GB" sz="1600" dirty="0">
                <a:ea typeface="Arial" panose="020B0604020202020204" pitchFamily="34" charset="0"/>
              </a:rPr>
              <a:t>Celsius; or</a:t>
            </a:r>
          </a:p>
          <a:p>
            <a:pPr marL="54000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600" dirty="0"/>
              <a:t>someone manually activates a fire alarm.</a:t>
            </a:r>
          </a:p>
          <a:p>
            <a:r>
              <a:rPr lang="en-GB" sz="1600" dirty="0"/>
              <a:t>A firefighter should be able to manually shut the fire alarm off, regardless of how the alarm was triggered.</a:t>
            </a:r>
          </a:p>
        </p:txBody>
      </p:sp>
    </p:spTree>
    <p:extLst>
      <p:ext uri="{BB962C8B-B14F-4D97-AF65-F5344CB8AC3E}">
        <p14:creationId xmlns:p14="http://schemas.microsoft.com/office/powerpoint/2010/main" val="31157738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9415110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Constructing a logic circuit for a scenario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DB3443-1F7C-4438-939F-B2ADA41794CF}"/>
              </a:ext>
            </a:extLst>
          </p:cNvPr>
          <p:cNvSpPr/>
          <p:nvPr/>
        </p:nvSpPr>
        <p:spPr>
          <a:xfrm>
            <a:off x="175878" y="5880865"/>
            <a:ext cx="11874412" cy="828305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We should try various inputs and work through the logic.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Let’s start with all inputs as 0/</a:t>
            </a:r>
            <a:r>
              <a:rPr lang="en-GB" sz="1600" b="1" dirty="0">
                <a:solidFill>
                  <a:schemeClr val="tx1"/>
                </a:solidFill>
              </a:rPr>
              <a:t>FALSE</a:t>
            </a:r>
            <a:r>
              <a:rPr lang="en-GB" sz="1600" dirty="0">
                <a:solidFill>
                  <a:schemeClr val="tx1"/>
                </a:solidFill>
              </a:rPr>
              <a:t>. In other words, the temperature is below 60</a:t>
            </a:r>
            <a:r>
              <a:rPr lang="en-GB" sz="1600" baseline="30000" dirty="0">
                <a:solidFill>
                  <a:schemeClr val="tx1"/>
                </a:solidFill>
                <a:ea typeface="Arial" panose="020B0604020202020204" pitchFamily="34" charset="0"/>
              </a:rPr>
              <a:t>o </a:t>
            </a:r>
            <a:r>
              <a:rPr lang="en-GB" sz="1600" dirty="0">
                <a:solidFill>
                  <a:schemeClr val="tx1"/>
                </a:solidFill>
                <a:ea typeface="Arial" panose="020B0604020202020204" pitchFamily="34" charset="0"/>
              </a:rPr>
              <a:t>C, the fire alarm has not be set off and a firefighter has not shut the alarm off manually.</a:t>
            </a:r>
            <a:endParaRPr lang="pt-BR" sz="1600" dirty="0">
              <a:solidFill>
                <a:schemeClr val="tx1"/>
              </a:solidFill>
            </a:endParaRPr>
          </a:p>
          <a:p>
            <a:pPr marL="540000" lvl="1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  <a:p>
            <a:pPr marL="540000" lvl="1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  <a:p>
            <a:pPr marL="540000" lvl="1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  <a:p>
            <a:pPr marL="540000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DA7E16A-8FF1-4AA2-9B9C-C670D6BDF3C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265802" y="2435934"/>
            <a:ext cx="1694950" cy="1701798"/>
          </a:xfrm>
          <a:prstGeom prst="rect">
            <a:avLst/>
          </a:prstGeom>
        </p:spPr>
      </p:pic>
      <p:pic>
        <p:nvPicPr>
          <p:cNvPr id="16" name="Picture 15" descr="A close up of a logo&#10;&#10;Description automatically generated">
            <a:extLst>
              <a:ext uri="{FF2B5EF4-FFF2-40B4-BE49-F238E27FC236}">
                <a16:creationId xmlns:a16="http://schemas.microsoft.com/office/drawing/2014/main" id="{3539B0E7-F798-4DBD-A41E-4C9009CC90B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15" y="1679769"/>
            <a:ext cx="722128" cy="722128"/>
          </a:xfrm>
          <a:prstGeom prst="rect">
            <a:avLst/>
          </a:prstGeom>
        </p:spPr>
      </p:pic>
      <p:pic>
        <p:nvPicPr>
          <p:cNvPr id="17" name="Picture 16" descr="A close up of a sign&#10;&#10;Description automatically generated">
            <a:extLst>
              <a:ext uri="{FF2B5EF4-FFF2-40B4-BE49-F238E27FC236}">
                <a16:creationId xmlns:a16="http://schemas.microsoft.com/office/drawing/2014/main" id="{EEE93E6D-2C57-4E97-BE0B-CFD4C2F26BE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387" y="2536712"/>
            <a:ext cx="673673" cy="673673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2207AE0C-D033-428A-8372-1591ABBFED30}"/>
              </a:ext>
            </a:extLst>
          </p:cNvPr>
          <p:cNvGrpSpPr/>
          <p:nvPr/>
        </p:nvGrpSpPr>
        <p:grpSpPr>
          <a:xfrm>
            <a:off x="300766" y="4114742"/>
            <a:ext cx="890914" cy="1399032"/>
            <a:chOff x="9144000" y="3524635"/>
            <a:chExt cx="2104608" cy="3304936"/>
          </a:xfrm>
        </p:grpSpPr>
        <p:pic>
          <p:nvPicPr>
            <p:cNvPr id="27" name="Picture 26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35FE0FE6-F621-453D-8B15-F26A183F92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44000" y="3524635"/>
              <a:ext cx="2104608" cy="2104608"/>
            </a:xfrm>
            <a:prstGeom prst="rect">
              <a:avLst/>
            </a:prstGeom>
          </p:spPr>
        </p:pic>
        <p:pic>
          <p:nvPicPr>
            <p:cNvPr id="28" name="Picture 27" descr="A close up of a logo&#10;&#10;Description automatically generated">
              <a:extLst>
                <a:ext uri="{FF2B5EF4-FFF2-40B4-BE49-F238E27FC236}">
                  <a16:creationId xmlns:a16="http://schemas.microsoft.com/office/drawing/2014/main" id="{790F9B43-7A61-4CC8-B36B-5D29D1CBDB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44000" y="4724963"/>
              <a:ext cx="2104608" cy="2104608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8A21E45-C9B2-4250-B828-D03C27564CB4}"/>
              </a:ext>
            </a:extLst>
          </p:cNvPr>
          <p:cNvGrpSpPr/>
          <p:nvPr/>
        </p:nvGrpSpPr>
        <p:grpSpPr>
          <a:xfrm>
            <a:off x="1115496" y="1321018"/>
            <a:ext cx="9185944" cy="4215963"/>
            <a:chOff x="1153911" y="2334125"/>
            <a:chExt cx="9185944" cy="4215963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913869D1-D854-4199-B0CF-47A70E7511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3911" y="2334125"/>
              <a:ext cx="3575117" cy="2004653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14334097-878A-4C74-8AD2-74D637A4102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64738" y="3345782"/>
              <a:ext cx="3575117" cy="2004653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6676796F-A6BA-42C9-A239-3AF52535042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3911" y="4534480"/>
              <a:ext cx="3575117" cy="2015608"/>
            </a:xfrm>
            <a:prstGeom prst="rect">
              <a:avLst/>
            </a:prstGeom>
            <a:effectLst/>
          </p:spPr>
        </p:pic>
        <p:cxnSp>
          <p:nvCxnSpPr>
            <p:cNvPr id="25" name="Connector: Elbow 24">
              <a:extLst>
                <a:ext uri="{FF2B5EF4-FFF2-40B4-BE49-F238E27FC236}">
                  <a16:creationId xmlns:a16="http://schemas.microsoft.com/office/drawing/2014/main" id="{639F4258-CA9F-4686-9A05-FF0E9DFA2F85}"/>
                </a:ext>
              </a:extLst>
            </p:cNvPr>
            <p:cNvCxnSpPr>
              <a:cxnSpLocks/>
            </p:cNvCxnSpPr>
            <p:nvPr/>
          </p:nvCxnSpPr>
          <p:spPr>
            <a:xfrm>
              <a:off x="3838575" y="3432175"/>
              <a:ext cx="3816350" cy="565150"/>
            </a:xfrm>
            <a:prstGeom prst="bentConnector3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: Elbow 25">
              <a:extLst>
                <a:ext uri="{FF2B5EF4-FFF2-40B4-BE49-F238E27FC236}">
                  <a16:creationId xmlns:a16="http://schemas.microsoft.com/office/drawing/2014/main" id="{2B882833-2A6B-47B6-9D35-386C74FE06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06875" y="4893664"/>
              <a:ext cx="3448050" cy="745478"/>
            </a:xfrm>
            <a:prstGeom prst="bentConnector3">
              <a:avLst>
                <a:gd name="adj1" fmla="val 45028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A504FC04-5FA5-473F-A244-7DE0E7618979}"/>
              </a:ext>
            </a:extLst>
          </p:cNvPr>
          <p:cNvSpPr txBox="1"/>
          <p:nvPr/>
        </p:nvSpPr>
        <p:spPr>
          <a:xfrm>
            <a:off x="1125336" y="1297521"/>
            <a:ext cx="4012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930CB7A-F3FC-451B-B92B-27A8D3A05F6D}"/>
              </a:ext>
            </a:extLst>
          </p:cNvPr>
          <p:cNvSpPr txBox="1"/>
          <p:nvPr/>
        </p:nvSpPr>
        <p:spPr>
          <a:xfrm>
            <a:off x="1119892" y="2192252"/>
            <a:ext cx="4012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BA3782-8AF6-4133-BD41-4AB870D5AAAE}"/>
              </a:ext>
            </a:extLst>
          </p:cNvPr>
          <p:cNvSpPr txBox="1"/>
          <p:nvPr/>
        </p:nvSpPr>
        <p:spPr>
          <a:xfrm>
            <a:off x="1119892" y="3949030"/>
            <a:ext cx="4012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5738192-2196-4243-98D7-9E8ECF0BCBC3}"/>
              </a:ext>
            </a:extLst>
          </p:cNvPr>
          <p:cNvSpPr txBox="1"/>
          <p:nvPr/>
        </p:nvSpPr>
        <p:spPr>
          <a:xfrm>
            <a:off x="3872594" y="1742153"/>
            <a:ext cx="4012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8F08218-2BC7-46DB-BC3B-FFDE154FF38A}"/>
              </a:ext>
            </a:extLst>
          </p:cNvPr>
          <p:cNvSpPr txBox="1"/>
          <p:nvPr/>
        </p:nvSpPr>
        <p:spPr>
          <a:xfrm>
            <a:off x="4206875" y="3952350"/>
            <a:ext cx="4012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B2CA1D3-EE6F-4C90-A192-E30497F9D549}"/>
              </a:ext>
            </a:extLst>
          </p:cNvPr>
          <p:cNvSpPr txBox="1"/>
          <p:nvPr/>
        </p:nvSpPr>
        <p:spPr>
          <a:xfrm>
            <a:off x="9480502" y="2755389"/>
            <a:ext cx="4012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>
                <a:solidFill>
                  <a:srgbClr val="C00000"/>
                </a:solidFill>
              </a:rPr>
              <a:t>0</a:t>
            </a: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49F4E06E-16E1-4AEA-82AD-48E7D8988C99}"/>
              </a:ext>
            </a:extLst>
          </p:cNvPr>
          <p:cNvCxnSpPr/>
          <p:nvPr/>
        </p:nvCxnSpPr>
        <p:spPr>
          <a:xfrm flipV="1">
            <a:off x="4168460" y="3880557"/>
            <a:ext cx="3448050" cy="742303"/>
          </a:xfrm>
          <a:prstGeom prst="bentConnector3">
            <a:avLst>
              <a:gd name="adj1" fmla="val 45028"/>
            </a:avLst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8D000B8C-05CD-CDB5-5C18-FE051B4CCC90}"/>
              </a:ext>
            </a:extLst>
          </p:cNvPr>
          <p:cNvSpPr/>
          <p:nvPr/>
        </p:nvSpPr>
        <p:spPr>
          <a:xfrm>
            <a:off x="6204419" y="519229"/>
            <a:ext cx="5845871" cy="14260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GB" sz="1600" dirty="0"/>
              <a:t>A fire alarm goes off if either: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sz="1600" dirty="0"/>
              <a:t>the temperature inside the building rises above 60</a:t>
            </a:r>
            <a:r>
              <a:rPr lang="en-GB" sz="1600" baseline="30000" dirty="0">
                <a:ea typeface="Arial" panose="020B0604020202020204" pitchFamily="34" charset="0"/>
              </a:rPr>
              <a:t>o </a:t>
            </a:r>
            <a:r>
              <a:rPr lang="en-GB" sz="1600" dirty="0">
                <a:ea typeface="Arial" panose="020B0604020202020204" pitchFamily="34" charset="0"/>
              </a:rPr>
              <a:t>Celsius; or</a:t>
            </a:r>
          </a:p>
          <a:p>
            <a:pPr marL="54000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600" dirty="0"/>
              <a:t>someone manually activates a fire alarm.</a:t>
            </a:r>
          </a:p>
          <a:p>
            <a:r>
              <a:rPr lang="en-GB" sz="1600" dirty="0"/>
              <a:t>A firefighter should be able to manually shut the fire alarm off, regardless of how the alarm was triggered.</a:t>
            </a:r>
          </a:p>
        </p:txBody>
      </p:sp>
    </p:spTree>
    <p:extLst>
      <p:ext uri="{BB962C8B-B14F-4D97-AF65-F5344CB8AC3E}">
        <p14:creationId xmlns:p14="http://schemas.microsoft.com/office/powerpoint/2010/main" val="32756330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9415110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Constructing a logic circuit for a scenario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DA7E16A-8FF1-4AA2-9B9C-C670D6BDF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5802" y="2435934"/>
            <a:ext cx="1694950" cy="1701798"/>
          </a:xfrm>
          <a:prstGeom prst="rect">
            <a:avLst/>
          </a:prstGeom>
        </p:spPr>
      </p:pic>
      <p:pic>
        <p:nvPicPr>
          <p:cNvPr id="16" name="Picture 15" descr="A close up of a logo&#10;&#10;Description automatically generated">
            <a:extLst>
              <a:ext uri="{FF2B5EF4-FFF2-40B4-BE49-F238E27FC236}">
                <a16:creationId xmlns:a16="http://schemas.microsoft.com/office/drawing/2014/main" id="{3539B0E7-F798-4DBD-A41E-4C9009CC90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15" y="1679769"/>
            <a:ext cx="722128" cy="722128"/>
          </a:xfrm>
          <a:prstGeom prst="rect">
            <a:avLst/>
          </a:prstGeom>
        </p:spPr>
      </p:pic>
      <p:pic>
        <p:nvPicPr>
          <p:cNvPr id="17" name="Picture 16" descr="A close up of a sign&#10;&#10;Description automatically generated">
            <a:extLst>
              <a:ext uri="{FF2B5EF4-FFF2-40B4-BE49-F238E27FC236}">
                <a16:creationId xmlns:a16="http://schemas.microsoft.com/office/drawing/2014/main" id="{EEE93E6D-2C57-4E97-BE0B-CFD4C2F26BE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387" y="2536712"/>
            <a:ext cx="673673" cy="673673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2207AE0C-D033-428A-8372-1591ABBFED30}"/>
              </a:ext>
            </a:extLst>
          </p:cNvPr>
          <p:cNvGrpSpPr/>
          <p:nvPr/>
        </p:nvGrpSpPr>
        <p:grpSpPr>
          <a:xfrm>
            <a:off x="300766" y="4114742"/>
            <a:ext cx="890914" cy="1399032"/>
            <a:chOff x="9144000" y="3524635"/>
            <a:chExt cx="2104608" cy="3304936"/>
          </a:xfrm>
        </p:grpSpPr>
        <p:pic>
          <p:nvPicPr>
            <p:cNvPr id="27" name="Picture 26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35FE0FE6-F621-453D-8B15-F26A183F92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44000" y="3524635"/>
              <a:ext cx="2104608" cy="2104608"/>
            </a:xfrm>
            <a:prstGeom prst="rect">
              <a:avLst/>
            </a:prstGeom>
          </p:spPr>
        </p:pic>
        <p:pic>
          <p:nvPicPr>
            <p:cNvPr id="28" name="Picture 27" descr="A close up of a logo&#10;&#10;Description automatically generated">
              <a:extLst>
                <a:ext uri="{FF2B5EF4-FFF2-40B4-BE49-F238E27FC236}">
                  <a16:creationId xmlns:a16="http://schemas.microsoft.com/office/drawing/2014/main" id="{790F9B43-7A61-4CC8-B36B-5D29D1CBDB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44000" y="4724963"/>
              <a:ext cx="2104608" cy="2104608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8A21E45-C9B2-4250-B828-D03C27564CB4}"/>
              </a:ext>
            </a:extLst>
          </p:cNvPr>
          <p:cNvGrpSpPr/>
          <p:nvPr/>
        </p:nvGrpSpPr>
        <p:grpSpPr>
          <a:xfrm>
            <a:off x="1115496" y="1321018"/>
            <a:ext cx="9185944" cy="4215963"/>
            <a:chOff x="1153911" y="2334125"/>
            <a:chExt cx="9185944" cy="4215963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913869D1-D854-4199-B0CF-47A70E7511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3911" y="2334125"/>
              <a:ext cx="3575117" cy="2004653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14334097-878A-4C74-8AD2-74D637A4102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64738" y="3345782"/>
              <a:ext cx="3575117" cy="2004653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6676796F-A6BA-42C9-A239-3AF52535042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3911" y="4534480"/>
              <a:ext cx="3575117" cy="2015608"/>
            </a:xfrm>
            <a:prstGeom prst="rect">
              <a:avLst/>
            </a:prstGeom>
            <a:effectLst/>
          </p:spPr>
        </p:pic>
        <p:cxnSp>
          <p:nvCxnSpPr>
            <p:cNvPr id="25" name="Connector: Elbow 24">
              <a:extLst>
                <a:ext uri="{FF2B5EF4-FFF2-40B4-BE49-F238E27FC236}">
                  <a16:creationId xmlns:a16="http://schemas.microsoft.com/office/drawing/2014/main" id="{639F4258-CA9F-4686-9A05-FF0E9DFA2F85}"/>
                </a:ext>
              </a:extLst>
            </p:cNvPr>
            <p:cNvCxnSpPr>
              <a:cxnSpLocks/>
            </p:cNvCxnSpPr>
            <p:nvPr/>
          </p:nvCxnSpPr>
          <p:spPr>
            <a:xfrm>
              <a:off x="3838575" y="3432175"/>
              <a:ext cx="3816350" cy="565150"/>
            </a:xfrm>
            <a:prstGeom prst="bentConnector3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: Elbow 25">
              <a:extLst>
                <a:ext uri="{FF2B5EF4-FFF2-40B4-BE49-F238E27FC236}">
                  <a16:creationId xmlns:a16="http://schemas.microsoft.com/office/drawing/2014/main" id="{2B882833-2A6B-47B6-9D35-386C74FE06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06875" y="4893664"/>
              <a:ext cx="3448050" cy="745478"/>
            </a:xfrm>
            <a:prstGeom prst="bentConnector3">
              <a:avLst>
                <a:gd name="adj1" fmla="val 45028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A504FC04-5FA5-473F-A244-7DE0E7618979}"/>
              </a:ext>
            </a:extLst>
          </p:cNvPr>
          <p:cNvSpPr txBox="1"/>
          <p:nvPr/>
        </p:nvSpPr>
        <p:spPr>
          <a:xfrm>
            <a:off x="1125336" y="1297521"/>
            <a:ext cx="4012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930CB7A-F3FC-451B-B92B-27A8D3A05F6D}"/>
              </a:ext>
            </a:extLst>
          </p:cNvPr>
          <p:cNvSpPr txBox="1"/>
          <p:nvPr/>
        </p:nvSpPr>
        <p:spPr>
          <a:xfrm>
            <a:off x="1119892" y="2192252"/>
            <a:ext cx="4012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BA3782-8AF6-4133-BD41-4AB870D5AAAE}"/>
              </a:ext>
            </a:extLst>
          </p:cNvPr>
          <p:cNvSpPr txBox="1"/>
          <p:nvPr/>
        </p:nvSpPr>
        <p:spPr>
          <a:xfrm>
            <a:off x="1119892" y="3949030"/>
            <a:ext cx="4012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5738192-2196-4243-98D7-9E8ECF0BCBC3}"/>
              </a:ext>
            </a:extLst>
          </p:cNvPr>
          <p:cNvSpPr txBox="1"/>
          <p:nvPr/>
        </p:nvSpPr>
        <p:spPr>
          <a:xfrm>
            <a:off x="3872594" y="1742153"/>
            <a:ext cx="4012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8F08218-2BC7-46DB-BC3B-FFDE154FF38A}"/>
              </a:ext>
            </a:extLst>
          </p:cNvPr>
          <p:cNvSpPr txBox="1"/>
          <p:nvPr/>
        </p:nvSpPr>
        <p:spPr>
          <a:xfrm>
            <a:off x="4206875" y="3952350"/>
            <a:ext cx="4012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B2CA1D3-EE6F-4C90-A192-E30497F9D549}"/>
              </a:ext>
            </a:extLst>
          </p:cNvPr>
          <p:cNvSpPr txBox="1"/>
          <p:nvPr/>
        </p:nvSpPr>
        <p:spPr>
          <a:xfrm>
            <a:off x="9480502" y="2755389"/>
            <a:ext cx="4012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>
                <a:solidFill>
                  <a:srgbClr val="C00000"/>
                </a:solidFill>
              </a:rPr>
              <a:t>1</a:t>
            </a: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49F4E06E-16E1-4AEA-82AD-48E7D8988C99}"/>
              </a:ext>
            </a:extLst>
          </p:cNvPr>
          <p:cNvCxnSpPr/>
          <p:nvPr/>
        </p:nvCxnSpPr>
        <p:spPr>
          <a:xfrm flipV="1">
            <a:off x="4168460" y="3880557"/>
            <a:ext cx="3448050" cy="742303"/>
          </a:xfrm>
          <a:prstGeom prst="bentConnector3">
            <a:avLst>
              <a:gd name="adj1" fmla="val 45028"/>
            </a:avLst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A7DF92C-EF71-4620-ABE2-91620701D3B2}"/>
              </a:ext>
            </a:extLst>
          </p:cNvPr>
          <p:cNvCxnSpPr>
            <a:cxnSpLocks/>
          </p:cNvCxnSpPr>
          <p:nvPr/>
        </p:nvCxnSpPr>
        <p:spPr>
          <a:xfrm>
            <a:off x="1144055" y="1971226"/>
            <a:ext cx="1065745" cy="0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BED60853-7AFF-4BD3-82E8-338173118695}"/>
              </a:ext>
            </a:extLst>
          </p:cNvPr>
          <p:cNvCxnSpPr>
            <a:cxnSpLocks/>
          </p:cNvCxnSpPr>
          <p:nvPr/>
        </p:nvCxnSpPr>
        <p:spPr>
          <a:xfrm>
            <a:off x="3778606" y="2418284"/>
            <a:ext cx="3837904" cy="56593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02C1603-0F29-4487-8C37-F3199B39714C}"/>
              </a:ext>
            </a:extLst>
          </p:cNvPr>
          <p:cNvCxnSpPr>
            <a:cxnSpLocks/>
          </p:cNvCxnSpPr>
          <p:nvPr/>
        </p:nvCxnSpPr>
        <p:spPr>
          <a:xfrm>
            <a:off x="9396470" y="3429000"/>
            <a:ext cx="904970" cy="0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9F4FA7C2-7228-824F-A4C4-D2EFB8FC652D}"/>
              </a:ext>
            </a:extLst>
          </p:cNvPr>
          <p:cNvSpPr/>
          <p:nvPr/>
        </p:nvSpPr>
        <p:spPr>
          <a:xfrm>
            <a:off x="175878" y="5880865"/>
            <a:ext cx="11874412" cy="828305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If the temperature rises above 60</a:t>
            </a:r>
            <a:r>
              <a:rPr lang="en-GB" sz="1600" baseline="30000" dirty="0">
                <a:solidFill>
                  <a:schemeClr val="tx1"/>
                </a:solidFill>
              </a:rPr>
              <a:t>o</a:t>
            </a:r>
            <a:r>
              <a:rPr lang="en-GB" sz="1600" dirty="0">
                <a:solidFill>
                  <a:schemeClr val="tx1"/>
                </a:solidFill>
              </a:rPr>
              <a:t> Celsius, the firm alarm should go off.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We can see that if we set the temperature input to 1/</a:t>
            </a:r>
            <a:r>
              <a:rPr lang="en-GB" sz="1600" b="1" dirty="0">
                <a:solidFill>
                  <a:schemeClr val="tx1"/>
                </a:solidFill>
              </a:rPr>
              <a:t>TRUE</a:t>
            </a:r>
            <a:r>
              <a:rPr lang="en-GB" sz="1600" dirty="0">
                <a:solidFill>
                  <a:schemeClr val="tx1"/>
                </a:solidFill>
              </a:rPr>
              <a:t>, then both inputs to the final </a:t>
            </a:r>
            <a:r>
              <a:rPr lang="en-GB" sz="1600" b="1" dirty="0">
                <a:solidFill>
                  <a:schemeClr val="tx1"/>
                </a:solidFill>
              </a:rPr>
              <a:t>AND</a:t>
            </a:r>
            <a:r>
              <a:rPr lang="en-GB" sz="1600" dirty="0">
                <a:solidFill>
                  <a:schemeClr val="tx1"/>
                </a:solidFill>
              </a:rPr>
              <a:t> gate are 1/</a:t>
            </a:r>
            <a:r>
              <a:rPr lang="en-GB" sz="1600" b="1" dirty="0">
                <a:solidFill>
                  <a:schemeClr val="tx1"/>
                </a:solidFill>
              </a:rPr>
              <a:t>TRUE</a:t>
            </a:r>
            <a:r>
              <a:rPr lang="en-GB" sz="1600" dirty="0">
                <a:solidFill>
                  <a:schemeClr val="tx1"/>
                </a:solidFill>
              </a:rPr>
              <a:t> and the final output is 1/</a:t>
            </a:r>
            <a:r>
              <a:rPr lang="en-GB" sz="1600" b="1" dirty="0">
                <a:solidFill>
                  <a:schemeClr val="tx1"/>
                </a:solidFill>
              </a:rPr>
              <a:t>TRUE</a:t>
            </a:r>
            <a:r>
              <a:rPr lang="en-GB" sz="1600" dirty="0">
                <a:solidFill>
                  <a:schemeClr val="tx1"/>
                </a:solidFill>
              </a:rPr>
              <a:t>, meaning the fire alarm goes off.</a:t>
            </a:r>
            <a:endParaRPr lang="pt-BR" sz="1600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40F4F4-F0CD-F25A-1597-F0DDAC6C9375}"/>
              </a:ext>
            </a:extLst>
          </p:cNvPr>
          <p:cNvSpPr/>
          <p:nvPr/>
        </p:nvSpPr>
        <p:spPr>
          <a:xfrm>
            <a:off x="6204419" y="519229"/>
            <a:ext cx="5845871" cy="14260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GB" sz="1600" dirty="0"/>
              <a:t>A fire alarm goes off if either: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sz="1600" dirty="0"/>
              <a:t>the temperature inside the building rises above 60</a:t>
            </a:r>
            <a:r>
              <a:rPr lang="en-GB" sz="1600" baseline="30000" dirty="0">
                <a:ea typeface="Arial" panose="020B0604020202020204" pitchFamily="34" charset="0"/>
              </a:rPr>
              <a:t>o </a:t>
            </a:r>
            <a:r>
              <a:rPr lang="en-GB" sz="1600" dirty="0">
                <a:ea typeface="Arial" panose="020B0604020202020204" pitchFamily="34" charset="0"/>
              </a:rPr>
              <a:t>Celsius; or</a:t>
            </a:r>
          </a:p>
          <a:p>
            <a:pPr marL="54000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600" dirty="0"/>
              <a:t>someone manually activates a fire alarm.</a:t>
            </a:r>
          </a:p>
          <a:p>
            <a:r>
              <a:rPr lang="en-GB" sz="1600" dirty="0"/>
              <a:t>A firefighter should be able to manually shut the fire alarm off, regardless of how the alarm was triggered.</a:t>
            </a:r>
          </a:p>
        </p:txBody>
      </p:sp>
    </p:spTree>
    <p:extLst>
      <p:ext uri="{BB962C8B-B14F-4D97-AF65-F5344CB8AC3E}">
        <p14:creationId xmlns:p14="http://schemas.microsoft.com/office/powerpoint/2010/main" val="14515309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9415110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Constructing a logic circuit for a scenario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DB3443-1F7C-4438-939F-B2ADA41794CF}"/>
              </a:ext>
            </a:extLst>
          </p:cNvPr>
          <p:cNvSpPr/>
          <p:nvPr/>
        </p:nvSpPr>
        <p:spPr>
          <a:xfrm>
            <a:off x="175878" y="6105785"/>
            <a:ext cx="11874412" cy="603385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If the alarm set off manually, it should go off – this results in the same situation as before. Once again, the final </a:t>
            </a:r>
            <a:r>
              <a:rPr lang="en-GB" sz="1600" b="1" dirty="0">
                <a:solidFill>
                  <a:schemeClr val="tx1"/>
                </a:solidFill>
              </a:rPr>
              <a:t>AND</a:t>
            </a:r>
            <a:r>
              <a:rPr lang="en-GB" sz="1600" dirty="0">
                <a:solidFill>
                  <a:schemeClr val="tx1"/>
                </a:solidFill>
              </a:rPr>
              <a:t> gate output is 1/</a:t>
            </a:r>
            <a:r>
              <a:rPr lang="en-GB" sz="1600" b="1" dirty="0">
                <a:solidFill>
                  <a:schemeClr val="tx1"/>
                </a:solidFill>
              </a:rPr>
              <a:t>TRUE</a:t>
            </a:r>
            <a:r>
              <a:rPr lang="en-GB" sz="1600" dirty="0">
                <a:solidFill>
                  <a:schemeClr val="tx1"/>
                </a:solidFill>
              </a:rPr>
              <a:t> and the fire alarm goes off.</a:t>
            </a:r>
            <a:endParaRPr lang="pt-BR" sz="1600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DA7E16A-8FF1-4AA2-9B9C-C670D6BDF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5802" y="2435934"/>
            <a:ext cx="1694950" cy="1701798"/>
          </a:xfrm>
          <a:prstGeom prst="rect">
            <a:avLst/>
          </a:prstGeom>
        </p:spPr>
      </p:pic>
      <p:pic>
        <p:nvPicPr>
          <p:cNvPr id="16" name="Picture 15" descr="A close up of a logo&#10;&#10;Description automatically generated">
            <a:extLst>
              <a:ext uri="{FF2B5EF4-FFF2-40B4-BE49-F238E27FC236}">
                <a16:creationId xmlns:a16="http://schemas.microsoft.com/office/drawing/2014/main" id="{3539B0E7-F798-4DBD-A41E-4C9009CC90B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15" y="1679769"/>
            <a:ext cx="722128" cy="722128"/>
          </a:xfrm>
          <a:prstGeom prst="rect">
            <a:avLst/>
          </a:prstGeom>
        </p:spPr>
      </p:pic>
      <p:pic>
        <p:nvPicPr>
          <p:cNvPr id="17" name="Picture 16" descr="A close up of a sign&#10;&#10;Description automatically generated">
            <a:extLst>
              <a:ext uri="{FF2B5EF4-FFF2-40B4-BE49-F238E27FC236}">
                <a16:creationId xmlns:a16="http://schemas.microsoft.com/office/drawing/2014/main" id="{EEE93E6D-2C57-4E97-BE0B-CFD4C2F26B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387" y="2536712"/>
            <a:ext cx="673673" cy="673673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2207AE0C-D033-428A-8372-1591ABBFED30}"/>
              </a:ext>
            </a:extLst>
          </p:cNvPr>
          <p:cNvGrpSpPr/>
          <p:nvPr/>
        </p:nvGrpSpPr>
        <p:grpSpPr>
          <a:xfrm>
            <a:off x="300766" y="4114742"/>
            <a:ext cx="890914" cy="1399032"/>
            <a:chOff x="9144000" y="3524635"/>
            <a:chExt cx="2104608" cy="3304936"/>
          </a:xfrm>
        </p:grpSpPr>
        <p:pic>
          <p:nvPicPr>
            <p:cNvPr id="27" name="Picture 26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35FE0FE6-F621-453D-8B15-F26A183F92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44000" y="3524635"/>
              <a:ext cx="2104608" cy="2104608"/>
            </a:xfrm>
            <a:prstGeom prst="rect">
              <a:avLst/>
            </a:prstGeom>
          </p:spPr>
        </p:pic>
        <p:pic>
          <p:nvPicPr>
            <p:cNvPr id="28" name="Picture 27" descr="A close up of a logo&#10;&#10;Description automatically generated">
              <a:extLst>
                <a:ext uri="{FF2B5EF4-FFF2-40B4-BE49-F238E27FC236}">
                  <a16:creationId xmlns:a16="http://schemas.microsoft.com/office/drawing/2014/main" id="{790F9B43-7A61-4CC8-B36B-5D29D1CBDB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44000" y="4724963"/>
              <a:ext cx="2104608" cy="2104608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8A21E45-C9B2-4250-B828-D03C27564CB4}"/>
              </a:ext>
            </a:extLst>
          </p:cNvPr>
          <p:cNvGrpSpPr/>
          <p:nvPr/>
        </p:nvGrpSpPr>
        <p:grpSpPr>
          <a:xfrm>
            <a:off x="1115496" y="1321018"/>
            <a:ext cx="9185944" cy="4215963"/>
            <a:chOff x="1153911" y="2334125"/>
            <a:chExt cx="9185944" cy="4215963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913869D1-D854-4199-B0CF-47A70E7511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3911" y="2334125"/>
              <a:ext cx="3575117" cy="2004653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14334097-878A-4C74-8AD2-74D637A4102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64738" y="3345782"/>
              <a:ext cx="3575117" cy="2004653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6676796F-A6BA-42C9-A239-3AF52535042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3911" y="4534480"/>
              <a:ext cx="3575117" cy="2015608"/>
            </a:xfrm>
            <a:prstGeom prst="rect">
              <a:avLst/>
            </a:prstGeom>
            <a:effectLst/>
          </p:spPr>
        </p:pic>
        <p:cxnSp>
          <p:nvCxnSpPr>
            <p:cNvPr id="25" name="Connector: Elbow 24">
              <a:extLst>
                <a:ext uri="{FF2B5EF4-FFF2-40B4-BE49-F238E27FC236}">
                  <a16:creationId xmlns:a16="http://schemas.microsoft.com/office/drawing/2014/main" id="{639F4258-CA9F-4686-9A05-FF0E9DFA2F85}"/>
                </a:ext>
              </a:extLst>
            </p:cNvPr>
            <p:cNvCxnSpPr>
              <a:cxnSpLocks/>
            </p:cNvCxnSpPr>
            <p:nvPr/>
          </p:nvCxnSpPr>
          <p:spPr>
            <a:xfrm>
              <a:off x="3838575" y="3432175"/>
              <a:ext cx="3816350" cy="565150"/>
            </a:xfrm>
            <a:prstGeom prst="bentConnector3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: Elbow 25">
              <a:extLst>
                <a:ext uri="{FF2B5EF4-FFF2-40B4-BE49-F238E27FC236}">
                  <a16:creationId xmlns:a16="http://schemas.microsoft.com/office/drawing/2014/main" id="{2B882833-2A6B-47B6-9D35-386C74FE06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06875" y="4893664"/>
              <a:ext cx="3448050" cy="745478"/>
            </a:xfrm>
            <a:prstGeom prst="bentConnector3">
              <a:avLst>
                <a:gd name="adj1" fmla="val 45028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A504FC04-5FA5-473F-A244-7DE0E7618979}"/>
              </a:ext>
            </a:extLst>
          </p:cNvPr>
          <p:cNvSpPr txBox="1"/>
          <p:nvPr/>
        </p:nvSpPr>
        <p:spPr>
          <a:xfrm>
            <a:off x="1125336" y="1297521"/>
            <a:ext cx="4012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930CB7A-F3FC-451B-B92B-27A8D3A05F6D}"/>
              </a:ext>
            </a:extLst>
          </p:cNvPr>
          <p:cNvSpPr txBox="1"/>
          <p:nvPr/>
        </p:nvSpPr>
        <p:spPr>
          <a:xfrm>
            <a:off x="1119892" y="2192252"/>
            <a:ext cx="4012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BA3782-8AF6-4133-BD41-4AB870D5AAAE}"/>
              </a:ext>
            </a:extLst>
          </p:cNvPr>
          <p:cNvSpPr txBox="1"/>
          <p:nvPr/>
        </p:nvSpPr>
        <p:spPr>
          <a:xfrm>
            <a:off x="1119892" y="3949030"/>
            <a:ext cx="4012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5738192-2196-4243-98D7-9E8ECF0BCBC3}"/>
              </a:ext>
            </a:extLst>
          </p:cNvPr>
          <p:cNvSpPr txBox="1"/>
          <p:nvPr/>
        </p:nvSpPr>
        <p:spPr>
          <a:xfrm>
            <a:off x="3872594" y="1742153"/>
            <a:ext cx="4012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8F08218-2BC7-46DB-BC3B-FFDE154FF38A}"/>
              </a:ext>
            </a:extLst>
          </p:cNvPr>
          <p:cNvSpPr txBox="1"/>
          <p:nvPr/>
        </p:nvSpPr>
        <p:spPr>
          <a:xfrm>
            <a:off x="4206875" y="3952350"/>
            <a:ext cx="4012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B2CA1D3-EE6F-4C90-A192-E30497F9D549}"/>
              </a:ext>
            </a:extLst>
          </p:cNvPr>
          <p:cNvSpPr txBox="1"/>
          <p:nvPr/>
        </p:nvSpPr>
        <p:spPr>
          <a:xfrm>
            <a:off x="9480502" y="2755389"/>
            <a:ext cx="4012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>
                <a:solidFill>
                  <a:srgbClr val="C00000"/>
                </a:solidFill>
              </a:rPr>
              <a:t>1</a:t>
            </a: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49F4E06E-16E1-4AEA-82AD-48E7D8988C99}"/>
              </a:ext>
            </a:extLst>
          </p:cNvPr>
          <p:cNvCxnSpPr/>
          <p:nvPr/>
        </p:nvCxnSpPr>
        <p:spPr>
          <a:xfrm flipV="1">
            <a:off x="4168460" y="3880557"/>
            <a:ext cx="3448050" cy="742303"/>
          </a:xfrm>
          <a:prstGeom prst="bentConnector3">
            <a:avLst>
              <a:gd name="adj1" fmla="val 45028"/>
            </a:avLst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A7DF92C-EF71-4620-ABE2-91620701D3B2}"/>
              </a:ext>
            </a:extLst>
          </p:cNvPr>
          <p:cNvCxnSpPr>
            <a:cxnSpLocks/>
          </p:cNvCxnSpPr>
          <p:nvPr/>
        </p:nvCxnSpPr>
        <p:spPr>
          <a:xfrm>
            <a:off x="1144055" y="2866576"/>
            <a:ext cx="1065745" cy="0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BED60853-7AFF-4BD3-82E8-338173118695}"/>
              </a:ext>
            </a:extLst>
          </p:cNvPr>
          <p:cNvCxnSpPr>
            <a:cxnSpLocks/>
          </p:cNvCxnSpPr>
          <p:nvPr/>
        </p:nvCxnSpPr>
        <p:spPr>
          <a:xfrm>
            <a:off x="3778606" y="2418284"/>
            <a:ext cx="3837904" cy="56593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02C1603-0F29-4487-8C37-F3199B39714C}"/>
              </a:ext>
            </a:extLst>
          </p:cNvPr>
          <p:cNvCxnSpPr>
            <a:cxnSpLocks/>
          </p:cNvCxnSpPr>
          <p:nvPr/>
        </p:nvCxnSpPr>
        <p:spPr>
          <a:xfrm>
            <a:off x="9396470" y="3429000"/>
            <a:ext cx="904970" cy="0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8F05ACE3-1BFF-A35A-C1BF-3A9477604CD6}"/>
              </a:ext>
            </a:extLst>
          </p:cNvPr>
          <p:cNvSpPr/>
          <p:nvPr/>
        </p:nvSpPr>
        <p:spPr>
          <a:xfrm>
            <a:off x="6204419" y="519229"/>
            <a:ext cx="5845871" cy="14260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GB" sz="1600" dirty="0"/>
              <a:t>A fire alarm goes off if either: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sz="1600" dirty="0"/>
              <a:t>the temperature inside the building rises above 60</a:t>
            </a:r>
            <a:r>
              <a:rPr lang="en-GB" sz="1600" baseline="30000" dirty="0">
                <a:ea typeface="Arial" panose="020B0604020202020204" pitchFamily="34" charset="0"/>
              </a:rPr>
              <a:t>o </a:t>
            </a:r>
            <a:r>
              <a:rPr lang="en-GB" sz="1600" dirty="0">
                <a:ea typeface="Arial" panose="020B0604020202020204" pitchFamily="34" charset="0"/>
              </a:rPr>
              <a:t>Celsius; or</a:t>
            </a:r>
          </a:p>
          <a:p>
            <a:pPr marL="54000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600" dirty="0"/>
              <a:t>someone manually activates a fire alarm.</a:t>
            </a:r>
          </a:p>
          <a:p>
            <a:r>
              <a:rPr lang="en-GB" sz="1600" dirty="0"/>
              <a:t>A firefighter should be able to manually shut the fire alarm off, regardless of how the alarm was triggered.</a:t>
            </a:r>
          </a:p>
        </p:txBody>
      </p:sp>
    </p:spTree>
    <p:extLst>
      <p:ext uri="{BB962C8B-B14F-4D97-AF65-F5344CB8AC3E}">
        <p14:creationId xmlns:p14="http://schemas.microsoft.com/office/powerpoint/2010/main" val="35049611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9415110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Constructing a logic circuit for a scenario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DA7E16A-8FF1-4AA2-9B9C-C670D6BDF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5802" y="2435934"/>
            <a:ext cx="1694950" cy="1701798"/>
          </a:xfrm>
          <a:prstGeom prst="rect">
            <a:avLst/>
          </a:prstGeom>
        </p:spPr>
      </p:pic>
      <p:pic>
        <p:nvPicPr>
          <p:cNvPr id="16" name="Picture 15" descr="A close up of a logo&#10;&#10;Description automatically generated">
            <a:extLst>
              <a:ext uri="{FF2B5EF4-FFF2-40B4-BE49-F238E27FC236}">
                <a16:creationId xmlns:a16="http://schemas.microsoft.com/office/drawing/2014/main" id="{3539B0E7-F798-4DBD-A41E-4C9009CC90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15" y="1679769"/>
            <a:ext cx="722128" cy="722128"/>
          </a:xfrm>
          <a:prstGeom prst="rect">
            <a:avLst/>
          </a:prstGeom>
        </p:spPr>
      </p:pic>
      <p:pic>
        <p:nvPicPr>
          <p:cNvPr id="17" name="Picture 16" descr="A close up of a sign&#10;&#10;Description automatically generated">
            <a:extLst>
              <a:ext uri="{FF2B5EF4-FFF2-40B4-BE49-F238E27FC236}">
                <a16:creationId xmlns:a16="http://schemas.microsoft.com/office/drawing/2014/main" id="{EEE93E6D-2C57-4E97-BE0B-CFD4C2F26B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387" y="2536712"/>
            <a:ext cx="673673" cy="673673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2207AE0C-D033-428A-8372-1591ABBFED30}"/>
              </a:ext>
            </a:extLst>
          </p:cNvPr>
          <p:cNvGrpSpPr/>
          <p:nvPr/>
        </p:nvGrpSpPr>
        <p:grpSpPr>
          <a:xfrm>
            <a:off x="300766" y="4114742"/>
            <a:ext cx="890914" cy="1399032"/>
            <a:chOff x="9144000" y="3524635"/>
            <a:chExt cx="2104608" cy="3304936"/>
          </a:xfrm>
        </p:grpSpPr>
        <p:pic>
          <p:nvPicPr>
            <p:cNvPr id="27" name="Picture 26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35FE0FE6-F621-453D-8B15-F26A183F92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44000" y="3524635"/>
              <a:ext cx="2104608" cy="2104608"/>
            </a:xfrm>
            <a:prstGeom prst="rect">
              <a:avLst/>
            </a:prstGeom>
          </p:spPr>
        </p:pic>
        <p:pic>
          <p:nvPicPr>
            <p:cNvPr id="28" name="Picture 27" descr="A close up of a logo&#10;&#10;Description automatically generated">
              <a:extLst>
                <a:ext uri="{FF2B5EF4-FFF2-40B4-BE49-F238E27FC236}">
                  <a16:creationId xmlns:a16="http://schemas.microsoft.com/office/drawing/2014/main" id="{790F9B43-7A61-4CC8-B36B-5D29D1CBDB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44000" y="4724963"/>
              <a:ext cx="2104608" cy="2104608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8A21E45-C9B2-4250-B828-D03C27564CB4}"/>
              </a:ext>
            </a:extLst>
          </p:cNvPr>
          <p:cNvGrpSpPr/>
          <p:nvPr/>
        </p:nvGrpSpPr>
        <p:grpSpPr>
          <a:xfrm>
            <a:off x="1115496" y="1321018"/>
            <a:ext cx="9185944" cy="4215963"/>
            <a:chOff x="1153911" y="2334125"/>
            <a:chExt cx="9185944" cy="4215963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913869D1-D854-4199-B0CF-47A70E7511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3911" y="2334125"/>
              <a:ext cx="3575117" cy="2004653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14334097-878A-4C74-8AD2-74D637A4102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64738" y="3345782"/>
              <a:ext cx="3575117" cy="2004653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6676796F-A6BA-42C9-A239-3AF52535042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3911" y="4534480"/>
              <a:ext cx="3575117" cy="2015608"/>
            </a:xfrm>
            <a:prstGeom prst="rect">
              <a:avLst/>
            </a:prstGeom>
            <a:effectLst/>
          </p:spPr>
        </p:pic>
        <p:cxnSp>
          <p:nvCxnSpPr>
            <p:cNvPr id="25" name="Connector: Elbow 24">
              <a:extLst>
                <a:ext uri="{FF2B5EF4-FFF2-40B4-BE49-F238E27FC236}">
                  <a16:creationId xmlns:a16="http://schemas.microsoft.com/office/drawing/2014/main" id="{639F4258-CA9F-4686-9A05-FF0E9DFA2F85}"/>
                </a:ext>
              </a:extLst>
            </p:cNvPr>
            <p:cNvCxnSpPr>
              <a:cxnSpLocks/>
            </p:cNvCxnSpPr>
            <p:nvPr/>
          </p:nvCxnSpPr>
          <p:spPr>
            <a:xfrm>
              <a:off x="3838575" y="3432175"/>
              <a:ext cx="3816350" cy="565150"/>
            </a:xfrm>
            <a:prstGeom prst="bentConnector3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: Elbow 25">
              <a:extLst>
                <a:ext uri="{FF2B5EF4-FFF2-40B4-BE49-F238E27FC236}">
                  <a16:creationId xmlns:a16="http://schemas.microsoft.com/office/drawing/2014/main" id="{2B882833-2A6B-47B6-9D35-386C74FE06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06875" y="4893664"/>
              <a:ext cx="3448050" cy="745478"/>
            </a:xfrm>
            <a:prstGeom prst="bentConnector3">
              <a:avLst>
                <a:gd name="adj1" fmla="val 45028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A504FC04-5FA5-473F-A244-7DE0E7618979}"/>
              </a:ext>
            </a:extLst>
          </p:cNvPr>
          <p:cNvSpPr txBox="1"/>
          <p:nvPr/>
        </p:nvSpPr>
        <p:spPr>
          <a:xfrm>
            <a:off x="1125336" y="1297521"/>
            <a:ext cx="4012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930CB7A-F3FC-451B-B92B-27A8D3A05F6D}"/>
              </a:ext>
            </a:extLst>
          </p:cNvPr>
          <p:cNvSpPr txBox="1"/>
          <p:nvPr/>
        </p:nvSpPr>
        <p:spPr>
          <a:xfrm>
            <a:off x="1119892" y="2192252"/>
            <a:ext cx="4012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BA3782-8AF6-4133-BD41-4AB870D5AAAE}"/>
              </a:ext>
            </a:extLst>
          </p:cNvPr>
          <p:cNvSpPr txBox="1"/>
          <p:nvPr/>
        </p:nvSpPr>
        <p:spPr>
          <a:xfrm>
            <a:off x="1119892" y="3949030"/>
            <a:ext cx="4012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5738192-2196-4243-98D7-9E8ECF0BCBC3}"/>
              </a:ext>
            </a:extLst>
          </p:cNvPr>
          <p:cNvSpPr txBox="1"/>
          <p:nvPr/>
        </p:nvSpPr>
        <p:spPr>
          <a:xfrm>
            <a:off x="3872594" y="1742153"/>
            <a:ext cx="4012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8F08218-2BC7-46DB-BC3B-FFDE154FF38A}"/>
              </a:ext>
            </a:extLst>
          </p:cNvPr>
          <p:cNvSpPr txBox="1"/>
          <p:nvPr/>
        </p:nvSpPr>
        <p:spPr>
          <a:xfrm>
            <a:off x="4206875" y="3952350"/>
            <a:ext cx="4012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B2CA1D3-EE6F-4C90-A192-E30497F9D549}"/>
              </a:ext>
            </a:extLst>
          </p:cNvPr>
          <p:cNvSpPr txBox="1"/>
          <p:nvPr/>
        </p:nvSpPr>
        <p:spPr>
          <a:xfrm>
            <a:off x="9480502" y="2755389"/>
            <a:ext cx="4012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>
                <a:solidFill>
                  <a:srgbClr val="C00000"/>
                </a:solidFill>
              </a:rPr>
              <a:t>1</a:t>
            </a: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49F4E06E-16E1-4AEA-82AD-48E7D8988C99}"/>
              </a:ext>
            </a:extLst>
          </p:cNvPr>
          <p:cNvCxnSpPr/>
          <p:nvPr/>
        </p:nvCxnSpPr>
        <p:spPr>
          <a:xfrm flipV="1">
            <a:off x="4168460" y="3880557"/>
            <a:ext cx="3448050" cy="742303"/>
          </a:xfrm>
          <a:prstGeom prst="bentConnector3">
            <a:avLst>
              <a:gd name="adj1" fmla="val 45028"/>
            </a:avLst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A7DF92C-EF71-4620-ABE2-91620701D3B2}"/>
              </a:ext>
            </a:extLst>
          </p:cNvPr>
          <p:cNvCxnSpPr>
            <a:cxnSpLocks/>
          </p:cNvCxnSpPr>
          <p:nvPr/>
        </p:nvCxnSpPr>
        <p:spPr>
          <a:xfrm>
            <a:off x="1144055" y="2866576"/>
            <a:ext cx="1065745" cy="0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BED60853-7AFF-4BD3-82E8-338173118695}"/>
              </a:ext>
            </a:extLst>
          </p:cNvPr>
          <p:cNvCxnSpPr>
            <a:cxnSpLocks/>
          </p:cNvCxnSpPr>
          <p:nvPr/>
        </p:nvCxnSpPr>
        <p:spPr>
          <a:xfrm>
            <a:off x="3778606" y="2418284"/>
            <a:ext cx="3837904" cy="56593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02C1603-0F29-4487-8C37-F3199B39714C}"/>
              </a:ext>
            </a:extLst>
          </p:cNvPr>
          <p:cNvCxnSpPr>
            <a:cxnSpLocks/>
          </p:cNvCxnSpPr>
          <p:nvPr/>
        </p:nvCxnSpPr>
        <p:spPr>
          <a:xfrm>
            <a:off x="9396470" y="3429000"/>
            <a:ext cx="904970" cy="0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B6A008E-7A52-4C0C-BE70-CF9F0D1ED4AB}"/>
              </a:ext>
            </a:extLst>
          </p:cNvPr>
          <p:cNvCxnSpPr>
            <a:cxnSpLocks/>
          </p:cNvCxnSpPr>
          <p:nvPr/>
        </p:nvCxnSpPr>
        <p:spPr>
          <a:xfrm>
            <a:off x="1144055" y="1971263"/>
            <a:ext cx="1065745" cy="0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5CE7E6F7-FB30-3442-9308-4307CA3500A2}"/>
              </a:ext>
            </a:extLst>
          </p:cNvPr>
          <p:cNvSpPr/>
          <p:nvPr/>
        </p:nvSpPr>
        <p:spPr>
          <a:xfrm>
            <a:off x="175878" y="5880865"/>
            <a:ext cx="11874412" cy="828305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40000" indent="-180975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We also need to check if the fire alarm still goes off if both the temperature rises above 60</a:t>
            </a:r>
            <a:r>
              <a:rPr lang="en-GB" sz="1600" baseline="30000" dirty="0">
                <a:solidFill>
                  <a:schemeClr val="tx1"/>
                </a:solidFill>
                <a:ea typeface="Arial" panose="020B0604020202020204" pitchFamily="34" charset="0"/>
              </a:rPr>
              <a:t>o</a:t>
            </a:r>
            <a:r>
              <a:rPr lang="en-GB" sz="1600" dirty="0">
                <a:solidFill>
                  <a:schemeClr val="tx1"/>
                </a:solidFill>
                <a:ea typeface="Arial" panose="020B0604020202020204" pitchFamily="34" charset="0"/>
              </a:rPr>
              <a:t> Celsius and the alarm is activated manually – </a:t>
            </a:r>
            <a:r>
              <a:rPr lang="en-GB" sz="1600" dirty="0">
                <a:solidFill>
                  <a:schemeClr val="tx1"/>
                </a:solidFill>
              </a:rPr>
              <a:t>this still works, as we are using an </a:t>
            </a:r>
            <a:r>
              <a:rPr lang="en-GB" sz="1600" b="1" dirty="0">
                <a:solidFill>
                  <a:schemeClr val="tx1"/>
                </a:solidFill>
              </a:rPr>
              <a:t>OR</a:t>
            </a:r>
            <a:r>
              <a:rPr lang="en-GB" sz="1600" dirty="0">
                <a:solidFill>
                  <a:schemeClr val="tx1"/>
                </a:solidFill>
              </a:rPr>
              <a:t> gate at this stage, which only requires at least one of the inputs to be </a:t>
            </a:r>
            <a:r>
              <a:rPr lang="en-GB" sz="1600" b="1" dirty="0">
                <a:solidFill>
                  <a:schemeClr val="tx1"/>
                </a:solidFill>
              </a:rPr>
              <a:t>TRUE</a:t>
            </a:r>
            <a:r>
              <a:rPr lang="en-GB" sz="1600" dirty="0">
                <a:solidFill>
                  <a:schemeClr val="tx1"/>
                </a:solidFill>
              </a:rPr>
              <a:t> for the output to be </a:t>
            </a:r>
            <a:r>
              <a:rPr lang="en-GB" sz="1600" b="1" dirty="0">
                <a:solidFill>
                  <a:schemeClr val="tx1"/>
                </a:solidFill>
              </a:rPr>
              <a:t>TRUE</a:t>
            </a:r>
            <a:r>
              <a:rPr lang="en-GB" sz="1600" dirty="0">
                <a:solidFill>
                  <a:schemeClr val="tx1"/>
                </a:solidFill>
              </a:rPr>
              <a:t>. If we had used an </a:t>
            </a:r>
            <a:r>
              <a:rPr lang="en-GB" sz="1600" b="1" dirty="0">
                <a:solidFill>
                  <a:schemeClr val="tx1"/>
                </a:solidFill>
              </a:rPr>
              <a:t>XOR</a:t>
            </a:r>
            <a:r>
              <a:rPr lang="en-GB" sz="1600" dirty="0">
                <a:solidFill>
                  <a:schemeClr val="tx1"/>
                </a:solidFill>
              </a:rPr>
              <a:t> gate at this point, the fire alarm wouldn’t go off.</a:t>
            </a:r>
            <a:endParaRPr lang="pt-BR" sz="1600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E3F18B-39F1-6B92-0766-4FA3F4826C49}"/>
              </a:ext>
            </a:extLst>
          </p:cNvPr>
          <p:cNvSpPr/>
          <p:nvPr/>
        </p:nvSpPr>
        <p:spPr>
          <a:xfrm>
            <a:off x="6204419" y="519229"/>
            <a:ext cx="5845871" cy="14260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GB" sz="1600" dirty="0"/>
              <a:t>A fire alarm goes off if either: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sz="1600" dirty="0"/>
              <a:t>the temperature inside the building rises above 60</a:t>
            </a:r>
            <a:r>
              <a:rPr lang="en-GB" sz="1600" baseline="30000" dirty="0">
                <a:ea typeface="Arial" panose="020B0604020202020204" pitchFamily="34" charset="0"/>
              </a:rPr>
              <a:t>o </a:t>
            </a:r>
            <a:r>
              <a:rPr lang="en-GB" sz="1600" dirty="0">
                <a:ea typeface="Arial" panose="020B0604020202020204" pitchFamily="34" charset="0"/>
              </a:rPr>
              <a:t>Celsius; or</a:t>
            </a:r>
          </a:p>
          <a:p>
            <a:pPr marL="54000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600" dirty="0"/>
              <a:t>someone manually activates a fire alarm.</a:t>
            </a:r>
          </a:p>
          <a:p>
            <a:r>
              <a:rPr lang="en-GB" sz="1600" dirty="0"/>
              <a:t>A firefighter should be able to manually shut the fire alarm off, regardless of how the alarm was triggered.</a:t>
            </a:r>
          </a:p>
        </p:txBody>
      </p:sp>
    </p:spTree>
    <p:extLst>
      <p:ext uri="{BB962C8B-B14F-4D97-AF65-F5344CB8AC3E}">
        <p14:creationId xmlns:p14="http://schemas.microsoft.com/office/powerpoint/2010/main" val="25199075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9415110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Constructing a logic circuit for a scenario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DA7E16A-8FF1-4AA2-9B9C-C670D6BDF3C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265802" y="2435934"/>
            <a:ext cx="1694950" cy="1701798"/>
          </a:xfrm>
          <a:prstGeom prst="rect">
            <a:avLst/>
          </a:prstGeom>
        </p:spPr>
      </p:pic>
      <p:pic>
        <p:nvPicPr>
          <p:cNvPr id="16" name="Picture 15" descr="A close up of a logo&#10;&#10;Description automatically generated">
            <a:extLst>
              <a:ext uri="{FF2B5EF4-FFF2-40B4-BE49-F238E27FC236}">
                <a16:creationId xmlns:a16="http://schemas.microsoft.com/office/drawing/2014/main" id="{3539B0E7-F798-4DBD-A41E-4C9009CC90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15" y="1679769"/>
            <a:ext cx="722128" cy="722128"/>
          </a:xfrm>
          <a:prstGeom prst="rect">
            <a:avLst/>
          </a:prstGeom>
        </p:spPr>
      </p:pic>
      <p:pic>
        <p:nvPicPr>
          <p:cNvPr id="17" name="Picture 16" descr="A close up of a sign&#10;&#10;Description automatically generated">
            <a:extLst>
              <a:ext uri="{FF2B5EF4-FFF2-40B4-BE49-F238E27FC236}">
                <a16:creationId xmlns:a16="http://schemas.microsoft.com/office/drawing/2014/main" id="{EEE93E6D-2C57-4E97-BE0B-CFD4C2F26B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387" y="2536712"/>
            <a:ext cx="673673" cy="673673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2207AE0C-D033-428A-8372-1591ABBFED30}"/>
              </a:ext>
            </a:extLst>
          </p:cNvPr>
          <p:cNvGrpSpPr/>
          <p:nvPr/>
        </p:nvGrpSpPr>
        <p:grpSpPr>
          <a:xfrm>
            <a:off x="300766" y="4114742"/>
            <a:ext cx="890914" cy="1399032"/>
            <a:chOff x="9144000" y="3524635"/>
            <a:chExt cx="2104608" cy="3304936"/>
          </a:xfrm>
        </p:grpSpPr>
        <p:pic>
          <p:nvPicPr>
            <p:cNvPr id="27" name="Picture 26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35FE0FE6-F621-453D-8B15-F26A183F92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44000" y="3524635"/>
              <a:ext cx="2104608" cy="2104608"/>
            </a:xfrm>
            <a:prstGeom prst="rect">
              <a:avLst/>
            </a:prstGeom>
          </p:spPr>
        </p:pic>
        <p:pic>
          <p:nvPicPr>
            <p:cNvPr id="28" name="Picture 27" descr="A close up of a logo&#10;&#10;Description automatically generated">
              <a:extLst>
                <a:ext uri="{FF2B5EF4-FFF2-40B4-BE49-F238E27FC236}">
                  <a16:creationId xmlns:a16="http://schemas.microsoft.com/office/drawing/2014/main" id="{790F9B43-7A61-4CC8-B36B-5D29D1CBDB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44000" y="4724963"/>
              <a:ext cx="2104608" cy="2104608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8A21E45-C9B2-4250-B828-D03C27564CB4}"/>
              </a:ext>
            </a:extLst>
          </p:cNvPr>
          <p:cNvGrpSpPr/>
          <p:nvPr/>
        </p:nvGrpSpPr>
        <p:grpSpPr>
          <a:xfrm>
            <a:off x="1115496" y="1321018"/>
            <a:ext cx="9185944" cy="4215963"/>
            <a:chOff x="1153911" y="2334125"/>
            <a:chExt cx="9185944" cy="4215963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913869D1-D854-4199-B0CF-47A70E7511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3911" y="2334125"/>
              <a:ext cx="3575117" cy="2004653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14334097-878A-4C74-8AD2-74D637A4102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64738" y="3345782"/>
              <a:ext cx="3575117" cy="2004653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6676796F-A6BA-42C9-A239-3AF52535042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3911" y="4534480"/>
              <a:ext cx="3575117" cy="2015608"/>
            </a:xfrm>
            <a:prstGeom prst="rect">
              <a:avLst/>
            </a:prstGeom>
            <a:effectLst/>
          </p:spPr>
        </p:pic>
        <p:cxnSp>
          <p:nvCxnSpPr>
            <p:cNvPr id="25" name="Connector: Elbow 24">
              <a:extLst>
                <a:ext uri="{FF2B5EF4-FFF2-40B4-BE49-F238E27FC236}">
                  <a16:creationId xmlns:a16="http://schemas.microsoft.com/office/drawing/2014/main" id="{639F4258-CA9F-4686-9A05-FF0E9DFA2F85}"/>
                </a:ext>
              </a:extLst>
            </p:cNvPr>
            <p:cNvCxnSpPr>
              <a:cxnSpLocks/>
            </p:cNvCxnSpPr>
            <p:nvPr/>
          </p:nvCxnSpPr>
          <p:spPr>
            <a:xfrm>
              <a:off x="3838575" y="3432175"/>
              <a:ext cx="3816350" cy="565150"/>
            </a:xfrm>
            <a:prstGeom prst="bentConnector3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: Elbow 25">
              <a:extLst>
                <a:ext uri="{FF2B5EF4-FFF2-40B4-BE49-F238E27FC236}">
                  <a16:creationId xmlns:a16="http://schemas.microsoft.com/office/drawing/2014/main" id="{2B882833-2A6B-47B6-9D35-386C74FE06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06875" y="4893664"/>
              <a:ext cx="3448050" cy="745478"/>
            </a:xfrm>
            <a:prstGeom prst="bentConnector3">
              <a:avLst>
                <a:gd name="adj1" fmla="val 45028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A504FC04-5FA5-473F-A244-7DE0E7618979}"/>
              </a:ext>
            </a:extLst>
          </p:cNvPr>
          <p:cNvSpPr txBox="1"/>
          <p:nvPr/>
        </p:nvSpPr>
        <p:spPr>
          <a:xfrm>
            <a:off x="1125336" y="1297521"/>
            <a:ext cx="4012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930CB7A-F3FC-451B-B92B-27A8D3A05F6D}"/>
              </a:ext>
            </a:extLst>
          </p:cNvPr>
          <p:cNvSpPr txBox="1"/>
          <p:nvPr/>
        </p:nvSpPr>
        <p:spPr>
          <a:xfrm>
            <a:off x="1119892" y="2192252"/>
            <a:ext cx="4012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BA3782-8AF6-4133-BD41-4AB870D5AAAE}"/>
              </a:ext>
            </a:extLst>
          </p:cNvPr>
          <p:cNvSpPr txBox="1"/>
          <p:nvPr/>
        </p:nvSpPr>
        <p:spPr>
          <a:xfrm>
            <a:off x="1119892" y="3949030"/>
            <a:ext cx="4012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5738192-2196-4243-98D7-9E8ECF0BCBC3}"/>
              </a:ext>
            </a:extLst>
          </p:cNvPr>
          <p:cNvSpPr txBox="1"/>
          <p:nvPr/>
        </p:nvSpPr>
        <p:spPr>
          <a:xfrm>
            <a:off x="3872594" y="1742153"/>
            <a:ext cx="4012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8F08218-2BC7-46DB-BC3B-FFDE154FF38A}"/>
              </a:ext>
            </a:extLst>
          </p:cNvPr>
          <p:cNvSpPr txBox="1"/>
          <p:nvPr/>
        </p:nvSpPr>
        <p:spPr>
          <a:xfrm>
            <a:off x="4206875" y="3952350"/>
            <a:ext cx="4012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B2CA1D3-EE6F-4C90-A192-E30497F9D549}"/>
              </a:ext>
            </a:extLst>
          </p:cNvPr>
          <p:cNvSpPr txBox="1"/>
          <p:nvPr/>
        </p:nvSpPr>
        <p:spPr>
          <a:xfrm>
            <a:off x="9480502" y="2755389"/>
            <a:ext cx="4012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>
                <a:solidFill>
                  <a:srgbClr val="C00000"/>
                </a:solidFill>
              </a:rPr>
              <a:t>0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A7DF92C-EF71-4620-ABE2-91620701D3B2}"/>
              </a:ext>
            </a:extLst>
          </p:cNvPr>
          <p:cNvCxnSpPr>
            <a:cxnSpLocks/>
          </p:cNvCxnSpPr>
          <p:nvPr/>
        </p:nvCxnSpPr>
        <p:spPr>
          <a:xfrm>
            <a:off x="1144055" y="2866576"/>
            <a:ext cx="1065745" cy="0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BED60853-7AFF-4BD3-82E8-338173118695}"/>
              </a:ext>
            </a:extLst>
          </p:cNvPr>
          <p:cNvCxnSpPr>
            <a:cxnSpLocks/>
          </p:cNvCxnSpPr>
          <p:nvPr/>
        </p:nvCxnSpPr>
        <p:spPr>
          <a:xfrm>
            <a:off x="3778606" y="2418284"/>
            <a:ext cx="3837904" cy="56593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B6A008E-7A52-4C0C-BE70-CF9F0D1ED4AB}"/>
              </a:ext>
            </a:extLst>
          </p:cNvPr>
          <p:cNvCxnSpPr>
            <a:cxnSpLocks/>
          </p:cNvCxnSpPr>
          <p:nvPr/>
        </p:nvCxnSpPr>
        <p:spPr>
          <a:xfrm>
            <a:off x="1144055" y="1971263"/>
            <a:ext cx="1065745" cy="0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ACB3F80-D07B-4936-BDD9-C6FCAC68C001}"/>
              </a:ext>
            </a:extLst>
          </p:cNvPr>
          <p:cNvCxnSpPr>
            <a:cxnSpLocks/>
          </p:cNvCxnSpPr>
          <p:nvPr/>
        </p:nvCxnSpPr>
        <p:spPr>
          <a:xfrm>
            <a:off x="1111635" y="4622860"/>
            <a:ext cx="898140" cy="0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EBEC3F35-33DE-E749-B989-3479C14C7D30}"/>
              </a:ext>
            </a:extLst>
          </p:cNvPr>
          <p:cNvSpPr/>
          <p:nvPr/>
        </p:nvSpPr>
        <p:spPr>
          <a:xfrm>
            <a:off x="175878" y="6130350"/>
            <a:ext cx="11874412" cy="57882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40000" indent="-180975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We also need to check that, regardless of the inputs to the </a:t>
            </a:r>
            <a:r>
              <a:rPr lang="en-GB" sz="1600" b="1" dirty="0">
                <a:solidFill>
                  <a:schemeClr val="tx1"/>
                </a:solidFill>
              </a:rPr>
              <a:t>OR</a:t>
            </a:r>
            <a:r>
              <a:rPr lang="en-GB" sz="1600" dirty="0">
                <a:solidFill>
                  <a:schemeClr val="tx1"/>
                </a:solidFill>
              </a:rPr>
              <a:t> gate, the fire alarm can be manually shut off by a firefighter.</a:t>
            </a:r>
          </a:p>
          <a:p>
            <a:pPr marL="540000" indent="-180975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We can see this works – if we set the input of the </a:t>
            </a:r>
            <a:r>
              <a:rPr lang="en-GB" sz="1600" b="1" dirty="0">
                <a:solidFill>
                  <a:schemeClr val="tx1"/>
                </a:solidFill>
              </a:rPr>
              <a:t>NOT</a:t>
            </a:r>
            <a:r>
              <a:rPr lang="en-GB" sz="1600" dirty="0">
                <a:solidFill>
                  <a:schemeClr val="tx1"/>
                </a:solidFill>
              </a:rPr>
              <a:t> gate to 1/</a:t>
            </a:r>
            <a:r>
              <a:rPr lang="en-GB" sz="1600" b="1" dirty="0">
                <a:solidFill>
                  <a:schemeClr val="tx1"/>
                </a:solidFill>
              </a:rPr>
              <a:t>TRUE</a:t>
            </a:r>
            <a:r>
              <a:rPr lang="en-GB" sz="1600" dirty="0">
                <a:solidFill>
                  <a:schemeClr val="tx1"/>
                </a:solidFill>
              </a:rPr>
              <a:t>, its output becomes 0/</a:t>
            </a:r>
            <a:r>
              <a:rPr lang="en-GB" sz="1600" b="1" dirty="0">
                <a:solidFill>
                  <a:schemeClr val="tx1"/>
                </a:solidFill>
              </a:rPr>
              <a:t>FALSE</a:t>
            </a:r>
            <a:r>
              <a:rPr lang="en-GB" sz="1600" dirty="0">
                <a:solidFill>
                  <a:schemeClr val="tx1"/>
                </a:solidFill>
              </a:rPr>
              <a:t>, so the final </a:t>
            </a:r>
            <a:r>
              <a:rPr lang="en-GB" sz="1600" b="1" dirty="0">
                <a:solidFill>
                  <a:schemeClr val="tx1"/>
                </a:solidFill>
              </a:rPr>
              <a:t>AND</a:t>
            </a:r>
            <a:r>
              <a:rPr lang="en-GB" sz="1600" dirty="0">
                <a:solidFill>
                  <a:schemeClr val="tx1"/>
                </a:solidFill>
              </a:rPr>
              <a:t> gate outputs 0.</a:t>
            </a:r>
            <a:endParaRPr lang="pt-BR" sz="1600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E33C41-62BF-D108-D47E-F83DEE52ED23}"/>
              </a:ext>
            </a:extLst>
          </p:cNvPr>
          <p:cNvSpPr/>
          <p:nvPr/>
        </p:nvSpPr>
        <p:spPr>
          <a:xfrm>
            <a:off x="6204419" y="519229"/>
            <a:ext cx="5845871" cy="14260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GB" sz="1600" dirty="0"/>
              <a:t>A fire alarm goes off if either: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sz="1600" dirty="0"/>
              <a:t>the temperature inside the building rises above 60</a:t>
            </a:r>
            <a:r>
              <a:rPr lang="en-GB" sz="1600" baseline="30000" dirty="0">
                <a:ea typeface="Arial" panose="020B0604020202020204" pitchFamily="34" charset="0"/>
              </a:rPr>
              <a:t>o </a:t>
            </a:r>
            <a:r>
              <a:rPr lang="en-GB" sz="1600" dirty="0">
                <a:ea typeface="Arial" panose="020B0604020202020204" pitchFamily="34" charset="0"/>
              </a:rPr>
              <a:t>Celsius; or</a:t>
            </a:r>
          </a:p>
          <a:p>
            <a:pPr marL="54000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600" dirty="0"/>
              <a:t>someone manually activates a fire alarm.</a:t>
            </a:r>
          </a:p>
          <a:p>
            <a:r>
              <a:rPr lang="en-GB" sz="1600" dirty="0"/>
              <a:t>A firefighter should be able to manually shut the fire alarm off, regardless of how the alarm was triggered.</a:t>
            </a:r>
          </a:p>
        </p:txBody>
      </p:sp>
    </p:spTree>
    <p:extLst>
      <p:ext uri="{BB962C8B-B14F-4D97-AF65-F5344CB8AC3E}">
        <p14:creationId xmlns:p14="http://schemas.microsoft.com/office/powerpoint/2010/main" val="4986072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9415110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Turning a logic circuit into a truth table and logic expression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DB3443-1F7C-4438-939F-B2ADA41794CF}"/>
              </a:ext>
            </a:extLst>
          </p:cNvPr>
          <p:cNvSpPr/>
          <p:nvPr/>
        </p:nvSpPr>
        <p:spPr>
          <a:xfrm>
            <a:off x="175878" y="6343579"/>
            <a:ext cx="11874412" cy="365592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t"/>
          <a:lstStyle/>
          <a:p>
            <a:pPr marL="540000" indent="-180975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Now, let’s turn the </a:t>
            </a:r>
            <a:r>
              <a:rPr lang="en-GB" sz="1600" b="1" dirty="0">
                <a:solidFill>
                  <a:schemeClr val="tx1"/>
                </a:solidFill>
              </a:rPr>
              <a:t>logic circuit </a:t>
            </a:r>
            <a:r>
              <a:rPr lang="en-GB" sz="1600" dirty="0">
                <a:solidFill>
                  <a:schemeClr val="tx1"/>
                </a:solidFill>
              </a:rPr>
              <a:t>into a </a:t>
            </a:r>
            <a:r>
              <a:rPr lang="en-GB" sz="1600" b="1" dirty="0">
                <a:solidFill>
                  <a:schemeClr val="tx1"/>
                </a:solidFill>
              </a:rPr>
              <a:t>truth table</a:t>
            </a:r>
            <a:r>
              <a:rPr lang="en-GB" sz="1600" dirty="0">
                <a:solidFill>
                  <a:schemeClr val="tx1"/>
                </a:solidFill>
              </a:rPr>
              <a:t> and a </a:t>
            </a:r>
            <a:r>
              <a:rPr lang="en-GB" sz="1600" b="1" dirty="0">
                <a:solidFill>
                  <a:schemeClr val="tx1"/>
                </a:solidFill>
              </a:rPr>
              <a:t>logic expression</a:t>
            </a:r>
            <a:endParaRPr lang="pt-BR" sz="1600" b="1" dirty="0">
              <a:solidFill>
                <a:schemeClr val="tx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67240FA-5E3E-40EB-8800-727DC47004B0}"/>
              </a:ext>
            </a:extLst>
          </p:cNvPr>
          <p:cNvGrpSpPr/>
          <p:nvPr/>
        </p:nvGrpSpPr>
        <p:grpSpPr>
          <a:xfrm>
            <a:off x="401436" y="1130518"/>
            <a:ext cx="10110720" cy="4215963"/>
            <a:chOff x="591936" y="1321018"/>
            <a:chExt cx="10110720" cy="4215963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8A21E45-C9B2-4250-B828-D03C27564CB4}"/>
                </a:ext>
              </a:extLst>
            </p:cNvPr>
            <p:cNvGrpSpPr/>
            <p:nvPr/>
          </p:nvGrpSpPr>
          <p:grpSpPr>
            <a:xfrm>
              <a:off x="1115496" y="1321018"/>
              <a:ext cx="9185944" cy="4215963"/>
              <a:chOff x="1153911" y="2334125"/>
              <a:chExt cx="9185944" cy="4215963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913869D1-D854-4199-B0CF-47A70E7511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3911" y="2334125"/>
                <a:ext cx="3575117" cy="2004653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14334097-878A-4C74-8AD2-74D637A410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64738" y="3345782"/>
                <a:ext cx="3575117" cy="2004653"/>
              </a:xfrm>
              <a:prstGeom prst="rect">
                <a:avLst/>
              </a:prstGeom>
            </p:spPr>
          </p:pic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6676796F-A6BA-42C9-A239-3AF5253504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3911" y="4534480"/>
                <a:ext cx="3575117" cy="2015608"/>
              </a:xfrm>
              <a:prstGeom prst="rect">
                <a:avLst/>
              </a:prstGeom>
              <a:effectLst/>
            </p:spPr>
          </p:pic>
          <p:cxnSp>
            <p:nvCxnSpPr>
              <p:cNvPr id="25" name="Connector: Elbow 24">
                <a:extLst>
                  <a:ext uri="{FF2B5EF4-FFF2-40B4-BE49-F238E27FC236}">
                    <a16:creationId xmlns:a16="http://schemas.microsoft.com/office/drawing/2014/main" id="{639F4258-CA9F-4686-9A05-FF0E9DFA2F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38575" y="3432175"/>
                <a:ext cx="3816350" cy="565150"/>
              </a:xfrm>
              <a:prstGeom prst="bentConnector3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Connector: Elbow 25">
                <a:extLst>
                  <a:ext uri="{FF2B5EF4-FFF2-40B4-BE49-F238E27FC236}">
                    <a16:creationId xmlns:a16="http://schemas.microsoft.com/office/drawing/2014/main" id="{2B882833-2A6B-47B6-9D35-386C74FE06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06875" y="4893664"/>
                <a:ext cx="3448050" cy="745478"/>
              </a:xfrm>
              <a:prstGeom prst="bentConnector3">
                <a:avLst>
                  <a:gd name="adj1" fmla="val 45028"/>
                </a:avLst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504FC04-5FA5-473F-A244-7DE0E7618979}"/>
                </a:ext>
              </a:extLst>
            </p:cNvPr>
            <p:cNvSpPr txBox="1"/>
            <p:nvPr/>
          </p:nvSpPr>
          <p:spPr>
            <a:xfrm>
              <a:off x="591936" y="1582284"/>
              <a:ext cx="40121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4400" b="1" dirty="0">
                  <a:solidFill>
                    <a:srgbClr val="C00000"/>
                  </a:solidFill>
                </a:rPr>
                <a:t>A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930CB7A-F3FC-451B-B92B-27A8D3A05F6D}"/>
                </a:ext>
              </a:extLst>
            </p:cNvPr>
            <p:cNvSpPr txBox="1"/>
            <p:nvPr/>
          </p:nvSpPr>
          <p:spPr>
            <a:xfrm>
              <a:off x="591936" y="2474775"/>
              <a:ext cx="40121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4400" b="1" dirty="0">
                  <a:solidFill>
                    <a:srgbClr val="C00000"/>
                  </a:solidFill>
                </a:rPr>
                <a:t>B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5BA3782-8AF6-4133-BD41-4AB870D5AAAE}"/>
                </a:ext>
              </a:extLst>
            </p:cNvPr>
            <p:cNvSpPr txBox="1"/>
            <p:nvPr/>
          </p:nvSpPr>
          <p:spPr>
            <a:xfrm>
              <a:off x="631758" y="4241314"/>
              <a:ext cx="40121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4400" b="1" dirty="0">
                  <a:solidFill>
                    <a:srgbClr val="C00000"/>
                  </a:solidFill>
                </a:rPr>
                <a:t>C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5738192-2196-4243-98D7-9E8ECF0BCBC3}"/>
                </a:ext>
              </a:extLst>
            </p:cNvPr>
            <p:cNvSpPr txBox="1"/>
            <p:nvPr/>
          </p:nvSpPr>
          <p:spPr>
            <a:xfrm>
              <a:off x="3872594" y="1742153"/>
              <a:ext cx="40121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4400" b="1" dirty="0">
                  <a:solidFill>
                    <a:schemeClr val="accent4"/>
                  </a:solidFill>
                </a:rPr>
                <a:t>E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8F08218-2BC7-46DB-BC3B-FFDE154FF38A}"/>
                </a:ext>
              </a:extLst>
            </p:cNvPr>
            <p:cNvSpPr txBox="1"/>
            <p:nvPr/>
          </p:nvSpPr>
          <p:spPr>
            <a:xfrm>
              <a:off x="4206875" y="3952350"/>
              <a:ext cx="40121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4400" b="1" dirty="0">
                  <a:solidFill>
                    <a:schemeClr val="accent4"/>
                  </a:solidFill>
                </a:rPr>
                <a:t>F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B2CA1D3-EE6F-4C90-A192-E30497F9D549}"/>
                </a:ext>
              </a:extLst>
            </p:cNvPr>
            <p:cNvSpPr txBox="1"/>
            <p:nvPr/>
          </p:nvSpPr>
          <p:spPr>
            <a:xfrm>
              <a:off x="10301440" y="3044279"/>
              <a:ext cx="40121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4400" b="1" dirty="0">
                  <a:solidFill>
                    <a:schemeClr val="accent4"/>
                  </a:solidFill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592257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9415110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Turning a logic circuit into a truth table and logic expression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DB3443-1F7C-4438-939F-B2ADA41794CF}"/>
              </a:ext>
            </a:extLst>
          </p:cNvPr>
          <p:cNvSpPr/>
          <p:nvPr/>
        </p:nvSpPr>
        <p:spPr>
          <a:xfrm>
            <a:off x="175878" y="6334825"/>
            <a:ext cx="11874412" cy="374345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t"/>
          <a:lstStyle/>
          <a:p>
            <a:pPr marL="540000" indent="-180975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We start by created a column for each input – in this case, A, B and C.</a:t>
            </a:r>
            <a:endParaRPr lang="pt-BR" sz="1600" b="1" dirty="0">
              <a:solidFill>
                <a:schemeClr val="tx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67240FA-5E3E-40EB-8800-727DC47004B0}"/>
              </a:ext>
            </a:extLst>
          </p:cNvPr>
          <p:cNvGrpSpPr/>
          <p:nvPr/>
        </p:nvGrpSpPr>
        <p:grpSpPr>
          <a:xfrm>
            <a:off x="5121946" y="1781175"/>
            <a:ext cx="6905630" cy="2879506"/>
            <a:chOff x="591936" y="1321018"/>
            <a:chExt cx="10110720" cy="4215963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8A21E45-C9B2-4250-B828-D03C27564CB4}"/>
                </a:ext>
              </a:extLst>
            </p:cNvPr>
            <p:cNvGrpSpPr/>
            <p:nvPr/>
          </p:nvGrpSpPr>
          <p:grpSpPr>
            <a:xfrm>
              <a:off x="1115496" y="1321018"/>
              <a:ext cx="9185944" cy="4215963"/>
              <a:chOff x="1153911" y="2334125"/>
              <a:chExt cx="9185944" cy="4215963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913869D1-D854-4199-B0CF-47A70E7511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3911" y="2334125"/>
                <a:ext cx="3575117" cy="2004653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14334097-878A-4C74-8AD2-74D637A410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64738" y="3345782"/>
                <a:ext cx="3575117" cy="2004653"/>
              </a:xfrm>
              <a:prstGeom prst="rect">
                <a:avLst/>
              </a:prstGeom>
            </p:spPr>
          </p:pic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6676796F-A6BA-42C9-A239-3AF5253504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3911" y="4534480"/>
                <a:ext cx="3575117" cy="2015608"/>
              </a:xfrm>
              <a:prstGeom prst="rect">
                <a:avLst/>
              </a:prstGeom>
              <a:effectLst/>
            </p:spPr>
          </p:pic>
          <p:cxnSp>
            <p:nvCxnSpPr>
              <p:cNvPr id="25" name="Connector: Elbow 24">
                <a:extLst>
                  <a:ext uri="{FF2B5EF4-FFF2-40B4-BE49-F238E27FC236}">
                    <a16:creationId xmlns:a16="http://schemas.microsoft.com/office/drawing/2014/main" id="{639F4258-CA9F-4686-9A05-FF0E9DFA2F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38575" y="3432175"/>
                <a:ext cx="3816350" cy="565150"/>
              </a:xfrm>
              <a:prstGeom prst="bentConnector3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Connector: Elbow 25">
                <a:extLst>
                  <a:ext uri="{FF2B5EF4-FFF2-40B4-BE49-F238E27FC236}">
                    <a16:creationId xmlns:a16="http://schemas.microsoft.com/office/drawing/2014/main" id="{2B882833-2A6B-47B6-9D35-386C74FE06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06875" y="4893664"/>
                <a:ext cx="3448050" cy="745478"/>
              </a:xfrm>
              <a:prstGeom prst="bentConnector3">
                <a:avLst>
                  <a:gd name="adj1" fmla="val 45028"/>
                </a:avLst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504FC04-5FA5-473F-A244-7DE0E7618979}"/>
                </a:ext>
              </a:extLst>
            </p:cNvPr>
            <p:cNvSpPr txBox="1"/>
            <p:nvPr/>
          </p:nvSpPr>
          <p:spPr>
            <a:xfrm>
              <a:off x="591936" y="1582284"/>
              <a:ext cx="401216" cy="67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rgbClr val="C00000"/>
                  </a:solidFill>
                  <a:effectLst>
                    <a:glow rad="228600">
                      <a:schemeClr val="accent2">
                        <a:satMod val="175000"/>
                        <a:alpha val="40000"/>
                      </a:schemeClr>
                    </a:glow>
                  </a:effectLst>
                </a:rPr>
                <a:t>A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930CB7A-F3FC-451B-B92B-27A8D3A05F6D}"/>
                </a:ext>
              </a:extLst>
            </p:cNvPr>
            <p:cNvSpPr txBox="1"/>
            <p:nvPr/>
          </p:nvSpPr>
          <p:spPr>
            <a:xfrm>
              <a:off x="591936" y="2474775"/>
              <a:ext cx="401216" cy="67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rgbClr val="C00000"/>
                  </a:solidFill>
                  <a:effectLst>
                    <a:glow rad="228600">
                      <a:schemeClr val="accent2">
                        <a:satMod val="175000"/>
                        <a:alpha val="40000"/>
                      </a:schemeClr>
                    </a:glow>
                  </a:effectLst>
                </a:rPr>
                <a:t>B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5BA3782-8AF6-4133-BD41-4AB870D5AAAE}"/>
                </a:ext>
              </a:extLst>
            </p:cNvPr>
            <p:cNvSpPr txBox="1"/>
            <p:nvPr/>
          </p:nvSpPr>
          <p:spPr>
            <a:xfrm>
              <a:off x="631757" y="4241313"/>
              <a:ext cx="401216" cy="67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rgbClr val="C00000"/>
                  </a:solidFill>
                  <a:effectLst>
                    <a:glow rad="228600">
                      <a:schemeClr val="accent2">
                        <a:satMod val="175000"/>
                        <a:alpha val="40000"/>
                      </a:schemeClr>
                    </a:glow>
                  </a:effectLst>
                </a:rPr>
                <a:t>C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5738192-2196-4243-98D7-9E8ECF0BCBC3}"/>
                </a:ext>
              </a:extLst>
            </p:cNvPr>
            <p:cNvSpPr txBox="1"/>
            <p:nvPr/>
          </p:nvSpPr>
          <p:spPr>
            <a:xfrm>
              <a:off x="3872594" y="1742154"/>
              <a:ext cx="401216" cy="67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chemeClr val="accent4"/>
                  </a:solidFill>
                </a:rPr>
                <a:t>E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8F08218-2BC7-46DB-BC3B-FFDE154FF38A}"/>
                </a:ext>
              </a:extLst>
            </p:cNvPr>
            <p:cNvSpPr txBox="1"/>
            <p:nvPr/>
          </p:nvSpPr>
          <p:spPr>
            <a:xfrm>
              <a:off x="4206875" y="3952350"/>
              <a:ext cx="401216" cy="67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chemeClr val="accent4"/>
                  </a:solidFill>
                </a:rPr>
                <a:t>F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B2CA1D3-EE6F-4C90-A192-E30497F9D549}"/>
                </a:ext>
              </a:extLst>
            </p:cNvPr>
            <p:cNvSpPr txBox="1"/>
            <p:nvPr/>
          </p:nvSpPr>
          <p:spPr>
            <a:xfrm>
              <a:off x="10301440" y="3044280"/>
              <a:ext cx="401216" cy="67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chemeClr val="accent4"/>
                  </a:solidFill>
                </a:rPr>
                <a:t>D</a:t>
              </a:r>
            </a:p>
          </p:txBody>
        </p:sp>
      </p:grpSp>
      <p:graphicFrame>
        <p:nvGraphicFramePr>
          <p:cNvPr id="17" name="Table 4">
            <a:extLst>
              <a:ext uri="{FF2B5EF4-FFF2-40B4-BE49-F238E27FC236}">
                <a16:creationId xmlns:a16="http://schemas.microsoft.com/office/drawing/2014/main" id="{0EECB07A-12DE-4228-B552-E929EB839648}"/>
              </a:ext>
            </a:extLst>
          </p:cNvPr>
          <p:cNvGraphicFramePr>
            <a:graphicFrameLocks noGrp="1"/>
          </p:cNvGraphicFramePr>
          <p:nvPr/>
        </p:nvGraphicFramePr>
        <p:xfrm>
          <a:off x="269976" y="1547212"/>
          <a:ext cx="4719696" cy="3606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5388">
                  <a:extLst>
                    <a:ext uri="{9D8B030D-6E8A-4147-A177-3AD203B41FA5}">
                      <a16:colId xmlns:a16="http://schemas.microsoft.com/office/drawing/2014/main" val="1015059138"/>
                    </a:ext>
                  </a:extLst>
                </a:gridCol>
                <a:gridCol w="505388">
                  <a:extLst>
                    <a:ext uri="{9D8B030D-6E8A-4147-A177-3AD203B41FA5}">
                      <a16:colId xmlns:a16="http://schemas.microsoft.com/office/drawing/2014/main" val="132593303"/>
                    </a:ext>
                  </a:extLst>
                </a:gridCol>
                <a:gridCol w="505388">
                  <a:extLst>
                    <a:ext uri="{9D8B030D-6E8A-4147-A177-3AD203B41FA5}">
                      <a16:colId xmlns:a16="http://schemas.microsoft.com/office/drawing/2014/main" val="690242980"/>
                    </a:ext>
                  </a:extLst>
                </a:gridCol>
                <a:gridCol w="1067844">
                  <a:extLst>
                    <a:ext uri="{9D8B030D-6E8A-4147-A177-3AD203B41FA5}">
                      <a16:colId xmlns:a16="http://schemas.microsoft.com/office/drawing/2014/main" val="1454906182"/>
                    </a:ext>
                  </a:extLst>
                </a:gridCol>
                <a:gridCol w="1067844">
                  <a:extLst>
                    <a:ext uri="{9D8B030D-6E8A-4147-A177-3AD203B41FA5}">
                      <a16:colId xmlns:a16="http://schemas.microsoft.com/office/drawing/2014/main" val="3521015678"/>
                    </a:ext>
                  </a:extLst>
                </a:gridCol>
                <a:gridCol w="1067844">
                  <a:extLst>
                    <a:ext uri="{9D8B030D-6E8A-4147-A177-3AD203B41FA5}">
                      <a16:colId xmlns:a16="http://schemas.microsoft.com/office/drawing/2014/main" val="20175959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A + B</a:t>
                      </a:r>
                    </a:p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E</a:t>
                      </a:r>
                      <a:endParaRPr lang="en-GB" i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  <a:p>
                      <a:pPr algn="ctr"/>
                      <a:r>
                        <a:rPr lang="en-GB">
                          <a:solidFill>
                            <a:schemeClr val="bg1"/>
                          </a:solidFill>
                        </a:rPr>
                        <a:t>F</a:t>
                      </a:r>
                      <a:endParaRPr lang="en-GB" i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E ● F</a:t>
                      </a:r>
                    </a:p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D</a:t>
                      </a:r>
                      <a:endParaRPr lang="en-GB" i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633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295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328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6710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39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895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745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946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7742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95023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9415110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Turning a logic circuit into a truth table and logic expression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DB3443-1F7C-4438-939F-B2ADA41794CF}"/>
              </a:ext>
            </a:extLst>
          </p:cNvPr>
          <p:cNvSpPr/>
          <p:nvPr/>
        </p:nvSpPr>
        <p:spPr>
          <a:xfrm>
            <a:off x="175878" y="6120457"/>
            <a:ext cx="11874412" cy="588713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t"/>
          <a:lstStyle/>
          <a:p>
            <a:pPr marL="540000" indent="-180975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You then need a blank column for any interim outputs/inputs and the final output.</a:t>
            </a:r>
          </a:p>
          <a:p>
            <a:pPr marL="540000" indent="-180975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We need a column for the output of A </a:t>
            </a:r>
            <a:r>
              <a:rPr lang="en-GB" sz="1600" b="1" dirty="0">
                <a:solidFill>
                  <a:schemeClr val="tx1"/>
                </a:solidFill>
              </a:rPr>
              <a:t>OR</a:t>
            </a:r>
            <a:r>
              <a:rPr lang="en-GB" sz="1600" dirty="0">
                <a:solidFill>
                  <a:schemeClr val="tx1"/>
                </a:solidFill>
              </a:rPr>
              <a:t> B, which we are calling E.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67240FA-5E3E-40EB-8800-727DC47004B0}"/>
              </a:ext>
            </a:extLst>
          </p:cNvPr>
          <p:cNvGrpSpPr/>
          <p:nvPr/>
        </p:nvGrpSpPr>
        <p:grpSpPr>
          <a:xfrm>
            <a:off x="5121946" y="1781175"/>
            <a:ext cx="6905630" cy="2879506"/>
            <a:chOff x="591936" y="1321018"/>
            <a:chExt cx="10110720" cy="4215963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8A21E45-C9B2-4250-B828-D03C27564CB4}"/>
                </a:ext>
              </a:extLst>
            </p:cNvPr>
            <p:cNvGrpSpPr/>
            <p:nvPr/>
          </p:nvGrpSpPr>
          <p:grpSpPr>
            <a:xfrm>
              <a:off x="1115496" y="1321018"/>
              <a:ext cx="9185944" cy="4215963"/>
              <a:chOff x="1153911" y="2334125"/>
              <a:chExt cx="9185944" cy="4215963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913869D1-D854-4199-B0CF-47A70E7511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3911" y="2334125"/>
                <a:ext cx="3575117" cy="2004653"/>
              </a:xfrm>
              <a:prstGeom prst="rect">
                <a:avLst/>
              </a:prstGeom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14334097-878A-4C74-8AD2-74D637A410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64738" y="3345782"/>
                <a:ext cx="3575117" cy="2004653"/>
              </a:xfrm>
              <a:prstGeom prst="rect">
                <a:avLst/>
              </a:prstGeom>
            </p:spPr>
          </p:pic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6676796F-A6BA-42C9-A239-3AF5253504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3911" y="4534480"/>
                <a:ext cx="3575117" cy="2015608"/>
              </a:xfrm>
              <a:prstGeom prst="rect">
                <a:avLst/>
              </a:prstGeom>
              <a:effectLst/>
            </p:spPr>
          </p:pic>
          <p:cxnSp>
            <p:nvCxnSpPr>
              <p:cNvPr id="25" name="Connector: Elbow 24">
                <a:extLst>
                  <a:ext uri="{FF2B5EF4-FFF2-40B4-BE49-F238E27FC236}">
                    <a16:creationId xmlns:a16="http://schemas.microsoft.com/office/drawing/2014/main" id="{639F4258-CA9F-4686-9A05-FF0E9DFA2F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38575" y="3432175"/>
                <a:ext cx="3816350" cy="565150"/>
              </a:xfrm>
              <a:prstGeom prst="bentConnector3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Connector: Elbow 25">
                <a:extLst>
                  <a:ext uri="{FF2B5EF4-FFF2-40B4-BE49-F238E27FC236}">
                    <a16:creationId xmlns:a16="http://schemas.microsoft.com/office/drawing/2014/main" id="{2B882833-2A6B-47B6-9D35-386C74FE06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06875" y="4893664"/>
                <a:ext cx="3448050" cy="745478"/>
              </a:xfrm>
              <a:prstGeom prst="bentConnector3">
                <a:avLst>
                  <a:gd name="adj1" fmla="val 45028"/>
                </a:avLst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504FC04-5FA5-473F-A244-7DE0E7618979}"/>
                </a:ext>
              </a:extLst>
            </p:cNvPr>
            <p:cNvSpPr txBox="1"/>
            <p:nvPr/>
          </p:nvSpPr>
          <p:spPr>
            <a:xfrm>
              <a:off x="591936" y="1582284"/>
              <a:ext cx="401216" cy="67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rgbClr val="C00000"/>
                  </a:solidFill>
                </a:rPr>
                <a:t>A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930CB7A-F3FC-451B-B92B-27A8D3A05F6D}"/>
                </a:ext>
              </a:extLst>
            </p:cNvPr>
            <p:cNvSpPr txBox="1"/>
            <p:nvPr/>
          </p:nvSpPr>
          <p:spPr>
            <a:xfrm>
              <a:off x="591936" y="2474775"/>
              <a:ext cx="401216" cy="67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rgbClr val="C00000"/>
                  </a:solidFill>
                </a:rPr>
                <a:t>B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5BA3782-8AF6-4133-BD41-4AB870D5AAAE}"/>
                </a:ext>
              </a:extLst>
            </p:cNvPr>
            <p:cNvSpPr txBox="1"/>
            <p:nvPr/>
          </p:nvSpPr>
          <p:spPr>
            <a:xfrm>
              <a:off x="631757" y="4241313"/>
              <a:ext cx="401216" cy="67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rgbClr val="C00000"/>
                  </a:solidFill>
                </a:rPr>
                <a:t>C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5738192-2196-4243-98D7-9E8ECF0BCBC3}"/>
                </a:ext>
              </a:extLst>
            </p:cNvPr>
            <p:cNvSpPr txBox="1"/>
            <p:nvPr/>
          </p:nvSpPr>
          <p:spPr>
            <a:xfrm>
              <a:off x="3872594" y="1742154"/>
              <a:ext cx="401216" cy="67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chemeClr val="accent4"/>
                  </a:solidFill>
                </a:rPr>
                <a:t>E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8F08218-2BC7-46DB-BC3B-FFDE154FF38A}"/>
                </a:ext>
              </a:extLst>
            </p:cNvPr>
            <p:cNvSpPr txBox="1"/>
            <p:nvPr/>
          </p:nvSpPr>
          <p:spPr>
            <a:xfrm>
              <a:off x="4206875" y="3952350"/>
              <a:ext cx="401216" cy="67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chemeClr val="accent4"/>
                  </a:solidFill>
                </a:rPr>
                <a:t>F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B2CA1D3-EE6F-4C90-A192-E30497F9D549}"/>
                </a:ext>
              </a:extLst>
            </p:cNvPr>
            <p:cNvSpPr txBox="1"/>
            <p:nvPr/>
          </p:nvSpPr>
          <p:spPr>
            <a:xfrm>
              <a:off x="10301440" y="3044280"/>
              <a:ext cx="401216" cy="67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chemeClr val="accent4"/>
                  </a:solidFill>
                </a:rPr>
                <a:t>D</a:t>
              </a:r>
            </a:p>
          </p:txBody>
        </p:sp>
      </p:grpSp>
      <p:graphicFrame>
        <p:nvGraphicFramePr>
          <p:cNvPr id="17" name="Table 4">
            <a:extLst>
              <a:ext uri="{FF2B5EF4-FFF2-40B4-BE49-F238E27FC236}">
                <a16:creationId xmlns:a16="http://schemas.microsoft.com/office/drawing/2014/main" id="{0EECB07A-12DE-4228-B552-E929EB8396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6888446"/>
              </p:ext>
            </p:extLst>
          </p:nvPr>
        </p:nvGraphicFramePr>
        <p:xfrm>
          <a:off x="269976" y="1547212"/>
          <a:ext cx="4719696" cy="3606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5388">
                  <a:extLst>
                    <a:ext uri="{9D8B030D-6E8A-4147-A177-3AD203B41FA5}">
                      <a16:colId xmlns:a16="http://schemas.microsoft.com/office/drawing/2014/main" val="1015059138"/>
                    </a:ext>
                  </a:extLst>
                </a:gridCol>
                <a:gridCol w="505388">
                  <a:extLst>
                    <a:ext uri="{9D8B030D-6E8A-4147-A177-3AD203B41FA5}">
                      <a16:colId xmlns:a16="http://schemas.microsoft.com/office/drawing/2014/main" val="132593303"/>
                    </a:ext>
                  </a:extLst>
                </a:gridCol>
                <a:gridCol w="505388">
                  <a:extLst>
                    <a:ext uri="{9D8B030D-6E8A-4147-A177-3AD203B41FA5}">
                      <a16:colId xmlns:a16="http://schemas.microsoft.com/office/drawing/2014/main" val="690242980"/>
                    </a:ext>
                  </a:extLst>
                </a:gridCol>
                <a:gridCol w="1067844">
                  <a:extLst>
                    <a:ext uri="{9D8B030D-6E8A-4147-A177-3AD203B41FA5}">
                      <a16:colId xmlns:a16="http://schemas.microsoft.com/office/drawing/2014/main" val="1454906182"/>
                    </a:ext>
                  </a:extLst>
                </a:gridCol>
                <a:gridCol w="1067844">
                  <a:extLst>
                    <a:ext uri="{9D8B030D-6E8A-4147-A177-3AD203B41FA5}">
                      <a16:colId xmlns:a16="http://schemas.microsoft.com/office/drawing/2014/main" val="3521015678"/>
                    </a:ext>
                  </a:extLst>
                </a:gridCol>
                <a:gridCol w="1067844">
                  <a:extLst>
                    <a:ext uri="{9D8B030D-6E8A-4147-A177-3AD203B41FA5}">
                      <a16:colId xmlns:a16="http://schemas.microsoft.com/office/drawing/2014/main" val="20175959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 OR B</a:t>
                      </a:r>
                    </a:p>
                    <a:p>
                      <a:pPr algn="ctr"/>
                      <a:r>
                        <a:rPr lang="en-GB" i="1" dirty="0">
                          <a:solidFill>
                            <a:schemeClr val="accent4"/>
                          </a:solidFill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F</a:t>
                      </a:r>
                      <a:endParaRPr lang="en-GB" i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E ● F</a:t>
                      </a:r>
                    </a:p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D</a:t>
                      </a:r>
                      <a:endParaRPr lang="en-GB" i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633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295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328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6710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39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895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745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946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7742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66240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9415110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Turning a logic circuit into a truth table and logic expression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DB3443-1F7C-4438-939F-B2ADA41794CF}"/>
              </a:ext>
            </a:extLst>
          </p:cNvPr>
          <p:cNvSpPr/>
          <p:nvPr/>
        </p:nvSpPr>
        <p:spPr>
          <a:xfrm>
            <a:off x="175878" y="6334826"/>
            <a:ext cx="11874412" cy="374344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t"/>
          <a:lstStyle/>
          <a:p>
            <a:pPr marL="540000" indent="-180975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We also need a column for the output of </a:t>
            </a:r>
            <a:r>
              <a:rPr lang="en-GB" sz="1600" b="1" dirty="0">
                <a:solidFill>
                  <a:schemeClr val="tx1"/>
                </a:solidFill>
              </a:rPr>
              <a:t>NOT</a:t>
            </a:r>
            <a:r>
              <a:rPr lang="en-GB" sz="1600" dirty="0">
                <a:solidFill>
                  <a:schemeClr val="tx1"/>
                </a:solidFill>
              </a:rPr>
              <a:t> C, which we are calling F.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67240FA-5E3E-40EB-8800-727DC47004B0}"/>
              </a:ext>
            </a:extLst>
          </p:cNvPr>
          <p:cNvGrpSpPr/>
          <p:nvPr/>
        </p:nvGrpSpPr>
        <p:grpSpPr>
          <a:xfrm>
            <a:off x="5121946" y="1781175"/>
            <a:ext cx="6905630" cy="2879506"/>
            <a:chOff x="591936" y="1321018"/>
            <a:chExt cx="10110720" cy="4215963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8A21E45-C9B2-4250-B828-D03C27564CB4}"/>
                </a:ext>
              </a:extLst>
            </p:cNvPr>
            <p:cNvGrpSpPr/>
            <p:nvPr/>
          </p:nvGrpSpPr>
          <p:grpSpPr>
            <a:xfrm>
              <a:off x="1115496" y="1321018"/>
              <a:ext cx="9185944" cy="4215963"/>
              <a:chOff x="1153911" y="2334125"/>
              <a:chExt cx="9185944" cy="4215963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913869D1-D854-4199-B0CF-47A70E7511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3911" y="2334125"/>
                <a:ext cx="3575117" cy="2004653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14334097-878A-4C74-8AD2-74D637A410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64738" y="3345782"/>
                <a:ext cx="3575117" cy="2004653"/>
              </a:xfrm>
              <a:prstGeom prst="rect">
                <a:avLst/>
              </a:prstGeom>
            </p:spPr>
          </p:pic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6676796F-A6BA-42C9-A239-3AF5253504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3911" y="4534480"/>
                <a:ext cx="3575117" cy="2015608"/>
              </a:xfrm>
              <a:prstGeom prst="rect">
                <a:avLst/>
              </a:prstGeom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p:spPr>
          </p:pic>
          <p:cxnSp>
            <p:nvCxnSpPr>
              <p:cNvPr id="25" name="Connector: Elbow 24">
                <a:extLst>
                  <a:ext uri="{FF2B5EF4-FFF2-40B4-BE49-F238E27FC236}">
                    <a16:creationId xmlns:a16="http://schemas.microsoft.com/office/drawing/2014/main" id="{639F4258-CA9F-4686-9A05-FF0E9DFA2F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38575" y="3432175"/>
                <a:ext cx="3816350" cy="565150"/>
              </a:xfrm>
              <a:prstGeom prst="bentConnector3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Connector: Elbow 25">
                <a:extLst>
                  <a:ext uri="{FF2B5EF4-FFF2-40B4-BE49-F238E27FC236}">
                    <a16:creationId xmlns:a16="http://schemas.microsoft.com/office/drawing/2014/main" id="{2B882833-2A6B-47B6-9D35-386C74FE06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06875" y="4893664"/>
                <a:ext cx="3448050" cy="745478"/>
              </a:xfrm>
              <a:prstGeom prst="bentConnector3">
                <a:avLst>
                  <a:gd name="adj1" fmla="val 45028"/>
                </a:avLst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504FC04-5FA5-473F-A244-7DE0E7618979}"/>
                </a:ext>
              </a:extLst>
            </p:cNvPr>
            <p:cNvSpPr txBox="1"/>
            <p:nvPr/>
          </p:nvSpPr>
          <p:spPr>
            <a:xfrm>
              <a:off x="591936" y="1582284"/>
              <a:ext cx="401216" cy="67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rgbClr val="C00000"/>
                  </a:solidFill>
                </a:rPr>
                <a:t>A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930CB7A-F3FC-451B-B92B-27A8D3A05F6D}"/>
                </a:ext>
              </a:extLst>
            </p:cNvPr>
            <p:cNvSpPr txBox="1"/>
            <p:nvPr/>
          </p:nvSpPr>
          <p:spPr>
            <a:xfrm>
              <a:off x="591936" y="2474775"/>
              <a:ext cx="401216" cy="67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rgbClr val="C00000"/>
                  </a:solidFill>
                </a:rPr>
                <a:t>B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5BA3782-8AF6-4133-BD41-4AB870D5AAAE}"/>
                </a:ext>
              </a:extLst>
            </p:cNvPr>
            <p:cNvSpPr txBox="1"/>
            <p:nvPr/>
          </p:nvSpPr>
          <p:spPr>
            <a:xfrm>
              <a:off x="631757" y="4241313"/>
              <a:ext cx="401216" cy="67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rgbClr val="C00000"/>
                  </a:solidFill>
                </a:rPr>
                <a:t>C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5738192-2196-4243-98D7-9E8ECF0BCBC3}"/>
                </a:ext>
              </a:extLst>
            </p:cNvPr>
            <p:cNvSpPr txBox="1"/>
            <p:nvPr/>
          </p:nvSpPr>
          <p:spPr>
            <a:xfrm>
              <a:off x="3872594" y="1742154"/>
              <a:ext cx="401216" cy="67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chemeClr val="accent4"/>
                  </a:solidFill>
                </a:rPr>
                <a:t>E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8F08218-2BC7-46DB-BC3B-FFDE154FF38A}"/>
                </a:ext>
              </a:extLst>
            </p:cNvPr>
            <p:cNvSpPr txBox="1"/>
            <p:nvPr/>
          </p:nvSpPr>
          <p:spPr>
            <a:xfrm>
              <a:off x="4206875" y="3952350"/>
              <a:ext cx="401216" cy="67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chemeClr val="accent4"/>
                  </a:solidFill>
                </a:rPr>
                <a:t>F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B2CA1D3-EE6F-4C90-A192-E30497F9D549}"/>
                </a:ext>
              </a:extLst>
            </p:cNvPr>
            <p:cNvSpPr txBox="1"/>
            <p:nvPr/>
          </p:nvSpPr>
          <p:spPr>
            <a:xfrm>
              <a:off x="10301440" y="3044280"/>
              <a:ext cx="401216" cy="67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chemeClr val="accent4"/>
                  </a:solidFill>
                </a:rPr>
                <a:t>D</a:t>
              </a:r>
            </a:p>
          </p:txBody>
        </p:sp>
      </p:grpSp>
      <p:graphicFrame>
        <p:nvGraphicFramePr>
          <p:cNvPr id="17" name="Table 4">
            <a:extLst>
              <a:ext uri="{FF2B5EF4-FFF2-40B4-BE49-F238E27FC236}">
                <a16:creationId xmlns:a16="http://schemas.microsoft.com/office/drawing/2014/main" id="{0EECB07A-12DE-4228-B552-E929EB8396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348815"/>
              </p:ext>
            </p:extLst>
          </p:nvPr>
        </p:nvGraphicFramePr>
        <p:xfrm>
          <a:off x="269976" y="1547212"/>
          <a:ext cx="4719696" cy="3606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5388">
                  <a:extLst>
                    <a:ext uri="{9D8B030D-6E8A-4147-A177-3AD203B41FA5}">
                      <a16:colId xmlns:a16="http://schemas.microsoft.com/office/drawing/2014/main" val="1015059138"/>
                    </a:ext>
                  </a:extLst>
                </a:gridCol>
                <a:gridCol w="505388">
                  <a:extLst>
                    <a:ext uri="{9D8B030D-6E8A-4147-A177-3AD203B41FA5}">
                      <a16:colId xmlns:a16="http://schemas.microsoft.com/office/drawing/2014/main" val="132593303"/>
                    </a:ext>
                  </a:extLst>
                </a:gridCol>
                <a:gridCol w="505388">
                  <a:extLst>
                    <a:ext uri="{9D8B030D-6E8A-4147-A177-3AD203B41FA5}">
                      <a16:colId xmlns:a16="http://schemas.microsoft.com/office/drawing/2014/main" val="690242980"/>
                    </a:ext>
                  </a:extLst>
                </a:gridCol>
                <a:gridCol w="1067844">
                  <a:extLst>
                    <a:ext uri="{9D8B030D-6E8A-4147-A177-3AD203B41FA5}">
                      <a16:colId xmlns:a16="http://schemas.microsoft.com/office/drawing/2014/main" val="1454906182"/>
                    </a:ext>
                  </a:extLst>
                </a:gridCol>
                <a:gridCol w="1067844">
                  <a:extLst>
                    <a:ext uri="{9D8B030D-6E8A-4147-A177-3AD203B41FA5}">
                      <a16:colId xmlns:a16="http://schemas.microsoft.com/office/drawing/2014/main" val="3521015678"/>
                    </a:ext>
                  </a:extLst>
                </a:gridCol>
                <a:gridCol w="1067844">
                  <a:extLst>
                    <a:ext uri="{9D8B030D-6E8A-4147-A177-3AD203B41FA5}">
                      <a16:colId xmlns:a16="http://schemas.microsoft.com/office/drawing/2014/main" val="20175959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 OR B</a:t>
                      </a:r>
                    </a:p>
                    <a:p>
                      <a:pPr algn="ctr"/>
                      <a:r>
                        <a:rPr lang="en-GB" i="1" dirty="0">
                          <a:solidFill>
                            <a:schemeClr val="accent4"/>
                          </a:solidFill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NOT C</a:t>
                      </a:r>
                    </a:p>
                    <a:p>
                      <a:pPr algn="ctr"/>
                      <a:r>
                        <a:rPr lang="en-GB" i="1" dirty="0">
                          <a:solidFill>
                            <a:schemeClr val="accent4"/>
                          </a:solidFill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E ● F</a:t>
                      </a:r>
                    </a:p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D</a:t>
                      </a:r>
                      <a:endParaRPr lang="en-GB" i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633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295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328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6710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39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895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745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946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7742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02892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9415110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Turning a logic circuit into a truth table and logic expression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DB3443-1F7C-4438-939F-B2ADA41794CF}"/>
              </a:ext>
            </a:extLst>
          </p:cNvPr>
          <p:cNvSpPr/>
          <p:nvPr/>
        </p:nvSpPr>
        <p:spPr>
          <a:xfrm>
            <a:off x="175878" y="6334825"/>
            <a:ext cx="11874412" cy="374345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t"/>
          <a:lstStyle/>
          <a:p>
            <a:pPr marL="540000" indent="-180975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You can substitute any letters you like for the various inputs/outputs.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67240FA-5E3E-40EB-8800-727DC47004B0}"/>
              </a:ext>
            </a:extLst>
          </p:cNvPr>
          <p:cNvGrpSpPr/>
          <p:nvPr/>
        </p:nvGrpSpPr>
        <p:grpSpPr>
          <a:xfrm>
            <a:off x="5121946" y="1781175"/>
            <a:ext cx="6905630" cy="2879506"/>
            <a:chOff x="591936" y="1321018"/>
            <a:chExt cx="10110720" cy="4215963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8A21E45-C9B2-4250-B828-D03C27564CB4}"/>
                </a:ext>
              </a:extLst>
            </p:cNvPr>
            <p:cNvGrpSpPr/>
            <p:nvPr/>
          </p:nvGrpSpPr>
          <p:grpSpPr>
            <a:xfrm>
              <a:off x="1115496" y="1321018"/>
              <a:ext cx="9185944" cy="4215963"/>
              <a:chOff x="1153911" y="2334125"/>
              <a:chExt cx="9185944" cy="4215963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913869D1-D854-4199-B0CF-47A70E7511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3911" y="2334125"/>
                <a:ext cx="3575117" cy="2004653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14334097-878A-4C74-8AD2-74D637A410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64738" y="3345782"/>
                <a:ext cx="3575117" cy="2004653"/>
              </a:xfrm>
              <a:prstGeom prst="rect">
                <a:avLst/>
              </a:prstGeom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p:spPr>
          </p:pic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6676796F-A6BA-42C9-A239-3AF5253504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3911" y="4534480"/>
                <a:ext cx="3575117" cy="2015608"/>
              </a:xfrm>
              <a:prstGeom prst="rect">
                <a:avLst/>
              </a:prstGeom>
              <a:effectLst/>
            </p:spPr>
          </p:pic>
          <p:cxnSp>
            <p:nvCxnSpPr>
              <p:cNvPr id="25" name="Connector: Elbow 24">
                <a:extLst>
                  <a:ext uri="{FF2B5EF4-FFF2-40B4-BE49-F238E27FC236}">
                    <a16:creationId xmlns:a16="http://schemas.microsoft.com/office/drawing/2014/main" id="{639F4258-CA9F-4686-9A05-FF0E9DFA2F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38575" y="3432175"/>
                <a:ext cx="3816350" cy="565150"/>
              </a:xfrm>
              <a:prstGeom prst="bentConnector3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Connector: Elbow 25">
                <a:extLst>
                  <a:ext uri="{FF2B5EF4-FFF2-40B4-BE49-F238E27FC236}">
                    <a16:creationId xmlns:a16="http://schemas.microsoft.com/office/drawing/2014/main" id="{2B882833-2A6B-47B6-9D35-386C74FE06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06875" y="4893664"/>
                <a:ext cx="3448050" cy="745478"/>
              </a:xfrm>
              <a:prstGeom prst="bentConnector3">
                <a:avLst>
                  <a:gd name="adj1" fmla="val 45028"/>
                </a:avLst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504FC04-5FA5-473F-A244-7DE0E7618979}"/>
                </a:ext>
              </a:extLst>
            </p:cNvPr>
            <p:cNvSpPr txBox="1"/>
            <p:nvPr/>
          </p:nvSpPr>
          <p:spPr>
            <a:xfrm>
              <a:off x="591936" y="1582284"/>
              <a:ext cx="401216" cy="67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rgbClr val="C00000"/>
                  </a:solidFill>
                </a:rPr>
                <a:t>A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930CB7A-F3FC-451B-B92B-27A8D3A05F6D}"/>
                </a:ext>
              </a:extLst>
            </p:cNvPr>
            <p:cNvSpPr txBox="1"/>
            <p:nvPr/>
          </p:nvSpPr>
          <p:spPr>
            <a:xfrm>
              <a:off x="591936" y="2474775"/>
              <a:ext cx="401216" cy="67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rgbClr val="C00000"/>
                  </a:solidFill>
                </a:rPr>
                <a:t>B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5BA3782-8AF6-4133-BD41-4AB870D5AAAE}"/>
                </a:ext>
              </a:extLst>
            </p:cNvPr>
            <p:cNvSpPr txBox="1"/>
            <p:nvPr/>
          </p:nvSpPr>
          <p:spPr>
            <a:xfrm>
              <a:off x="631757" y="4241313"/>
              <a:ext cx="401216" cy="67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rgbClr val="C00000"/>
                  </a:solidFill>
                </a:rPr>
                <a:t>C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5738192-2196-4243-98D7-9E8ECF0BCBC3}"/>
                </a:ext>
              </a:extLst>
            </p:cNvPr>
            <p:cNvSpPr txBox="1"/>
            <p:nvPr/>
          </p:nvSpPr>
          <p:spPr>
            <a:xfrm>
              <a:off x="3872594" y="1742154"/>
              <a:ext cx="401216" cy="67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chemeClr val="accent4"/>
                  </a:solidFill>
                </a:rPr>
                <a:t>E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8F08218-2BC7-46DB-BC3B-FFDE154FF38A}"/>
                </a:ext>
              </a:extLst>
            </p:cNvPr>
            <p:cNvSpPr txBox="1"/>
            <p:nvPr/>
          </p:nvSpPr>
          <p:spPr>
            <a:xfrm>
              <a:off x="4206875" y="3952350"/>
              <a:ext cx="401216" cy="67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chemeClr val="accent4"/>
                  </a:solidFill>
                </a:rPr>
                <a:t>F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B2CA1D3-EE6F-4C90-A192-E30497F9D549}"/>
                </a:ext>
              </a:extLst>
            </p:cNvPr>
            <p:cNvSpPr txBox="1"/>
            <p:nvPr/>
          </p:nvSpPr>
          <p:spPr>
            <a:xfrm>
              <a:off x="10301440" y="3044280"/>
              <a:ext cx="401216" cy="67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chemeClr val="accent4"/>
                  </a:solidFill>
                </a:rPr>
                <a:t>D</a:t>
              </a:r>
            </a:p>
          </p:txBody>
        </p:sp>
      </p:grpSp>
      <p:graphicFrame>
        <p:nvGraphicFramePr>
          <p:cNvPr id="17" name="Table 4">
            <a:extLst>
              <a:ext uri="{FF2B5EF4-FFF2-40B4-BE49-F238E27FC236}">
                <a16:creationId xmlns:a16="http://schemas.microsoft.com/office/drawing/2014/main" id="{0EECB07A-12DE-4228-B552-E929EB8396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3569240"/>
              </p:ext>
            </p:extLst>
          </p:nvPr>
        </p:nvGraphicFramePr>
        <p:xfrm>
          <a:off x="269976" y="1547212"/>
          <a:ext cx="4719696" cy="3606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5388">
                  <a:extLst>
                    <a:ext uri="{9D8B030D-6E8A-4147-A177-3AD203B41FA5}">
                      <a16:colId xmlns:a16="http://schemas.microsoft.com/office/drawing/2014/main" val="1015059138"/>
                    </a:ext>
                  </a:extLst>
                </a:gridCol>
                <a:gridCol w="505388">
                  <a:extLst>
                    <a:ext uri="{9D8B030D-6E8A-4147-A177-3AD203B41FA5}">
                      <a16:colId xmlns:a16="http://schemas.microsoft.com/office/drawing/2014/main" val="132593303"/>
                    </a:ext>
                  </a:extLst>
                </a:gridCol>
                <a:gridCol w="505388">
                  <a:extLst>
                    <a:ext uri="{9D8B030D-6E8A-4147-A177-3AD203B41FA5}">
                      <a16:colId xmlns:a16="http://schemas.microsoft.com/office/drawing/2014/main" val="690242980"/>
                    </a:ext>
                  </a:extLst>
                </a:gridCol>
                <a:gridCol w="1067844">
                  <a:extLst>
                    <a:ext uri="{9D8B030D-6E8A-4147-A177-3AD203B41FA5}">
                      <a16:colId xmlns:a16="http://schemas.microsoft.com/office/drawing/2014/main" val="1454906182"/>
                    </a:ext>
                  </a:extLst>
                </a:gridCol>
                <a:gridCol w="1067844">
                  <a:extLst>
                    <a:ext uri="{9D8B030D-6E8A-4147-A177-3AD203B41FA5}">
                      <a16:colId xmlns:a16="http://schemas.microsoft.com/office/drawing/2014/main" val="3521015678"/>
                    </a:ext>
                  </a:extLst>
                </a:gridCol>
                <a:gridCol w="1067844">
                  <a:extLst>
                    <a:ext uri="{9D8B030D-6E8A-4147-A177-3AD203B41FA5}">
                      <a16:colId xmlns:a16="http://schemas.microsoft.com/office/drawing/2014/main" val="20175959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 OR B</a:t>
                      </a:r>
                    </a:p>
                    <a:p>
                      <a:pPr algn="ctr"/>
                      <a:r>
                        <a:rPr lang="en-GB" i="1" dirty="0">
                          <a:solidFill>
                            <a:schemeClr val="accent4"/>
                          </a:solidFill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NOT C</a:t>
                      </a:r>
                    </a:p>
                    <a:p>
                      <a:pPr algn="ctr"/>
                      <a:r>
                        <a:rPr lang="en-GB" i="1" dirty="0">
                          <a:solidFill>
                            <a:schemeClr val="accent4"/>
                          </a:solidFill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 AND F</a:t>
                      </a:r>
                    </a:p>
                    <a:p>
                      <a:pPr algn="ctr"/>
                      <a:r>
                        <a:rPr lang="en-GB" i="1" dirty="0">
                          <a:solidFill>
                            <a:schemeClr val="accent4"/>
                          </a:solidFill>
                        </a:rPr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0633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0295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5328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6710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639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895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745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5946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27742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91475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9415110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Turning a logic circuit into a truth table and logic expression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DB3443-1F7C-4438-939F-B2ADA41794CF}"/>
              </a:ext>
            </a:extLst>
          </p:cNvPr>
          <p:cNvSpPr/>
          <p:nvPr/>
        </p:nvSpPr>
        <p:spPr>
          <a:xfrm>
            <a:off x="175878" y="6334825"/>
            <a:ext cx="11874412" cy="374345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t"/>
          <a:lstStyle/>
          <a:p>
            <a:pPr marL="540000" indent="-180975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We then need to list all the possible combinations. The easiest way to do this is count up in binary from 000 to 111 – i.e., from 0 to 7.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67240FA-5E3E-40EB-8800-727DC47004B0}"/>
              </a:ext>
            </a:extLst>
          </p:cNvPr>
          <p:cNvGrpSpPr/>
          <p:nvPr/>
        </p:nvGrpSpPr>
        <p:grpSpPr>
          <a:xfrm>
            <a:off x="5121946" y="1781175"/>
            <a:ext cx="6905630" cy="2879506"/>
            <a:chOff x="591936" y="1321018"/>
            <a:chExt cx="10110720" cy="4215963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8A21E45-C9B2-4250-B828-D03C27564CB4}"/>
                </a:ext>
              </a:extLst>
            </p:cNvPr>
            <p:cNvGrpSpPr/>
            <p:nvPr/>
          </p:nvGrpSpPr>
          <p:grpSpPr>
            <a:xfrm>
              <a:off x="1115496" y="1321018"/>
              <a:ext cx="9185944" cy="4215963"/>
              <a:chOff x="1153911" y="2334125"/>
              <a:chExt cx="9185944" cy="4215963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913869D1-D854-4199-B0CF-47A70E7511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3911" y="2334125"/>
                <a:ext cx="3575117" cy="2004653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14334097-878A-4C74-8AD2-74D637A410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64738" y="3345782"/>
                <a:ext cx="3575117" cy="2004653"/>
              </a:xfrm>
              <a:prstGeom prst="rect">
                <a:avLst/>
              </a:prstGeom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p:spPr>
          </p:pic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6676796F-A6BA-42C9-A239-3AF5253504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3911" y="4534480"/>
                <a:ext cx="3575117" cy="2015608"/>
              </a:xfrm>
              <a:prstGeom prst="rect">
                <a:avLst/>
              </a:prstGeom>
              <a:effectLst/>
            </p:spPr>
          </p:pic>
          <p:cxnSp>
            <p:nvCxnSpPr>
              <p:cNvPr id="25" name="Connector: Elbow 24">
                <a:extLst>
                  <a:ext uri="{FF2B5EF4-FFF2-40B4-BE49-F238E27FC236}">
                    <a16:creationId xmlns:a16="http://schemas.microsoft.com/office/drawing/2014/main" id="{639F4258-CA9F-4686-9A05-FF0E9DFA2F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38575" y="3432175"/>
                <a:ext cx="3816350" cy="565150"/>
              </a:xfrm>
              <a:prstGeom prst="bentConnector3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Connector: Elbow 25">
                <a:extLst>
                  <a:ext uri="{FF2B5EF4-FFF2-40B4-BE49-F238E27FC236}">
                    <a16:creationId xmlns:a16="http://schemas.microsoft.com/office/drawing/2014/main" id="{2B882833-2A6B-47B6-9D35-386C74FE06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06875" y="4893664"/>
                <a:ext cx="3448050" cy="745478"/>
              </a:xfrm>
              <a:prstGeom prst="bentConnector3">
                <a:avLst>
                  <a:gd name="adj1" fmla="val 45028"/>
                </a:avLst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504FC04-5FA5-473F-A244-7DE0E7618979}"/>
                </a:ext>
              </a:extLst>
            </p:cNvPr>
            <p:cNvSpPr txBox="1"/>
            <p:nvPr/>
          </p:nvSpPr>
          <p:spPr>
            <a:xfrm>
              <a:off x="591936" y="1582284"/>
              <a:ext cx="401216" cy="67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rgbClr val="C00000"/>
                  </a:solidFill>
                </a:rPr>
                <a:t>A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930CB7A-F3FC-451B-B92B-27A8D3A05F6D}"/>
                </a:ext>
              </a:extLst>
            </p:cNvPr>
            <p:cNvSpPr txBox="1"/>
            <p:nvPr/>
          </p:nvSpPr>
          <p:spPr>
            <a:xfrm>
              <a:off x="591936" y="2474775"/>
              <a:ext cx="401216" cy="67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rgbClr val="C00000"/>
                  </a:solidFill>
                </a:rPr>
                <a:t>B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5BA3782-8AF6-4133-BD41-4AB870D5AAAE}"/>
                </a:ext>
              </a:extLst>
            </p:cNvPr>
            <p:cNvSpPr txBox="1"/>
            <p:nvPr/>
          </p:nvSpPr>
          <p:spPr>
            <a:xfrm>
              <a:off x="631757" y="4241313"/>
              <a:ext cx="401216" cy="67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rgbClr val="C00000"/>
                  </a:solidFill>
                </a:rPr>
                <a:t>C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5738192-2196-4243-98D7-9E8ECF0BCBC3}"/>
                </a:ext>
              </a:extLst>
            </p:cNvPr>
            <p:cNvSpPr txBox="1"/>
            <p:nvPr/>
          </p:nvSpPr>
          <p:spPr>
            <a:xfrm>
              <a:off x="3872594" y="1742154"/>
              <a:ext cx="401216" cy="67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chemeClr val="accent4"/>
                  </a:solidFill>
                </a:rPr>
                <a:t>E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8F08218-2BC7-46DB-BC3B-FFDE154FF38A}"/>
                </a:ext>
              </a:extLst>
            </p:cNvPr>
            <p:cNvSpPr txBox="1"/>
            <p:nvPr/>
          </p:nvSpPr>
          <p:spPr>
            <a:xfrm>
              <a:off x="4206875" y="3952350"/>
              <a:ext cx="401216" cy="67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chemeClr val="accent4"/>
                  </a:solidFill>
                </a:rPr>
                <a:t>F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B2CA1D3-EE6F-4C90-A192-E30497F9D549}"/>
                </a:ext>
              </a:extLst>
            </p:cNvPr>
            <p:cNvSpPr txBox="1"/>
            <p:nvPr/>
          </p:nvSpPr>
          <p:spPr>
            <a:xfrm>
              <a:off x="10301440" y="3044280"/>
              <a:ext cx="401216" cy="67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chemeClr val="accent4"/>
                  </a:solidFill>
                </a:rPr>
                <a:t>D</a:t>
              </a:r>
            </a:p>
          </p:txBody>
        </p:sp>
      </p:grpSp>
      <p:graphicFrame>
        <p:nvGraphicFramePr>
          <p:cNvPr id="17" name="Table 4">
            <a:extLst>
              <a:ext uri="{FF2B5EF4-FFF2-40B4-BE49-F238E27FC236}">
                <a16:creationId xmlns:a16="http://schemas.microsoft.com/office/drawing/2014/main" id="{0EECB07A-12DE-4228-B552-E929EB8396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0439778"/>
              </p:ext>
            </p:extLst>
          </p:nvPr>
        </p:nvGraphicFramePr>
        <p:xfrm>
          <a:off x="269976" y="1547212"/>
          <a:ext cx="4719696" cy="3606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5388">
                  <a:extLst>
                    <a:ext uri="{9D8B030D-6E8A-4147-A177-3AD203B41FA5}">
                      <a16:colId xmlns:a16="http://schemas.microsoft.com/office/drawing/2014/main" val="1015059138"/>
                    </a:ext>
                  </a:extLst>
                </a:gridCol>
                <a:gridCol w="505388">
                  <a:extLst>
                    <a:ext uri="{9D8B030D-6E8A-4147-A177-3AD203B41FA5}">
                      <a16:colId xmlns:a16="http://schemas.microsoft.com/office/drawing/2014/main" val="132593303"/>
                    </a:ext>
                  </a:extLst>
                </a:gridCol>
                <a:gridCol w="505388">
                  <a:extLst>
                    <a:ext uri="{9D8B030D-6E8A-4147-A177-3AD203B41FA5}">
                      <a16:colId xmlns:a16="http://schemas.microsoft.com/office/drawing/2014/main" val="690242980"/>
                    </a:ext>
                  </a:extLst>
                </a:gridCol>
                <a:gridCol w="1067844">
                  <a:extLst>
                    <a:ext uri="{9D8B030D-6E8A-4147-A177-3AD203B41FA5}">
                      <a16:colId xmlns:a16="http://schemas.microsoft.com/office/drawing/2014/main" val="1454906182"/>
                    </a:ext>
                  </a:extLst>
                </a:gridCol>
                <a:gridCol w="1067844">
                  <a:extLst>
                    <a:ext uri="{9D8B030D-6E8A-4147-A177-3AD203B41FA5}">
                      <a16:colId xmlns:a16="http://schemas.microsoft.com/office/drawing/2014/main" val="3521015678"/>
                    </a:ext>
                  </a:extLst>
                </a:gridCol>
                <a:gridCol w="1067844">
                  <a:extLst>
                    <a:ext uri="{9D8B030D-6E8A-4147-A177-3AD203B41FA5}">
                      <a16:colId xmlns:a16="http://schemas.microsoft.com/office/drawing/2014/main" val="20175959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 OR B</a:t>
                      </a:r>
                    </a:p>
                    <a:p>
                      <a:pPr algn="ctr"/>
                      <a:r>
                        <a:rPr lang="en-GB" i="1" dirty="0">
                          <a:solidFill>
                            <a:schemeClr val="accent4"/>
                          </a:solidFill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NOT C</a:t>
                      </a:r>
                    </a:p>
                    <a:p>
                      <a:pPr algn="ctr"/>
                      <a:r>
                        <a:rPr lang="en-GB" i="1" dirty="0">
                          <a:solidFill>
                            <a:schemeClr val="accent4"/>
                          </a:solidFill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 AND F</a:t>
                      </a:r>
                    </a:p>
                    <a:p>
                      <a:pPr algn="ctr"/>
                      <a:r>
                        <a:rPr lang="en-GB" i="1" dirty="0">
                          <a:solidFill>
                            <a:schemeClr val="accent4"/>
                          </a:solidFill>
                        </a:rPr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0633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0295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5328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6710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639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895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745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5946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2774261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86C72D78-224E-46D2-9F2B-95143D678973}"/>
              </a:ext>
            </a:extLst>
          </p:cNvPr>
          <p:cNvSpPr txBox="1"/>
          <p:nvPr/>
        </p:nvSpPr>
        <p:spPr>
          <a:xfrm>
            <a:off x="-59575" y="2119285"/>
            <a:ext cx="340158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C00000"/>
                </a:solidFill>
              </a:rPr>
              <a:t>0</a:t>
            </a:r>
          </a:p>
          <a:p>
            <a:r>
              <a:rPr lang="en-GB" sz="2400" dirty="0">
                <a:solidFill>
                  <a:srgbClr val="C00000"/>
                </a:solidFill>
              </a:rPr>
              <a:t>1</a:t>
            </a:r>
          </a:p>
          <a:p>
            <a:r>
              <a:rPr lang="en-GB" sz="2400" dirty="0">
                <a:solidFill>
                  <a:srgbClr val="C00000"/>
                </a:solidFill>
              </a:rPr>
              <a:t>2</a:t>
            </a:r>
          </a:p>
          <a:p>
            <a:r>
              <a:rPr lang="en-GB" sz="2400" dirty="0">
                <a:solidFill>
                  <a:srgbClr val="C00000"/>
                </a:solidFill>
              </a:rPr>
              <a:t>3</a:t>
            </a:r>
          </a:p>
          <a:p>
            <a:r>
              <a:rPr lang="en-GB" sz="2400" dirty="0">
                <a:solidFill>
                  <a:srgbClr val="C00000"/>
                </a:solidFill>
              </a:rPr>
              <a:t>4</a:t>
            </a:r>
          </a:p>
          <a:p>
            <a:r>
              <a:rPr lang="en-GB" sz="2400" dirty="0">
                <a:solidFill>
                  <a:srgbClr val="C00000"/>
                </a:solidFill>
              </a:rPr>
              <a:t>5</a:t>
            </a:r>
          </a:p>
          <a:p>
            <a:r>
              <a:rPr lang="en-GB" sz="2400" dirty="0">
                <a:solidFill>
                  <a:srgbClr val="C00000"/>
                </a:solidFill>
              </a:rPr>
              <a:t>6</a:t>
            </a:r>
          </a:p>
          <a:p>
            <a:r>
              <a:rPr lang="en-GB" sz="2400" dirty="0">
                <a:solidFill>
                  <a:srgbClr val="C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2618484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9415110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Turning a logic circuit into a truth table and logic expression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DB3443-1F7C-4438-939F-B2ADA41794CF}"/>
              </a:ext>
            </a:extLst>
          </p:cNvPr>
          <p:cNvSpPr/>
          <p:nvPr/>
        </p:nvSpPr>
        <p:spPr>
          <a:xfrm>
            <a:off x="175878" y="6120457"/>
            <a:ext cx="11874412" cy="588713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t"/>
          <a:lstStyle/>
          <a:p>
            <a:pPr marL="540000" indent="-180975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Next, we complete the part of the </a:t>
            </a:r>
            <a:r>
              <a:rPr lang="en-GB" sz="1600" b="1" dirty="0">
                <a:solidFill>
                  <a:schemeClr val="tx1"/>
                </a:solidFill>
              </a:rPr>
              <a:t>truth table</a:t>
            </a:r>
            <a:r>
              <a:rPr lang="en-GB" sz="1600" dirty="0">
                <a:solidFill>
                  <a:schemeClr val="tx1"/>
                </a:solidFill>
              </a:rPr>
              <a:t> that represents the </a:t>
            </a:r>
            <a:r>
              <a:rPr lang="en-GB" sz="1600" b="1" dirty="0">
                <a:solidFill>
                  <a:schemeClr val="tx1"/>
                </a:solidFill>
              </a:rPr>
              <a:t>OR</a:t>
            </a:r>
            <a:r>
              <a:rPr lang="en-GB" sz="1600" dirty="0">
                <a:solidFill>
                  <a:schemeClr val="tx1"/>
                </a:solidFill>
              </a:rPr>
              <a:t> gate.</a:t>
            </a:r>
          </a:p>
          <a:p>
            <a:pPr marL="540000" indent="-180975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Remember, if either A or B is 1, then the output, E, is 1.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67240FA-5E3E-40EB-8800-727DC47004B0}"/>
              </a:ext>
            </a:extLst>
          </p:cNvPr>
          <p:cNvGrpSpPr/>
          <p:nvPr/>
        </p:nvGrpSpPr>
        <p:grpSpPr>
          <a:xfrm>
            <a:off x="5121946" y="1781175"/>
            <a:ext cx="6905630" cy="2879506"/>
            <a:chOff x="591936" y="1321018"/>
            <a:chExt cx="10110720" cy="4215963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8A21E45-C9B2-4250-B828-D03C27564CB4}"/>
                </a:ext>
              </a:extLst>
            </p:cNvPr>
            <p:cNvGrpSpPr/>
            <p:nvPr/>
          </p:nvGrpSpPr>
          <p:grpSpPr>
            <a:xfrm>
              <a:off x="1115496" y="1321018"/>
              <a:ext cx="9185944" cy="4215963"/>
              <a:chOff x="1153911" y="2334125"/>
              <a:chExt cx="9185944" cy="4215963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913869D1-D854-4199-B0CF-47A70E7511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3911" y="2334125"/>
                <a:ext cx="3575117" cy="2004653"/>
              </a:xfrm>
              <a:prstGeom prst="rect">
                <a:avLst/>
              </a:prstGeom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14334097-878A-4C74-8AD2-74D637A410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64738" y="3345782"/>
                <a:ext cx="3575117" cy="2004653"/>
              </a:xfrm>
              <a:prstGeom prst="rect">
                <a:avLst/>
              </a:prstGeom>
              <a:effectLst/>
            </p:spPr>
          </p:pic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6676796F-A6BA-42C9-A239-3AF5253504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3911" y="4534480"/>
                <a:ext cx="3575117" cy="2015608"/>
              </a:xfrm>
              <a:prstGeom prst="rect">
                <a:avLst/>
              </a:prstGeom>
              <a:effectLst/>
            </p:spPr>
          </p:pic>
          <p:cxnSp>
            <p:nvCxnSpPr>
              <p:cNvPr id="25" name="Connector: Elbow 24">
                <a:extLst>
                  <a:ext uri="{FF2B5EF4-FFF2-40B4-BE49-F238E27FC236}">
                    <a16:creationId xmlns:a16="http://schemas.microsoft.com/office/drawing/2014/main" id="{639F4258-CA9F-4686-9A05-FF0E9DFA2F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38575" y="3432175"/>
                <a:ext cx="3816350" cy="565150"/>
              </a:xfrm>
              <a:prstGeom prst="bentConnector3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Connector: Elbow 25">
                <a:extLst>
                  <a:ext uri="{FF2B5EF4-FFF2-40B4-BE49-F238E27FC236}">
                    <a16:creationId xmlns:a16="http://schemas.microsoft.com/office/drawing/2014/main" id="{2B882833-2A6B-47B6-9D35-386C74FE06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06875" y="4893664"/>
                <a:ext cx="3448050" cy="745478"/>
              </a:xfrm>
              <a:prstGeom prst="bentConnector3">
                <a:avLst>
                  <a:gd name="adj1" fmla="val 45028"/>
                </a:avLst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504FC04-5FA5-473F-A244-7DE0E7618979}"/>
                </a:ext>
              </a:extLst>
            </p:cNvPr>
            <p:cNvSpPr txBox="1"/>
            <p:nvPr/>
          </p:nvSpPr>
          <p:spPr>
            <a:xfrm>
              <a:off x="591936" y="1582284"/>
              <a:ext cx="401216" cy="67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rgbClr val="C00000"/>
                  </a:solidFill>
                </a:rPr>
                <a:t>A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930CB7A-F3FC-451B-B92B-27A8D3A05F6D}"/>
                </a:ext>
              </a:extLst>
            </p:cNvPr>
            <p:cNvSpPr txBox="1"/>
            <p:nvPr/>
          </p:nvSpPr>
          <p:spPr>
            <a:xfrm>
              <a:off x="591936" y="2474775"/>
              <a:ext cx="401216" cy="67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rgbClr val="C00000"/>
                  </a:solidFill>
                </a:rPr>
                <a:t>B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5BA3782-8AF6-4133-BD41-4AB870D5AAAE}"/>
                </a:ext>
              </a:extLst>
            </p:cNvPr>
            <p:cNvSpPr txBox="1"/>
            <p:nvPr/>
          </p:nvSpPr>
          <p:spPr>
            <a:xfrm>
              <a:off x="631757" y="4241313"/>
              <a:ext cx="401216" cy="67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rgbClr val="C00000"/>
                  </a:solidFill>
                </a:rPr>
                <a:t>C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5738192-2196-4243-98D7-9E8ECF0BCBC3}"/>
                </a:ext>
              </a:extLst>
            </p:cNvPr>
            <p:cNvSpPr txBox="1"/>
            <p:nvPr/>
          </p:nvSpPr>
          <p:spPr>
            <a:xfrm>
              <a:off x="3872594" y="1742154"/>
              <a:ext cx="401216" cy="67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chemeClr val="accent4"/>
                  </a:solidFill>
                </a:rPr>
                <a:t>E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8F08218-2BC7-46DB-BC3B-FFDE154FF38A}"/>
                </a:ext>
              </a:extLst>
            </p:cNvPr>
            <p:cNvSpPr txBox="1"/>
            <p:nvPr/>
          </p:nvSpPr>
          <p:spPr>
            <a:xfrm>
              <a:off x="4206875" y="3952350"/>
              <a:ext cx="401216" cy="67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chemeClr val="accent4"/>
                  </a:solidFill>
                </a:rPr>
                <a:t>F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B2CA1D3-EE6F-4C90-A192-E30497F9D549}"/>
                </a:ext>
              </a:extLst>
            </p:cNvPr>
            <p:cNvSpPr txBox="1"/>
            <p:nvPr/>
          </p:nvSpPr>
          <p:spPr>
            <a:xfrm>
              <a:off x="10301440" y="3044280"/>
              <a:ext cx="401216" cy="67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chemeClr val="accent4"/>
                  </a:solidFill>
                </a:rPr>
                <a:t>D</a:t>
              </a:r>
            </a:p>
          </p:txBody>
        </p:sp>
      </p:grpSp>
      <p:graphicFrame>
        <p:nvGraphicFramePr>
          <p:cNvPr id="17" name="Table 4">
            <a:extLst>
              <a:ext uri="{FF2B5EF4-FFF2-40B4-BE49-F238E27FC236}">
                <a16:creationId xmlns:a16="http://schemas.microsoft.com/office/drawing/2014/main" id="{0EECB07A-12DE-4228-B552-E929EB8396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7905341"/>
              </p:ext>
            </p:extLst>
          </p:nvPr>
        </p:nvGraphicFramePr>
        <p:xfrm>
          <a:off x="269976" y="1547212"/>
          <a:ext cx="4719696" cy="3606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5388">
                  <a:extLst>
                    <a:ext uri="{9D8B030D-6E8A-4147-A177-3AD203B41FA5}">
                      <a16:colId xmlns:a16="http://schemas.microsoft.com/office/drawing/2014/main" val="1015059138"/>
                    </a:ext>
                  </a:extLst>
                </a:gridCol>
                <a:gridCol w="505388">
                  <a:extLst>
                    <a:ext uri="{9D8B030D-6E8A-4147-A177-3AD203B41FA5}">
                      <a16:colId xmlns:a16="http://schemas.microsoft.com/office/drawing/2014/main" val="132593303"/>
                    </a:ext>
                  </a:extLst>
                </a:gridCol>
                <a:gridCol w="505388">
                  <a:extLst>
                    <a:ext uri="{9D8B030D-6E8A-4147-A177-3AD203B41FA5}">
                      <a16:colId xmlns:a16="http://schemas.microsoft.com/office/drawing/2014/main" val="690242980"/>
                    </a:ext>
                  </a:extLst>
                </a:gridCol>
                <a:gridCol w="1067844">
                  <a:extLst>
                    <a:ext uri="{9D8B030D-6E8A-4147-A177-3AD203B41FA5}">
                      <a16:colId xmlns:a16="http://schemas.microsoft.com/office/drawing/2014/main" val="1454906182"/>
                    </a:ext>
                  </a:extLst>
                </a:gridCol>
                <a:gridCol w="1067844">
                  <a:extLst>
                    <a:ext uri="{9D8B030D-6E8A-4147-A177-3AD203B41FA5}">
                      <a16:colId xmlns:a16="http://schemas.microsoft.com/office/drawing/2014/main" val="3521015678"/>
                    </a:ext>
                  </a:extLst>
                </a:gridCol>
                <a:gridCol w="1067844">
                  <a:extLst>
                    <a:ext uri="{9D8B030D-6E8A-4147-A177-3AD203B41FA5}">
                      <a16:colId xmlns:a16="http://schemas.microsoft.com/office/drawing/2014/main" val="20175959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 OR B</a:t>
                      </a:r>
                    </a:p>
                    <a:p>
                      <a:pPr algn="ctr"/>
                      <a:r>
                        <a:rPr lang="en-GB" i="1" dirty="0">
                          <a:solidFill>
                            <a:schemeClr val="accent4"/>
                          </a:solidFill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NOT C</a:t>
                      </a:r>
                    </a:p>
                    <a:p>
                      <a:pPr algn="ctr"/>
                      <a:r>
                        <a:rPr lang="en-GB" i="1" dirty="0">
                          <a:solidFill>
                            <a:schemeClr val="accent4"/>
                          </a:solidFill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 AND F</a:t>
                      </a:r>
                    </a:p>
                    <a:p>
                      <a:pPr algn="ctr"/>
                      <a:r>
                        <a:rPr lang="en-GB" i="1" dirty="0">
                          <a:solidFill>
                            <a:schemeClr val="accent4"/>
                          </a:solidFill>
                        </a:rPr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0633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0295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5328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6710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639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895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745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5946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27742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32101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9415110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Turning a logic circuit into a truth table and logic expression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67240FA-5E3E-40EB-8800-727DC47004B0}"/>
              </a:ext>
            </a:extLst>
          </p:cNvPr>
          <p:cNvGrpSpPr/>
          <p:nvPr/>
        </p:nvGrpSpPr>
        <p:grpSpPr>
          <a:xfrm>
            <a:off x="5121946" y="1781175"/>
            <a:ext cx="6905630" cy="2879506"/>
            <a:chOff x="591936" y="1321018"/>
            <a:chExt cx="10110720" cy="4215963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8A21E45-C9B2-4250-B828-D03C27564CB4}"/>
                </a:ext>
              </a:extLst>
            </p:cNvPr>
            <p:cNvGrpSpPr/>
            <p:nvPr/>
          </p:nvGrpSpPr>
          <p:grpSpPr>
            <a:xfrm>
              <a:off x="1115496" y="1321018"/>
              <a:ext cx="9185944" cy="4215963"/>
              <a:chOff x="1153911" y="2334125"/>
              <a:chExt cx="9185944" cy="4215963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913869D1-D854-4199-B0CF-47A70E7511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3911" y="2334125"/>
                <a:ext cx="3575117" cy="2004653"/>
              </a:xfrm>
              <a:prstGeom prst="rect">
                <a:avLst/>
              </a:prstGeom>
              <a:effectLst/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14334097-878A-4C74-8AD2-74D637A410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64738" y="3345782"/>
                <a:ext cx="3575117" cy="2004653"/>
              </a:xfrm>
              <a:prstGeom prst="rect">
                <a:avLst/>
              </a:prstGeom>
              <a:effectLst/>
            </p:spPr>
          </p:pic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6676796F-A6BA-42C9-A239-3AF5253504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3911" y="4534480"/>
                <a:ext cx="3575117" cy="2015608"/>
              </a:xfrm>
              <a:prstGeom prst="rect">
                <a:avLst/>
              </a:prstGeom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p:spPr>
          </p:pic>
          <p:cxnSp>
            <p:nvCxnSpPr>
              <p:cNvPr id="25" name="Connector: Elbow 24">
                <a:extLst>
                  <a:ext uri="{FF2B5EF4-FFF2-40B4-BE49-F238E27FC236}">
                    <a16:creationId xmlns:a16="http://schemas.microsoft.com/office/drawing/2014/main" id="{639F4258-CA9F-4686-9A05-FF0E9DFA2F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38575" y="3432175"/>
                <a:ext cx="3816350" cy="565150"/>
              </a:xfrm>
              <a:prstGeom prst="bentConnector3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Connector: Elbow 25">
                <a:extLst>
                  <a:ext uri="{FF2B5EF4-FFF2-40B4-BE49-F238E27FC236}">
                    <a16:creationId xmlns:a16="http://schemas.microsoft.com/office/drawing/2014/main" id="{2B882833-2A6B-47B6-9D35-386C74FE06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06875" y="4893664"/>
                <a:ext cx="3448050" cy="745478"/>
              </a:xfrm>
              <a:prstGeom prst="bentConnector3">
                <a:avLst>
                  <a:gd name="adj1" fmla="val 45028"/>
                </a:avLst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504FC04-5FA5-473F-A244-7DE0E7618979}"/>
                </a:ext>
              </a:extLst>
            </p:cNvPr>
            <p:cNvSpPr txBox="1"/>
            <p:nvPr/>
          </p:nvSpPr>
          <p:spPr>
            <a:xfrm>
              <a:off x="591936" y="1582284"/>
              <a:ext cx="401216" cy="67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rgbClr val="C00000"/>
                  </a:solidFill>
                </a:rPr>
                <a:t>A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930CB7A-F3FC-451B-B92B-27A8D3A05F6D}"/>
                </a:ext>
              </a:extLst>
            </p:cNvPr>
            <p:cNvSpPr txBox="1"/>
            <p:nvPr/>
          </p:nvSpPr>
          <p:spPr>
            <a:xfrm>
              <a:off x="591936" y="2474775"/>
              <a:ext cx="401216" cy="67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rgbClr val="C00000"/>
                  </a:solidFill>
                </a:rPr>
                <a:t>B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5BA3782-8AF6-4133-BD41-4AB870D5AAAE}"/>
                </a:ext>
              </a:extLst>
            </p:cNvPr>
            <p:cNvSpPr txBox="1"/>
            <p:nvPr/>
          </p:nvSpPr>
          <p:spPr>
            <a:xfrm>
              <a:off x="631757" y="4241313"/>
              <a:ext cx="401216" cy="67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rgbClr val="C00000"/>
                  </a:solidFill>
                </a:rPr>
                <a:t>C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5738192-2196-4243-98D7-9E8ECF0BCBC3}"/>
                </a:ext>
              </a:extLst>
            </p:cNvPr>
            <p:cNvSpPr txBox="1"/>
            <p:nvPr/>
          </p:nvSpPr>
          <p:spPr>
            <a:xfrm>
              <a:off x="3872594" y="1742154"/>
              <a:ext cx="401216" cy="67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chemeClr val="accent4"/>
                  </a:solidFill>
                </a:rPr>
                <a:t>E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8F08218-2BC7-46DB-BC3B-FFDE154FF38A}"/>
                </a:ext>
              </a:extLst>
            </p:cNvPr>
            <p:cNvSpPr txBox="1"/>
            <p:nvPr/>
          </p:nvSpPr>
          <p:spPr>
            <a:xfrm>
              <a:off x="4206875" y="3952350"/>
              <a:ext cx="401216" cy="67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chemeClr val="accent4"/>
                  </a:solidFill>
                </a:rPr>
                <a:t>F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B2CA1D3-EE6F-4C90-A192-E30497F9D549}"/>
                </a:ext>
              </a:extLst>
            </p:cNvPr>
            <p:cNvSpPr txBox="1"/>
            <p:nvPr/>
          </p:nvSpPr>
          <p:spPr>
            <a:xfrm>
              <a:off x="10301440" y="3044280"/>
              <a:ext cx="401216" cy="67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chemeClr val="accent4"/>
                  </a:solidFill>
                </a:rPr>
                <a:t>D</a:t>
              </a:r>
            </a:p>
          </p:txBody>
        </p:sp>
      </p:grpSp>
      <p:graphicFrame>
        <p:nvGraphicFramePr>
          <p:cNvPr id="17" name="Table 4">
            <a:extLst>
              <a:ext uri="{FF2B5EF4-FFF2-40B4-BE49-F238E27FC236}">
                <a16:creationId xmlns:a16="http://schemas.microsoft.com/office/drawing/2014/main" id="{0EECB07A-12DE-4228-B552-E929EB8396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9693727"/>
              </p:ext>
            </p:extLst>
          </p:nvPr>
        </p:nvGraphicFramePr>
        <p:xfrm>
          <a:off x="269976" y="1547212"/>
          <a:ext cx="4719696" cy="3606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5388">
                  <a:extLst>
                    <a:ext uri="{9D8B030D-6E8A-4147-A177-3AD203B41FA5}">
                      <a16:colId xmlns:a16="http://schemas.microsoft.com/office/drawing/2014/main" val="1015059138"/>
                    </a:ext>
                  </a:extLst>
                </a:gridCol>
                <a:gridCol w="505388">
                  <a:extLst>
                    <a:ext uri="{9D8B030D-6E8A-4147-A177-3AD203B41FA5}">
                      <a16:colId xmlns:a16="http://schemas.microsoft.com/office/drawing/2014/main" val="132593303"/>
                    </a:ext>
                  </a:extLst>
                </a:gridCol>
                <a:gridCol w="505388">
                  <a:extLst>
                    <a:ext uri="{9D8B030D-6E8A-4147-A177-3AD203B41FA5}">
                      <a16:colId xmlns:a16="http://schemas.microsoft.com/office/drawing/2014/main" val="690242980"/>
                    </a:ext>
                  </a:extLst>
                </a:gridCol>
                <a:gridCol w="1067844">
                  <a:extLst>
                    <a:ext uri="{9D8B030D-6E8A-4147-A177-3AD203B41FA5}">
                      <a16:colId xmlns:a16="http://schemas.microsoft.com/office/drawing/2014/main" val="1454906182"/>
                    </a:ext>
                  </a:extLst>
                </a:gridCol>
                <a:gridCol w="1067844">
                  <a:extLst>
                    <a:ext uri="{9D8B030D-6E8A-4147-A177-3AD203B41FA5}">
                      <a16:colId xmlns:a16="http://schemas.microsoft.com/office/drawing/2014/main" val="3521015678"/>
                    </a:ext>
                  </a:extLst>
                </a:gridCol>
                <a:gridCol w="1067844">
                  <a:extLst>
                    <a:ext uri="{9D8B030D-6E8A-4147-A177-3AD203B41FA5}">
                      <a16:colId xmlns:a16="http://schemas.microsoft.com/office/drawing/2014/main" val="20175959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 OR B</a:t>
                      </a:r>
                    </a:p>
                    <a:p>
                      <a:pPr algn="ctr"/>
                      <a:r>
                        <a:rPr lang="en-GB" i="1" dirty="0">
                          <a:solidFill>
                            <a:schemeClr val="accent4"/>
                          </a:solidFill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NOT C</a:t>
                      </a:r>
                    </a:p>
                    <a:p>
                      <a:pPr algn="ctr"/>
                      <a:r>
                        <a:rPr lang="en-GB" i="1" dirty="0">
                          <a:solidFill>
                            <a:schemeClr val="accent4"/>
                          </a:solidFill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 AND F</a:t>
                      </a:r>
                    </a:p>
                    <a:p>
                      <a:pPr algn="ctr"/>
                      <a:r>
                        <a:rPr lang="en-GB" i="1" dirty="0">
                          <a:solidFill>
                            <a:schemeClr val="accent4"/>
                          </a:solidFill>
                        </a:rPr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0633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0295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5328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6710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639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895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745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lnB w="127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5946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2774261"/>
                  </a:ext>
                </a:extLst>
              </a:tr>
            </a:tbl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77B2D206-5660-574E-8973-F6668DF6713B}"/>
              </a:ext>
            </a:extLst>
          </p:cNvPr>
          <p:cNvSpPr/>
          <p:nvPr/>
        </p:nvSpPr>
        <p:spPr>
          <a:xfrm>
            <a:off x="175878" y="6120457"/>
            <a:ext cx="11874412" cy="588713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t"/>
          <a:lstStyle/>
          <a:p>
            <a:pPr marL="540000" indent="-180975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Next, we complete the part of the </a:t>
            </a:r>
            <a:r>
              <a:rPr lang="en-GB" sz="1600" b="1" dirty="0">
                <a:solidFill>
                  <a:schemeClr val="tx1"/>
                </a:solidFill>
              </a:rPr>
              <a:t>truth table</a:t>
            </a:r>
            <a:r>
              <a:rPr lang="en-GB" sz="1600" dirty="0">
                <a:solidFill>
                  <a:schemeClr val="tx1"/>
                </a:solidFill>
              </a:rPr>
              <a:t> that represents the </a:t>
            </a:r>
            <a:r>
              <a:rPr lang="en-GB" sz="1600" b="1" dirty="0">
                <a:solidFill>
                  <a:schemeClr val="tx1"/>
                </a:solidFill>
              </a:rPr>
              <a:t>NOT</a:t>
            </a:r>
            <a:r>
              <a:rPr lang="en-GB" sz="1600" dirty="0">
                <a:solidFill>
                  <a:schemeClr val="tx1"/>
                </a:solidFill>
              </a:rPr>
              <a:t> gate.</a:t>
            </a:r>
          </a:p>
          <a:p>
            <a:pPr marL="540000" indent="-180975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Remember, if C is 0, then F is 1 – and vice versa.</a:t>
            </a:r>
          </a:p>
        </p:txBody>
      </p:sp>
    </p:spTree>
    <p:extLst>
      <p:ext uri="{BB962C8B-B14F-4D97-AF65-F5344CB8AC3E}">
        <p14:creationId xmlns:p14="http://schemas.microsoft.com/office/powerpoint/2010/main" val="148539953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9415110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Turning a logic circuit into a truth table and logic expression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67240FA-5E3E-40EB-8800-727DC47004B0}"/>
              </a:ext>
            </a:extLst>
          </p:cNvPr>
          <p:cNvGrpSpPr/>
          <p:nvPr/>
        </p:nvGrpSpPr>
        <p:grpSpPr>
          <a:xfrm>
            <a:off x="5121946" y="1781175"/>
            <a:ext cx="6905630" cy="2879506"/>
            <a:chOff x="591936" y="1321018"/>
            <a:chExt cx="10110720" cy="4215963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8A21E45-C9B2-4250-B828-D03C27564CB4}"/>
                </a:ext>
              </a:extLst>
            </p:cNvPr>
            <p:cNvGrpSpPr/>
            <p:nvPr/>
          </p:nvGrpSpPr>
          <p:grpSpPr>
            <a:xfrm>
              <a:off x="1115496" y="1321018"/>
              <a:ext cx="9185944" cy="4215963"/>
              <a:chOff x="1153911" y="2334125"/>
              <a:chExt cx="9185944" cy="4215963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913869D1-D854-4199-B0CF-47A70E7511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3911" y="2334125"/>
                <a:ext cx="3575117" cy="2004653"/>
              </a:xfrm>
              <a:prstGeom prst="rect">
                <a:avLst/>
              </a:prstGeom>
              <a:effectLst/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14334097-878A-4C74-8AD2-74D637A410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64738" y="3345782"/>
                <a:ext cx="3575117" cy="2004653"/>
              </a:xfrm>
              <a:prstGeom prst="rect">
                <a:avLst/>
              </a:prstGeom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p:spPr>
          </p:pic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6676796F-A6BA-42C9-A239-3AF5253504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3911" y="4534480"/>
                <a:ext cx="3575117" cy="2015608"/>
              </a:xfrm>
              <a:prstGeom prst="rect">
                <a:avLst/>
              </a:prstGeom>
              <a:effectLst/>
            </p:spPr>
          </p:pic>
          <p:cxnSp>
            <p:nvCxnSpPr>
              <p:cNvPr id="25" name="Connector: Elbow 24">
                <a:extLst>
                  <a:ext uri="{FF2B5EF4-FFF2-40B4-BE49-F238E27FC236}">
                    <a16:creationId xmlns:a16="http://schemas.microsoft.com/office/drawing/2014/main" id="{639F4258-CA9F-4686-9A05-FF0E9DFA2F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38575" y="3432175"/>
                <a:ext cx="3816350" cy="565150"/>
              </a:xfrm>
              <a:prstGeom prst="bentConnector3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Connector: Elbow 25">
                <a:extLst>
                  <a:ext uri="{FF2B5EF4-FFF2-40B4-BE49-F238E27FC236}">
                    <a16:creationId xmlns:a16="http://schemas.microsoft.com/office/drawing/2014/main" id="{2B882833-2A6B-47B6-9D35-386C74FE06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06875" y="4893664"/>
                <a:ext cx="3448050" cy="745478"/>
              </a:xfrm>
              <a:prstGeom prst="bentConnector3">
                <a:avLst>
                  <a:gd name="adj1" fmla="val 45028"/>
                </a:avLst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504FC04-5FA5-473F-A244-7DE0E7618979}"/>
                </a:ext>
              </a:extLst>
            </p:cNvPr>
            <p:cNvSpPr txBox="1"/>
            <p:nvPr/>
          </p:nvSpPr>
          <p:spPr>
            <a:xfrm>
              <a:off x="591936" y="1582284"/>
              <a:ext cx="401216" cy="67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rgbClr val="C00000"/>
                  </a:solidFill>
                </a:rPr>
                <a:t>A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930CB7A-F3FC-451B-B92B-27A8D3A05F6D}"/>
                </a:ext>
              </a:extLst>
            </p:cNvPr>
            <p:cNvSpPr txBox="1"/>
            <p:nvPr/>
          </p:nvSpPr>
          <p:spPr>
            <a:xfrm>
              <a:off x="591936" y="2474775"/>
              <a:ext cx="401216" cy="67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rgbClr val="C00000"/>
                  </a:solidFill>
                </a:rPr>
                <a:t>B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5BA3782-8AF6-4133-BD41-4AB870D5AAAE}"/>
                </a:ext>
              </a:extLst>
            </p:cNvPr>
            <p:cNvSpPr txBox="1"/>
            <p:nvPr/>
          </p:nvSpPr>
          <p:spPr>
            <a:xfrm>
              <a:off x="631757" y="4241313"/>
              <a:ext cx="401216" cy="67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rgbClr val="C00000"/>
                  </a:solidFill>
                </a:rPr>
                <a:t>C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5738192-2196-4243-98D7-9E8ECF0BCBC3}"/>
                </a:ext>
              </a:extLst>
            </p:cNvPr>
            <p:cNvSpPr txBox="1"/>
            <p:nvPr/>
          </p:nvSpPr>
          <p:spPr>
            <a:xfrm>
              <a:off x="3872594" y="1742154"/>
              <a:ext cx="401216" cy="67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chemeClr val="accent4"/>
                  </a:solidFill>
                </a:rPr>
                <a:t>E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8F08218-2BC7-46DB-BC3B-FFDE154FF38A}"/>
                </a:ext>
              </a:extLst>
            </p:cNvPr>
            <p:cNvSpPr txBox="1"/>
            <p:nvPr/>
          </p:nvSpPr>
          <p:spPr>
            <a:xfrm>
              <a:off x="4206875" y="3952350"/>
              <a:ext cx="401216" cy="67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chemeClr val="accent4"/>
                  </a:solidFill>
                </a:rPr>
                <a:t>F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B2CA1D3-EE6F-4C90-A192-E30497F9D549}"/>
                </a:ext>
              </a:extLst>
            </p:cNvPr>
            <p:cNvSpPr txBox="1"/>
            <p:nvPr/>
          </p:nvSpPr>
          <p:spPr>
            <a:xfrm>
              <a:off x="10301440" y="3044280"/>
              <a:ext cx="401216" cy="67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chemeClr val="accent4"/>
                  </a:solidFill>
                </a:rPr>
                <a:t>D</a:t>
              </a:r>
            </a:p>
          </p:txBody>
        </p:sp>
      </p:grpSp>
      <p:graphicFrame>
        <p:nvGraphicFramePr>
          <p:cNvPr id="17" name="Table 4">
            <a:extLst>
              <a:ext uri="{FF2B5EF4-FFF2-40B4-BE49-F238E27FC236}">
                <a16:creationId xmlns:a16="http://schemas.microsoft.com/office/drawing/2014/main" id="{0EECB07A-12DE-4228-B552-E929EB8396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003611"/>
              </p:ext>
            </p:extLst>
          </p:nvPr>
        </p:nvGraphicFramePr>
        <p:xfrm>
          <a:off x="269976" y="1547212"/>
          <a:ext cx="4719696" cy="3606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5388">
                  <a:extLst>
                    <a:ext uri="{9D8B030D-6E8A-4147-A177-3AD203B41FA5}">
                      <a16:colId xmlns:a16="http://schemas.microsoft.com/office/drawing/2014/main" val="1015059138"/>
                    </a:ext>
                  </a:extLst>
                </a:gridCol>
                <a:gridCol w="505388">
                  <a:extLst>
                    <a:ext uri="{9D8B030D-6E8A-4147-A177-3AD203B41FA5}">
                      <a16:colId xmlns:a16="http://schemas.microsoft.com/office/drawing/2014/main" val="132593303"/>
                    </a:ext>
                  </a:extLst>
                </a:gridCol>
                <a:gridCol w="505388">
                  <a:extLst>
                    <a:ext uri="{9D8B030D-6E8A-4147-A177-3AD203B41FA5}">
                      <a16:colId xmlns:a16="http://schemas.microsoft.com/office/drawing/2014/main" val="690242980"/>
                    </a:ext>
                  </a:extLst>
                </a:gridCol>
                <a:gridCol w="1067844">
                  <a:extLst>
                    <a:ext uri="{9D8B030D-6E8A-4147-A177-3AD203B41FA5}">
                      <a16:colId xmlns:a16="http://schemas.microsoft.com/office/drawing/2014/main" val="1454906182"/>
                    </a:ext>
                  </a:extLst>
                </a:gridCol>
                <a:gridCol w="1067844">
                  <a:extLst>
                    <a:ext uri="{9D8B030D-6E8A-4147-A177-3AD203B41FA5}">
                      <a16:colId xmlns:a16="http://schemas.microsoft.com/office/drawing/2014/main" val="3521015678"/>
                    </a:ext>
                  </a:extLst>
                </a:gridCol>
                <a:gridCol w="1067844">
                  <a:extLst>
                    <a:ext uri="{9D8B030D-6E8A-4147-A177-3AD203B41FA5}">
                      <a16:colId xmlns:a16="http://schemas.microsoft.com/office/drawing/2014/main" val="20175959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 OR B</a:t>
                      </a:r>
                    </a:p>
                    <a:p>
                      <a:pPr algn="ctr"/>
                      <a:r>
                        <a:rPr lang="en-GB" i="1" dirty="0">
                          <a:solidFill>
                            <a:schemeClr val="accent4"/>
                          </a:solidFill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NOT C</a:t>
                      </a:r>
                    </a:p>
                    <a:p>
                      <a:pPr algn="ctr"/>
                      <a:r>
                        <a:rPr lang="en-GB" i="1" dirty="0">
                          <a:solidFill>
                            <a:schemeClr val="accent4"/>
                          </a:solidFill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 AND F</a:t>
                      </a:r>
                    </a:p>
                    <a:p>
                      <a:pPr algn="ctr"/>
                      <a:r>
                        <a:rPr lang="en-GB" i="1" dirty="0">
                          <a:solidFill>
                            <a:schemeClr val="accent4"/>
                          </a:solidFill>
                        </a:rPr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0633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295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328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6710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39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895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745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946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774261"/>
                  </a:ext>
                </a:extLst>
              </a:tr>
            </a:tbl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F23C0DE8-3D1B-F248-98EE-DA6E3C985FA5}"/>
              </a:ext>
            </a:extLst>
          </p:cNvPr>
          <p:cNvSpPr/>
          <p:nvPr/>
        </p:nvSpPr>
        <p:spPr>
          <a:xfrm>
            <a:off x="175878" y="6120457"/>
            <a:ext cx="11874412" cy="588713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t"/>
          <a:lstStyle/>
          <a:p>
            <a:pPr marL="540000" indent="-180975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Next, we complete the final part of the </a:t>
            </a:r>
            <a:r>
              <a:rPr lang="en-GB" sz="1600" b="1" dirty="0">
                <a:solidFill>
                  <a:schemeClr val="tx1"/>
                </a:solidFill>
              </a:rPr>
              <a:t>truth table</a:t>
            </a:r>
            <a:r>
              <a:rPr lang="en-GB" sz="1600" dirty="0">
                <a:solidFill>
                  <a:schemeClr val="tx1"/>
                </a:solidFill>
              </a:rPr>
              <a:t>, which represents the </a:t>
            </a:r>
            <a:r>
              <a:rPr lang="en-GB" sz="1600" b="1" dirty="0">
                <a:solidFill>
                  <a:schemeClr val="tx1"/>
                </a:solidFill>
              </a:rPr>
              <a:t>AND</a:t>
            </a:r>
            <a:r>
              <a:rPr lang="en-GB" sz="1600" dirty="0">
                <a:solidFill>
                  <a:schemeClr val="tx1"/>
                </a:solidFill>
              </a:rPr>
              <a:t> gate.</a:t>
            </a:r>
          </a:p>
          <a:p>
            <a:pPr marL="540000" indent="-180975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Remember, both inputs to the </a:t>
            </a:r>
            <a:r>
              <a:rPr lang="en-GB" sz="1600" b="1" dirty="0">
                <a:solidFill>
                  <a:schemeClr val="tx1"/>
                </a:solidFill>
              </a:rPr>
              <a:t>AND </a:t>
            </a:r>
            <a:r>
              <a:rPr lang="en-GB" sz="1600" dirty="0">
                <a:solidFill>
                  <a:schemeClr val="tx1"/>
                </a:solidFill>
              </a:rPr>
              <a:t>gate (E and F) must be 1 for D to be 1.</a:t>
            </a:r>
          </a:p>
        </p:txBody>
      </p:sp>
    </p:spTree>
    <p:extLst>
      <p:ext uri="{BB962C8B-B14F-4D97-AF65-F5344CB8AC3E}">
        <p14:creationId xmlns:p14="http://schemas.microsoft.com/office/powerpoint/2010/main" val="8915861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7A2863-ECD0-42F8-A8CD-90174F9F6801}"/>
              </a:ext>
            </a:extLst>
          </p:cNvPr>
          <p:cNvSpPr/>
          <p:nvPr/>
        </p:nvSpPr>
        <p:spPr>
          <a:xfrm>
            <a:off x="176565" y="523174"/>
            <a:ext cx="9415110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Turning a logic circuit into a truth table and logic expression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67240FA-5E3E-40EB-8800-727DC47004B0}"/>
              </a:ext>
            </a:extLst>
          </p:cNvPr>
          <p:cNvGrpSpPr/>
          <p:nvPr/>
        </p:nvGrpSpPr>
        <p:grpSpPr>
          <a:xfrm>
            <a:off x="5144660" y="1149953"/>
            <a:ext cx="6905630" cy="2879506"/>
            <a:chOff x="591936" y="1321018"/>
            <a:chExt cx="10110720" cy="4215963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8A21E45-C9B2-4250-B828-D03C27564CB4}"/>
                </a:ext>
              </a:extLst>
            </p:cNvPr>
            <p:cNvGrpSpPr/>
            <p:nvPr/>
          </p:nvGrpSpPr>
          <p:grpSpPr>
            <a:xfrm>
              <a:off x="1115496" y="1321018"/>
              <a:ext cx="9185944" cy="4215963"/>
              <a:chOff x="1153911" y="2334125"/>
              <a:chExt cx="9185944" cy="4215963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913869D1-D854-4199-B0CF-47A70E7511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3911" y="2334125"/>
                <a:ext cx="3575117" cy="2004653"/>
              </a:xfrm>
              <a:prstGeom prst="rect">
                <a:avLst/>
              </a:prstGeom>
              <a:effectLst/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14334097-878A-4C74-8AD2-74D637A410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64738" y="3345782"/>
                <a:ext cx="3575117" cy="2004653"/>
              </a:xfrm>
              <a:prstGeom prst="rect">
                <a:avLst/>
              </a:prstGeom>
              <a:effectLst/>
            </p:spPr>
          </p:pic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6676796F-A6BA-42C9-A239-3AF5253504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3911" y="4534480"/>
                <a:ext cx="3575117" cy="2015608"/>
              </a:xfrm>
              <a:prstGeom prst="rect">
                <a:avLst/>
              </a:prstGeom>
              <a:effectLst/>
            </p:spPr>
          </p:pic>
          <p:cxnSp>
            <p:nvCxnSpPr>
              <p:cNvPr id="25" name="Connector: Elbow 24">
                <a:extLst>
                  <a:ext uri="{FF2B5EF4-FFF2-40B4-BE49-F238E27FC236}">
                    <a16:creationId xmlns:a16="http://schemas.microsoft.com/office/drawing/2014/main" id="{639F4258-CA9F-4686-9A05-FF0E9DFA2F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38575" y="3432175"/>
                <a:ext cx="3816350" cy="565150"/>
              </a:xfrm>
              <a:prstGeom prst="bentConnector3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Connector: Elbow 25">
                <a:extLst>
                  <a:ext uri="{FF2B5EF4-FFF2-40B4-BE49-F238E27FC236}">
                    <a16:creationId xmlns:a16="http://schemas.microsoft.com/office/drawing/2014/main" id="{2B882833-2A6B-47B6-9D35-386C74FE06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06875" y="4893664"/>
                <a:ext cx="3448050" cy="745478"/>
              </a:xfrm>
              <a:prstGeom prst="bentConnector3">
                <a:avLst>
                  <a:gd name="adj1" fmla="val 45028"/>
                </a:avLst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504FC04-5FA5-473F-A244-7DE0E7618979}"/>
                </a:ext>
              </a:extLst>
            </p:cNvPr>
            <p:cNvSpPr txBox="1"/>
            <p:nvPr/>
          </p:nvSpPr>
          <p:spPr>
            <a:xfrm>
              <a:off x="591936" y="1582284"/>
              <a:ext cx="401216" cy="67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rgbClr val="C00000"/>
                  </a:solidFill>
                </a:rPr>
                <a:t>A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930CB7A-F3FC-451B-B92B-27A8D3A05F6D}"/>
                </a:ext>
              </a:extLst>
            </p:cNvPr>
            <p:cNvSpPr txBox="1"/>
            <p:nvPr/>
          </p:nvSpPr>
          <p:spPr>
            <a:xfrm>
              <a:off x="591936" y="2474775"/>
              <a:ext cx="401216" cy="67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rgbClr val="C00000"/>
                  </a:solidFill>
                </a:rPr>
                <a:t>B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5BA3782-8AF6-4133-BD41-4AB870D5AAAE}"/>
                </a:ext>
              </a:extLst>
            </p:cNvPr>
            <p:cNvSpPr txBox="1"/>
            <p:nvPr/>
          </p:nvSpPr>
          <p:spPr>
            <a:xfrm>
              <a:off x="631757" y="4241313"/>
              <a:ext cx="401216" cy="67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rgbClr val="C00000"/>
                  </a:solidFill>
                </a:rPr>
                <a:t>C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5738192-2196-4243-98D7-9E8ECF0BCBC3}"/>
                </a:ext>
              </a:extLst>
            </p:cNvPr>
            <p:cNvSpPr txBox="1"/>
            <p:nvPr/>
          </p:nvSpPr>
          <p:spPr>
            <a:xfrm>
              <a:off x="3872594" y="1742154"/>
              <a:ext cx="401216" cy="67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chemeClr val="accent4"/>
                  </a:solidFill>
                </a:rPr>
                <a:t>E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8F08218-2BC7-46DB-BC3B-FFDE154FF38A}"/>
                </a:ext>
              </a:extLst>
            </p:cNvPr>
            <p:cNvSpPr txBox="1"/>
            <p:nvPr/>
          </p:nvSpPr>
          <p:spPr>
            <a:xfrm>
              <a:off x="4206875" y="3952350"/>
              <a:ext cx="401216" cy="67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chemeClr val="accent4"/>
                  </a:solidFill>
                </a:rPr>
                <a:t>F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B2CA1D3-EE6F-4C90-A192-E30497F9D549}"/>
                </a:ext>
              </a:extLst>
            </p:cNvPr>
            <p:cNvSpPr txBox="1"/>
            <p:nvPr/>
          </p:nvSpPr>
          <p:spPr>
            <a:xfrm>
              <a:off x="10301440" y="3044280"/>
              <a:ext cx="401216" cy="67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chemeClr val="accent4"/>
                  </a:solidFill>
                </a:rPr>
                <a:t>D</a:t>
              </a:r>
            </a:p>
          </p:txBody>
        </p:sp>
      </p:grpSp>
      <p:graphicFrame>
        <p:nvGraphicFramePr>
          <p:cNvPr id="17" name="Table 4">
            <a:extLst>
              <a:ext uri="{FF2B5EF4-FFF2-40B4-BE49-F238E27FC236}">
                <a16:creationId xmlns:a16="http://schemas.microsoft.com/office/drawing/2014/main" id="{0EECB07A-12DE-4228-B552-E929EB8396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5992691"/>
              </p:ext>
            </p:extLst>
          </p:nvPr>
        </p:nvGraphicFramePr>
        <p:xfrm>
          <a:off x="269976" y="1547212"/>
          <a:ext cx="4719696" cy="3606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5388">
                  <a:extLst>
                    <a:ext uri="{9D8B030D-6E8A-4147-A177-3AD203B41FA5}">
                      <a16:colId xmlns:a16="http://schemas.microsoft.com/office/drawing/2014/main" val="1015059138"/>
                    </a:ext>
                  </a:extLst>
                </a:gridCol>
                <a:gridCol w="505388">
                  <a:extLst>
                    <a:ext uri="{9D8B030D-6E8A-4147-A177-3AD203B41FA5}">
                      <a16:colId xmlns:a16="http://schemas.microsoft.com/office/drawing/2014/main" val="132593303"/>
                    </a:ext>
                  </a:extLst>
                </a:gridCol>
                <a:gridCol w="505388">
                  <a:extLst>
                    <a:ext uri="{9D8B030D-6E8A-4147-A177-3AD203B41FA5}">
                      <a16:colId xmlns:a16="http://schemas.microsoft.com/office/drawing/2014/main" val="690242980"/>
                    </a:ext>
                  </a:extLst>
                </a:gridCol>
                <a:gridCol w="1067844">
                  <a:extLst>
                    <a:ext uri="{9D8B030D-6E8A-4147-A177-3AD203B41FA5}">
                      <a16:colId xmlns:a16="http://schemas.microsoft.com/office/drawing/2014/main" val="1454906182"/>
                    </a:ext>
                  </a:extLst>
                </a:gridCol>
                <a:gridCol w="1067844">
                  <a:extLst>
                    <a:ext uri="{9D8B030D-6E8A-4147-A177-3AD203B41FA5}">
                      <a16:colId xmlns:a16="http://schemas.microsoft.com/office/drawing/2014/main" val="3521015678"/>
                    </a:ext>
                  </a:extLst>
                </a:gridCol>
                <a:gridCol w="1067844">
                  <a:extLst>
                    <a:ext uri="{9D8B030D-6E8A-4147-A177-3AD203B41FA5}">
                      <a16:colId xmlns:a16="http://schemas.microsoft.com/office/drawing/2014/main" val="20175959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 OR B</a:t>
                      </a:r>
                    </a:p>
                    <a:p>
                      <a:pPr algn="ctr"/>
                      <a:r>
                        <a:rPr lang="en-GB" i="1" dirty="0">
                          <a:solidFill>
                            <a:schemeClr val="accent4"/>
                          </a:solidFill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NOT C</a:t>
                      </a:r>
                    </a:p>
                    <a:p>
                      <a:pPr algn="ctr"/>
                      <a:r>
                        <a:rPr lang="en-GB" i="1" dirty="0">
                          <a:solidFill>
                            <a:schemeClr val="accent4"/>
                          </a:solidFill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 AND F</a:t>
                      </a:r>
                    </a:p>
                    <a:p>
                      <a:pPr algn="ctr"/>
                      <a:r>
                        <a:rPr lang="en-GB" i="1" dirty="0">
                          <a:solidFill>
                            <a:schemeClr val="accent4"/>
                          </a:solidFill>
                        </a:rPr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0633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0295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5328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6710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639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895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745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5946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2774261"/>
                  </a:ext>
                </a:extLst>
              </a:tr>
            </a:tbl>
          </a:graphicData>
        </a:graphic>
      </p:graphicFrame>
      <p:grpSp>
        <p:nvGrpSpPr>
          <p:cNvPr id="18" name="Group 17">
            <a:extLst>
              <a:ext uri="{FF2B5EF4-FFF2-40B4-BE49-F238E27FC236}">
                <a16:creationId xmlns:a16="http://schemas.microsoft.com/office/drawing/2014/main" id="{9CD9B32F-1D6C-4BD8-B24E-2B333BFDD3A0}"/>
              </a:ext>
            </a:extLst>
          </p:cNvPr>
          <p:cNvGrpSpPr/>
          <p:nvPr/>
        </p:nvGrpSpPr>
        <p:grpSpPr>
          <a:xfrm>
            <a:off x="6301263" y="4210778"/>
            <a:ext cx="5726313" cy="1433001"/>
            <a:chOff x="6170218" y="824088"/>
            <a:chExt cx="5726313" cy="143300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FDAD428-4A43-447C-8FD4-41984CC277A3}"/>
                </a:ext>
              </a:extLst>
            </p:cNvPr>
            <p:cNvSpPr/>
            <p:nvPr/>
          </p:nvSpPr>
          <p:spPr>
            <a:xfrm>
              <a:off x="6170218" y="824088"/>
              <a:ext cx="4837449" cy="3755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Logic expression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25C9FBB-0BFA-482C-AE2B-7523A5620A00}"/>
                </a:ext>
              </a:extLst>
            </p:cNvPr>
            <p:cNvSpPr/>
            <p:nvPr/>
          </p:nvSpPr>
          <p:spPr>
            <a:xfrm>
              <a:off x="6260841" y="1186726"/>
              <a:ext cx="5635690" cy="10703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2400" b="1" dirty="0">
                  <a:solidFill>
                    <a:srgbClr val="C00000"/>
                  </a:solidFill>
                </a:rPr>
                <a:t>D = (A OR B) AND (NOT C)</a:t>
              </a:r>
            </a:p>
            <a:p>
              <a:r>
                <a:rPr lang="en-GB" sz="2400" b="1" dirty="0">
                  <a:solidFill>
                    <a:srgbClr val="C00000"/>
                  </a:solidFill>
                </a:rPr>
                <a:t>D = (NOT C) AND (A OR B)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7B1D6A66-3A96-4D4B-AF3C-6A81FDAC005D}"/>
              </a:ext>
            </a:extLst>
          </p:cNvPr>
          <p:cNvSpPr/>
          <p:nvPr/>
        </p:nvSpPr>
        <p:spPr>
          <a:xfrm>
            <a:off x="175878" y="6120457"/>
            <a:ext cx="11874412" cy="588713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t"/>
          <a:lstStyle/>
          <a:p>
            <a:pPr marL="540000" indent="-180975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Here is the </a:t>
            </a:r>
            <a:r>
              <a:rPr lang="en-GB" sz="1600" b="1" dirty="0">
                <a:solidFill>
                  <a:schemeClr val="tx1"/>
                </a:solidFill>
              </a:rPr>
              <a:t>logic expression </a:t>
            </a:r>
            <a:r>
              <a:rPr lang="en-GB" sz="1600" dirty="0">
                <a:solidFill>
                  <a:schemeClr val="tx1"/>
                </a:solidFill>
              </a:rPr>
              <a:t>for the truth table.</a:t>
            </a:r>
          </a:p>
          <a:p>
            <a:pPr marL="540000" indent="-180975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Note that either of the expressions shown are correct – it all depends whether you choose to start with the </a:t>
            </a:r>
            <a:r>
              <a:rPr lang="en-GB" sz="1600" b="1" dirty="0">
                <a:solidFill>
                  <a:schemeClr val="tx1"/>
                </a:solidFill>
              </a:rPr>
              <a:t>OR</a:t>
            </a:r>
            <a:r>
              <a:rPr lang="en-GB" sz="1600" dirty="0">
                <a:solidFill>
                  <a:schemeClr val="tx1"/>
                </a:solidFill>
              </a:rPr>
              <a:t> gate or the </a:t>
            </a:r>
            <a:r>
              <a:rPr lang="en-GB" sz="1600" b="1" dirty="0">
                <a:solidFill>
                  <a:schemeClr val="tx1"/>
                </a:solidFill>
              </a:rPr>
              <a:t>NOT</a:t>
            </a:r>
            <a:r>
              <a:rPr lang="en-GB" sz="1600" dirty="0">
                <a:solidFill>
                  <a:schemeClr val="tx1"/>
                </a:solidFill>
              </a:rPr>
              <a:t> gate.</a:t>
            </a:r>
          </a:p>
        </p:txBody>
      </p:sp>
    </p:spTree>
    <p:extLst>
      <p:ext uri="{BB962C8B-B14F-4D97-AF65-F5344CB8AC3E}">
        <p14:creationId xmlns:p14="http://schemas.microsoft.com/office/powerpoint/2010/main" val="39704065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874</TotalTime>
  <Words>4566</Words>
  <Application>Microsoft Office PowerPoint</Application>
  <PresentationFormat>Widescreen</PresentationFormat>
  <Paragraphs>1924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6" baseType="lpstr">
      <vt:lpstr>Arial</vt:lpstr>
      <vt:lpstr>Calibri</vt:lpstr>
      <vt:lpstr>Calibri Light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206</cp:revision>
  <dcterms:created xsi:type="dcterms:W3CDTF">2019-10-14T15:21:06Z</dcterms:created>
  <dcterms:modified xsi:type="dcterms:W3CDTF">2022-09-15T09:49:00Z</dcterms:modified>
</cp:coreProperties>
</file>