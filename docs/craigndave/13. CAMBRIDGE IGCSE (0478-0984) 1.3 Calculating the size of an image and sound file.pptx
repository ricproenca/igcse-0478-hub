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57" r:id="rId2"/>
    <p:sldId id="270" r:id="rId3"/>
    <p:sldId id="295" r:id="rId4"/>
    <p:sldId id="296" r:id="rId5"/>
    <p:sldId id="285" r:id="rId6"/>
    <p:sldId id="287" r:id="rId7"/>
    <p:sldId id="288" r:id="rId8"/>
    <p:sldId id="289" r:id="rId9"/>
    <p:sldId id="290" r:id="rId10"/>
    <p:sldId id="286" r:id="rId11"/>
    <p:sldId id="291" r:id="rId12"/>
    <p:sldId id="292" r:id="rId13"/>
    <p:sldId id="293" r:id="rId14"/>
    <p:sldId id="294" r:id="rId15"/>
    <p:sldId id="263" r:id="rId16"/>
    <p:sldId id="29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6521"/>
    <a:srgbClr val="FFFFFF"/>
    <a:srgbClr val="0087B1"/>
    <a:srgbClr val="000956"/>
    <a:srgbClr val="99E265"/>
    <a:srgbClr val="008C8C"/>
    <a:srgbClr val="00B2B2"/>
    <a:srgbClr val="26C9FF"/>
    <a:srgbClr val="7CD0DA"/>
    <a:srgbClr val="197D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165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69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340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A54553-2A3F-4C94-AA62-ABFC40E07E5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996737-DD0F-4016-9F43-1C3C116716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E11316-EC54-4B9D-B716-15D72C7F09B1}" type="datetimeFigureOut">
              <a:rPr lang="en-GB" smtClean="0"/>
              <a:t>12/05/2022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7A745F-1972-497D-8174-B5868433DF0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CE6AC0-619C-486F-A045-23AE3DF3E3C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3CFB52-3982-4249-B609-86D9E88836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51636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001D13-C50D-4862-A50B-4E5D0E7CA144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0E031B-FEB2-4221-8849-89831B3F110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7644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67369-A355-4D19-AEEC-9D0100EF3C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924699-1673-40E6-9241-180D779421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BE935-35F7-402A-9F4D-C68B29248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D7A12-EBDB-45B0-9FF5-F17A7EF67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C7090-3E02-4EBA-95BB-2F3FF45C1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18429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77CF4-093B-4C66-A107-491AFAE19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249AB-C9F4-4A3F-A472-C5FDCF3AA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A491B-E55E-4F96-A0A2-08ABE8538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EE9C3-3BD7-499C-9C8F-E914AF0CC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CA0F2C-BB77-4D20-BD01-009748E06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3006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EAB41-C5F4-4F77-8A5C-14CA38A3E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C5B807-A41F-4934-B9B5-F06B7FECF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A9AEC-9ECF-4105-84CF-CCC301ADB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A81FA-05E8-4A50-9FC5-A94F3634C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B13BE1-EE3A-45AF-BF76-41B86D070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0735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01685-8ECA-46F3-BC78-B8E4D43D8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252D3-EA14-47C6-8BDF-B549E97DE4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9FA317-5ECF-4693-88DD-BCA7EC3919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CCA0AA-2226-49B9-8142-4F45D8CE6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7F340D-9456-43F7-A764-CBD130EF6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72910B-6BBA-4043-8CD2-7AE056F14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0604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960B3-16E7-4811-A5F8-83614659A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DB62EE-BCB8-429D-BB6F-89DF9F3EA1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34AD67-4C0E-484D-B7FF-FB976A1710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D7660E-8B38-43A5-A48D-A4523AA03A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7EFE82-A3BC-42B8-9F71-5C3C1ADD41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BD8DB3-F688-4AB2-AAFC-0E5E7F2EB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8F70DA-1B40-4425-B025-A8D06411A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95CE6D-8A51-4013-A622-D11EFBB72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05227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E232E-9E69-481F-BDD8-74F4219ED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AD69E5-4081-437F-98E4-2CAF4F5CC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B30953-0189-477F-ABF4-CE4D2ED1E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CC43C7-506A-468F-96CB-96E8683CF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9814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0CC6F3-15F4-4749-9242-EDD4FF8C5DBF}"/>
              </a:ext>
            </a:extLst>
          </p:cNvPr>
          <p:cNvSpPr/>
          <p:nvPr userDrawn="1"/>
        </p:nvSpPr>
        <p:spPr>
          <a:xfrm>
            <a:off x="10088880" y="0"/>
            <a:ext cx="2103120" cy="6858000"/>
          </a:xfrm>
          <a:prstGeom prst="rect">
            <a:avLst/>
          </a:prstGeom>
          <a:solidFill>
            <a:srgbClr val="F265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rtlCol="0" anchor="t"/>
          <a:lstStyle/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CAMBRIDGE IGCSE</a:t>
            </a:r>
          </a:p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(0478/0984)</a:t>
            </a:r>
          </a:p>
          <a:p>
            <a:pPr algn="ctr"/>
            <a:endParaRPr lang="en-GB" sz="24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B2C14A7-E460-4357-90EB-FC2CBD74FCA1}"/>
              </a:ext>
            </a:extLst>
          </p:cNvPr>
          <p:cNvSpPr/>
          <p:nvPr userDrawn="1"/>
        </p:nvSpPr>
        <p:spPr>
          <a:xfrm>
            <a:off x="8915400" y="2354373"/>
            <a:ext cx="2140171" cy="2140171"/>
          </a:xfrm>
          <a:prstGeom prst="ellipse">
            <a:avLst/>
          </a:prstGeom>
          <a:solidFill>
            <a:schemeClr val="bg1"/>
          </a:solidFill>
          <a:ln w="28575">
            <a:solidFill>
              <a:srgbClr val="F265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7" name="Picture 6" descr="A picture containing brush&#10;&#10;Description automatically generated">
            <a:extLst>
              <a:ext uri="{FF2B5EF4-FFF2-40B4-BE49-F238E27FC236}">
                <a16:creationId xmlns:a16="http://schemas.microsoft.com/office/drawing/2014/main" id="{802D9E8A-D873-49FF-AED9-2CD228DFF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" r="-3" b="-3"/>
          <a:stretch/>
        </p:blipFill>
        <p:spPr>
          <a:xfrm>
            <a:off x="9029206" y="2474254"/>
            <a:ext cx="1912560" cy="1909489"/>
          </a:xfrm>
          <a:custGeom>
            <a:avLst/>
            <a:gdLst>
              <a:gd name="connsiteX0" fmla="*/ 3028805 w 6057610"/>
              <a:gd name="connsiteY0" fmla="*/ 0 h 6057610"/>
              <a:gd name="connsiteX1" fmla="*/ 6057610 w 6057610"/>
              <a:gd name="connsiteY1" fmla="*/ 3028805 h 6057610"/>
              <a:gd name="connsiteX2" fmla="*/ 3028805 w 6057610"/>
              <a:gd name="connsiteY2" fmla="*/ 6057610 h 6057610"/>
              <a:gd name="connsiteX3" fmla="*/ 0 w 6057610"/>
              <a:gd name="connsiteY3" fmla="*/ 3028805 h 6057610"/>
              <a:gd name="connsiteX4" fmla="*/ 3028805 w 6057610"/>
              <a:gd name="connsiteY4" fmla="*/ 0 h 6057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57610" h="6057610">
                <a:moveTo>
                  <a:pt x="3028805" y="0"/>
                </a:moveTo>
                <a:cubicBezTo>
                  <a:pt x="4701568" y="0"/>
                  <a:pt x="6057610" y="1356042"/>
                  <a:pt x="6057610" y="3028805"/>
                </a:cubicBezTo>
                <a:cubicBezTo>
                  <a:pt x="6057610" y="4701568"/>
                  <a:pt x="4701568" y="6057610"/>
                  <a:pt x="3028805" y="6057610"/>
                </a:cubicBezTo>
                <a:cubicBezTo>
                  <a:pt x="1356042" y="6057610"/>
                  <a:pt x="0" y="4701568"/>
                  <a:pt x="0" y="3028805"/>
                </a:cubicBezTo>
                <a:cubicBezTo>
                  <a:pt x="0" y="1356042"/>
                  <a:pt x="1356042" y="0"/>
                  <a:pt x="3028805" y="0"/>
                </a:cubicBezTo>
                <a:close/>
              </a:path>
            </a:pathLst>
          </a:custGeom>
          <a:effectLst>
            <a:softEdge rad="0"/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FE3659E-7B75-43EA-B2D2-F180CB40635B}"/>
              </a:ext>
            </a:extLst>
          </p:cNvPr>
          <p:cNvSpPr/>
          <p:nvPr userDrawn="1"/>
        </p:nvSpPr>
        <p:spPr>
          <a:xfrm>
            <a:off x="0" y="6451184"/>
            <a:ext cx="1008887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Teacher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Student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student.craigndave.org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Smart revise: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smartrevise.co.uk </a:t>
            </a:r>
          </a:p>
        </p:txBody>
      </p:sp>
    </p:spTree>
    <p:extLst>
      <p:ext uri="{BB962C8B-B14F-4D97-AF65-F5344CB8AC3E}">
        <p14:creationId xmlns:p14="http://schemas.microsoft.com/office/powerpoint/2010/main" val="4090015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F19224-2084-4C89-AEFB-59035B0F8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8E9D01-9A95-4DC3-AD5E-0657203E7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B0936-CF61-444A-88C9-B1BE2B016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7AACC54-1682-4874-BD09-D8CF92EDAE43}"/>
              </a:ext>
            </a:extLst>
          </p:cNvPr>
          <p:cNvGrpSpPr/>
          <p:nvPr userDrawn="1"/>
        </p:nvGrpSpPr>
        <p:grpSpPr>
          <a:xfrm>
            <a:off x="-1" y="0"/>
            <a:ext cx="12192001" cy="419100"/>
            <a:chOff x="-1" y="0"/>
            <a:chExt cx="12192001" cy="5334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3B4ABA0-791C-4EF4-91E1-0A7F5B882D36}"/>
                </a:ext>
              </a:extLst>
            </p:cNvPr>
            <p:cNvSpPr/>
            <p:nvPr userDrawn="1"/>
          </p:nvSpPr>
          <p:spPr>
            <a:xfrm>
              <a:off x="-1" y="0"/>
              <a:ext cx="10095723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GB" b="1" dirty="0">
                  <a:solidFill>
                    <a:schemeClr val="bg1"/>
                  </a:solidFill>
                </a:rPr>
                <a:t>1.3 Data storage and compression | Calculating the size of an image and sound file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E5FF8B6-F953-41A2-8CA9-2F6F841BDD32}"/>
                </a:ext>
              </a:extLst>
            </p:cNvPr>
            <p:cNvSpPr/>
            <p:nvPr/>
          </p:nvSpPr>
          <p:spPr>
            <a:xfrm>
              <a:off x="8992998" y="0"/>
              <a:ext cx="3199002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r"/>
              <a:r>
                <a:rPr lang="en-GB" b="1" dirty="0">
                  <a:solidFill>
                    <a:schemeClr val="bg1"/>
                  </a:solidFill>
                </a:rPr>
                <a:t>CAMBRIDGE IGCSE (0478/0984)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20910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E615E-FCEC-48A2-8A58-855AC1751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6C2E3-EFFC-4E46-8E3B-353E3410C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8F8DFF-FB25-4FDB-AE01-189095807A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5E6D8-83E5-4A1F-91A5-3CC7778FD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62ED67-D636-4841-A380-71A8E2C22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ECBE11-BFFB-4E5F-95F9-EF6A83AD8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1817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13C68-F937-4619-AC2A-808BB5FBC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4D0E72-F13A-47A1-9749-F939C5B614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CE7D0-DEEB-4789-9725-4826AE9B0A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52C0A-0BB5-4C36-AC67-AFCF2DC0A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1906B4-69CB-471E-B443-A6DD59556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C21424-3B0E-4EEC-875D-327603D19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8204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6F412-1941-41D2-AC46-E8C20860A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2A1B5D-15E6-4D4B-B6F5-E46A1A7234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18167-751F-4B50-84DD-7F7377E43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10E4B-ECAF-4B58-9633-F0D2214AE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0936C-E069-45AA-8B1E-8B295D2AA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7371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0BBC43-F9FB-4DC0-9192-4C6BBC0BBF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65541F-6124-45F5-9E33-C887715233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28D7AD-9B6B-4D71-A044-0A8CD107B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6F19E0-2B2A-44A5-95AA-5794953B8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AE265-1899-40B9-ABCC-0F0FA6B45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9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68667-8C97-4EFE-84F3-BDAFCA0DE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6806C-F4A6-4145-8586-E1BA0D6AA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371F7-F0FF-4998-A335-671F6745CC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1381F-CB31-4B37-8E8C-1B4AD2A089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B29192-27C3-435C-AA4E-0FF49DC56D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7013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8.tiff"/><Relationship Id="rId4" Type="http://schemas.openxmlformats.org/officeDocument/2006/relationships/image" Target="../media/image7.tif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8.tiff"/><Relationship Id="rId4" Type="http://schemas.openxmlformats.org/officeDocument/2006/relationships/image" Target="../media/image7.tif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8.tiff"/><Relationship Id="rId4" Type="http://schemas.openxmlformats.org/officeDocument/2006/relationships/image" Target="../media/image7.tif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8.tiff"/><Relationship Id="rId4" Type="http://schemas.openxmlformats.org/officeDocument/2006/relationships/image" Target="../media/image7.tif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.png"/><Relationship Id="rId5" Type="http://schemas.openxmlformats.org/officeDocument/2006/relationships/image" Target="../media/image8.tiff"/><Relationship Id="rId4" Type="http://schemas.openxmlformats.org/officeDocument/2006/relationships/image" Target="../media/image7.tiff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342EC1-2AFD-4406-9F14-4D674F90CAE8}"/>
              </a:ext>
            </a:extLst>
          </p:cNvPr>
          <p:cNvSpPr txBox="1"/>
          <p:nvPr/>
        </p:nvSpPr>
        <p:spPr>
          <a:xfrm>
            <a:off x="304800" y="92954"/>
            <a:ext cx="987927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  <a:ea typeface="+mj-ea"/>
                <a:cs typeface="+mj-cs"/>
              </a:rPr>
              <a:t>1.3 Text, sound and images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ABF442-A178-4CA8-8D0A-DF0A8E18C046}"/>
              </a:ext>
            </a:extLst>
          </p:cNvPr>
          <p:cNvSpPr txBox="1"/>
          <p:nvPr/>
        </p:nvSpPr>
        <p:spPr>
          <a:xfrm>
            <a:off x="927652" y="1650609"/>
            <a:ext cx="6997148" cy="34506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1200"/>
              </a:spcAft>
            </a:pPr>
            <a:r>
              <a:rPr lang="en-GB" sz="4000" dirty="0">
                <a:solidFill>
                  <a:schemeClr val="accent2">
                    <a:lumMod val="75000"/>
                  </a:schemeClr>
                </a:solidFill>
              </a:rPr>
              <a:t>Calculating the size of </a:t>
            </a:r>
            <a:br>
              <a:rPr lang="en-GB" sz="4000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GB" sz="4000" dirty="0">
                <a:solidFill>
                  <a:schemeClr val="accent2">
                    <a:lumMod val="75000"/>
                  </a:schemeClr>
                </a:solidFill>
              </a:rPr>
              <a:t>an image and sound file</a:t>
            </a:r>
            <a:endParaRPr lang="en-US" sz="40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3771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F73B460-4E2F-4A55-AF73-7EF5A7286910}"/>
              </a:ext>
            </a:extLst>
          </p:cNvPr>
          <p:cNvSpPr/>
          <p:nvPr/>
        </p:nvSpPr>
        <p:spPr>
          <a:xfrm>
            <a:off x="176565" y="523174"/>
            <a:ext cx="2659511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Calculating file sizes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B5B53A9-B403-DD57-15F5-FA2FF8DBE072}"/>
              </a:ext>
            </a:extLst>
          </p:cNvPr>
          <p:cNvGrpSpPr/>
          <p:nvPr/>
        </p:nvGrpSpPr>
        <p:grpSpPr>
          <a:xfrm>
            <a:off x="1507414" y="1128750"/>
            <a:ext cx="3311026" cy="3904042"/>
            <a:chOff x="4457753" y="2108466"/>
            <a:chExt cx="2624182" cy="3094182"/>
          </a:xfrm>
        </p:grpSpPr>
        <p:pic>
          <p:nvPicPr>
            <p:cNvPr id="15" name="Picture 14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CAD2F885-AFE8-2AB1-26EF-E6F5D3A198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57753" y="2578466"/>
              <a:ext cx="2624182" cy="2624182"/>
            </a:xfrm>
            <a:prstGeom prst="rect">
              <a:avLst/>
            </a:prstGeom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17AAD96-7B6E-8ABB-E3A2-233AFAA87BCB}"/>
                </a:ext>
              </a:extLst>
            </p:cNvPr>
            <p:cNvSpPr/>
            <p:nvPr/>
          </p:nvSpPr>
          <p:spPr>
            <a:xfrm>
              <a:off x="5154660" y="2108466"/>
              <a:ext cx="1230073" cy="37250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</a:pPr>
              <a:r>
                <a:rPr lang="en-GB" sz="2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Sound files</a:t>
              </a:r>
              <a:endParaRPr lang="en-GB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669713A-03B5-FE20-13B8-F2E4E358B8C1}"/>
              </a:ext>
            </a:extLst>
          </p:cNvPr>
          <p:cNvGrpSpPr/>
          <p:nvPr/>
        </p:nvGrpSpPr>
        <p:grpSpPr>
          <a:xfrm>
            <a:off x="7076397" y="990161"/>
            <a:ext cx="4166989" cy="3909123"/>
            <a:chOff x="8136294" y="2108466"/>
            <a:chExt cx="3311026" cy="3106130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1F3B1CBD-1FCC-832E-8E5B-F237D26DC6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36294" y="2578466"/>
              <a:ext cx="3311026" cy="2636130"/>
            </a:xfrm>
            <a:prstGeom prst="rect">
              <a:avLst/>
            </a:prstGeom>
          </p:spPr>
        </p:pic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8D9D4FC-ADA1-8BA9-06FE-98B4E63632C5}"/>
                </a:ext>
              </a:extLst>
            </p:cNvPr>
            <p:cNvSpPr/>
            <p:nvPr/>
          </p:nvSpPr>
          <p:spPr>
            <a:xfrm>
              <a:off x="9186076" y="2108466"/>
              <a:ext cx="1214621" cy="3734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</a:pPr>
              <a:r>
                <a:rPr lang="en-GB" sz="2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Image files</a:t>
              </a:r>
              <a:endParaRPr lang="en-GB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19119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F73B460-4E2F-4A55-AF73-7EF5A7286910}"/>
              </a:ext>
            </a:extLst>
          </p:cNvPr>
          <p:cNvSpPr/>
          <p:nvPr/>
        </p:nvSpPr>
        <p:spPr>
          <a:xfrm>
            <a:off x="176565" y="523174"/>
            <a:ext cx="2659511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Calculating file sizes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CDBC569-810F-A2FD-4628-1FB9BB577FFD}"/>
              </a:ext>
            </a:extLst>
          </p:cNvPr>
          <p:cNvGrpSpPr/>
          <p:nvPr/>
        </p:nvGrpSpPr>
        <p:grpSpPr>
          <a:xfrm>
            <a:off x="1507414" y="1128750"/>
            <a:ext cx="3311026" cy="3904042"/>
            <a:chOff x="4457753" y="2108466"/>
            <a:chExt cx="2624182" cy="3094182"/>
          </a:xfrm>
        </p:grpSpPr>
        <p:pic>
          <p:nvPicPr>
            <p:cNvPr id="16" name="Picture 15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1C1C284F-A189-1083-391A-09DE3FDEB27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57753" y="2578466"/>
              <a:ext cx="2624182" cy="2624182"/>
            </a:xfrm>
            <a:prstGeom prst="rect">
              <a:avLst/>
            </a:prstGeom>
          </p:spPr>
        </p:pic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214BC18-8DE5-7753-236D-E989575C8404}"/>
                </a:ext>
              </a:extLst>
            </p:cNvPr>
            <p:cNvSpPr/>
            <p:nvPr/>
          </p:nvSpPr>
          <p:spPr>
            <a:xfrm>
              <a:off x="5154660" y="2108466"/>
              <a:ext cx="1230073" cy="37250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</a:pPr>
              <a:r>
                <a:rPr lang="en-GB" sz="2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Sound files</a:t>
              </a:r>
              <a:endParaRPr lang="en-GB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5661DE5-C14F-C0E5-E953-AA53CE01DC93}"/>
              </a:ext>
            </a:extLst>
          </p:cNvPr>
          <p:cNvGrpSpPr/>
          <p:nvPr/>
        </p:nvGrpSpPr>
        <p:grpSpPr>
          <a:xfrm>
            <a:off x="7076397" y="990161"/>
            <a:ext cx="4166989" cy="3909123"/>
            <a:chOff x="8136294" y="2108466"/>
            <a:chExt cx="3311026" cy="3106130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C0F081AC-0E12-2D97-DFB5-F4C60C94C5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36294" y="2578466"/>
              <a:ext cx="3311026" cy="2636130"/>
            </a:xfrm>
            <a:prstGeom prst="rect">
              <a:avLst/>
            </a:prstGeom>
          </p:spPr>
        </p:pic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1520F3B-DD03-C046-ACC0-7EA64C1E7919}"/>
                </a:ext>
              </a:extLst>
            </p:cNvPr>
            <p:cNvSpPr/>
            <p:nvPr/>
          </p:nvSpPr>
          <p:spPr>
            <a:xfrm>
              <a:off x="9186076" y="2108466"/>
              <a:ext cx="1214621" cy="3734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</a:pPr>
              <a:r>
                <a:rPr lang="en-GB" sz="2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Image files</a:t>
              </a:r>
              <a:endParaRPr lang="en-GB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820E21F5-F4C0-C624-6730-B5DFD32165C3}"/>
              </a:ext>
            </a:extLst>
          </p:cNvPr>
          <p:cNvSpPr/>
          <p:nvPr/>
        </p:nvSpPr>
        <p:spPr>
          <a:xfrm>
            <a:off x="2435587" y="5042835"/>
            <a:ext cx="1454308" cy="16312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Sample rate</a:t>
            </a:r>
          </a:p>
          <a:p>
            <a:pPr algn="ctr"/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×</a:t>
            </a:r>
            <a:endParaRPr lang="en-GB" sz="2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Duration (s)</a:t>
            </a:r>
          </a:p>
          <a:p>
            <a:pPr algn="ctr"/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×</a:t>
            </a:r>
            <a:endParaRPr lang="en-GB" sz="2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GB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Resolution</a:t>
            </a:r>
            <a:endParaRPr lang="en-GB" sz="11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18505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F73B460-4E2F-4A55-AF73-7EF5A7286910}"/>
              </a:ext>
            </a:extLst>
          </p:cNvPr>
          <p:cNvSpPr/>
          <p:nvPr/>
        </p:nvSpPr>
        <p:spPr>
          <a:xfrm>
            <a:off x="176565" y="523174"/>
            <a:ext cx="2659511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Calculating file sizes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B1FD8F2-AC11-4F83-A664-967D21CF401F}"/>
              </a:ext>
            </a:extLst>
          </p:cNvPr>
          <p:cNvGrpSpPr/>
          <p:nvPr/>
        </p:nvGrpSpPr>
        <p:grpSpPr>
          <a:xfrm>
            <a:off x="1507414" y="1128750"/>
            <a:ext cx="3311026" cy="3904042"/>
            <a:chOff x="4457753" y="2108466"/>
            <a:chExt cx="2624182" cy="3094182"/>
          </a:xfrm>
        </p:grpSpPr>
        <p:pic>
          <p:nvPicPr>
            <p:cNvPr id="17" name="Picture 16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E86388C0-EB72-4820-B151-091F11D94F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57753" y="2578466"/>
              <a:ext cx="2624182" cy="2624182"/>
            </a:xfrm>
            <a:prstGeom prst="rect">
              <a:avLst/>
            </a:prstGeom>
          </p:spPr>
        </p:pic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95A164E8-BF94-43AA-A216-ADFCCFA8F0C6}"/>
                </a:ext>
              </a:extLst>
            </p:cNvPr>
            <p:cNvSpPr/>
            <p:nvPr/>
          </p:nvSpPr>
          <p:spPr>
            <a:xfrm>
              <a:off x="5154660" y="2108466"/>
              <a:ext cx="1230073" cy="37250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</a:pPr>
              <a:r>
                <a:rPr lang="en-GB" sz="2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Sound files</a:t>
              </a:r>
              <a:endParaRPr lang="en-GB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CB9CC52-C47A-4992-BC84-24BD42B494F2}"/>
              </a:ext>
            </a:extLst>
          </p:cNvPr>
          <p:cNvGrpSpPr/>
          <p:nvPr/>
        </p:nvGrpSpPr>
        <p:grpSpPr>
          <a:xfrm>
            <a:off x="7076397" y="990161"/>
            <a:ext cx="4166989" cy="3909123"/>
            <a:chOff x="8136294" y="2108466"/>
            <a:chExt cx="3311026" cy="3106130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06A8CB56-B078-4312-A9EC-E6602974965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36294" y="2578466"/>
              <a:ext cx="3311026" cy="2636130"/>
            </a:xfrm>
            <a:prstGeom prst="rect">
              <a:avLst/>
            </a:prstGeom>
          </p:spPr>
        </p:pic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43EDC9D9-122C-4370-90D2-C150045666A7}"/>
                </a:ext>
              </a:extLst>
            </p:cNvPr>
            <p:cNvSpPr/>
            <p:nvPr/>
          </p:nvSpPr>
          <p:spPr>
            <a:xfrm>
              <a:off x="9186076" y="2108466"/>
              <a:ext cx="1214621" cy="3734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</a:pPr>
              <a:r>
                <a:rPr lang="en-GB" sz="2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Image files</a:t>
              </a:r>
              <a:endParaRPr lang="en-GB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5EFA25F2-7982-4236-85B7-C7777A0EFCAE}"/>
              </a:ext>
            </a:extLst>
          </p:cNvPr>
          <p:cNvSpPr/>
          <p:nvPr/>
        </p:nvSpPr>
        <p:spPr>
          <a:xfrm>
            <a:off x="2435587" y="5042835"/>
            <a:ext cx="1454308" cy="16312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Sample rate</a:t>
            </a:r>
          </a:p>
          <a:p>
            <a:pPr algn="ctr"/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×</a:t>
            </a:r>
            <a:endParaRPr lang="en-GB" sz="2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Duration (s)</a:t>
            </a:r>
          </a:p>
          <a:p>
            <a:pPr algn="ctr"/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×</a:t>
            </a:r>
            <a:endParaRPr lang="en-GB" sz="2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GB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Resolution</a:t>
            </a:r>
            <a:endParaRPr lang="en-GB" sz="11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2216FDF-2E88-4AA4-89DC-E8AE69054D94}"/>
              </a:ext>
            </a:extLst>
          </p:cNvPr>
          <p:cNvSpPr/>
          <p:nvPr/>
        </p:nvSpPr>
        <p:spPr>
          <a:xfrm>
            <a:off x="8292970" y="5005513"/>
            <a:ext cx="2040815" cy="16312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Colour depth</a:t>
            </a:r>
          </a:p>
          <a:p>
            <a:pPr algn="ctr"/>
            <a:r>
              <a:rPr lang="en-GB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×</a:t>
            </a:r>
          </a:p>
          <a:p>
            <a:pPr algn="ctr"/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Image height (px)</a:t>
            </a:r>
          </a:p>
          <a:p>
            <a:pPr algn="ctr"/>
            <a:r>
              <a:rPr lang="en-GB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×</a:t>
            </a:r>
          </a:p>
          <a:p>
            <a:pPr algn="ctr"/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Image width (px)</a:t>
            </a:r>
            <a:endParaRPr lang="en-GB" sz="11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9816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F73B460-4E2F-4A55-AF73-7EF5A7286910}"/>
              </a:ext>
            </a:extLst>
          </p:cNvPr>
          <p:cNvSpPr/>
          <p:nvPr/>
        </p:nvSpPr>
        <p:spPr>
          <a:xfrm>
            <a:off x="176565" y="523174"/>
            <a:ext cx="3496278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Calculating sound file sizes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9" name="Picture 18" descr="A picture containing drawing&#10;&#10;Description automatically generated">
            <a:extLst>
              <a:ext uri="{FF2B5EF4-FFF2-40B4-BE49-F238E27FC236}">
                <a16:creationId xmlns:a16="http://schemas.microsoft.com/office/drawing/2014/main" id="{C8075B43-C3EF-4C4D-A91B-5A35D4B581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2113" y="523174"/>
            <a:ext cx="1270413" cy="1270413"/>
          </a:xfrm>
          <a:prstGeom prst="rect">
            <a:avLst/>
          </a:prstGeom>
        </p:spPr>
      </p:pic>
      <p:sp>
        <p:nvSpPr>
          <p:cNvPr id="84" name="Rectangle 83">
            <a:extLst>
              <a:ext uri="{FF2B5EF4-FFF2-40B4-BE49-F238E27FC236}">
                <a16:creationId xmlns:a16="http://schemas.microsoft.com/office/drawing/2014/main" id="{AAECF125-6CC1-4F29-952C-71845CA8B154}"/>
              </a:ext>
            </a:extLst>
          </p:cNvPr>
          <p:cNvSpPr/>
          <p:nvPr/>
        </p:nvSpPr>
        <p:spPr>
          <a:xfrm>
            <a:off x="9537506" y="532410"/>
            <a:ext cx="1176604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Sample rate</a:t>
            </a:r>
          </a:p>
          <a:p>
            <a:pPr algn="ctr"/>
            <a:r>
              <a:rPr lang="en-GB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×</a:t>
            </a:r>
          </a:p>
          <a:p>
            <a:pPr algn="ctr"/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Duration (s)</a:t>
            </a:r>
          </a:p>
          <a:p>
            <a:pPr algn="ctr"/>
            <a:r>
              <a:rPr lang="en-GB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×</a:t>
            </a:r>
          </a:p>
          <a:p>
            <a:pPr algn="ctr"/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Resolution</a:t>
            </a:r>
            <a:endParaRPr lang="en-GB" sz="1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AD959ED-D602-472A-BB0B-81901BFE1C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715" y="1793587"/>
            <a:ext cx="6205860" cy="4903293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4CCB925B-D203-4E7B-BDE5-E799947995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2008509"/>
              </p:ext>
            </p:extLst>
          </p:nvPr>
        </p:nvGraphicFramePr>
        <p:xfrm>
          <a:off x="6579795" y="2091265"/>
          <a:ext cx="5432490" cy="2571821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810830">
                  <a:extLst>
                    <a:ext uri="{9D8B030D-6E8A-4147-A177-3AD203B41FA5}">
                      <a16:colId xmlns:a16="http://schemas.microsoft.com/office/drawing/2014/main" val="3690284994"/>
                    </a:ext>
                  </a:extLst>
                </a:gridCol>
                <a:gridCol w="911995">
                  <a:extLst>
                    <a:ext uri="{9D8B030D-6E8A-4147-A177-3AD203B41FA5}">
                      <a16:colId xmlns:a16="http://schemas.microsoft.com/office/drawing/2014/main" val="3650909537"/>
                    </a:ext>
                  </a:extLst>
                </a:gridCol>
                <a:gridCol w="2709665">
                  <a:extLst>
                    <a:ext uri="{9D8B030D-6E8A-4147-A177-3AD203B41FA5}">
                      <a16:colId xmlns:a16="http://schemas.microsoft.com/office/drawing/2014/main" val="4031349014"/>
                    </a:ext>
                  </a:extLst>
                </a:gridCol>
              </a:tblGrid>
              <a:tr h="421786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Sound file 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8496186"/>
                  </a:ext>
                </a:extLst>
              </a:tr>
              <a:tr h="520203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Sample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Number of samples per second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0025589"/>
                  </a:ext>
                </a:extLst>
              </a:tr>
              <a:tr h="520203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Duration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Length of sample in seconds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6078675"/>
                  </a:ext>
                </a:extLst>
              </a:tr>
              <a:tr h="520203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Resolution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Number of bits required </a:t>
                      </a:r>
                      <a:br>
                        <a:rPr lang="en-GB" sz="1400" dirty="0"/>
                      </a:br>
                      <a:r>
                        <a:rPr lang="en-GB" sz="1400" dirty="0"/>
                        <a:t>to store each sample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7827112"/>
                  </a:ext>
                </a:extLst>
              </a:tr>
              <a:tr h="122713">
                <a:tc>
                  <a:txBody>
                    <a:bodyPr/>
                    <a:lstStyle/>
                    <a:p>
                      <a:endParaRPr lang="en-GB" sz="500" dirty="0"/>
                    </a:p>
                  </a:txBody>
                  <a:tcPr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500" dirty="0"/>
                    </a:p>
                  </a:txBody>
                  <a:tcPr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500" dirty="0"/>
                    </a:p>
                  </a:txBody>
                  <a:tcPr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8103866"/>
                  </a:ext>
                </a:extLst>
              </a:tr>
              <a:tr h="421786"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9027100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37442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F73B460-4E2F-4A55-AF73-7EF5A7286910}"/>
              </a:ext>
            </a:extLst>
          </p:cNvPr>
          <p:cNvSpPr/>
          <p:nvPr/>
        </p:nvSpPr>
        <p:spPr>
          <a:xfrm>
            <a:off x="176565" y="523174"/>
            <a:ext cx="3496278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Calculating sound file sizes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9" name="Picture 18" descr="A picture containing drawing&#10;&#10;Description automatically generated">
            <a:extLst>
              <a:ext uri="{FF2B5EF4-FFF2-40B4-BE49-F238E27FC236}">
                <a16:creationId xmlns:a16="http://schemas.microsoft.com/office/drawing/2014/main" id="{C8075B43-C3EF-4C4D-A91B-5A35D4B581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2113" y="523174"/>
            <a:ext cx="1270413" cy="127041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AD959ED-D602-472A-BB0B-81901BFE1C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715" y="1793587"/>
            <a:ext cx="6205860" cy="4903293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4CCB925B-D203-4E7B-BDE5-E799947995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5108842"/>
              </p:ext>
            </p:extLst>
          </p:nvPr>
        </p:nvGraphicFramePr>
        <p:xfrm>
          <a:off x="6579795" y="2091265"/>
          <a:ext cx="5432490" cy="2571821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810830">
                  <a:extLst>
                    <a:ext uri="{9D8B030D-6E8A-4147-A177-3AD203B41FA5}">
                      <a16:colId xmlns:a16="http://schemas.microsoft.com/office/drawing/2014/main" val="3690284994"/>
                    </a:ext>
                  </a:extLst>
                </a:gridCol>
                <a:gridCol w="911995">
                  <a:extLst>
                    <a:ext uri="{9D8B030D-6E8A-4147-A177-3AD203B41FA5}">
                      <a16:colId xmlns:a16="http://schemas.microsoft.com/office/drawing/2014/main" val="3650909537"/>
                    </a:ext>
                  </a:extLst>
                </a:gridCol>
                <a:gridCol w="2709665">
                  <a:extLst>
                    <a:ext uri="{9D8B030D-6E8A-4147-A177-3AD203B41FA5}">
                      <a16:colId xmlns:a16="http://schemas.microsoft.com/office/drawing/2014/main" val="4031349014"/>
                    </a:ext>
                  </a:extLst>
                </a:gridCol>
              </a:tblGrid>
              <a:tr h="421786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Sound file 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8496186"/>
                  </a:ext>
                </a:extLst>
              </a:tr>
              <a:tr h="520203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Sample rate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/>
                        <a:t>6</a:t>
                      </a:r>
                      <a:endParaRPr lang="en-GB" sz="1400" b="1" dirty="0"/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Number of samples per second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025589"/>
                  </a:ext>
                </a:extLst>
              </a:tr>
              <a:tr h="520203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Duration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Length of sample in seconds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6078675"/>
                  </a:ext>
                </a:extLst>
              </a:tr>
              <a:tr h="520203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Resolution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Number of bits required </a:t>
                      </a:r>
                      <a:br>
                        <a:rPr lang="en-GB" sz="1400" dirty="0"/>
                      </a:br>
                      <a:r>
                        <a:rPr lang="en-GB" sz="1400" dirty="0"/>
                        <a:t>to store each sample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7827112"/>
                  </a:ext>
                </a:extLst>
              </a:tr>
              <a:tr h="122713">
                <a:tc>
                  <a:txBody>
                    <a:bodyPr/>
                    <a:lstStyle/>
                    <a:p>
                      <a:endParaRPr lang="en-GB" sz="500" dirty="0"/>
                    </a:p>
                  </a:txBody>
                  <a:tcPr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500" dirty="0"/>
                    </a:p>
                  </a:txBody>
                  <a:tcPr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500" dirty="0"/>
                    </a:p>
                  </a:txBody>
                  <a:tcPr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8103866"/>
                  </a:ext>
                </a:extLst>
              </a:tr>
              <a:tr h="421786"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902710074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4727C263-0B6D-4ECD-A73B-8F9B5A11D8DD}"/>
              </a:ext>
            </a:extLst>
          </p:cNvPr>
          <p:cNvSpPr/>
          <p:nvPr/>
        </p:nvSpPr>
        <p:spPr>
          <a:xfrm>
            <a:off x="3067205" y="1793587"/>
            <a:ext cx="1532787" cy="3962965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4E9AAC6-2514-E3F7-653A-35B73748D486}"/>
              </a:ext>
            </a:extLst>
          </p:cNvPr>
          <p:cNvSpPr/>
          <p:nvPr/>
        </p:nvSpPr>
        <p:spPr>
          <a:xfrm>
            <a:off x="9537506" y="532410"/>
            <a:ext cx="1176604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Sample rate</a:t>
            </a:r>
          </a:p>
          <a:p>
            <a:pPr algn="ctr"/>
            <a:r>
              <a:rPr lang="en-GB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×</a:t>
            </a:r>
          </a:p>
          <a:p>
            <a:pPr algn="ctr"/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Duration (s)</a:t>
            </a:r>
          </a:p>
          <a:p>
            <a:pPr algn="ctr"/>
            <a:r>
              <a:rPr lang="en-GB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×</a:t>
            </a:r>
          </a:p>
          <a:p>
            <a:pPr algn="ctr"/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Resolution</a:t>
            </a:r>
            <a:endParaRPr lang="en-GB" sz="1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88611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F73B460-4E2F-4A55-AF73-7EF5A7286910}"/>
              </a:ext>
            </a:extLst>
          </p:cNvPr>
          <p:cNvSpPr/>
          <p:nvPr/>
        </p:nvSpPr>
        <p:spPr>
          <a:xfrm>
            <a:off x="176565" y="523174"/>
            <a:ext cx="3496278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Calculating sound file sizes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9" name="Picture 18" descr="A picture containing drawing&#10;&#10;Description automatically generated">
            <a:extLst>
              <a:ext uri="{FF2B5EF4-FFF2-40B4-BE49-F238E27FC236}">
                <a16:creationId xmlns:a16="http://schemas.microsoft.com/office/drawing/2014/main" id="{C8075B43-C3EF-4C4D-A91B-5A35D4B581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2113" y="523174"/>
            <a:ext cx="1270413" cy="127041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AD959ED-D602-472A-BB0B-81901BFE1C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715" y="1793587"/>
            <a:ext cx="6205860" cy="4903293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4CCB925B-D203-4E7B-BDE5-E799947995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7374981"/>
              </p:ext>
            </p:extLst>
          </p:nvPr>
        </p:nvGraphicFramePr>
        <p:xfrm>
          <a:off x="6579795" y="2091265"/>
          <a:ext cx="5432490" cy="2571821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810830">
                  <a:extLst>
                    <a:ext uri="{9D8B030D-6E8A-4147-A177-3AD203B41FA5}">
                      <a16:colId xmlns:a16="http://schemas.microsoft.com/office/drawing/2014/main" val="3690284994"/>
                    </a:ext>
                  </a:extLst>
                </a:gridCol>
                <a:gridCol w="911995">
                  <a:extLst>
                    <a:ext uri="{9D8B030D-6E8A-4147-A177-3AD203B41FA5}">
                      <a16:colId xmlns:a16="http://schemas.microsoft.com/office/drawing/2014/main" val="3650909537"/>
                    </a:ext>
                  </a:extLst>
                </a:gridCol>
                <a:gridCol w="2709665">
                  <a:extLst>
                    <a:ext uri="{9D8B030D-6E8A-4147-A177-3AD203B41FA5}">
                      <a16:colId xmlns:a16="http://schemas.microsoft.com/office/drawing/2014/main" val="4031349014"/>
                    </a:ext>
                  </a:extLst>
                </a:gridCol>
              </a:tblGrid>
              <a:tr h="421786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Sound file 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8496186"/>
                  </a:ext>
                </a:extLst>
              </a:tr>
              <a:tr h="520203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Sample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Number of samples per second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0025589"/>
                  </a:ext>
                </a:extLst>
              </a:tr>
              <a:tr h="520203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Duration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/>
                        <a:t>3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Length of sample in seconds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6078675"/>
                  </a:ext>
                </a:extLst>
              </a:tr>
              <a:tr h="520203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Resolution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Number of bits required </a:t>
                      </a:r>
                      <a:br>
                        <a:rPr lang="en-GB" sz="1400" dirty="0"/>
                      </a:br>
                      <a:r>
                        <a:rPr lang="en-GB" sz="1400" dirty="0"/>
                        <a:t>to store each sample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7827112"/>
                  </a:ext>
                </a:extLst>
              </a:tr>
              <a:tr h="122713">
                <a:tc>
                  <a:txBody>
                    <a:bodyPr/>
                    <a:lstStyle/>
                    <a:p>
                      <a:endParaRPr lang="en-GB" sz="500" dirty="0"/>
                    </a:p>
                  </a:txBody>
                  <a:tcPr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500" dirty="0"/>
                    </a:p>
                  </a:txBody>
                  <a:tcPr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500" dirty="0"/>
                    </a:p>
                  </a:txBody>
                  <a:tcPr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8103866"/>
                  </a:ext>
                </a:extLst>
              </a:tr>
              <a:tr h="421786"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902710074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4727C263-0B6D-4ECD-A73B-8F9B5A11D8DD}"/>
              </a:ext>
            </a:extLst>
          </p:cNvPr>
          <p:cNvSpPr/>
          <p:nvPr/>
        </p:nvSpPr>
        <p:spPr>
          <a:xfrm>
            <a:off x="1427584" y="5840964"/>
            <a:ext cx="4870579" cy="233265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0576001-AA89-16E6-D869-AD093637B70A}"/>
              </a:ext>
            </a:extLst>
          </p:cNvPr>
          <p:cNvSpPr/>
          <p:nvPr/>
        </p:nvSpPr>
        <p:spPr>
          <a:xfrm>
            <a:off x="9537506" y="532410"/>
            <a:ext cx="1176604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Sample rate</a:t>
            </a:r>
          </a:p>
          <a:p>
            <a:pPr algn="ctr"/>
            <a:r>
              <a:rPr lang="en-GB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×</a:t>
            </a:r>
          </a:p>
          <a:p>
            <a:pPr algn="ctr"/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Duration (s)</a:t>
            </a:r>
          </a:p>
          <a:p>
            <a:pPr algn="ctr"/>
            <a:r>
              <a:rPr lang="en-GB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×</a:t>
            </a:r>
          </a:p>
          <a:p>
            <a:pPr algn="ctr"/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Resolution</a:t>
            </a:r>
            <a:endParaRPr lang="en-GB" sz="1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06299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F73B460-4E2F-4A55-AF73-7EF5A7286910}"/>
              </a:ext>
            </a:extLst>
          </p:cNvPr>
          <p:cNvSpPr/>
          <p:nvPr/>
        </p:nvSpPr>
        <p:spPr>
          <a:xfrm>
            <a:off x="176565" y="523174"/>
            <a:ext cx="3496278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Calculating sound file sizes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9" name="Picture 18" descr="A picture containing drawing&#10;&#10;Description automatically generated">
            <a:extLst>
              <a:ext uri="{FF2B5EF4-FFF2-40B4-BE49-F238E27FC236}">
                <a16:creationId xmlns:a16="http://schemas.microsoft.com/office/drawing/2014/main" id="{C8075B43-C3EF-4C4D-A91B-5A35D4B581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2113" y="523174"/>
            <a:ext cx="1270413" cy="127041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AD959ED-D602-472A-BB0B-81901BFE1C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715" y="1793587"/>
            <a:ext cx="6205860" cy="4903293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4CCB925B-D203-4E7B-BDE5-E799947995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7503590"/>
              </p:ext>
            </p:extLst>
          </p:nvPr>
        </p:nvGraphicFramePr>
        <p:xfrm>
          <a:off x="6579795" y="2091265"/>
          <a:ext cx="5432490" cy="2571821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810830">
                  <a:extLst>
                    <a:ext uri="{9D8B030D-6E8A-4147-A177-3AD203B41FA5}">
                      <a16:colId xmlns:a16="http://schemas.microsoft.com/office/drawing/2014/main" val="3690284994"/>
                    </a:ext>
                  </a:extLst>
                </a:gridCol>
                <a:gridCol w="911995">
                  <a:extLst>
                    <a:ext uri="{9D8B030D-6E8A-4147-A177-3AD203B41FA5}">
                      <a16:colId xmlns:a16="http://schemas.microsoft.com/office/drawing/2014/main" val="3650909537"/>
                    </a:ext>
                  </a:extLst>
                </a:gridCol>
                <a:gridCol w="2709665">
                  <a:extLst>
                    <a:ext uri="{9D8B030D-6E8A-4147-A177-3AD203B41FA5}">
                      <a16:colId xmlns:a16="http://schemas.microsoft.com/office/drawing/2014/main" val="4031349014"/>
                    </a:ext>
                  </a:extLst>
                </a:gridCol>
              </a:tblGrid>
              <a:tr h="421786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Sound file 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8496186"/>
                  </a:ext>
                </a:extLst>
              </a:tr>
              <a:tr h="520203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Sample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Number of samples per second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0025589"/>
                  </a:ext>
                </a:extLst>
              </a:tr>
              <a:tr h="520203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Duration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Length of sample in seconds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6078675"/>
                  </a:ext>
                </a:extLst>
              </a:tr>
              <a:tr h="520203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Resolution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/>
                        <a:t>4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Number of bits required </a:t>
                      </a:r>
                      <a:br>
                        <a:rPr lang="en-GB" sz="1400" dirty="0"/>
                      </a:br>
                      <a:r>
                        <a:rPr lang="en-GB" sz="1400" dirty="0"/>
                        <a:t>to store each sample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7827112"/>
                  </a:ext>
                </a:extLst>
              </a:tr>
              <a:tr h="122713">
                <a:tc>
                  <a:txBody>
                    <a:bodyPr/>
                    <a:lstStyle/>
                    <a:p>
                      <a:endParaRPr lang="en-GB" sz="500" dirty="0"/>
                    </a:p>
                  </a:txBody>
                  <a:tcPr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500" dirty="0"/>
                    </a:p>
                  </a:txBody>
                  <a:tcPr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500" dirty="0"/>
                    </a:p>
                  </a:txBody>
                  <a:tcPr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8103866"/>
                  </a:ext>
                </a:extLst>
              </a:tr>
              <a:tr h="421786"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902710074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4727C263-0B6D-4ECD-A73B-8F9B5A11D8DD}"/>
              </a:ext>
            </a:extLst>
          </p:cNvPr>
          <p:cNvSpPr/>
          <p:nvPr/>
        </p:nvSpPr>
        <p:spPr>
          <a:xfrm>
            <a:off x="847355" y="1866122"/>
            <a:ext cx="496253" cy="4021495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6B35DA3-AEF1-7817-1515-6B6C58E8383A}"/>
              </a:ext>
            </a:extLst>
          </p:cNvPr>
          <p:cNvSpPr/>
          <p:nvPr/>
        </p:nvSpPr>
        <p:spPr>
          <a:xfrm>
            <a:off x="9537506" y="532410"/>
            <a:ext cx="1176604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Sample rate</a:t>
            </a:r>
          </a:p>
          <a:p>
            <a:pPr algn="ctr"/>
            <a:r>
              <a:rPr lang="en-GB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×</a:t>
            </a:r>
          </a:p>
          <a:p>
            <a:pPr algn="ctr"/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Duration (s)</a:t>
            </a:r>
          </a:p>
          <a:p>
            <a:pPr algn="ctr"/>
            <a:r>
              <a:rPr lang="en-GB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×</a:t>
            </a:r>
          </a:p>
          <a:p>
            <a:pPr algn="ctr"/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Resolution</a:t>
            </a:r>
            <a:endParaRPr lang="en-GB" sz="1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40978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F73B460-4E2F-4A55-AF73-7EF5A7286910}"/>
              </a:ext>
            </a:extLst>
          </p:cNvPr>
          <p:cNvSpPr/>
          <p:nvPr/>
        </p:nvSpPr>
        <p:spPr>
          <a:xfrm>
            <a:off x="176565" y="523174"/>
            <a:ext cx="3496278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Calculating sound file sizes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9" name="Picture 18" descr="A picture containing drawing&#10;&#10;Description automatically generated">
            <a:extLst>
              <a:ext uri="{FF2B5EF4-FFF2-40B4-BE49-F238E27FC236}">
                <a16:creationId xmlns:a16="http://schemas.microsoft.com/office/drawing/2014/main" id="{C8075B43-C3EF-4C4D-A91B-5A35D4B581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2113" y="523174"/>
            <a:ext cx="1270413" cy="127041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AD959ED-D602-472A-BB0B-81901BFE1C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715" y="1793587"/>
            <a:ext cx="6205860" cy="4903293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4CCB925B-D203-4E7B-BDE5-E799947995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8787635"/>
              </p:ext>
            </p:extLst>
          </p:nvPr>
        </p:nvGraphicFramePr>
        <p:xfrm>
          <a:off x="6579795" y="2091265"/>
          <a:ext cx="5432490" cy="2571821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810830">
                  <a:extLst>
                    <a:ext uri="{9D8B030D-6E8A-4147-A177-3AD203B41FA5}">
                      <a16:colId xmlns:a16="http://schemas.microsoft.com/office/drawing/2014/main" val="3690284994"/>
                    </a:ext>
                  </a:extLst>
                </a:gridCol>
                <a:gridCol w="911995">
                  <a:extLst>
                    <a:ext uri="{9D8B030D-6E8A-4147-A177-3AD203B41FA5}">
                      <a16:colId xmlns:a16="http://schemas.microsoft.com/office/drawing/2014/main" val="3650909537"/>
                    </a:ext>
                  </a:extLst>
                </a:gridCol>
                <a:gridCol w="2709665">
                  <a:extLst>
                    <a:ext uri="{9D8B030D-6E8A-4147-A177-3AD203B41FA5}">
                      <a16:colId xmlns:a16="http://schemas.microsoft.com/office/drawing/2014/main" val="4031349014"/>
                    </a:ext>
                  </a:extLst>
                </a:gridCol>
              </a:tblGrid>
              <a:tr h="421786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Sound file 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8496186"/>
                  </a:ext>
                </a:extLst>
              </a:tr>
              <a:tr h="520203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Sample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Number of samples per second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0025589"/>
                  </a:ext>
                </a:extLst>
              </a:tr>
              <a:tr h="520203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Duration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Length of sample in seconds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6078675"/>
                  </a:ext>
                </a:extLst>
              </a:tr>
              <a:tr h="520203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Resolution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Number of bits required </a:t>
                      </a:r>
                      <a:br>
                        <a:rPr lang="en-GB" sz="1400" dirty="0"/>
                      </a:br>
                      <a:r>
                        <a:rPr lang="en-GB" sz="1400" dirty="0"/>
                        <a:t>to store each sample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7827112"/>
                  </a:ext>
                </a:extLst>
              </a:tr>
              <a:tr h="122713">
                <a:tc>
                  <a:txBody>
                    <a:bodyPr/>
                    <a:lstStyle/>
                    <a:p>
                      <a:endParaRPr lang="en-GB" sz="500" dirty="0"/>
                    </a:p>
                  </a:txBody>
                  <a:tcPr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500" dirty="0"/>
                    </a:p>
                  </a:txBody>
                  <a:tcPr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500" dirty="0"/>
                    </a:p>
                  </a:txBody>
                  <a:tcPr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8103866"/>
                  </a:ext>
                </a:extLst>
              </a:tr>
              <a:tr h="421786"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/>
                        <a:t>6 × 3 × 4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/>
                        <a:t>=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/>
                        <a:t>72 bits = </a:t>
                      </a:r>
                      <a:r>
                        <a:rPr lang="en-GB" sz="1800" b="0" dirty="0"/>
                        <a:t>9 bytes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902710074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4BB48519-BCA9-473A-9BA0-9ABDD8FCBE79}"/>
              </a:ext>
            </a:extLst>
          </p:cNvPr>
          <p:cNvSpPr/>
          <p:nvPr/>
        </p:nvSpPr>
        <p:spPr>
          <a:xfrm>
            <a:off x="8295156" y="5187523"/>
            <a:ext cx="354441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cover the topic of sound in more detail in our video titled</a:t>
            </a:r>
          </a:p>
          <a:p>
            <a:pPr algn="ctr"/>
            <a:r>
              <a:rPr lang="en-GB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CAMBRIDGE </a:t>
            </a:r>
            <a:r>
              <a:rPr lang="en-GB" b="1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IGCSE (0487-0984</a:t>
            </a:r>
            <a:r>
              <a:rPr lang="en-GB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  <a:br>
              <a:rPr lang="en-GB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1.2 Representing sound</a:t>
            </a:r>
            <a:endParaRPr lang="en-GB" sz="1050" b="1" dirty="0">
              <a:solidFill>
                <a:srgbClr val="C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 descr="A picture containing drawing, clock&#10;&#10;Description automatically generated">
            <a:extLst>
              <a:ext uri="{FF2B5EF4-FFF2-40B4-BE49-F238E27FC236}">
                <a16:creationId xmlns:a16="http://schemas.microsoft.com/office/drawing/2014/main" id="{906453D3-40FE-D94E-8E31-10F9F3510D40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4120" y="5053351"/>
            <a:ext cx="1401036" cy="140103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97A1B67-8417-26CC-01EE-C072CD2F7834}"/>
              </a:ext>
            </a:extLst>
          </p:cNvPr>
          <p:cNvSpPr/>
          <p:nvPr/>
        </p:nvSpPr>
        <p:spPr>
          <a:xfrm>
            <a:off x="9537506" y="532410"/>
            <a:ext cx="1176604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Sample rate</a:t>
            </a:r>
          </a:p>
          <a:p>
            <a:pPr algn="ctr"/>
            <a:r>
              <a:rPr lang="en-GB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×</a:t>
            </a:r>
          </a:p>
          <a:p>
            <a:pPr algn="ctr"/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Duration (s)</a:t>
            </a:r>
          </a:p>
          <a:p>
            <a:pPr algn="ctr"/>
            <a:r>
              <a:rPr lang="en-GB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×</a:t>
            </a:r>
          </a:p>
          <a:p>
            <a:pPr algn="ctr"/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Resolution</a:t>
            </a:r>
            <a:endParaRPr lang="en-GB" sz="1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03493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F73B460-4E2F-4A55-AF73-7EF5A7286910}"/>
              </a:ext>
            </a:extLst>
          </p:cNvPr>
          <p:cNvSpPr/>
          <p:nvPr/>
        </p:nvSpPr>
        <p:spPr>
          <a:xfrm>
            <a:off x="176565" y="523174"/>
            <a:ext cx="3487301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Calculating image file sizes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F30898-6957-4427-96DC-5DFFD764FA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8279" y="513394"/>
            <a:ext cx="1604248" cy="1277249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3C8A02E1-50D7-4FB7-B806-A604F7931628}"/>
              </a:ext>
            </a:extLst>
          </p:cNvPr>
          <p:cNvSpPr/>
          <p:nvPr/>
        </p:nvSpPr>
        <p:spPr>
          <a:xfrm>
            <a:off x="8772800" y="490298"/>
            <a:ext cx="1630831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Colour depth</a:t>
            </a:r>
          </a:p>
          <a:p>
            <a:pPr algn="ctr"/>
            <a:r>
              <a:rPr lang="en-GB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×</a:t>
            </a:r>
          </a:p>
          <a:p>
            <a:pPr algn="ctr"/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Image height (px)</a:t>
            </a:r>
          </a:p>
          <a:p>
            <a:pPr algn="ctr"/>
            <a:r>
              <a:rPr lang="en-GB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×</a:t>
            </a:r>
          </a:p>
          <a:p>
            <a:pPr algn="ctr"/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Image width (px)</a:t>
            </a:r>
            <a:endParaRPr lang="en-GB" sz="1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65" name="Table 4">
            <a:extLst>
              <a:ext uri="{FF2B5EF4-FFF2-40B4-BE49-F238E27FC236}">
                <a16:creationId xmlns:a16="http://schemas.microsoft.com/office/drawing/2014/main" id="{AA59EB69-D795-47AC-9F50-E941096E85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5177336"/>
              </p:ext>
            </p:extLst>
          </p:nvPr>
        </p:nvGraphicFramePr>
        <p:xfrm>
          <a:off x="6579795" y="2091265"/>
          <a:ext cx="5432490" cy="2571821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810830">
                  <a:extLst>
                    <a:ext uri="{9D8B030D-6E8A-4147-A177-3AD203B41FA5}">
                      <a16:colId xmlns:a16="http://schemas.microsoft.com/office/drawing/2014/main" val="3690284994"/>
                    </a:ext>
                  </a:extLst>
                </a:gridCol>
                <a:gridCol w="911995">
                  <a:extLst>
                    <a:ext uri="{9D8B030D-6E8A-4147-A177-3AD203B41FA5}">
                      <a16:colId xmlns:a16="http://schemas.microsoft.com/office/drawing/2014/main" val="3650909537"/>
                    </a:ext>
                  </a:extLst>
                </a:gridCol>
                <a:gridCol w="2709665">
                  <a:extLst>
                    <a:ext uri="{9D8B030D-6E8A-4147-A177-3AD203B41FA5}">
                      <a16:colId xmlns:a16="http://schemas.microsoft.com/office/drawing/2014/main" val="4031349014"/>
                    </a:ext>
                  </a:extLst>
                </a:gridCol>
              </a:tblGrid>
              <a:tr h="421786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Image file 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8496186"/>
                  </a:ext>
                </a:extLst>
              </a:tr>
              <a:tr h="520203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Image height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Height measured in pixels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0025589"/>
                  </a:ext>
                </a:extLst>
              </a:tr>
              <a:tr h="520203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Image width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Width measured in pixels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6078675"/>
                  </a:ext>
                </a:extLst>
              </a:tr>
              <a:tr h="520203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Colour depth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Number of bits required </a:t>
                      </a:r>
                      <a:br>
                        <a:rPr lang="en-GB" sz="1400" dirty="0"/>
                      </a:br>
                      <a:r>
                        <a:rPr lang="en-GB" sz="1400" dirty="0"/>
                        <a:t>to store each pixel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7827112"/>
                  </a:ext>
                </a:extLst>
              </a:tr>
              <a:tr h="122713">
                <a:tc>
                  <a:txBody>
                    <a:bodyPr/>
                    <a:lstStyle/>
                    <a:p>
                      <a:endParaRPr lang="en-GB" sz="500" dirty="0"/>
                    </a:p>
                  </a:txBody>
                  <a:tcPr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500" dirty="0"/>
                    </a:p>
                  </a:txBody>
                  <a:tcPr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500" dirty="0"/>
                    </a:p>
                  </a:txBody>
                  <a:tcPr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8103866"/>
                  </a:ext>
                </a:extLst>
              </a:tr>
              <a:tr h="421786">
                <a:tc>
                  <a:txBody>
                    <a:bodyPr/>
                    <a:lstStyle/>
                    <a:p>
                      <a:pPr algn="r"/>
                      <a:endParaRPr lang="en-GB" sz="1800" b="1" dirty="0"/>
                    </a:p>
                  </a:txBody>
                  <a:tcPr anchor="ctr"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1" dirty="0"/>
                    </a:p>
                  </a:txBody>
                  <a:tcPr anchor="ctr"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1800" b="0" dirty="0"/>
                    </a:p>
                  </a:txBody>
                  <a:tcPr anchor="ctr"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902710074"/>
                  </a:ext>
                </a:extLst>
              </a:tr>
            </a:tbl>
          </a:graphicData>
        </a:graphic>
      </p:graphicFrame>
      <p:pic>
        <p:nvPicPr>
          <p:cNvPr id="66" name="Picture 65" descr="A close up of a sign&#10;&#10;Description generated with high confidence">
            <a:extLst>
              <a:ext uri="{FF2B5EF4-FFF2-40B4-BE49-F238E27FC236}">
                <a16:creationId xmlns:a16="http://schemas.microsoft.com/office/drawing/2014/main" id="{7D35A463-E744-4894-89E0-29F1C2190C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572" y="1706406"/>
            <a:ext cx="4828511" cy="412522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647F2BB-2EDC-C94A-B5F5-52E56D5B84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8396" y="1730876"/>
            <a:ext cx="1356751" cy="80827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32F643C-B99F-C443-8DF9-E747B71B9E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532" y="2539153"/>
            <a:ext cx="1175813" cy="982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436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F73B460-4E2F-4A55-AF73-7EF5A7286910}"/>
              </a:ext>
            </a:extLst>
          </p:cNvPr>
          <p:cNvSpPr/>
          <p:nvPr/>
        </p:nvSpPr>
        <p:spPr>
          <a:xfrm>
            <a:off x="176565" y="523174"/>
            <a:ext cx="3487301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Calculating image file sizes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F30898-6957-4427-96DC-5DFFD764FA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8279" y="513394"/>
            <a:ext cx="1604248" cy="1277249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3C8A02E1-50D7-4FB7-B806-A604F7931628}"/>
              </a:ext>
            </a:extLst>
          </p:cNvPr>
          <p:cNvSpPr/>
          <p:nvPr/>
        </p:nvSpPr>
        <p:spPr>
          <a:xfrm>
            <a:off x="8772800" y="490298"/>
            <a:ext cx="1630831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Colour depth</a:t>
            </a:r>
          </a:p>
          <a:p>
            <a:pPr algn="ctr"/>
            <a:r>
              <a:rPr lang="en-GB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×</a:t>
            </a:r>
          </a:p>
          <a:p>
            <a:pPr algn="ctr"/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Image height (px)</a:t>
            </a:r>
          </a:p>
          <a:p>
            <a:pPr algn="ctr"/>
            <a:r>
              <a:rPr lang="en-GB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×</a:t>
            </a:r>
          </a:p>
          <a:p>
            <a:pPr algn="ctr"/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Image width (px)</a:t>
            </a:r>
            <a:endParaRPr lang="en-GB" sz="1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65" name="Table 4">
            <a:extLst>
              <a:ext uri="{FF2B5EF4-FFF2-40B4-BE49-F238E27FC236}">
                <a16:creationId xmlns:a16="http://schemas.microsoft.com/office/drawing/2014/main" id="{AA59EB69-D795-47AC-9F50-E941096E85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7063870"/>
              </p:ext>
            </p:extLst>
          </p:nvPr>
        </p:nvGraphicFramePr>
        <p:xfrm>
          <a:off x="6579795" y="2091265"/>
          <a:ext cx="5432490" cy="2571821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810830">
                  <a:extLst>
                    <a:ext uri="{9D8B030D-6E8A-4147-A177-3AD203B41FA5}">
                      <a16:colId xmlns:a16="http://schemas.microsoft.com/office/drawing/2014/main" val="3690284994"/>
                    </a:ext>
                  </a:extLst>
                </a:gridCol>
                <a:gridCol w="911995">
                  <a:extLst>
                    <a:ext uri="{9D8B030D-6E8A-4147-A177-3AD203B41FA5}">
                      <a16:colId xmlns:a16="http://schemas.microsoft.com/office/drawing/2014/main" val="3650909537"/>
                    </a:ext>
                  </a:extLst>
                </a:gridCol>
                <a:gridCol w="2709665">
                  <a:extLst>
                    <a:ext uri="{9D8B030D-6E8A-4147-A177-3AD203B41FA5}">
                      <a16:colId xmlns:a16="http://schemas.microsoft.com/office/drawing/2014/main" val="4031349014"/>
                    </a:ext>
                  </a:extLst>
                </a:gridCol>
              </a:tblGrid>
              <a:tr h="421786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Image file 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8496186"/>
                  </a:ext>
                </a:extLst>
              </a:tr>
              <a:tr h="520203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Image height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/>
                        <a:t>14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Height measured in pixels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025589"/>
                  </a:ext>
                </a:extLst>
              </a:tr>
              <a:tr h="520203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Image width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Width measured in pixels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6078675"/>
                  </a:ext>
                </a:extLst>
              </a:tr>
              <a:tr h="520203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Colour depth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Number of bits required </a:t>
                      </a:r>
                      <a:br>
                        <a:rPr lang="en-GB" sz="1400" dirty="0"/>
                      </a:br>
                      <a:r>
                        <a:rPr lang="en-GB" sz="1400" dirty="0"/>
                        <a:t>to store each pixel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7827112"/>
                  </a:ext>
                </a:extLst>
              </a:tr>
              <a:tr h="122713">
                <a:tc>
                  <a:txBody>
                    <a:bodyPr/>
                    <a:lstStyle/>
                    <a:p>
                      <a:endParaRPr lang="en-GB" sz="500" dirty="0"/>
                    </a:p>
                  </a:txBody>
                  <a:tcPr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500" dirty="0"/>
                    </a:p>
                  </a:txBody>
                  <a:tcPr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500" dirty="0"/>
                    </a:p>
                  </a:txBody>
                  <a:tcPr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8103866"/>
                  </a:ext>
                </a:extLst>
              </a:tr>
              <a:tr h="421786">
                <a:tc>
                  <a:txBody>
                    <a:bodyPr/>
                    <a:lstStyle/>
                    <a:p>
                      <a:pPr algn="r"/>
                      <a:endParaRPr lang="en-GB" sz="1800" b="1" dirty="0"/>
                    </a:p>
                  </a:txBody>
                  <a:tcPr anchor="ctr"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1" dirty="0"/>
                    </a:p>
                  </a:txBody>
                  <a:tcPr anchor="ctr"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1800" b="0" dirty="0"/>
                    </a:p>
                  </a:txBody>
                  <a:tcPr anchor="ctr"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902710074"/>
                  </a:ext>
                </a:extLst>
              </a:tr>
            </a:tbl>
          </a:graphicData>
        </a:graphic>
      </p:graphicFrame>
      <p:pic>
        <p:nvPicPr>
          <p:cNvPr id="66" name="Picture 65" descr="A close up of a sign&#10;&#10;Description generated with high confidence">
            <a:extLst>
              <a:ext uri="{FF2B5EF4-FFF2-40B4-BE49-F238E27FC236}">
                <a16:creationId xmlns:a16="http://schemas.microsoft.com/office/drawing/2014/main" id="{7D35A463-E744-4894-89E0-29F1C2190C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572" y="1706406"/>
            <a:ext cx="4828511" cy="412522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FF85E80-196C-4E73-93B5-5795D0E60DA4}"/>
              </a:ext>
            </a:extLst>
          </p:cNvPr>
          <p:cNvSpPr/>
          <p:nvPr/>
        </p:nvSpPr>
        <p:spPr>
          <a:xfrm>
            <a:off x="0" y="1427584"/>
            <a:ext cx="496253" cy="4646645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75DD839-A781-4A99-B939-1AC5DE144D00}"/>
              </a:ext>
            </a:extLst>
          </p:cNvPr>
          <p:cNvCxnSpPr/>
          <p:nvPr/>
        </p:nvCxnSpPr>
        <p:spPr>
          <a:xfrm flipV="1">
            <a:off x="192572" y="1706406"/>
            <a:ext cx="0" cy="4125227"/>
          </a:xfrm>
          <a:prstGeom prst="straightConnector1">
            <a:avLst/>
          </a:prstGeom>
          <a:ln w="57150">
            <a:solidFill>
              <a:srgbClr val="C0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4EC62AD8-CC4D-F44F-8868-68EAAE445F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8396" y="1730876"/>
            <a:ext cx="1356751" cy="80827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E47213C-B10C-1D43-8C48-BCB862E65F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532" y="2539153"/>
            <a:ext cx="1175813" cy="982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0157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F73B460-4E2F-4A55-AF73-7EF5A7286910}"/>
              </a:ext>
            </a:extLst>
          </p:cNvPr>
          <p:cNvSpPr/>
          <p:nvPr/>
        </p:nvSpPr>
        <p:spPr>
          <a:xfrm>
            <a:off x="176565" y="523174"/>
            <a:ext cx="3487301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Calculating image file sizes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F30898-6957-4427-96DC-5DFFD764FA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8279" y="513394"/>
            <a:ext cx="1604248" cy="1277249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3C8A02E1-50D7-4FB7-B806-A604F7931628}"/>
              </a:ext>
            </a:extLst>
          </p:cNvPr>
          <p:cNvSpPr/>
          <p:nvPr/>
        </p:nvSpPr>
        <p:spPr>
          <a:xfrm>
            <a:off x="8772800" y="490298"/>
            <a:ext cx="1630831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Colour depth</a:t>
            </a:r>
          </a:p>
          <a:p>
            <a:pPr algn="ctr"/>
            <a:r>
              <a:rPr lang="en-GB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×</a:t>
            </a:r>
          </a:p>
          <a:p>
            <a:pPr algn="ctr"/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Image height (px)</a:t>
            </a:r>
          </a:p>
          <a:p>
            <a:pPr algn="ctr"/>
            <a:r>
              <a:rPr lang="en-GB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×</a:t>
            </a:r>
          </a:p>
          <a:p>
            <a:pPr algn="ctr"/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Image width (px)</a:t>
            </a:r>
            <a:endParaRPr lang="en-GB" sz="1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65" name="Table 4">
            <a:extLst>
              <a:ext uri="{FF2B5EF4-FFF2-40B4-BE49-F238E27FC236}">
                <a16:creationId xmlns:a16="http://schemas.microsoft.com/office/drawing/2014/main" id="{AA59EB69-D795-47AC-9F50-E941096E85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7110294"/>
              </p:ext>
            </p:extLst>
          </p:nvPr>
        </p:nvGraphicFramePr>
        <p:xfrm>
          <a:off x="6579795" y="2091265"/>
          <a:ext cx="5432490" cy="2571821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810830">
                  <a:extLst>
                    <a:ext uri="{9D8B030D-6E8A-4147-A177-3AD203B41FA5}">
                      <a16:colId xmlns:a16="http://schemas.microsoft.com/office/drawing/2014/main" val="3690284994"/>
                    </a:ext>
                  </a:extLst>
                </a:gridCol>
                <a:gridCol w="911995">
                  <a:extLst>
                    <a:ext uri="{9D8B030D-6E8A-4147-A177-3AD203B41FA5}">
                      <a16:colId xmlns:a16="http://schemas.microsoft.com/office/drawing/2014/main" val="3650909537"/>
                    </a:ext>
                  </a:extLst>
                </a:gridCol>
                <a:gridCol w="2709665">
                  <a:extLst>
                    <a:ext uri="{9D8B030D-6E8A-4147-A177-3AD203B41FA5}">
                      <a16:colId xmlns:a16="http://schemas.microsoft.com/office/drawing/2014/main" val="4031349014"/>
                    </a:ext>
                  </a:extLst>
                </a:gridCol>
              </a:tblGrid>
              <a:tr h="421786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Image file 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8496186"/>
                  </a:ext>
                </a:extLst>
              </a:tr>
              <a:tr h="520203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Image height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/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Height measured in pixels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0025589"/>
                  </a:ext>
                </a:extLst>
              </a:tr>
              <a:tr h="520203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Image width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/>
                        <a:t>17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Width measured in pixels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6078675"/>
                  </a:ext>
                </a:extLst>
              </a:tr>
              <a:tr h="520203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Colour depth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Number of bits required </a:t>
                      </a:r>
                      <a:br>
                        <a:rPr lang="en-GB" sz="1400" dirty="0"/>
                      </a:br>
                      <a:r>
                        <a:rPr lang="en-GB" sz="1400" dirty="0"/>
                        <a:t>to store each pixel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7827112"/>
                  </a:ext>
                </a:extLst>
              </a:tr>
              <a:tr h="122713">
                <a:tc>
                  <a:txBody>
                    <a:bodyPr/>
                    <a:lstStyle/>
                    <a:p>
                      <a:endParaRPr lang="en-GB" sz="500" dirty="0"/>
                    </a:p>
                  </a:txBody>
                  <a:tcPr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500" dirty="0"/>
                    </a:p>
                  </a:txBody>
                  <a:tcPr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500" dirty="0"/>
                    </a:p>
                  </a:txBody>
                  <a:tcPr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8103866"/>
                  </a:ext>
                </a:extLst>
              </a:tr>
              <a:tr h="421786">
                <a:tc>
                  <a:txBody>
                    <a:bodyPr/>
                    <a:lstStyle/>
                    <a:p>
                      <a:pPr algn="r"/>
                      <a:endParaRPr lang="en-GB" sz="1800" b="1" dirty="0"/>
                    </a:p>
                  </a:txBody>
                  <a:tcPr anchor="ctr"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1" dirty="0"/>
                    </a:p>
                  </a:txBody>
                  <a:tcPr anchor="ctr"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1800" b="0" dirty="0"/>
                    </a:p>
                  </a:txBody>
                  <a:tcPr anchor="ctr"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902710074"/>
                  </a:ext>
                </a:extLst>
              </a:tr>
            </a:tbl>
          </a:graphicData>
        </a:graphic>
      </p:graphicFrame>
      <p:pic>
        <p:nvPicPr>
          <p:cNvPr id="66" name="Picture 65" descr="A close up of a sign&#10;&#10;Description generated with high confidence">
            <a:extLst>
              <a:ext uri="{FF2B5EF4-FFF2-40B4-BE49-F238E27FC236}">
                <a16:creationId xmlns:a16="http://schemas.microsoft.com/office/drawing/2014/main" id="{7D35A463-E744-4894-89E0-29F1C2190C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572" y="1706406"/>
            <a:ext cx="4828511" cy="412522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E96D546-CA71-4716-8C36-821479F580AD}"/>
              </a:ext>
            </a:extLst>
          </p:cNvPr>
          <p:cNvSpPr/>
          <p:nvPr/>
        </p:nvSpPr>
        <p:spPr>
          <a:xfrm rot="5400000">
            <a:off x="2364444" y="3219061"/>
            <a:ext cx="496253" cy="5225143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792AF4D-FA94-41E7-B4CB-F4400A33C6B7}"/>
              </a:ext>
            </a:extLst>
          </p:cNvPr>
          <p:cNvCxnSpPr>
            <a:cxnSpLocks/>
          </p:cNvCxnSpPr>
          <p:nvPr/>
        </p:nvCxnSpPr>
        <p:spPr>
          <a:xfrm>
            <a:off x="198149" y="5822733"/>
            <a:ext cx="4822934" cy="0"/>
          </a:xfrm>
          <a:prstGeom prst="straightConnector1">
            <a:avLst/>
          </a:prstGeom>
          <a:ln w="57150">
            <a:solidFill>
              <a:srgbClr val="C0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A1B176D0-E79F-F14F-913F-8FE2475FE0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8396" y="1730876"/>
            <a:ext cx="1356751" cy="80827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03F4E3E-150C-F440-AF83-F9F729AF67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532" y="2539153"/>
            <a:ext cx="1175813" cy="982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5023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F73B460-4E2F-4A55-AF73-7EF5A7286910}"/>
              </a:ext>
            </a:extLst>
          </p:cNvPr>
          <p:cNvSpPr/>
          <p:nvPr/>
        </p:nvSpPr>
        <p:spPr>
          <a:xfrm>
            <a:off x="176565" y="523174"/>
            <a:ext cx="3487301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Calculating image file sizes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F30898-6957-4427-96DC-5DFFD764FA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8279" y="513394"/>
            <a:ext cx="1604248" cy="1277249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3C8A02E1-50D7-4FB7-B806-A604F7931628}"/>
              </a:ext>
            </a:extLst>
          </p:cNvPr>
          <p:cNvSpPr/>
          <p:nvPr/>
        </p:nvSpPr>
        <p:spPr>
          <a:xfrm>
            <a:off x="8772800" y="490298"/>
            <a:ext cx="1630831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Colour depth</a:t>
            </a:r>
          </a:p>
          <a:p>
            <a:pPr algn="ctr"/>
            <a:r>
              <a:rPr lang="en-GB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×</a:t>
            </a:r>
          </a:p>
          <a:p>
            <a:pPr algn="ctr"/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Image height (px)</a:t>
            </a:r>
          </a:p>
          <a:p>
            <a:pPr algn="ctr"/>
            <a:r>
              <a:rPr lang="en-GB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×</a:t>
            </a:r>
          </a:p>
          <a:p>
            <a:pPr algn="ctr"/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Image width (px)</a:t>
            </a:r>
            <a:endParaRPr lang="en-GB" sz="1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65" name="Table 4">
            <a:extLst>
              <a:ext uri="{FF2B5EF4-FFF2-40B4-BE49-F238E27FC236}">
                <a16:creationId xmlns:a16="http://schemas.microsoft.com/office/drawing/2014/main" id="{AA59EB69-D795-47AC-9F50-E941096E85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8329822"/>
              </p:ext>
            </p:extLst>
          </p:nvPr>
        </p:nvGraphicFramePr>
        <p:xfrm>
          <a:off x="6579795" y="2091265"/>
          <a:ext cx="5432490" cy="2571821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810830">
                  <a:extLst>
                    <a:ext uri="{9D8B030D-6E8A-4147-A177-3AD203B41FA5}">
                      <a16:colId xmlns:a16="http://schemas.microsoft.com/office/drawing/2014/main" val="3690284994"/>
                    </a:ext>
                  </a:extLst>
                </a:gridCol>
                <a:gridCol w="911995">
                  <a:extLst>
                    <a:ext uri="{9D8B030D-6E8A-4147-A177-3AD203B41FA5}">
                      <a16:colId xmlns:a16="http://schemas.microsoft.com/office/drawing/2014/main" val="3650909537"/>
                    </a:ext>
                  </a:extLst>
                </a:gridCol>
                <a:gridCol w="2709665">
                  <a:extLst>
                    <a:ext uri="{9D8B030D-6E8A-4147-A177-3AD203B41FA5}">
                      <a16:colId xmlns:a16="http://schemas.microsoft.com/office/drawing/2014/main" val="4031349014"/>
                    </a:ext>
                  </a:extLst>
                </a:gridCol>
              </a:tblGrid>
              <a:tr h="421786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Image file 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8496186"/>
                  </a:ext>
                </a:extLst>
              </a:tr>
              <a:tr h="520203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Image height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/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Height measured in pixels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0025589"/>
                  </a:ext>
                </a:extLst>
              </a:tr>
              <a:tr h="520203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Image width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/>
                        <a:t>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Width measured in pixels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6078675"/>
                  </a:ext>
                </a:extLst>
              </a:tr>
              <a:tr h="520203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Colour depth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/>
                        <a:t>3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Number of bits required </a:t>
                      </a:r>
                      <a:br>
                        <a:rPr lang="en-GB" sz="1400" dirty="0"/>
                      </a:br>
                      <a:r>
                        <a:rPr lang="en-GB" sz="1400" dirty="0"/>
                        <a:t>to store each pixel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7827112"/>
                  </a:ext>
                </a:extLst>
              </a:tr>
              <a:tr h="122713">
                <a:tc>
                  <a:txBody>
                    <a:bodyPr/>
                    <a:lstStyle/>
                    <a:p>
                      <a:endParaRPr lang="en-GB" sz="500" dirty="0"/>
                    </a:p>
                  </a:txBody>
                  <a:tcPr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500" dirty="0"/>
                    </a:p>
                  </a:txBody>
                  <a:tcPr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500" dirty="0"/>
                    </a:p>
                  </a:txBody>
                  <a:tcPr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8103866"/>
                  </a:ext>
                </a:extLst>
              </a:tr>
              <a:tr h="421786">
                <a:tc>
                  <a:txBody>
                    <a:bodyPr/>
                    <a:lstStyle/>
                    <a:p>
                      <a:pPr algn="r"/>
                      <a:endParaRPr lang="en-GB" sz="1800" b="1" dirty="0"/>
                    </a:p>
                  </a:txBody>
                  <a:tcPr anchor="ctr"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1" dirty="0"/>
                    </a:p>
                  </a:txBody>
                  <a:tcPr anchor="ctr"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1800" b="0" dirty="0"/>
                    </a:p>
                  </a:txBody>
                  <a:tcPr anchor="ctr"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902710074"/>
                  </a:ext>
                </a:extLst>
              </a:tr>
            </a:tbl>
          </a:graphicData>
        </a:graphic>
      </p:graphicFrame>
      <p:pic>
        <p:nvPicPr>
          <p:cNvPr id="66" name="Picture 65" descr="A close up of a sign&#10;&#10;Description generated with high confidence">
            <a:extLst>
              <a:ext uri="{FF2B5EF4-FFF2-40B4-BE49-F238E27FC236}">
                <a16:creationId xmlns:a16="http://schemas.microsoft.com/office/drawing/2014/main" id="{7D35A463-E744-4894-89E0-29F1C2190C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572" y="1706406"/>
            <a:ext cx="4828511" cy="412522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04B10C3-E0CA-644D-97D7-B784551FDE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8396" y="1730876"/>
            <a:ext cx="1356751" cy="80827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7CC7815-B5E3-6749-ADED-35BB5AD8DC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532" y="2539153"/>
            <a:ext cx="1175813" cy="98268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D9BCBF3-999F-4CF3-9C2F-69F30ACC2D14}"/>
              </a:ext>
            </a:extLst>
          </p:cNvPr>
          <p:cNvSpPr/>
          <p:nvPr/>
        </p:nvSpPr>
        <p:spPr>
          <a:xfrm rot="5400000">
            <a:off x="4913434" y="1908355"/>
            <a:ext cx="1812782" cy="1414188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570017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F73B460-4E2F-4A55-AF73-7EF5A7286910}"/>
              </a:ext>
            </a:extLst>
          </p:cNvPr>
          <p:cNvSpPr/>
          <p:nvPr/>
        </p:nvSpPr>
        <p:spPr>
          <a:xfrm>
            <a:off x="176565" y="523174"/>
            <a:ext cx="3487301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Calculating image file sizes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F30898-6957-4427-96DC-5DFFD764FA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8279" y="513394"/>
            <a:ext cx="1604248" cy="1277249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3C8A02E1-50D7-4FB7-B806-A604F7931628}"/>
              </a:ext>
            </a:extLst>
          </p:cNvPr>
          <p:cNvSpPr/>
          <p:nvPr/>
        </p:nvSpPr>
        <p:spPr>
          <a:xfrm>
            <a:off x="8772800" y="490298"/>
            <a:ext cx="1630831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Colour depth</a:t>
            </a:r>
          </a:p>
          <a:p>
            <a:pPr algn="ctr"/>
            <a:r>
              <a:rPr lang="en-GB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×</a:t>
            </a:r>
          </a:p>
          <a:p>
            <a:pPr algn="ctr"/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Image height (px)</a:t>
            </a:r>
          </a:p>
          <a:p>
            <a:pPr algn="ctr"/>
            <a:r>
              <a:rPr lang="en-GB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×</a:t>
            </a:r>
          </a:p>
          <a:p>
            <a:pPr algn="ctr"/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Image width (px)</a:t>
            </a:r>
            <a:endParaRPr lang="en-GB" sz="1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65" name="Table 4">
            <a:extLst>
              <a:ext uri="{FF2B5EF4-FFF2-40B4-BE49-F238E27FC236}">
                <a16:creationId xmlns:a16="http://schemas.microsoft.com/office/drawing/2014/main" id="{AA59EB69-D795-47AC-9F50-E941096E85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6062260"/>
              </p:ext>
            </p:extLst>
          </p:nvPr>
        </p:nvGraphicFramePr>
        <p:xfrm>
          <a:off x="6579795" y="2091265"/>
          <a:ext cx="5432491" cy="2571821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810830">
                  <a:extLst>
                    <a:ext uri="{9D8B030D-6E8A-4147-A177-3AD203B41FA5}">
                      <a16:colId xmlns:a16="http://schemas.microsoft.com/office/drawing/2014/main" val="3690284994"/>
                    </a:ext>
                  </a:extLst>
                </a:gridCol>
                <a:gridCol w="911996">
                  <a:extLst>
                    <a:ext uri="{9D8B030D-6E8A-4147-A177-3AD203B41FA5}">
                      <a16:colId xmlns:a16="http://schemas.microsoft.com/office/drawing/2014/main" val="3650909537"/>
                    </a:ext>
                  </a:extLst>
                </a:gridCol>
                <a:gridCol w="2709665">
                  <a:extLst>
                    <a:ext uri="{9D8B030D-6E8A-4147-A177-3AD203B41FA5}">
                      <a16:colId xmlns:a16="http://schemas.microsoft.com/office/drawing/2014/main" val="4031349014"/>
                    </a:ext>
                  </a:extLst>
                </a:gridCol>
              </a:tblGrid>
              <a:tr h="421786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Image file 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8496186"/>
                  </a:ext>
                </a:extLst>
              </a:tr>
              <a:tr h="520203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Image height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/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Height measured in pixels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0025589"/>
                  </a:ext>
                </a:extLst>
              </a:tr>
              <a:tr h="520203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Image width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/>
                        <a:t>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Width measured in pixels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6078675"/>
                  </a:ext>
                </a:extLst>
              </a:tr>
              <a:tr h="520203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Colour depth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Number of bits required </a:t>
                      </a:r>
                      <a:br>
                        <a:rPr lang="en-GB" sz="1400" dirty="0"/>
                      </a:br>
                      <a:r>
                        <a:rPr lang="en-GB" sz="1400" dirty="0"/>
                        <a:t>to store each pixel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7827112"/>
                  </a:ext>
                </a:extLst>
              </a:tr>
              <a:tr h="122713">
                <a:tc>
                  <a:txBody>
                    <a:bodyPr/>
                    <a:lstStyle/>
                    <a:p>
                      <a:endParaRPr lang="en-GB" sz="500" dirty="0"/>
                    </a:p>
                  </a:txBody>
                  <a:tcPr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500" dirty="0"/>
                    </a:p>
                  </a:txBody>
                  <a:tcPr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500" dirty="0"/>
                    </a:p>
                  </a:txBody>
                  <a:tcPr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8103866"/>
                  </a:ext>
                </a:extLst>
              </a:tr>
              <a:tr h="421786"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/>
                        <a:t>14 × 17 × 3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/>
                        <a:t>=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/>
                        <a:t>714 bits</a:t>
                      </a:r>
                      <a:r>
                        <a:rPr lang="en-GB" sz="1800" b="0" dirty="0"/>
                        <a:t> = 90 bytes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902710074"/>
                  </a:ext>
                </a:extLst>
              </a:tr>
            </a:tbl>
          </a:graphicData>
        </a:graphic>
      </p:graphicFrame>
      <p:pic>
        <p:nvPicPr>
          <p:cNvPr id="66" name="Picture 65" descr="A close up of a sign&#10;&#10;Description generated with high confidence">
            <a:extLst>
              <a:ext uri="{FF2B5EF4-FFF2-40B4-BE49-F238E27FC236}">
                <a16:creationId xmlns:a16="http://schemas.microsoft.com/office/drawing/2014/main" id="{7D35A463-E744-4894-89E0-29F1C2190C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572" y="1706406"/>
            <a:ext cx="4828511" cy="412522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731F2D1-F78C-421E-905F-2191CC7CC7EB}"/>
              </a:ext>
            </a:extLst>
          </p:cNvPr>
          <p:cNvSpPr/>
          <p:nvPr/>
        </p:nvSpPr>
        <p:spPr>
          <a:xfrm>
            <a:off x="8412191" y="5131106"/>
            <a:ext cx="351200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cover the topic of images in more detail in our video titled</a:t>
            </a:r>
          </a:p>
          <a:p>
            <a:pPr algn="ctr"/>
            <a:r>
              <a:rPr lang="en-GB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CAMBRIDGE </a:t>
            </a:r>
            <a:r>
              <a:rPr lang="en-GB" b="1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IGCSE (0487-0984</a:t>
            </a:r>
            <a:r>
              <a:rPr lang="en-GB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  <a:br>
              <a:rPr lang="en-GB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1.2 Representing images</a:t>
            </a:r>
            <a:endParaRPr lang="en-GB" sz="1050" b="1" dirty="0">
              <a:solidFill>
                <a:srgbClr val="C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D0F84B9-E477-B944-BCA1-61ABEB6366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8396" y="1730876"/>
            <a:ext cx="1356751" cy="80827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08B45A0-2F74-7B48-BA6E-B4BB6AF195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532" y="2539153"/>
            <a:ext cx="1175813" cy="982684"/>
          </a:xfrm>
          <a:prstGeom prst="rect">
            <a:avLst/>
          </a:prstGeom>
        </p:spPr>
      </p:pic>
      <p:pic>
        <p:nvPicPr>
          <p:cNvPr id="13" name="Picture 12" descr="A picture containing drawing, clock&#10;&#10;Description automatically generated">
            <a:extLst>
              <a:ext uri="{FF2B5EF4-FFF2-40B4-BE49-F238E27FC236}">
                <a16:creationId xmlns:a16="http://schemas.microsoft.com/office/drawing/2014/main" id="{D62A5E64-4E31-9F42-98B3-0FA876A2842B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4120" y="5053351"/>
            <a:ext cx="1401036" cy="1401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7085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06FC4BB-E42D-4B5A-9B89-6AD16D0263F8}"/>
              </a:ext>
            </a:extLst>
          </p:cNvPr>
          <p:cNvSpPr/>
          <p:nvPr/>
        </p:nvSpPr>
        <p:spPr>
          <a:xfrm>
            <a:off x="404196" y="1887113"/>
            <a:ext cx="1127773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Calculating image file sizes: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(Colour depth) × (Image height px) × (Image width px)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Calculating sound file sizes: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(Sample rate) × (Duration in seconds) × (Resolution)</a:t>
            </a:r>
          </a:p>
        </p:txBody>
      </p:sp>
      <p:pic>
        <p:nvPicPr>
          <p:cNvPr id="5" name="Picture 2" descr="make_notes">
            <a:extLst>
              <a:ext uri="{FF2B5EF4-FFF2-40B4-BE49-F238E27FC236}">
                <a16:creationId xmlns:a16="http://schemas.microsoft.com/office/drawing/2014/main" id="{E5899170-65D2-F8AE-2F0E-4F02E326CC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906" y="611347"/>
            <a:ext cx="1113436" cy="1113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82F0A52-558D-625D-FC3F-5839365C6461}"/>
              </a:ext>
            </a:extLst>
          </p:cNvPr>
          <p:cNvSpPr/>
          <p:nvPr/>
        </p:nvSpPr>
        <p:spPr>
          <a:xfrm>
            <a:off x="1368341" y="523174"/>
            <a:ext cx="67492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Calculating the size of an image and sound file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24636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2947853-E1EE-4D77-9DC1-BD14C2A80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7625" y="-28575"/>
            <a:ext cx="12239625" cy="688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8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707</TotalTime>
  <Words>617</Words>
  <Application>Microsoft Office PowerPoint</Application>
  <PresentationFormat>Widescreen</PresentationFormat>
  <Paragraphs>187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Century Gothic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Craig Sargent</dc:creator>
  <cp:lastModifiedBy>Craig Sargent</cp:lastModifiedBy>
  <cp:revision>80</cp:revision>
  <dcterms:created xsi:type="dcterms:W3CDTF">2019-10-14T15:21:06Z</dcterms:created>
  <dcterms:modified xsi:type="dcterms:W3CDTF">2022-05-12T13:24:53Z</dcterms:modified>
</cp:coreProperties>
</file>