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7" r:id="rId2"/>
    <p:sldId id="265" r:id="rId3"/>
    <p:sldId id="266" r:id="rId4"/>
    <p:sldId id="267" r:id="rId5"/>
    <p:sldId id="272" r:id="rId6"/>
    <p:sldId id="273" r:id="rId7"/>
    <p:sldId id="268" r:id="rId8"/>
    <p:sldId id="269" r:id="rId9"/>
    <p:sldId id="270" r:id="rId10"/>
    <p:sldId id="271" r:id="rId11"/>
    <p:sldId id="274" r:id="rId12"/>
    <p:sldId id="260" r:id="rId13"/>
    <p:sldId id="29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5A5A5"/>
    <a:srgbClr val="B43500"/>
    <a:srgbClr val="BFBFBF"/>
    <a:srgbClr val="A5CDFF"/>
    <a:srgbClr val="8CB4EB"/>
    <a:srgbClr val="FFCCCC"/>
    <a:srgbClr val="F26521"/>
    <a:srgbClr val="FFFFFF"/>
    <a:srgbClr val="0087B1"/>
    <a:srgbClr val="00095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45" autoAdjust="0"/>
    <p:restoredTop sz="93713" autoAdjust="0"/>
  </p:normalViewPr>
  <p:slideViewPr>
    <p:cSldViewPr snapToGrid="0">
      <p:cViewPr varScale="1">
        <p:scale>
          <a:sx n="102" d="100"/>
          <a:sy n="102" d="100"/>
        </p:scale>
        <p:origin x="570" y="108"/>
      </p:cViewPr>
      <p:guideLst>
        <p:guide orient="horz" pos="2160"/>
        <p:guide pos="3840"/>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86" d="100"/>
          <a:sy n="86" d="100"/>
        </p:scale>
        <p:origin x="3408"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5.xml.rels><?xml version="1.0" encoding="UTF-8" standalone="yes"?>
<Relationships xmlns="http://schemas.openxmlformats.org/package/2006/relationships"><Relationship Id="rId1" Type="http://schemas.openxmlformats.org/officeDocument/2006/relationships/image" Target="../media/image23.jpeg"/></Relationships>
</file>

<file path=ppt/diagrams/_rels/data6.xml.rels><?xml version="1.0" encoding="UTF-8" standalone="yes"?>
<Relationships xmlns="http://schemas.openxmlformats.org/package/2006/relationships"><Relationship Id="rId1" Type="http://schemas.openxmlformats.org/officeDocument/2006/relationships/image" Target="../media/image2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5.xml.rels><?xml version="1.0" encoding="UTF-8" standalone="yes"?>
<Relationships xmlns="http://schemas.openxmlformats.org/package/2006/relationships"><Relationship Id="rId1" Type="http://schemas.openxmlformats.org/officeDocument/2006/relationships/image" Target="../media/image23.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28.jpe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0228ADF-15B5-4FA0-B45C-852D3A5CF134}" type="doc">
      <dgm:prSet loTypeId="urn:microsoft.com/office/officeart/2005/8/layout/bList2" loCatId="list" qsTypeId="urn:microsoft.com/office/officeart/2005/8/quickstyle/simple1" qsCatId="simple" csTypeId="urn:microsoft.com/office/officeart/2005/8/colors/colorful3" csCatId="colorful" phldr="1"/>
      <dgm:spPr/>
    </dgm:pt>
    <dgm:pt modelId="{D365F58D-9418-4C7C-9EF1-2CCCF940DC09}">
      <dgm:prSet phldrT="[Text]"/>
      <dgm:spPr/>
      <dgm:t>
        <a:bodyPr/>
        <a:lstStyle/>
        <a:p>
          <a:r>
            <a:rPr lang="en-GB" dirty="0"/>
            <a:t>Factor 1</a:t>
          </a:r>
        </a:p>
      </dgm:t>
    </dgm:pt>
    <dgm:pt modelId="{ABD6DF45-3C14-4146-A7C3-C812D9C191E4}" type="parTrans" cxnId="{17029D78-B42E-4C8E-9563-280097A12C1D}">
      <dgm:prSet/>
      <dgm:spPr/>
      <dgm:t>
        <a:bodyPr/>
        <a:lstStyle/>
        <a:p>
          <a:endParaRPr lang="en-GB"/>
        </a:p>
      </dgm:t>
    </dgm:pt>
    <dgm:pt modelId="{36E97013-706C-4B6B-B57F-DC7F1AB84F8E}" type="sibTrans" cxnId="{17029D78-B42E-4C8E-9563-280097A12C1D}">
      <dgm:prSet/>
      <dgm:spPr/>
      <dgm:t>
        <a:bodyPr/>
        <a:lstStyle/>
        <a:p>
          <a:endParaRPr lang="en-GB"/>
        </a:p>
      </dgm:t>
    </dgm:pt>
    <dgm:pt modelId="{35E2E33E-7210-4A91-9FFB-37395DAC78AF}">
      <dgm:prSet phldrT="[Text]"/>
      <dgm:spPr/>
      <dgm:t>
        <a:bodyPr/>
        <a:lstStyle/>
        <a:p>
          <a:r>
            <a:rPr lang="en-GB" dirty="0"/>
            <a:t>Factor 2</a:t>
          </a:r>
        </a:p>
      </dgm:t>
    </dgm:pt>
    <dgm:pt modelId="{75DB3198-7BB1-4D4E-822F-9158FE6B3CD2}" type="parTrans" cxnId="{AAF7E923-6E66-4D64-A67E-CBB16AFB067D}">
      <dgm:prSet/>
      <dgm:spPr/>
      <dgm:t>
        <a:bodyPr/>
        <a:lstStyle/>
        <a:p>
          <a:endParaRPr lang="en-GB"/>
        </a:p>
      </dgm:t>
    </dgm:pt>
    <dgm:pt modelId="{BBF77E89-289E-4052-A82A-8CDB1A67C55F}" type="sibTrans" cxnId="{AAF7E923-6E66-4D64-A67E-CBB16AFB067D}">
      <dgm:prSet/>
      <dgm:spPr/>
      <dgm:t>
        <a:bodyPr/>
        <a:lstStyle/>
        <a:p>
          <a:endParaRPr lang="en-GB"/>
        </a:p>
      </dgm:t>
    </dgm:pt>
    <dgm:pt modelId="{12C6F0DA-AA29-4E69-A84C-132A09D41806}">
      <dgm:prSet phldrT="[Text]"/>
      <dgm:spPr/>
      <dgm:t>
        <a:bodyPr/>
        <a:lstStyle/>
        <a:p>
          <a:r>
            <a:rPr lang="en-GB" dirty="0"/>
            <a:t>Factor 3</a:t>
          </a:r>
        </a:p>
      </dgm:t>
    </dgm:pt>
    <dgm:pt modelId="{1E4F46D1-6750-4CF6-BBFE-E941E60280E4}" type="parTrans" cxnId="{AD3F755D-196B-4C3A-B9CE-BD30F230C757}">
      <dgm:prSet/>
      <dgm:spPr/>
      <dgm:t>
        <a:bodyPr/>
        <a:lstStyle/>
        <a:p>
          <a:endParaRPr lang="en-GB"/>
        </a:p>
      </dgm:t>
    </dgm:pt>
    <dgm:pt modelId="{8F6280F0-8B18-4DE6-B2FB-A12748583C70}" type="sibTrans" cxnId="{AD3F755D-196B-4C3A-B9CE-BD30F230C757}">
      <dgm:prSet/>
      <dgm:spPr/>
      <dgm:t>
        <a:bodyPr/>
        <a:lstStyle/>
        <a:p>
          <a:endParaRPr lang="en-GB"/>
        </a:p>
      </dgm:t>
    </dgm:pt>
    <dgm:pt modelId="{EE3F475A-A742-43C2-ABF7-AB792D4A690B}">
      <dgm:prSet phldrT="[Text]" custT="1"/>
      <dgm:spPr/>
      <dgm:t>
        <a:bodyPr/>
        <a:lstStyle/>
        <a:p>
          <a:r>
            <a:rPr lang="en-GB" sz="2700" dirty="0"/>
            <a:t>Direction of data transmission – e.g., can data be transmitted in both directions or only one?</a:t>
          </a:r>
        </a:p>
      </dgm:t>
    </dgm:pt>
    <dgm:pt modelId="{3CFBD98F-7F94-4F8E-8BF9-47546226BE11}" type="parTrans" cxnId="{E79BF376-B2D4-4B97-B4AC-CF6CB71C638F}">
      <dgm:prSet/>
      <dgm:spPr/>
      <dgm:t>
        <a:bodyPr/>
        <a:lstStyle/>
        <a:p>
          <a:endParaRPr lang="en-GB"/>
        </a:p>
      </dgm:t>
    </dgm:pt>
    <dgm:pt modelId="{D24CB1BB-D461-40AE-B048-7BD2F9D753D7}" type="sibTrans" cxnId="{E79BF376-B2D4-4B97-B4AC-CF6CB71C638F}">
      <dgm:prSet/>
      <dgm:spPr/>
      <dgm:t>
        <a:bodyPr/>
        <a:lstStyle/>
        <a:p>
          <a:endParaRPr lang="en-GB"/>
        </a:p>
      </dgm:t>
    </dgm:pt>
    <dgm:pt modelId="{F93A5829-64AE-44E1-B6C7-EDEA5C3D6548}">
      <dgm:prSet phldrT="[Text]" custT="1"/>
      <dgm:spPr/>
      <dgm:t>
        <a:bodyPr/>
        <a:lstStyle/>
        <a:p>
          <a:r>
            <a:rPr lang="en-GB" sz="2700" dirty="0"/>
            <a:t>Method of transmission – e.g., how many bits can be transmitted at once?</a:t>
          </a:r>
        </a:p>
      </dgm:t>
    </dgm:pt>
    <dgm:pt modelId="{26A13446-9948-494F-AD19-F921A3B568B7}" type="parTrans" cxnId="{416E1EF0-6E38-4C71-AA9A-6C5A1A7D76E6}">
      <dgm:prSet/>
      <dgm:spPr/>
      <dgm:t>
        <a:bodyPr/>
        <a:lstStyle/>
        <a:p>
          <a:endParaRPr lang="en-GB"/>
        </a:p>
      </dgm:t>
    </dgm:pt>
    <dgm:pt modelId="{11E91262-C92F-4F90-A146-8C485C7E3F64}" type="sibTrans" cxnId="{416E1EF0-6E38-4C71-AA9A-6C5A1A7D76E6}">
      <dgm:prSet/>
      <dgm:spPr/>
      <dgm:t>
        <a:bodyPr/>
        <a:lstStyle/>
        <a:p>
          <a:endParaRPr lang="en-GB"/>
        </a:p>
      </dgm:t>
    </dgm:pt>
    <dgm:pt modelId="{43B14906-6106-4889-94F7-DAF60B1C3DE4}">
      <dgm:prSet phldrT="[Text]" custT="1"/>
      <dgm:spPr/>
      <dgm:t>
        <a:bodyPr/>
        <a:lstStyle/>
        <a:p>
          <a:r>
            <a:rPr lang="en-GB" sz="2700" dirty="0"/>
            <a:t>How will the data be synchronised?</a:t>
          </a:r>
        </a:p>
      </dgm:t>
    </dgm:pt>
    <dgm:pt modelId="{4EF5F616-28C4-4163-864D-380809875547}" type="parTrans" cxnId="{ACFC44ED-1D32-4066-838E-BCA8203EA746}">
      <dgm:prSet/>
      <dgm:spPr/>
      <dgm:t>
        <a:bodyPr/>
        <a:lstStyle/>
        <a:p>
          <a:endParaRPr lang="en-GB"/>
        </a:p>
      </dgm:t>
    </dgm:pt>
    <dgm:pt modelId="{F51759BC-FE6A-48A5-B1F3-3B4385F3E959}" type="sibTrans" cxnId="{ACFC44ED-1D32-4066-838E-BCA8203EA746}">
      <dgm:prSet/>
      <dgm:spPr/>
      <dgm:t>
        <a:bodyPr/>
        <a:lstStyle/>
        <a:p>
          <a:endParaRPr lang="en-GB"/>
        </a:p>
      </dgm:t>
    </dgm:pt>
    <dgm:pt modelId="{BC54E746-14DE-4FD8-99B3-9E6B784D60E3}" type="pres">
      <dgm:prSet presAssocID="{40228ADF-15B5-4FA0-B45C-852D3A5CF134}" presName="diagram" presStyleCnt="0">
        <dgm:presLayoutVars>
          <dgm:dir/>
          <dgm:animLvl val="lvl"/>
          <dgm:resizeHandles val="exact"/>
        </dgm:presLayoutVars>
      </dgm:prSet>
      <dgm:spPr/>
    </dgm:pt>
    <dgm:pt modelId="{47203CD7-3289-4802-98CB-5A97654352C8}" type="pres">
      <dgm:prSet presAssocID="{D365F58D-9418-4C7C-9EF1-2CCCF940DC09}" presName="compNode" presStyleCnt="0"/>
      <dgm:spPr/>
    </dgm:pt>
    <dgm:pt modelId="{8871ABCC-7184-41C7-B661-B903C94263F8}" type="pres">
      <dgm:prSet presAssocID="{D365F58D-9418-4C7C-9EF1-2CCCF940DC09}" presName="childRect" presStyleLbl="bgAcc1" presStyleIdx="0" presStyleCnt="3">
        <dgm:presLayoutVars>
          <dgm:bulletEnabled val="1"/>
        </dgm:presLayoutVars>
      </dgm:prSet>
      <dgm:spPr/>
    </dgm:pt>
    <dgm:pt modelId="{381C5C7A-CE36-4BEE-9298-3C13D3DCCFF9}" type="pres">
      <dgm:prSet presAssocID="{D365F58D-9418-4C7C-9EF1-2CCCF940DC09}" presName="parentText" presStyleLbl="node1" presStyleIdx="0" presStyleCnt="0">
        <dgm:presLayoutVars>
          <dgm:chMax val="0"/>
          <dgm:bulletEnabled val="1"/>
        </dgm:presLayoutVars>
      </dgm:prSet>
      <dgm:spPr/>
    </dgm:pt>
    <dgm:pt modelId="{B7F8BF7C-CAEC-4ABD-919D-922AD84E5632}" type="pres">
      <dgm:prSet presAssocID="{D365F58D-9418-4C7C-9EF1-2CCCF940DC09}" presName="parentRect" presStyleLbl="alignNode1" presStyleIdx="0" presStyleCnt="3"/>
      <dgm:spPr/>
    </dgm:pt>
    <dgm:pt modelId="{7733C527-F50E-4C0A-86EE-07950568E628}" type="pres">
      <dgm:prSet presAssocID="{D365F58D-9418-4C7C-9EF1-2CCCF940DC09}" presName="adorn" presStyleLbl="fgAccFollow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Transfer with solid fill"/>
        </a:ext>
      </dgm:extLst>
    </dgm:pt>
    <dgm:pt modelId="{8686BA6D-3A79-42AC-9E53-07264F93A8C5}" type="pres">
      <dgm:prSet presAssocID="{36E97013-706C-4B6B-B57F-DC7F1AB84F8E}" presName="sibTrans" presStyleLbl="sibTrans2D1" presStyleIdx="0" presStyleCnt="0"/>
      <dgm:spPr/>
    </dgm:pt>
    <dgm:pt modelId="{9A0E6A69-31AA-4C86-9435-17125EA42257}" type="pres">
      <dgm:prSet presAssocID="{35E2E33E-7210-4A91-9FFB-37395DAC78AF}" presName="compNode" presStyleCnt="0"/>
      <dgm:spPr/>
    </dgm:pt>
    <dgm:pt modelId="{5DAB5093-DC99-4E18-958E-2D8572DC379E}" type="pres">
      <dgm:prSet presAssocID="{35E2E33E-7210-4A91-9FFB-37395DAC78AF}" presName="childRect" presStyleLbl="bgAcc1" presStyleIdx="1" presStyleCnt="3">
        <dgm:presLayoutVars>
          <dgm:bulletEnabled val="1"/>
        </dgm:presLayoutVars>
      </dgm:prSet>
      <dgm:spPr/>
    </dgm:pt>
    <dgm:pt modelId="{2AF0CA2D-30F7-4103-A5FB-AD48E6B214D6}" type="pres">
      <dgm:prSet presAssocID="{35E2E33E-7210-4A91-9FFB-37395DAC78AF}" presName="parentText" presStyleLbl="node1" presStyleIdx="0" presStyleCnt="0">
        <dgm:presLayoutVars>
          <dgm:chMax val="0"/>
          <dgm:bulletEnabled val="1"/>
        </dgm:presLayoutVars>
      </dgm:prSet>
      <dgm:spPr/>
    </dgm:pt>
    <dgm:pt modelId="{CA8CC71C-D866-4E8B-92AB-D174A83F15F6}" type="pres">
      <dgm:prSet presAssocID="{35E2E33E-7210-4A91-9FFB-37395DAC78AF}" presName="parentRect" presStyleLbl="alignNode1" presStyleIdx="1" presStyleCnt="3"/>
      <dgm:spPr/>
    </dgm:pt>
    <dgm:pt modelId="{2E76713B-9EEB-4E58-9CCD-89C019346C29}" type="pres">
      <dgm:prSet presAssocID="{35E2E33E-7210-4A91-9FFB-37395DAC78AF}" presName="adorn" presStyleLbl="fgAccFollow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inary with solid fill"/>
        </a:ext>
      </dgm:extLst>
    </dgm:pt>
    <dgm:pt modelId="{5D9BAFB9-300A-4067-A31D-308DD190D854}" type="pres">
      <dgm:prSet presAssocID="{BBF77E89-289E-4052-A82A-8CDB1A67C55F}" presName="sibTrans" presStyleLbl="sibTrans2D1" presStyleIdx="0" presStyleCnt="0"/>
      <dgm:spPr/>
    </dgm:pt>
    <dgm:pt modelId="{E36C523D-B1A9-45C3-B179-F0C1C2083767}" type="pres">
      <dgm:prSet presAssocID="{12C6F0DA-AA29-4E69-A84C-132A09D41806}" presName="compNode" presStyleCnt="0"/>
      <dgm:spPr/>
    </dgm:pt>
    <dgm:pt modelId="{08D845E9-A7DB-4846-A440-816C20104CCD}" type="pres">
      <dgm:prSet presAssocID="{12C6F0DA-AA29-4E69-A84C-132A09D41806}" presName="childRect" presStyleLbl="bgAcc1" presStyleIdx="2" presStyleCnt="3">
        <dgm:presLayoutVars>
          <dgm:bulletEnabled val="1"/>
        </dgm:presLayoutVars>
      </dgm:prSet>
      <dgm:spPr/>
    </dgm:pt>
    <dgm:pt modelId="{4A743888-D263-4910-BF47-FF7D4615D7F7}" type="pres">
      <dgm:prSet presAssocID="{12C6F0DA-AA29-4E69-A84C-132A09D41806}" presName="parentText" presStyleLbl="node1" presStyleIdx="0" presStyleCnt="0">
        <dgm:presLayoutVars>
          <dgm:chMax val="0"/>
          <dgm:bulletEnabled val="1"/>
        </dgm:presLayoutVars>
      </dgm:prSet>
      <dgm:spPr/>
    </dgm:pt>
    <dgm:pt modelId="{81DD91EA-FD38-4E53-AC75-C539F0B8482F}" type="pres">
      <dgm:prSet presAssocID="{12C6F0DA-AA29-4E69-A84C-132A09D41806}" presName="parentRect" presStyleLbl="alignNode1" presStyleIdx="2" presStyleCnt="3"/>
      <dgm:spPr/>
    </dgm:pt>
    <dgm:pt modelId="{D84FFEF3-8925-414E-8D6F-D9A96E8AF2AB}" type="pres">
      <dgm:prSet presAssocID="{12C6F0DA-AA29-4E69-A84C-132A09D41806}" presName="adorn" presStyleLbl="fgAccFollow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Syncing cloud with solid fill"/>
        </a:ext>
      </dgm:extLst>
    </dgm:pt>
  </dgm:ptLst>
  <dgm:cxnLst>
    <dgm:cxn modelId="{20CB2E1C-7D8D-48EE-9635-18DFC89DD429}" type="presOf" srcId="{40228ADF-15B5-4FA0-B45C-852D3A5CF134}" destId="{BC54E746-14DE-4FD8-99B3-9E6B784D60E3}" srcOrd="0" destOrd="0" presId="urn:microsoft.com/office/officeart/2005/8/layout/bList2"/>
    <dgm:cxn modelId="{AAF7E923-6E66-4D64-A67E-CBB16AFB067D}" srcId="{40228ADF-15B5-4FA0-B45C-852D3A5CF134}" destId="{35E2E33E-7210-4A91-9FFB-37395DAC78AF}" srcOrd="1" destOrd="0" parTransId="{75DB3198-7BB1-4D4E-822F-9158FE6B3CD2}" sibTransId="{BBF77E89-289E-4052-A82A-8CDB1A67C55F}"/>
    <dgm:cxn modelId="{F3427535-DAF5-43C6-95CC-D971EE13E164}" type="presOf" srcId="{36E97013-706C-4B6B-B57F-DC7F1AB84F8E}" destId="{8686BA6D-3A79-42AC-9E53-07264F93A8C5}" srcOrd="0" destOrd="0" presId="urn:microsoft.com/office/officeart/2005/8/layout/bList2"/>
    <dgm:cxn modelId="{3EFDAE3C-5DAE-408C-8676-A51DFD3FC34D}" type="presOf" srcId="{BBF77E89-289E-4052-A82A-8CDB1A67C55F}" destId="{5D9BAFB9-300A-4067-A31D-308DD190D854}" srcOrd="0" destOrd="0" presId="urn:microsoft.com/office/officeart/2005/8/layout/bList2"/>
    <dgm:cxn modelId="{AD3F755D-196B-4C3A-B9CE-BD30F230C757}" srcId="{40228ADF-15B5-4FA0-B45C-852D3A5CF134}" destId="{12C6F0DA-AA29-4E69-A84C-132A09D41806}" srcOrd="2" destOrd="0" parTransId="{1E4F46D1-6750-4CF6-BBFE-E941E60280E4}" sibTransId="{8F6280F0-8B18-4DE6-B2FB-A12748583C70}"/>
    <dgm:cxn modelId="{3039A650-77E5-410A-B471-36370D4B69DA}" type="presOf" srcId="{D365F58D-9418-4C7C-9EF1-2CCCF940DC09}" destId="{381C5C7A-CE36-4BEE-9298-3C13D3DCCFF9}" srcOrd="0" destOrd="0" presId="urn:microsoft.com/office/officeart/2005/8/layout/bList2"/>
    <dgm:cxn modelId="{E79BF376-B2D4-4B97-B4AC-CF6CB71C638F}" srcId="{D365F58D-9418-4C7C-9EF1-2CCCF940DC09}" destId="{EE3F475A-A742-43C2-ABF7-AB792D4A690B}" srcOrd="0" destOrd="0" parTransId="{3CFBD98F-7F94-4F8E-8BF9-47546226BE11}" sibTransId="{D24CB1BB-D461-40AE-B048-7BD2F9D753D7}"/>
    <dgm:cxn modelId="{7EA45B77-2605-4EB7-816A-92AFD76F37F7}" type="presOf" srcId="{12C6F0DA-AA29-4E69-A84C-132A09D41806}" destId="{81DD91EA-FD38-4E53-AC75-C539F0B8482F}" srcOrd="1" destOrd="0" presId="urn:microsoft.com/office/officeart/2005/8/layout/bList2"/>
    <dgm:cxn modelId="{17029D78-B42E-4C8E-9563-280097A12C1D}" srcId="{40228ADF-15B5-4FA0-B45C-852D3A5CF134}" destId="{D365F58D-9418-4C7C-9EF1-2CCCF940DC09}" srcOrd="0" destOrd="0" parTransId="{ABD6DF45-3C14-4146-A7C3-C812D9C191E4}" sibTransId="{36E97013-706C-4B6B-B57F-DC7F1AB84F8E}"/>
    <dgm:cxn modelId="{A061249D-8609-437B-BCC8-EAD369CC1088}" type="presOf" srcId="{43B14906-6106-4889-94F7-DAF60B1C3DE4}" destId="{08D845E9-A7DB-4846-A440-816C20104CCD}" srcOrd="0" destOrd="0" presId="urn:microsoft.com/office/officeart/2005/8/layout/bList2"/>
    <dgm:cxn modelId="{153259AD-113C-4F4A-86C5-C278C206C6C6}" type="presOf" srcId="{35E2E33E-7210-4A91-9FFB-37395DAC78AF}" destId="{CA8CC71C-D866-4E8B-92AB-D174A83F15F6}" srcOrd="1" destOrd="0" presId="urn:microsoft.com/office/officeart/2005/8/layout/bList2"/>
    <dgm:cxn modelId="{240FF0B7-E68F-467E-BAA3-300C6CCED741}" type="presOf" srcId="{35E2E33E-7210-4A91-9FFB-37395DAC78AF}" destId="{2AF0CA2D-30F7-4103-A5FB-AD48E6B214D6}" srcOrd="0" destOrd="0" presId="urn:microsoft.com/office/officeart/2005/8/layout/bList2"/>
    <dgm:cxn modelId="{E581ABE5-E65E-4976-906F-E609BABADFE4}" type="presOf" srcId="{EE3F475A-A742-43C2-ABF7-AB792D4A690B}" destId="{8871ABCC-7184-41C7-B661-B903C94263F8}" srcOrd="0" destOrd="0" presId="urn:microsoft.com/office/officeart/2005/8/layout/bList2"/>
    <dgm:cxn modelId="{D8C6A4EA-7CEC-42B3-8437-CC375C285092}" type="presOf" srcId="{12C6F0DA-AA29-4E69-A84C-132A09D41806}" destId="{4A743888-D263-4910-BF47-FF7D4615D7F7}" srcOrd="0" destOrd="0" presId="urn:microsoft.com/office/officeart/2005/8/layout/bList2"/>
    <dgm:cxn modelId="{ACFC44ED-1D32-4066-838E-BCA8203EA746}" srcId="{12C6F0DA-AA29-4E69-A84C-132A09D41806}" destId="{43B14906-6106-4889-94F7-DAF60B1C3DE4}" srcOrd="0" destOrd="0" parTransId="{4EF5F616-28C4-4163-864D-380809875547}" sibTransId="{F51759BC-FE6A-48A5-B1F3-3B4385F3E959}"/>
    <dgm:cxn modelId="{416E1EF0-6E38-4C71-AA9A-6C5A1A7D76E6}" srcId="{35E2E33E-7210-4A91-9FFB-37395DAC78AF}" destId="{F93A5829-64AE-44E1-B6C7-EDEA5C3D6548}" srcOrd="0" destOrd="0" parTransId="{26A13446-9948-494F-AD19-F921A3B568B7}" sibTransId="{11E91262-C92F-4F90-A146-8C485C7E3F64}"/>
    <dgm:cxn modelId="{863ECAF0-0D47-40EB-B5B9-485CF8BB776B}" type="presOf" srcId="{D365F58D-9418-4C7C-9EF1-2CCCF940DC09}" destId="{B7F8BF7C-CAEC-4ABD-919D-922AD84E5632}" srcOrd="1" destOrd="0" presId="urn:microsoft.com/office/officeart/2005/8/layout/bList2"/>
    <dgm:cxn modelId="{5C5455F4-0C7C-431F-8285-572B8F287E5B}" type="presOf" srcId="{F93A5829-64AE-44E1-B6C7-EDEA5C3D6548}" destId="{5DAB5093-DC99-4E18-958E-2D8572DC379E}" srcOrd="0" destOrd="0" presId="urn:microsoft.com/office/officeart/2005/8/layout/bList2"/>
    <dgm:cxn modelId="{6F8CEC9F-3422-44A7-92FD-AA55C88BC53B}" type="presParOf" srcId="{BC54E746-14DE-4FD8-99B3-9E6B784D60E3}" destId="{47203CD7-3289-4802-98CB-5A97654352C8}" srcOrd="0" destOrd="0" presId="urn:microsoft.com/office/officeart/2005/8/layout/bList2"/>
    <dgm:cxn modelId="{658B9470-5FD3-48BE-B9EF-AFFCCE704A22}" type="presParOf" srcId="{47203CD7-3289-4802-98CB-5A97654352C8}" destId="{8871ABCC-7184-41C7-B661-B903C94263F8}" srcOrd="0" destOrd="0" presId="urn:microsoft.com/office/officeart/2005/8/layout/bList2"/>
    <dgm:cxn modelId="{83BD5FD9-8A46-4272-9C98-7A30845CD4A9}" type="presParOf" srcId="{47203CD7-3289-4802-98CB-5A97654352C8}" destId="{381C5C7A-CE36-4BEE-9298-3C13D3DCCFF9}" srcOrd="1" destOrd="0" presId="urn:microsoft.com/office/officeart/2005/8/layout/bList2"/>
    <dgm:cxn modelId="{C34CD320-835C-49E0-A2EA-1258D10A5D4E}" type="presParOf" srcId="{47203CD7-3289-4802-98CB-5A97654352C8}" destId="{B7F8BF7C-CAEC-4ABD-919D-922AD84E5632}" srcOrd="2" destOrd="0" presId="urn:microsoft.com/office/officeart/2005/8/layout/bList2"/>
    <dgm:cxn modelId="{4042EA18-7ADB-4D7D-902F-DBA2A8C44BE8}" type="presParOf" srcId="{47203CD7-3289-4802-98CB-5A97654352C8}" destId="{7733C527-F50E-4C0A-86EE-07950568E628}" srcOrd="3" destOrd="0" presId="urn:microsoft.com/office/officeart/2005/8/layout/bList2"/>
    <dgm:cxn modelId="{C4D1594F-A8AD-4988-84C7-8DAECE0479BD}" type="presParOf" srcId="{BC54E746-14DE-4FD8-99B3-9E6B784D60E3}" destId="{8686BA6D-3A79-42AC-9E53-07264F93A8C5}" srcOrd="1" destOrd="0" presId="urn:microsoft.com/office/officeart/2005/8/layout/bList2"/>
    <dgm:cxn modelId="{8CF79B75-D32B-41D8-8CF7-7328D3CC5EF3}" type="presParOf" srcId="{BC54E746-14DE-4FD8-99B3-9E6B784D60E3}" destId="{9A0E6A69-31AA-4C86-9435-17125EA42257}" srcOrd="2" destOrd="0" presId="urn:microsoft.com/office/officeart/2005/8/layout/bList2"/>
    <dgm:cxn modelId="{6BDDF187-0F30-4A9E-B24F-0006C4313A43}" type="presParOf" srcId="{9A0E6A69-31AA-4C86-9435-17125EA42257}" destId="{5DAB5093-DC99-4E18-958E-2D8572DC379E}" srcOrd="0" destOrd="0" presId="urn:microsoft.com/office/officeart/2005/8/layout/bList2"/>
    <dgm:cxn modelId="{FFF6D1E8-5991-4D42-A225-19A32B24DC00}" type="presParOf" srcId="{9A0E6A69-31AA-4C86-9435-17125EA42257}" destId="{2AF0CA2D-30F7-4103-A5FB-AD48E6B214D6}" srcOrd="1" destOrd="0" presId="urn:microsoft.com/office/officeart/2005/8/layout/bList2"/>
    <dgm:cxn modelId="{EB0A2743-B4D6-4D1D-9396-B29A9DA5A94B}" type="presParOf" srcId="{9A0E6A69-31AA-4C86-9435-17125EA42257}" destId="{CA8CC71C-D866-4E8B-92AB-D174A83F15F6}" srcOrd="2" destOrd="0" presId="urn:microsoft.com/office/officeart/2005/8/layout/bList2"/>
    <dgm:cxn modelId="{195C047C-7A12-4B11-9FB4-A1E51043A843}" type="presParOf" srcId="{9A0E6A69-31AA-4C86-9435-17125EA42257}" destId="{2E76713B-9EEB-4E58-9CCD-89C019346C29}" srcOrd="3" destOrd="0" presId="urn:microsoft.com/office/officeart/2005/8/layout/bList2"/>
    <dgm:cxn modelId="{C76D06CC-4999-4F3C-8839-99A6EE52B6B2}" type="presParOf" srcId="{BC54E746-14DE-4FD8-99B3-9E6B784D60E3}" destId="{5D9BAFB9-300A-4067-A31D-308DD190D854}" srcOrd="3" destOrd="0" presId="urn:microsoft.com/office/officeart/2005/8/layout/bList2"/>
    <dgm:cxn modelId="{EEE5BF9A-5AA4-4E5A-AF31-ADEF1E6F467F}" type="presParOf" srcId="{BC54E746-14DE-4FD8-99B3-9E6B784D60E3}" destId="{E36C523D-B1A9-45C3-B179-F0C1C2083767}" srcOrd="4" destOrd="0" presId="urn:microsoft.com/office/officeart/2005/8/layout/bList2"/>
    <dgm:cxn modelId="{EB5C2341-8BA0-421A-BF31-B0E0F6C44974}" type="presParOf" srcId="{E36C523D-B1A9-45C3-B179-F0C1C2083767}" destId="{08D845E9-A7DB-4846-A440-816C20104CCD}" srcOrd="0" destOrd="0" presId="urn:microsoft.com/office/officeart/2005/8/layout/bList2"/>
    <dgm:cxn modelId="{6B3C45B1-2659-463C-9E26-DC2E6505857B}" type="presParOf" srcId="{E36C523D-B1A9-45C3-B179-F0C1C2083767}" destId="{4A743888-D263-4910-BF47-FF7D4615D7F7}" srcOrd="1" destOrd="0" presId="urn:microsoft.com/office/officeart/2005/8/layout/bList2"/>
    <dgm:cxn modelId="{DD92E40E-F95C-4537-A113-157A7875E86E}" type="presParOf" srcId="{E36C523D-B1A9-45C3-B179-F0C1C2083767}" destId="{81DD91EA-FD38-4E53-AC75-C539F0B8482F}" srcOrd="2" destOrd="0" presId="urn:microsoft.com/office/officeart/2005/8/layout/bList2"/>
    <dgm:cxn modelId="{78941CCA-CBBF-49A2-8652-8226188646FC}" type="presParOf" srcId="{E36C523D-B1A9-45C3-B179-F0C1C2083767}" destId="{D84FFEF3-8925-414E-8D6F-D9A96E8AF2AB}" srcOrd="3" destOrd="0" presId="urn:microsoft.com/office/officeart/2005/8/layout/b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2180D29-FC92-4D79-98A5-F83C86589122}" type="doc">
      <dgm:prSet loTypeId="urn:microsoft.com/office/officeart/2005/8/layout/vList3" loCatId="list" qsTypeId="urn:microsoft.com/office/officeart/2005/8/quickstyle/simple1" qsCatId="simple" csTypeId="urn:microsoft.com/office/officeart/2005/8/colors/colorful2" csCatId="colorful" phldr="1"/>
      <dgm:spPr/>
      <dgm:t>
        <a:bodyPr/>
        <a:lstStyle/>
        <a:p>
          <a:endParaRPr lang="en-GB"/>
        </a:p>
      </dgm:t>
    </dgm:pt>
    <dgm:pt modelId="{0DEB959F-A7C9-4F8C-9672-A782A141F10D}">
      <dgm:prSet phldrT="[Text]"/>
      <dgm:spPr/>
      <dgm:t>
        <a:bodyPr/>
        <a:lstStyle/>
        <a:p>
          <a:r>
            <a:rPr lang="en-GB" dirty="0"/>
            <a:t>This type of transmission might be used to send data from a computer to a monitor, as traffic only needs to move in one direction.</a:t>
          </a:r>
        </a:p>
      </dgm:t>
    </dgm:pt>
    <dgm:pt modelId="{9C408922-496B-4502-B150-25C9663989D4}" type="parTrans" cxnId="{DA311B98-4072-48CC-A837-3CE82B57C1FB}">
      <dgm:prSet/>
      <dgm:spPr/>
      <dgm:t>
        <a:bodyPr/>
        <a:lstStyle/>
        <a:p>
          <a:endParaRPr lang="en-GB"/>
        </a:p>
      </dgm:t>
    </dgm:pt>
    <dgm:pt modelId="{A34396C5-2B07-4E9F-92E1-3CBD1A3E574C}" type="sibTrans" cxnId="{DA311B98-4072-48CC-A837-3CE82B57C1FB}">
      <dgm:prSet/>
      <dgm:spPr/>
      <dgm:t>
        <a:bodyPr/>
        <a:lstStyle/>
        <a:p>
          <a:endParaRPr lang="en-GB"/>
        </a:p>
      </dgm:t>
    </dgm:pt>
    <dgm:pt modelId="{410FD8D7-95C5-4115-92D3-055AA4A167A5}" type="pres">
      <dgm:prSet presAssocID="{72180D29-FC92-4D79-98A5-F83C86589122}" presName="linearFlow" presStyleCnt="0">
        <dgm:presLayoutVars>
          <dgm:dir/>
          <dgm:resizeHandles val="exact"/>
        </dgm:presLayoutVars>
      </dgm:prSet>
      <dgm:spPr/>
    </dgm:pt>
    <dgm:pt modelId="{3BE3CE9D-A11F-4FBA-A66A-B90738498344}" type="pres">
      <dgm:prSet presAssocID="{0DEB959F-A7C9-4F8C-9672-A782A141F10D}" presName="composite" presStyleCnt="0"/>
      <dgm:spPr/>
    </dgm:pt>
    <dgm:pt modelId="{68DADEEF-24EA-427D-A91F-224992DCBD08}" type="pres">
      <dgm:prSet presAssocID="{0DEB959F-A7C9-4F8C-9672-A782A141F10D}" presName="imgShp" presStyleLbl="fgImgPlace1" presStyleIdx="0" presStyleCnt="1" custLinFactX="-13445" custLinFactNeighborX="-100000"/>
      <dgm:spPr>
        <a:solidFill>
          <a:schemeClr val="accent4"/>
        </a:solidFill>
      </dgm:spPr>
    </dgm:pt>
    <dgm:pt modelId="{FAE0146D-1B4D-40A9-BF32-9ACB0B958424}" type="pres">
      <dgm:prSet presAssocID="{0DEB959F-A7C9-4F8C-9672-A782A141F10D}" presName="txShp" presStyleLbl="node1" presStyleIdx="0" presStyleCnt="1" custScaleX="129626">
        <dgm:presLayoutVars>
          <dgm:bulletEnabled val="1"/>
        </dgm:presLayoutVars>
      </dgm:prSet>
      <dgm:spPr/>
    </dgm:pt>
  </dgm:ptLst>
  <dgm:cxnLst>
    <dgm:cxn modelId="{C7AD058C-FE30-4E5A-A6B3-23E6EFAF3314}" type="presOf" srcId="{0DEB959F-A7C9-4F8C-9672-A782A141F10D}" destId="{FAE0146D-1B4D-40A9-BF32-9ACB0B958424}" srcOrd="0" destOrd="0" presId="urn:microsoft.com/office/officeart/2005/8/layout/vList3"/>
    <dgm:cxn modelId="{DA311B98-4072-48CC-A837-3CE82B57C1FB}" srcId="{72180D29-FC92-4D79-98A5-F83C86589122}" destId="{0DEB959F-A7C9-4F8C-9672-A782A141F10D}" srcOrd="0" destOrd="0" parTransId="{9C408922-496B-4502-B150-25C9663989D4}" sibTransId="{A34396C5-2B07-4E9F-92E1-3CBD1A3E574C}"/>
    <dgm:cxn modelId="{7DC609A3-D0AF-40CD-935F-E03FE7F99665}" type="presOf" srcId="{72180D29-FC92-4D79-98A5-F83C86589122}" destId="{410FD8D7-95C5-4115-92D3-055AA4A167A5}" srcOrd="0" destOrd="0" presId="urn:microsoft.com/office/officeart/2005/8/layout/vList3"/>
    <dgm:cxn modelId="{A3830D40-27DB-4C10-96FD-9B99C7A1321E}" type="presParOf" srcId="{410FD8D7-95C5-4115-92D3-055AA4A167A5}" destId="{3BE3CE9D-A11F-4FBA-A66A-B90738498344}" srcOrd="0" destOrd="0" presId="urn:microsoft.com/office/officeart/2005/8/layout/vList3"/>
    <dgm:cxn modelId="{2762238E-88B0-4251-A644-6D91ED121572}" type="presParOf" srcId="{3BE3CE9D-A11F-4FBA-A66A-B90738498344}" destId="{68DADEEF-24EA-427D-A91F-224992DCBD08}" srcOrd="0" destOrd="0" presId="urn:microsoft.com/office/officeart/2005/8/layout/vList3"/>
    <dgm:cxn modelId="{40FE8923-2CC4-4B11-9508-73770CBA2F51}" type="presParOf" srcId="{3BE3CE9D-A11F-4FBA-A66A-B90738498344}" destId="{FAE0146D-1B4D-40A9-BF32-9ACB0B95842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2180D29-FC92-4D79-98A5-F83C86589122}" type="doc">
      <dgm:prSet loTypeId="urn:microsoft.com/office/officeart/2005/8/layout/vList3" loCatId="list" qsTypeId="urn:microsoft.com/office/officeart/2005/8/quickstyle/simple1" qsCatId="simple" csTypeId="urn:microsoft.com/office/officeart/2005/8/colors/colorful2" csCatId="colorful" phldr="1"/>
      <dgm:spPr/>
      <dgm:t>
        <a:bodyPr/>
        <a:lstStyle/>
        <a:p>
          <a:endParaRPr lang="en-GB"/>
        </a:p>
      </dgm:t>
    </dgm:pt>
    <dgm:pt modelId="{0DEB959F-A7C9-4F8C-9672-A782A141F10D}">
      <dgm:prSet phldrT="[Text]"/>
      <dgm:spPr/>
      <dgm:t>
        <a:bodyPr/>
        <a:lstStyle/>
        <a:p>
          <a:r>
            <a:rPr lang="en-GB" dirty="0"/>
            <a:t>This type of transmission occurs when using parallel printer cables. A file is sent to the printer, and the printer can respond with error codes such as “Ink low”. However, the printer needs to wait until the computer has finished sending the file.</a:t>
          </a:r>
        </a:p>
      </dgm:t>
    </dgm:pt>
    <dgm:pt modelId="{9C408922-496B-4502-B150-25C9663989D4}" type="parTrans" cxnId="{DA311B98-4072-48CC-A837-3CE82B57C1FB}">
      <dgm:prSet/>
      <dgm:spPr/>
      <dgm:t>
        <a:bodyPr/>
        <a:lstStyle/>
        <a:p>
          <a:endParaRPr lang="en-GB"/>
        </a:p>
      </dgm:t>
    </dgm:pt>
    <dgm:pt modelId="{A34396C5-2B07-4E9F-92E1-3CBD1A3E574C}" type="sibTrans" cxnId="{DA311B98-4072-48CC-A837-3CE82B57C1FB}">
      <dgm:prSet/>
      <dgm:spPr/>
      <dgm:t>
        <a:bodyPr/>
        <a:lstStyle/>
        <a:p>
          <a:endParaRPr lang="en-GB"/>
        </a:p>
      </dgm:t>
    </dgm:pt>
    <dgm:pt modelId="{410FD8D7-95C5-4115-92D3-055AA4A167A5}" type="pres">
      <dgm:prSet presAssocID="{72180D29-FC92-4D79-98A5-F83C86589122}" presName="linearFlow" presStyleCnt="0">
        <dgm:presLayoutVars>
          <dgm:dir/>
          <dgm:resizeHandles val="exact"/>
        </dgm:presLayoutVars>
      </dgm:prSet>
      <dgm:spPr/>
    </dgm:pt>
    <dgm:pt modelId="{3BE3CE9D-A11F-4FBA-A66A-B90738498344}" type="pres">
      <dgm:prSet presAssocID="{0DEB959F-A7C9-4F8C-9672-A782A141F10D}" presName="composite" presStyleCnt="0"/>
      <dgm:spPr/>
    </dgm:pt>
    <dgm:pt modelId="{68DADEEF-24EA-427D-A91F-224992DCBD08}" type="pres">
      <dgm:prSet presAssocID="{0DEB959F-A7C9-4F8C-9672-A782A141F10D}" presName="imgShp" presStyleLbl="fgImgPlace1" presStyleIdx="0" presStyleCnt="1" custLinFactX="-13445" custLinFactNeighborX="-100000"/>
      <dgm:spPr>
        <a:solidFill>
          <a:schemeClr val="accent4"/>
        </a:solidFill>
      </dgm:spPr>
    </dgm:pt>
    <dgm:pt modelId="{FAE0146D-1B4D-40A9-BF32-9ACB0B958424}" type="pres">
      <dgm:prSet presAssocID="{0DEB959F-A7C9-4F8C-9672-A782A141F10D}" presName="txShp" presStyleLbl="node1" presStyleIdx="0" presStyleCnt="1" custScaleX="129626">
        <dgm:presLayoutVars>
          <dgm:bulletEnabled val="1"/>
        </dgm:presLayoutVars>
      </dgm:prSet>
      <dgm:spPr/>
    </dgm:pt>
  </dgm:ptLst>
  <dgm:cxnLst>
    <dgm:cxn modelId="{C7AD058C-FE30-4E5A-A6B3-23E6EFAF3314}" type="presOf" srcId="{0DEB959F-A7C9-4F8C-9672-A782A141F10D}" destId="{FAE0146D-1B4D-40A9-BF32-9ACB0B958424}" srcOrd="0" destOrd="0" presId="urn:microsoft.com/office/officeart/2005/8/layout/vList3"/>
    <dgm:cxn modelId="{DA311B98-4072-48CC-A837-3CE82B57C1FB}" srcId="{72180D29-FC92-4D79-98A5-F83C86589122}" destId="{0DEB959F-A7C9-4F8C-9672-A782A141F10D}" srcOrd="0" destOrd="0" parTransId="{9C408922-496B-4502-B150-25C9663989D4}" sibTransId="{A34396C5-2B07-4E9F-92E1-3CBD1A3E574C}"/>
    <dgm:cxn modelId="{7DC609A3-D0AF-40CD-935F-E03FE7F99665}" type="presOf" srcId="{72180D29-FC92-4D79-98A5-F83C86589122}" destId="{410FD8D7-95C5-4115-92D3-055AA4A167A5}" srcOrd="0" destOrd="0" presId="urn:microsoft.com/office/officeart/2005/8/layout/vList3"/>
    <dgm:cxn modelId="{A3830D40-27DB-4C10-96FD-9B99C7A1321E}" type="presParOf" srcId="{410FD8D7-95C5-4115-92D3-055AA4A167A5}" destId="{3BE3CE9D-A11F-4FBA-A66A-B90738498344}" srcOrd="0" destOrd="0" presId="urn:microsoft.com/office/officeart/2005/8/layout/vList3"/>
    <dgm:cxn modelId="{2762238E-88B0-4251-A644-6D91ED121572}" type="presParOf" srcId="{3BE3CE9D-A11F-4FBA-A66A-B90738498344}" destId="{68DADEEF-24EA-427D-A91F-224992DCBD08}" srcOrd="0" destOrd="0" presId="urn:microsoft.com/office/officeart/2005/8/layout/vList3"/>
    <dgm:cxn modelId="{40FE8923-2CC4-4B11-9508-73770CBA2F51}" type="presParOf" srcId="{3BE3CE9D-A11F-4FBA-A66A-B90738498344}" destId="{FAE0146D-1B4D-40A9-BF32-9ACB0B958424}" srcOrd="1" destOrd="0" presId="urn:microsoft.com/office/officeart/2005/8/layout/vList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2180D29-FC92-4D79-98A5-F83C86589122}" type="doc">
      <dgm:prSet loTypeId="urn:microsoft.com/office/officeart/2005/8/layout/vList3" loCatId="list" qsTypeId="urn:microsoft.com/office/officeart/2005/8/quickstyle/simple1" qsCatId="simple" csTypeId="urn:microsoft.com/office/officeart/2005/8/colors/colorful2" csCatId="colorful" phldr="1"/>
      <dgm:spPr/>
      <dgm:t>
        <a:bodyPr/>
        <a:lstStyle/>
        <a:p>
          <a:endParaRPr lang="en-GB"/>
        </a:p>
      </dgm:t>
    </dgm:pt>
    <dgm:pt modelId="{0DEB959F-A7C9-4F8C-9672-A782A141F10D}">
      <dgm:prSet phldrT="[Text]"/>
      <dgm:spPr/>
      <dgm:t>
        <a:bodyPr/>
        <a:lstStyle/>
        <a:p>
          <a:r>
            <a:rPr lang="en-GB" dirty="0"/>
            <a:t>This is the most common form of data transmission and is typically used in network cables, both within LANS and across the internet. With these cables, data can be sent and received at the same time.</a:t>
          </a:r>
        </a:p>
      </dgm:t>
    </dgm:pt>
    <dgm:pt modelId="{9C408922-496B-4502-B150-25C9663989D4}" type="parTrans" cxnId="{DA311B98-4072-48CC-A837-3CE82B57C1FB}">
      <dgm:prSet/>
      <dgm:spPr/>
      <dgm:t>
        <a:bodyPr/>
        <a:lstStyle/>
        <a:p>
          <a:endParaRPr lang="en-GB"/>
        </a:p>
      </dgm:t>
    </dgm:pt>
    <dgm:pt modelId="{A34396C5-2B07-4E9F-92E1-3CBD1A3E574C}" type="sibTrans" cxnId="{DA311B98-4072-48CC-A837-3CE82B57C1FB}">
      <dgm:prSet/>
      <dgm:spPr/>
      <dgm:t>
        <a:bodyPr/>
        <a:lstStyle/>
        <a:p>
          <a:endParaRPr lang="en-GB"/>
        </a:p>
      </dgm:t>
    </dgm:pt>
    <dgm:pt modelId="{410FD8D7-95C5-4115-92D3-055AA4A167A5}" type="pres">
      <dgm:prSet presAssocID="{72180D29-FC92-4D79-98A5-F83C86589122}" presName="linearFlow" presStyleCnt="0">
        <dgm:presLayoutVars>
          <dgm:dir/>
          <dgm:resizeHandles val="exact"/>
        </dgm:presLayoutVars>
      </dgm:prSet>
      <dgm:spPr/>
    </dgm:pt>
    <dgm:pt modelId="{3BE3CE9D-A11F-4FBA-A66A-B90738498344}" type="pres">
      <dgm:prSet presAssocID="{0DEB959F-A7C9-4F8C-9672-A782A141F10D}" presName="composite" presStyleCnt="0"/>
      <dgm:spPr/>
    </dgm:pt>
    <dgm:pt modelId="{68DADEEF-24EA-427D-A91F-224992DCBD08}" type="pres">
      <dgm:prSet presAssocID="{0DEB959F-A7C9-4F8C-9672-A782A141F10D}" presName="imgShp" presStyleLbl="fgImgPlace1" presStyleIdx="0" presStyleCnt="1" custLinFactX="-13445" custLinFactNeighborX="-100000"/>
      <dgm:spPr>
        <a:solidFill>
          <a:schemeClr val="accent4"/>
        </a:solidFill>
      </dgm:spPr>
    </dgm:pt>
    <dgm:pt modelId="{FAE0146D-1B4D-40A9-BF32-9ACB0B958424}" type="pres">
      <dgm:prSet presAssocID="{0DEB959F-A7C9-4F8C-9672-A782A141F10D}" presName="txShp" presStyleLbl="node1" presStyleIdx="0" presStyleCnt="1" custScaleX="129626">
        <dgm:presLayoutVars>
          <dgm:bulletEnabled val="1"/>
        </dgm:presLayoutVars>
      </dgm:prSet>
      <dgm:spPr/>
    </dgm:pt>
  </dgm:ptLst>
  <dgm:cxnLst>
    <dgm:cxn modelId="{C7AD058C-FE30-4E5A-A6B3-23E6EFAF3314}" type="presOf" srcId="{0DEB959F-A7C9-4F8C-9672-A782A141F10D}" destId="{FAE0146D-1B4D-40A9-BF32-9ACB0B958424}" srcOrd="0" destOrd="0" presId="urn:microsoft.com/office/officeart/2005/8/layout/vList3"/>
    <dgm:cxn modelId="{DA311B98-4072-48CC-A837-3CE82B57C1FB}" srcId="{72180D29-FC92-4D79-98A5-F83C86589122}" destId="{0DEB959F-A7C9-4F8C-9672-A782A141F10D}" srcOrd="0" destOrd="0" parTransId="{9C408922-496B-4502-B150-25C9663989D4}" sibTransId="{A34396C5-2B07-4E9F-92E1-3CBD1A3E574C}"/>
    <dgm:cxn modelId="{7DC609A3-D0AF-40CD-935F-E03FE7F99665}" type="presOf" srcId="{72180D29-FC92-4D79-98A5-F83C86589122}" destId="{410FD8D7-95C5-4115-92D3-055AA4A167A5}" srcOrd="0" destOrd="0" presId="urn:microsoft.com/office/officeart/2005/8/layout/vList3"/>
    <dgm:cxn modelId="{A3830D40-27DB-4C10-96FD-9B99C7A1321E}" type="presParOf" srcId="{410FD8D7-95C5-4115-92D3-055AA4A167A5}" destId="{3BE3CE9D-A11F-4FBA-A66A-B90738498344}" srcOrd="0" destOrd="0" presId="urn:microsoft.com/office/officeart/2005/8/layout/vList3"/>
    <dgm:cxn modelId="{2762238E-88B0-4251-A644-6D91ED121572}" type="presParOf" srcId="{3BE3CE9D-A11F-4FBA-A66A-B90738498344}" destId="{68DADEEF-24EA-427D-A91F-224992DCBD08}" srcOrd="0" destOrd="0" presId="urn:microsoft.com/office/officeart/2005/8/layout/vList3"/>
    <dgm:cxn modelId="{40FE8923-2CC4-4B11-9508-73770CBA2F51}" type="presParOf" srcId="{3BE3CE9D-A11F-4FBA-A66A-B90738498344}" destId="{FAE0146D-1B4D-40A9-BF32-9ACB0B95842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7543C07-7D12-4591-8279-1195C8D1D271}" type="doc">
      <dgm:prSet loTypeId="urn:microsoft.com/office/officeart/2008/layout/PictureAccentList" loCatId="picture" qsTypeId="urn:microsoft.com/office/officeart/2005/8/quickstyle/simple1" qsCatId="simple" csTypeId="urn:microsoft.com/office/officeart/2005/8/colors/colorful3" csCatId="colorful" phldr="1"/>
      <dgm:spPr/>
      <dgm:t>
        <a:bodyPr/>
        <a:lstStyle/>
        <a:p>
          <a:endParaRPr lang="en-GB"/>
        </a:p>
      </dgm:t>
    </dgm:pt>
    <dgm:pt modelId="{8D7C4939-9E44-4BB7-8B77-42D7EE557A0A}">
      <dgm:prSet phldrT="[Text]"/>
      <dgm:spPr/>
      <dgm:t>
        <a:bodyPr/>
        <a:lstStyle/>
        <a:p>
          <a:r>
            <a:rPr lang="en-GB" dirty="0"/>
            <a:t>Serial transmission</a:t>
          </a:r>
        </a:p>
      </dgm:t>
    </dgm:pt>
    <dgm:pt modelId="{85C64A1E-CE1F-443A-A668-C8F377304851}" type="parTrans" cxnId="{666285F2-767B-4E18-9BEB-7C8B514A331D}">
      <dgm:prSet/>
      <dgm:spPr/>
      <dgm:t>
        <a:bodyPr/>
        <a:lstStyle/>
        <a:p>
          <a:endParaRPr lang="en-GB"/>
        </a:p>
      </dgm:t>
    </dgm:pt>
    <dgm:pt modelId="{366EF046-A89D-4B3B-8B5B-4BE632BB55DA}" type="sibTrans" cxnId="{666285F2-767B-4E18-9BEB-7C8B514A331D}">
      <dgm:prSet/>
      <dgm:spPr/>
      <dgm:t>
        <a:bodyPr/>
        <a:lstStyle/>
        <a:p>
          <a:endParaRPr lang="en-GB"/>
        </a:p>
      </dgm:t>
    </dgm:pt>
    <dgm:pt modelId="{1334A142-0CAB-42AC-8F13-B86FBA66250C}">
      <dgm:prSet phldrT="[Text]"/>
      <dgm:spPr/>
      <dgm:t>
        <a:bodyPr/>
        <a:lstStyle/>
        <a:p>
          <a:pPr algn="l">
            <a:buFont typeface="Arial" panose="020B0604020202020204" pitchFamily="34" charset="0"/>
            <a:buChar char="•"/>
          </a:pPr>
          <a:r>
            <a:rPr lang="en-GB" dirty="0"/>
            <a:t>Minimal interference</a:t>
          </a:r>
        </a:p>
        <a:p>
          <a:pPr algn="l">
            <a:buFont typeface="Arial" panose="020B0604020202020204" pitchFamily="34" charset="0"/>
            <a:buChar char="•"/>
          </a:pPr>
          <a:r>
            <a:rPr lang="en-GB" dirty="0"/>
            <a:t>Simple and low-cost</a:t>
          </a:r>
        </a:p>
        <a:p>
          <a:pPr algn="l">
            <a:buFont typeface="Arial" panose="020B0604020202020204" pitchFamily="34" charset="0"/>
            <a:buChar char="•"/>
          </a:pPr>
          <a:r>
            <a:rPr lang="en-GB" dirty="0"/>
            <a:t>Better reliability over longer distances</a:t>
          </a:r>
        </a:p>
      </dgm:t>
    </dgm:pt>
    <dgm:pt modelId="{E270A15D-156D-4EE1-8042-CC8FF35D0311}" type="parTrans" cxnId="{B52827C7-EA0E-4901-92B0-8C2F85DF4D67}">
      <dgm:prSet/>
      <dgm:spPr/>
      <dgm:t>
        <a:bodyPr/>
        <a:lstStyle/>
        <a:p>
          <a:endParaRPr lang="en-GB"/>
        </a:p>
      </dgm:t>
    </dgm:pt>
    <dgm:pt modelId="{D9FF99A5-77CF-410D-9B01-3B9922279023}" type="sibTrans" cxnId="{B52827C7-EA0E-4901-92B0-8C2F85DF4D67}">
      <dgm:prSet/>
      <dgm:spPr/>
      <dgm:t>
        <a:bodyPr/>
        <a:lstStyle/>
        <a:p>
          <a:endParaRPr lang="en-GB"/>
        </a:p>
      </dgm:t>
    </dgm:pt>
    <dgm:pt modelId="{D6C9C280-DD67-41D0-817A-BCFCF87B77DB}">
      <dgm:prSet phldrT="[Text]"/>
      <dgm:spPr/>
      <dgm:t>
        <a:bodyPr/>
        <a:lstStyle/>
        <a:p>
          <a:pPr algn="l"/>
          <a:r>
            <a:rPr lang="en-GB" dirty="0"/>
            <a:t>Lower transmission speeds</a:t>
          </a:r>
        </a:p>
      </dgm:t>
    </dgm:pt>
    <dgm:pt modelId="{ACF4A963-9B9D-42D4-A34F-DA1CFA104CA7}" type="parTrans" cxnId="{F69C267A-D0D1-4E05-AEE2-0DCA154F1285}">
      <dgm:prSet/>
      <dgm:spPr/>
      <dgm:t>
        <a:bodyPr/>
        <a:lstStyle/>
        <a:p>
          <a:endParaRPr lang="en-GB"/>
        </a:p>
      </dgm:t>
    </dgm:pt>
    <dgm:pt modelId="{9871E8B5-9F3C-4739-8F87-D1438034722E}" type="sibTrans" cxnId="{F69C267A-D0D1-4E05-AEE2-0DCA154F1285}">
      <dgm:prSet/>
      <dgm:spPr/>
      <dgm:t>
        <a:bodyPr/>
        <a:lstStyle/>
        <a:p>
          <a:endParaRPr lang="en-GB"/>
        </a:p>
      </dgm:t>
    </dgm:pt>
    <dgm:pt modelId="{EEBC5012-4C9C-429E-996B-A2C56104BDC8}">
      <dgm:prSet phldrT="[Text]"/>
      <dgm:spPr/>
      <dgm:t>
        <a:bodyPr/>
        <a:lstStyle/>
        <a:p>
          <a:pPr algn="l">
            <a:buFont typeface="Arial" panose="020B0604020202020204" pitchFamily="34" charset="0"/>
            <a:buNone/>
          </a:pPr>
          <a:r>
            <a:rPr lang="en-GB" dirty="0"/>
            <a:t>Commonly used with the USB (Universal Serial Bus) interface</a:t>
          </a:r>
        </a:p>
      </dgm:t>
    </dgm:pt>
    <dgm:pt modelId="{8B335E9F-3CEF-4720-946D-02D5ACFCADBE}" type="parTrans" cxnId="{8CCB9FED-0754-4C80-8FE7-ACFF45E02573}">
      <dgm:prSet/>
      <dgm:spPr/>
      <dgm:t>
        <a:bodyPr/>
        <a:lstStyle/>
        <a:p>
          <a:endParaRPr lang="en-GB"/>
        </a:p>
      </dgm:t>
    </dgm:pt>
    <dgm:pt modelId="{D74DDA75-4E0E-4656-8941-271096844A9B}" type="sibTrans" cxnId="{8CCB9FED-0754-4C80-8FE7-ACFF45E02573}">
      <dgm:prSet/>
      <dgm:spPr/>
      <dgm:t>
        <a:bodyPr/>
        <a:lstStyle/>
        <a:p>
          <a:endParaRPr lang="en-GB"/>
        </a:p>
      </dgm:t>
    </dgm:pt>
    <dgm:pt modelId="{E5327BA4-077D-492D-883A-6807E1CC7097}" type="pres">
      <dgm:prSet presAssocID="{C7543C07-7D12-4591-8279-1195C8D1D271}" presName="layout" presStyleCnt="0">
        <dgm:presLayoutVars>
          <dgm:chMax/>
          <dgm:chPref/>
          <dgm:dir/>
          <dgm:animOne val="branch"/>
          <dgm:animLvl val="lvl"/>
          <dgm:resizeHandles/>
        </dgm:presLayoutVars>
      </dgm:prSet>
      <dgm:spPr/>
    </dgm:pt>
    <dgm:pt modelId="{4F228207-1BFB-48C5-B1D2-BCD143484309}" type="pres">
      <dgm:prSet presAssocID="{8D7C4939-9E44-4BB7-8B77-42D7EE557A0A}" presName="root" presStyleCnt="0">
        <dgm:presLayoutVars>
          <dgm:chMax/>
          <dgm:chPref val="4"/>
        </dgm:presLayoutVars>
      </dgm:prSet>
      <dgm:spPr/>
    </dgm:pt>
    <dgm:pt modelId="{60ADF8A0-D97A-43D6-8B53-46CA53F0773E}" type="pres">
      <dgm:prSet presAssocID="{8D7C4939-9E44-4BB7-8B77-42D7EE557A0A}" presName="rootComposite" presStyleCnt="0">
        <dgm:presLayoutVars/>
      </dgm:prSet>
      <dgm:spPr/>
    </dgm:pt>
    <dgm:pt modelId="{BF17753E-976F-4875-B68F-A88902BF95F9}" type="pres">
      <dgm:prSet presAssocID="{8D7C4939-9E44-4BB7-8B77-42D7EE557A0A}" presName="rootText" presStyleLbl="node0" presStyleIdx="0" presStyleCnt="1" custScaleY="52156">
        <dgm:presLayoutVars>
          <dgm:chMax/>
          <dgm:chPref val="4"/>
        </dgm:presLayoutVars>
      </dgm:prSet>
      <dgm:spPr/>
    </dgm:pt>
    <dgm:pt modelId="{300577EE-534A-448D-9357-3DE46BEA17A6}" type="pres">
      <dgm:prSet presAssocID="{8D7C4939-9E44-4BB7-8B77-42D7EE557A0A}" presName="childShape" presStyleCnt="0">
        <dgm:presLayoutVars>
          <dgm:chMax val="0"/>
          <dgm:chPref val="0"/>
        </dgm:presLayoutVars>
      </dgm:prSet>
      <dgm:spPr/>
    </dgm:pt>
    <dgm:pt modelId="{3E8C5F70-98FB-439C-83C8-C00D90EA7F40}" type="pres">
      <dgm:prSet presAssocID="{EEBC5012-4C9C-429E-996B-A2C56104BDC8}" presName="childComposite" presStyleCnt="0">
        <dgm:presLayoutVars>
          <dgm:chMax val="0"/>
          <dgm:chPref val="0"/>
        </dgm:presLayoutVars>
      </dgm:prSet>
      <dgm:spPr/>
    </dgm:pt>
    <dgm:pt modelId="{F71AC21D-11E4-4A04-865E-F0F05CD4982C}" type="pres">
      <dgm:prSet presAssocID="{EEBC5012-4C9C-429E-996B-A2C56104BDC8}" presName="Imag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a:solidFill>
            <a:srgbClr val="A5A5A5"/>
          </a:solidFill>
        </a:ln>
      </dgm:spPr>
    </dgm:pt>
    <dgm:pt modelId="{76EB408B-BAFA-4624-863C-593CBA9ECA34}" type="pres">
      <dgm:prSet presAssocID="{EEBC5012-4C9C-429E-996B-A2C56104BDC8}" presName="childText" presStyleLbl="lnNode1" presStyleIdx="0" presStyleCnt="3">
        <dgm:presLayoutVars>
          <dgm:chMax val="0"/>
          <dgm:chPref val="0"/>
          <dgm:bulletEnabled val="1"/>
        </dgm:presLayoutVars>
      </dgm:prSet>
      <dgm:spPr/>
    </dgm:pt>
    <dgm:pt modelId="{0ABEBC4C-7D86-4E9D-A2F8-3DBDD0A557B8}" type="pres">
      <dgm:prSet presAssocID="{1334A142-0CAB-42AC-8F13-B86FBA66250C}" presName="childComposite" presStyleCnt="0">
        <dgm:presLayoutVars>
          <dgm:chMax val="0"/>
          <dgm:chPref val="0"/>
        </dgm:presLayoutVars>
      </dgm:prSet>
      <dgm:spPr/>
    </dgm:pt>
    <dgm:pt modelId="{3BE5D449-C0DC-42FD-A8FC-3CD190E0B101}" type="pres">
      <dgm:prSet presAssocID="{1334A142-0CAB-42AC-8F13-B86FBA66250C}" presName="Image" presStyleLbl="node1" presStyleIdx="1" presStyleCnt="3"/>
      <dgm:spPr>
        <a:noFill/>
        <a:ln>
          <a:solidFill>
            <a:srgbClr val="A5A5A5"/>
          </a:solidFill>
        </a:ln>
      </dgm:spPr>
    </dgm:pt>
    <dgm:pt modelId="{EEC15EFF-1720-423C-8103-52685EA016B5}" type="pres">
      <dgm:prSet presAssocID="{1334A142-0CAB-42AC-8F13-B86FBA66250C}" presName="childText" presStyleLbl="lnNode1" presStyleIdx="1" presStyleCnt="3">
        <dgm:presLayoutVars>
          <dgm:chMax val="0"/>
          <dgm:chPref val="0"/>
          <dgm:bulletEnabled val="1"/>
        </dgm:presLayoutVars>
      </dgm:prSet>
      <dgm:spPr/>
    </dgm:pt>
    <dgm:pt modelId="{61A0D6AD-4764-4F63-A98C-C6FC2FA8A377}" type="pres">
      <dgm:prSet presAssocID="{D6C9C280-DD67-41D0-817A-BCFCF87B77DB}" presName="childComposite" presStyleCnt="0">
        <dgm:presLayoutVars>
          <dgm:chMax val="0"/>
          <dgm:chPref val="0"/>
        </dgm:presLayoutVars>
      </dgm:prSet>
      <dgm:spPr/>
    </dgm:pt>
    <dgm:pt modelId="{99598B6A-F93B-4727-9569-685C0D96C07C}" type="pres">
      <dgm:prSet presAssocID="{D6C9C280-DD67-41D0-817A-BCFCF87B77DB}" presName="Image" presStyleLbl="node1" presStyleIdx="2" presStyleCnt="3"/>
      <dgm:spPr>
        <a:noFill/>
        <a:ln>
          <a:solidFill>
            <a:srgbClr val="B43500"/>
          </a:solidFill>
        </a:ln>
      </dgm:spPr>
    </dgm:pt>
    <dgm:pt modelId="{16978CED-5E46-4994-955C-A191AE1285A5}" type="pres">
      <dgm:prSet presAssocID="{D6C9C280-DD67-41D0-817A-BCFCF87B77DB}" presName="childText" presStyleLbl="lnNode1" presStyleIdx="2" presStyleCnt="3">
        <dgm:presLayoutVars>
          <dgm:chMax val="0"/>
          <dgm:chPref val="0"/>
          <dgm:bulletEnabled val="1"/>
        </dgm:presLayoutVars>
      </dgm:prSet>
      <dgm:spPr/>
    </dgm:pt>
  </dgm:ptLst>
  <dgm:cxnLst>
    <dgm:cxn modelId="{F23B4802-6E40-4698-A28F-A9504B3849F6}" type="presOf" srcId="{C7543C07-7D12-4591-8279-1195C8D1D271}" destId="{E5327BA4-077D-492D-883A-6807E1CC7097}" srcOrd="0" destOrd="0" presId="urn:microsoft.com/office/officeart/2008/layout/PictureAccentList"/>
    <dgm:cxn modelId="{5D4BAE30-CF0E-4112-8A9D-241107CC5861}" type="presOf" srcId="{EEBC5012-4C9C-429E-996B-A2C56104BDC8}" destId="{76EB408B-BAFA-4624-863C-593CBA9ECA34}" srcOrd="0" destOrd="0" presId="urn:microsoft.com/office/officeart/2008/layout/PictureAccentList"/>
    <dgm:cxn modelId="{F69C267A-D0D1-4E05-AEE2-0DCA154F1285}" srcId="{8D7C4939-9E44-4BB7-8B77-42D7EE557A0A}" destId="{D6C9C280-DD67-41D0-817A-BCFCF87B77DB}" srcOrd="2" destOrd="0" parTransId="{ACF4A963-9B9D-42D4-A34F-DA1CFA104CA7}" sibTransId="{9871E8B5-9F3C-4739-8F87-D1438034722E}"/>
    <dgm:cxn modelId="{B52827C7-EA0E-4901-92B0-8C2F85DF4D67}" srcId="{8D7C4939-9E44-4BB7-8B77-42D7EE557A0A}" destId="{1334A142-0CAB-42AC-8F13-B86FBA66250C}" srcOrd="1" destOrd="0" parTransId="{E270A15D-156D-4EE1-8042-CC8FF35D0311}" sibTransId="{D9FF99A5-77CF-410D-9B01-3B9922279023}"/>
    <dgm:cxn modelId="{BE7610CC-E093-45A8-A643-A7501CE6AF4A}" type="presOf" srcId="{8D7C4939-9E44-4BB7-8B77-42D7EE557A0A}" destId="{BF17753E-976F-4875-B68F-A88902BF95F9}" srcOrd="0" destOrd="0" presId="urn:microsoft.com/office/officeart/2008/layout/PictureAccentList"/>
    <dgm:cxn modelId="{2576F1DF-0811-4AE2-83AC-689FCACE9113}" type="presOf" srcId="{1334A142-0CAB-42AC-8F13-B86FBA66250C}" destId="{EEC15EFF-1720-423C-8103-52685EA016B5}" srcOrd="0" destOrd="0" presId="urn:microsoft.com/office/officeart/2008/layout/PictureAccentList"/>
    <dgm:cxn modelId="{457C6EE5-0413-4587-9CCE-61594CD78164}" type="presOf" srcId="{D6C9C280-DD67-41D0-817A-BCFCF87B77DB}" destId="{16978CED-5E46-4994-955C-A191AE1285A5}" srcOrd="0" destOrd="0" presId="urn:microsoft.com/office/officeart/2008/layout/PictureAccentList"/>
    <dgm:cxn modelId="{8CCB9FED-0754-4C80-8FE7-ACFF45E02573}" srcId="{8D7C4939-9E44-4BB7-8B77-42D7EE557A0A}" destId="{EEBC5012-4C9C-429E-996B-A2C56104BDC8}" srcOrd="0" destOrd="0" parTransId="{8B335E9F-3CEF-4720-946D-02D5ACFCADBE}" sibTransId="{D74DDA75-4E0E-4656-8941-271096844A9B}"/>
    <dgm:cxn modelId="{666285F2-767B-4E18-9BEB-7C8B514A331D}" srcId="{C7543C07-7D12-4591-8279-1195C8D1D271}" destId="{8D7C4939-9E44-4BB7-8B77-42D7EE557A0A}" srcOrd="0" destOrd="0" parTransId="{85C64A1E-CE1F-443A-A668-C8F377304851}" sibTransId="{366EF046-A89D-4B3B-8B5B-4BE632BB55DA}"/>
    <dgm:cxn modelId="{B8351A4C-7AC7-49EA-8E5E-59348841C8AF}" type="presParOf" srcId="{E5327BA4-077D-492D-883A-6807E1CC7097}" destId="{4F228207-1BFB-48C5-B1D2-BCD143484309}" srcOrd="0" destOrd="0" presId="urn:microsoft.com/office/officeart/2008/layout/PictureAccentList"/>
    <dgm:cxn modelId="{BDE7AC31-B95C-4A98-928C-BAC6F36416C9}" type="presParOf" srcId="{4F228207-1BFB-48C5-B1D2-BCD143484309}" destId="{60ADF8A0-D97A-43D6-8B53-46CA53F0773E}" srcOrd="0" destOrd="0" presId="urn:microsoft.com/office/officeart/2008/layout/PictureAccentList"/>
    <dgm:cxn modelId="{719B6AB3-36F0-4868-988B-491BB6168D60}" type="presParOf" srcId="{60ADF8A0-D97A-43D6-8B53-46CA53F0773E}" destId="{BF17753E-976F-4875-B68F-A88902BF95F9}" srcOrd="0" destOrd="0" presId="urn:microsoft.com/office/officeart/2008/layout/PictureAccentList"/>
    <dgm:cxn modelId="{29D8956D-BD6A-487D-B379-AB740D2016F6}" type="presParOf" srcId="{4F228207-1BFB-48C5-B1D2-BCD143484309}" destId="{300577EE-534A-448D-9357-3DE46BEA17A6}" srcOrd="1" destOrd="0" presId="urn:microsoft.com/office/officeart/2008/layout/PictureAccentList"/>
    <dgm:cxn modelId="{87591B3B-7540-411F-B1D1-2018BBB13429}" type="presParOf" srcId="{300577EE-534A-448D-9357-3DE46BEA17A6}" destId="{3E8C5F70-98FB-439C-83C8-C00D90EA7F40}" srcOrd="0" destOrd="0" presId="urn:microsoft.com/office/officeart/2008/layout/PictureAccentList"/>
    <dgm:cxn modelId="{F3957340-2430-446C-86A3-E1716FB30D51}" type="presParOf" srcId="{3E8C5F70-98FB-439C-83C8-C00D90EA7F40}" destId="{F71AC21D-11E4-4A04-865E-F0F05CD4982C}" srcOrd="0" destOrd="0" presId="urn:microsoft.com/office/officeart/2008/layout/PictureAccentList"/>
    <dgm:cxn modelId="{A7D68E52-A042-4788-A8C9-5047720595B1}" type="presParOf" srcId="{3E8C5F70-98FB-439C-83C8-C00D90EA7F40}" destId="{76EB408B-BAFA-4624-863C-593CBA9ECA34}" srcOrd="1" destOrd="0" presId="urn:microsoft.com/office/officeart/2008/layout/PictureAccentList"/>
    <dgm:cxn modelId="{418E5710-A0E4-4AEC-AE5C-20076233A7AB}" type="presParOf" srcId="{300577EE-534A-448D-9357-3DE46BEA17A6}" destId="{0ABEBC4C-7D86-4E9D-A2F8-3DBDD0A557B8}" srcOrd="1" destOrd="0" presId="urn:microsoft.com/office/officeart/2008/layout/PictureAccentList"/>
    <dgm:cxn modelId="{9DA72C57-A606-4960-8241-311A4CBDFE76}" type="presParOf" srcId="{0ABEBC4C-7D86-4E9D-A2F8-3DBDD0A557B8}" destId="{3BE5D449-C0DC-42FD-A8FC-3CD190E0B101}" srcOrd="0" destOrd="0" presId="urn:microsoft.com/office/officeart/2008/layout/PictureAccentList"/>
    <dgm:cxn modelId="{DBF36B16-77FB-4906-B8D0-44181C3C9CE6}" type="presParOf" srcId="{0ABEBC4C-7D86-4E9D-A2F8-3DBDD0A557B8}" destId="{EEC15EFF-1720-423C-8103-52685EA016B5}" srcOrd="1" destOrd="0" presId="urn:microsoft.com/office/officeart/2008/layout/PictureAccentList"/>
    <dgm:cxn modelId="{D68A2FE6-5B4D-4460-AFB4-F6A309FEAFF2}" type="presParOf" srcId="{300577EE-534A-448D-9357-3DE46BEA17A6}" destId="{61A0D6AD-4764-4F63-A98C-C6FC2FA8A377}" srcOrd="2" destOrd="0" presId="urn:microsoft.com/office/officeart/2008/layout/PictureAccentList"/>
    <dgm:cxn modelId="{D97306BC-2089-4CEE-90FD-4502F6A8BF76}" type="presParOf" srcId="{61A0D6AD-4764-4F63-A98C-C6FC2FA8A377}" destId="{99598B6A-F93B-4727-9569-685C0D96C07C}" srcOrd="0" destOrd="0" presId="urn:microsoft.com/office/officeart/2008/layout/PictureAccentList"/>
    <dgm:cxn modelId="{4753162F-2586-4B29-88E6-652E8BDF5ADB}" type="presParOf" srcId="{61A0D6AD-4764-4F63-A98C-C6FC2FA8A377}" destId="{16978CED-5E46-4994-955C-A191AE1285A5}" srcOrd="1" destOrd="0" presId="urn:microsoft.com/office/officeart/2008/layout/PictureAccen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7543C07-7D12-4591-8279-1195C8D1D271}" type="doc">
      <dgm:prSet loTypeId="urn:microsoft.com/office/officeart/2008/layout/PictureAccentList" loCatId="picture" qsTypeId="urn:microsoft.com/office/officeart/2005/8/quickstyle/simple1" qsCatId="simple" csTypeId="urn:microsoft.com/office/officeart/2005/8/colors/colorful3" csCatId="colorful" phldr="1"/>
      <dgm:spPr/>
      <dgm:t>
        <a:bodyPr/>
        <a:lstStyle/>
        <a:p>
          <a:endParaRPr lang="en-GB"/>
        </a:p>
      </dgm:t>
    </dgm:pt>
    <dgm:pt modelId="{8D7C4939-9E44-4BB7-8B77-42D7EE557A0A}">
      <dgm:prSet phldrT="[Text]"/>
      <dgm:spPr/>
      <dgm:t>
        <a:bodyPr/>
        <a:lstStyle/>
        <a:p>
          <a:r>
            <a:rPr lang="en-GB" dirty="0"/>
            <a:t>Parallel transmission</a:t>
          </a:r>
        </a:p>
      </dgm:t>
    </dgm:pt>
    <dgm:pt modelId="{85C64A1E-CE1F-443A-A668-C8F377304851}" type="parTrans" cxnId="{666285F2-767B-4E18-9BEB-7C8B514A331D}">
      <dgm:prSet/>
      <dgm:spPr/>
      <dgm:t>
        <a:bodyPr/>
        <a:lstStyle/>
        <a:p>
          <a:endParaRPr lang="en-GB"/>
        </a:p>
      </dgm:t>
    </dgm:pt>
    <dgm:pt modelId="{366EF046-A89D-4B3B-8B5B-4BE632BB55DA}" type="sibTrans" cxnId="{666285F2-767B-4E18-9BEB-7C8B514A331D}">
      <dgm:prSet/>
      <dgm:spPr/>
      <dgm:t>
        <a:bodyPr/>
        <a:lstStyle/>
        <a:p>
          <a:endParaRPr lang="en-GB"/>
        </a:p>
      </dgm:t>
    </dgm:pt>
    <dgm:pt modelId="{1334A142-0CAB-42AC-8F13-B86FBA66250C}">
      <dgm:prSet phldrT="[Text]"/>
      <dgm:spPr/>
      <dgm:t>
        <a:bodyPr/>
        <a:lstStyle/>
        <a:p>
          <a:pPr algn="l"/>
          <a:r>
            <a:rPr lang="en-GB" dirty="0"/>
            <a:t>Very fast transmission speeds</a:t>
          </a:r>
        </a:p>
        <a:p>
          <a:pPr algn="l"/>
          <a:r>
            <a:rPr lang="en-GB" dirty="0"/>
            <a:t>Data can be sent in both directions at the same time</a:t>
          </a:r>
        </a:p>
      </dgm:t>
    </dgm:pt>
    <dgm:pt modelId="{E270A15D-156D-4EE1-8042-CC8FF35D0311}" type="parTrans" cxnId="{B52827C7-EA0E-4901-92B0-8C2F85DF4D67}">
      <dgm:prSet/>
      <dgm:spPr/>
      <dgm:t>
        <a:bodyPr/>
        <a:lstStyle/>
        <a:p>
          <a:endParaRPr lang="en-GB"/>
        </a:p>
      </dgm:t>
    </dgm:pt>
    <dgm:pt modelId="{D9FF99A5-77CF-410D-9B01-3B9922279023}" type="sibTrans" cxnId="{B52827C7-EA0E-4901-92B0-8C2F85DF4D67}">
      <dgm:prSet/>
      <dgm:spPr/>
      <dgm:t>
        <a:bodyPr/>
        <a:lstStyle/>
        <a:p>
          <a:endParaRPr lang="en-GB"/>
        </a:p>
      </dgm:t>
    </dgm:pt>
    <dgm:pt modelId="{D6C9C280-DD67-41D0-817A-BCFCF87B77DB}">
      <dgm:prSet phldrT="[Text]"/>
      <dgm:spPr/>
      <dgm:t>
        <a:bodyPr/>
        <a:lstStyle/>
        <a:p>
          <a:pPr algn="l"/>
          <a:r>
            <a:rPr lang="en-GB" dirty="0"/>
            <a:t>Can only be used over very short distances</a:t>
          </a:r>
        </a:p>
        <a:p>
          <a:pPr algn="l"/>
          <a:r>
            <a:rPr lang="en-GB" dirty="0"/>
            <a:t>More prone to interference</a:t>
          </a:r>
        </a:p>
      </dgm:t>
    </dgm:pt>
    <dgm:pt modelId="{ACF4A963-9B9D-42D4-A34F-DA1CFA104CA7}" type="parTrans" cxnId="{F69C267A-D0D1-4E05-AEE2-0DCA154F1285}">
      <dgm:prSet/>
      <dgm:spPr/>
      <dgm:t>
        <a:bodyPr/>
        <a:lstStyle/>
        <a:p>
          <a:endParaRPr lang="en-GB"/>
        </a:p>
      </dgm:t>
    </dgm:pt>
    <dgm:pt modelId="{9871E8B5-9F3C-4739-8F87-D1438034722E}" type="sibTrans" cxnId="{F69C267A-D0D1-4E05-AEE2-0DCA154F1285}">
      <dgm:prSet/>
      <dgm:spPr/>
      <dgm:t>
        <a:bodyPr/>
        <a:lstStyle/>
        <a:p>
          <a:endParaRPr lang="en-GB"/>
        </a:p>
      </dgm:t>
    </dgm:pt>
    <dgm:pt modelId="{D3D7670F-5925-4448-9F79-B90F34DB342E}">
      <dgm:prSet phldrT="[Text]"/>
      <dgm:spPr/>
      <dgm:t>
        <a:bodyPr/>
        <a:lstStyle/>
        <a:p>
          <a:pPr algn="l"/>
          <a:r>
            <a:rPr lang="en-GB" dirty="0"/>
            <a:t>Commonly used with printer cables and other internal device connections</a:t>
          </a:r>
        </a:p>
      </dgm:t>
    </dgm:pt>
    <dgm:pt modelId="{807FB261-FB63-44BD-8C4D-7F52F30663F7}" type="parTrans" cxnId="{D343BDD4-861D-40EA-83B0-B3F30968C4AC}">
      <dgm:prSet/>
      <dgm:spPr/>
      <dgm:t>
        <a:bodyPr/>
        <a:lstStyle/>
        <a:p>
          <a:endParaRPr lang="en-GB"/>
        </a:p>
      </dgm:t>
    </dgm:pt>
    <dgm:pt modelId="{28022CDB-3129-4CBD-B3E7-0174264E778B}" type="sibTrans" cxnId="{D343BDD4-861D-40EA-83B0-B3F30968C4AC}">
      <dgm:prSet/>
      <dgm:spPr/>
      <dgm:t>
        <a:bodyPr/>
        <a:lstStyle/>
        <a:p>
          <a:endParaRPr lang="en-GB"/>
        </a:p>
      </dgm:t>
    </dgm:pt>
    <dgm:pt modelId="{E5327BA4-077D-492D-883A-6807E1CC7097}" type="pres">
      <dgm:prSet presAssocID="{C7543C07-7D12-4591-8279-1195C8D1D271}" presName="layout" presStyleCnt="0">
        <dgm:presLayoutVars>
          <dgm:chMax/>
          <dgm:chPref/>
          <dgm:dir/>
          <dgm:animOne val="branch"/>
          <dgm:animLvl val="lvl"/>
          <dgm:resizeHandles/>
        </dgm:presLayoutVars>
      </dgm:prSet>
      <dgm:spPr/>
    </dgm:pt>
    <dgm:pt modelId="{4F228207-1BFB-48C5-B1D2-BCD143484309}" type="pres">
      <dgm:prSet presAssocID="{8D7C4939-9E44-4BB7-8B77-42D7EE557A0A}" presName="root" presStyleCnt="0">
        <dgm:presLayoutVars>
          <dgm:chMax/>
          <dgm:chPref val="4"/>
        </dgm:presLayoutVars>
      </dgm:prSet>
      <dgm:spPr/>
    </dgm:pt>
    <dgm:pt modelId="{60ADF8A0-D97A-43D6-8B53-46CA53F0773E}" type="pres">
      <dgm:prSet presAssocID="{8D7C4939-9E44-4BB7-8B77-42D7EE557A0A}" presName="rootComposite" presStyleCnt="0">
        <dgm:presLayoutVars/>
      </dgm:prSet>
      <dgm:spPr/>
    </dgm:pt>
    <dgm:pt modelId="{BF17753E-976F-4875-B68F-A88902BF95F9}" type="pres">
      <dgm:prSet presAssocID="{8D7C4939-9E44-4BB7-8B77-42D7EE557A0A}" presName="rootText" presStyleLbl="node0" presStyleIdx="0" presStyleCnt="1" custScaleY="52156">
        <dgm:presLayoutVars>
          <dgm:chMax/>
          <dgm:chPref val="4"/>
        </dgm:presLayoutVars>
      </dgm:prSet>
      <dgm:spPr/>
    </dgm:pt>
    <dgm:pt modelId="{300577EE-534A-448D-9357-3DE46BEA17A6}" type="pres">
      <dgm:prSet presAssocID="{8D7C4939-9E44-4BB7-8B77-42D7EE557A0A}" presName="childShape" presStyleCnt="0">
        <dgm:presLayoutVars>
          <dgm:chMax val="0"/>
          <dgm:chPref val="0"/>
        </dgm:presLayoutVars>
      </dgm:prSet>
      <dgm:spPr/>
    </dgm:pt>
    <dgm:pt modelId="{515DD5D8-5530-4231-9450-58E145B55715}" type="pres">
      <dgm:prSet presAssocID="{D3D7670F-5925-4448-9F79-B90F34DB342E}" presName="childComposite" presStyleCnt="0">
        <dgm:presLayoutVars>
          <dgm:chMax val="0"/>
          <dgm:chPref val="0"/>
        </dgm:presLayoutVars>
      </dgm:prSet>
      <dgm:spPr/>
    </dgm:pt>
    <dgm:pt modelId="{A255EF73-F4BF-4465-BCC0-4D7D8C669BDA}" type="pres">
      <dgm:prSet presAssocID="{D3D7670F-5925-4448-9F79-B90F34DB342E}" presName="Image" presStyleLbl="node1" presStyleIdx="0" presStyleCnt="3"/>
      <dgm:spPr>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a:solidFill>
            <a:srgbClr val="A5A5A5"/>
          </a:solidFill>
        </a:ln>
      </dgm:spPr>
    </dgm:pt>
    <dgm:pt modelId="{601092E0-294F-4B2A-8449-A5566857ED03}" type="pres">
      <dgm:prSet presAssocID="{D3D7670F-5925-4448-9F79-B90F34DB342E}" presName="childText" presStyleLbl="lnNode1" presStyleIdx="0" presStyleCnt="3">
        <dgm:presLayoutVars>
          <dgm:chMax val="0"/>
          <dgm:chPref val="0"/>
          <dgm:bulletEnabled val="1"/>
        </dgm:presLayoutVars>
      </dgm:prSet>
      <dgm:spPr/>
    </dgm:pt>
    <dgm:pt modelId="{0ABEBC4C-7D86-4E9D-A2F8-3DBDD0A557B8}" type="pres">
      <dgm:prSet presAssocID="{1334A142-0CAB-42AC-8F13-B86FBA66250C}" presName="childComposite" presStyleCnt="0">
        <dgm:presLayoutVars>
          <dgm:chMax val="0"/>
          <dgm:chPref val="0"/>
        </dgm:presLayoutVars>
      </dgm:prSet>
      <dgm:spPr/>
    </dgm:pt>
    <dgm:pt modelId="{3BE5D449-C0DC-42FD-A8FC-3CD190E0B101}" type="pres">
      <dgm:prSet presAssocID="{1334A142-0CAB-42AC-8F13-B86FBA66250C}" presName="Image" presStyleLbl="node1" presStyleIdx="1" presStyleCnt="3"/>
      <dgm:spPr>
        <a:noFill/>
        <a:ln>
          <a:solidFill>
            <a:srgbClr val="A5A5A5"/>
          </a:solidFill>
        </a:ln>
      </dgm:spPr>
    </dgm:pt>
    <dgm:pt modelId="{EEC15EFF-1720-423C-8103-52685EA016B5}" type="pres">
      <dgm:prSet presAssocID="{1334A142-0CAB-42AC-8F13-B86FBA66250C}" presName="childText" presStyleLbl="lnNode1" presStyleIdx="1" presStyleCnt="3">
        <dgm:presLayoutVars>
          <dgm:chMax val="0"/>
          <dgm:chPref val="0"/>
          <dgm:bulletEnabled val="1"/>
        </dgm:presLayoutVars>
      </dgm:prSet>
      <dgm:spPr/>
    </dgm:pt>
    <dgm:pt modelId="{61A0D6AD-4764-4F63-A98C-C6FC2FA8A377}" type="pres">
      <dgm:prSet presAssocID="{D6C9C280-DD67-41D0-817A-BCFCF87B77DB}" presName="childComposite" presStyleCnt="0">
        <dgm:presLayoutVars>
          <dgm:chMax val="0"/>
          <dgm:chPref val="0"/>
        </dgm:presLayoutVars>
      </dgm:prSet>
      <dgm:spPr/>
    </dgm:pt>
    <dgm:pt modelId="{99598B6A-F93B-4727-9569-685C0D96C07C}" type="pres">
      <dgm:prSet presAssocID="{D6C9C280-DD67-41D0-817A-BCFCF87B77DB}" presName="Image" presStyleLbl="node1" presStyleIdx="2" presStyleCnt="3"/>
      <dgm:spPr>
        <a:noFill/>
        <a:ln>
          <a:solidFill>
            <a:srgbClr val="B43500"/>
          </a:solidFill>
        </a:ln>
      </dgm:spPr>
    </dgm:pt>
    <dgm:pt modelId="{16978CED-5E46-4994-955C-A191AE1285A5}" type="pres">
      <dgm:prSet presAssocID="{D6C9C280-DD67-41D0-817A-BCFCF87B77DB}" presName="childText" presStyleLbl="lnNode1" presStyleIdx="2" presStyleCnt="3">
        <dgm:presLayoutVars>
          <dgm:chMax val="0"/>
          <dgm:chPref val="0"/>
          <dgm:bulletEnabled val="1"/>
        </dgm:presLayoutVars>
      </dgm:prSet>
      <dgm:spPr/>
    </dgm:pt>
  </dgm:ptLst>
  <dgm:cxnLst>
    <dgm:cxn modelId="{F23B4802-6E40-4698-A28F-A9504B3849F6}" type="presOf" srcId="{C7543C07-7D12-4591-8279-1195C8D1D271}" destId="{E5327BA4-077D-492D-883A-6807E1CC7097}" srcOrd="0" destOrd="0" presId="urn:microsoft.com/office/officeart/2008/layout/PictureAccentList"/>
    <dgm:cxn modelId="{F69C267A-D0D1-4E05-AEE2-0DCA154F1285}" srcId="{8D7C4939-9E44-4BB7-8B77-42D7EE557A0A}" destId="{D6C9C280-DD67-41D0-817A-BCFCF87B77DB}" srcOrd="2" destOrd="0" parTransId="{ACF4A963-9B9D-42D4-A34F-DA1CFA104CA7}" sibTransId="{9871E8B5-9F3C-4739-8F87-D1438034722E}"/>
    <dgm:cxn modelId="{B52827C7-EA0E-4901-92B0-8C2F85DF4D67}" srcId="{8D7C4939-9E44-4BB7-8B77-42D7EE557A0A}" destId="{1334A142-0CAB-42AC-8F13-B86FBA66250C}" srcOrd="1" destOrd="0" parTransId="{E270A15D-156D-4EE1-8042-CC8FF35D0311}" sibTransId="{D9FF99A5-77CF-410D-9B01-3B9922279023}"/>
    <dgm:cxn modelId="{BE7610CC-E093-45A8-A643-A7501CE6AF4A}" type="presOf" srcId="{8D7C4939-9E44-4BB7-8B77-42D7EE557A0A}" destId="{BF17753E-976F-4875-B68F-A88902BF95F9}" srcOrd="0" destOrd="0" presId="urn:microsoft.com/office/officeart/2008/layout/PictureAccentList"/>
    <dgm:cxn modelId="{D343BDD4-861D-40EA-83B0-B3F30968C4AC}" srcId="{8D7C4939-9E44-4BB7-8B77-42D7EE557A0A}" destId="{D3D7670F-5925-4448-9F79-B90F34DB342E}" srcOrd="0" destOrd="0" parTransId="{807FB261-FB63-44BD-8C4D-7F52F30663F7}" sibTransId="{28022CDB-3129-4CBD-B3E7-0174264E778B}"/>
    <dgm:cxn modelId="{E5E839D5-D8A0-4D42-AD09-18B3483F2BFA}" type="presOf" srcId="{D3D7670F-5925-4448-9F79-B90F34DB342E}" destId="{601092E0-294F-4B2A-8449-A5566857ED03}" srcOrd="0" destOrd="0" presId="urn:microsoft.com/office/officeart/2008/layout/PictureAccentList"/>
    <dgm:cxn modelId="{2576F1DF-0811-4AE2-83AC-689FCACE9113}" type="presOf" srcId="{1334A142-0CAB-42AC-8F13-B86FBA66250C}" destId="{EEC15EFF-1720-423C-8103-52685EA016B5}" srcOrd="0" destOrd="0" presId="urn:microsoft.com/office/officeart/2008/layout/PictureAccentList"/>
    <dgm:cxn modelId="{457C6EE5-0413-4587-9CCE-61594CD78164}" type="presOf" srcId="{D6C9C280-DD67-41D0-817A-BCFCF87B77DB}" destId="{16978CED-5E46-4994-955C-A191AE1285A5}" srcOrd="0" destOrd="0" presId="urn:microsoft.com/office/officeart/2008/layout/PictureAccentList"/>
    <dgm:cxn modelId="{666285F2-767B-4E18-9BEB-7C8B514A331D}" srcId="{C7543C07-7D12-4591-8279-1195C8D1D271}" destId="{8D7C4939-9E44-4BB7-8B77-42D7EE557A0A}" srcOrd="0" destOrd="0" parTransId="{85C64A1E-CE1F-443A-A668-C8F377304851}" sibTransId="{366EF046-A89D-4B3B-8B5B-4BE632BB55DA}"/>
    <dgm:cxn modelId="{B8351A4C-7AC7-49EA-8E5E-59348841C8AF}" type="presParOf" srcId="{E5327BA4-077D-492D-883A-6807E1CC7097}" destId="{4F228207-1BFB-48C5-B1D2-BCD143484309}" srcOrd="0" destOrd="0" presId="urn:microsoft.com/office/officeart/2008/layout/PictureAccentList"/>
    <dgm:cxn modelId="{BDE7AC31-B95C-4A98-928C-BAC6F36416C9}" type="presParOf" srcId="{4F228207-1BFB-48C5-B1D2-BCD143484309}" destId="{60ADF8A0-D97A-43D6-8B53-46CA53F0773E}" srcOrd="0" destOrd="0" presId="urn:microsoft.com/office/officeart/2008/layout/PictureAccentList"/>
    <dgm:cxn modelId="{719B6AB3-36F0-4868-988B-491BB6168D60}" type="presParOf" srcId="{60ADF8A0-D97A-43D6-8B53-46CA53F0773E}" destId="{BF17753E-976F-4875-B68F-A88902BF95F9}" srcOrd="0" destOrd="0" presId="urn:microsoft.com/office/officeart/2008/layout/PictureAccentList"/>
    <dgm:cxn modelId="{29D8956D-BD6A-487D-B379-AB740D2016F6}" type="presParOf" srcId="{4F228207-1BFB-48C5-B1D2-BCD143484309}" destId="{300577EE-534A-448D-9357-3DE46BEA17A6}" srcOrd="1" destOrd="0" presId="urn:microsoft.com/office/officeart/2008/layout/PictureAccentList"/>
    <dgm:cxn modelId="{6DF7A5E1-6F63-4294-91E3-776797B4E362}" type="presParOf" srcId="{300577EE-534A-448D-9357-3DE46BEA17A6}" destId="{515DD5D8-5530-4231-9450-58E145B55715}" srcOrd="0" destOrd="0" presId="urn:microsoft.com/office/officeart/2008/layout/PictureAccentList"/>
    <dgm:cxn modelId="{1CBD1A19-349D-427C-9CFC-F88C11DB0268}" type="presParOf" srcId="{515DD5D8-5530-4231-9450-58E145B55715}" destId="{A255EF73-F4BF-4465-BCC0-4D7D8C669BDA}" srcOrd="0" destOrd="0" presId="urn:microsoft.com/office/officeart/2008/layout/PictureAccentList"/>
    <dgm:cxn modelId="{FB5C0023-47FD-4FD7-B9E4-7ABDC443FE1D}" type="presParOf" srcId="{515DD5D8-5530-4231-9450-58E145B55715}" destId="{601092E0-294F-4B2A-8449-A5566857ED03}" srcOrd="1" destOrd="0" presId="urn:microsoft.com/office/officeart/2008/layout/PictureAccentList"/>
    <dgm:cxn modelId="{418E5710-A0E4-4AEC-AE5C-20076233A7AB}" type="presParOf" srcId="{300577EE-534A-448D-9357-3DE46BEA17A6}" destId="{0ABEBC4C-7D86-4E9D-A2F8-3DBDD0A557B8}" srcOrd="1" destOrd="0" presId="urn:microsoft.com/office/officeart/2008/layout/PictureAccentList"/>
    <dgm:cxn modelId="{9DA72C57-A606-4960-8241-311A4CBDFE76}" type="presParOf" srcId="{0ABEBC4C-7D86-4E9D-A2F8-3DBDD0A557B8}" destId="{3BE5D449-C0DC-42FD-A8FC-3CD190E0B101}" srcOrd="0" destOrd="0" presId="urn:microsoft.com/office/officeart/2008/layout/PictureAccentList"/>
    <dgm:cxn modelId="{DBF36B16-77FB-4906-B8D0-44181C3C9CE6}" type="presParOf" srcId="{0ABEBC4C-7D86-4E9D-A2F8-3DBDD0A557B8}" destId="{EEC15EFF-1720-423C-8103-52685EA016B5}" srcOrd="1" destOrd="0" presId="urn:microsoft.com/office/officeart/2008/layout/PictureAccentList"/>
    <dgm:cxn modelId="{D68A2FE6-5B4D-4460-AFB4-F6A309FEAFF2}" type="presParOf" srcId="{300577EE-534A-448D-9357-3DE46BEA17A6}" destId="{61A0D6AD-4764-4F63-A98C-C6FC2FA8A377}" srcOrd="2" destOrd="0" presId="urn:microsoft.com/office/officeart/2008/layout/PictureAccentList"/>
    <dgm:cxn modelId="{D97306BC-2089-4CEE-90FD-4502F6A8BF76}" type="presParOf" srcId="{61A0D6AD-4764-4F63-A98C-C6FC2FA8A377}" destId="{99598B6A-F93B-4727-9569-685C0D96C07C}" srcOrd="0" destOrd="0" presId="urn:microsoft.com/office/officeart/2008/layout/PictureAccentList"/>
    <dgm:cxn modelId="{4753162F-2586-4B29-88E6-652E8BDF5ADB}" type="presParOf" srcId="{61A0D6AD-4764-4F63-A98C-C6FC2FA8A377}" destId="{16978CED-5E46-4994-955C-A191AE1285A5}" srcOrd="1" destOrd="0" presId="urn:microsoft.com/office/officeart/2008/layout/PictureAccentList"/>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71ABCC-7184-41C7-B661-B903C94263F8}">
      <dsp:nvSpPr>
        <dsp:cNvPr id="0" name=""/>
        <dsp:cNvSpPr/>
      </dsp:nvSpPr>
      <dsp:spPr>
        <a:xfrm>
          <a:off x="7669" y="808707"/>
          <a:ext cx="3312740" cy="2472890"/>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02870" rIns="34290" bIns="34290" numCol="1" spcCol="1270" anchor="t" anchorCtr="0">
          <a:noAutofit/>
        </a:bodyPr>
        <a:lstStyle/>
        <a:p>
          <a:pPr marL="228600" lvl="1" indent="-228600" algn="l" defTabSz="1200150">
            <a:lnSpc>
              <a:spcPct val="90000"/>
            </a:lnSpc>
            <a:spcBef>
              <a:spcPct val="0"/>
            </a:spcBef>
            <a:spcAft>
              <a:spcPct val="15000"/>
            </a:spcAft>
            <a:buChar char="•"/>
          </a:pPr>
          <a:r>
            <a:rPr lang="en-GB" sz="2700" kern="1200" dirty="0"/>
            <a:t>Direction of data transmission – e.g., can data be transmitted in both directions or only one?</a:t>
          </a:r>
        </a:p>
      </dsp:txBody>
      <dsp:txXfrm>
        <a:off x="65612" y="866650"/>
        <a:ext cx="3196854" cy="2414947"/>
      </dsp:txXfrm>
    </dsp:sp>
    <dsp:sp modelId="{B7F8BF7C-CAEC-4ABD-919D-922AD84E5632}">
      <dsp:nvSpPr>
        <dsp:cNvPr id="0" name=""/>
        <dsp:cNvSpPr/>
      </dsp:nvSpPr>
      <dsp:spPr>
        <a:xfrm>
          <a:off x="7669" y="3281598"/>
          <a:ext cx="3312740" cy="1063342"/>
        </a:xfrm>
        <a:prstGeom prst="rect">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63500" bIns="0" numCol="1" spcCol="1270" anchor="ctr" anchorCtr="0">
          <a:noAutofit/>
        </a:bodyPr>
        <a:lstStyle/>
        <a:p>
          <a:pPr marL="0" lvl="0" indent="0" algn="l" defTabSz="2222500">
            <a:lnSpc>
              <a:spcPct val="90000"/>
            </a:lnSpc>
            <a:spcBef>
              <a:spcPct val="0"/>
            </a:spcBef>
            <a:spcAft>
              <a:spcPct val="35000"/>
            </a:spcAft>
            <a:buNone/>
          </a:pPr>
          <a:r>
            <a:rPr lang="en-GB" sz="5000" kern="1200" dirty="0"/>
            <a:t>Factor 1</a:t>
          </a:r>
        </a:p>
      </dsp:txBody>
      <dsp:txXfrm>
        <a:off x="7669" y="3281598"/>
        <a:ext cx="2332915" cy="1063342"/>
      </dsp:txXfrm>
    </dsp:sp>
    <dsp:sp modelId="{7733C527-F50E-4C0A-86EE-07950568E628}">
      <dsp:nvSpPr>
        <dsp:cNvPr id="0" name=""/>
        <dsp:cNvSpPr/>
      </dsp:nvSpPr>
      <dsp:spPr>
        <a:xfrm>
          <a:off x="2434297" y="3450500"/>
          <a:ext cx="1159459" cy="1159459"/>
        </a:xfrm>
        <a:prstGeom prst="ellipse">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rcRect/>
          <a:stretch>
            <a:fillRect/>
          </a:stretch>
        </a:blip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DAB5093-DC99-4E18-958E-2D8572DC379E}">
      <dsp:nvSpPr>
        <dsp:cNvPr id="0" name=""/>
        <dsp:cNvSpPr/>
      </dsp:nvSpPr>
      <dsp:spPr>
        <a:xfrm>
          <a:off x="3881005" y="808707"/>
          <a:ext cx="3312740" cy="2472890"/>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02870" rIns="34290" bIns="34290" numCol="1" spcCol="1270" anchor="t" anchorCtr="0">
          <a:noAutofit/>
        </a:bodyPr>
        <a:lstStyle/>
        <a:p>
          <a:pPr marL="228600" lvl="1" indent="-228600" algn="l" defTabSz="1200150">
            <a:lnSpc>
              <a:spcPct val="90000"/>
            </a:lnSpc>
            <a:spcBef>
              <a:spcPct val="0"/>
            </a:spcBef>
            <a:spcAft>
              <a:spcPct val="15000"/>
            </a:spcAft>
            <a:buChar char="•"/>
          </a:pPr>
          <a:r>
            <a:rPr lang="en-GB" sz="2700" kern="1200" dirty="0"/>
            <a:t>Method of transmission – e.g., how many bits can be transmitted at once?</a:t>
          </a:r>
        </a:p>
      </dsp:txBody>
      <dsp:txXfrm>
        <a:off x="3938948" y="866650"/>
        <a:ext cx="3196854" cy="2414947"/>
      </dsp:txXfrm>
    </dsp:sp>
    <dsp:sp modelId="{CA8CC71C-D866-4E8B-92AB-D174A83F15F6}">
      <dsp:nvSpPr>
        <dsp:cNvPr id="0" name=""/>
        <dsp:cNvSpPr/>
      </dsp:nvSpPr>
      <dsp:spPr>
        <a:xfrm>
          <a:off x="3881005" y="3281598"/>
          <a:ext cx="3312740" cy="1063342"/>
        </a:xfrm>
        <a:prstGeom prst="rect">
          <a:avLst/>
        </a:prstGeom>
        <a:solidFill>
          <a:schemeClr val="accent3">
            <a:hueOff val="1355300"/>
            <a:satOff val="50000"/>
            <a:lumOff val="-7353"/>
            <a:alphaOff val="0"/>
          </a:schemeClr>
        </a:solidFill>
        <a:ln w="12700" cap="flat" cmpd="sng" algn="ctr">
          <a:solidFill>
            <a:schemeClr val="accent3">
              <a:hueOff val="1355300"/>
              <a:satOff val="50000"/>
              <a:lumOff val="-7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63500" bIns="0" numCol="1" spcCol="1270" anchor="ctr" anchorCtr="0">
          <a:noAutofit/>
        </a:bodyPr>
        <a:lstStyle/>
        <a:p>
          <a:pPr marL="0" lvl="0" indent="0" algn="l" defTabSz="2222500">
            <a:lnSpc>
              <a:spcPct val="90000"/>
            </a:lnSpc>
            <a:spcBef>
              <a:spcPct val="0"/>
            </a:spcBef>
            <a:spcAft>
              <a:spcPct val="35000"/>
            </a:spcAft>
            <a:buNone/>
          </a:pPr>
          <a:r>
            <a:rPr lang="en-GB" sz="5000" kern="1200" dirty="0"/>
            <a:t>Factor 2</a:t>
          </a:r>
        </a:p>
      </dsp:txBody>
      <dsp:txXfrm>
        <a:off x="3881005" y="3281598"/>
        <a:ext cx="2332915" cy="1063342"/>
      </dsp:txXfrm>
    </dsp:sp>
    <dsp:sp modelId="{2E76713B-9EEB-4E58-9CCD-89C019346C29}">
      <dsp:nvSpPr>
        <dsp:cNvPr id="0" name=""/>
        <dsp:cNvSpPr/>
      </dsp:nvSpPr>
      <dsp:spPr>
        <a:xfrm>
          <a:off x="6307632" y="3450500"/>
          <a:ext cx="1159459" cy="1159459"/>
        </a:xfrm>
        <a:prstGeom prst="ellipse">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a:stretch>
        </a:blipFill>
        <a:ln w="12700" cap="flat" cmpd="sng" algn="ctr">
          <a:solidFill>
            <a:schemeClr val="accent3">
              <a:tint val="40000"/>
              <a:alpha val="90000"/>
              <a:hueOff val="1014570"/>
              <a:satOff val="50000"/>
              <a:lumOff val="89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8D845E9-A7DB-4846-A440-816C20104CCD}">
      <dsp:nvSpPr>
        <dsp:cNvPr id="0" name=""/>
        <dsp:cNvSpPr/>
      </dsp:nvSpPr>
      <dsp:spPr>
        <a:xfrm>
          <a:off x="7754340" y="808707"/>
          <a:ext cx="3312740" cy="2472890"/>
        </a:xfrm>
        <a:prstGeom prst="round2SameRect">
          <a:avLst>
            <a:gd name="adj1" fmla="val 8000"/>
            <a:gd name="adj2" fmla="val 0"/>
          </a:avLst>
        </a:prstGeom>
        <a:solidFill>
          <a:schemeClr val="lt1">
            <a:alpha val="90000"/>
            <a:hueOff val="0"/>
            <a:satOff val="0"/>
            <a:lumOff val="0"/>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102870" rIns="34290" bIns="34290" numCol="1" spcCol="1270" anchor="t" anchorCtr="0">
          <a:noAutofit/>
        </a:bodyPr>
        <a:lstStyle/>
        <a:p>
          <a:pPr marL="228600" lvl="1" indent="-228600" algn="l" defTabSz="1200150">
            <a:lnSpc>
              <a:spcPct val="90000"/>
            </a:lnSpc>
            <a:spcBef>
              <a:spcPct val="0"/>
            </a:spcBef>
            <a:spcAft>
              <a:spcPct val="15000"/>
            </a:spcAft>
            <a:buChar char="•"/>
          </a:pPr>
          <a:r>
            <a:rPr lang="en-GB" sz="2700" kern="1200" dirty="0"/>
            <a:t>How will the data be synchronised?</a:t>
          </a:r>
        </a:p>
      </dsp:txBody>
      <dsp:txXfrm>
        <a:off x="7812283" y="866650"/>
        <a:ext cx="3196854" cy="2414947"/>
      </dsp:txXfrm>
    </dsp:sp>
    <dsp:sp modelId="{81DD91EA-FD38-4E53-AC75-C539F0B8482F}">
      <dsp:nvSpPr>
        <dsp:cNvPr id="0" name=""/>
        <dsp:cNvSpPr/>
      </dsp:nvSpPr>
      <dsp:spPr>
        <a:xfrm>
          <a:off x="7754340" y="3281598"/>
          <a:ext cx="3312740" cy="1063342"/>
        </a:xfrm>
        <a:prstGeom prst="rect">
          <a:avLst/>
        </a:prstGeom>
        <a:solidFill>
          <a:schemeClr val="accent3">
            <a:hueOff val="2710599"/>
            <a:satOff val="100000"/>
            <a:lumOff val="-14706"/>
            <a:alphaOff val="0"/>
          </a:schemeClr>
        </a:solidFill>
        <a:ln w="12700" cap="flat" cmpd="sng" algn="ctr">
          <a:solidFill>
            <a:schemeClr val="accent3">
              <a:hueOff val="2710599"/>
              <a:satOff val="100000"/>
              <a:lumOff val="-1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0" rIns="63500" bIns="0" numCol="1" spcCol="1270" anchor="ctr" anchorCtr="0">
          <a:noAutofit/>
        </a:bodyPr>
        <a:lstStyle/>
        <a:p>
          <a:pPr marL="0" lvl="0" indent="0" algn="l" defTabSz="2222500">
            <a:lnSpc>
              <a:spcPct val="90000"/>
            </a:lnSpc>
            <a:spcBef>
              <a:spcPct val="0"/>
            </a:spcBef>
            <a:spcAft>
              <a:spcPct val="35000"/>
            </a:spcAft>
            <a:buNone/>
          </a:pPr>
          <a:r>
            <a:rPr lang="en-GB" sz="5000" kern="1200" dirty="0"/>
            <a:t>Factor 3</a:t>
          </a:r>
        </a:p>
      </dsp:txBody>
      <dsp:txXfrm>
        <a:off x="7754340" y="3281598"/>
        <a:ext cx="2332915" cy="1063342"/>
      </dsp:txXfrm>
    </dsp:sp>
    <dsp:sp modelId="{D84FFEF3-8925-414E-8D6F-D9A96E8AF2AB}">
      <dsp:nvSpPr>
        <dsp:cNvPr id="0" name=""/>
        <dsp:cNvSpPr/>
      </dsp:nvSpPr>
      <dsp:spPr>
        <a:xfrm>
          <a:off x="10180968" y="3450500"/>
          <a:ext cx="1159459" cy="1159459"/>
        </a:xfrm>
        <a:prstGeom prst="ellipse">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a:stretch>
        </a:blipFill>
        <a:ln w="12700" cap="flat" cmpd="sng" algn="ctr">
          <a:solidFill>
            <a:schemeClr val="accent3">
              <a:tint val="40000"/>
              <a:alpha val="90000"/>
              <a:hueOff val="2029141"/>
              <a:satOff val="100000"/>
              <a:lumOff val="1779"/>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0146D-1B4D-40A9-BF32-9ACB0B958424}">
      <dsp:nvSpPr>
        <dsp:cNvPr id="0" name=""/>
        <dsp:cNvSpPr/>
      </dsp:nvSpPr>
      <dsp:spPr>
        <a:xfrm rot="10800000">
          <a:off x="820140" y="0"/>
          <a:ext cx="10246918" cy="1198688"/>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8588" tIns="95250" rIns="177800" bIns="95250" numCol="1" spcCol="1270" anchor="ctr" anchorCtr="0">
          <a:noAutofit/>
        </a:bodyPr>
        <a:lstStyle/>
        <a:p>
          <a:pPr marL="0" lvl="0" indent="0" algn="ctr" defTabSz="1111250">
            <a:lnSpc>
              <a:spcPct val="90000"/>
            </a:lnSpc>
            <a:spcBef>
              <a:spcPct val="0"/>
            </a:spcBef>
            <a:spcAft>
              <a:spcPct val="35000"/>
            </a:spcAft>
            <a:buNone/>
          </a:pPr>
          <a:r>
            <a:rPr lang="en-GB" sz="2500" kern="1200" dirty="0"/>
            <a:t>This type of transmission might be used to send data from a computer to a monitor, as traffic only needs to move in one direction.</a:t>
          </a:r>
        </a:p>
      </dsp:txBody>
      <dsp:txXfrm rot="10800000">
        <a:off x="1119812" y="0"/>
        <a:ext cx="9947246" cy="1198688"/>
      </dsp:txXfrm>
    </dsp:sp>
    <dsp:sp modelId="{68DADEEF-24EA-427D-A91F-224992DCBD08}">
      <dsp:nvSpPr>
        <dsp:cNvPr id="0" name=""/>
        <dsp:cNvSpPr/>
      </dsp:nvSpPr>
      <dsp:spPr>
        <a:xfrm>
          <a:off x="31910" y="0"/>
          <a:ext cx="1198688" cy="1198688"/>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0146D-1B4D-40A9-BF32-9ACB0B958424}">
      <dsp:nvSpPr>
        <dsp:cNvPr id="0" name=""/>
        <dsp:cNvSpPr/>
      </dsp:nvSpPr>
      <dsp:spPr>
        <a:xfrm rot="10800000">
          <a:off x="820140" y="0"/>
          <a:ext cx="10246918" cy="1198688"/>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8588" tIns="80010" rIns="149352" bIns="80010" numCol="1" spcCol="1270" anchor="ctr" anchorCtr="0">
          <a:noAutofit/>
        </a:bodyPr>
        <a:lstStyle/>
        <a:p>
          <a:pPr marL="0" lvl="0" indent="0" algn="ctr" defTabSz="933450">
            <a:lnSpc>
              <a:spcPct val="90000"/>
            </a:lnSpc>
            <a:spcBef>
              <a:spcPct val="0"/>
            </a:spcBef>
            <a:spcAft>
              <a:spcPct val="35000"/>
            </a:spcAft>
            <a:buNone/>
          </a:pPr>
          <a:r>
            <a:rPr lang="en-GB" sz="2100" kern="1200" dirty="0"/>
            <a:t>This type of transmission occurs when using parallel printer cables. A file is sent to the printer, and the printer can respond with error codes such as “Ink low”. However, the printer needs to wait until the computer has finished sending the file.</a:t>
          </a:r>
        </a:p>
      </dsp:txBody>
      <dsp:txXfrm rot="10800000">
        <a:off x="1119812" y="0"/>
        <a:ext cx="9947246" cy="1198688"/>
      </dsp:txXfrm>
    </dsp:sp>
    <dsp:sp modelId="{68DADEEF-24EA-427D-A91F-224992DCBD08}">
      <dsp:nvSpPr>
        <dsp:cNvPr id="0" name=""/>
        <dsp:cNvSpPr/>
      </dsp:nvSpPr>
      <dsp:spPr>
        <a:xfrm>
          <a:off x="31910" y="0"/>
          <a:ext cx="1198688" cy="1198688"/>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E0146D-1B4D-40A9-BF32-9ACB0B958424}">
      <dsp:nvSpPr>
        <dsp:cNvPr id="0" name=""/>
        <dsp:cNvSpPr/>
      </dsp:nvSpPr>
      <dsp:spPr>
        <a:xfrm rot="10800000">
          <a:off x="820140" y="0"/>
          <a:ext cx="10246918" cy="1198688"/>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8588" tIns="91440" rIns="170688" bIns="91440" numCol="1" spcCol="1270" anchor="ctr" anchorCtr="0">
          <a:noAutofit/>
        </a:bodyPr>
        <a:lstStyle/>
        <a:p>
          <a:pPr marL="0" lvl="0" indent="0" algn="ctr" defTabSz="1066800">
            <a:lnSpc>
              <a:spcPct val="90000"/>
            </a:lnSpc>
            <a:spcBef>
              <a:spcPct val="0"/>
            </a:spcBef>
            <a:spcAft>
              <a:spcPct val="35000"/>
            </a:spcAft>
            <a:buNone/>
          </a:pPr>
          <a:r>
            <a:rPr lang="en-GB" sz="2400" kern="1200" dirty="0"/>
            <a:t>This is the most common form of data transmission and is typically used in network cables, both within LANS and across the internet. With these cables, data can be sent and received at the same time.</a:t>
          </a:r>
        </a:p>
      </dsp:txBody>
      <dsp:txXfrm rot="10800000">
        <a:off x="1119812" y="0"/>
        <a:ext cx="9947246" cy="1198688"/>
      </dsp:txXfrm>
    </dsp:sp>
    <dsp:sp modelId="{68DADEEF-24EA-427D-A91F-224992DCBD08}">
      <dsp:nvSpPr>
        <dsp:cNvPr id="0" name=""/>
        <dsp:cNvSpPr/>
      </dsp:nvSpPr>
      <dsp:spPr>
        <a:xfrm>
          <a:off x="31910" y="0"/>
          <a:ext cx="1198688" cy="1198688"/>
        </a:xfrm>
        <a:prstGeom prst="ellipse">
          <a:avLst/>
        </a:prstGeom>
        <a:solidFill>
          <a:schemeClr val="accent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7753E-976F-4875-B68F-A88902BF95F9}">
      <dsp:nvSpPr>
        <dsp:cNvPr id="0" name=""/>
        <dsp:cNvSpPr/>
      </dsp:nvSpPr>
      <dsp:spPr>
        <a:xfrm>
          <a:off x="0" y="39583"/>
          <a:ext cx="5782821" cy="70653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GB" sz="4000" kern="1200" dirty="0"/>
            <a:t>Serial transmission</a:t>
          </a:r>
        </a:p>
      </dsp:txBody>
      <dsp:txXfrm>
        <a:off x="20694" y="60277"/>
        <a:ext cx="5741433" cy="665151"/>
      </dsp:txXfrm>
    </dsp:sp>
    <dsp:sp modelId="{F71AC21D-11E4-4A04-865E-F0F05CD4982C}">
      <dsp:nvSpPr>
        <dsp:cNvPr id="0" name=""/>
        <dsp:cNvSpPr/>
      </dsp:nvSpPr>
      <dsp:spPr>
        <a:xfrm>
          <a:off x="0" y="989963"/>
          <a:ext cx="1354666" cy="1354666"/>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17000" r="-17000"/>
          </a:stretch>
        </a:blipFill>
        <a:ln w="12700" cap="flat" cmpd="sng" algn="ctr">
          <a:solidFill>
            <a:srgbClr val="A5A5A5"/>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EB408B-BAFA-4624-863C-593CBA9ECA34}">
      <dsp:nvSpPr>
        <dsp:cNvPr id="0" name=""/>
        <dsp:cNvSpPr/>
      </dsp:nvSpPr>
      <dsp:spPr>
        <a:xfrm>
          <a:off x="1435946" y="989963"/>
          <a:ext cx="4346874" cy="1354666"/>
        </a:xfrm>
        <a:prstGeom prst="roundRect">
          <a:avLst>
            <a:gd name="adj" fmla="val 166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GB" sz="1800" kern="1200" dirty="0"/>
            <a:t>Commonly used with the USB (Universal Serial Bus) interface</a:t>
          </a:r>
        </a:p>
      </dsp:txBody>
      <dsp:txXfrm>
        <a:off x="1502087" y="1056104"/>
        <a:ext cx="4214592" cy="1222384"/>
      </dsp:txXfrm>
    </dsp:sp>
    <dsp:sp modelId="{3BE5D449-C0DC-42FD-A8FC-3CD190E0B101}">
      <dsp:nvSpPr>
        <dsp:cNvPr id="0" name=""/>
        <dsp:cNvSpPr/>
      </dsp:nvSpPr>
      <dsp:spPr>
        <a:xfrm>
          <a:off x="0" y="2507190"/>
          <a:ext cx="1354666" cy="1354666"/>
        </a:xfrm>
        <a:prstGeom prst="roundRect">
          <a:avLst>
            <a:gd name="adj" fmla="val 16670"/>
          </a:avLst>
        </a:prstGeom>
        <a:noFill/>
        <a:ln w="12700" cap="flat" cmpd="sng" algn="ctr">
          <a:solidFill>
            <a:srgbClr val="A5A5A5"/>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C15EFF-1720-423C-8103-52685EA016B5}">
      <dsp:nvSpPr>
        <dsp:cNvPr id="0" name=""/>
        <dsp:cNvSpPr/>
      </dsp:nvSpPr>
      <dsp:spPr>
        <a:xfrm>
          <a:off x="1435946" y="2507190"/>
          <a:ext cx="4346874" cy="1354666"/>
        </a:xfrm>
        <a:prstGeom prst="roundRect">
          <a:avLst>
            <a:gd name="adj" fmla="val 1667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GB" sz="1800" kern="1200" dirty="0"/>
            <a:t>Minimal interference</a:t>
          </a:r>
        </a:p>
        <a:p>
          <a:pPr marL="0" lvl="0" indent="0" algn="l" defTabSz="800100">
            <a:lnSpc>
              <a:spcPct val="90000"/>
            </a:lnSpc>
            <a:spcBef>
              <a:spcPct val="0"/>
            </a:spcBef>
            <a:spcAft>
              <a:spcPct val="35000"/>
            </a:spcAft>
            <a:buFont typeface="Arial" panose="020B0604020202020204" pitchFamily="34" charset="0"/>
            <a:buNone/>
          </a:pPr>
          <a:r>
            <a:rPr lang="en-GB" sz="1800" kern="1200" dirty="0"/>
            <a:t>Simple and low-cost</a:t>
          </a:r>
        </a:p>
        <a:p>
          <a:pPr marL="0" lvl="0" indent="0" algn="l" defTabSz="800100">
            <a:lnSpc>
              <a:spcPct val="90000"/>
            </a:lnSpc>
            <a:spcBef>
              <a:spcPct val="0"/>
            </a:spcBef>
            <a:spcAft>
              <a:spcPct val="35000"/>
            </a:spcAft>
            <a:buFont typeface="Arial" panose="020B0604020202020204" pitchFamily="34" charset="0"/>
            <a:buNone/>
          </a:pPr>
          <a:r>
            <a:rPr lang="en-GB" sz="1800" kern="1200" dirty="0"/>
            <a:t>Better reliability over longer distances</a:t>
          </a:r>
        </a:p>
      </dsp:txBody>
      <dsp:txXfrm>
        <a:off x="1502087" y="2573331"/>
        <a:ext cx="4214592" cy="1222384"/>
      </dsp:txXfrm>
    </dsp:sp>
    <dsp:sp modelId="{99598B6A-F93B-4727-9569-685C0D96C07C}">
      <dsp:nvSpPr>
        <dsp:cNvPr id="0" name=""/>
        <dsp:cNvSpPr/>
      </dsp:nvSpPr>
      <dsp:spPr>
        <a:xfrm>
          <a:off x="0" y="4024416"/>
          <a:ext cx="1354666" cy="1354666"/>
        </a:xfrm>
        <a:prstGeom prst="roundRect">
          <a:avLst>
            <a:gd name="adj" fmla="val 16670"/>
          </a:avLst>
        </a:prstGeom>
        <a:noFill/>
        <a:ln w="12700" cap="flat" cmpd="sng" algn="ctr">
          <a:solidFill>
            <a:srgbClr val="B435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978CED-5E46-4994-955C-A191AE1285A5}">
      <dsp:nvSpPr>
        <dsp:cNvPr id="0" name=""/>
        <dsp:cNvSpPr/>
      </dsp:nvSpPr>
      <dsp:spPr>
        <a:xfrm>
          <a:off x="1435946" y="4024416"/>
          <a:ext cx="4346874" cy="1354666"/>
        </a:xfrm>
        <a:prstGeom prst="roundRect">
          <a:avLst>
            <a:gd name="adj" fmla="val 1667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marL="0" lvl="0" indent="0" algn="l" defTabSz="800100">
            <a:lnSpc>
              <a:spcPct val="90000"/>
            </a:lnSpc>
            <a:spcBef>
              <a:spcPct val="0"/>
            </a:spcBef>
            <a:spcAft>
              <a:spcPct val="35000"/>
            </a:spcAft>
            <a:buNone/>
          </a:pPr>
          <a:r>
            <a:rPr lang="en-GB" sz="1800" kern="1200" dirty="0"/>
            <a:t>Lower transmission speeds</a:t>
          </a:r>
        </a:p>
      </dsp:txBody>
      <dsp:txXfrm>
        <a:off x="1502087" y="4090557"/>
        <a:ext cx="4214592" cy="122238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7753E-976F-4875-B68F-A88902BF95F9}">
      <dsp:nvSpPr>
        <dsp:cNvPr id="0" name=""/>
        <dsp:cNvSpPr/>
      </dsp:nvSpPr>
      <dsp:spPr>
        <a:xfrm>
          <a:off x="0" y="39583"/>
          <a:ext cx="5782821" cy="70653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50800" rIns="76200" bIns="50800" numCol="1" spcCol="1270" anchor="ctr" anchorCtr="0">
          <a:noAutofit/>
        </a:bodyPr>
        <a:lstStyle/>
        <a:p>
          <a:pPr marL="0" lvl="0" indent="0" algn="ctr" defTabSz="1778000">
            <a:lnSpc>
              <a:spcPct val="90000"/>
            </a:lnSpc>
            <a:spcBef>
              <a:spcPct val="0"/>
            </a:spcBef>
            <a:spcAft>
              <a:spcPct val="35000"/>
            </a:spcAft>
            <a:buNone/>
          </a:pPr>
          <a:r>
            <a:rPr lang="en-GB" sz="4000" kern="1200" dirty="0"/>
            <a:t>Parallel transmission</a:t>
          </a:r>
        </a:p>
      </dsp:txBody>
      <dsp:txXfrm>
        <a:off x="20694" y="60277"/>
        <a:ext cx="5741433" cy="665151"/>
      </dsp:txXfrm>
    </dsp:sp>
    <dsp:sp modelId="{A255EF73-F4BF-4465-BCC0-4D7D8C669BDA}">
      <dsp:nvSpPr>
        <dsp:cNvPr id="0" name=""/>
        <dsp:cNvSpPr/>
      </dsp:nvSpPr>
      <dsp:spPr>
        <a:xfrm>
          <a:off x="0" y="989963"/>
          <a:ext cx="1354666" cy="1354666"/>
        </a:xfrm>
        <a:prstGeom prst="roundRect">
          <a:avLst>
            <a:gd name="adj" fmla="val 16670"/>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l="-25000" r="-25000"/>
          </a:stretch>
        </a:blipFill>
        <a:ln w="12700" cap="flat" cmpd="sng" algn="ctr">
          <a:solidFill>
            <a:srgbClr val="A5A5A5"/>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01092E0-294F-4B2A-8449-A5566857ED03}">
      <dsp:nvSpPr>
        <dsp:cNvPr id="0" name=""/>
        <dsp:cNvSpPr/>
      </dsp:nvSpPr>
      <dsp:spPr>
        <a:xfrm>
          <a:off x="1435946" y="989963"/>
          <a:ext cx="4346874" cy="1354666"/>
        </a:xfrm>
        <a:prstGeom prst="roundRect">
          <a:avLst>
            <a:gd name="adj" fmla="val 1667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l" defTabSz="844550">
            <a:lnSpc>
              <a:spcPct val="90000"/>
            </a:lnSpc>
            <a:spcBef>
              <a:spcPct val="0"/>
            </a:spcBef>
            <a:spcAft>
              <a:spcPct val="35000"/>
            </a:spcAft>
            <a:buNone/>
          </a:pPr>
          <a:r>
            <a:rPr lang="en-GB" sz="1900" kern="1200" dirty="0"/>
            <a:t>Commonly used with printer cables and other internal device connections</a:t>
          </a:r>
        </a:p>
      </dsp:txBody>
      <dsp:txXfrm>
        <a:off x="1502087" y="1056104"/>
        <a:ext cx="4214592" cy="1222384"/>
      </dsp:txXfrm>
    </dsp:sp>
    <dsp:sp modelId="{3BE5D449-C0DC-42FD-A8FC-3CD190E0B101}">
      <dsp:nvSpPr>
        <dsp:cNvPr id="0" name=""/>
        <dsp:cNvSpPr/>
      </dsp:nvSpPr>
      <dsp:spPr>
        <a:xfrm>
          <a:off x="0" y="2507190"/>
          <a:ext cx="1354666" cy="1354666"/>
        </a:xfrm>
        <a:prstGeom prst="roundRect">
          <a:avLst>
            <a:gd name="adj" fmla="val 16670"/>
          </a:avLst>
        </a:prstGeom>
        <a:noFill/>
        <a:ln w="12700" cap="flat" cmpd="sng" algn="ctr">
          <a:solidFill>
            <a:srgbClr val="A5A5A5"/>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C15EFF-1720-423C-8103-52685EA016B5}">
      <dsp:nvSpPr>
        <dsp:cNvPr id="0" name=""/>
        <dsp:cNvSpPr/>
      </dsp:nvSpPr>
      <dsp:spPr>
        <a:xfrm>
          <a:off x="1435946" y="2507190"/>
          <a:ext cx="4346874" cy="1354666"/>
        </a:xfrm>
        <a:prstGeom prst="roundRect">
          <a:avLst>
            <a:gd name="adj" fmla="val 1667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l" defTabSz="844550">
            <a:lnSpc>
              <a:spcPct val="90000"/>
            </a:lnSpc>
            <a:spcBef>
              <a:spcPct val="0"/>
            </a:spcBef>
            <a:spcAft>
              <a:spcPct val="35000"/>
            </a:spcAft>
            <a:buNone/>
          </a:pPr>
          <a:r>
            <a:rPr lang="en-GB" sz="1900" kern="1200" dirty="0"/>
            <a:t>Very fast transmission speeds</a:t>
          </a:r>
        </a:p>
        <a:p>
          <a:pPr marL="0" lvl="0" indent="0" algn="l" defTabSz="844550">
            <a:lnSpc>
              <a:spcPct val="90000"/>
            </a:lnSpc>
            <a:spcBef>
              <a:spcPct val="0"/>
            </a:spcBef>
            <a:spcAft>
              <a:spcPct val="35000"/>
            </a:spcAft>
            <a:buNone/>
          </a:pPr>
          <a:r>
            <a:rPr lang="en-GB" sz="1900" kern="1200" dirty="0"/>
            <a:t>Data can be sent in both directions at the same time</a:t>
          </a:r>
        </a:p>
      </dsp:txBody>
      <dsp:txXfrm>
        <a:off x="1502087" y="2573331"/>
        <a:ext cx="4214592" cy="1222384"/>
      </dsp:txXfrm>
    </dsp:sp>
    <dsp:sp modelId="{99598B6A-F93B-4727-9569-685C0D96C07C}">
      <dsp:nvSpPr>
        <dsp:cNvPr id="0" name=""/>
        <dsp:cNvSpPr/>
      </dsp:nvSpPr>
      <dsp:spPr>
        <a:xfrm>
          <a:off x="0" y="4024416"/>
          <a:ext cx="1354666" cy="1354666"/>
        </a:xfrm>
        <a:prstGeom prst="roundRect">
          <a:avLst>
            <a:gd name="adj" fmla="val 16670"/>
          </a:avLst>
        </a:prstGeom>
        <a:noFill/>
        <a:ln w="12700" cap="flat" cmpd="sng" algn="ctr">
          <a:solidFill>
            <a:srgbClr val="B43500"/>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6978CED-5E46-4994-955C-A191AE1285A5}">
      <dsp:nvSpPr>
        <dsp:cNvPr id="0" name=""/>
        <dsp:cNvSpPr/>
      </dsp:nvSpPr>
      <dsp:spPr>
        <a:xfrm>
          <a:off x="1435946" y="4024416"/>
          <a:ext cx="4346874" cy="1354666"/>
        </a:xfrm>
        <a:prstGeom prst="roundRect">
          <a:avLst>
            <a:gd name="adj" fmla="val 1667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5128" tIns="135128" rIns="135128" bIns="135128" numCol="1" spcCol="1270" anchor="ctr" anchorCtr="0">
          <a:noAutofit/>
        </a:bodyPr>
        <a:lstStyle/>
        <a:p>
          <a:pPr marL="0" lvl="0" indent="0" algn="l" defTabSz="844550">
            <a:lnSpc>
              <a:spcPct val="90000"/>
            </a:lnSpc>
            <a:spcBef>
              <a:spcPct val="0"/>
            </a:spcBef>
            <a:spcAft>
              <a:spcPct val="35000"/>
            </a:spcAft>
            <a:buNone/>
          </a:pPr>
          <a:r>
            <a:rPr lang="en-GB" sz="1900" kern="1200" dirty="0"/>
            <a:t>Can only be used over very short distances</a:t>
          </a:r>
        </a:p>
        <a:p>
          <a:pPr marL="0" lvl="0" indent="0" algn="l" defTabSz="844550">
            <a:lnSpc>
              <a:spcPct val="90000"/>
            </a:lnSpc>
            <a:spcBef>
              <a:spcPct val="0"/>
            </a:spcBef>
            <a:spcAft>
              <a:spcPct val="35000"/>
            </a:spcAft>
            <a:buNone/>
          </a:pPr>
          <a:r>
            <a:rPr lang="en-GB" sz="1900" kern="1200" dirty="0"/>
            <a:t>More prone to interference</a:t>
          </a:r>
        </a:p>
      </dsp:txBody>
      <dsp:txXfrm>
        <a:off x="1502087" y="4090557"/>
        <a:ext cx="4214592" cy="1222384"/>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A54553-2A3F-4C94-AA62-ABFC40E07E5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B0996737-DD0F-4016-9F43-1C3C1167168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EE11316-EC54-4B9D-B716-15D72C7F09B1}" type="datetimeFigureOut">
              <a:rPr lang="en-GB" smtClean="0"/>
              <a:t>16/05/2022</a:t>
            </a:fld>
            <a:endParaRPr lang="en-GB"/>
          </a:p>
        </p:txBody>
      </p:sp>
      <p:sp>
        <p:nvSpPr>
          <p:cNvPr id="4" name="Footer Placeholder 3">
            <a:extLst>
              <a:ext uri="{FF2B5EF4-FFF2-40B4-BE49-F238E27FC236}">
                <a16:creationId xmlns:a16="http://schemas.microsoft.com/office/drawing/2014/main" id="{147A745F-1972-497D-8174-B5868433DF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A8CE6AC0-619C-486F-A045-23AE3DF3E3C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93CFB52-3982-4249-B609-86D9E8883619}" type="slidenum">
              <a:rPr lang="en-GB" smtClean="0"/>
              <a:t>‹#›</a:t>
            </a:fld>
            <a:endParaRPr lang="en-GB"/>
          </a:p>
        </p:txBody>
      </p:sp>
    </p:spTree>
    <p:extLst>
      <p:ext uri="{BB962C8B-B14F-4D97-AF65-F5344CB8AC3E}">
        <p14:creationId xmlns:p14="http://schemas.microsoft.com/office/powerpoint/2010/main" val="795163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001D13-C50D-4862-A50B-4E5D0E7CA144}" type="datetimeFigureOut">
              <a:rPr lang="en-GB" smtClean="0"/>
              <a:t>16/05/2022</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0E031B-FEB2-4221-8849-89831B3F1108}" type="slidenum">
              <a:rPr lang="en-GB" smtClean="0"/>
              <a:t>‹#›</a:t>
            </a:fld>
            <a:endParaRPr lang="en-GB" dirty="0"/>
          </a:p>
        </p:txBody>
      </p:sp>
    </p:spTree>
    <p:extLst>
      <p:ext uri="{BB962C8B-B14F-4D97-AF65-F5344CB8AC3E}">
        <p14:creationId xmlns:p14="http://schemas.microsoft.com/office/powerpoint/2010/main" val="3697644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980E031B-FEB2-4221-8849-89831B3F1108}" type="slidenum">
              <a:rPr lang="en-GB" smtClean="0"/>
              <a:t>10</a:t>
            </a:fld>
            <a:endParaRPr lang="en-GB" dirty="0"/>
          </a:p>
        </p:txBody>
      </p:sp>
    </p:spTree>
    <p:extLst>
      <p:ext uri="{BB962C8B-B14F-4D97-AF65-F5344CB8AC3E}">
        <p14:creationId xmlns:p14="http://schemas.microsoft.com/office/powerpoint/2010/main" val="2061081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67369-A355-4D19-AEEC-9D0100EF3C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87924699-1673-40E6-9241-180D779421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9CBE935-35F7-402A-9F4D-C68B29248BA9}"/>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5" name="Footer Placeholder 4">
            <a:extLst>
              <a:ext uri="{FF2B5EF4-FFF2-40B4-BE49-F238E27FC236}">
                <a16:creationId xmlns:a16="http://schemas.microsoft.com/office/drawing/2014/main" id="{004D7A12-EBDB-45B0-9FF5-F17A7EF6715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037C7090-3E02-4EBA-95BB-2F3FF45C1E86}"/>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018429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7CF4-093B-4C66-A107-491AFAE190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87249AB-C9F4-4A3F-A472-C5FDCF3AAF3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06A491B-E55E-4F96-A0A2-08ABE85381B5}"/>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5" name="Footer Placeholder 4">
            <a:extLst>
              <a:ext uri="{FF2B5EF4-FFF2-40B4-BE49-F238E27FC236}">
                <a16:creationId xmlns:a16="http://schemas.microsoft.com/office/drawing/2014/main" id="{5D5EE9C3-3BD7-499C-9C8F-E914AF0CCD4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B8CA0F2C-BB77-4D20-BD01-009748E06A21}"/>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443006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EAB41-C5F4-4F77-8A5C-14CA38A3E7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FC5B807-A41F-4934-B9B5-F06B7FECFD6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D1BA9AEC-9ECF-4105-84CF-CCC301ADB0FE}"/>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5" name="Footer Placeholder 4">
            <a:extLst>
              <a:ext uri="{FF2B5EF4-FFF2-40B4-BE49-F238E27FC236}">
                <a16:creationId xmlns:a16="http://schemas.microsoft.com/office/drawing/2014/main" id="{199A81FA-05E8-4A50-9FC5-A94F3634CB56}"/>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8EB13BE1-EE3A-45AF-BF76-41B86D070B05}"/>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17307353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01685-8ECA-46F3-BC78-B8E4D43D8A8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4A252D3-EA14-47C6-8BDF-B549E97DE48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89FA317-5ECF-4693-88DD-BCA7EC3919D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CCCA0AA-2226-49B9-8142-4F45D8CE683F}"/>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6" name="Footer Placeholder 5">
            <a:extLst>
              <a:ext uri="{FF2B5EF4-FFF2-40B4-BE49-F238E27FC236}">
                <a16:creationId xmlns:a16="http://schemas.microsoft.com/office/drawing/2014/main" id="{197F340D-9456-43F7-A764-CBD130EF6886}"/>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F72910B-6BBA-4043-8CD2-7AE056F14AA9}"/>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3606041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960B3-16E7-4811-A5F8-83614659ACE9}"/>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F4DB62EE-BCB8-429D-BB6F-89DF9F3EA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34AD67-4C0E-484D-B7FF-FB976A1710F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4D7660E-8B38-43A5-A48D-A4523AA03A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CE7EFE82-A3BC-42B8-9F71-5C3C1ADD41B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4BBD8DB3-F688-4AB2-AAFC-0E5E7F2EB1DC}"/>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8" name="Footer Placeholder 7">
            <a:extLst>
              <a:ext uri="{FF2B5EF4-FFF2-40B4-BE49-F238E27FC236}">
                <a16:creationId xmlns:a16="http://schemas.microsoft.com/office/drawing/2014/main" id="{848F70DA-1B40-4425-B025-A8D06411AA42}"/>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0A95CE6D-8A51-4013-A622-D11EFBB72DA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8052274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E232E-9E69-481F-BDD8-74F4219ED32E}"/>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8BAD69E5-4081-437F-98E4-2CAF4F5CCAA8}"/>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4" name="Footer Placeholder 3">
            <a:extLst>
              <a:ext uri="{FF2B5EF4-FFF2-40B4-BE49-F238E27FC236}">
                <a16:creationId xmlns:a16="http://schemas.microsoft.com/office/drawing/2014/main" id="{E1B30953-0189-477F-ABF4-CE4D2ED1E480}"/>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5BCC43C7-506A-468F-96CB-96E8683CF1B7}"/>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3998141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o 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B0CC6F3-15F4-4749-9242-EDD4FF8C5DBF}"/>
              </a:ext>
            </a:extLst>
          </p:cNvPr>
          <p:cNvSpPr/>
          <p:nvPr userDrawn="1"/>
        </p:nvSpPr>
        <p:spPr>
          <a:xfrm>
            <a:off x="10088880" y="0"/>
            <a:ext cx="2103120" cy="68580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tIns="180000" rtlCol="0" anchor="t"/>
          <a:lstStyle/>
          <a:p>
            <a:pPr algn="ctr"/>
            <a:r>
              <a:rPr lang="en-GB" sz="2400" b="1" dirty="0">
                <a:solidFill>
                  <a:schemeClr val="bg1"/>
                </a:solidFill>
                <a:latin typeface="Century Gothic" panose="020B0502020202020204" pitchFamily="34" charset="0"/>
              </a:rPr>
              <a:t>CAMBRIDGE IGCSE</a:t>
            </a:r>
          </a:p>
          <a:p>
            <a:pPr algn="ctr"/>
            <a:r>
              <a:rPr lang="en-GB" sz="2400" b="1" dirty="0">
                <a:solidFill>
                  <a:schemeClr val="bg1"/>
                </a:solidFill>
                <a:latin typeface="Century Gothic" panose="020B0502020202020204" pitchFamily="34" charset="0"/>
              </a:rPr>
              <a:t>(0478/0984)</a:t>
            </a:r>
          </a:p>
          <a:p>
            <a:pPr algn="ctr"/>
            <a:endParaRPr lang="en-GB" sz="2400" b="1" dirty="0">
              <a:solidFill>
                <a:schemeClr val="bg1"/>
              </a:solidFill>
              <a:latin typeface="Century Gothic" panose="020B0502020202020204" pitchFamily="34" charset="0"/>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2800" b="1" dirty="0">
              <a:solidFill>
                <a:schemeClr val="bg1"/>
              </a:solidFill>
            </a:endParaRPr>
          </a:p>
          <a:p>
            <a:pPr algn="ctr"/>
            <a:endParaRPr lang="en-GB" sz="1600" dirty="0">
              <a:solidFill>
                <a:schemeClr val="bg1">
                  <a:lumMod val="85000"/>
                </a:schemeClr>
              </a:solidFill>
            </a:endParaRPr>
          </a:p>
        </p:txBody>
      </p:sp>
      <p:sp>
        <p:nvSpPr>
          <p:cNvPr id="6" name="Oval 5">
            <a:extLst>
              <a:ext uri="{FF2B5EF4-FFF2-40B4-BE49-F238E27FC236}">
                <a16:creationId xmlns:a16="http://schemas.microsoft.com/office/drawing/2014/main" id="{8B2C14A7-E460-4357-90EB-FC2CBD74FCA1}"/>
              </a:ext>
            </a:extLst>
          </p:cNvPr>
          <p:cNvSpPr/>
          <p:nvPr userDrawn="1"/>
        </p:nvSpPr>
        <p:spPr>
          <a:xfrm>
            <a:off x="8915400" y="2354373"/>
            <a:ext cx="2140171" cy="2140171"/>
          </a:xfrm>
          <a:prstGeom prst="ellipse">
            <a:avLst/>
          </a:prstGeom>
          <a:solidFill>
            <a:schemeClr val="bg1"/>
          </a:solidFill>
          <a:ln w="28575">
            <a:solidFill>
              <a:srgbClr val="F265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 name="Picture 6" descr="A picture containing brush&#10;&#10;Description automatically generated">
            <a:extLst>
              <a:ext uri="{FF2B5EF4-FFF2-40B4-BE49-F238E27FC236}">
                <a16:creationId xmlns:a16="http://schemas.microsoft.com/office/drawing/2014/main" id="{802D9E8A-D873-49FF-AED9-2CD228DFF517}"/>
              </a:ext>
            </a:extLst>
          </p:cNvPr>
          <p:cNvPicPr>
            <a:picLocks noChangeAspect="1"/>
          </p:cNvPicPr>
          <p:nvPr userDrawn="1"/>
        </p:nvPicPr>
        <p:blipFill rotWithShape="1">
          <a:blip r:embed="rId2">
            <a:alphaModFix/>
            <a:extLst>
              <a:ext uri="{28A0092B-C50C-407E-A947-70E740481C1C}">
                <a14:useLocalDpi xmlns:a14="http://schemas.microsoft.com/office/drawing/2010/main" val="0"/>
              </a:ext>
            </a:extLst>
          </a:blip>
          <a:srcRect t="161" r="-3" b="-3"/>
          <a:stretch/>
        </p:blipFill>
        <p:spPr>
          <a:xfrm>
            <a:off x="9029206" y="2474254"/>
            <a:ext cx="1912560" cy="1909489"/>
          </a:xfrm>
          <a:custGeom>
            <a:avLst/>
            <a:gdLst>
              <a:gd name="connsiteX0" fmla="*/ 3028805 w 6057610"/>
              <a:gd name="connsiteY0" fmla="*/ 0 h 6057610"/>
              <a:gd name="connsiteX1" fmla="*/ 6057610 w 6057610"/>
              <a:gd name="connsiteY1" fmla="*/ 3028805 h 6057610"/>
              <a:gd name="connsiteX2" fmla="*/ 3028805 w 6057610"/>
              <a:gd name="connsiteY2" fmla="*/ 6057610 h 6057610"/>
              <a:gd name="connsiteX3" fmla="*/ 0 w 6057610"/>
              <a:gd name="connsiteY3" fmla="*/ 3028805 h 6057610"/>
              <a:gd name="connsiteX4" fmla="*/ 3028805 w 6057610"/>
              <a:gd name="connsiteY4" fmla="*/ 0 h 60576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10" name="Rectangle 9">
            <a:extLst>
              <a:ext uri="{FF2B5EF4-FFF2-40B4-BE49-F238E27FC236}">
                <a16:creationId xmlns:a16="http://schemas.microsoft.com/office/drawing/2014/main" id="{1FE3659E-7B75-43EA-B2D2-F180CB40635B}"/>
              </a:ext>
            </a:extLst>
          </p:cNvPr>
          <p:cNvSpPr/>
          <p:nvPr userDrawn="1"/>
        </p:nvSpPr>
        <p:spPr>
          <a:xfrm>
            <a:off x="0" y="6451184"/>
            <a:ext cx="10088879" cy="338554"/>
          </a:xfrm>
          <a:prstGeom prst="rect">
            <a:avLst/>
          </a:prstGeom>
        </p:spPr>
        <p:txBody>
          <a:bodyPr wrap="square">
            <a:spAutoFit/>
          </a:bodyPr>
          <a:lstStyle/>
          <a:p>
            <a:pPr algn="ctr"/>
            <a:r>
              <a:rPr lang="en-GB" sz="1600" b="1" dirty="0">
                <a:solidFill>
                  <a:schemeClr val="bg1">
                    <a:lumMod val="50000"/>
                  </a:schemeClr>
                </a:solidFill>
              </a:rPr>
              <a:t>Teacher site: </a:t>
            </a:r>
            <a:r>
              <a:rPr lang="en-GB" sz="1600" dirty="0">
                <a:solidFill>
                  <a:schemeClr val="bg1">
                    <a:lumMod val="50000"/>
                  </a:schemeClr>
                </a:solidFill>
              </a:rPr>
              <a:t>craigndave.org  |  </a:t>
            </a:r>
            <a:r>
              <a:rPr lang="en-GB" sz="1600" b="1" dirty="0">
                <a:solidFill>
                  <a:schemeClr val="bg1">
                    <a:lumMod val="50000"/>
                  </a:schemeClr>
                </a:solidFill>
              </a:rPr>
              <a:t>Student site: </a:t>
            </a:r>
            <a:r>
              <a:rPr lang="en-GB" sz="1600" dirty="0">
                <a:solidFill>
                  <a:schemeClr val="bg1">
                    <a:lumMod val="50000"/>
                  </a:schemeClr>
                </a:solidFill>
              </a:rPr>
              <a:t>student.craigndave.org  |  </a:t>
            </a:r>
            <a:r>
              <a:rPr lang="en-GB" sz="1600" b="1" dirty="0">
                <a:solidFill>
                  <a:schemeClr val="bg1">
                    <a:lumMod val="50000"/>
                  </a:schemeClr>
                </a:solidFill>
              </a:rPr>
              <a:t>Smart revise: </a:t>
            </a:r>
            <a:r>
              <a:rPr lang="en-GB" sz="1600" dirty="0">
                <a:solidFill>
                  <a:schemeClr val="bg1">
                    <a:lumMod val="50000"/>
                  </a:schemeClr>
                </a:solidFill>
              </a:rPr>
              <a:t>smartrevise.co.uk </a:t>
            </a:r>
          </a:p>
        </p:txBody>
      </p:sp>
    </p:spTree>
    <p:extLst>
      <p:ext uri="{BB962C8B-B14F-4D97-AF65-F5344CB8AC3E}">
        <p14:creationId xmlns:p14="http://schemas.microsoft.com/office/powerpoint/2010/main" val="4090015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Video content slid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F19224-2084-4C89-AEFB-59035B0F8D1F}"/>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3" name="Footer Placeholder 2">
            <a:extLst>
              <a:ext uri="{FF2B5EF4-FFF2-40B4-BE49-F238E27FC236}">
                <a16:creationId xmlns:a16="http://schemas.microsoft.com/office/drawing/2014/main" id="{2B8E9D01-9A95-4DC3-AD5E-0657203E7B20}"/>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30DB0936-CF61-444A-88C9-B1BE2B016644}"/>
              </a:ext>
            </a:extLst>
          </p:cNvPr>
          <p:cNvSpPr>
            <a:spLocks noGrp="1"/>
          </p:cNvSpPr>
          <p:nvPr>
            <p:ph type="sldNum" sz="quarter" idx="12"/>
          </p:nvPr>
        </p:nvSpPr>
        <p:spPr/>
        <p:txBody>
          <a:bodyPr/>
          <a:lstStyle/>
          <a:p>
            <a:fld id="{CFC6102D-FACC-46D2-982F-C509AB4FB7F4}" type="slidenum">
              <a:rPr lang="en-GB" smtClean="0"/>
              <a:t>‹#›</a:t>
            </a:fld>
            <a:endParaRPr lang="en-GB" dirty="0"/>
          </a:p>
        </p:txBody>
      </p:sp>
      <p:grpSp>
        <p:nvGrpSpPr>
          <p:cNvPr id="13" name="Group 12">
            <a:extLst>
              <a:ext uri="{FF2B5EF4-FFF2-40B4-BE49-F238E27FC236}">
                <a16:creationId xmlns:a16="http://schemas.microsoft.com/office/drawing/2014/main" id="{87AACC54-1682-4874-BD09-D8CF92EDAE43}"/>
              </a:ext>
            </a:extLst>
          </p:cNvPr>
          <p:cNvGrpSpPr/>
          <p:nvPr userDrawn="1"/>
        </p:nvGrpSpPr>
        <p:grpSpPr>
          <a:xfrm>
            <a:off x="-1" y="0"/>
            <a:ext cx="12192001" cy="419100"/>
            <a:chOff x="-1" y="0"/>
            <a:chExt cx="12192001" cy="533400"/>
          </a:xfrm>
        </p:grpSpPr>
        <p:sp>
          <p:nvSpPr>
            <p:cNvPr id="15" name="Rectangle 14">
              <a:extLst>
                <a:ext uri="{FF2B5EF4-FFF2-40B4-BE49-F238E27FC236}">
                  <a16:creationId xmlns:a16="http://schemas.microsoft.com/office/drawing/2014/main" id="{A3B4ABA0-791C-4EF4-91E1-0A7F5B882D36}"/>
                </a:ext>
              </a:extLst>
            </p:cNvPr>
            <p:cNvSpPr/>
            <p:nvPr userDrawn="1"/>
          </p:nvSpPr>
          <p:spPr>
            <a:xfrm>
              <a:off x="-1" y="0"/>
              <a:ext cx="10095723"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GB" b="1" dirty="0">
                  <a:solidFill>
                    <a:schemeClr val="bg1"/>
                  </a:solidFill>
                </a:rPr>
                <a:t>2.1 Types and methods of data transmission | Data transmission methods</a:t>
              </a:r>
            </a:p>
          </p:txBody>
        </p:sp>
        <p:sp>
          <p:nvSpPr>
            <p:cNvPr id="14" name="Rectangle 13">
              <a:extLst>
                <a:ext uri="{FF2B5EF4-FFF2-40B4-BE49-F238E27FC236}">
                  <a16:creationId xmlns:a16="http://schemas.microsoft.com/office/drawing/2014/main" id="{7E5FF8B6-F953-41A2-8CA9-2F6F841BDD32}"/>
                </a:ext>
              </a:extLst>
            </p:cNvPr>
            <p:cNvSpPr/>
            <p:nvPr/>
          </p:nvSpPr>
          <p:spPr>
            <a:xfrm>
              <a:off x="8992998" y="0"/>
              <a:ext cx="3199002" cy="533400"/>
            </a:xfrm>
            <a:prstGeom prst="rect">
              <a:avLst/>
            </a:prstGeom>
            <a:solidFill>
              <a:srgbClr val="F26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GB" b="1" dirty="0">
                  <a:solidFill>
                    <a:schemeClr val="bg1"/>
                  </a:solidFill>
                </a:rPr>
                <a:t>CAMBRIDGE IGCSE (0478/0984)</a:t>
              </a:r>
            </a:p>
          </p:txBody>
        </p:sp>
      </p:grpSp>
    </p:spTree>
    <p:extLst>
      <p:ext uri="{BB962C8B-B14F-4D97-AF65-F5344CB8AC3E}">
        <p14:creationId xmlns:p14="http://schemas.microsoft.com/office/powerpoint/2010/main" val="920910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E615E-FCEC-48A2-8A58-855AC1751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DCA6C2E3-EFFC-4E46-8E3B-353E3410C7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A8F8DFF-FB25-4FDB-AE01-189095807A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575E6D8-83E5-4A1F-91A5-3CC7778FDD15}"/>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6" name="Footer Placeholder 5">
            <a:extLst>
              <a:ext uri="{FF2B5EF4-FFF2-40B4-BE49-F238E27FC236}">
                <a16:creationId xmlns:a16="http://schemas.microsoft.com/office/drawing/2014/main" id="{2962ED67-D636-4841-A380-71A8E2C2234C}"/>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1ECBE11-BFFB-4E5F-95F9-EF6A83AD83A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394181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13C68-F937-4619-AC2A-808BB5FBCD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64D0E72-F13A-47A1-9749-F939C5B6148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FDACE7D0-DEEB-4789-9725-4826AE9B0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B252C0A-0BB5-4C36-AC67-AFCF2DC0A65F}"/>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6" name="Footer Placeholder 5">
            <a:extLst>
              <a:ext uri="{FF2B5EF4-FFF2-40B4-BE49-F238E27FC236}">
                <a16:creationId xmlns:a16="http://schemas.microsoft.com/office/drawing/2014/main" id="{B01906B4-69CB-471E-B443-A6DD5955608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5AC21424-3B0E-4EEC-875D-327603D191FC}"/>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82049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6F412-1941-41D2-AC46-E8C20860A8D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B2A1B5D-15E6-4D4B-B6F5-E46A1A7234B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E418167-751F-4B50-84DD-7F7377E43E1D}"/>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5" name="Footer Placeholder 4">
            <a:extLst>
              <a:ext uri="{FF2B5EF4-FFF2-40B4-BE49-F238E27FC236}">
                <a16:creationId xmlns:a16="http://schemas.microsoft.com/office/drawing/2014/main" id="{8AA10E4B-ECAF-4B58-9633-F0D2214AE3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6D0936C-E069-45AA-8B1E-8B295D2AAB7A}"/>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423737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0BBC43-F9FB-4DC0-9192-4C6BBC0BBF6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665541F-6124-45F5-9E33-C88771523324}"/>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B28D7AD-9B6B-4D71-A044-0A8CD107B0C3}"/>
              </a:ext>
            </a:extLst>
          </p:cNvPr>
          <p:cNvSpPr>
            <a:spLocks noGrp="1"/>
          </p:cNvSpPr>
          <p:nvPr>
            <p:ph type="dt" sz="half" idx="10"/>
          </p:nvPr>
        </p:nvSpPr>
        <p:spPr/>
        <p:txBody>
          <a:bodyPr/>
          <a:lstStyle/>
          <a:p>
            <a:fld id="{83EBD5A5-95A5-4ED6-B746-12AF9CEAF3AB}" type="datetimeFigureOut">
              <a:rPr lang="en-GB" smtClean="0"/>
              <a:t>16/05/2022</a:t>
            </a:fld>
            <a:endParaRPr lang="en-GB" dirty="0"/>
          </a:p>
        </p:txBody>
      </p:sp>
      <p:sp>
        <p:nvSpPr>
          <p:cNvPr id="5" name="Footer Placeholder 4">
            <a:extLst>
              <a:ext uri="{FF2B5EF4-FFF2-40B4-BE49-F238E27FC236}">
                <a16:creationId xmlns:a16="http://schemas.microsoft.com/office/drawing/2014/main" id="{FB6F19E0-2B2A-44A5-95AA-5794953B827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E8AE265-1899-40B9-ABCC-0F0FA6B45232}"/>
              </a:ext>
            </a:extLst>
          </p:cNvPr>
          <p:cNvSpPr>
            <a:spLocks noGrp="1"/>
          </p:cNvSpPr>
          <p:nvPr>
            <p:ph type="sldNum" sz="quarter" idx="12"/>
          </p:nvPr>
        </p:nvSpPr>
        <p:spPr/>
        <p:txBody>
          <a:bodyPr/>
          <a:lstStyle/>
          <a:p>
            <a:fld id="{CFC6102D-FACC-46D2-982F-C509AB4FB7F4}" type="slidenum">
              <a:rPr lang="en-GB" smtClean="0"/>
              <a:t>‹#›</a:t>
            </a:fld>
            <a:endParaRPr lang="en-GB" dirty="0"/>
          </a:p>
        </p:txBody>
      </p:sp>
    </p:spTree>
    <p:extLst>
      <p:ext uri="{BB962C8B-B14F-4D97-AF65-F5344CB8AC3E}">
        <p14:creationId xmlns:p14="http://schemas.microsoft.com/office/powerpoint/2010/main" val="2109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68667-8C97-4EFE-84F3-BDAFCA0DEE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DA6806C-F4A6-4145-8586-E1BA0D6AA7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A371F7-F0FF-4998-A335-671F6745CC7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EBD5A5-95A5-4ED6-B746-12AF9CEAF3AB}" type="datetimeFigureOut">
              <a:rPr lang="en-GB" smtClean="0"/>
              <a:t>16/05/2022</a:t>
            </a:fld>
            <a:endParaRPr lang="en-GB" dirty="0"/>
          </a:p>
        </p:txBody>
      </p:sp>
      <p:sp>
        <p:nvSpPr>
          <p:cNvPr id="5" name="Footer Placeholder 4">
            <a:extLst>
              <a:ext uri="{FF2B5EF4-FFF2-40B4-BE49-F238E27FC236}">
                <a16:creationId xmlns:a16="http://schemas.microsoft.com/office/drawing/2014/main" id="{3E11381F-CB31-4B37-8E8C-1B4AD2A089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04B29192-27C3-435C-AA4E-0FF49DC56D6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C6102D-FACC-46D2-982F-C509AB4FB7F4}" type="slidenum">
              <a:rPr lang="en-GB" smtClean="0"/>
              <a:t>‹#›</a:t>
            </a:fld>
            <a:endParaRPr lang="en-GB" dirty="0"/>
          </a:p>
        </p:txBody>
      </p:sp>
    </p:spTree>
    <p:extLst>
      <p:ext uri="{BB962C8B-B14F-4D97-AF65-F5344CB8AC3E}">
        <p14:creationId xmlns:p14="http://schemas.microsoft.com/office/powerpoint/2010/main" val="34070138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0"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2.xml"/><Relationship Id="rId7" Type="http://schemas.openxmlformats.org/officeDocument/2006/relationships/image" Target="../media/image15.png"/><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3" Type="http://schemas.openxmlformats.org/officeDocument/2006/relationships/image" Target="../media/image15.png"/><Relationship Id="rId7" Type="http://schemas.openxmlformats.org/officeDocument/2006/relationships/diagramQuickStyle" Target="../diagrams/quickStyle3.xml"/><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16.png"/><Relationship Id="rId9" Type="http://schemas.microsoft.com/office/2007/relationships/diagramDrawing" Target="../diagrams/drawing3.xml"/></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Layout" Target="../diagrams/layout4.xml"/><Relationship Id="rId7" Type="http://schemas.openxmlformats.org/officeDocument/2006/relationships/image" Target="../media/image15.png"/><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9"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jpeg"/><Relationship Id="rId1" Type="http://schemas.openxmlformats.org/officeDocument/2006/relationships/slideLayout" Target="../slideLayouts/slideLayout8.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jpeg"/><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diagramLayout" Target="../diagrams/layout6.xml"/><Relationship Id="rId3" Type="http://schemas.openxmlformats.org/officeDocument/2006/relationships/diagramData" Target="../diagrams/data5.xml"/><Relationship Id="rId7" Type="http://schemas.microsoft.com/office/2007/relationships/diagramDrawing" Target="../diagrams/drawing5.xml"/><Relationship Id="rId12" Type="http://schemas.openxmlformats.org/officeDocument/2006/relationships/diagramData" Target="../diagrams/data6.xml"/><Relationship Id="rId2" Type="http://schemas.openxmlformats.org/officeDocument/2006/relationships/notesSlide" Target="../notesSlides/notesSlide1.xml"/><Relationship Id="rId16" Type="http://schemas.microsoft.com/office/2007/relationships/diagramDrawing" Target="../diagrams/drawing6.xml"/><Relationship Id="rId1" Type="http://schemas.openxmlformats.org/officeDocument/2006/relationships/slideLayout" Target="../slideLayouts/slideLayout8.xml"/><Relationship Id="rId6" Type="http://schemas.openxmlformats.org/officeDocument/2006/relationships/diagramColors" Target="../diagrams/colors5.xml"/><Relationship Id="rId11" Type="http://schemas.openxmlformats.org/officeDocument/2006/relationships/image" Target="../media/image27.svg"/><Relationship Id="rId5" Type="http://schemas.openxmlformats.org/officeDocument/2006/relationships/diagramQuickStyle" Target="../diagrams/quickStyle5.xml"/><Relationship Id="rId15" Type="http://schemas.openxmlformats.org/officeDocument/2006/relationships/diagramColors" Target="../diagrams/colors6.xml"/><Relationship Id="rId10" Type="http://schemas.openxmlformats.org/officeDocument/2006/relationships/image" Target="../media/image26.png"/><Relationship Id="rId4" Type="http://schemas.openxmlformats.org/officeDocument/2006/relationships/diagramLayout" Target="../diagrams/layout5.xml"/><Relationship Id="rId9" Type="http://schemas.openxmlformats.org/officeDocument/2006/relationships/image" Target="../media/image25.svg"/><Relationship Id="rId14" Type="http://schemas.openxmlformats.org/officeDocument/2006/relationships/diagramQuickStyle" Target="../diagrams/quickStyle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jpeg"/><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FABF442-A178-4CA8-8D0A-DF0A8E18C046}"/>
              </a:ext>
            </a:extLst>
          </p:cNvPr>
          <p:cNvSpPr txBox="1"/>
          <p:nvPr/>
        </p:nvSpPr>
        <p:spPr>
          <a:xfrm>
            <a:off x="927652" y="1650609"/>
            <a:ext cx="6997148" cy="3450613"/>
          </a:xfrm>
          <a:prstGeom prst="rect">
            <a:avLst/>
          </a:prstGeom>
        </p:spPr>
        <p:txBody>
          <a:bodyPr vert="horz" lIns="91440" tIns="45720" rIns="91440" bIns="45720" rtlCol="0" anchor="ctr">
            <a:normAutofit/>
          </a:bodyPr>
          <a:lstStyle/>
          <a:p>
            <a:pPr algn="ctr">
              <a:lnSpc>
                <a:spcPct val="90000"/>
              </a:lnSpc>
              <a:spcAft>
                <a:spcPts val="1200"/>
              </a:spcAft>
            </a:pPr>
            <a:r>
              <a:rPr lang="en-GB" sz="4000" dirty="0">
                <a:solidFill>
                  <a:schemeClr val="accent2">
                    <a:lumMod val="75000"/>
                  </a:schemeClr>
                </a:solidFill>
              </a:rPr>
              <a:t>Data transmission methods</a:t>
            </a:r>
            <a:endParaRPr lang="en-US" sz="4000" dirty="0">
              <a:solidFill>
                <a:schemeClr val="accent2">
                  <a:lumMod val="75000"/>
                </a:schemeClr>
              </a:solidFill>
            </a:endParaRPr>
          </a:p>
        </p:txBody>
      </p:sp>
      <p:sp>
        <p:nvSpPr>
          <p:cNvPr id="7" name="TextBox 6">
            <a:extLst>
              <a:ext uri="{FF2B5EF4-FFF2-40B4-BE49-F238E27FC236}">
                <a16:creationId xmlns:a16="http://schemas.microsoft.com/office/drawing/2014/main" id="{1C27E089-29FB-A958-32D7-8E9B3B254384}"/>
              </a:ext>
            </a:extLst>
          </p:cNvPr>
          <p:cNvSpPr txBox="1"/>
          <p:nvPr/>
        </p:nvSpPr>
        <p:spPr>
          <a:xfrm>
            <a:off x="304800" y="92955"/>
            <a:ext cx="9879279" cy="766028"/>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dirty="0">
                <a:solidFill>
                  <a:schemeClr val="accent2">
                    <a:lumMod val="75000"/>
                  </a:schemeClr>
                </a:solidFill>
                <a:latin typeface="Century Gothic" panose="020B0502020202020204" pitchFamily="34" charset="0"/>
                <a:ea typeface="+mj-ea"/>
                <a:cs typeface="+mj-cs"/>
              </a:rPr>
              <a:t>2.1 Types and methods of data transmission</a:t>
            </a:r>
          </a:p>
        </p:txBody>
      </p:sp>
    </p:spTree>
    <p:extLst>
      <p:ext uri="{BB962C8B-B14F-4D97-AF65-F5344CB8AC3E}">
        <p14:creationId xmlns:p14="http://schemas.microsoft.com/office/powerpoint/2010/main" val="1383771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5" y="1023443"/>
            <a:ext cx="11666525" cy="1477328"/>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Data transmission can occur over:</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Very short distances – e.g., from one component of a computer to another.</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Short distances – e.g., from a computer to a local printer.</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Long distances – e.g., from one computer to another over a global network.</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Data transmission </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pSp>
        <p:nvGrpSpPr>
          <p:cNvPr id="9" name="Group 8">
            <a:extLst>
              <a:ext uri="{FF2B5EF4-FFF2-40B4-BE49-F238E27FC236}">
                <a16:creationId xmlns:a16="http://schemas.microsoft.com/office/drawing/2014/main" id="{403B9232-9C2D-329A-1911-B21D55E4C2B8}"/>
              </a:ext>
            </a:extLst>
          </p:cNvPr>
          <p:cNvGrpSpPr/>
          <p:nvPr/>
        </p:nvGrpSpPr>
        <p:grpSpPr>
          <a:xfrm>
            <a:off x="0" y="2608608"/>
            <a:ext cx="12192000" cy="4249392"/>
            <a:chOff x="2248678" y="2920482"/>
            <a:chExt cx="4114800" cy="1371600"/>
          </a:xfrm>
        </p:grpSpPr>
        <p:sp>
          <p:nvSpPr>
            <p:cNvPr id="5" name="Rectangle 4">
              <a:extLst>
                <a:ext uri="{FF2B5EF4-FFF2-40B4-BE49-F238E27FC236}">
                  <a16:creationId xmlns:a16="http://schemas.microsoft.com/office/drawing/2014/main" id="{09272B21-BABB-1734-A247-2A45CC98E076}"/>
                </a:ext>
              </a:extLst>
            </p:cNvPr>
            <p:cNvSpPr/>
            <p:nvPr/>
          </p:nvSpPr>
          <p:spPr>
            <a:xfrm>
              <a:off x="2248678" y="2920482"/>
              <a:ext cx="1371600" cy="1371600"/>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dirty="0">
                  <a:solidFill>
                    <a:schemeClr val="tx1"/>
                  </a:solidFill>
                </a:rPr>
                <a:t>Very short-distance data transmission</a:t>
              </a:r>
            </a:p>
          </p:txBody>
        </p:sp>
        <p:sp>
          <p:nvSpPr>
            <p:cNvPr id="7" name="Rectangle 6">
              <a:extLst>
                <a:ext uri="{FF2B5EF4-FFF2-40B4-BE49-F238E27FC236}">
                  <a16:creationId xmlns:a16="http://schemas.microsoft.com/office/drawing/2014/main" id="{68620AB1-215D-5BBD-3978-F72476C2D354}"/>
                </a:ext>
              </a:extLst>
            </p:cNvPr>
            <p:cNvSpPr/>
            <p:nvPr/>
          </p:nvSpPr>
          <p:spPr>
            <a:xfrm>
              <a:off x="3620278" y="2920482"/>
              <a:ext cx="1371600" cy="13716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dirty="0">
                  <a:solidFill>
                    <a:schemeClr val="tx1"/>
                  </a:solidFill>
                </a:rPr>
                <a:t>Short-distance data transmission</a:t>
              </a:r>
            </a:p>
            <a:p>
              <a:pPr algn="ctr"/>
              <a:endParaRPr lang="en-GB" dirty="0"/>
            </a:p>
          </p:txBody>
        </p:sp>
        <p:sp>
          <p:nvSpPr>
            <p:cNvPr id="8" name="Rectangle 7">
              <a:extLst>
                <a:ext uri="{FF2B5EF4-FFF2-40B4-BE49-F238E27FC236}">
                  <a16:creationId xmlns:a16="http://schemas.microsoft.com/office/drawing/2014/main" id="{D0B5B41D-80E0-ADF4-A2D2-0F3CA4F1B3D1}"/>
                </a:ext>
              </a:extLst>
            </p:cNvPr>
            <p:cNvSpPr/>
            <p:nvPr/>
          </p:nvSpPr>
          <p:spPr>
            <a:xfrm>
              <a:off x="4991878" y="2920482"/>
              <a:ext cx="1371600" cy="1371600"/>
            </a:xfrm>
            <a:prstGeom prst="rect">
              <a:avLst/>
            </a:prstGeom>
            <a:solidFill>
              <a:srgbClr val="FF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b="1" dirty="0">
                  <a:solidFill>
                    <a:schemeClr val="tx1"/>
                  </a:solidFill>
                </a:rPr>
                <a:t>Long-distance data transmission</a:t>
              </a:r>
            </a:p>
            <a:p>
              <a:pPr algn="ctr"/>
              <a:endParaRPr lang="en-GB" dirty="0"/>
            </a:p>
          </p:txBody>
        </p:sp>
      </p:grpSp>
      <p:cxnSp>
        <p:nvCxnSpPr>
          <p:cNvPr id="53" name="Straight Connector 52">
            <a:extLst>
              <a:ext uri="{FF2B5EF4-FFF2-40B4-BE49-F238E27FC236}">
                <a16:creationId xmlns:a16="http://schemas.microsoft.com/office/drawing/2014/main" id="{D8771D63-447A-D435-977F-2699A35E9A0A}"/>
              </a:ext>
            </a:extLst>
          </p:cNvPr>
          <p:cNvCxnSpPr>
            <a:cxnSpLocks/>
          </p:cNvCxnSpPr>
          <p:nvPr/>
        </p:nvCxnSpPr>
        <p:spPr>
          <a:xfrm flipV="1">
            <a:off x="10519739" y="3732615"/>
            <a:ext cx="366003" cy="43034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5" name="Picture 14" descr="A screenshot of a computer&#10;&#10;Description automatically generated with low confidence">
            <a:extLst>
              <a:ext uri="{FF2B5EF4-FFF2-40B4-BE49-F238E27FC236}">
                <a16:creationId xmlns:a16="http://schemas.microsoft.com/office/drawing/2014/main" id="{A0710628-964C-3462-A993-3A2F8DDAA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416" y="3049555"/>
            <a:ext cx="1169974" cy="1169974"/>
          </a:xfrm>
          <a:prstGeom prst="rect">
            <a:avLst/>
          </a:prstGeom>
        </p:spPr>
      </p:pic>
      <p:pic>
        <p:nvPicPr>
          <p:cNvPr id="16" name="Picture 15" descr="A screenshot of a computer&#10;&#10;Description automatically generated with low confidence">
            <a:extLst>
              <a:ext uri="{FF2B5EF4-FFF2-40B4-BE49-F238E27FC236}">
                <a16:creationId xmlns:a16="http://schemas.microsoft.com/office/drawing/2014/main" id="{B4BF90A2-4E3F-1A4D-5C04-3F17E1EFAA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416" y="4219529"/>
            <a:ext cx="1169974" cy="1169974"/>
          </a:xfrm>
          <a:prstGeom prst="rect">
            <a:avLst/>
          </a:prstGeom>
        </p:spPr>
      </p:pic>
      <p:pic>
        <p:nvPicPr>
          <p:cNvPr id="17" name="Picture 16" descr="A screenshot of a computer&#10;&#10;Description automatically generated with low confidence">
            <a:extLst>
              <a:ext uri="{FF2B5EF4-FFF2-40B4-BE49-F238E27FC236}">
                <a16:creationId xmlns:a16="http://schemas.microsoft.com/office/drawing/2014/main" id="{615C3ACA-7270-279C-B341-58E6F66D24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4416" y="5383130"/>
            <a:ext cx="1169974" cy="1169974"/>
          </a:xfrm>
          <a:prstGeom prst="rect">
            <a:avLst/>
          </a:prstGeom>
        </p:spPr>
      </p:pic>
      <p:cxnSp>
        <p:nvCxnSpPr>
          <p:cNvPr id="26" name="Connector: Elbow 25">
            <a:extLst>
              <a:ext uri="{FF2B5EF4-FFF2-40B4-BE49-F238E27FC236}">
                <a16:creationId xmlns:a16="http://schemas.microsoft.com/office/drawing/2014/main" id="{7268EB6C-623C-B2EB-24B7-C9A70367BB95}"/>
              </a:ext>
            </a:extLst>
          </p:cNvPr>
          <p:cNvCxnSpPr>
            <a:cxnSpLocks/>
            <a:stCxn id="15" idx="3"/>
          </p:cNvCxnSpPr>
          <p:nvPr/>
        </p:nvCxnSpPr>
        <p:spPr>
          <a:xfrm flipV="1">
            <a:off x="5514390" y="3189984"/>
            <a:ext cx="1400027" cy="444558"/>
          </a:xfrm>
          <a:prstGeom prst="bentConnector3">
            <a:avLst>
              <a:gd name="adj1" fmla="val 3867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Connector: Elbow 26">
            <a:extLst>
              <a:ext uri="{FF2B5EF4-FFF2-40B4-BE49-F238E27FC236}">
                <a16:creationId xmlns:a16="http://schemas.microsoft.com/office/drawing/2014/main" id="{5CC463F2-7E87-7151-7AC3-1BF0645934D3}"/>
              </a:ext>
            </a:extLst>
          </p:cNvPr>
          <p:cNvCxnSpPr>
            <a:cxnSpLocks/>
          </p:cNvCxnSpPr>
          <p:nvPr/>
        </p:nvCxnSpPr>
        <p:spPr>
          <a:xfrm flipV="1">
            <a:off x="5511631" y="3540552"/>
            <a:ext cx="1608905" cy="1182818"/>
          </a:xfrm>
          <a:prstGeom prst="bentConnector3">
            <a:avLst>
              <a:gd name="adj1"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9C4CBFA9-FFF3-F813-E3FB-8E55F36208C4}"/>
              </a:ext>
            </a:extLst>
          </p:cNvPr>
          <p:cNvCxnSpPr>
            <a:cxnSpLocks/>
          </p:cNvCxnSpPr>
          <p:nvPr/>
        </p:nvCxnSpPr>
        <p:spPr>
          <a:xfrm flipV="1">
            <a:off x="5498694" y="3874789"/>
            <a:ext cx="2142835" cy="1959768"/>
          </a:xfrm>
          <a:prstGeom prst="bentConnector3">
            <a:avLst>
              <a:gd name="adj1" fmla="val 5000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1" name="Picture 20" descr="Icon&#10;&#10;Description automatically generated">
            <a:extLst>
              <a:ext uri="{FF2B5EF4-FFF2-40B4-BE49-F238E27FC236}">
                <a16:creationId xmlns:a16="http://schemas.microsoft.com/office/drawing/2014/main" id="{C4ECB49A-CBE4-D23B-5D4B-FEE74B5ED4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8335" y="3047639"/>
            <a:ext cx="968524" cy="968524"/>
          </a:xfrm>
          <a:prstGeom prst="rect">
            <a:avLst/>
          </a:prstGeom>
        </p:spPr>
      </p:pic>
      <p:cxnSp>
        <p:nvCxnSpPr>
          <p:cNvPr id="41" name="Straight Connector 40">
            <a:extLst>
              <a:ext uri="{FF2B5EF4-FFF2-40B4-BE49-F238E27FC236}">
                <a16:creationId xmlns:a16="http://schemas.microsoft.com/office/drawing/2014/main" id="{B839A2FD-CC6C-C624-0886-01DEE4EBADFA}"/>
              </a:ext>
            </a:extLst>
          </p:cNvPr>
          <p:cNvCxnSpPr/>
          <p:nvPr/>
        </p:nvCxnSpPr>
        <p:spPr>
          <a:xfrm>
            <a:off x="7247153" y="4016163"/>
            <a:ext cx="0" cy="160912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19" name="Picture 18" descr="Icon&#10;&#10;Description automatically generated">
            <a:extLst>
              <a:ext uri="{FF2B5EF4-FFF2-40B4-BE49-F238E27FC236}">
                <a16:creationId xmlns:a16="http://schemas.microsoft.com/office/drawing/2014/main" id="{468E5A96-6CEA-0BAB-BB52-FFEA42CA1FD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96272" y="5508885"/>
            <a:ext cx="1169974" cy="1169974"/>
          </a:xfrm>
          <a:prstGeom prst="rect">
            <a:avLst/>
          </a:prstGeom>
        </p:spPr>
      </p:pic>
      <p:cxnSp>
        <p:nvCxnSpPr>
          <p:cNvPr id="45" name="Straight Connector 44">
            <a:extLst>
              <a:ext uri="{FF2B5EF4-FFF2-40B4-BE49-F238E27FC236}">
                <a16:creationId xmlns:a16="http://schemas.microsoft.com/office/drawing/2014/main" id="{874B8F85-8C29-4255-A826-4D74C6C0B8FA}"/>
              </a:ext>
            </a:extLst>
          </p:cNvPr>
          <p:cNvCxnSpPr>
            <a:cxnSpLocks/>
          </p:cNvCxnSpPr>
          <p:nvPr/>
        </p:nvCxnSpPr>
        <p:spPr>
          <a:xfrm>
            <a:off x="9333228" y="3412263"/>
            <a:ext cx="1316653"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2" name="Picture 41" descr="A screenshot of a computer&#10;&#10;Description automatically generated with low confidence">
            <a:extLst>
              <a:ext uri="{FF2B5EF4-FFF2-40B4-BE49-F238E27FC236}">
                <a16:creationId xmlns:a16="http://schemas.microsoft.com/office/drawing/2014/main" id="{BBB7B16E-3339-1CF5-4D4F-1665A943B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87751" y="2946914"/>
            <a:ext cx="1169974" cy="1169974"/>
          </a:xfrm>
          <a:prstGeom prst="rect">
            <a:avLst/>
          </a:prstGeom>
        </p:spPr>
      </p:pic>
      <p:pic>
        <p:nvPicPr>
          <p:cNvPr id="44" name="Picture 43" descr="Icon&#10;&#10;Description automatically generated">
            <a:extLst>
              <a:ext uri="{FF2B5EF4-FFF2-40B4-BE49-F238E27FC236}">
                <a16:creationId xmlns:a16="http://schemas.microsoft.com/office/drawing/2014/main" id="{41E6D141-4DC7-DF45-3BA2-F2425715612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16616" y="2959873"/>
            <a:ext cx="938253" cy="938253"/>
          </a:xfrm>
          <a:prstGeom prst="rect">
            <a:avLst/>
          </a:prstGeom>
        </p:spPr>
      </p:pic>
      <p:cxnSp>
        <p:nvCxnSpPr>
          <p:cNvPr id="55" name="Straight Connector 54">
            <a:extLst>
              <a:ext uri="{FF2B5EF4-FFF2-40B4-BE49-F238E27FC236}">
                <a16:creationId xmlns:a16="http://schemas.microsoft.com/office/drawing/2014/main" id="{183BD822-A48E-840F-BF7C-B5A813CAF401}"/>
              </a:ext>
            </a:extLst>
          </p:cNvPr>
          <p:cNvCxnSpPr>
            <a:cxnSpLocks/>
          </p:cNvCxnSpPr>
          <p:nvPr/>
        </p:nvCxnSpPr>
        <p:spPr>
          <a:xfrm flipV="1">
            <a:off x="8797281" y="5579965"/>
            <a:ext cx="760206" cy="5761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49" name="Picture 48" descr="Icon&#10;&#10;Description automatically generated with medium confidence">
            <a:extLst>
              <a:ext uri="{FF2B5EF4-FFF2-40B4-BE49-F238E27FC236}">
                <a16:creationId xmlns:a16="http://schemas.microsoft.com/office/drawing/2014/main" id="{10C4709E-2E2D-1613-1642-4153DD14E2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35535" y="3995585"/>
            <a:ext cx="1750207" cy="1750207"/>
          </a:xfrm>
          <a:prstGeom prst="rect">
            <a:avLst/>
          </a:prstGeom>
        </p:spPr>
      </p:pic>
      <p:cxnSp>
        <p:nvCxnSpPr>
          <p:cNvPr id="57" name="Straight Connector 56">
            <a:extLst>
              <a:ext uri="{FF2B5EF4-FFF2-40B4-BE49-F238E27FC236}">
                <a16:creationId xmlns:a16="http://schemas.microsoft.com/office/drawing/2014/main" id="{5301B75E-CE51-E60B-F395-404428CE4C25}"/>
              </a:ext>
            </a:extLst>
          </p:cNvPr>
          <p:cNvCxnSpPr>
            <a:cxnSpLocks/>
          </p:cNvCxnSpPr>
          <p:nvPr/>
        </p:nvCxnSpPr>
        <p:spPr>
          <a:xfrm>
            <a:off x="9203086" y="6293630"/>
            <a:ext cx="1592432"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52" name="Picture 51" descr="A picture containing text, outdoor, parking&#10;&#10;Description automatically generated">
            <a:extLst>
              <a:ext uri="{FF2B5EF4-FFF2-40B4-BE49-F238E27FC236}">
                <a16:creationId xmlns:a16="http://schemas.microsoft.com/office/drawing/2014/main" id="{45F3BD56-0781-DFA2-9E94-7FFDD30673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10519739" y="5226694"/>
            <a:ext cx="1582829" cy="1582829"/>
          </a:xfrm>
          <a:prstGeom prst="rect">
            <a:avLst/>
          </a:prstGeom>
        </p:spPr>
      </p:pic>
      <p:pic>
        <p:nvPicPr>
          <p:cNvPr id="50" name="Picture 49" descr="Icon&#10;&#10;Description automatically generated">
            <a:extLst>
              <a:ext uri="{FF2B5EF4-FFF2-40B4-BE49-F238E27FC236}">
                <a16:creationId xmlns:a16="http://schemas.microsoft.com/office/drawing/2014/main" id="{16C67368-C087-878F-F666-0DDCA9FAB0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73617" y="5824504"/>
            <a:ext cx="938253" cy="938253"/>
          </a:xfrm>
          <a:prstGeom prst="rect">
            <a:avLst/>
          </a:prstGeom>
        </p:spPr>
      </p:pic>
      <p:pic>
        <p:nvPicPr>
          <p:cNvPr id="64" name="Picture 63" descr="A picture containing icon&#10;&#10;Description automatically generated">
            <a:extLst>
              <a:ext uri="{FF2B5EF4-FFF2-40B4-BE49-F238E27FC236}">
                <a16:creationId xmlns:a16="http://schemas.microsoft.com/office/drawing/2014/main" id="{7F58F245-C5A8-D415-DF36-99565F75B2B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40539" y="3006288"/>
            <a:ext cx="3696770" cy="3696770"/>
          </a:xfrm>
          <a:prstGeom prst="rect">
            <a:avLst/>
          </a:prstGeom>
        </p:spPr>
      </p:pic>
      <p:sp>
        <p:nvSpPr>
          <p:cNvPr id="65" name="Oval 64">
            <a:extLst>
              <a:ext uri="{FF2B5EF4-FFF2-40B4-BE49-F238E27FC236}">
                <a16:creationId xmlns:a16="http://schemas.microsoft.com/office/drawing/2014/main" id="{A25F9414-0AD5-34E2-7086-571CE2EF6CB2}"/>
              </a:ext>
            </a:extLst>
          </p:cNvPr>
          <p:cNvSpPr/>
          <p:nvPr/>
        </p:nvSpPr>
        <p:spPr>
          <a:xfrm>
            <a:off x="2800055" y="3882107"/>
            <a:ext cx="298985" cy="29898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6" name="Oval 65">
            <a:extLst>
              <a:ext uri="{FF2B5EF4-FFF2-40B4-BE49-F238E27FC236}">
                <a16:creationId xmlns:a16="http://schemas.microsoft.com/office/drawing/2014/main" id="{CE05C8DC-4308-355C-D9F0-AC570B413F3C}"/>
              </a:ext>
            </a:extLst>
          </p:cNvPr>
          <p:cNvSpPr/>
          <p:nvPr/>
        </p:nvSpPr>
        <p:spPr>
          <a:xfrm>
            <a:off x="4924268" y="4564269"/>
            <a:ext cx="298985" cy="29898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7" name="Oval 66">
            <a:extLst>
              <a:ext uri="{FF2B5EF4-FFF2-40B4-BE49-F238E27FC236}">
                <a16:creationId xmlns:a16="http://schemas.microsoft.com/office/drawing/2014/main" id="{D270F02C-ECDE-B440-877A-7AE4A85D14EE}"/>
              </a:ext>
            </a:extLst>
          </p:cNvPr>
          <p:cNvSpPr/>
          <p:nvPr/>
        </p:nvSpPr>
        <p:spPr>
          <a:xfrm>
            <a:off x="8874492" y="3279910"/>
            <a:ext cx="298985" cy="29898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68868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repeatCount="indefinite" fill="hold" grpId="0" nodeType="withEffect">
                                  <p:stCondLst>
                                    <p:cond delay="0"/>
                                  </p:stCondLst>
                                  <p:childTnLst>
                                    <p:animMotion origin="layout" path="M -0.0013 -0.00116 L 0.00039 0.24746 L -0.03672 0.24583 " pathEditMode="relative" ptsTypes="AAA">
                                      <p:cBhvr>
                                        <p:cTn id="6" dur="3000" fill="hold"/>
                                        <p:tgtEl>
                                          <p:spTgt spid="65"/>
                                        </p:tgtEl>
                                        <p:attrNameLst>
                                          <p:attrName>ppt_x</p:attrName>
                                          <p:attrName>ppt_y</p:attrName>
                                        </p:attrNameLst>
                                      </p:cBhvr>
                                    </p:animMotion>
                                  </p:childTnLst>
                                </p:cTn>
                              </p:par>
                              <p:par>
                                <p:cTn id="7" presetID="0" presetClass="path" presetSubtype="0" repeatCount="indefinite" fill="hold" grpId="0" nodeType="withEffect">
                                  <p:stCondLst>
                                    <p:cond delay="0"/>
                                  </p:stCondLst>
                                  <p:childTnLst>
                                    <p:animMotion origin="layout" path="M -0.00013 -0.00116 L 0.10247 0.00023 L 0.10247 -0.17083 L 0.18073 -0.17083 L 0.17825 0.18704 " pathEditMode="relative" ptsTypes="AAAAA">
                                      <p:cBhvr>
                                        <p:cTn id="8" dur="3000" fill="hold"/>
                                        <p:tgtEl>
                                          <p:spTgt spid="66"/>
                                        </p:tgtEl>
                                        <p:attrNameLst>
                                          <p:attrName>ppt_x</p:attrName>
                                          <p:attrName>ppt_y</p:attrName>
                                        </p:attrNameLst>
                                      </p:cBhvr>
                                    </p:animMotion>
                                  </p:childTnLst>
                                </p:cTn>
                              </p:par>
                              <p:par>
                                <p:cTn id="9" presetID="0" presetClass="path" presetSubtype="0" repeatCount="indefinite" fill="hold" grpId="0" nodeType="withEffect">
                                  <p:stCondLst>
                                    <p:cond delay="0"/>
                                  </p:stCondLst>
                                  <p:childTnLst>
                                    <p:animMotion origin="layout" path="M 0.00026 -0.00046 L 0.00026 -0.00046 L 0.17318 -0.00463 L 0.12266 0.10903 L 0.10131 0.11875 L 0.08399 0.13704 L 0.0698 0.15671 L 0.05873 0.1875 L 0.05079 0.21134 L 0.0461 0.23935 L 0.04375 0.27037 L 0.0461 0.30972 L -0.03437 0.41481 L 0.18985 0.4206 " pathEditMode="relative" ptsTypes="AAAAAAAAAAAAAA">
                                      <p:cBhvr>
                                        <p:cTn id="10" dur="3000" fill="hold"/>
                                        <p:tgtEl>
                                          <p:spTgt spid="6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P spid="66" grpId="0" animBg="1"/>
      <p:bldP spid="6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Data transmission </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B9468EE4-DFCF-CFAF-312E-6DC6719CE5F0}"/>
              </a:ext>
            </a:extLst>
          </p:cNvPr>
          <p:cNvGraphicFramePr/>
          <p:nvPr>
            <p:extLst>
              <p:ext uri="{D42A27DB-BD31-4B8C-83A1-F6EECF244321}">
                <p14:modId xmlns:p14="http://schemas.microsoft.com/office/powerpoint/2010/main" val="3065702741"/>
              </p:ext>
            </p:extLst>
          </p:nvPr>
        </p:nvGraphicFramePr>
        <p:xfrm>
          <a:off x="539102" y="1279502"/>
          <a:ext cx="11348097"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Rectangle 6">
            <a:extLst>
              <a:ext uri="{FF2B5EF4-FFF2-40B4-BE49-F238E27FC236}">
                <a16:creationId xmlns:a16="http://schemas.microsoft.com/office/drawing/2014/main" id="{A16655E5-CA2B-FBD4-DC1E-2C1248C2220D}"/>
              </a:ext>
            </a:extLst>
          </p:cNvPr>
          <p:cNvSpPr/>
          <p:nvPr/>
        </p:nvSpPr>
        <p:spPr>
          <a:xfrm>
            <a:off x="220675" y="1023443"/>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When data is being transmitted, we need to consider three essential factors.</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6969697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 name="Group 39">
            <a:extLst>
              <a:ext uri="{FF2B5EF4-FFF2-40B4-BE49-F238E27FC236}">
                <a16:creationId xmlns:a16="http://schemas.microsoft.com/office/drawing/2014/main" id="{7F717473-E66D-E1D7-46E4-3ED335461050}"/>
              </a:ext>
            </a:extLst>
          </p:cNvPr>
          <p:cNvGrpSpPr/>
          <p:nvPr/>
        </p:nvGrpSpPr>
        <p:grpSpPr>
          <a:xfrm>
            <a:off x="0" y="1558786"/>
            <a:ext cx="12192000" cy="2052735"/>
            <a:chOff x="0" y="2416626"/>
            <a:chExt cx="12192000" cy="2052735"/>
          </a:xfrm>
        </p:grpSpPr>
        <p:sp>
          <p:nvSpPr>
            <p:cNvPr id="2" name="Rectangle 1">
              <a:extLst>
                <a:ext uri="{FF2B5EF4-FFF2-40B4-BE49-F238E27FC236}">
                  <a16:creationId xmlns:a16="http://schemas.microsoft.com/office/drawing/2014/main" id="{8EB67E64-9428-CC03-D1E7-2E782B077553}"/>
                </a:ext>
              </a:extLst>
            </p:cNvPr>
            <p:cNvSpPr/>
            <p:nvPr/>
          </p:nvSpPr>
          <p:spPr>
            <a:xfrm>
              <a:off x="0" y="2416626"/>
              <a:ext cx="12192000" cy="205273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8" name="Straight Connector 37">
              <a:extLst>
                <a:ext uri="{FF2B5EF4-FFF2-40B4-BE49-F238E27FC236}">
                  <a16:creationId xmlns:a16="http://schemas.microsoft.com/office/drawing/2014/main" id="{34A92F8A-75C8-C65C-0F27-572F25F136FC}"/>
                </a:ext>
              </a:extLst>
            </p:cNvPr>
            <p:cNvCxnSpPr/>
            <p:nvPr/>
          </p:nvCxnSpPr>
          <p:spPr>
            <a:xfrm>
              <a:off x="0" y="2592371"/>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E429A7C8-6FA0-2C20-E412-ACD228BB4EC5}"/>
                </a:ext>
              </a:extLst>
            </p:cNvPr>
            <p:cNvCxnSpPr/>
            <p:nvPr/>
          </p:nvCxnSpPr>
          <p:spPr>
            <a:xfrm>
              <a:off x="0" y="4309620"/>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D989BBE4-38CA-4FFB-B9AA-E0BBB2AB22B7}"/>
              </a:ext>
            </a:extLst>
          </p:cNvPr>
          <p:cNvSpPr/>
          <p:nvPr/>
        </p:nvSpPr>
        <p:spPr>
          <a:xfrm>
            <a:off x="220674" y="1052896"/>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Data travels in only one direction via a single cable.</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Simplex transmission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1" name="Diagram 40">
            <a:extLst>
              <a:ext uri="{FF2B5EF4-FFF2-40B4-BE49-F238E27FC236}">
                <a16:creationId xmlns:a16="http://schemas.microsoft.com/office/drawing/2014/main" id="{672887A6-1EC4-F3E1-51DF-65AD28BFB9C8}"/>
              </a:ext>
            </a:extLst>
          </p:cNvPr>
          <p:cNvGraphicFramePr/>
          <p:nvPr>
            <p:extLst>
              <p:ext uri="{D42A27DB-BD31-4B8C-83A1-F6EECF244321}">
                <p14:modId xmlns:p14="http://schemas.microsoft.com/office/powerpoint/2010/main" val="13246324"/>
              </p:ext>
            </p:extLst>
          </p:nvPr>
        </p:nvGraphicFramePr>
        <p:xfrm>
          <a:off x="94268" y="3787266"/>
          <a:ext cx="11887199" cy="1198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43" name="Straight Arrow Connector 42">
            <a:extLst>
              <a:ext uri="{FF2B5EF4-FFF2-40B4-BE49-F238E27FC236}">
                <a16:creationId xmlns:a16="http://schemas.microsoft.com/office/drawing/2014/main" id="{8FF6BC3F-62F3-D915-0A85-88E6DEDEEE14}"/>
              </a:ext>
            </a:extLst>
          </p:cNvPr>
          <p:cNvCxnSpPr>
            <a:cxnSpLocks/>
          </p:cNvCxnSpPr>
          <p:nvPr/>
        </p:nvCxnSpPr>
        <p:spPr>
          <a:xfrm>
            <a:off x="314942" y="4383465"/>
            <a:ext cx="891689"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 name="Group 2">
            <a:extLst>
              <a:ext uri="{FF2B5EF4-FFF2-40B4-BE49-F238E27FC236}">
                <a16:creationId xmlns:a16="http://schemas.microsoft.com/office/drawing/2014/main" id="{66656902-6B81-0B92-61BC-51DD9C1BE983}"/>
              </a:ext>
            </a:extLst>
          </p:cNvPr>
          <p:cNvGrpSpPr/>
          <p:nvPr/>
        </p:nvGrpSpPr>
        <p:grpSpPr>
          <a:xfrm>
            <a:off x="-16273525" y="2076768"/>
            <a:ext cx="28160724" cy="1094899"/>
            <a:chOff x="-16273525" y="2076768"/>
            <a:chExt cx="28160724" cy="1094899"/>
          </a:xfrm>
        </p:grpSpPr>
        <p:pic>
          <p:nvPicPr>
            <p:cNvPr id="28" name="Picture 27">
              <a:extLst>
                <a:ext uri="{FF2B5EF4-FFF2-40B4-BE49-F238E27FC236}">
                  <a16:creationId xmlns:a16="http://schemas.microsoft.com/office/drawing/2014/main" id="{13B2EE9A-9028-9734-1E0D-ADDAF3114338}"/>
                </a:ext>
              </a:extLst>
            </p:cNvPr>
            <p:cNvPicPr>
              <a:picLocks noChangeAspect="1"/>
            </p:cNvPicPr>
            <p:nvPr/>
          </p:nvPicPr>
          <p:blipFill>
            <a:blip r:embed="rId7"/>
            <a:stretch>
              <a:fillRect/>
            </a:stretch>
          </p:blipFill>
          <p:spPr>
            <a:xfrm>
              <a:off x="4272582" y="2076768"/>
              <a:ext cx="1682642" cy="957155"/>
            </a:xfrm>
            <a:prstGeom prst="rect">
              <a:avLst/>
            </a:prstGeom>
          </p:spPr>
        </p:pic>
        <p:pic>
          <p:nvPicPr>
            <p:cNvPr id="29" name="Picture 28">
              <a:extLst>
                <a:ext uri="{FF2B5EF4-FFF2-40B4-BE49-F238E27FC236}">
                  <a16:creationId xmlns:a16="http://schemas.microsoft.com/office/drawing/2014/main" id="{7CA962E0-90F1-EA4A-3B4E-9271C3B4020F}"/>
                </a:ext>
              </a:extLst>
            </p:cNvPr>
            <p:cNvPicPr>
              <a:picLocks noChangeAspect="1"/>
            </p:cNvPicPr>
            <p:nvPr/>
          </p:nvPicPr>
          <p:blipFill>
            <a:blip r:embed="rId8"/>
            <a:stretch>
              <a:fillRect/>
            </a:stretch>
          </p:blipFill>
          <p:spPr>
            <a:xfrm>
              <a:off x="220674" y="2144403"/>
              <a:ext cx="1420491" cy="902286"/>
            </a:xfrm>
            <a:prstGeom prst="rect">
              <a:avLst/>
            </a:prstGeom>
          </p:spPr>
        </p:pic>
        <p:pic>
          <p:nvPicPr>
            <p:cNvPr id="32" name="Picture 31">
              <a:extLst>
                <a:ext uri="{FF2B5EF4-FFF2-40B4-BE49-F238E27FC236}">
                  <a16:creationId xmlns:a16="http://schemas.microsoft.com/office/drawing/2014/main" id="{EF973348-736C-1F3F-9677-78CF639F819D}"/>
                </a:ext>
              </a:extLst>
            </p:cNvPr>
            <p:cNvPicPr>
              <a:picLocks noChangeAspect="1"/>
            </p:cNvPicPr>
            <p:nvPr/>
          </p:nvPicPr>
          <p:blipFill>
            <a:blip r:embed="rId9"/>
            <a:stretch>
              <a:fillRect/>
            </a:stretch>
          </p:blipFill>
          <p:spPr>
            <a:xfrm>
              <a:off x="2225290" y="2144403"/>
              <a:ext cx="1463167" cy="951058"/>
            </a:xfrm>
            <a:prstGeom prst="rect">
              <a:avLst/>
            </a:prstGeom>
          </p:spPr>
        </p:pic>
        <p:pic>
          <p:nvPicPr>
            <p:cNvPr id="33" name="Picture 32">
              <a:extLst>
                <a:ext uri="{FF2B5EF4-FFF2-40B4-BE49-F238E27FC236}">
                  <a16:creationId xmlns:a16="http://schemas.microsoft.com/office/drawing/2014/main" id="{0A0DAE7D-F1B3-EA89-D643-CA0C71D10657}"/>
                </a:ext>
              </a:extLst>
            </p:cNvPr>
            <p:cNvPicPr>
              <a:picLocks noChangeAspect="1"/>
            </p:cNvPicPr>
            <p:nvPr/>
          </p:nvPicPr>
          <p:blipFill>
            <a:blip r:embed="rId9">
              <a:duotone>
                <a:prstClr val="black"/>
                <a:schemeClr val="accent6">
                  <a:tint val="45000"/>
                  <a:satMod val="400000"/>
                </a:schemeClr>
              </a:duotone>
            </a:blip>
            <a:stretch>
              <a:fillRect/>
            </a:stretch>
          </p:blipFill>
          <p:spPr>
            <a:xfrm>
              <a:off x="6539349" y="2076768"/>
              <a:ext cx="1463167" cy="951058"/>
            </a:xfrm>
            <a:prstGeom prst="rect">
              <a:avLst/>
            </a:prstGeom>
          </p:spPr>
        </p:pic>
        <p:pic>
          <p:nvPicPr>
            <p:cNvPr id="34" name="Picture 33">
              <a:extLst>
                <a:ext uri="{FF2B5EF4-FFF2-40B4-BE49-F238E27FC236}">
                  <a16:creationId xmlns:a16="http://schemas.microsoft.com/office/drawing/2014/main" id="{044DBEC0-A463-616C-8E04-10CEC795AE6B}"/>
                </a:ext>
              </a:extLst>
            </p:cNvPr>
            <p:cNvPicPr>
              <a:picLocks noChangeAspect="1"/>
            </p:cNvPicPr>
            <p:nvPr/>
          </p:nvPicPr>
          <p:blipFill>
            <a:blip r:embed="rId8">
              <a:duotone>
                <a:prstClr val="black"/>
                <a:schemeClr val="accent2">
                  <a:tint val="45000"/>
                  <a:satMod val="400000"/>
                </a:schemeClr>
              </a:duotone>
            </a:blip>
            <a:stretch>
              <a:fillRect/>
            </a:stretch>
          </p:blipFill>
          <p:spPr>
            <a:xfrm>
              <a:off x="8503545" y="2115394"/>
              <a:ext cx="1420491" cy="902286"/>
            </a:xfrm>
            <a:prstGeom prst="rect">
              <a:avLst/>
            </a:prstGeom>
          </p:spPr>
        </p:pic>
        <p:pic>
          <p:nvPicPr>
            <p:cNvPr id="36" name="Picture 35">
              <a:extLst>
                <a:ext uri="{FF2B5EF4-FFF2-40B4-BE49-F238E27FC236}">
                  <a16:creationId xmlns:a16="http://schemas.microsoft.com/office/drawing/2014/main" id="{91CF8644-CF9B-58A3-B5E7-1C61516289D9}"/>
                </a:ext>
              </a:extLst>
            </p:cNvPr>
            <p:cNvPicPr>
              <a:picLocks noChangeAspect="1"/>
            </p:cNvPicPr>
            <p:nvPr/>
          </p:nvPicPr>
          <p:blipFill>
            <a:blip r:embed="rId9">
              <a:duotone>
                <a:prstClr val="black"/>
                <a:schemeClr val="accent4">
                  <a:tint val="45000"/>
                  <a:satMod val="400000"/>
                </a:schemeClr>
              </a:duotone>
            </a:blip>
            <a:stretch>
              <a:fillRect/>
            </a:stretch>
          </p:blipFill>
          <p:spPr>
            <a:xfrm>
              <a:off x="10424032" y="2076768"/>
              <a:ext cx="1463167" cy="951058"/>
            </a:xfrm>
            <a:prstGeom prst="rect">
              <a:avLst/>
            </a:prstGeom>
          </p:spPr>
        </p:pic>
        <p:pic>
          <p:nvPicPr>
            <p:cNvPr id="16" name="Picture 15">
              <a:extLst>
                <a:ext uri="{FF2B5EF4-FFF2-40B4-BE49-F238E27FC236}">
                  <a16:creationId xmlns:a16="http://schemas.microsoft.com/office/drawing/2014/main" id="{69EFA87D-F238-F8E3-C1CE-A8AEADCFCB88}"/>
                </a:ext>
              </a:extLst>
            </p:cNvPr>
            <p:cNvPicPr>
              <a:picLocks noChangeAspect="1"/>
            </p:cNvPicPr>
            <p:nvPr/>
          </p:nvPicPr>
          <p:blipFill>
            <a:blip r:embed="rId9">
              <a:duotone>
                <a:prstClr val="black"/>
                <a:schemeClr val="accent5">
                  <a:tint val="45000"/>
                  <a:satMod val="400000"/>
                </a:schemeClr>
              </a:duotone>
            </a:blip>
            <a:stretch>
              <a:fillRect/>
            </a:stretch>
          </p:blipFill>
          <p:spPr>
            <a:xfrm rot="10800000" flipH="1">
              <a:off x="-1844228" y="2144403"/>
              <a:ext cx="1463167" cy="951058"/>
            </a:xfrm>
            <a:prstGeom prst="rect">
              <a:avLst/>
            </a:prstGeom>
          </p:spPr>
        </p:pic>
        <p:pic>
          <p:nvPicPr>
            <p:cNvPr id="17" name="Picture 16">
              <a:extLst>
                <a:ext uri="{FF2B5EF4-FFF2-40B4-BE49-F238E27FC236}">
                  <a16:creationId xmlns:a16="http://schemas.microsoft.com/office/drawing/2014/main" id="{FD16BE86-0A41-6C90-A125-1A23C05DF79F}"/>
                </a:ext>
              </a:extLst>
            </p:cNvPr>
            <p:cNvPicPr>
              <a:picLocks noChangeAspect="1"/>
            </p:cNvPicPr>
            <p:nvPr/>
          </p:nvPicPr>
          <p:blipFill>
            <a:blip r:embed="rId7">
              <a:duotone>
                <a:prstClr val="black"/>
                <a:schemeClr val="accent4">
                  <a:tint val="45000"/>
                  <a:satMod val="400000"/>
                </a:schemeClr>
              </a:duotone>
            </a:blip>
            <a:stretch>
              <a:fillRect/>
            </a:stretch>
          </p:blipFill>
          <p:spPr>
            <a:xfrm>
              <a:off x="-4110996" y="2144403"/>
              <a:ext cx="1682642" cy="957155"/>
            </a:xfrm>
            <a:prstGeom prst="rect">
              <a:avLst/>
            </a:prstGeom>
          </p:spPr>
        </p:pic>
        <p:pic>
          <p:nvPicPr>
            <p:cNvPr id="18" name="Picture 17">
              <a:extLst>
                <a:ext uri="{FF2B5EF4-FFF2-40B4-BE49-F238E27FC236}">
                  <a16:creationId xmlns:a16="http://schemas.microsoft.com/office/drawing/2014/main" id="{1C42A6D3-EB7C-223F-2DDD-F888346090C2}"/>
                </a:ext>
              </a:extLst>
            </p:cNvPr>
            <p:cNvPicPr>
              <a:picLocks noChangeAspect="1"/>
            </p:cNvPicPr>
            <p:nvPr/>
          </p:nvPicPr>
          <p:blipFill>
            <a:blip r:embed="rId8">
              <a:duotone>
                <a:prstClr val="black"/>
                <a:schemeClr val="accent2">
                  <a:tint val="45000"/>
                  <a:satMod val="400000"/>
                </a:schemeClr>
              </a:duotone>
            </a:blip>
            <a:stretch>
              <a:fillRect/>
            </a:stretch>
          </p:blipFill>
          <p:spPr>
            <a:xfrm>
              <a:off x="-6108240" y="2193175"/>
              <a:ext cx="1420491" cy="902286"/>
            </a:xfrm>
            <a:prstGeom prst="rect">
              <a:avLst/>
            </a:prstGeom>
          </p:spPr>
        </p:pic>
        <p:pic>
          <p:nvPicPr>
            <p:cNvPr id="19" name="Picture 18">
              <a:extLst>
                <a:ext uri="{FF2B5EF4-FFF2-40B4-BE49-F238E27FC236}">
                  <a16:creationId xmlns:a16="http://schemas.microsoft.com/office/drawing/2014/main" id="{E2960C4E-3D6A-4A83-5676-1CF7D50C0ED5}"/>
                </a:ext>
              </a:extLst>
            </p:cNvPr>
            <p:cNvPicPr>
              <a:picLocks noChangeAspect="1"/>
            </p:cNvPicPr>
            <p:nvPr/>
          </p:nvPicPr>
          <p:blipFill>
            <a:blip r:embed="rId7"/>
            <a:stretch>
              <a:fillRect/>
            </a:stretch>
          </p:blipFill>
          <p:spPr>
            <a:xfrm>
              <a:off x="-8182351" y="2193175"/>
              <a:ext cx="1682642" cy="957155"/>
            </a:xfrm>
            <a:prstGeom prst="rect">
              <a:avLst/>
            </a:prstGeom>
          </p:spPr>
        </p:pic>
        <p:pic>
          <p:nvPicPr>
            <p:cNvPr id="20" name="Picture 19">
              <a:extLst>
                <a:ext uri="{FF2B5EF4-FFF2-40B4-BE49-F238E27FC236}">
                  <a16:creationId xmlns:a16="http://schemas.microsoft.com/office/drawing/2014/main" id="{5A2DB429-6084-82F9-F5AA-21B3F9742BAC}"/>
                </a:ext>
              </a:extLst>
            </p:cNvPr>
            <p:cNvPicPr>
              <a:picLocks noChangeAspect="1"/>
            </p:cNvPicPr>
            <p:nvPr/>
          </p:nvPicPr>
          <p:blipFill>
            <a:blip r:embed="rId9">
              <a:duotone>
                <a:prstClr val="black"/>
                <a:schemeClr val="accent6">
                  <a:tint val="45000"/>
                  <a:satMod val="400000"/>
                </a:schemeClr>
              </a:duotone>
            </a:blip>
            <a:stretch>
              <a:fillRect/>
            </a:stretch>
          </p:blipFill>
          <p:spPr>
            <a:xfrm>
              <a:off x="-10222271" y="2199272"/>
              <a:ext cx="1463167" cy="951058"/>
            </a:xfrm>
            <a:prstGeom prst="rect">
              <a:avLst/>
            </a:prstGeom>
          </p:spPr>
        </p:pic>
        <p:pic>
          <p:nvPicPr>
            <p:cNvPr id="21" name="Picture 20">
              <a:extLst>
                <a:ext uri="{FF2B5EF4-FFF2-40B4-BE49-F238E27FC236}">
                  <a16:creationId xmlns:a16="http://schemas.microsoft.com/office/drawing/2014/main" id="{5490C5DD-295D-D457-A7A2-93BDA8B01876}"/>
                </a:ext>
              </a:extLst>
            </p:cNvPr>
            <p:cNvPicPr>
              <a:picLocks noChangeAspect="1"/>
            </p:cNvPicPr>
            <p:nvPr/>
          </p:nvPicPr>
          <p:blipFill>
            <a:blip r:embed="rId8"/>
            <a:stretch>
              <a:fillRect/>
            </a:stretch>
          </p:blipFill>
          <p:spPr>
            <a:xfrm>
              <a:off x="-12219515" y="2220609"/>
              <a:ext cx="1420491" cy="902286"/>
            </a:xfrm>
            <a:prstGeom prst="rect">
              <a:avLst/>
            </a:prstGeom>
          </p:spPr>
        </p:pic>
        <p:pic>
          <p:nvPicPr>
            <p:cNvPr id="22" name="Picture 21">
              <a:extLst>
                <a:ext uri="{FF2B5EF4-FFF2-40B4-BE49-F238E27FC236}">
                  <a16:creationId xmlns:a16="http://schemas.microsoft.com/office/drawing/2014/main" id="{48A870C6-A38F-E3DB-1A26-D54D2C1BDFB6}"/>
                </a:ext>
              </a:extLst>
            </p:cNvPr>
            <p:cNvPicPr>
              <a:picLocks noChangeAspect="1"/>
            </p:cNvPicPr>
            <p:nvPr/>
          </p:nvPicPr>
          <p:blipFill>
            <a:blip r:embed="rId9">
              <a:duotone>
                <a:prstClr val="black"/>
                <a:schemeClr val="accent4">
                  <a:tint val="45000"/>
                  <a:satMod val="400000"/>
                </a:schemeClr>
              </a:duotone>
            </a:blip>
            <a:stretch>
              <a:fillRect/>
            </a:stretch>
          </p:blipFill>
          <p:spPr>
            <a:xfrm>
              <a:off x="-14203709" y="2199272"/>
              <a:ext cx="1463167" cy="951058"/>
            </a:xfrm>
            <a:prstGeom prst="rect">
              <a:avLst/>
            </a:prstGeom>
          </p:spPr>
        </p:pic>
        <p:pic>
          <p:nvPicPr>
            <p:cNvPr id="23" name="Picture 22">
              <a:extLst>
                <a:ext uri="{FF2B5EF4-FFF2-40B4-BE49-F238E27FC236}">
                  <a16:creationId xmlns:a16="http://schemas.microsoft.com/office/drawing/2014/main" id="{9520FAC1-CB2F-9462-25B3-AD398EFAC60C}"/>
                </a:ext>
              </a:extLst>
            </p:cNvPr>
            <p:cNvPicPr>
              <a:picLocks noChangeAspect="1"/>
            </p:cNvPicPr>
            <p:nvPr/>
          </p:nvPicPr>
          <p:blipFill>
            <a:blip r:embed="rId9"/>
            <a:stretch>
              <a:fillRect/>
            </a:stretch>
          </p:blipFill>
          <p:spPr>
            <a:xfrm>
              <a:off x="-16273525" y="2220609"/>
              <a:ext cx="1463167" cy="951058"/>
            </a:xfrm>
            <a:prstGeom prst="rect">
              <a:avLst/>
            </a:prstGeom>
          </p:spPr>
        </p:pic>
      </p:grpSp>
    </p:spTree>
    <p:extLst>
      <p:ext uri="{BB962C8B-B14F-4D97-AF65-F5344CB8AC3E}">
        <p14:creationId xmlns:p14="http://schemas.microsoft.com/office/powerpoint/2010/main" val="409887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fill="hold" nodeType="withEffect">
                                  <p:stCondLst>
                                    <p:cond delay="0"/>
                                  </p:stCondLst>
                                  <p:childTnLst>
                                    <p:animMotion origin="layout" path="M -2.29167E-6 1.11111E-6 L 1.3556 1.11111E-6 " pathEditMode="relative" rAng="0" ptsTypes="AA">
                                      <p:cBhvr>
                                        <p:cTn id="6" dur="10000" fill="hold"/>
                                        <p:tgtEl>
                                          <p:spTgt spid="3"/>
                                        </p:tgtEl>
                                        <p:attrNameLst>
                                          <p:attrName>ppt_x</p:attrName>
                                          <p:attrName>ppt_y</p:attrName>
                                        </p:attrNameLst>
                                      </p:cBhvr>
                                      <p:rCtr x="6777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C5573768-7F7E-536D-FF26-919B4FA78683}"/>
              </a:ext>
            </a:extLst>
          </p:cNvPr>
          <p:cNvGrpSpPr/>
          <p:nvPr/>
        </p:nvGrpSpPr>
        <p:grpSpPr>
          <a:xfrm>
            <a:off x="0" y="1563061"/>
            <a:ext cx="12192000" cy="3071016"/>
            <a:chOff x="0" y="1883572"/>
            <a:chExt cx="12192000" cy="3071016"/>
          </a:xfrm>
        </p:grpSpPr>
        <p:grpSp>
          <p:nvGrpSpPr>
            <p:cNvPr id="2" name="Group 1">
              <a:extLst>
                <a:ext uri="{FF2B5EF4-FFF2-40B4-BE49-F238E27FC236}">
                  <a16:creationId xmlns:a16="http://schemas.microsoft.com/office/drawing/2014/main" id="{7545D488-B62E-2B13-9DE4-E3ACD33A743B}"/>
                </a:ext>
              </a:extLst>
            </p:cNvPr>
            <p:cNvGrpSpPr/>
            <p:nvPr/>
          </p:nvGrpSpPr>
          <p:grpSpPr>
            <a:xfrm>
              <a:off x="9141183" y="1891703"/>
              <a:ext cx="3050817" cy="3060347"/>
              <a:chOff x="0" y="1907578"/>
              <a:chExt cx="12192000" cy="3060347"/>
            </a:xfrm>
          </p:grpSpPr>
          <p:sp>
            <p:nvSpPr>
              <p:cNvPr id="5" name="Rectangle 4">
                <a:extLst>
                  <a:ext uri="{FF2B5EF4-FFF2-40B4-BE49-F238E27FC236}">
                    <a16:creationId xmlns:a16="http://schemas.microsoft.com/office/drawing/2014/main" id="{C4838240-B013-DF08-305C-EF38AA1FB5CC}"/>
                  </a:ext>
                </a:extLst>
              </p:cNvPr>
              <p:cNvSpPr/>
              <p:nvPr/>
            </p:nvSpPr>
            <p:spPr>
              <a:xfrm>
                <a:off x="0" y="1907578"/>
                <a:ext cx="12192000" cy="306034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13" name="Straight Connector 12">
                <a:extLst>
                  <a:ext uri="{FF2B5EF4-FFF2-40B4-BE49-F238E27FC236}">
                    <a16:creationId xmlns:a16="http://schemas.microsoft.com/office/drawing/2014/main" id="{C7A8DFA8-4253-E7D6-252E-A6AD094917FA}"/>
                  </a:ext>
                </a:extLst>
              </p:cNvPr>
              <p:cNvCxnSpPr>
                <a:cxnSpLocks/>
              </p:cNvCxnSpPr>
              <p:nvPr/>
            </p:nvCxnSpPr>
            <p:spPr>
              <a:xfrm>
                <a:off x="468035" y="2083323"/>
                <a:ext cx="117239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7007CB4-BDED-49C7-CA97-958BEC88DF02}"/>
                  </a:ext>
                </a:extLst>
              </p:cNvPr>
              <p:cNvCxnSpPr>
                <a:cxnSpLocks/>
              </p:cNvCxnSpPr>
              <p:nvPr/>
            </p:nvCxnSpPr>
            <p:spPr>
              <a:xfrm>
                <a:off x="468035" y="4828092"/>
                <a:ext cx="1172396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15" name="Straight Connector 14">
              <a:extLst>
                <a:ext uri="{FF2B5EF4-FFF2-40B4-BE49-F238E27FC236}">
                  <a16:creationId xmlns:a16="http://schemas.microsoft.com/office/drawing/2014/main" id="{1B5ED6AB-A78E-805C-F7B6-F0A9145B9460}"/>
                </a:ext>
              </a:extLst>
            </p:cNvPr>
            <p:cNvCxnSpPr>
              <a:cxnSpLocks/>
              <a:stCxn id="5" idx="1"/>
              <a:endCxn id="5" idx="3"/>
            </p:cNvCxnSpPr>
            <p:nvPr/>
          </p:nvCxnSpPr>
          <p:spPr>
            <a:xfrm>
              <a:off x="9141183" y="3421877"/>
              <a:ext cx="3050817" cy="0"/>
            </a:xfrm>
            <a:prstGeom prst="line">
              <a:avLst/>
            </a:prstGeom>
            <a:ln w="762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B28DA51E-5C99-4699-83DE-E118C5DA9D47}"/>
                </a:ext>
              </a:extLst>
            </p:cNvPr>
            <p:cNvGrpSpPr/>
            <p:nvPr/>
          </p:nvGrpSpPr>
          <p:grpSpPr>
            <a:xfrm>
              <a:off x="4225793" y="2410276"/>
              <a:ext cx="3693190" cy="2052735"/>
              <a:chOff x="-148526" y="2416626"/>
              <a:chExt cx="12340526" cy="2052735"/>
            </a:xfrm>
          </p:grpSpPr>
          <p:sp>
            <p:nvSpPr>
              <p:cNvPr id="21" name="Rectangle 20">
                <a:extLst>
                  <a:ext uri="{FF2B5EF4-FFF2-40B4-BE49-F238E27FC236}">
                    <a16:creationId xmlns:a16="http://schemas.microsoft.com/office/drawing/2014/main" id="{CF6D423E-4990-5720-05FF-EB81F12963AF}"/>
                  </a:ext>
                </a:extLst>
              </p:cNvPr>
              <p:cNvSpPr/>
              <p:nvPr/>
            </p:nvSpPr>
            <p:spPr>
              <a:xfrm>
                <a:off x="0" y="2416626"/>
                <a:ext cx="12192000" cy="2052735"/>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Connector 21">
                <a:extLst>
                  <a:ext uri="{FF2B5EF4-FFF2-40B4-BE49-F238E27FC236}">
                    <a16:creationId xmlns:a16="http://schemas.microsoft.com/office/drawing/2014/main" id="{FE8EB8C4-4A01-1F3C-B00B-3B70F96D5857}"/>
                  </a:ext>
                </a:extLst>
              </p:cNvPr>
              <p:cNvCxnSpPr/>
              <p:nvPr/>
            </p:nvCxnSpPr>
            <p:spPr>
              <a:xfrm>
                <a:off x="-148526" y="2592371"/>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AC88164-58F0-C6FC-0B7C-4F4A4BA1C3ED}"/>
                  </a:ext>
                </a:extLst>
              </p:cNvPr>
              <p:cNvCxnSpPr/>
              <p:nvPr/>
            </p:nvCxnSpPr>
            <p:spPr>
              <a:xfrm>
                <a:off x="0" y="4309620"/>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739901BE-635D-0E6E-BFAE-3486CCE9241C}"/>
                </a:ext>
              </a:extLst>
            </p:cNvPr>
            <p:cNvGrpSpPr/>
            <p:nvPr/>
          </p:nvGrpSpPr>
          <p:grpSpPr>
            <a:xfrm>
              <a:off x="0" y="1883573"/>
              <a:ext cx="3063515" cy="3060347"/>
              <a:chOff x="0" y="1907578"/>
              <a:chExt cx="12192000" cy="3060347"/>
            </a:xfrm>
          </p:grpSpPr>
          <p:sp>
            <p:nvSpPr>
              <p:cNvPr id="29" name="Rectangle 28">
                <a:extLst>
                  <a:ext uri="{FF2B5EF4-FFF2-40B4-BE49-F238E27FC236}">
                    <a16:creationId xmlns:a16="http://schemas.microsoft.com/office/drawing/2014/main" id="{470C0B68-EE19-2D91-F449-A47DD1D168A1}"/>
                  </a:ext>
                </a:extLst>
              </p:cNvPr>
              <p:cNvSpPr/>
              <p:nvPr/>
            </p:nvSpPr>
            <p:spPr>
              <a:xfrm>
                <a:off x="0" y="1907578"/>
                <a:ext cx="12192000" cy="306034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cxnSp>
            <p:nvCxnSpPr>
              <p:cNvPr id="30" name="Straight Connector 29">
                <a:extLst>
                  <a:ext uri="{FF2B5EF4-FFF2-40B4-BE49-F238E27FC236}">
                    <a16:creationId xmlns:a16="http://schemas.microsoft.com/office/drawing/2014/main" id="{4F8BD38A-8EB5-26A6-59E9-D32E24E8E9C9}"/>
                  </a:ext>
                </a:extLst>
              </p:cNvPr>
              <p:cNvCxnSpPr/>
              <p:nvPr/>
            </p:nvCxnSpPr>
            <p:spPr>
              <a:xfrm>
                <a:off x="0" y="2083323"/>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117622CC-BB6F-5210-1B84-4F2F61D1ABFE}"/>
                  </a:ext>
                </a:extLst>
              </p:cNvPr>
              <p:cNvCxnSpPr/>
              <p:nvPr/>
            </p:nvCxnSpPr>
            <p:spPr>
              <a:xfrm>
                <a:off x="0" y="4828092"/>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CE5ECBF8-4BFF-E113-F11A-7513F0879986}"/>
                </a:ext>
              </a:extLst>
            </p:cNvPr>
            <p:cNvCxnSpPr>
              <a:cxnSpLocks/>
              <a:stCxn id="29" idx="1"/>
            </p:cNvCxnSpPr>
            <p:nvPr/>
          </p:nvCxnSpPr>
          <p:spPr>
            <a:xfrm>
              <a:off x="0" y="3413747"/>
              <a:ext cx="3151987" cy="0"/>
            </a:xfrm>
            <a:prstGeom prst="line">
              <a:avLst/>
            </a:prstGeom>
            <a:ln w="7620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33" name="Flowchart: Manual Operation 32">
              <a:extLst>
                <a:ext uri="{FF2B5EF4-FFF2-40B4-BE49-F238E27FC236}">
                  <a16:creationId xmlns:a16="http://schemas.microsoft.com/office/drawing/2014/main" id="{CEAA4311-61B6-2D28-2397-5D1C5C0ED2C6}"/>
                </a:ext>
              </a:extLst>
            </p:cNvPr>
            <p:cNvSpPr/>
            <p:nvPr/>
          </p:nvSpPr>
          <p:spPr>
            <a:xfrm rot="16200000">
              <a:off x="2295037" y="2652049"/>
              <a:ext cx="3060347" cy="1523393"/>
            </a:xfrm>
            <a:prstGeom prst="flowChartManualOperation">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4" name="Flowchart: Manual Operation 33">
              <a:extLst>
                <a:ext uri="{FF2B5EF4-FFF2-40B4-BE49-F238E27FC236}">
                  <a16:creationId xmlns:a16="http://schemas.microsoft.com/office/drawing/2014/main" id="{C1148FF3-A15C-D6DD-9860-3111FCFD46E7}"/>
                </a:ext>
              </a:extLst>
            </p:cNvPr>
            <p:cNvSpPr/>
            <p:nvPr/>
          </p:nvSpPr>
          <p:spPr>
            <a:xfrm rot="5400000" flipH="1">
              <a:off x="6852056" y="2662718"/>
              <a:ext cx="3060347" cy="1523393"/>
            </a:xfrm>
            <a:prstGeom prst="flowChartManualOperation">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52" name="Group 51">
              <a:extLst>
                <a:ext uri="{FF2B5EF4-FFF2-40B4-BE49-F238E27FC236}">
                  <a16:creationId xmlns:a16="http://schemas.microsoft.com/office/drawing/2014/main" id="{FC7136F6-103A-E127-96E2-70093262106D}"/>
                </a:ext>
              </a:extLst>
            </p:cNvPr>
            <p:cNvGrpSpPr/>
            <p:nvPr/>
          </p:nvGrpSpPr>
          <p:grpSpPr>
            <a:xfrm>
              <a:off x="3041650" y="2056143"/>
              <a:ext cx="1738932" cy="2747944"/>
              <a:chOff x="3041650" y="2056143"/>
              <a:chExt cx="1738932" cy="2747944"/>
            </a:xfrm>
          </p:grpSpPr>
          <p:grpSp>
            <p:nvGrpSpPr>
              <p:cNvPr id="47" name="Group 46">
                <a:extLst>
                  <a:ext uri="{FF2B5EF4-FFF2-40B4-BE49-F238E27FC236}">
                    <a16:creationId xmlns:a16="http://schemas.microsoft.com/office/drawing/2014/main" id="{342D71E1-B1CC-408E-E4B9-C608216A1BB3}"/>
                  </a:ext>
                </a:extLst>
              </p:cNvPr>
              <p:cNvGrpSpPr/>
              <p:nvPr/>
            </p:nvGrpSpPr>
            <p:grpSpPr>
              <a:xfrm>
                <a:off x="3041650" y="2056143"/>
                <a:ext cx="1738932" cy="529878"/>
                <a:chOff x="3041650" y="2056143"/>
                <a:chExt cx="1738932" cy="529878"/>
              </a:xfrm>
            </p:grpSpPr>
            <p:cxnSp>
              <p:nvCxnSpPr>
                <p:cNvPr id="39" name="Straight Connector 38">
                  <a:extLst>
                    <a:ext uri="{FF2B5EF4-FFF2-40B4-BE49-F238E27FC236}">
                      <a16:creationId xmlns:a16="http://schemas.microsoft.com/office/drawing/2014/main" id="{30538BA5-38AA-3402-C0E7-1AB1126CCCDC}"/>
                    </a:ext>
                  </a:extLst>
                </p:cNvPr>
                <p:cNvCxnSpPr>
                  <a:cxnSpLocks/>
                </p:cNvCxnSpPr>
                <p:nvPr/>
              </p:nvCxnSpPr>
              <p:spPr>
                <a:xfrm>
                  <a:off x="3041650" y="2056143"/>
                  <a:ext cx="1277202" cy="52987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1192B-A4F4-700F-B68B-59EC6E11B429}"/>
                    </a:ext>
                  </a:extLst>
                </p:cNvPr>
                <p:cNvCxnSpPr>
                  <a:cxnSpLocks/>
                </p:cNvCxnSpPr>
                <p:nvPr/>
              </p:nvCxnSpPr>
              <p:spPr>
                <a:xfrm>
                  <a:off x="4311650" y="2586021"/>
                  <a:ext cx="4689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428CF0D6-A9BC-1070-5A8C-960D51132FE5}"/>
                  </a:ext>
                </a:extLst>
              </p:cNvPr>
              <p:cNvGrpSpPr/>
              <p:nvPr/>
            </p:nvGrpSpPr>
            <p:grpSpPr>
              <a:xfrm flipV="1">
                <a:off x="3047132" y="4301774"/>
                <a:ext cx="1672490" cy="502313"/>
                <a:chOff x="3108092" y="2083708"/>
                <a:chExt cx="1672490" cy="502313"/>
              </a:xfrm>
            </p:grpSpPr>
            <p:cxnSp>
              <p:nvCxnSpPr>
                <p:cNvPr id="49" name="Straight Connector 48">
                  <a:extLst>
                    <a:ext uri="{FF2B5EF4-FFF2-40B4-BE49-F238E27FC236}">
                      <a16:creationId xmlns:a16="http://schemas.microsoft.com/office/drawing/2014/main" id="{37210C00-4423-119D-4D11-F9E9BD8C1AAF}"/>
                    </a:ext>
                  </a:extLst>
                </p:cNvPr>
                <p:cNvCxnSpPr>
                  <a:cxnSpLocks/>
                </p:cNvCxnSpPr>
                <p:nvPr/>
              </p:nvCxnSpPr>
              <p:spPr>
                <a:xfrm>
                  <a:off x="3108092" y="2083708"/>
                  <a:ext cx="1210760" cy="502313"/>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E20B4C4F-B6B9-3D50-531C-194F50C81F1D}"/>
                    </a:ext>
                  </a:extLst>
                </p:cNvPr>
                <p:cNvCxnSpPr>
                  <a:cxnSpLocks/>
                </p:cNvCxnSpPr>
                <p:nvPr/>
              </p:nvCxnSpPr>
              <p:spPr>
                <a:xfrm>
                  <a:off x="4311650" y="2586021"/>
                  <a:ext cx="4689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grpSp>
        <p:grpSp>
          <p:nvGrpSpPr>
            <p:cNvPr id="54" name="Group 53">
              <a:extLst>
                <a:ext uri="{FF2B5EF4-FFF2-40B4-BE49-F238E27FC236}">
                  <a16:creationId xmlns:a16="http://schemas.microsoft.com/office/drawing/2014/main" id="{56CB184C-99AC-D6AC-550E-CAABAC443B13}"/>
                </a:ext>
              </a:extLst>
            </p:cNvPr>
            <p:cNvGrpSpPr/>
            <p:nvPr/>
          </p:nvGrpSpPr>
          <p:grpSpPr>
            <a:xfrm flipH="1">
              <a:off x="7548348" y="2056343"/>
              <a:ext cx="1738932" cy="529878"/>
              <a:chOff x="3041650" y="2056143"/>
              <a:chExt cx="1738932" cy="529878"/>
            </a:xfrm>
          </p:grpSpPr>
          <p:cxnSp>
            <p:nvCxnSpPr>
              <p:cNvPr id="58" name="Straight Connector 57">
                <a:extLst>
                  <a:ext uri="{FF2B5EF4-FFF2-40B4-BE49-F238E27FC236}">
                    <a16:creationId xmlns:a16="http://schemas.microsoft.com/office/drawing/2014/main" id="{DD61B3B5-8BB6-1915-B86C-5F9910771047}"/>
                  </a:ext>
                </a:extLst>
              </p:cNvPr>
              <p:cNvCxnSpPr>
                <a:cxnSpLocks/>
              </p:cNvCxnSpPr>
              <p:nvPr/>
            </p:nvCxnSpPr>
            <p:spPr>
              <a:xfrm>
                <a:off x="3041650" y="2056143"/>
                <a:ext cx="1277202" cy="529878"/>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1A35DAF7-7C4F-59A5-C156-D834E6819BEA}"/>
                  </a:ext>
                </a:extLst>
              </p:cNvPr>
              <p:cNvCxnSpPr>
                <a:cxnSpLocks/>
              </p:cNvCxnSpPr>
              <p:nvPr/>
            </p:nvCxnSpPr>
            <p:spPr>
              <a:xfrm>
                <a:off x="4311650" y="2586021"/>
                <a:ext cx="4689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55" name="Group 54">
              <a:extLst>
                <a:ext uri="{FF2B5EF4-FFF2-40B4-BE49-F238E27FC236}">
                  <a16:creationId xmlns:a16="http://schemas.microsoft.com/office/drawing/2014/main" id="{C128A7CC-63E3-68B6-4A0E-B9FB2C7769D9}"/>
                </a:ext>
              </a:extLst>
            </p:cNvPr>
            <p:cNvGrpSpPr/>
            <p:nvPr/>
          </p:nvGrpSpPr>
          <p:grpSpPr>
            <a:xfrm flipH="1" flipV="1">
              <a:off x="7609308" y="4294928"/>
              <a:ext cx="1672490" cy="502313"/>
              <a:chOff x="3108092" y="2083708"/>
              <a:chExt cx="1672490" cy="502313"/>
            </a:xfrm>
          </p:grpSpPr>
          <p:cxnSp>
            <p:nvCxnSpPr>
              <p:cNvPr id="56" name="Straight Connector 55">
                <a:extLst>
                  <a:ext uri="{FF2B5EF4-FFF2-40B4-BE49-F238E27FC236}">
                    <a16:creationId xmlns:a16="http://schemas.microsoft.com/office/drawing/2014/main" id="{D9C7D84C-BAAF-6A0F-1915-16CAB5E2A470}"/>
                  </a:ext>
                </a:extLst>
              </p:cNvPr>
              <p:cNvCxnSpPr>
                <a:cxnSpLocks/>
              </p:cNvCxnSpPr>
              <p:nvPr/>
            </p:nvCxnSpPr>
            <p:spPr>
              <a:xfrm>
                <a:off x="3108092" y="2083708"/>
                <a:ext cx="1210760" cy="502313"/>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F5692E4-7125-A6C0-6C11-C8BF9DCC20EF}"/>
                  </a:ext>
                </a:extLst>
              </p:cNvPr>
              <p:cNvCxnSpPr>
                <a:cxnSpLocks/>
              </p:cNvCxnSpPr>
              <p:nvPr/>
            </p:nvCxnSpPr>
            <p:spPr>
              <a:xfrm>
                <a:off x="4311650" y="2586021"/>
                <a:ext cx="468932"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pSp>
      </p:grpSp>
      <p:sp>
        <p:nvSpPr>
          <p:cNvPr id="4" name="Rectangle 3">
            <a:extLst>
              <a:ext uri="{FF2B5EF4-FFF2-40B4-BE49-F238E27FC236}">
                <a16:creationId xmlns:a16="http://schemas.microsoft.com/office/drawing/2014/main" id="{D989BBE4-38CA-4FFB-B9AA-E0BBB2AB22B7}"/>
              </a:ext>
            </a:extLst>
          </p:cNvPr>
          <p:cNvSpPr/>
          <p:nvPr/>
        </p:nvSpPr>
        <p:spPr>
          <a:xfrm>
            <a:off x="220674" y="1052896"/>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Data can travel in both directions via a single cable – but not at the same time.</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Half-duplex transmission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9">
            <a:extLst>
              <a:ext uri="{FF2B5EF4-FFF2-40B4-BE49-F238E27FC236}">
                <a16:creationId xmlns:a16="http://schemas.microsoft.com/office/drawing/2014/main" id="{66C167C0-73FC-AAF5-E362-BE320D01CC10}"/>
              </a:ext>
            </a:extLst>
          </p:cNvPr>
          <p:cNvPicPr>
            <a:picLocks noChangeAspect="1"/>
          </p:cNvPicPr>
          <p:nvPr/>
        </p:nvPicPr>
        <p:blipFill>
          <a:blip r:embed="rId2">
            <a:duotone>
              <a:prstClr val="black"/>
              <a:schemeClr val="accent1">
                <a:tint val="45000"/>
                <a:satMod val="400000"/>
              </a:schemeClr>
            </a:duotone>
          </a:blip>
          <a:stretch>
            <a:fillRect/>
          </a:stretch>
        </p:blipFill>
        <p:spPr>
          <a:xfrm>
            <a:off x="1426428" y="1905114"/>
            <a:ext cx="1463167" cy="951058"/>
          </a:xfrm>
          <a:prstGeom prst="rect">
            <a:avLst/>
          </a:prstGeom>
        </p:spPr>
      </p:pic>
      <p:pic>
        <p:nvPicPr>
          <p:cNvPr id="16" name="Picture 15">
            <a:extLst>
              <a:ext uri="{FF2B5EF4-FFF2-40B4-BE49-F238E27FC236}">
                <a16:creationId xmlns:a16="http://schemas.microsoft.com/office/drawing/2014/main" id="{5EAE9D35-0757-20FE-3C9D-9583AFF0D027}"/>
              </a:ext>
            </a:extLst>
          </p:cNvPr>
          <p:cNvPicPr>
            <a:picLocks noChangeAspect="1"/>
          </p:cNvPicPr>
          <p:nvPr/>
        </p:nvPicPr>
        <p:blipFill rotWithShape="1">
          <a:blip r:embed="rId3"/>
          <a:srcRect r="16317"/>
          <a:stretch/>
        </p:blipFill>
        <p:spPr>
          <a:xfrm rot="10800000" flipH="1">
            <a:off x="6802115" y="2644809"/>
            <a:ext cx="1408088" cy="957155"/>
          </a:xfrm>
          <a:prstGeom prst="rect">
            <a:avLst/>
          </a:prstGeom>
        </p:spPr>
      </p:pic>
      <p:pic>
        <p:nvPicPr>
          <p:cNvPr id="17" name="Picture 16">
            <a:extLst>
              <a:ext uri="{FF2B5EF4-FFF2-40B4-BE49-F238E27FC236}">
                <a16:creationId xmlns:a16="http://schemas.microsoft.com/office/drawing/2014/main" id="{CC028FD7-AFDF-D37A-75CA-B432D7AF77E9}"/>
              </a:ext>
            </a:extLst>
          </p:cNvPr>
          <p:cNvPicPr>
            <a:picLocks noChangeAspect="1"/>
          </p:cNvPicPr>
          <p:nvPr/>
        </p:nvPicPr>
        <p:blipFill>
          <a:blip r:embed="rId4"/>
          <a:stretch>
            <a:fillRect/>
          </a:stretch>
        </p:blipFill>
        <p:spPr>
          <a:xfrm flipH="1">
            <a:off x="10503998" y="3348026"/>
            <a:ext cx="1420491" cy="902286"/>
          </a:xfrm>
          <a:prstGeom prst="rect">
            <a:avLst/>
          </a:prstGeom>
        </p:spPr>
      </p:pic>
      <p:pic>
        <p:nvPicPr>
          <p:cNvPr id="18" name="Picture 17">
            <a:extLst>
              <a:ext uri="{FF2B5EF4-FFF2-40B4-BE49-F238E27FC236}">
                <a16:creationId xmlns:a16="http://schemas.microsoft.com/office/drawing/2014/main" id="{F707B8DF-D752-CBD8-DB3C-C7AB0E2A24CC}"/>
              </a:ext>
            </a:extLst>
          </p:cNvPr>
          <p:cNvPicPr>
            <a:picLocks noChangeAspect="1"/>
          </p:cNvPicPr>
          <p:nvPr/>
        </p:nvPicPr>
        <p:blipFill>
          <a:blip r:embed="rId2">
            <a:duotone>
              <a:prstClr val="black"/>
              <a:schemeClr val="accent5">
                <a:tint val="45000"/>
                <a:satMod val="400000"/>
              </a:schemeClr>
            </a:duotone>
          </a:blip>
          <a:stretch>
            <a:fillRect/>
          </a:stretch>
        </p:blipFill>
        <p:spPr>
          <a:xfrm rot="426773" flipH="1">
            <a:off x="8726381" y="3311300"/>
            <a:ext cx="1463167" cy="951058"/>
          </a:xfrm>
          <a:prstGeom prst="rect">
            <a:avLst/>
          </a:prstGeom>
        </p:spPr>
      </p:pic>
      <p:pic>
        <p:nvPicPr>
          <p:cNvPr id="19" name="Picture 18">
            <a:extLst>
              <a:ext uri="{FF2B5EF4-FFF2-40B4-BE49-F238E27FC236}">
                <a16:creationId xmlns:a16="http://schemas.microsoft.com/office/drawing/2014/main" id="{F34A3921-E6C2-BEF1-7CDF-799C773038DE}"/>
              </a:ext>
            </a:extLst>
          </p:cNvPr>
          <p:cNvPicPr>
            <a:picLocks noChangeAspect="1"/>
          </p:cNvPicPr>
          <p:nvPr/>
        </p:nvPicPr>
        <p:blipFill>
          <a:blip r:embed="rId4">
            <a:duotone>
              <a:prstClr val="black"/>
              <a:schemeClr val="accent6">
                <a:tint val="45000"/>
                <a:satMod val="400000"/>
              </a:schemeClr>
            </a:duotone>
          </a:blip>
          <a:stretch>
            <a:fillRect/>
          </a:stretch>
        </p:blipFill>
        <p:spPr>
          <a:xfrm flipH="1">
            <a:off x="4822495" y="2637258"/>
            <a:ext cx="1420491" cy="902286"/>
          </a:xfrm>
          <a:prstGeom prst="rect">
            <a:avLst/>
          </a:prstGeom>
        </p:spPr>
      </p:pic>
      <p:pic>
        <p:nvPicPr>
          <p:cNvPr id="64" name="Picture 63">
            <a:extLst>
              <a:ext uri="{FF2B5EF4-FFF2-40B4-BE49-F238E27FC236}">
                <a16:creationId xmlns:a16="http://schemas.microsoft.com/office/drawing/2014/main" id="{30F71FAE-E3D3-DEF1-967E-42CD06C585A5}"/>
              </a:ext>
            </a:extLst>
          </p:cNvPr>
          <p:cNvPicPr>
            <a:picLocks noChangeAspect="1"/>
          </p:cNvPicPr>
          <p:nvPr/>
        </p:nvPicPr>
        <p:blipFill>
          <a:blip r:embed="rId2"/>
          <a:stretch>
            <a:fillRect/>
          </a:stretch>
        </p:blipFill>
        <p:spPr>
          <a:xfrm rot="9085641">
            <a:off x="3020305" y="2903440"/>
            <a:ext cx="1463167" cy="951058"/>
          </a:xfrm>
          <a:prstGeom prst="rect">
            <a:avLst/>
          </a:prstGeom>
        </p:spPr>
      </p:pic>
      <p:grpSp>
        <p:nvGrpSpPr>
          <p:cNvPr id="3" name="Group 2">
            <a:extLst>
              <a:ext uri="{FF2B5EF4-FFF2-40B4-BE49-F238E27FC236}">
                <a16:creationId xmlns:a16="http://schemas.microsoft.com/office/drawing/2014/main" id="{E35EF6AE-8764-04C7-754D-E203D4804950}"/>
              </a:ext>
            </a:extLst>
          </p:cNvPr>
          <p:cNvGrpSpPr/>
          <p:nvPr/>
        </p:nvGrpSpPr>
        <p:grpSpPr>
          <a:xfrm>
            <a:off x="-943" y="3274515"/>
            <a:ext cx="2513002" cy="951058"/>
            <a:chOff x="-943" y="3274515"/>
            <a:chExt cx="2513002" cy="951058"/>
          </a:xfrm>
        </p:grpSpPr>
        <p:pic>
          <p:nvPicPr>
            <p:cNvPr id="65" name="Picture 64">
              <a:extLst>
                <a:ext uri="{FF2B5EF4-FFF2-40B4-BE49-F238E27FC236}">
                  <a16:creationId xmlns:a16="http://schemas.microsoft.com/office/drawing/2014/main" id="{50EFDD4E-5626-6F53-7926-C125F6F22486}"/>
                </a:ext>
              </a:extLst>
            </p:cNvPr>
            <p:cNvPicPr>
              <a:picLocks noChangeAspect="1"/>
            </p:cNvPicPr>
            <p:nvPr/>
          </p:nvPicPr>
          <p:blipFill>
            <a:blip r:embed="rId2">
              <a:duotone>
                <a:prstClr val="black"/>
                <a:schemeClr val="accent4">
                  <a:tint val="45000"/>
                  <a:satMod val="400000"/>
                </a:schemeClr>
              </a:duotone>
            </a:blip>
            <a:stretch>
              <a:fillRect/>
            </a:stretch>
          </p:blipFill>
          <p:spPr>
            <a:xfrm rot="10800000">
              <a:off x="1048892" y="3274515"/>
              <a:ext cx="1463167" cy="951058"/>
            </a:xfrm>
            <a:prstGeom prst="rect">
              <a:avLst/>
            </a:prstGeom>
          </p:spPr>
        </p:pic>
        <p:pic>
          <p:nvPicPr>
            <p:cNvPr id="66" name="Picture 65">
              <a:extLst>
                <a:ext uri="{FF2B5EF4-FFF2-40B4-BE49-F238E27FC236}">
                  <a16:creationId xmlns:a16="http://schemas.microsoft.com/office/drawing/2014/main" id="{319DE552-A3DB-9DD4-786C-A48AF710E873}"/>
                </a:ext>
              </a:extLst>
            </p:cNvPr>
            <p:cNvPicPr>
              <a:picLocks noChangeAspect="1"/>
            </p:cNvPicPr>
            <p:nvPr/>
          </p:nvPicPr>
          <p:blipFill rotWithShape="1">
            <a:blip r:embed="rId2">
              <a:duotone>
                <a:prstClr val="black"/>
                <a:schemeClr val="accent6">
                  <a:tint val="45000"/>
                  <a:satMod val="400000"/>
                </a:schemeClr>
              </a:duotone>
            </a:blip>
            <a:srcRect r="55132"/>
            <a:stretch/>
          </p:blipFill>
          <p:spPr>
            <a:xfrm rot="10800000">
              <a:off x="-943" y="3274515"/>
              <a:ext cx="656498" cy="951058"/>
            </a:xfrm>
            <a:prstGeom prst="rect">
              <a:avLst/>
            </a:prstGeom>
          </p:spPr>
        </p:pic>
      </p:grpSp>
      <p:graphicFrame>
        <p:nvGraphicFramePr>
          <p:cNvPr id="67" name="Diagram 66">
            <a:extLst>
              <a:ext uri="{FF2B5EF4-FFF2-40B4-BE49-F238E27FC236}">
                <a16:creationId xmlns:a16="http://schemas.microsoft.com/office/drawing/2014/main" id="{960CF04F-7A8C-C30C-007C-44A9A07D12FC}"/>
              </a:ext>
            </a:extLst>
          </p:cNvPr>
          <p:cNvGraphicFramePr/>
          <p:nvPr>
            <p:extLst>
              <p:ext uri="{D42A27DB-BD31-4B8C-83A1-F6EECF244321}">
                <p14:modId xmlns:p14="http://schemas.microsoft.com/office/powerpoint/2010/main" val="2054731715"/>
              </p:ext>
            </p:extLst>
          </p:nvPr>
        </p:nvGraphicFramePr>
        <p:xfrm>
          <a:off x="151013" y="4779148"/>
          <a:ext cx="11887199" cy="119868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cxnSp>
        <p:nvCxnSpPr>
          <p:cNvPr id="68" name="Straight Arrow Connector 67">
            <a:extLst>
              <a:ext uri="{FF2B5EF4-FFF2-40B4-BE49-F238E27FC236}">
                <a16:creationId xmlns:a16="http://schemas.microsoft.com/office/drawing/2014/main" id="{AAEEDF27-AF21-596B-1E30-C07FA892C16B}"/>
              </a:ext>
            </a:extLst>
          </p:cNvPr>
          <p:cNvCxnSpPr>
            <a:cxnSpLocks/>
          </p:cNvCxnSpPr>
          <p:nvPr/>
        </p:nvCxnSpPr>
        <p:spPr>
          <a:xfrm>
            <a:off x="352232" y="5149140"/>
            <a:ext cx="891689"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11CF722-4A9B-A35E-2E0D-18CD9CC44DA0}"/>
              </a:ext>
            </a:extLst>
          </p:cNvPr>
          <p:cNvCxnSpPr>
            <a:cxnSpLocks/>
          </p:cNvCxnSpPr>
          <p:nvPr/>
        </p:nvCxnSpPr>
        <p:spPr>
          <a:xfrm flipH="1">
            <a:off x="352232" y="5584344"/>
            <a:ext cx="891689" cy="0"/>
          </a:xfrm>
          <a:prstGeom prst="straightConnector1">
            <a:avLst/>
          </a:prstGeom>
          <a:ln w="7620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51" name="Picture 50">
            <a:extLst>
              <a:ext uri="{FF2B5EF4-FFF2-40B4-BE49-F238E27FC236}">
                <a16:creationId xmlns:a16="http://schemas.microsoft.com/office/drawing/2014/main" id="{92BC8E6A-09C4-AC51-B259-18138B403B24}"/>
              </a:ext>
            </a:extLst>
          </p:cNvPr>
          <p:cNvPicPr>
            <a:picLocks noChangeAspect="1"/>
          </p:cNvPicPr>
          <p:nvPr/>
        </p:nvPicPr>
        <p:blipFill>
          <a:blip r:embed="rId4"/>
          <a:stretch>
            <a:fillRect/>
          </a:stretch>
        </p:blipFill>
        <p:spPr>
          <a:xfrm>
            <a:off x="-488642" y="1950061"/>
            <a:ext cx="1420491" cy="902286"/>
          </a:xfrm>
          <a:prstGeom prst="rect">
            <a:avLst/>
          </a:prstGeom>
        </p:spPr>
      </p:pic>
      <p:pic>
        <p:nvPicPr>
          <p:cNvPr id="53" name="Picture 52">
            <a:extLst>
              <a:ext uri="{FF2B5EF4-FFF2-40B4-BE49-F238E27FC236}">
                <a16:creationId xmlns:a16="http://schemas.microsoft.com/office/drawing/2014/main" id="{C90BF96B-BFE2-0CF9-8442-BBF9DCDA6968}"/>
              </a:ext>
            </a:extLst>
          </p:cNvPr>
          <p:cNvPicPr>
            <a:picLocks noChangeAspect="1"/>
          </p:cNvPicPr>
          <p:nvPr/>
        </p:nvPicPr>
        <p:blipFill>
          <a:blip r:embed="rId2">
            <a:duotone>
              <a:prstClr val="black"/>
              <a:schemeClr val="tx2">
                <a:tint val="45000"/>
                <a:satMod val="400000"/>
              </a:schemeClr>
            </a:duotone>
          </a:blip>
          <a:stretch>
            <a:fillRect/>
          </a:stretch>
        </p:blipFill>
        <p:spPr>
          <a:xfrm>
            <a:off x="-2310380" y="1925675"/>
            <a:ext cx="1463167" cy="951058"/>
          </a:xfrm>
          <a:prstGeom prst="rect">
            <a:avLst/>
          </a:prstGeom>
        </p:spPr>
      </p:pic>
      <p:pic>
        <p:nvPicPr>
          <p:cNvPr id="60" name="Picture 59">
            <a:extLst>
              <a:ext uri="{FF2B5EF4-FFF2-40B4-BE49-F238E27FC236}">
                <a16:creationId xmlns:a16="http://schemas.microsoft.com/office/drawing/2014/main" id="{529BA15B-DDDC-B4A2-476D-E383B9435C0A}"/>
              </a:ext>
            </a:extLst>
          </p:cNvPr>
          <p:cNvPicPr>
            <a:picLocks noChangeAspect="1"/>
          </p:cNvPicPr>
          <p:nvPr/>
        </p:nvPicPr>
        <p:blipFill>
          <a:blip r:embed="rId3"/>
          <a:stretch>
            <a:fillRect/>
          </a:stretch>
        </p:blipFill>
        <p:spPr>
          <a:xfrm>
            <a:off x="-4480040" y="1950061"/>
            <a:ext cx="1682642" cy="957155"/>
          </a:xfrm>
          <a:prstGeom prst="rect">
            <a:avLst/>
          </a:prstGeom>
        </p:spPr>
      </p:pic>
      <p:pic>
        <p:nvPicPr>
          <p:cNvPr id="61" name="Picture 60">
            <a:extLst>
              <a:ext uri="{FF2B5EF4-FFF2-40B4-BE49-F238E27FC236}">
                <a16:creationId xmlns:a16="http://schemas.microsoft.com/office/drawing/2014/main" id="{53F07D38-B175-CE6B-6C17-D1F80967C50C}"/>
              </a:ext>
            </a:extLst>
          </p:cNvPr>
          <p:cNvPicPr>
            <a:picLocks noChangeAspect="1"/>
          </p:cNvPicPr>
          <p:nvPr/>
        </p:nvPicPr>
        <p:blipFill>
          <a:blip r:embed="rId2"/>
          <a:stretch>
            <a:fillRect/>
          </a:stretch>
        </p:blipFill>
        <p:spPr>
          <a:xfrm>
            <a:off x="-6408697" y="1956158"/>
            <a:ext cx="1463167" cy="951058"/>
          </a:xfrm>
          <a:prstGeom prst="rect">
            <a:avLst/>
          </a:prstGeom>
        </p:spPr>
      </p:pic>
      <p:pic>
        <p:nvPicPr>
          <p:cNvPr id="62" name="Picture 61">
            <a:extLst>
              <a:ext uri="{FF2B5EF4-FFF2-40B4-BE49-F238E27FC236}">
                <a16:creationId xmlns:a16="http://schemas.microsoft.com/office/drawing/2014/main" id="{3A6A8257-06FF-CA9F-3FA9-70EF4D698CE6}"/>
              </a:ext>
            </a:extLst>
          </p:cNvPr>
          <p:cNvPicPr>
            <a:picLocks noChangeAspect="1"/>
          </p:cNvPicPr>
          <p:nvPr/>
        </p:nvPicPr>
        <p:blipFill>
          <a:blip r:embed="rId2">
            <a:duotone>
              <a:prstClr val="black"/>
              <a:schemeClr val="accent4">
                <a:tint val="45000"/>
                <a:satMod val="400000"/>
              </a:schemeClr>
            </a:duotone>
          </a:blip>
          <a:stretch>
            <a:fillRect/>
          </a:stretch>
        </p:blipFill>
        <p:spPr>
          <a:xfrm>
            <a:off x="-8687213" y="1987863"/>
            <a:ext cx="1463167" cy="951058"/>
          </a:xfrm>
          <a:prstGeom prst="rect">
            <a:avLst/>
          </a:prstGeom>
        </p:spPr>
      </p:pic>
      <p:grpSp>
        <p:nvGrpSpPr>
          <p:cNvPr id="7" name="Group 6">
            <a:extLst>
              <a:ext uri="{FF2B5EF4-FFF2-40B4-BE49-F238E27FC236}">
                <a16:creationId xmlns:a16="http://schemas.microsoft.com/office/drawing/2014/main" id="{2DAB57FF-1313-4945-800F-F9D59DD8ACC9}"/>
              </a:ext>
            </a:extLst>
          </p:cNvPr>
          <p:cNvGrpSpPr/>
          <p:nvPr/>
        </p:nvGrpSpPr>
        <p:grpSpPr>
          <a:xfrm flipH="1">
            <a:off x="12431655" y="3308251"/>
            <a:ext cx="3335942" cy="957155"/>
            <a:chOff x="7605000" y="7432539"/>
            <a:chExt cx="3335942" cy="957155"/>
          </a:xfrm>
        </p:grpSpPr>
        <p:pic>
          <p:nvPicPr>
            <p:cNvPr id="70" name="Picture 69">
              <a:extLst>
                <a:ext uri="{FF2B5EF4-FFF2-40B4-BE49-F238E27FC236}">
                  <a16:creationId xmlns:a16="http://schemas.microsoft.com/office/drawing/2014/main" id="{8D00C1C3-3D42-A047-11EE-C4BD1B15BF31}"/>
                </a:ext>
              </a:extLst>
            </p:cNvPr>
            <p:cNvPicPr>
              <a:picLocks noChangeAspect="1"/>
            </p:cNvPicPr>
            <p:nvPr/>
          </p:nvPicPr>
          <p:blipFill>
            <a:blip r:embed="rId3"/>
            <a:stretch>
              <a:fillRect/>
            </a:stretch>
          </p:blipFill>
          <p:spPr>
            <a:xfrm>
              <a:off x="9258300" y="7432539"/>
              <a:ext cx="1682642" cy="957155"/>
            </a:xfrm>
            <a:prstGeom prst="rect">
              <a:avLst/>
            </a:prstGeom>
          </p:spPr>
        </p:pic>
        <p:pic>
          <p:nvPicPr>
            <p:cNvPr id="71" name="Picture 70">
              <a:extLst>
                <a:ext uri="{FF2B5EF4-FFF2-40B4-BE49-F238E27FC236}">
                  <a16:creationId xmlns:a16="http://schemas.microsoft.com/office/drawing/2014/main" id="{A1440BA5-87C3-43FE-1405-B067525AC3FC}"/>
                </a:ext>
              </a:extLst>
            </p:cNvPr>
            <p:cNvPicPr>
              <a:picLocks noChangeAspect="1"/>
            </p:cNvPicPr>
            <p:nvPr/>
          </p:nvPicPr>
          <p:blipFill>
            <a:blip r:embed="rId4"/>
            <a:stretch>
              <a:fillRect/>
            </a:stretch>
          </p:blipFill>
          <p:spPr>
            <a:xfrm>
              <a:off x="7605000" y="7459973"/>
              <a:ext cx="1420491" cy="902286"/>
            </a:xfrm>
            <a:prstGeom prst="rect">
              <a:avLst/>
            </a:prstGeom>
          </p:spPr>
        </p:pic>
      </p:grpSp>
      <p:pic>
        <p:nvPicPr>
          <p:cNvPr id="72" name="Picture 71">
            <a:extLst>
              <a:ext uri="{FF2B5EF4-FFF2-40B4-BE49-F238E27FC236}">
                <a16:creationId xmlns:a16="http://schemas.microsoft.com/office/drawing/2014/main" id="{117F499C-7B65-498A-F450-74B924EEF75D}"/>
              </a:ext>
            </a:extLst>
          </p:cNvPr>
          <p:cNvPicPr>
            <a:picLocks noChangeAspect="1"/>
          </p:cNvPicPr>
          <p:nvPr/>
        </p:nvPicPr>
        <p:blipFill>
          <a:blip r:embed="rId2">
            <a:duotone>
              <a:prstClr val="black"/>
              <a:schemeClr val="accent6">
                <a:tint val="45000"/>
                <a:satMod val="400000"/>
              </a:schemeClr>
            </a:duotone>
          </a:blip>
          <a:stretch>
            <a:fillRect/>
          </a:stretch>
        </p:blipFill>
        <p:spPr>
          <a:xfrm>
            <a:off x="-12445359" y="2089765"/>
            <a:ext cx="1463167" cy="951058"/>
          </a:xfrm>
          <a:prstGeom prst="rect">
            <a:avLst/>
          </a:prstGeom>
        </p:spPr>
      </p:pic>
      <p:pic>
        <p:nvPicPr>
          <p:cNvPr id="73" name="Picture 72">
            <a:extLst>
              <a:ext uri="{FF2B5EF4-FFF2-40B4-BE49-F238E27FC236}">
                <a16:creationId xmlns:a16="http://schemas.microsoft.com/office/drawing/2014/main" id="{2605F6F6-6F8C-C8C6-0EEC-953C3238C83E}"/>
              </a:ext>
            </a:extLst>
          </p:cNvPr>
          <p:cNvPicPr>
            <a:picLocks noChangeAspect="1"/>
          </p:cNvPicPr>
          <p:nvPr/>
        </p:nvPicPr>
        <p:blipFill>
          <a:blip r:embed="rId3">
            <a:duotone>
              <a:prstClr val="black"/>
              <a:schemeClr val="tx2">
                <a:tint val="45000"/>
                <a:satMod val="400000"/>
              </a:schemeClr>
            </a:duotone>
          </a:blip>
          <a:stretch>
            <a:fillRect/>
          </a:stretch>
        </p:blipFill>
        <p:spPr>
          <a:xfrm>
            <a:off x="-14716154" y="2089765"/>
            <a:ext cx="1682642" cy="957155"/>
          </a:xfrm>
          <a:prstGeom prst="rect">
            <a:avLst/>
          </a:prstGeom>
        </p:spPr>
      </p:pic>
      <p:pic>
        <p:nvPicPr>
          <p:cNvPr id="74" name="Picture 73">
            <a:extLst>
              <a:ext uri="{FF2B5EF4-FFF2-40B4-BE49-F238E27FC236}">
                <a16:creationId xmlns:a16="http://schemas.microsoft.com/office/drawing/2014/main" id="{8643454C-CAEB-C556-BC53-0CC5B59F0FFE}"/>
              </a:ext>
            </a:extLst>
          </p:cNvPr>
          <p:cNvPicPr>
            <a:picLocks noChangeAspect="1"/>
          </p:cNvPicPr>
          <p:nvPr/>
        </p:nvPicPr>
        <p:blipFill>
          <a:blip r:embed="rId2">
            <a:duotone>
              <a:schemeClr val="accent4">
                <a:shade val="45000"/>
                <a:satMod val="135000"/>
              </a:schemeClr>
              <a:prstClr val="white"/>
            </a:duotone>
          </a:blip>
          <a:stretch>
            <a:fillRect/>
          </a:stretch>
        </p:blipFill>
        <p:spPr>
          <a:xfrm>
            <a:off x="-16659016" y="2089765"/>
            <a:ext cx="1463167" cy="951058"/>
          </a:xfrm>
          <a:prstGeom prst="rect">
            <a:avLst/>
          </a:prstGeom>
        </p:spPr>
      </p:pic>
      <p:pic>
        <p:nvPicPr>
          <p:cNvPr id="75" name="Picture 74">
            <a:extLst>
              <a:ext uri="{FF2B5EF4-FFF2-40B4-BE49-F238E27FC236}">
                <a16:creationId xmlns:a16="http://schemas.microsoft.com/office/drawing/2014/main" id="{12D69787-7BC6-FB6B-A94E-3D9A3D434023}"/>
              </a:ext>
            </a:extLst>
          </p:cNvPr>
          <p:cNvPicPr>
            <a:picLocks noChangeAspect="1"/>
          </p:cNvPicPr>
          <p:nvPr/>
        </p:nvPicPr>
        <p:blipFill>
          <a:blip r:embed="rId4">
            <a:duotone>
              <a:prstClr val="black"/>
              <a:schemeClr val="tx2">
                <a:tint val="45000"/>
                <a:satMod val="400000"/>
              </a:schemeClr>
            </a:duotone>
          </a:blip>
          <a:stretch>
            <a:fillRect/>
          </a:stretch>
        </p:blipFill>
        <p:spPr>
          <a:xfrm>
            <a:off x="-10487613" y="2036635"/>
            <a:ext cx="1420491" cy="902286"/>
          </a:xfrm>
          <a:prstGeom prst="rect">
            <a:avLst/>
          </a:prstGeom>
        </p:spPr>
      </p:pic>
    </p:spTree>
    <p:extLst>
      <p:ext uri="{BB962C8B-B14F-4D97-AF65-F5344CB8AC3E}">
        <p14:creationId xmlns:p14="http://schemas.microsoft.com/office/powerpoint/2010/main" val="1984003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32000" fill="hold" nodeType="withEffect">
                                  <p:stCondLst>
                                    <p:cond delay="500"/>
                                  </p:stCondLst>
                                  <p:childTnLst>
                                    <p:animMotion origin="layout" path="M -4.58333E-6 7.40741E-7 L -0.21744 7.40741E-7 " pathEditMode="relative" rAng="0" ptsTypes="AA">
                                      <p:cBhvr>
                                        <p:cTn id="6" dur="3000" fill="hold"/>
                                        <p:tgtEl>
                                          <p:spTgt spid="3"/>
                                        </p:tgtEl>
                                        <p:attrNameLst>
                                          <p:attrName>ppt_x</p:attrName>
                                          <p:attrName>ppt_y</p:attrName>
                                        </p:attrNameLst>
                                      </p:cBhvr>
                                      <p:rCtr x="-10872" y="0"/>
                                    </p:animMotion>
                                  </p:childTnLst>
                                </p:cTn>
                              </p:par>
                              <p:par>
                                <p:cTn id="7" presetID="0" presetClass="path" presetSubtype="0" accel="50000" fill="hold" nodeType="withEffect">
                                  <p:stCondLst>
                                    <p:cond delay="1000"/>
                                  </p:stCondLst>
                                  <p:childTnLst>
                                    <p:animMotion origin="layout" path="M -0.00052 0.00185 L -0.05768 0.05741 L -0.4181 0.05741 " pathEditMode="relative" ptsTypes="AAA">
                                      <p:cBhvr>
                                        <p:cTn id="8" dur="4250" fill="hold"/>
                                        <p:tgtEl>
                                          <p:spTgt spid="64"/>
                                        </p:tgtEl>
                                        <p:attrNameLst>
                                          <p:attrName>ppt_x</p:attrName>
                                          <p:attrName>ppt_y</p:attrName>
                                        </p:attrNameLst>
                                      </p:cBhvr>
                                    </p:animMotion>
                                  </p:childTnLst>
                                </p:cTn>
                              </p:par>
                              <p:par>
                                <p:cTn id="9" presetID="8" presetClass="emph" presetSubtype="0" fill="hold" nodeType="withEffect">
                                  <p:stCondLst>
                                    <p:cond delay="1500"/>
                                  </p:stCondLst>
                                  <p:childTnLst>
                                    <p:animRot by="1680000">
                                      <p:cBhvr>
                                        <p:cTn id="10" dur="1250" fill="hold"/>
                                        <p:tgtEl>
                                          <p:spTgt spid="64"/>
                                        </p:tgtEl>
                                        <p:attrNameLst>
                                          <p:attrName>r</p:attrName>
                                        </p:attrNameLst>
                                      </p:cBhvr>
                                    </p:animRot>
                                  </p:childTnLst>
                                </p:cTn>
                              </p:par>
                              <p:par>
                                <p:cTn id="11" presetID="0" presetClass="path" presetSubtype="0" accel="50000" fill="hold" nodeType="withEffect">
                                  <p:stCondLst>
                                    <p:cond delay="1500"/>
                                  </p:stCondLst>
                                  <p:childTnLst>
                                    <p:animMotion origin="layout" path="M -0.00065 -0.00023 L -0.11003 -0.00023 L -0.19857 0.09977 L -0.56211 0.09977 " pathEditMode="relative" ptsTypes="AAAA">
                                      <p:cBhvr>
                                        <p:cTn id="12" dur="5000" fill="hold"/>
                                        <p:tgtEl>
                                          <p:spTgt spid="19"/>
                                        </p:tgtEl>
                                        <p:attrNameLst>
                                          <p:attrName>ppt_x</p:attrName>
                                          <p:attrName>ppt_y</p:attrName>
                                        </p:attrNameLst>
                                      </p:cBhvr>
                                    </p:animMotion>
                                  </p:childTnLst>
                                </p:cTn>
                              </p:par>
                              <p:par>
                                <p:cTn id="13" presetID="0" presetClass="path" presetSubtype="0" accel="50000" fill="hold" nodeType="withEffect">
                                  <p:stCondLst>
                                    <p:cond delay="2000"/>
                                  </p:stCondLst>
                                  <p:childTnLst>
                                    <p:animMotion origin="layout" path="M -0.00312 -0.00532 L -0.27084 -0.00717 L -0.36146 0.09653 L -0.72396 0.09283 " pathEditMode="relative" ptsTypes="AAAA">
                                      <p:cBhvr>
                                        <p:cTn id="14" dur="5500" fill="hold"/>
                                        <p:tgtEl>
                                          <p:spTgt spid="16"/>
                                        </p:tgtEl>
                                        <p:attrNameLst>
                                          <p:attrName>ppt_x</p:attrName>
                                          <p:attrName>ppt_y</p:attrName>
                                        </p:attrNameLst>
                                      </p:cBhvr>
                                    </p:animMotion>
                                  </p:childTnLst>
                                </p:cTn>
                              </p:par>
                              <p:par>
                                <p:cTn id="15" presetID="0" presetClass="path" presetSubtype="0" accel="31000" fill="hold" nodeType="withEffect">
                                  <p:stCondLst>
                                    <p:cond delay="2250"/>
                                  </p:stCondLst>
                                  <p:childTnLst>
                                    <p:animMotion origin="layout" path="M 0.00339 -0.00023 L -0.16536 -0.10023 L -0.43203 -0.10208 L -0.52161 -0.00208 L -0.8862 -0.00393 " pathEditMode="relative" ptsTypes="AAAAA">
                                      <p:cBhvr>
                                        <p:cTn id="16" dur="6500" fill="hold"/>
                                        <p:tgtEl>
                                          <p:spTgt spid="18"/>
                                        </p:tgtEl>
                                        <p:attrNameLst>
                                          <p:attrName>ppt_x</p:attrName>
                                          <p:attrName>ppt_y</p:attrName>
                                        </p:attrNameLst>
                                      </p:cBhvr>
                                    </p:animMotion>
                                  </p:childTnLst>
                                </p:cTn>
                              </p:par>
                              <p:par>
                                <p:cTn id="17" presetID="8" presetClass="emph" presetSubtype="0" fill="hold" nodeType="withEffect">
                                  <p:stCondLst>
                                    <p:cond delay="3250"/>
                                  </p:stCondLst>
                                  <p:childTnLst>
                                    <p:animRot by="-480000">
                                      <p:cBhvr>
                                        <p:cTn id="18" dur="1000" fill="hold"/>
                                        <p:tgtEl>
                                          <p:spTgt spid="18"/>
                                        </p:tgtEl>
                                        <p:attrNameLst>
                                          <p:attrName>r</p:attrName>
                                        </p:attrNameLst>
                                      </p:cBhvr>
                                    </p:animRot>
                                  </p:childTnLst>
                                </p:cTn>
                              </p:par>
                              <p:par>
                                <p:cTn id="19" presetID="0" presetClass="path" presetSubtype="0" accel="50000" fill="hold" nodeType="withEffect">
                                  <p:stCondLst>
                                    <p:cond delay="3000"/>
                                  </p:stCondLst>
                                  <p:childTnLst>
                                    <p:animMotion origin="layout" path="M 0.00104 -0.00579 L -0.14375 -0.00579 L -0.30833 -0.10394 L -0.57513 -0.10394 L -0.66771 -0.00394 L -1.02812 -0.00209 " pathEditMode="relative" ptsTypes="AAAAAA">
                                      <p:cBhvr>
                                        <p:cTn id="20" dur="6500" fill="hold"/>
                                        <p:tgtEl>
                                          <p:spTgt spid="17"/>
                                        </p:tgtEl>
                                        <p:attrNameLst>
                                          <p:attrName>ppt_x</p:attrName>
                                          <p:attrName>ppt_y</p:attrName>
                                        </p:attrNameLst>
                                      </p:cBhvr>
                                    </p:animMotion>
                                  </p:childTnLst>
                                </p:cTn>
                              </p:par>
                              <p:par>
                                <p:cTn id="21" presetID="0" presetClass="path" presetSubtype="0" accel="50000" fill="hold" nodeType="withEffect">
                                  <p:stCondLst>
                                    <p:cond delay="8800"/>
                                  </p:stCondLst>
                                  <p:childTnLst>
                                    <p:animMotion origin="layout" path="M -0.00091 -0.00069 L 0.0793 0.00116 L 0.16784 0.10301 L 0.43451 0.10301 L 0.60534 0.01597 L 0.93868 0.01597 " pathEditMode="relative" ptsTypes="AAAAAA">
                                      <p:cBhvr>
                                        <p:cTn id="22" dur="6000" fill="hold"/>
                                        <p:tgtEl>
                                          <p:spTgt spid="10"/>
                                        </p:tgtEl>
                                        <p:attrNameLst>
                                          <p:attrName>ppt_x</p:attrName>
                                          <p:attrName>ppt_y</p:attrName>
                                        </p:attrNameLst>
                                      </p:cBhvr>
                                    </p:animMotion>
                                  </p:childTnLst>
                                </p:cTn>
                              </p:par>
                              <p:par>
                                <p:cTn id="23" presetID="0" presetClass="path" presetSubtype="0" accel="50000" fill="hold" nodeType="withEffect">
                                  <p:stCondLst>
                                    <p:cond delay="9250"/>
                                  </p:stCondLst>
                                  <p:childTnLst>
                                    <p:animMotion origin="layout" path="M -0.00247 -0.0037 L 0.23698 -0.00185 L 0.32969 0.10185 L 0.59336 0.1037 L 0.76107 0.01296 L 1.0944 0.01111 " pathEditMode="relative" ptsTypes="AAAAAA">
                                      <p:cBhvr>
                                        <p:cTn id="24" dur="6000" fill="hold"/>
                                        <p:tgtEl>
                                          <p:spTgt spid="51"/>
                                        </p:tgtEl>
                                        <p:attrNameLst>
                                          <p:attrName>ppt_x</p:attrName>
                                          <p:attrName>ppt_y</p:attrName>
                                        </p:attrNameLst>
                                      </p:cBhvr>
                                    </p:animMotion>
                                  </p:childTnLst>
                                </p:cTn>
                              </p:par>
                              <p:par>
                                <p:cTn id="25" presetID="0" presetClass="path" presetSubtype="0" accel="50000" fill="hold" nodeType="withEffect">
                                  <p:stCondLst>
                                    <p:cond delay="9750"/>
                                  </p:stCondLst>
                                  <p:childTnLst>
                                    <p:animMotion origin="layout" path="M -0.00182 -0.00185 L 0.38464 -0.00185 L 0.47526 0.10185 L 0.74193 0.1 L 0.9086 0.01296 L 1.24193 0.01296 " pathEditMode="relative" ptsTypes="AAAAAA">
                                      <p:cBhvr>
                                        <p:cTn id="26" dur="6000" fill="hold"/>
                                        <p:tgtEl>
                                          <p:spTgt spid="53"/>
                                        </p:tgtEl>
                                        <p:attrNameLst>
                                          <p:attrName>ppt_x</p:attrName>
                                          <p:attrName>ppt_y</p:attrName>
                                        </p:attrNameLst>
                                      </p:cBhvr>
                                    </p:animMotion>
                                  </p:childTnLst>
                                </p:cTn>
                              </p:par>
                              <p:par>
                                <p:cTn id="27" presetID="0" presetClass="path" presetSubtype="0" accel="50000" fill="hold" nodeType="withEffect">
                                  <p:stCondLst>
                                    <p:cond delay="10300"/>
                                  </p:stCondLst>
                                  <p:childTnLst>
                                    <p:animMotion origin="layout" path="M -0.00156 -0.00394 L 0.55573 -0.00579 L 0.64115 0.09791 L 0.9099 0.09606 L 1.07969 0.00902 L 1.41302 0.00902 " pathEditMode="relative" ptsTypes="AAAAAA">
                                      <p:cBhvr>
                                        <p:cTn id="28" dur="6000" fill="hold"/>
                                        <p:tgtEl>
                                          <p:spTgt spid="60"/>
                                        </p:tgtEl>
                                        <p:attrNameLst>
                                          <p:attrName>ppt_x</p:attrName>
                                          <p:attrName>ppt_y</p:attrName>
                                        </p:attrNameLst>
                                      </p:cBhvr>
                                    </p:animMotion>
                                  </p:childTnLst>
                                </p:cTn>
                              </p:par>
                              <p:par>
                                <p:cTn id="29" presetID="0" presetClass="path" presetSubtype="0" accel="50000" fill="hold" nodeType="withEffect">
                                  <p:stCondLst>
                                    <p:cond delay="10750"/>
                                  </p:stCondLst>
                                  <p:childTnLst>
                                    <p:animMotion origin="layout" path="M -0.00222 -0.00509 L 0.72149 -0.00301 L 0.81316 0.09421 L 1.08347 0.09861 L 1.25014 0.00741 L 1.57995 0.00972 " pathEditMode="relative" ptsTypes="AAAAAA">
                                      <p:cBhvr>
                                        <p:cTn id="30" dur="6250" fill="hold"/>
                                        <p:tgtEl>
                                          <p:spTgt spid="61"/>
                                        </p:tgtEl>
                                        <p:attrNameLst>
                                          <p:attrName>ppt_x</p:attrName>
                                          <p:attrName>ppt_y</p:attrName>
                                        </p:attrNameLst>
                                      </p:cBhvr>
                                    </p:animMotion>
                                  </p:childTnLst>
                                </p:cTn>
                              </p:par>
                              <p:par>
                                <p:cTn id="31" presetID="0" presetClass="path" presetSubtype="0" accel="50000" fill="hold" nodeType="withEffect">
                                  <p:stCondLst>
                                    <p:cond delay="11250"/>
                                  </p:stCondLst>
                                  <p:childTnLst>
                                    <p:animMotion origin="layout" path="M -0.00235 -0.00556 L 0.90599 -0.00972 L 0.99648 0.09166 L 1.26666 0.09166 L 1.43333 0.00486 L 1.76562 0.00694 " pathEditMode="relative" ptsTypes="AAAAAA">
                                      <p:cBhvr>
                                        <p:cTn id="32" dur="6750" fill="hold"/>
                                        <p:tgtEl>
                                          <p:spTgt spid="62"/>
                                        </p:tgtEl>
                                        <p:attrNameLst>
                                          <p:attrName>ppt_x</p:attrName>
                                          <p:attrName>ppt_y</p:attrName>
                                        </p:attrNameLst>
                                      </p:cBhvr>
                                    </p:animMotion>
                                  </p:childTnLst>
                                </p:cTn>
                              </p:par>
                              <p:par>
                                <p:cTn id="33" presetID="35" presetClass="path" presetSubtype="0" decel="50000" fill="hold" nodeType="withEffect">
                                  <p:stCondLst>
                                    <p:cond delay="11250"/>
                                  </p:stCondLst>
                                  <p:childTnLst>
                                    <p:animMotion origin="layout" path="M -2.08333E-7 -3.33333E-6 L -0.28216 -3.33333E-6 " pathEditMode="relative" rAng="0" ptsTypes="AA">
                                      <p:cBhvr>
                                        <p:cTn id="34" dur="4000" fill="hold"/>
                                        <p:tgtEl>
                                          <p:spTgt spid="7"/>
                                        </p:tgtEl>
                                        <p:attrNameLst>
                                          <p:attrName>ppt_x</p:attrName>
                                          <p:attrName>ppt_y</p:attrName>
                                        </p:attrNameLst>
                                      </p:cBhvr>
                                      <p:rCtr x="-14115" y="0"/>
                                    </p:animMotion>
                                  </p:childTnLst>
                                </p:cTn>
                              </p:par>
                              <p:par>
                                <p:cTn id="35" presetID="0" presetClass="path" presetSubtype="0" accel="50000" fill="hold" nodeType="withEffect">
                                  <p:stCondLst>
                                    <p:cond delay="11750"/>
                                  </p:stCondLst>
                                  <p:childTnLst>
                                    <p:animMotion origin="layout" path="M -0.00157 -0.00509 L 1.05781 -0.01134 L 1.14479 0.08796 L 1.41614 0.08796 L 1.58515 0.00116 L 1.91367 0.00116 " pathEditMode="relative" ptsTypes="AAAAAA">
                                      <p:cBhvr>
                                        <p:cTn id="36" dur="7000" fill="hold"/>
                                        <p:tgtEl>
                                          <p:spTgt spid="75"/>
                                        </p:tgtEl>
                                        <p:attrNameLst>
                                          <p:attrName>ppt_x</p:attrName>
                                          <p:attrName>ppt_y</p:attrName>
                                        </p:attrNameLst>
                                      </p:cBhvr>
                                    </p:animMotion>
                                  </p:childTnLst>
                                </p:cTn>
                              </p:par>
                              <p:par>
                                <p:cTn id="37" presetID="0" presetClass="path" presetSubtype="0" accel="50000" fill="hold" nodeType="withEffect">
                                  <p:stCondLst>
                                    <p:cond delay="12250"/>
                                  </p:stCondLst>
                                  <p:childTnLst>
                                    <p:animMotion origin="layout" path="M -0.00468 -0.0037 L 1.21667 -0.02685 L 1.30117 0.07454 L 1.57149 0.07685 L 1.74297 -0.00995 L 2.07513 -0.00995 " pathEditMode="relative" ptsTypes="AAAAAA">
                                      <p:cBhvr>
                                        <p:cTn id="38" dur="7250" fill="hold"/>
                                        <p:tgtEl>
                                          <p:spTgt spid="72"/>
                                        </p:tgtEl>
                                        <p:attrNameLst>
                                          <p:attrName>ppt_x</p:attrName>
                                          <p:attrName>ppt_y</p:attrName>
                                        </p:attrNameLst>
                                      </p:cBhvr>
                                    </p:animMotion>
                                  </p:childTnLst>
                                </p:cTn>
                              </p:par>
                              <p:par>
                                <p:cTn id="39" presetID="0" presetClass="path" presetSubtype="0" accel="50000" fill="hold" nodeType="withEffect">
                                  <p:stCondLst>
                                    <p:cond delay="12750"/>
                                  </p:stCondLst>
                                  <p:childTnLst>
                                    <p:animMotion origin="layout" path="M -0.00247 0.00023 L 1.39518 -0.025 L 1.48203 0.07638 L 1.75469 0.07407 L 1.92253 -0.01459 L 2.25117 -0.01042 " pathEditMode="relative" ptsTypes="AAAAAA">
                                      <p:cBhvr>
                                        <p:cTn id="40" dur="7250" fill="hold"/>
                                        <p:tgtEl>
                                          <p:spTgt spid="73"/>
                                        </p:tgtEl>
                                        <p:attrNameLst>
                                          <p:attrName>ppt_x</p:attrName>
                                          <p:attrName>ppt_y</p:attrName>
                                        </p:attrNameLst>
                                      </p:cBhvr>
                                    </p:animMotion>
                                  </p:childTnLst>
                                </p:cTn>
                              </p:par>
                              <p:par>
                                <p:cTn id="41" presetID="0" presetClass="path" presetSubtype="0" accel="50000" fill="hold" nodeType="withEffect">
                                  <p:stCondLst>
                                    <p:cond delay="13500"/>
                                  </p:stCondLst>
                                  <p:childTnLst>
                                    <p:animMotion origin="layout" path="M -0.00547 -0.00139 L -0.00547 -0.00139 L 1.56341 -0.02453 L 1.65273 0.07894 L 1.9194 0.08125 L 2.08958 -0.01203 L 2.4181 -0.00995 " pathEditMode="relative" ptsTypes="AAAAAAA">
                                      <p:cBhvr>
                                        <p:cTn id="42" dur="7000" fill="hold"/>
                                        <p:tgtEl>
                                          <p:spTgt spid="7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20674" y="1052896"/>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Data can travel in both directions at the same time using two communication channels.</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Full-duplex transmission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a:extLst>
              <a:ext uri="{FF2B5EF4-FFF2-40B4-BE49-F238E27FC236}">
                <a16:creationId xmlns:a16="http://schemas.microsoft.com/office/drawing/2014/main" id="{7880FE99-7B71-CB2D-45B4-9C2E97A118E1}"/>
              </a:ext>
            </a:extLst>
          </p:cNvPr>
          <p:cNvSpPr/>
          <p:nvPr/>
        </p:nvSpPr>
        <p:spPr>
          <a:xfrm>
            <a:off x="0" y="1568211"/>
            <a:ext cx="12192000" cy="3060347"/>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34F56FAD-59A0-E16B-12DA-651B67FDED84}"/>
              </a:ext>
            </a:extLst>
          </p:cNvPr>
          <p:cNvCxnSpPr/>
          <p:nvPr/>
        </p:nvCxnSpPr>
        <p:spPr>
          <a:xfrm>
            <a:off x="0" y="1743956"/>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22" name="Diagram 21">
            <a:extLst>
              <a:ext uri="{FF2B5EF4-FFF2-40B4-BE49-F238E27FC236}">
                <a16:creationId xmlns:a16="http://schemas.microsoft.com/office/drawing/2014/main" id="{7FAC6F27-6C1E-8CAA-1289-A5684C0FCAF7}"/>
              </a:ext>
            </a:extLst>
          </p:cNvPr>
          <p:cNvGraphicFramePr/>
          <p:nvPr>
            <p:extLst>
              <p:ext uri="{D42A27DB-BD31-4B8C-83A1-F6EECF244321}">
                <p14:modId xmlns:p14="http://schemas.microsoft.com/office/powerpoint/2010/main" val="2133025876"/>
              </p:ext>
            </p:extLst>
          </p:nvPr>
        </p:nvGraphicFramePr>
        <p:xfrm>
          <a:off x="151013" y="4779148"/>
          <a:ext cx="11887199" cy="11986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23" name="Straight Arrow Connector 22">
            <a:extLst>
              <a:ext uri="{FF2B5EF4-FFF2-40B4-BE49-F238E27FC236}">
                <a16:creationId xmlns:a16="http://schemas.microsoft.com/office/drawing/2014/main" id="{6A348247-FA40-D4BB-1391-1FD5DCADFAC9}"/>
              </a:ext>
            </a:extLst>
          </p:cNvPr>
          <p:cNvCxnSpPr>
            <a:cxnSpLocks/>
          </p:cNvCxnSpPr>
          <p:nvPr/>
        </p:nvCxnSpPr>
        <p:spPr>
          <a:xfrm>
            <a:off x="352232" y="5149140"/>
            <a:ext cx="891689" cy="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BE7A79D-E571-05E2-94BE-7D90B55A0F6C}"/>
              </a:ext>
            </a:extLst>
          </p:cNvPr>
          <p:cNvCxnSpPr>
            <a:cxnSpLocks/>
          </p:cNvCxnSpPr>
          <p:nvPr/>
        </p:nvCxnSpPr>
        <p:spPr>
          <a:xfrm flipH="1">
            <a:off x="352232" y="5584344"/>
            <a:ext cx="891689" cy="0"/>
          </a:xfrm>
          <a:prstGeom prst="straightConnector1">
            <a:avLst/>
          </a:prstGeom>
          <a:ln w="7620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0A2CEB98-3F06-9C5E-96C3-67585C06039E}"/>
              </a:ext>
            </a:extLst>
          </p:cNvPr>
          <p:cNvGrpSpPr/>
          <p:nvPr/>
        </p:nvGrpSpPr>
        <p:grpSpPr>
          <a:xfrm>
            <a:off x="-16259011" y="1917113"/>
            <a:ext cx="28160724" cy="1094899"/>
            <a:chOff x="-16273525" y="2076768"/>
            <a:chExt cx="28160724" cy="1094899"/>
          </a:xfrm>
        </p:grpSpPr>
        <p:pic>
          <p:nvPicPr>
            <p:cNvPr id="25" name="Picture 24">
              <a:extLst>
                <a:ext uri="{FF2B5EF4-FFF2-40B4-BE49-F238E27FC236}">
                  <a16:creationId xmlns:a16="http://schemas.microsoft.com/office/drawing/2014/main" id="{8CC594F5-001C-6C19-8C71-5C9FC7BE3AFE}"/>
                </a:ext>
              </a:extLst>
            </p:cNvPr>
            <p:cNvPicPr>
              <a:picLocks noChangeAspect="1"/>
            </p:cNvPicPr>
            <p:nvPr/>
          </p:nvPicPr>
          <p:blipFill>
            <a:blip r:embed="rId7"/>
            <a:stretch>
              <a:fillRect/>
            </a:stretch>
          </p:blipFill>
          <p:spPr>
            <a:xfrm>
              <a:off x="4272582" y="2076768"/>
              <a:ext cx="1682642" cy="957155"/>
            </a:xfrm>
            <a:prstGeom prst="rect">
              <a:avLst/>
            </a:prstGeom>
          </p:spPr>
        </p:pic>
        <p:pic>
          <p:nvPicPr>
            <p:cNvPr id="26" name="Picture 25">
              <a:extLst>
                <a:ext uri="{FF2B5EF4-FFF2-40B4-BE49-F238E27FC236}">
                  <a16:creationId xmlns:a16="http://schemas.microsoft.com/office/drawing/2014/main" id="{26CE50AE-FA52-EA28-2EA5-EC95B0B670F3}"/>
                </a:ext>
              </a:extLst>
            </p:cNvPr>
            <p:cNvPicPr>
              <a:picLocks noChangeAspect="1"/>
            </p:cNvPicPr>
            <p:nvPr/>
          </p:nvPicPr>
          <p:blipFill>
            <a:blip r:embed="rId8"/>
            <a:stretch>
              <a:fillRect/>
            </a:stretch>
          </p:blipFill>
          <p:spPr>
            <a:xfrm>
              <a:off x="220674" y="2144403"/>
              <a:ext cx="1420491" cy="902286"/>
            </a:xfrm>
            <a:prstGeom prst="rect">
              <a:avLst/>
            </a:prstGeom>
          </p:spPr>
        </p:pic>
        <p:pic>
          <p:nvPicPr>
            <p:cNvPr id="27" name="Picture 26">
              <a:extLst>
                <a:ext uri="{FF2B5EF4-FFF2-40B4-BE49-F238E27FC236}">
                  <a16:creationId xmlns:a16="http://schemas.microsoft.com/office/drawing/2014/main" id="{ACEF06BE-68B5-30AE-ACED-FF75E7312786}"/>
                </a:ext>
              </a:extLst>
            </p:cNvPr>
            <p:cNvPicPr>
              <a:picLocks noChangeAspect="1"/>
            </p:cNvPicPr>
            <p:nvPr/>
          </p:nvPicPr>
          <p:blipFill>
            <a:blip r:embed="rId9"/>
            <a:stretch>
              <a:fillRect/>
            </a:stretch>
          </p:blipFill>
          <p:spPr>
            <a:xfrm>
              <a:off x="2225290" y="2144403"/>
              <a:ext cx="1463167" cy="951058"/>
            </a:xfrm>
            <a:prstGeom prst="rect">
              <a:avLst/>
            </a:prstGeom>
          </p:spPr>
        </p:pic>
        <p:pic>
          <p:nvPicPr>
            <p:cNvPr id="28" name="Picture 27">
              <a:extLst>
                <a:ext uri="{FF2B5EF4-FFF2-40B4-BE49-F238E27FC236}">
                  <a16:creationId xmlns:a16="http://schemas.microsoft.com/office/drawing/2014/main" id="{A5781C33-7F2D-7B21-EEA2-B9D4F8B45985}"/>
                </a:ext>
              </a:extLst>
            </p:cNvPr>
            <p:cNvPicPr>
              <a:picLocks noChangeAspect="1"/>
            </p:cNvPicPr>
            <p:nvPr/>
          </p:nvPicPr>
          <p:blipFill>
            <a:blip r:embed="rId9">
              <a:duotone>
                <a:prstClr val="black"/>
                <a:schemeClr val="accent6">
                  <a:tint val="45000"/>
                  <a:satMod val="400000"/>
                </a:schemeClr>
              </a:duotone>
            </a:blip>
            <a:stretch>
              <a:fillRect/>
            </a:stretch>
          </p:blipFill>
          <p:spPr>
            <a:xfrm>
              <a:off x="6539349" y="2076768"/>
              <a:ext cx="1463167" cy="951058"/>
            </a:xfrm>
            <a:prstGeom prst="rect">
              <a:avLst/>
            </a:prstGeom>
          </p:spPr>
        </p:pic>
        <p:pic>
          <p:nvPicPr>
            <p:cNvPr id="29" name="Picture 28">
              <a:extLst>
                <a:ext uri="{FF2B5EF4-FFF2-40B4-BE49-F238E27FC236}">
                  <a16:creationId xmlns:a16="http://schemas.microsoft.com/office/drawing/2014/main" id="{0D7E8D60-366C-3BF0-D877-AFDF0A167E0E}"/>
                </a:ext>
              </a:extLst>
            </p:cNvPr>
            <p:cNvPicPr>
              <a:picLocks noChangeAspect="1"/>
            </p:cNvPicPr>
            <p:nvPr/>
          </p:nvPicPr>
          <p:blipFill>
            <a:blip r:embed="rId8">
              <a:duotone>
                <a:prstClr val="black"/>
                <a:schemeClr val="accent2">
                  <a:tint val="45000"/>
                  <a:satMod val="400000"/>
                </a:schemeClr>
              </a:duotone>
            </a:blip>
            <a:stretch>
              <a:fillRect/>
            </a:stretch>
          </p:blipFill>
          <p:spPr>
            <a:xfrm>
              <a:off x="8503545" y="2115394"/>
              <a:ext cx="1420491" cy="902286"/>
            </a:xfrm>
            <a:prstGeom prst="rect">
              <a:avLst/>
            </a:prstGeom>
          </p:spPr>
        </p:pic>
        <p:pic>
          <p:nvPicPr>
            <p:cNvPr id="30" name="Picture 29">
              <a:extLst>
                <a:ext uri="{FF2B5EF4-FFF2-40B4-BE49-F238E27FC236}">
                  <a16:creationId xmlns:a16="http://schemas.microsoft.com/office/drawing/2014/main" id="{30114959-D3EC-5594-B2D5-15DCD9A4A935}"/>
                </a:ext>
              </a:extLst>
            </p:cNvPr>
            <p:cNvPicPr>
              <a:picLocks noChangeAspect="1"/>
            </p:cNvPicPr>
            <p:nvPr/>
          </p:nvPicPr>
          <p:blipFill>
            <a:blip r:embed="rId9">
              <a:duotone>
                <a:prstClr val="black"/>
                <a:schemeClr val="accent4">
                  <a:tint val="45000"/>
                  <a:satMod val="400000"/>
                </a:schemeClr>
              </a:duotone>
            </a:blip>
            <a:stretch>
              <a:fillRect/>
            </a:stretch>
          </p:blipFill>
          <p:spPr>
            <a:xfrm>
              <a:off x="10424032" y="2076768"/>
              <a:ext cx="1463167" cy="951058"/>
            </a:xfrm>
            <a:prstGeom prst="rect">
              <a:avLst/>
            </a:prstGeom>
          </p:spPr>
        </p:pic>
        <p:pic>
          <p:nvPicPr>
            <p:cNvPr id="31" name="Picture 30">
              <a:extLst>
                <a:ext uri="{FF2B5EF4-FFF2-40B4-BE49-F238E27FC236}">
                  <a16:creationId xmlns:a16="http://schemas.microsoft.com/office/drawing/2014/main" id="{1A0248F6-236A-82C0-EF88-DEF969DE0B3F}"/>
                </a:ext>
              </a:extLst>
            </p:cNvPr>
            <p:cNvPicPr>
              <a:picLocks noChangeAspect="1"/>
            </p:cNvPicPr>
            <p:nvPr/>
          </p:nvPicPr>
          <p:blipFill>
            <a:blip r:embed="rId9">
              <a:duotone>
                <a:prstClr val="black"/>
                <a:schemeClr val="accent5">
                  <a:tint val="45000"/>
                  <a:satMod val="400000"/>
                </a:schemeClr>
              </a:duotone>
            </a:blip>
            <a:stretch>
              <a:fillRect/>
            </a:stretch>
          </p:blipFill>
          <p:spPr>
            <a:xfrm rot="10800000" flipH="1">
              <a:off x="-1844228" y="2144403"/>
              <a:ext cx="1463167" cy="951058"/>
            </a:xfrm>
            <a:prstGeom prst="rect">
              <a:avLst/>
            </a:prstGeom>
          </p:spPr>
        </p:pic>
        <p:pic>
          <p:nvPicPr>
            <p:cNvPr id="32" name="Picture 31">
              <a:extLst>
                <a:ext uri="{FF2B5EF4-FFF2-40B4-BE49-F238E27FC236}">
                  <a16:creationId xmlns:a16="http://schemas.microsoft.com/office/drawing/2014/main" id="{85149888-A5C6-CDB4-852A-83303B9946F6}"/>
                </a:ext>
              </a:extLst>
            </p:cNvPr>
            <p:cNvPicPr>
              <a:picLocks noChangeAspect="1"/>
            </p:cNvPicPr>
            <p:nvPr/>
          </p:nvPicPr>
          <p:blipFill>
            <a:blip r:embed="rId7">
              <a:duotone>
                <a:prstClr val="black"/>
                <a:schemeClr val="accent4">
                  <a:tint val="45000"/>
                  <a:satMod val="400000"/>
                </a:schemeClr>
              </a:duotone>
            </a:blip>
            <a:stretch>
              <a:fillRect/>
            </a:stretch>
          </p:blipFill>
          <p:spPr>
            <a:xfrm>
              <a:off x="-4110996" y="2144403"/>
              <a:ext cx="1682642" cy="957155"/>
            </a:xfrm>
            <a:prstGeom prst="rect">
              <a:avLst/>
            </a:prstGeom>
          </p:spPr>
        </p:pic>
        <p:pic>
          <p:nvPicPr>
            <p:cNvPr id="33" name="Picture 32">
              <a:extLst>
                <a:ext uri="{FF2B5EF4-FFF2-40B4-BE49-F238E27FC236}">
                  <a16:creationId xmlns:a16="http://schemas.microsoft.com/office/drawing/2014/main" id="{8093BD81-E564-C9C5-3A4F-5861768D0192}"/>
                </a:ext>
              </a:extLst>
            </p:cNvPr>
            <p:cNvPicPr>
              <a:picLocks noChangeAspect="1"/>
            </p:cNvPicPr>
            <p:nvPr/>
          </p:nvPicPr>
          <p:blipFill>
            <a:blip r:embed="rId8">
              <a:duotone>
                <a:prstClr val="black"/>
                <a:schemeClr val="accent2">
                  <a:tint val="45000"/>
                  <a:satMod val="400000"/>
                </a:schemeClr>
              </a:duotone>
            </a:blip>
            <a:stretch>
              <a:fillRect/>
            </a:stretch>
          </p:blipFill>
          <p:spPr>
            <a:xfrm>
              <a:off x="-6108240" y="2193175"/>
              <a:ext cx="1420491" cy="902286"/>
            </a:xfrm>
            <a:prstGeom prst="rect">
              <a:avLst/>
            </a:prstGeom>
          </p:spPr>
        </p:pic>
        <p:pic>
          <p:nvPicPr>
            <p:cNvPr id="34" name="Picture 33">
              <a:extLst>
                <a:ext uri="{FF2B5EF4-FFF2-40B4-BE49-F238E27FC236}">
                  <a16:creationId xmlns:a16="http://schemas.microsoft.com/office/drawing/2014/main" id="{F723A917-83A6-F2B0-918F-04697333CCC2}"/>
                </a:ext>
              </a:extLst>
            </p:cNvPr>
            <p:cNvPicPr>
              <a:picLocks noChangeAspect="1"/>
            </p:cNvPicPr>
            <p:nvPr/>
          </p:nvPicPr>
          <p:blipFill>
            <a:blip r:embed="rId7"/>
            <a:stretch>
              <a:fillRect/>
            </a:stretch>
          </p:blipFill>
          <p:spPr>
            <a:xfrm>
              <a:off x="-8182351" y="2193175"/>
              <a:ext cx="1682642" cy="957155"/>
            </a:xfrm>
            <a:prstGeom prst="rect">
              <a:avLst/>
            </a:prstGeom>
          </p:spPr>
        </p:pic>
        <p:pic>
          <p:nvPicPr>
            <p:cNvPr id="35" name="Picture 34">
              <a:extLst>
                <a:ext uri="{FF2B5EF4-FFF2-40B4-BE49-F238E27FC236}">
                  <a16:creationId xmlns:a16="http://schemas.microsoft.com/office/drawing/2014/main" id="{EE84CA2D-2D08-3502-A681-7EB76478C959}"/>
                </a:ext>
              </a:extLst>
            </p:cNvPr>
            <p:cNvPicPr>
              <a:picLocks noChangeAspect="1"/>
            </p:cNvPicPr>
            <p:nvPr/>
          </p:nvPicPr>
          <p:blipFill>
            <a:blip r:embed="rId9">
              <a:duotone>
                <a:prstClr val="black"/>
                <a:schemeClr val="accent6">
                  <a:tint val="45000"/>
                  <a:satMod val="400000"/>
                </a:schemeClr>
              </a:duotone>
            </a:blip>
            <a:stretch>
              <a:fillRect/>
            </a:stretch>
          </p:blipFill>
          <p:spPr>
            <a:xfrm>
              <a:off x="-10222271" y="2199272"/>
              <a:ext cx="1463167" cy="951058"/>
            </a:xfrm>
            <a:prstGeom prst="rect">
              <a:avLst/>
            </a:prstGeom>
          </p:spPr>
        </p:pic>
        <p:pic>
          <p:nvPicPr>
            <p:cNvPr id="36" name="Picture 35">
              <a:extLst>
                <a:ext uri="{FF2B5EF4-FFF2-40B4-BE49-F238E27FC236}">
                  <a16:creationId xmlns:a16="http://schemas.microsoft.com/office/drawing/2014/main" id="{A2AE27CB-11E0-997D-57C3-F39BA2F50B6B}"/>
                </a:ext>
              </a:extLst>
            </p:cNvPr>
            <p:cNvPicPr>
              <a:picLocks noChangeAspect="1"/>
            </p:cNvPicPr>
            <p:nvPr/>
          </p:nvPicPr>
          <p:blipFill>
            <a:blip r:embed="rId8"/>
            <a:stretch>
              <a:fillRect/>
            </a:stretch>
          </p:blipFill>
          <p:spPr>
            <a:xfrm>
              <a:off x="-12219515" y="2220609"/>
              <a:ext cx="1420491" cy="902286"/>
            </a:xfrm>
            <a:prstGeom prst="rect">
              <a:avLst/>
            </a:prstGeom>
          </p:spPr>
        </p:pic>
        <p:pic>
          <p:nvPicPr>
            <p:cNvPr id="37" name="Picture 36">
              <a:extLst>
                <a:ext uri="{FF2B5EF4-FFF2-40B4-BE49-F238E27FC236}">
                  <a16:creationId xmlns:a16="http://schemas.microsoft.com/office/drawing/2014/main" id="{0D48DE00-5DD0-DC24-9756-051096079A13}"/>
                </a:ext>
              </a:extLst>
            </p:cNvPr>
            <p:cNvPicPr>
              <a:picLocks noChangeAspect="1"/>
            </p:cNvPicPr>
            <p:nvPr/>
          </p:nvPicPr>
          <p:blipFill>
            <a:blip r:embed="rId9">
              <a:duotone>
                <a:prstClr val="black"/>
                <a:schemeClr val="accent4">
                  <a:tint val="45000"/>
                  <a:satMod val="400000"/>
                </a:schemeClr>
              </a:duotone>
            </a:blip>
            <a:stretch>
              <a:fillRect/>
            </a:stretch>
          </p:blipFill>
          <p:spPr>
            <a:xfrm>
              <a:off x="-14203709" y="2199272"/>
              <a:ext cx="1463167" cy="951058"/>
            </a:xfrm>
            <a:prstGeom prst="rect">
              <a:avLst/>
            </a:prstGeom>
          </p:spPr>
        </p:pic>
        <p:pic>
          <p:nvPicPr>
            <p:cNvPr id="38" name="Picture 37">
              <a:extLst>
                <a:ext uri="{FF2B5EF4-FFF2-40B4-BE49-F238E27FC236}">
                  <a16:creationId xmlns:a16="http://schemas.microsoft.com/office/drawing/2014/main" id="{DBB75B14-3A99-1CE7-BF03-DCB57AA66788}"/>
                </a:ext>
              </a:extLst>
            </p:cNvPr>
            <p:cNvPicPr>
              <a:picLocks noChangeAspect="1"/>
            </p:cNvPicPr>
            <p:nvPr/>
          </p:nvPicPr>
          <p:blipFill>
            <a:blip r:embed="rId9"/>
            <a:stretch>
              <a:fillRect/>
            </a:stretch>
          </p:blipFill>
          <p:spPr>
            <a:xfrm>
              <a:off x="-16273525" y="2220609"/>
              <a:ext cx="1463167" cy="951058"/>
            </a:xfrm>
            <a:prstGeom prst="rect">
              <a:avLst/>
            </a:prstGeom>
          </p:spPr>
        </p:pic>
      </p:grpSp>
      <p:cxnSp>
        <p:nvCxnSpPr>
          <p:cNvPr id="14" name="Straight Connector 13">
            <a:extLst>
              <a:ext uri="{FF2B5EF4-FFF2-40B4-BE49-F238E27FC236}">
                <a16:creationId xmlns:a16="http://schemas.microsoft.com/office/drawing/2014/main" id="{CC20756C-ACFE-7CB8-F78F-79A580609947}"/>
              </a:ext>
            </a:extLst>
          </p:cNvPr>
          <p:cNvCxnSpPr/>
          <p:nvPr/>
        </p:nvCxnSpPr>
        <p:spPr>
          <a:xfrm>
            <a:off x="0" y="4488725"/>
            <a:ext cx="1219200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12A0D7CB-B1E5-2FBD-76C3-29D3F01153D6}"/>
              </a:ext>
            </a:extLst>
          </p:cNvPr>
          <p:cNvCxnSpPr/>
          <p:nvPr/>
        </p:nvCxnSpPr>
        <p:spPr>
          <a:xfrm>
            <a:off x="0" y="3104886"/>
            <a:ext cx="12192000" cy="0"/>
          </a:xfrm>
          <a:prstGeom prst="line">
            <a:avLst/>
          </a:prstGeom>
          <a:ln w="762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1C0F4C1E-DAF9-8981-BEAB-BE627C11931D}"/>
              </a:ext>
            </a:extLst>
          </p:cNvPr>
          <p:cNvGrpSpPr/>
          <p:nvPr/>
        </p:nvGrpSpPr>
        <p:grpSpPr>
          <a:xfrm>
            <a:off x="0" y="3258369"/>
            <a:ext cx="28750003" cy="1063463"/>
            <a:chOff x="0" y="3258369"/>
            <a:chExt cx="28750003" cy="1063463"/>
          </a:xfrm>
        </p:grpSpPr>
        <p:pic>
          <p:nvPicPr>
            <p:cNvPr id="16" name="Picture 15">
              <a:extLst>
                <a:ext uri="{FF2B5EF4-FFF2-40B4-BE49-F238E27FC236}">
                  <a16:creationId xmlns:a16="http://schemas.microsoft.com/office/drawing/2014/main" id="{95CAA01B-68A7-D4EB-6C8C-31D2C353B950}"/>
                </a:ext>
              </a:extLst>
            </p:cNvPr>
            <p:cNvPicPr>
              <a:picLocks noChangeAspect="1"/>
            </p:cNvPicPr>
            <p:nvPr/>
          </p:nvPicPr>
          <p:blipFill rotWithShape="1">
            <a:blip r:embed="rId7"/>
            <a:srcRect r="16317"/>
            <a:stretch/>
          </p:blipFill>
          <p:spPr>
            <a:xfrm flipH="1">
              <a:off x="0" y="3313238"/>
              <a:ext cx="1408088" cy="957155"/>
            </a:xfrm>
            <a:prstGeom prst="rect">
              <a:avLst/>
            </a:prstGeom>
          </p:spPr>
        </p:pic>
        <p:pic>
          <p:nvPicPr>
            <p:cNvPr id="17" name="Picture 16">
              <a:extLst>
                <a:ext uri="{FF2B5EF4-FFF2-40B4-BE49-F238E27FC236}">
                  <a16:creationId xmlns:a16="http://schemas.microsoft.com/office/drawing/2014/main" id="{C2EB831D-A78D-11AA-8D9C-2462C912BE70}"/>
                </a:ext>
              </a:extLst>
            </p:cNvPr>
            <p:cNvPicPr>
              <a:picLocks noChangeAspect="1"/>
            </p:cNvPicPr>
            <p:nvPr/>
          </p:nvPicPr>
          <p:blipFill>
            <a:blip r:embed="rId8"/>
            <a:stretch>
              <a:fillRect/>
            </a:stretch>
          </p:blipFill>
          <p:spPr>
            <a:xfrm flipH="1">
              <a:off x="7541551" y="3419546"/>
              <a:ext cx="1420491" cy="902286"/>
            </a:xfrm>
            <a:prstGeom prst="rect">
              <a:avLst/>
            </a:prstGeom>
          </p:spPr>
        </p:pic>
        <p:pic>
          <p:nvPicPr>
            <p:cNvPr id="18" name="Picture 17">
              <a:extLst>
                <a:ext uri="{FF2B5EF4-FFF2-40B4-BE49-F238E27FC236}">
                  <a16:creationId xmlns:a16="http://schemas.microsoft.com/office/drawing/2014/main" id="{9601382B-E51C-ECF1-DB69-69483CB1FEAD}"/>
                </a:ext>
              </a:extLst>
            </p:cNvPr>
            <p:cNvPicPr>
              <a:picLocks noChangeAspect="1"/>
            </p:cNvPicPr>
            <p:nvPr/>
          </p:nvPicPr>
          <p:blipFill>
            <a:blip r:embed="rId9">
              <a:duotone>
                <a:prstClr val="black"/>
                <a:schemeClr val="accent5">
                  <a:tint val="45000"/>
                  <a:satMod val="400000"/>
                </a:schemeClr>
              </a:duotone>
            </a:blip>
            <a:stretch>
              <a:fillRect/>
            </a:stretch>
          </p:blipFill>
          <p:spPr>
            <a:xfrm flipH="1">
              <a:off x="3187283" y="3321277"/>
              <a:ext cx="1463167" cy="951058"/>
            </a:xfrm>
            <a:prstGeom prst="rect">
              <a:avLst/>
            </a:prstGeom>
          </p:spPr>
        </p:pic>
        <p:pic>
          <p:nvPicPr>
            <p:cNvPr id="19" name="Picture 18">
              <a:extLst>
                <a:ext uri="{FF2B5EF4-FFF2-40B4-BE49-F238E27FC236}">
                  <a16:creationId xmlns:a16="http://schemas.microsoft.com/office/drawing/2014/main" id="{32B01667-1736-1FE6-F406-470FB5F1EEBB}"/>
                </a:ext>
              </a:extLst>
            </p:cNvPr>
            <p:cNvPicPr>
              <a:picLocks noChangeAspect="1"/>
            </p:cNvPicPr>
            <p:nvPr/>
          </p:nvPicPr>
          <p:blipFill>
            <a:blip r:embed="rId8">
              <a:duotone>
                <a:prstClr val="black"/>
                <a:schemeClr val="accent6">
                  <a:tint val="45000"/>
                  <a:satMod val="400000"/>
                </a:schemeClr>
              </a:duotone>
            </a:blip>
            <a:stretch>
              <a:fillRect/>
            </a:stretch>
          </p:blipFill>
          <p:spPr>
            <a:xfrm flipH="1">
              <a:off x="9713786" y="3349364"/>
              <a:ext cx="1420491" cy="902286"/>
            </a:xfrm>
            <a:prstGeom prst="rect">
              <a:avLst/>
            </a:prstGeom>
          </p:spPr>
        </p:pic>
        <p:pic>
          <p:nvPicPr>
            <p:cNvPr id="39" name="Picture 38">
              <a:extLst>
                <a:ext uri="{FF2B5EF4-FFF2-40B4-BE49-F238E27FC236}">
                  <a16:creationId xmlns:a16="http://schemas.microsoft.com/office/drawing/2014/main" id="{E5355115-3E17-88CC-8F05-13132BAA2FD1}"/>
                </a:ext>
              </a:extLst>
            </p:cNvPr>
            <p:cNvPicPr>
              <a:picLocks noChangeAspect="1"/>
            </p:cNvPicPr>
            <p:nvPr/>
          </p:nvPicPr>
          <p:blipFill>
            <a:blip r:embed="rId9">
              <a:duotone>
                <a:prstClr val="black"/>
                <a:schemeClr val="accent2">
                  <a:tint val="45000"/>
                  <a:satMod val="400000"/>
                </a:schemeClr>
              </a:duotone>
            </a:blip>
            <a:stretch>
              <a:fillRect/>
            </a:stretch>
          </p:blipFill>
          <p:spPr>
            <a:xfrm flipH="1">
              <a:off x="11826963" y="3359301"/>
              <a:ext cx="1463167" cy="951058"/>
            </a:xfrm>
            <a:prstGeom prst="rect">
              <a:avLst/>
            </a:prstGeom>
          </p:spPr>
        </p:pic>
        <p:pic>
          <p:nvPicPr>
            <p:cNvPr id="40" name="Picture 39">
              <a:extLst>
                <a:ext uri="{FF2B5EF4-FFF2-40B4-BE49-F238E27FC236}">
                  <a16:creationId xmlns:a16="http://schemas.microsoft.com/office/drawing/2014/main" id="{F9997CFE-0335-52C4-2315-4B9589F8A8B1}"/>
                </a:ext>
              </a:extLst>
            </p:cNvPr>
            <p:cNvPicPr>
              <a:picLocks noChangeAspect="1"/>
            </p:cNvPicPr>
            <p:nvPr/>
          </p:nvPicPr>
          <p:blipFill>
            <a:blip r:embed="rId7">
              <a:duotone>
                <a:prstClr val="black"/>
                <a:schemeClr val="accent6">
                  <a:tint val="45000"/>
                  <a:satMod val="400000"/>
                </a:schemeClr>
              </a:duotone>
            </a:blip>
            <a:stretch>
              <a:fillRect/>
            </a:stretch>
          </p:blipFill>
          <p:spPr>
            <a:xfrm flipH="1">
              <a:off x="14472409" y="3321277"/>
              <a:ext cx="1682642" cy="957155"/>
            </a:xfrm>
            <a:prstGeom prst="rect">
              <a:avLst/>
            </a:prstGeom>
          </p:spPr>
        </p:pic>
        <p:pic>
          <p:nvPicPr>
            <p:cNvPr id="41" name="Picture 40">
              <a:extLst>
                <a:ext uri="{FF2B5EF4-FFF2-40B4-BE49-F238E27FC236}">
                  <a16:creationId xmlns:a16="http://schemas.microsoft.com/office/drawing/2014/main" id="{93CA7815-DABE-F714-34F0-FDA57E26A91F}"/>
                </a:ext>
              </a:extLst>
            </p:cNvPr>
            <p:cNvPicPr>
              <a:picLocks noChangeAspect="1"/>
            </p:cNvPicPr>
            <p:nvPr/>
          </p:nvPicPr>
          <p:blipFill>
            <a:blip r:embed="rId9">
              <a:duotone>
                <a:prstClr val="black"/>
                <a:schemeClr val="accent4">
                  <a:tint val="45000"/>
                  <a:satMod val="400000"/>
                </a:schemeClr>
              </a:duotone>
            </a:blip>
            <a:stretch>
              <a:fillRect/>
            </a:stretch>
          </p:blipFill>
          <p:spPr>
            <a:xfrm flipH="1">
              <a:off x="16523752" y="3321277"/>
              <a:ext cx="1463167" cy="951058"/>
            </a:xfrm>
            <a:prstGeom prst="rect">
              <a:avLst/>
            </a:prstGeom>
          </p:spPr>
        </p:pic>
        <p:pic>
          <p:nvPicPr>
            <p:cNvPr id="42" name="Picture 41">
              <a:extLst>
                <a:ext uri="{FF2B5EF4-FFF2-40B4-BE49-F238E27FC236}">
                  <a16:creationId xmlns:a16="http://schemas.microsoft.com/office/drawing/2014/main" id="{282F6058-4E9A-28FF-2E51-3A87CE957589}"/>
                </a:ext>
              </a:extLst>
            </p:cNvPr>
            <p:cNvPicPr>
              <a:picLocks noChangeAspect="1"/>
            </p:cNvPicPr>
            <p:nvPr/>
          </p:nvPicPr>
          <p:blipFill>
            <a:blip r:embed="rId8"/>
            <a:stretch>
              <a:fillRect/>
            </a:stretch>
          </p:blipFill>
          <p:spPr>
            <a:xfrm flipH="1">
              <a:off x="19516099" y="3313238"/>
              <a:ext cx="1420491" cy="902286"/>
            </a:xfrm>
            <a:prstGeom prst="rect">
              <a:avLst/>
            </a:prstGeom>
          </p:spPr>
        </p:pic>
        <p:pic>
          <p:nvPicPr>
            <p:cNvPr id="43" name="Picture 42">
              <a:extLst>
                <a:ext uri="{FF2B5EF4-FFF2-40B4-BE49-F238E27FC236}">
                  <a16:creationId xmlns:a16="http://schemas.microsoft.com/office/drawing/2014/main" id="{4C064487-5A2F-99BF-F7A4-4E75F6C88C6E}"/>
                </a:ext>
              </a:extLst>
            </p:cNvPr>
            <p:cNvPicPr>
              <a:picLocks noChangeAspect="1"/>
            </p:cNvPicPr>
            <p:nvPr/>
          </p:nvPicPr>
          <p:blipFill>
            <a:blip r:embed="rId9">
              <a:duotone>
                <a:prstClr val="black"/>
                <a:schemeClr val="tx2">
                  <a:tint val="45000"/>
                  <a:satMod val="400000"/>
                </a:schemeClr>
              </a:duotone>
            </a:blip>
            <a:stretch>
              <a:fillRect/>
            </a:stretch>
          </p:blipFill>
          <p:spPr>
            <a:xfrm flipH="1">
              <a:off x="21347967" y="3321277"/>
              <a:ext cx="1463167" cy="951058"/>
            </a:xfrm>
            <a:prstGeom prst="rect">
              <a:avLst/>
            </a:prstGeom>
          </p:spPr>
        </p:pic>
        <p:pic>
          <p:nvPicPr>
            <p:cNvPr id="44" name="Picture 43">
              <a:extLst>
                <a:ext uri="{FF2B5EF4-FFF2-40B4-BE49-F238E27FC236}">
                  <a16:creationId xmlns:a16="http://schemas.microsoft.com/office/drawing/2014/main" id="{473A673B-5426-B7FC-CC4E-561D4CC36FEF}"/>
                </a:ext>
              </a:extLst>
            </p:cNvPr>
            <p:cNvPicPr>
              <a:picLocks noChangeAspect="1"/>
            </p:cNvPicPr>
            <p:nvPr/>
          </p:nvPicPr>
          <p:blipFill>
            <a:blip r:embed="rId7"/>
            <a:stretch>
              <a:fillRect/>
            </a:stretch>
          </p:blipFill>
          <p:spPr>
            <a:xfrm>
              <a:off x="24076707" y="3258369"/>
              <a:ext cx="1682642" cy="957155"/>
            </a:xfrm>
            <a:prstGeom prst="rect">
              <a:avLst/>
            </a:prstGeom>
          </p:spPr>
        </p:pic>
        <p:pic>
          <p:nvPicPr>
            <p:cNvPr id="45" name="Picture 44">
              <a:extLst>
                <a:ext uri="{FF2B5EF4-FFF2-40B4-BE49-F238E27FC236}">
                  <a16:creationId xmlns:a16="http://schemas.microsoft.com/office/drawing/2014/main" id="{6989FC20-8E08-3BB2-8DF0-4EE8B122994E}"/>
                </a:ext>
              </a:extLst>
            </p:cNvPr>
            <p:cNvPicPr>
              <a:picLocks noChangeAspect="1"/>
            </p:cNvPicPr>
            <p:nvPr/>
          </p:nvPicPr>
          <p:blipFill>
            <a:blip r:embed="rId8">
              <a:duotone>
                <a:prstClr val="black"/>
                <a:schemeClr val="tx2">
                  <a:tint val="45000"/>
                  <a:satMod val="400000"/>
                </a:schemeClr>
              </a:duotone>
            </a:blip>
            <a:stretch>
              <a:fillRect/>
            </a:stretch>
          </p:blipFill>
          <p:spPr>
            <a:xfrm flipH="1">
              <a:off x="27329512" y="3311151"/>
              <a:ext cx="1420491" cy="902286"/>
            </a:xfrm>
            <a:prstGeom prst="rect">
              <a:avLst/>
            </a:prstGeom>
          </p:spPr>
        </p:pic>
      </p:grpSp>
    </p:spTree>
    <p:extLst>
      <p:ext uri="{BB962C8B-B14F-4D97-AF65-F5344CB8AC3E}">
        <p14:creationId xmlns:p14="http://schemas.microsoft.com/office/powerpoint/2010/main" val="4030508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50000" fill="hold" nodeType="withEffect">
                                  <p:stCondLst>
                                    <p:cond delay="0"/>
                                  </p:stCondLst>
                                  <p:childTnLst>
                                    <p:animMotion origin="layout" path="M -4.16667E-6 7.40741E-7 L 1.3556 7.40741E-7 " pathEditMode="relative" rAng="0" ptsTypes="AA">
                                      <p:cBhvr>
                                        <p:cTn id="6" dur="13000" fill="hold"/>
                                        <p:tgtEl>
                                          <p:spTgt spid="21"/>
                                        </p:tgtEl>
                                        <p:attrNameLst>
                                          <p:attrName>ppt_x</p:attrName>
                                          <p:attrName>ppt_y</p:attrName>
                                        </p:attrNameLst>
                                      </p:cBhvr>
                                      <p:rCtr x="67773" y="0"/>
                                    </p:animMotion>
                                  </p:childTnLst>
                                </p:cTn>
                              </p:par>
                              <p:par>
                                <p:cTn id="7" presetID="35" presetClass="path" presetSubtype="0" accel="50000" fill="hold" nodeType="withEffect">
                                  <p:stCondLst>
                                    <p:cond delay="1000"/>
                                  </p:stCondLst>
                                  <p:childTnLst>
                                    <p:animMotion origin="layout" path="M 3.54167E-6 3.7037E-6 L -1.29519 3.7037E-6 " pathEditMode="relative" rAng="0" ptsTypes="AA">
                                      <p:cBhvr>
                                        <p:cTn id="8" dur="12000" fill="hold"/>
                                        <p:tgtEl>
                                          <p:spTgt spid="20"/>
                                        </p:tgtEl>
                                        <p:attrNameLst>
                                          <p:attrName>ppt_x</p:attrName>
                                          <p:attrName>ppt_y</p:attrName>
                                        </p:attrNameLst>
                                      </p:cBhvr>
                                      <p:rCtr x="-64766"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9CADDDE-C17A-7102-10BC-09FCD86C9739}"/>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970309" y="414780"/>
            <a:ext cx="6221691" cy="4147794"/>
          </a:xfrm>
          <a:prstGeom prst="rect">
            <a:avLst/>
          </a:prstGeom>
        </p:spPr>
      </p:pic>
      <p:pic>
        <p:nvPicPr>
          <p:cNvPr id="7" name="Picture 6" descr="A picture containing arrow&#10;&#10;Description automatically generated">
            <a:extLst>
              <a:ext uri="{FF2B5EF4-FFF2-40B4-BE49-F238E27FC236}">
                <a16:creationId xmlns:a16="http://schemas.microsoft.com/office/drawing/2014/main" id="{4C8A1A03-E85E-8C21-E245-3B433EA30FA4}"/>
              </a:ext>
            </a:extLst>
          </p:cNvPr>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18148"/>
          <a:stretch/>
        </p:blipFill>
        <p:spPr>
          <a:xfrm>
            <a:off x="0" y="1310325"/>
            <a:ext cx="9144000" cy="5613409"/>
          </a:xfrm>
          <a:prstGeom prst="rect">
            <a:avLst/>
          </a:prstGeom>
        </p:spPr>
      </p:pic>
      <p:sp>
        <p:nvSpPr>
          <p:cNvPr id="4" name="Rectangle 3">
            <a:extLst>
              <a:ext uri="{FF2B5EF4-FFF2-40B4-BE49-F238E27FC236}">
                <a16:creationId xmlns:a16="http://schemas.microsoft.com/office/drawing/2014/main" id="{D989BBE4-38CA-4FFB-B9AA-E0BBB2AB22B7}"/>
              </a:ext>
            </a:extLst>
          </p:cNvPr>
          <p:cNvSpPr/>
          <p:nvPr/>
        </p:nvSpPr>
        <p:spPr>
          <a:xfrm>
            <a:off x="220675" y="1052896"/>
            <a:ext cx="8574534" cy="1682512"/>
          </a:xfrm>
          <a:prstGeom prst="rect">
            <a:avLst/>
          </a:prstGeom>
          <a:solidFill>
            <a:schemeClr val="bg1">
              <a:alpha val="80000"/>
            </a:schemeClr>
          </a:solidFill>
        </p:spPr>
        <p:txBody>
          <a:bodyPr wrap="square">
            <a:spAutoFit/>
          </a:bodyPr>
          <a:lstStyle/>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We already know we can transmit data using simplex, half-duplex and full-duplex modes.</a:t>
            </a:r>
          </a:p>
          <a:p>
            <a:pPr>
              <a:spcAft>
                <a:spcPts val="800"/>
              </a:spcAft>
            </a:pPr>
            <a:r>
              <a:rPr lang="en-GB" dirty="0">
                <a:latin typeface="Calibri" panose="020F0502020204030204" pitchFamily="34" charset="0"/>
                <a:ea typeface="Calibri" panose="020F0502020204030204" pitchFamily="34" charset="0"/>
                <a:cs typeface="Times New Roman" panose="02020603050405020304" pitchFamily="18" charset="0"/>
              </a:rPr>
              <a:t>Data can also be sent via serial or parallel transmission.</a:t>
            </a:r>
          </a:p>
          <a:p>
            <a:r>
              <a:rPr lang="en-GB" dirty="0">
                <a:latin typeface="Calibri" panose="020F0502020204030204" pitchFamily="34" charset="0"/>
                <a:ea typeface="Calibri" panose="020F0502020204030204" pitchFamily="34" charset="0"/>
                <a:cs typeface="Times New Roman" panose="02020603050405020304" pitchFamily="18" charset="0"/>
              </a:rPr>
              <a:t>These two sets of terms can be used in conjunction with one another – for example:</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Full-duplex serial transmission</a:t>
            </a:r>
          </a:p>
          <a:p>
            <a:pPr marL="742950" lvl="1" indent="-285750">
              <a:buFont typeface="Arial" panose="020B0604020202020204" pitchFamily="34" charset="0"/>
              <a:buChar char="•"/>
            </a:pPr>
            <a:r>
              <a:rPr lang="en-GB" dirty="0">
                <a:latin typeface="Calibri" panose="020F0502020204030204" pitchFamily="34" charset="0"/>
                <a:ea typeface="Calibri" panose="020F0502020204030204" pitchFamily="34" charset="0"/>
                <a:cs typeface="Times New Roman" panose="02020603050405020304" pitchFamily="18" charset="0"/>
              </a:rPr>
              <a:t>Half-duplex parallel transmission</a:t>
            </a: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Serial vs parallel transmission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7688152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icture containing arrow&#10;&#10;Description automatically generated">
            <a:extLst>
              <a:ext uri="{FF2B5EF4-FFF2-40B4-BE49-F238E27FC236}">
                <a16:creationId xmlns:a16="http://schemas.microsoft.com/office/drawing/2014/main" id="{34F26EFC-999E-44EF-28F5-1F9F119D2547}"/>
              </a:ext>
            </a:extLst>
          </p:cNvPr>
          <p:cNvPicPr>
            <a:picLocks noChangeAspect="1"/>
          </p:cNvPicPr>
          <p:nvPr/>
        </p:nvPicPr>
        <p:blipFill rotWithShape="1">
          <a:blip r:embed="rId2">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t="18148"/>
          <a:stretch/>
        </p:blipFill>
        <p:spPr>
          <a:xfrm>
            <a:off x="0" y="1310325"/>
            <a:ext cx="9144000" cy="5613409"/>
          </a:xfrm>
          <a:prstGeom prst="rect">
            <a:avLst/>
          </a:prstGeom>
        </p:spPr>
      </p:pic>
      <p:sp>
        <p:nvSpPr>
          <p:cNvPr id="4" name="Rectangle 3">
            <a:extLst>
              <a:ext uri="{FF2B5EF4-FFF2-40B4-BE49-F238E27FC236}">
                <a16:creationId xmlns:a16="http://schemas.microsoft.com/office/drawing/2014/main" id="{D989BBE4-38CA-4FFB-B9AA-E0BBB2AB22B7}"/>
              </a:ext>
            </a:extLst>
          </p:cNvPr>
          <p:cNvSpPr/>
          <p:nvPr/>
        </p:nvSpPr>
        <p:spPr>
          <a:xfrm>
            <a:off x="220674" y="1052896"/>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Individual bits of data are sent one at a time via a single cable.</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Serial data transmission </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10" name="Straight Connector 9">
            <a:extLst>
              <a:ext uri="{FF2B5EF4-FFF2-40B4-BE49-F238E27FC236}">
                <a16:creationId xmlns:a16="http://schemas.microsoft.com/office/drawing/2014/main" id="{70F4C2DA-131C-C639-B31C-F7FDA222ADE8}"/>
              </a:ext>
            </a:extLst>
          </p:cNvPr>
          <p:cNvCxnSpPr/>
          <p:nvPr/>
        </p:nvCxnSpPr>
        <p:spPr>
          <a:xfrm>
            <a:off x="2611225" y="3429000"/>
            <a:ext cx="7428321"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1D4027E8-5B5C-0A41-CB2A-33CAC72E01B0}"/>
              </a:ext>
            </a:extLst>
          </p:cNvPr>
          <p:cNvSpPr/>
          <p:nvPr/>
        </p:nvSpPr>
        <p:spPr>
          <a:xfrm>
            <a:off x="2085108" y="3282884"/>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13" name="Rectangle 12">
            <a:extLst>
              <a:ext uri="{FF2B5EF4-FFF2-40B4-BE49-F238E27FC236}">
                <a16:creationId xmlns:a16="http://schemas.microsoft.com/office/drawing/2014/main" id="{661DDCA0-6635-315D-5BBA-BCFB90B8E8E8}"/>
              </a:ext>
            </a:extLst>
          </p:cNvPr>
          <p:cNvSpPr/>
          <p:nvPr/>
        </p:nvSpPr>
        <p:spPr>
          <a:xfrm>
            <a:off x="2085107" y="3282883"/>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14" name="Rectangle 13">
            <a:extLst>
              <a:ext uri="{FF2B5EF4-FFF2-40B4-BE49-F238E27FC236}">
                <a16:creationId xmlns:a16="http://schemas.microsoft.com/office/drawing/2014/main" id="{E7D38752-79BB-28D7-CA62-519E2C614118}"/>
              </a:ext>
            </a:extLst>
          </p:cNvPr>
          <p:cNvSpPr/>
          <p:nvPr/>
        </p:nvSpPr>
        <p:spPr>
          <a:xfrm>
            <a:off x="2085107" y="328288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15" name="Rectangle 14">
            <a:extLst>
              <a:ext uri="{FF2B5EF4-FFF2-40B4-BE49-F238E27FC236}">
                <a16:creationId xmlns:a16="http://schemas.microsoft.com/office/drawing/2014/main" id="{90C499DE-B2D7-3F3B-7830-FC9AB6B9F6A4}"/>
              </a:ext>
            </a:extLst>
          </p:cNvPr>
          <p:cNvSpPr/>
          <p:nvPr/>
        </p:nvSpPr>
        <p:spPr>
          <a:xfrm>
            <a:off x="2085106" y="3282881"/>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16" name="Rectangle 15">
            <a:extLst>
              <a:ext uri="{FF2B5EF4-FFF2-40B4-BE49-F238E27FC236}">
                <a16:creationId xmlns:a16="http://schemas.microsoft.com/office/drawing/2014/main" id="{C40FE3CB-4EB2-B81A-D708-C7C350B3C60C}"/>
              </a:ext>
            </a:extLst>
          </p:cNvPr>
          <p:cNvSpPr/>
          <p:nvPr/>
        </p:nvSpPr>
        <p:spPr>
          <a:xfrm>
            <a:off x="2082701" y="3282878"/>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17" name="Rectangle 16">
            <a:extLst>
              <a:ext uri="{FF2B5EF4-FFF2-40B4-BE49-F238E27FC236}">
                <a16:creationId xmlns:a16="http://schemas.microsoft.com/office/drawing/2014/main" id="{3802BB81-68A3-01F3-1EA6-4D0A1943A299}"/>
              </a:ext>
            </a:extLst>
          </p:cNvPr>
          <p:cNvSpPr/>
          <p:nvPr/>
        </p:nvSpPr>
        <p:spPr>
          <a:xfrm>
            <a:off x="2082700" y="328287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18" name="Rectangle 17">
            <a:extLst>
              <a:ext uri="{FF2B5EF4-FFF2-40B4-BE49-F238E27FC236}">
                <a16:creationId xmlns:a16="http://schemas.microsoft.com/office/drawing/2014/main" id="{E85F3AD1-7E85-02D2-2FFD-11E91673C6A2}"/>
              </a:ext>
            </a:extLst>
          </p:cNvPr>
          <p:cNvSpPr/>
          <p:nvPr/>
        </p:nvSpPr>
        <p:spPr>
          <a:xfrm>
            <a:off x="2082700" y="3282860"/>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19" name="Rectangle 18">
            <a:extLst>
              <a:ext uri="{FF2B5EF4-FFF2-40B4-BE49-F238E27FC236}">
                <a16:creationId xmlns:a16="http://schemas.microsoft.com/office/drawing/2014/main" id="{2CE2DA15-14B0-2B9A-A58F-612512EF50E2}"/>
              </a:ext>
            </a:extLst>
          </p:cNvPr>
          <p:cNvSpPr/>
          <p:nvPr/>
        </p:nvSpPr>
        <p:spPr>
          <a:xfrm>
            <a:off x="2084239" y="3282884"/>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pic>
        <p:nvPicPr>
          <p:cNvPr id="3" name="Picture 2" descr="A computer with a flag on the screen&#10;&#10;Description automatically generated with low confidence">
            <a:extLst>
              <a:ext uri="{FF2B5EF4-FFF2-40B4-BE49-F238E27FC236}">
                <a16:creationId xmlns:a16="http://schemas.microsoft.com/office/drawing/2014/main" id="{B2D91EF3-16EA-201F-E026-8F8733196D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32280" y="1562139"/>
            <a:ext cx="3770417" cy="3770417"/>
          </a:xfrm>
          <a:prstGeom prst="rect">
            <a:avLst/>
          </a:prstGeom>
        </p:spPr>
      </p:pic>
      <p:pic>
        <p:nvPicPr>
          <p:cNvPr id="8" name="Picture 7" descr="A picture containing text, electronics, computer&#10;&#10;Description automatically generated">
            <a:extLst>
              <a:ext uri="{FF2B5EF4-FFF2-40B4-BE49-F238E27FC236}">
                <a16:creationId xmlns:a16="http://schemas.microsoft.com/office/drawing/2014/main" id="{69CC3C50-0065-E4D7-6BDD-2C8D104CCD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7788" y="1505578"/>
            <a:ext cx="3883538" cy="3883538"/>
          </a:xfrm>
          <a:prstGeom prst="rect">
            <a:avLst/>
          </a:prstGeom>
        </p:spPr>
      </p:pic>
    </p:spTree>
    <p:extLst>
      <p:ext uri="{BB962C8B-B14F-4D97-AF65-F5344CB8AC3E}">
        <p14:creationId xmlns:p14="http://schemas.microsoft.com/office/powerpoint/2010/main" val="4085727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fill="hold" grpId="0" nodeType="withEffect">
                                  <p:stCondLst>
                                    <p:cond delay="1000"/>
                                  </p:stCondLst>
                                  <p:childTnLst>
                                    <p:animMotion origin="layout" path="M -2.70833E-6 0 L 0.66823 0 " pathEditMode="relative" rAng="0" ptsTypes="AA">
                                      <p:cBhvr>
                                        <p:cTn id="6" dur="3000" fill="hold"/>
                                        <p:tgtEl>
                                          <p:spTgt spid="11"/>
                                        </p:tgtEl>
                                        <p:attrNameLst>
                                          <p:attrName>ppt_x</p:attrName>
                                          <p:attrName>ppt_y</p:attrName>
                                        </p:attrNameLst>
                                      </p:cBhvr>
                                      <p:rCtr x="33411" y="0"/>
                                    </p:animMotion>
                                  </p:childTnLst>
                                </p:cTn>
                              </p:par>
                              <p:par>
                                <p:cTn id="7" presetID="42" presetClass="path" presetSubtype="0" fill="hold" grpId="0" nodeType="withEffect">
                                  <p:stCondLst>
                                    <p:cond delay="1500"/>
                                  </p:stCondLst>
                                  <p:childTnLst>
                                    <p:animMotion origin="layout" path="M -2.70833E-6 0 L 0.66823 0 " pathEditMode="relative" rAng="0" ptsTypes="AA">
                                      <p:cBhvr>
                                        <p:cTn id="8" dur="3000" fill="hold"/>
                                        <p:tgtEl>
                                          <p:spTgt spid="13"/>
                                        </p:tgtEl>
                                        <p:attrNameLst>
                                          <p:attrName>ppt_x</p:attrName>
                                          <p:attrName>ppt_y</p:attrName>
                                        </p:attrNameLst>
                                      </p:cBhvr>
                                      <p:rCtr x="33411" y="0"/>
                                    </p:animMotion>
                                  </p:childTnLst>
                                </p:cTn>
                              </p:par>
                              <p:par>
                                <p:cTn id="9" presetID="42" presetClass="path" presetSubtype="0" fill="hold" grpId="0" nodeType="withEffect">
                                  <p:stCondLst>
                                    <p:cond delay="2000"/>
                                  </p:stCondLst>
                                  <p:childTnLst>
                                    <p:animMotion origin="layout" path="M -2.70833E-6 0 L 0.66823 0 " pathEditMode="relative" rAng="0" ptsTypes="AA">
                                      <p:cBhvr>
                                        <p:cTn id="10" dur="3000" fill="hold"/>
                                        <p:tgtEl>
                                          <p:spTgt spid="14"/>
                                        </p:tgtEl>
                                        <p:attrNameLst>
                                          <p:attrName>ppt_x</p:attrName>
                                          <p:attrName>ppt_y</p:attrName>
                                        </p:attrNameLst>
                                      </p:cBhvr>
                                      <p:rCtr x="33411" y="0"/>
                                    </p:animMotion>
                                  </p:childTnLst>
                                </p:cTn>
                              </p:par>
                              <p:par>
                                <p:cTn id="11" presetID="42" presetClass="path" presetSubtype="0" fill="hold" grpId="0" nodeType="withEffect">
                                  <p:stCondLst>
                                    <p:cond delay="2500"/>
                                  </p:stCondLst>
                                  <p:childTnLst>
                                    <p:animMotion origin="layout" path="M -2.70833E-6 0 L 0.66823 0 " pathEditMode="relative" rAng="0" ptsTypes="AA">
                                      <p:cBhvr>
                                        <p:cTn id="12" dur="3000" fill="hold"/>
                                        <p:tgtEl>
                                          <p:spTgt spid="15"/>
                                        </p:tgtEl>
                                        <p:attrNameLst>
                                          <p:attrName>ppt_x</p:attrName>
                                          <p:attrName>ppt_y</p:attrName>
                                        </p:attrNameLst>
                                      </p:cBhvr>
                                      <p:rCtr x="33411" y="0"/>
                                    </p:animMotion>
                                  </p:childTnLst>
                                </p:cTn>
                              </p:par>
                              <p:par>
                                <p:cTn id="13" presetID="42" presetClass="path" presetSubtype="0" fill="hold" grpId="0" nodeType="withEffect">
                                  <p:stCondLst>
                                    <p:cond delay="3000"/>
                                  </p:stCondLst>
                                  <p:childTnLst>
                                    <p:animMotion origin="layout" path="M -2.5E-6 0 L 0.66823 0 " pathEditMode="relative" rAng="0" ptsTypes="AA">
                                      <p:cBhvr>
                                        <p:cTn id="14" dur="3000" fill="hold"/>
                                        <p:tgtEl>
                                          <p:spTgt spid="16"/>
                                        </p:tgtEl>
                                        <p:attrNameLst>
                                          <p:attrName>ppt_x</p:attrName>
                                          <p:attrName>ppt_y</p:attrName>
                                        </p:attrNameLst>
                                      </p:cBhvr>
                                      <p:rCtr x="33411" y="0"/>
                                    </p:animMotion>
                                  </p:childTnLst>
                                </p:cTn>
                              </p:par>
                              <p:par>
                                <p:cTn id="15" presetID="42" presetClass="path" presetSubtype="0" fill="hold" grpId="0" nodeType="withEffect">
                                  <p:stCondLst>
                                    <p:cond delay="3500"/>
                                  </p:stCondLst>
                                  <p:childTnLst>
                                    <p:animMotion origin="layout" path="M -2.5E-6 0 L 0.66823 0 " pathEditMode="relative" rAng="0" ptsTypes="AA">
                                      <p:cBhvr>
                                        <p:cTn id="16" dur="3000" fill="hold"/>
                                        <p:tgtEl>
                                          <p:spTgt spid="17"/>
                                        </p:tgtEl>
                                        <p:attrNameLst>
                                          <p:attrName>ppt_x</p:attrName>
                                          <p:attrName>ppt_y</p:attrName>
                                        </p:attrNameLst>
                                      </p:cBhvr>
                                      <p:rCtr x="33411" y="0"/>
                                    </p:animMotion>
                                  </p:childTnLst>
                                </p:cTn>
                              </p:par>
                              <p:par>
                                <p:cTn id="17" presetID="42" presetClass="path" presetSubtype="0" fill="hold" grpId="0" nodeType="withEffect">
                                  <p:stCondLst>
                                    <p:cond delay="4000"/>
                                  </p:stCondLst>
                                  <p:childTnLst>
                                    <p:animMotion origin="layout" path="M -2.5E-6 0 L 0.66823 0 " pathEditMode="relative" rAng="0" ptsTypes="AA">
                                      <p:cBhvr>
                                        <p:cTn id="18" dur="3000" fill="hold"/>
                                        <p:tgtEl>
                                          <p:spTgt spid="18"/>
                                        </p:tgtEl>
                                        <p:attrNameLst>
                                          <p:attrName>ppt_x</p:attrName>
                                          <p:attrName>ppt_y</p:attrName>
                                        </p:attrNameLst>
                                      </p:cBhvr>
                                      <p:rCtr x="33411" y="0"/>
                                    </p:animMotion>
                                  </p:childTnLst>
                                </p:cTn>
                              </p:par>
                              <p:par>
                                <p:cTn id="19" presetID="42" presetClass="path" presetSubtype="0" fill="hold" grpId="0" nodeType="withEffect">
                                  <p:stCondLst>
                                    <p:cond delay="4500"/>
                                  </p:stCondLst>
                                  <p:childTnLst>
                                    <p:animMotion origin="layout" path="M -2.70833E-6 0 L 0.66823 0 " pathEditMode="relative" rAng="0" ptsTypes="AA">
                                      <p:cBhvr>
                                        <p:cTn id="20" dur="3000" fill="hold"/>
                                        <p:tgtEl>
                                          <p:spTgt spid="19"/>
                                        </p:tgtEl>
                                        <p:attrNameLst>
                                          <p:attrName>ppt_x</p:attrName>
                                          <p:attrName>ppt_y</p:attrName>
                                        </p:attrNameLst>
                                      </p:cBhvr>
                                      <p:rCtr x="334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P spid="1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7E56C8-6C86-6066-97C7-07C092668648}"/>
              </a:ext>
            </a:extLst>
          </p:cNvPr>
          <p:cNvPicPr>
            <a:picLocks noChangeAspect="1"/>
          </p:cNvPicPr>
          <p:nvPr/>
        </p:nvPicPr>
        <p:blipFill>
          <a:blip r:embed="rId2">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5970309" y="414780"/>
            <a:ext cx="6221691" cy="4147794"/>
          </a:xfrm>
          <a:prstGeom prst="rect">
            <a:avLst/>
          </a:prstGeom>
        </p:spPr>
      </p:pic>
      <p:sp>
        <p:nvSpPr>
          <p:cNvPr id="4" name="Rectangle 3">
            <a:extLst>
              <a:ext uri="{FF2B5EF4-FFF2-40B4-BE49-F238E27FC236}">
                <a16:creationId xmlns:a16="http://schemas.microsoft.com/office/drawing/2014/main" id="{D989BBE4-38CA-4FFB-B9AA-E0BBB2AB22B7}"/>
              </a:ext>
            </a:extLst>
          </p:cNvPr>
          <p:cNvSpPr/>
          <p:nvPr/>
        </p:nvSpPr>
        <p:spPr>
          <a:xfrm>
            <a:off x="220674" y="1052896"/>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Individual bits of data are sent simultaneously via a series of cables.</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Parallel data transmission </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DEEA808B-D405-14DC-DA04-E031FBD05A97}"/>
              </a:ext>
            </a:extLst>
          </p:cNvPr>
          <p:cNvCxnSpPr/>
          <p:nvPr/>
        </p:nvCxnSpPr>
        <p:spPr>
          <a:xfrm>
            <a:off x="2479249" y="2488676"/>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4AB3F36-4ECC-F6FA-3B42-4EE206F537BD}"/>
              </a:ext>
            </a:extLst>
          </p:cNvPr>
          <p:cNvCxnSpPr/>
          <p:nvPr/>
        </p:nvCxnSpPr>
        <p:spPr>
          <a:xfrm>
            <a:off x="2479249" y="2886172"/>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7D3C45-627B-A99C-444E-B08C47FD8093}"/>
              </a:ext>
            </a:extLst>
          </p:cNvPr>
          <p:cNvCxnSpPr>
            <a:cxnSpLocks/>
          </p:cNvCxnSpPr>
          <p:nvPr/>
        </p:nvCxnSpPr>
        <p:spPr>
          <a:xfrm>
            <a:off x="2479249" y="2113175"/>
            <a:ext cx="726806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41BE4E5-6235-2891-A5E0-14EC96A1CFF0}"/>
              </a:ext>
            </a:extLst>
          </p:cNvPr>
          <p:cNvCxnSpPr/>
          <p:nvPr/>
        </p:nvCxnSpPr>
        <p:spPr>
          <a:xfrm>
            <a:off x="2482391" y="3302523"/>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97A6F8A-A4D7-975B-067D-260CD53EEDA5}"/>
              </a:ext>
            </a:extLst>
          </p:cNvPr>
          <p:cNvCxnSpPr/>
          <p:nvPr/>
        </p:nvCxnSpPr>
        <p:spPr>
          <a:xfrm>
            <a:off x="2622222" y="3690593"/>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AAEFB0-290A-2C24-D624-2A50241C77C2}"/>
              </a:ext>
            </a:extLst>
          </p:cNvPr>
          <p:cNvCxnSpPr/>
          <p:nvPr/>
        </p:nvCxnSpPr>
        <p:spPr>
          <a:xfrm>
            <a:off x="2622222" y="4078663"/>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AC580D-F332-2D3E-0161-CBEADB99CA96}"/>
              </a:ext>
            </a:extLst>
          </p:cNvPr>
          <p:cNvCxnSpPr/>
          <p:nvPr/>
        </p:nvCxnSpPr>
        <p:spPr>
          <a:xfrm>
            <a:off x="2177591" y="4458633"/>
            <a:ext cx="779596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3CFF00-FDA8-C9AA-C627-498B0388E653}"/>
              </a:ext>
            </a:extLst>
          </p:cNvPr>
          <p:cNvCxnSpPr/>
          <p:nvPr/>
        </p:nvCxnSpPr>
        <p:spPr>
          <a:xfrm>
            <a:off x="2177591" y="4846703"/>
            <a:ext cx="779596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218D4481-1944-6855-1211-47915867B1F0}"/>
              </a:ext>
            </a:extLst>
          </p:cNvPr>
          <p:cNvSpPr/>
          <p:nvPr/>
        </p:nvSpPr>
        <p:spPr>
          <a:xfrm>
            <a:off x="1922967" y="4705626"/>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21" name="Rectangle 20">
            <a:extLst>
              <a:ext uri="{FF2B5EF4-FFF2-40B4-BE49-F238E27FC236}">
                <a16:creationId xmlns:a16="http://schemas.microsoft.com/office/drawing/2014/main" id="{97E6503F-A3A3-A2F7-D5BD-D055F4B0ABE9}"/>
              </a:ext>
            </a:extLst>
          </p:cNvPr>
          <p:cNvSpPr/>
          <p:nvPr/>
        </p:nvSpPr>
        <p:spPr>
          <a:xfrm>
            <a:off x="1922968" y="4295087"/>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22" name="Rectangle 21">
            <a:extLst>
              <a:ext uri="{FF2B5EF4-FFF2-40B4-BE49-F238E27FC236}">
                <a16:creationId xmlns:a16="http://schemas.microsoft.com/office/drawing/2014/main" id="{CCC4D4DD-D8F0-770B-81A8-8124920E4BDF}"/>
              </a:ext>
            </a:extLst>
          </p:cNvPr>
          <p:cNvSpPr/>
          <p:nvPr/>
        </p:nvSpPr>
        <p:spPr>
          <a:xfrm>
            <a:off x="1923067" y="3919407"/>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3" name="Rectangle 22">
            <a:extLst>
              <a:ext uri="{FF2B5EF4-FFF2-40B4-BE49-F238E27FC236}">
                <a16:creationId xmlns:a16="http://schemas.microsoft.com/office/drawing/2014/main" id="{7C02FDC7-E7CD-D31C-2F94-5E0A5D7DDA13}"/>
              </a:ext>
            </a:extLst>
          </p:cNvPr>
          <p:cNvSpPr/>
          <p:nvPr/>
        </p:nvSpPr>
        <p:spPr>
          <a:xfrm>
            <a:off x="1915210" y="3525967"/>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24" name="Rectangle 23">
            <a:extLst>
              <a:ext uri="{FF2B5EF4-FFF2-40B4-BE49-F238E27FC236}">
                <a16:creationId xmlns:a16="http://schemas.microsoft.com/office/drawing/2014/main" id="{2794A336-C622-631D-7B7D-E76F02A44B0F}"/>
              </a:ext>
            </a:extLst>
          </p:cNvPr>
          <p:cNvSpPr/>
          <p:nvPr/>
        </p:nvSpPr>
        <p:spPr>
          <a:xfrm>
            <a:off x="1916012" y="313053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5" name="Rectangle 24">
            <a:extLst>
              <a:ext uri="{FF2B5EF4-FFF2-40B4-BE49-F238E27FC236}">
                <a16:creationId xmlns:a16="http://schemas.microsoft.com/office/drawing/2014/main" id="{73112090-3103-F7D0-A144-A168941A7109}"/>
              </a:ext>
            </a:extLst>
          </p:cNvPr>
          <p:cNvSpPr/>
          <p:nvPr/>
        </p:nvSpPr>
        <p:spPr>
          <a:xfrm>
            <a:off x="1916013" y="2735097"/>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6" name="Rectangle 25">
            <a:extLst>
              <a:ext uri="{FF2B5EF4-FFF2-40B4-BE49-F238E27FC236}">
                <a16:creationId xmlns:a16="http://schemas.microsoft.com/office/drawing/2014/main" id="{06AAC610-851D-193E-CBC9-4F568A77904A}"/>
              </a:ext>
            </a:extLst>
          </p:cNvPr>
          <p:cNvSpPr/>
          <p:nvPr/>
        </p:nvSpPr>
        <p:spPr>
          <a:xfrm>
            <a:off x="1916014" y="2347028"/>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7" name="Rectangle 26">
            <a:extLst>
              <a:ext uri="{FF2B5EF4-FFF2-40B4-BE49-F238E27FC236}">
                <a16:creationId xmlns:a16="http://schemas.microsoft.com/office/drawing/2014/main" id="{C1A46A9D-5D08-DD65-824C-D0EC7D48ABFA}"/>
              </a:ext>
            </a:extLst>
          </p:cNvPr>
          <p:cNvSpPr/>
          <p:nvPr/>
        </p:nvSpPr>
        <p:spPr>
          <a:xfrm>
            <a:off x="1918352" y="1967059"/>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pic>
        <p:nvPicPr>
          <p:cNvPr id="7" name="Picture 6" descr="A computer with a flag on the screen&#10;&#10;Description automatically generated with low confidence">
            <a:extLst>
              <a:ext uri="{FF2B5EF4-FFF2-40B4-BE49-F238E27FC236}">
                <a16:creationId xmlns:a16="http://schemas.microsoft.com/office/drawing/2014/main" id="{F3216A1E-DEA4-9722-DCD0-E3B7C7566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32280" y="1562139"/>
            <a:ext cx="3770417" cy="3770417"/>
          </a:xfrm>
          <a:prstGeom prst="rect">
            <a:avLst/>
          </a:prstGeom>
        </p:spPr>
      </p:pic>
      <p:pic>
        <p:nvPicPr>
          <p:cNvPr id="3" name="Picture 2" descr="Icon&#10;&#10;Description automatically generated">
            <a:extLst>
              <a:ext uri="{FF2B5EF4-FFF2-40B4-BE49-F238E27FC236}">
                <a16:creationId xmlns:a16="http://schemas.microsoft.com/office/drawing/2014/main" id="{2C09ADDE-F242-4D4A-F752-615D001BE6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4302" y="1868983"/>
            <a:ext cx="3177441" cy="3177441"/>
          </a:xfrm>
          <a:prstGeom prst="rect">
            <a:avLst/>
          </a:prstGeom>
        </p:spPr>
      </p:pic>
    </p:spTree>
    <p:extLst>
      <p:ext uri="{BB962C8B-B14F-4D97-AF65-F5344CB8AC3E}">
        <p14:creationId xmlns:p14="http://schemas.microsoft.com/office/powerpoint/2010/main" val="1449981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2000" fill="hold" grpId="0" nodeType="withEffect">
                                  <p:stCondLst>
                                    <p:cond delay="1000"/>
                                  </p:stCondLst>
                                  <p:childTnLst>
                                    <p:animMotion origin="layout" path="M -1.45833E-6 2.59259E-6 L 0.66823 2.59259E-6 " pathEditMode="relative" rAng="0" ptsTypes="AA">
                                      <p:cBhvr>
                                        <p:cTn id="6" dur="4000" fill="hold"/>
                                        <p:tgtEl>
                                          <p:spTgt spid="20"/>
                                        </p:tgtEl>
                                        <p:attrNameLst>
                                          <p:attrName>ppt_x</p:attrName>
                                          <p:attrName>ppt_y</p:attrName>
                                        </p:attrNameLst>
                                      </p:cBhvr>
                                      <p:rCtr x="33411" y="0"/>
                                    </p:animMotion>
                                  </p:childTnLst>
                                </p:cTn>
                              </p:par>
                              <p:par>
                                <p:cTn id="7" presetID="42" presetClass="path" presetSubtype="0" repeatCount="2000" fill="hold" grpId="0" nodeType="withEffect">
                                  <p:stCondLst>
                                    <p:cond delay="1000"/>
                                  </p:stCondLst>
                                  <p:childTnLst>
                                    <p:animMotion origin="layout" path="M -1.45833E-6 4.81481E-6 L 0.66823 4.81481E-6 " pathEditMode="relative" rAng="0" ptsTypes="AA">
                                      <p:cBhvr>
                                        <p:cTn id="8" dur="4000" fill="hold"/>
                                        <p:tgtEl>
                                          <p:spTgt spid="21"/>
                                        </p:tgtEl>
                                        <p:attrNameLst>
                                          <p:attrName>ppt_x</p:attrName>
                                          <p:attrName>ppt_y</p:attrName>
                                        </p:attrNameLst>
                                      </p:cBhvr>
                                      <p:rCtr x="33411" y="0"/>
                                    </p:animMotion>
                                  </p:childTnLst>
                                </p:cTn>
                              </p:par>
                              <p:par>
                                <p:cTn id="9" presetID="42" presetClass="path" presetSubtype="0" repeatCount="2000" fill="hold" grpId="0" nodeType="withEffect">
                                  <p:stCondLst>
                                    <p:cond delay="1000"/>
                                  </p:stCondLst>
                                  <p:childTnLst>
                                    <p:animMotion origin="layout" path="M -1.45833E-6 -4.07407E-6 L 0.66823 -4.07407E-6 " pathEditMode="relative" rAng="0" ptsTypes="AA">
                                      <p:cBhvr>
                                        <p:cTn id="10" dur="4000" fill="hold"/>
                                        <p:tgtEl>
                                          <p:spTgt spid="22"/>
                                        </p:tgtEl>
                                        <p:attrNameLst>
                                          <p:attrName>ppt_x</p:attrName>
                                          <p:attrName>ppt_y</p:attrName>
                                        </p:attrNameLst>
                                      </p:cBhvr>
                                      <p:rCtr x="33411" y="0"/>
                                    </p:animMotion>
                                  </p:childTnLst>
                                </p:cTn>
                              </p:par>
                              <p:par>
                                <p:cTn id="11" presetID="42" presetClass="path" presetSubtype="0" repeatCount="2000" fill="hold" grpId="0" nodeType="withEffect">
                                  <p:stCondLst>
                                    <p:cond delay="1000"/>
                                  </p:stCondLst>
                                  <p:childTnLst>
                                    <p:animMotion origin="layout" path="M -4.16667E-7 3.33333E-6 L 0.66823 3.33333E-6 " pathEditMode="relative" rAng="0" ptsTypes="AA">
                                      <p:cBhvr>
                                        <p:cTn id="12" dur="4000" fill="hold"/>
                                        <p:tgtEl>
                                          <p:spTgt spid="23"/>
                                        </p:tgtEl>
                                        <p:attrNameLst>
                                          <p:attrName>ppt_x</p:attrName>
                                          <p:attrName>ppt_y</p:attrName>
                                        </p:attrNameLst>
                                      </p:cBhvr>
                                      <p:rCtr x="33411" y="0"/>
                                    </p:animMotion>
                                  </p:childTnLst>
                                </p:cTn>
                              </p:par>
                              <p:par>
                                <p:cTn id="13" presetID="42" presetClass="path" presetSubtype="0" repeatCount="2000" fill="hold" grpId="0" nodeType="withEffect">
                                  <p:stCondLst>
                                    <p:cond delay="1000"/>
                                  </p:stCondLst>
                                  <p:childTnLst>
                                    <p:animMotion origin="layout" path="M -6.25E-7 2.22222E-6 L 0.66823 2.22222E-6 " pathEditMode="relative" rAng="0" ptsTypes="AA">
                                      <p:cBhvr>
                                        <p:cTn id="14" dur="4000" fill="hold"/>
                                        <p:tgtEl>
                                          <p:spTgt spid="24"/>
                                        </p:tgtEl>
                                        <p:attrNameLst>
                                          <p:attrName>ppt_x</p:attrName>
                                          <p:attrName>ppt_y</p:attrName>
                                        </p:attrNameLst>
                                      </p:cBhvr>
                                      <p:rCtr x="33411" y="0"/>
                                    </p:animMotion>
                                  </p:childTnLst>
                                </p:cTn>
                              </p:par>
                              <p:par>
                                <p:cTn id="15" presetID="42" presetClass="path" presetSubtype="0" repeatCount="2000" fill="hold" grpId="0" nodeType="withEffect">
                                  <p:stCondLst>
                                    <p:cond delay="1000"/>
                                  </p:stCondLst>
                                  <p:childTnLst>
                                    <p:animMotion origin="layout" path="M -6.25E-7 1.11111E-6 L 0.66823 1.11111E-6 " pathEditMode="relative" rAng="0" ptsTypes="AA">
                                      <p:cBhvr>
                                        <p:cTn id="16" dur="4000" fill="hold"/>
                                        <p:tgtEl>
                                          <p:spTgt spid="25"/>
                                        </p:tgtEl>
                                        <p:attrNameLst>
                                          <p:attrName>ppt_x</p:attrName>
                                          <p:attrName>ppt_y</p:attrName>
                                        </p:attrNameLst>
                                      </p:cBhvr>
                                      <p:rCtr x="33411" y="0"/>
                                    </p:animMotion>
                                  </p:childTnLst>
                                </p:cTn>
                              </p:par>
                              <p:par>
                                <p:cTn id="17" presetID="42" presetClass="path" presetSubtype="0" repeatCount="2000" fill="hold" grpId="0" nodeType="withEffect">
                                  <p:stCondLst>
                                    <p:cond delay="1000"/>
                                  </p:stCondLst>
                                  <p:childTnLst>
                                    <p:animMotion origin="layout" path="M -6.25E-7 4.07407E-6 L 0.66823 4.07407E-6 " pathEditMode="relative" rAng="0" ptsTypes="AA">
                                      <p:cBhvr>
                                        <p:cTn id="18" dur="4000" fill="hold"/>
                                        <p:tgtEl>
                                          <p:spTgt spid="26"/>
                                        </p:tgtEl>
                                        <p:attrNameLst>
                                          <p:attrName>ppt_x</p:attrName>
                                          <p:attrName>ppt_y</p:attrName>
                                        </p:attrNameLst>
                                      </p:cBhvr>
                                      <p:rCtr x="33411" y="0"/>
                                    </p:animMotion>
                                  </p:childTnLst>
                                </p:cTn>
                              </p:par>
                              <p:par>
                                <p:cTn id="19" presetID="42" presetClass="path" presetSubtype="0" repeatCount="2000" fill="hold" grpId="0" nodeType="withEffect">
                                  <p:stCondLst>
                                    <p:cond delay="1000"/>
                                  </p:stCondLst>
                                  <p:childTnLst>
                                    <p:animMotion origin="layout" path="M -8.33333E-7 -1.85185E-6 L 0.66823 -1.85185E-6 " pathEditMode="relative" rAng="0" ptsTypes="AA">
                                      <p:cBhvr>
                                        <p:cTn id="20" dur="4000" fill="hold"/>
                                        <p:tgtEl>
                                          <p:spTgt spid="27"/>
                                        </p:tgtEl>
                                        <p:attrNameLst>
                                          <p:attrName>ppt_x</p:attrName>
                                          <p:attrName>ppt_y</p:attrName>
                                        </p:attrNameLst>
                                      </p:cBhvr>
                                      <p:rCtr x="334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Serial vs parallel transmission</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3" name="Diagram 2">
            <a:extLst>
              <a:ext uri="{FF2B5EF4-FFF2-40B4-BE49-F238E27FC236}">
                <a16:creationId xmlns:a16="http://schemas.microsoft.com/office/drawing/2014/main" id="{0F51058F-BC97-7399-F93A-B578FF5C96C7}"/>
              </a:ext>
            </a:extLst>
          </p:cNvPr>
          <p:cNvGraphicFramePr/>
          <p:nvPr>
            <p:extLst>
              <p:ext uri="{D42A27DB-BD31-4B8C-83A1-F6EECF244321}">
                <p14:modId xmlns:p14="http://schemas.microsoft.com/office/powerpoint/2010/main" val="2443350224"/>
              </p:ext>
            </p:extLst>
          </p:nvPr>
        </p:nvGraphicFramePr>
        <p:xfrm>
          <a:off x="146639" y="1106490"/>
          <a:ext cx="5782821"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Graphic 6" descr="Badge Follow with solid fill">
            <a:extLst>
              <a:ext uri="{FF2B5EF4-FFF2-40B4-BE49-F238E27FC236}">
                <a16:creationId xmlns:a16="http://schemas.microsoft.com/office/drawing/2014/main" id="{C238E870-2965-7BF4-3134-D31CB865AA23}"/>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5493" y="3631838"/>
            <a:ext cx="1307969" cy="1307969"/>
          </a:xfrm>
          <a:prstGeom prst="rect">
            <a:avLst/>
          </a:prstGeom>
        </p:spPr>
      </p:pic>
      <p:pic>
        <p:nvPicPr>
          <p:cNvPr id="9" name="Graphic 8" descr="Badge Unfollow with solid fill">
            <a:extLst>
              <a:ext uri="{FF2B5EF4-FFF2-40B4-BE49-F238E27FC236}">
                <a16:creationId xmlns:a16="http://schemas.microsoft.com/office/drawing/2014/main" id="{381AE259-66DF-A3C6-5F99-0D1EF4A67424}"/>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4920" y="5158643"/>
            <a:ext cx="1307969" cy="1307969"/>
          </a:xfrm>
          <a:prstGeom prst="rect">
            <a:avLst/>
          </a:prstGeom>
        </p:spPr>
      </p:pic>
      <p:graphicFrame>
        <p:nvGraphicFramePr>
          <p:cNvPr id="10" name="Diagram 9">
            <a:extLst>
              <a:ext uri="{FF2B5EF4-FFF2-40B4-BE49-F238E27FC236}">
                <a16:creationId xmlns:a16="http://schemas.microsoft.com/office/drawing/2014/main" id="{B851E8A1-4788-DA84-B417-BABFA0F5C3A8}"/>
              </a:ext>
            </a:extLst>
          </p:cNvPr>
          <p:cNvGraphicFramePr/>
          <p:nvPr>
            <p:extLst>
              <p:ext uri="{D42A27DB-BD31-4B8C-83A1-F6EECF244321}">
                <p14:modId xmlns:p14="http://schemas.microsoft.com/office/powerpoint/2010/main" val="3391383883"/>
              </p:ext>
            </p:extLst>
          </p:nvPr>
        </p:nvGraphicFramePr>
        <p:xfrm>
          <a:off x="6188504" y="1094706"/>
          <a:ext cx="5782821" cy="5418667"/>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pic>
        <p:nvPicPr>
          <p:cNvPr id="11" name="Graphic 10" descr="Badge Follow with solid fill">
            <a:extLst>
              <a:ext uri="{FF2B5EF4-FFF2-40B4-BE49-F238E27FC236}">
                <a16:creationId xmlns:a16="http://schemas.microsoft.com/office/drawing/2014/main" id="{4DC74340-A73C-E21B-07ED-4580493D79FA}"/>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224834" y="3631838"/>
            <a:ext cx="1307969" cy="1307969"/>
          </a:xfrm>
          <a:prstGeom prst="rect">
            <a:avLst/>
          </a:prstGeom>
        </p:spPr>
      </p:pic>
      <p:pic>
        <p:nvPicPr>
          <p:cNvPr id="12" name="Graphic 11" descr="Badge Unfollow with solid fill">
            <a:extLst>
              <a:ext uri="{FF2B5EF4-FFF2-40B4-BE49-F238E27FC236}">
                <a16:creationId xmlns:a16="http://schemas.microsoft.com/office/drawing/2014/main" id="{22BDC5E3-03BF-6F37-0E96-C0CEBCBF78A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215407" y="5158643"/>
            <a:ext cx="1307969" cy="1307969"/>
          </a:xfrm>
          <a:prstGeom prst="rect">
            <a:avLst/>
          </a:prstGeom>
        </p:spPr>
      </p:pic>
    </p:spTree>
    <p:extLst>
      <p:ext uri="{BB962C8B-B14F-4D97-AF65-F5344CB8AC3E}">
        <p14:creationId xmlns:p14="http://schemas.microsoft.com/office/powerpoint/2010/main" val="1452769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87E56C8-6C86-6066-97C7-07C092668648}"/>
              </a:ext>
            </a:extLst>
          </p:cNvPr>
          <p:cNvPicPr>
            <a:picLocks noChangeAspect="1"/>
          </p:cNvPicPr>
          <p:nvPr/>
        </p:nvPicPr>
        <p:blipFill>
          <a:blip r:embed="rId2">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tretch>
            <a:fillRect/>
          </a:stretch>
        </p:blipFill>
        <p:spPr>
          <a:xfrm>
            <a:off x="5970309" y="414780"/>
            <a:ext cx="6221691" cy="4147794"/>
          </a:xfrm>
          <a:prstGeom prst="rect">
            <a:avLst/>
          </a:prstGeom>
        </p:spPr>
      </p:pic>
      <p:sp>
        <p:nvSpPr>
          <p:cNvPr id="4" name="Rectangle 3">
            <a:extLst>
              <a:ext uri="{FF2B5EF4-FFF2-40B4-BE49-F238E27FC236}">
                <a16:creationId xmlns:a16="http://schemas.microsoft.com/office/drawing/2014/main" id="{D989BBE4-38CA-4FFB-B9AA-E0BBB2AB22B7}"/>
              </a:ext>
            </a:extLst>
          </p:cNvPr>
          <p:cNvSpPr/>
          <p:nvPr/>
        </p:nvSpPr>
        <p:spPr>
          <a:xfrm>
            <a:off x="220674" y="1052896"/>
            <a:ext cx="11666525" cy="1000274"/>
          </a:xfrm>
          <a:prstGeom prst="rect">
            <a:avLst/>
          </a:prstGeom>
        </p:spPr>
        <p:txBody>
          <a:bodyPr wrap="square">
            <a:spAutoFit/>
          </a:bodyPr>
          <a:lstStyle/>
          <a:p>
            <a:pPr>
              <a:spcAft>
                <a:spcPts val="600"/>
              </a:spcAft>
            </a:pPr>
            <a:r>
              <a:rPr lang="en-GB" dirty="0">
                <a:latin typeface="Calibri" panose="020F0502020204030204" pitchFamily="34" charset="0"/>
                <a:ea typeface="Calibri" panose="020F0502020204030204" pitchFamily="34" charset="0"/>
                <a:cs typeface="Times New Roman" panose="02020603050405020304" pitchFamily="18" charset="0"/>
              </a:rPr>
              <a:t>In a parallel situation, separate bits of data may travel at different speeds via the various cables – this can cause the bits to arrive out of sync, a problem we refer to as </a:t>
            </a:r>
            <a:r>
              <a:rPr lang="en-GB" i="1" dirty="0">
                <a:latin typeface="Calibri" panose="020F0502020204030204" pitchFamily="34" charset="0"/>
                <a:ea typeface="Calibri" panose="020F0502020204030204" pitchFamily="34" charset="0"/>
                <a:cs typeface="Times New Roman" panose="02020603050405020304" pitchFamily="18" charset="0"/>
              </a:rPr>
              <a:t>skew</a:t>
            </a:r>
            <a:r>
              <a:rPr lang="en-GB" dirty="0">
                <a:latin typeface="Calibri" panose="020F0502020204030204" pitchFamily="34" charset="0"/>
                <a:ea typeface="Calibri" panose="020F0502020204030204" pitchFamily="34" charset="0"/>
                <a:cs typeface="Times New Roman" panose="02020603050405020304" pitchFamily="18" charset="0"/>
              </a:rPr>
              <a:t>.</a:t>
            </a:r>
          </a:p>
          <a:p>
            <a:pPr>
              <a:spcAft>
                <a:spcPts val="600"/>
              </a:spcAft>
            </a:pPr>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5">
            <a:extLst>
              <a:ext uri="{FF2B5EF4-FFF2-40B4-BE49-F238E27FC236}">
                <a16:creationId xmlns:a16="http://schemas.microsoft.com/office/drawing/2014/main" id="{50213629-B856-4319-B482-ECBCD25E2D9C}"/>
              </a:ext>
            </a:extLst>
          </p:cNvPr>
          <p:cNvSpPr/>
          <p:nvPr/>
        </p:nvSpPr>
        <p:spPr>
          <a:xfrm>
            <a:off x="220675" y="504512"/>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Parallel data transmission </a:t>
            </a:r>
            <a:endParaRPr lang="en-GB" sz="1200" dirty="0">
              <a:solidFill>
                <a:srgbClr val="0087B1"/>
              </a:solidFill>
              <a:latin typeface="Calibri" panose="020F0502020204030204" pitchFamily="34" charset="0"/>
              <a:ea typeface="Calibri" panose="020F0502020204030204" pitchFamily="34"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DEEA808B-D405-14DC-DA04-E031FBD05A97}"/>
              </a:ext>
            </a:extLst>
          </p:cNvPr>
          <p:cNvCxnSpPr/>
          <p:nvPr/>
        </p:nvCxnSpPr>
        <p:spPr>
          <a:xfrm>
            <a:off x="2479249" y="2828041"/>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4AB3F36-4ECC-F6FA-3B42-4EE206F537BD}"/>
              </a:ext>
            </a:extLst>
          </p:cNvPr>
          <p:cNvCxnSpPr/>
          <p:nvPr/>
        </p:nvCxnSpPr>
        <p:spPr>
          <a:xfrm>
            <a:off x="2479249" y="3225537"/>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57D3C45-627B-A99C-444E-B08C47FD8093}"/>
              </a:ext>
            </a:extLst>
          </p:cNvPr>
          <p:cNvCxnSpPr>
            <a:cxnSpLocks/>
          </p:cNvCxnSpPr>
          <p:nvPr/>
        </p:nvCxnSpPr>
        <p:spPr>
          <a:xfrm>
            <a:off x="2479249" y="2452540"/>
            <a:ext cx="726806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41BE4E5-6235-2891-A5E0-14EC96A1CFF0}"/>
              </a:ext>
            </a:extLst>
          </p:cNvPr>
          <p:cNvCxnSpPr/>
          <p:nvPr/>
        </p:nvCxnSpPr>
        <p:spPr>
          <a:xfrm>
            <a:off x="2482391" y="3641888"/>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97A6F8A-A4D7-975B-067D-260CD53EEDA5}"/>
              </a:ext>
            </a:extLst>
          </p:cNvPr>
          <p:cNvCxnSpPr/>
          <p:nvPr/>
        </p:nvCxnSpPr>
        <p:spPr>
          <a:xfrm>
            <a:off x="2622222" y="4029958"/>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AAEFB0-290A-2C24-D624-2A50241C77C2}"/>
              </a:ext>
            </a:extLst>
          </p:cNvPr>
          <p:cNvCxnSpPr/>
          <p:nvPr/>
        </p:nvCxnSpPr>
        <p:spPr>
          <a:xfrm>
            <a:off x="2622222" y="4418028"/>
            <a:ext cx="6975836"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FAC580D-F332-2D3E-0161-CBEADB99CA96}"/>
              </a:ext>
            </a:extLst>
          </p:cNvPr>
          <p:cNvCxnSpPr/>
          <p:nvPr/>
        </p:nvCxnSpPr>
        <p:spPr>
          <a:xfrm>
            <a:off x="2177591" y="4797998"/>
            <a:ext cx="779596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43CFF00-FDA8-C9AA-C627-498B0388E653}"/>
              </a:ext>
            </a:extLst>
          </p:cNvPr>
          <p:cNvCxnSpPr/>
          <p:nvPr/>
        </p:nvCxnSpPr>
        <p:spPr>
          <a:xfrm>
            <a:off x="2177591" y="5186068"/>
            <a:ext cx="7795967" cy="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218D4481-1944-6855-1211-47915867B1F0}"/>
              </a:ext>
            </a:extLst>
          </p:cNvPr>
          <p:cNvSpPr/>
          <p:nvPr/>
        </p:nvSpPr>
        <p:spPr>
          <a:xfrm>
            <a:off x="1922967" y="5044991"/>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21" name="Rectangle 20">
            <a:extLst>
              <a:ext uri="{FF2B5EF4-FFF2-40B4-BE49-F238E27FC236}">
                <a16:creationId xmlns:a16="http://schemas.microsoft.com/office/drawing/2014/main" id="{97E6503F-A3A3-A2F7-D5BD-D055F4B0ABE9}"/>
              </a:ext>
            </a:extLst>
          </p:cNvPr>
          <p:cNvSpPr/>
          <p:nvPr/>
        </p:nvSpPr>
        <p:spPr>
          <a:xfrm>
            <a:off x="1922968" y="463445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22" name="Rectangle 21">
            <a:extLst>
              <a:ext uri="{FF2B5EF4-FFF2-40B4-BE49-F238E27FC236}">
                <a16:creationId xmlns:a16="http://schemas.microsoft.com/office/drawing/2014/main" id="{CCC4D4DD-D8F0-770B-81A8-8124920E4BDF}"/>
              </a:ext>
            </a:extLst>
          </p:cNvPr>
          <p:cNvSpPr/>
          <p:nvPr/>
        </p:nvSpPr>
        <p:spPr>
          <a:xfrm>
            <a:off x="1923067" y="425877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3" name="Rectangle 22">
            <a:extLst>
              <a:ext uri="{FF2B5EF4-FFF2-40B4-BE49-F238E27FC236}">
                <a16:creationId xmlns:a16="http://schemas.microsoft.com/office/drawing/2014/main" id="{7C02FDC7-E7CD-D31C-2F94-5E0A5D7DDA13}"/>
              </a:ext>
            </a:extLst>
          </p:cNvPr>
          <p:cNvSpPr/>
          <p:nvPr/>
        </p:nvSpPr>
        <p:spPr>
          <a:xfrm>
            <a:off x="1915210" y="386533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sp>
        <p:nvSpPr>
          <p:cNvPr id="24" name="Rectangle 23">
            <a:extLst>
              <a:ext uri="{FF2B5EF4-FFF2-40B4-BE49-F238E27FC236}">
                <a16:creationId xmlns:a16="http://schemas.microsoft.com/office/drawing/2014/main" id="{2794A336-C622-631D-7B7D-E76F02A44B0F}"/>
              </a:ext>
            </a:extLst>
          </p:cNvPr>
          <p:cNvSpPr/>
          <p:nvPr/>
        </p:nvSpPr>
        <p:spPr>
          <a:xfrm>
            <a:off x="1916012" y="3469897"/>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5" name="Rectangle 24">
            <a:extLst>
              <a:ext uri="{FF2B5EF4-FFF2-40B4-BE49-F238E27FC236}">
                <a16:creationId xmlns:a16="http://schemas.microsoft.com/office/drawing/2014/main" id="{73112090-3103-F7D0-A144-A168941A7109}"/>
              </a:ext>
            </a:extLst>
          </p:cNvPr>
          <p:cNvSpPr/>
          <p:nvPr/>
        </p:nvSpPr>
        <p:spPr>
          <a:xfrm>
            <a:off x="1916013" y="3074462"/>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6" name="Rectangle 25">
            <a:extLst>
              <a:ext uri="{FF2B5EF4-FFF2-40B4-BE49-F238E27FC236}">
                <a16:creationId xmlns:a16="http://schemas.microsoft.com/office/drawing/2014/main" id="{06AAC610-851D-193E-CBC9-4F568A77904A}"/>
              </a:ext>
            </a:extLst>
          </p:cNvPr>
          <p:cNvSpPr/>
          <p:nvPr/>
        </p:nvSpPr>
        <p:spPr>
          <a:xfrm>
            <a:off x="1916014" y="2686393"/>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0</a:t>
            </a:r>
          </a:p>
        </p:txBody>
      </p:sp>
      <p:sp>
        <p:nvSpPr>
          <p:cNvPr id="27" name="Rectangle 26">
            <a:extLst>
              <a:ext uri="{FF2B5EF4-FFF2-40B4-BE49-F238E27FC236}">
                <a16:creationId xmlns:a16="http://schemas.microsoft.com/office/drawing/2014/main" id="{C1A46A9D-5D08-DD65-824C-D0EC7D48ABFA}"/>
              </a:ext>
            </a:extLst>
          </p:cNvPr>
          <p:cNvSpPr/>
          <p:nvPr/>
        </p:nvSpPr>
        <p:spPr>
          <a:xfrm>
            <a:off x="1918352" y="2306424"/>
            <a:ext cx="292231" cy="29223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dirty="0"/>
              <a:t>1</a:t>
            </a:r>
          </a:p>
        </p:txBody>
      </p:sp>
      <p:pic>
        <p:nvPicPr>
          <p:cNvPr id="7" name="Picture 6" descr="A computer with a flag on the screen&#10;&#10;Description automatically generated with low confidence">
            <a:extLst>
              <a:ext uri="{FF2B5EF4-FFF2-40B4-BE49-F238E27FC236}">
                <a16:creationId xmlns:a16="http://schemas.microsoft.com/office/drawing/2014/main" id="{F3216A1E-DEA4-9722-DCD0-E3B7C7566A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132280" y="1901504"/>
            <a:ext cx="3770417" cy="3770417"/>
          </a:xfrm>
          <a:prstGeom prst="rect">
            <a:avLst/>
          </a:prstGeom>
        </p:spPr>
      </p:pic>
      <p:pic>
        <p:nvPicPr>
          <p:cNvPr id="3" name="Picture 2" descr="Icon&#10;&#10;Description automatically generated">
            <a:extLst>
              <a:ext uri="{FF2B5EF4-FFF2-40B4-BE49-F238E27FC236}">
                <a16:creationId xmlns:a16="http://schemas.microsoft.com/office/drawing/2014/main" id="{2C09ADDE-F242-4D4A-F752-615D001BE6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54302" y="2208348"/>
            <a:ext cx="3177441" cy="3177441"/>
          </a:xfrm>
          <a:prstGeom prst="rect">
            <a:avLst/>
          </a:prstGeom>
        </p:spPr>
      </p:pic>
      <p:sp>
        <p:nvSpPr>
          <p:cNvPr id="28" name="Rectangle 27">
            <a:extLst>
              <a:ext uri="{FF2B5EF4-FFF2-40B4-BE49-F238E27FC236}">
                <a16:creationId xmlns:a16="http://schemas.microsoft.com/office/drawing/2014/main" id="{F19D901E-7590-C3FF-A3C4-EBDD80360CD2}"/>
              </a:ext>
            </a:extLst>
          </p:cNvPr>
          <p:cNvSpPr/>
          <p:nvPr/>
        </p:nvSpPr>
        <p:spPr>
          <a:xfrm>
            <a:off x="365218" y="5835702"/>
            <a:ext cx="11666525" cy="646331"/>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That is why parallel cables are only used over very short distances – and another disadvantage against serial cables.</a:t>
            </a:r>
          </a:p>
          <a:p>
            <a:endParaRPr lang="en-GB"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65828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path" presetSubtype="0" repeatCount="3000" fill="hold" grpId="0" nodeType="withEffect">
                                  <p:stCondLst>
                                    <p:cond delay="1000"/>
                                  </p:stCondLst>
                                  <p:childTnLst>
                                    <p:animMotion origin="layout" path="M -1.45833E-6 -4.44444E-6 L 0.66823 -4.44444E-6 " pathEditMode="relative" rAng="0" ptsTypes="AA">
                                      <p:cBhvr>
                                        <p:cTn id="6" dur="3250" fill="hold"/>
                                        <p:tgtEl>
                                          <p:spTgt spid="20"/>
                                        </p:tgtEl>
                                        <p:attrNameLst>
                                          <p:attrName>ppt_x</p:attrName>
                                          <p:attrName>ppt_y</p:attrName>
                                        </p:attrNameLst>
                                      </p:cBhvr>
                                      <p:rCtr x="33411" y="0"/>
                                    </p:animMotion>
                                  </p:childTnLst>
                                </p:cTn>
                              </p:par>
                              <p:par>
                                <p:cTn id="7" presetID="42" presetClass="path" presetSubtype="0" repeatCount="3000" fill="hold" grpId="0" nodeType="withEffect">
                                  <p:stCondLst>
                                    <p:cond delay="1000"/>
                                  </p:stCondLst>
                                  <p:childTnLst>
                                    <p:animMotion origin="layout" path="M -1.45833E-6 -7.40741E-7 L 0.66823 -7.40741E-7 " pathEditMode="relative" rAng="0" ptsTypes="AA">
                                      <p:cBhvr>
                                        <p:cTn id="8" dur="4000" fill="hold"/>
                                        <p:tgtEl>
                                          <p:spTgt spid="21"/>
                                        </p:tgtEl>
                                        <p:attrNameLst>
                                          <p:attrName>ppt_x</p:attrName>
                                          <p:attrName>ppt_y</p:attrName>
                                        </p:attrNameLst>
                                      </p:cBhvr>
                                      <p:rCtr x="33411" y="0"/>
                                    </p:animMotion>
                                  </p:childTnLst>
                                </p:cTn>
                              </p:par>
                              <p:par>
                                <p:cTn id="9" presetID="42" presetClass="path" presetSubtype="0" repeatCount="3000" fill="hold" grpId="0" nodeType="withEffect">
                                  <p:stCondLst>
                                    <p:cond delay="1000"/>
                                  </p:stCondLst>
                                  <p:childTnLst>
                                    <p:animMotion origin="layout" path="M -1.45833E-6 -1.11111E-6 L 0.66823 -1.11111E-6 " pathEditMode="relative" rAng="0" ptsTypes="AA">
                                      <p:cBhvr>
                                        <p:cTn id="10" dur="5000" fill="hold"/>
                                        <p:tgtEl>
                                          <p:spTgt spid="22"/>
                                        </p:tgtEl>
                                        <p:attrNameLst>
                                          <p:attrName>ppt_x</p:attrName>
                                          <p:attrName>ppt_y</p:attrName>
                                        </p:attrNameLst>
                                      </p:cBhvr>
                                      <p:rCtr x="33411" y="0"/>
                                    </p:animMotion>
                                  </p:childTnLst>
                                </p:cTn>
                              </p:par>
                              <p:par>
                                <p:cTn id="11" presetID="42" presetClass="path" presetSubtype="0" repeatCount="3000" fill="hold" grpId="0" nodeType="withEffect">
                                  <p:stCondLst>
                                    <p:cond delay="1000"/>
                                  </p:stCondLst>
                                  <p:childTnLst>
                                    <p:animMotion origin="layout" path="M -4.16667E-7 -3.7037E-6 L 0.66823 -3.7037E-6 " pathEditMode="relative" rAng="0" ptsTypes="AA">
                                      <p:cBhvr>
                                        <p:cTn id="12" dur="2750" fill="hold"/>
                                        <p:tgtEl>
                                          <p:spTgt spid="23"/>
                                        </p:tgtEl>
                                        <p:attrNameLst>
                                          <p:attrName>ppt_x</p:attrName>
                                          <p:attrName>ppt_y</p:attrName>
                                        </p:attrNameLst>
                                      </p:cBhvr>
                                      <p:rCtr x="33411" y="0"/>
                                    </p:animMotion>
                                  </p:childTnLst>
                                </p:cTn>
                              </p:par>
                              <p:par>
                                <p:cTn id="13" presetID="42" presetClass="path" presetSubtype="0" repeatCount="3000" fill="hold" grpId="0" nodeType="withEffect">
                                  <p:stCondLst>
                                    <p:cond delay="1000"/>
                                  </p:stCondLst>
                                  <p:childTnLst>
                                    <p:animMotion origin="layout" path="M -6.25E-7 -4.81481E-6 L 0.66823 -4.81481E-6 " pathEditMode="relative" rAng="0" ptsTypes="AA">
                                      <p:cBhvr>
                                        <p:cTn id="14" dur="4250" fill="hold"/>
                                        <p:tgtEl>
                                          <p:spTgt spid="24"/>
                                        </p:tgtEl>
                                        <p:attrNameLst>
                                          <p:attrName>ppt_x</p:attrName>
                                          <p:attrName>ppt_y</p:attrName>
                                        </p:attrNameLst>
                                      </p:cBhvr>
                                      <p:rCtr x="33411" y="0"/>
                                    </p:animMotion>
                                  </p:childTnLst>
                                </p:cTn>
                              </p:par>
                              <p:par>
                                <p:cTn id="15" presetID="42" presetClass="path" presetSubtype="0" repeatCount="3000" fill="hold" grpId="0" nodeType="withEffect">
                                  <p:stCondLst>
                                    <p:cond delay="1000"/>
                                  </p:stCondLst>
                                  <p:childTnLst>
                                    <p:animMotion origin="layout" path="M -6.25E-7 4.07407E-6 L 0.66823 4.07407E-6 " pathEditMode="relative" rAng="0" ptsTypes="AA">
                                      <p:cBhvr>
                                        <p:cTn id="16" dur="4500" fill="hold"/>
                                        <p:tgtEl>
                                          <p:spTgt spid="25"/>
                                        </p:tgtEl>
                                        <p:attrNameLst>
                                          <p:attrName>ppt_x</p:attrName>
                                          <p:attrName>ppt_y</p:attrName>
                                        </p:attrNameLst>
                                      </p:cBhvr>
                                      <p:rCtr x="33411" y="0"/>
                                    </p:animMotion>
                                  </p:childTnLst>
                                </p:cTn>
                              </p:par>
                              <p:par>
                                <p:cTn id="17" presetID="42" presetClass="path" presetSubtype="0" repeatCount="3000" fill="hold" grpId="0" nodeType="withEffect">
                                  <p:stCondLst>
                                    <p:cond delay="1000"/>
                                  </p:stCondLst>
                                  <p:childTnLst>
                                    <p:animMotion origin="layout" path="M -6.25E-7 -2.96296E-6 L 0.66823 -2.96296E-6 " pathEditMode="relative" rAng="0" ptsTypes="AA">
                                      <p:cBhvr>
                                        <p:cTn id="18" dur="4000" fill="hold"/>
                                        <p:tgtEl>
                                          <p:spTgt spid="26"/>
                                        </p:tgtEl>
                                        <p:attrNameLst>
                                          <p:attrName>ppt_x</p:attrName>
                                          <p:attrName>ppt_y</p:attrName>
                                        </p:attrNameLst>
                                      </p:cBhvr>
                                      <p:rCtr x="33411" y="0"/>
                                    </p:animMotion>
                                  </p:childTnLst>
                                </p:cTn>
                              </p:par>
                              <p:par>
                                <p:cTn id="19" presetID="42" presetClass="path" presetSubtype="0" repeatCount="3000" fill="hold" grpId="0" nodeType="withEffect">
                                  <p:stCondLst>
                                    <p:cond delay="1000"/>
                                  </p:stCondLst>
                                  <p:childTnLst>
                                    <p:animMotion origin="layout" path="M -8.33333E-7 1.11111E-6 L 0.66823 1.11111E-6 " pathEditMode="relative" rAng="0" ptsTypes="AA">
                                      <p:cBhvr>
                                        <p:cTn id="20" dur="3250" fill="hold"/>
                                        <p:tgtEl>
                                          <p:spTgt spid="27"/>
                                        </p:tgtEl>
                                        <p:attrNameLst>
                                          <p:attrName>ppt_x</p:attrName>
                                          <p:attrName>ppt_y</p:attrName>
                                        </p:attrNameLst>
                                      </p:cBhvr>
                                      <p:rCtr x="33411"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989BBE4-38CA-4FFB-B9AA-E0BBB2AB22B7}"/>
              </a:ext>
            </a:extLst>
          </p:cNvPr>
          <p:cNvSpPr/>
          <p:nvPr/>
        </p:nvSpPr>
        <p:spPr>
          <a:xfrm>
            <a:off x="254906" y="1887113"/>
            <a:ext cx="11937094" cy="4247317"/>
          </a:xfrm>
          <a:prstGeom prst="rect">
            <a:avLst/>
          </a:prstGeom>
        </p:spPr>
        <p:txBody>
          <a:bodyPr wrap="square">
            <a:spAutoFit/>
          </a:bodyPr>
          <a:lstStyle/>
          <a:p>
            <a:r>
              <a:rPr lang="en-GB" dirty="0">
                <a:latin typeface="Calibri" panose="020F0502020204030204" pitchFamily="34" charset="0"/>
                <a:ea typeface="Calibri" panose="020F0502020204030204" pitchFamily="34" charset="0"/>
                <a:cs typeface="Times New Roman" panose="02020603050405020304" pitchFamily="18" charset="0"/>
              </a:rPr>
              <a:t>The direction that data is allowed to travel via a cable can be described in one of three ways:</a:t>
            </a:r>
          </a:p>
          <a:p>
            <a:pPr marL="74295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Simplex</a:t>
            </a:r>
            <a:r>
              <a:rPr lang="en-GB" dirty="0">
                <a:latin typeface="Calibri" panose="020F0502020204030204" pitchFamily="34" charset="0"/>
                <a:ea typeface="Calibri" panose="020F0502020204030204" pitchFamily="34" charset="0"/>
                <a:cs typeface="Times New Roman" panose="02020603050405020304" pitchFamily="18" charset="0"/>
              </a:rPr>
              <a:t>: One direction.</a:t>
            </a:r>
          </a:p>
          <a:p>
            <a:pPr marL="74295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Half-duplex:</a:t>
            </a:r>
            <a:r>
              <a:rPr lang="en-GB" dirty="0">
                <a:latin typeface="Calibri" panose="020F0502020204030204" pitchFamily="34" charset="0"/>
                <a:ea typeface="Calibri" panose="020F0502020204030204" pitchFamily="34" charset="0"/>
                <a:cs typeface="Times New Roman" panose="02020603050405020304" pitchFamily="18" charset="0"/>
              </a:rPr>
              <a:t> Both directions, but not at the same time.</a:t>
            </a:r>
          </a:p>
          <a:p>
            <a:pPr marL="74295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Full-duplex:</a:t>
            </a:r>
            <a:r>
              <a:rPr lang="en-GB" dirty="0">
                <a:latin typeface="Calibri" panose="020F0502020204030204" pitchFamily="34" charset="0"/>
                <a:ea typeface="Calibri" panose="020F0502020204030204" pitchFamily="34" charset="0"/>
                <a:cs typeface="Times New Roman" panose="02020603050405020304" pitchFamily="18" charset="0"/>
              </a:rPr>
              <a:t> Both directions at the same time.</a:t>
            </a:r>
          </a:p>
          <a:p>
            <a:endParaRPr lang="en-GB" dirty="0">
              <a:latin typeface="Calibri" panose="020F0502020204030204" pitchFamily="34" charset="0"/>
              <a:ea typeface="Calibri" panose="020F0502020204030204" pitchFamily="34" charset="0"/>
              <a:cs typeface="Times New Roman" panose="02020603050405020304" pitchFamily="18" charset="0"/>
            </a:endParaRPr>
          </a:p>
          <a:p>
            <a:r>
              <a:rPr lang="en-GB" dirty="0">
                <a:latin typeface="Calibri" panose="020F0502020204030204" pitchFamily="34" charset="0"/>
                <a:ea typeface="Calibri" panose="020F0502020204030204" pitchFamily="34" charset="0"/>
                <a:cs typeface="Times New Roman" panose="02020603050405020304" pitchFamily="18" charset="0"/>
              </a:rPr>
              <a:t>Along with the direction of data transmission, data can also be sent via </a:t>
            </a:r>
            <a:r>
              <a:rPr lang="en-GB" b="1" dirty="0">
                <a:latin typeface="Calibri" panose="020F0502020204030204" pitchFamily="34" charset="0"/>
                <a:ea typeface="Calibri" panose="020F0502020204030204" pitchFamily="34" charset="0"/>
                <a:cs typeface="Times New Roman" panose="02020603050405020304" pitchFamily="18" charset="0"/>
              </a:rPr>
              <a:t>serial</a:t>
            </a:r>
            <a:r>
              <a:rPr lang="en-GB" dirty="0">
                <a:latin typeface="Calibri" panose="020F0502020204030204" pitchFamily="34" charset="0"/>
                <a:ea typeface="Calibri" panose="020F0502020204030204" pitchFamily="34" charset="0"/>
                <a:cs typeface="Times New Roman" panose="02020603050405020304" pitchFamily="18" charset="0"/>
              </a:rPr>
              <a:t> or </a:t>
            </a:r>
            <a:r>
              <a:rPr lang="en-GB" b="1" dirty="0">
                <a:latin typeface="Calibri" panose="020F0502020204030204" pitchFamily="34" charset="0"/>
                <a:ea typeface="Calibri" panose="020F0502020204030204" pitchFamily="34" charset="0"/>
                <a:cs typeface="Times New Roman" panose="02020603050405020304" pitchFamily="18" charset="0"/>
              </a:rPr>
              <a:t>parallel </a:t>
            </a:r>
            <a:r>
              <a:rPr lang="en-GB" dirty="0">
                <a:latin typeface="Calibri" panose="020F0502020204030204" pitchFamily="34" charset="0"/>
                <a:ea typeface="Calibri" panose="020F0502020204030204" pitchFamily="34" charset="0"/>
                <a:cs typeface="Times New Roman" panose="02020603050405020304" pitchFamily="18" charset="0"/>
              </a:rPr>
              <a:t>transmission.</a:t>
            </a:r>
          </a:p>
          <a:p>
            <a:pPr marL="74295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Serial transmission: </a:t>
            </a:r>
            <a:r>
              <a:rPr lang="en-GB" dirty="0">
                <a:latin typeface="Calibri" panose="020F0502020204030204" pitchFamily="34" charset="0"/>
                <a:ea typeface="Calibri" panose="020F0502020204030204" pitchFamily="34" charset="0"/>
                <a:cs typeface="Times New Roman" panose="02020603050405020304" pitchFamily="18" charset="0"/>
              </a:rPr>
              <a:t>Data bits are sent one at a time via a single cable.</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Lower interference than parallel.</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More reliable over longer distances.</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Cheaper to set up.</a:t>
            </a:r>
          </a:p>
          <a:p>
            <a:pPr marL="742950" lvl="1" indent="-285750">
              <a:buFont typeface="Arial" panose="020B0604020202020204" pitchFamily="34" charset="0"/>
              <a:buChar char="•"/>
            </a:pPr>
            <a:r>
              <a:rPr lang="en-GB" b="1" dirty="0">
                <a:latin typeface="Calibri" panose="020F0502020204030204" pitchFamily="34" charset="0"/>
                <a:ea typeface="Calibri" panose="020F0502020204030204" pitchFamily="34" charset="0"/>
                <a:cs typeface="Times New Roman" panose="02020603050405020304" pitchFamily="18" charset="0"/>
              </a:rPr>
              <a:t>Parallel transmission: </a:t>
            </a:r>
            <a:r>
              <a:rPr lang="en-GB" dirty="0">
                <a:latin typeface="Calibri" panose="020F0502020204030204" pitchFamily="34" charset="0"/>
                <a:ea typeface="Calibri" panose="020F0502020204030204" pitchFamily="34" charset="0"/>
                <a:cs typeface="Times New Roman" panose="02020603050405020304" pitchFamily="18" charset="0"/>
              </a:rPr>
              <a:t>Several bits of data can be sent simultaneously via a series of cables.</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More prone to interference.</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Data may arrive out of order – known as </a:t>
            </a:r>
            <a:r>
              <a:rPr lang="en-GB" i="1" dirty="0">
                <a:latin typeface="Calibri" panose="020F0502020204030204" pitchFamily="34" charset="0"/>
                <a:ea typeface="Calibri" panose="020F0502020204030204" pitchFamily="34" charset="0"/>
                <a:cs typeface="Times New Roman" panose="02020603050405020304" pitchFamily="18" charset="0"/>
              </a:rPr>
              <a:t>skew</a:t>
            </a:r>
            <a:r>
              <a:rPr lang="en-GB" dirty="0">
                <a:latin typeface="Calibri" panose="020F0502020204030204" pitchFamily="34" charset="0"/>
                <a:ea typeface="Calibri" panose="020F0502020204030204" pitchFamily="34" charset="0"/>
                <a:cs typeface="Times New Roman" panose="02020603050405020304" pitchFamily="18" charset="0"/>
              </a:rPr>
              <a:t>.</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Limited to very short distances.</a:t>
            </a:r>
          </a:p>
          <a:p>
            <a:pPr marL="1200150" lvl="2" indent="-285750">
              <a:buFont typeface="Courier New" panose="02070309020205020404" pitchFamily="49" charset="0"/>
              <a:buChar char="o"/>
            </a:pPr>
            <a:r>
              <a:rPr lang="en-GB" dirty="0">
                <a:latin typeface="Calibri" panose="020F0502020204030204" pitchFamily="34" charset="0"/>
                <a:ea typeface="Calibri" panose="020F0502020204030204" pitchFamily="34" charset="0"/>
                <a:cs typeface="Times New Roman" panose="02020603050405020304" pitchFamily="18" charset="0"/>
              </a:rPr>
              <a:t>Very fast data transfer.</a:t>
            </a:r>
          </a:p>
        </p:txBody>
      </p:sp>
      <p:sp>
        <p:nvSpPr>
          <p:cNvPr id="6" name="Rectangle 5">
            <a:extLst>
              <a:ext uri="{FF2B5EF4-FFF2-40B4-BE49-F238E27FC236}">
                <a16:creationId xmlns:a16="http://schemas.microsoft.com/office/drawing/2014/main" id="{50213629-B856-4319-B482-ECBCD25E2D9C}"/>
              </a:ext>
            </a:extLst>
          </p:cNvPr>
          <p:cNvSpPr/>
          <p:nvPr/>
        </p:nvSpPr>
        <p:spPr>
          <a:xfrm>
            <a:off x="1368341" y="523174"/>
            <a:ext cx="5293715" cy="470000"/>
          </a:xfrm>
          <a:prstGeom prst="rect">
            <a:avLst/>
          </a:prstGeom>
        </p:spPr>
        <p:txBody>
          <a:bodyPr wrap="square">
            <a:spAutoFit/>
          </a:bodyPr>
          <a:lstStyle/>
          <a:p>
            <a:pPr>
              <a:lnSpc>
                <a:spcPct val="107000"/>
              </a:lnSpc>
              <a:spcAft>
                <a:spcPts val="800"/>
              </a:spcAft>
            </a:pPr>
            <a:r>
              <a:rPr lang="en-GB" sz="24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rPr>
              <a:t>Data transmission methods</a:t>
            </a:r>
            <a:endParaRPr lang="en-GB" sz="1200" dirty="0">
              <a:solidFill>
                <a:schemeClr val="accent2">
                  <a:lumMod val="75000"/>
                </a:schemeClr>
              </a:solidFill>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2" descr="make_notes">
            <a:extLst>
              <a:ext uri="{FF2B5EF4-FFF2-40B4-BE49-F238E27FC236}">
                <a16:creationId xmlns:a16="http://schemas.microsoft.com/office/drawing/2014/main" id="{32C46DFD-DD33-41EB-8F26-953F6E7C1718}"/>
              </a:ext>
            </a:extLst>
          </p:cNvPr>
          <p:cNvPicPr>
            <a:picLocks noChangeAspect="1" noChangeArrowheads="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254906" y="611347"/>
            <a:ext cx="1113436" cy="11134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31512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82947853-E1EE-4D77-9DC1-BD14C2A8064E}"/>
              </a:ext>
            </a:extLst>
          </p:cNvPr>
          <p:cNvPicPr>
            <a:picLocks noChangeAspect="1"/>
          </p:cNvPicPr>
          <p:nvPr/>
        </p:nvPicPr>
        <p:blipFill>
          <a:blip r:embed="rId2"/>
          <a:stretch>
            <a:fillRect/>
          </a:stretch>
        </p:blipFill>
        <p:spPr>
          <a:xfrm>
            <a:off x="-47625" y="-28575"/>
            <a:ext cx="12239625" cy="6886575"/>
          </a:xfrm>
          <a:prstGeom prst="rect">
            <a:avLst/>
          </a:prstGeom>
        </p:spPr>
      </p:pic>
    </p:spTree>
    <p:extLst>
      <p:ext uri="{BB962C8B-B14F-4D97-AF65-F5344CB8AC3E}">
        <p14:creationId xmlns:p14="http://schemas.microsoft.com/office/powerpoint/2010/main" val="381486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1105</TotalTime>
  <Words>695</Words>
  <Application>Microsoft Office PowerPoint</Application>
  <PresentationFormat>Widescreen</PresentationFormat>
  <Paragraphs>94</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Calibri Light</vt:lpstr>
      <vt:lpstr>Century Gothic</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Craig Sargent</dc:creator>
  <cp:lastModifiedBy>Craig Sargent</cp:lastModifiedBy>
  <cp:revision>125</cp:revision>
  <dcterms:created xsi:type="dcterms:W3CDTF">2019-10-14T15:21:06Z</dcterms:created>
  <dcterms:modified xsi:type="dcterms:W3CDTF">2022-05-16T14:11:44Z</dcterms:modified>
</cp:coreProperties>
</file>