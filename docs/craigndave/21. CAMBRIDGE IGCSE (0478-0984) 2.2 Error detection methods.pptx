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7" r:id="rId2"/>
    <p:sldId id="267" r:id="rId3"/>
    <p:sldId id="265" r:id="rId4"/>
    <p:sldId id="268" r:id="rId5"/>
    <p:sldId id="273" r:id="rId6"/>
    <p:sldId id="271" r:id="rId7"/>
    <p:sldId id="270" r:id="rId8"/>
    <p:sldId id="272" r:id="rId9"/>
    <p:sldId id="266" r:id="rId10"/>
    <p:sldId id="274" r:id="rId11"/>
    <p:sldId id="275" r:id="rId12"/>
    <p:sldId id="277" r:id="rId13"/>
    <p:sldId id="278" r:id="rId14"/>
    <p:sldId id="279" r:id="rId15"/>
    <p:sldId id="276" r:id="rId16"/>
    <p:sldId id="281" r:id="rId17"/>
    <p:sldId id="282" r:id="rId18"/>
    <p:sldId id="283" r:id="rId19"/>
    <p:sldId id="284" r:id="rId20"/>
    <p:sldId id="280" r:id="rId21"/>
    <p:sldId id="285" r:id="rId22"/>
    <p:sldId id="286" r:id="rId23"/>
    <p:sldId id="287" r:id="rId24"/>
    <p:sldId id="260" r:id="rId25"/>
    <p:sldId id="29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4500"/>
    <a:srgbClr val="AE5800"/>
    <a:srgbClr val="AB6E00"/>
    <a:srgbClr val="AE8B45"/>
    <a:srgbClr val="F26521"/>
    <a:srgbClr val="FFFFFF"/>
    <a:srgbClr val="0087B1"/>
    <a:srgbClr val="000956"/>
    <a:srgbClr val="99E265"/>
    <a:srgbClr val="008C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45" autoAdjust="0"/>
    <p:restoredTop sz="96323" autoAdjust="0"/>
  </p:normalViewPr>
  <p:slideViewPr>
    <p:cSldViewPr snapToGrid="0">
      <p:cViewPr varScale="1">
        <p:scale>
          <a:sx n="109" d="100"/>
          <a:sy n="109" d="100"/>
        </p:scale>
        <p:origin x="288" y="108"/>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6" d="100"/>
          <a:sy n="86" d="100"/>
        </p:scale>
        <p:origin x="34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D0488D-22BD-4CA9-985A-E5B07765AAF4}" type="doc">
      <dgm:prSet loTypeId="urn:microsoft.com/office/officeart/2011/layout/HexagonRadial" loCatId="cycle" qsTypeId="urn:microsoft.com/office/officeart/2005/8/quickstyle/simple1" qsCatId="simple" csTypeId="urn:microsoft.com/office/officeart/2005/8/colors/colorful3" csCatId="colorful" phldr="1"/>
      <dgm:spPr/>
      <dgm:t>
        <a:bodyPr/>
        <a:lstStyle/>
        <a:p>
          <a:endParaRPr lang="en-GB"/>
        </a:p>
      </dgm:t>
    </dgm:pt>
    <dgm:pt modelId="{919C5CE8-B414-41AF-927B-95882AF2110D}">
      <dgm:prSet phldrT="[Text]"/>
      <dgm:spPr/>
      <dgm:t>
        <a:bodyPr/>
        <a:lstStyle/>
        <a:p>
          <a:r>
            <a:rPr lang="en-GB" dirty="0"/>
            <a:t>Error detection methods</a:t>
          </a:r>
        </a:p>
      </dgm:t>
    </dgm:pt>
    <dgm:pt modelId="{CA0DE188-0C25-433D-ABE8-AEA0619854E4}" type="parTrans" cxnId="{E1239480-B3A2-4ED8-AFC1-95082D2A2572}">
      <dgm:prSet/>
      <dgm:spPr/>
      <dgm:t>
        <a:bodyPr/>
        <a:lstStyle/>
        <a:p>
          <a:endParaRPr lang="en-GB"/>
        </a:p>
      </dgm:t>
    </dgm:pt>
    <dgm:pt modelId="{7DB09D2D-849B-479F-9878-B37AB84081B3}" type="sibTrans" cxnId="{E1239480-B3A2-4ED8-AFC1-95082D2A2572}">
      <dgm:prSet/>
      <dgm:spPr/>
      <dgm:t>
        <a:bodyPr/>
        <a:lstStyle/>
        <a:p>
          <a:endParaRPr lang="en-GB"/>
        </a:p>
      </dgm:t>
    </dgm:pt>
    <dgm:pt modelId="{040B2368-3E01-4126-9276-2CCA3A101561}">
      <dgm:prSet phldrT="[Text]"/>
      <dgm:spPr>
        <a:solidFill>
          <a:srgbClr val="AB6E00"/>
        </a:solidFill>
        <a:effectLst>
          <a:glow rad="228600">
            <a:schemeClr val="accent4">
              <a:satMod val="175000"/>
              <a:alpha val="40000"/>
            </a:schemeClr>
          </a:glow>
        </a:effectLst>
      </dgm:spPr>
      <dgm:t>
        <a:bodyPr/>
        <a:lstStyle/>
        <a:p>
          <a:r>
            <a:rPr lang="en-GB" dirty="0"/>
            <a:t>Parity block checks</a:t>
          </a:r>
        </a:p>
      </dgm:t>
    </dgm:pt>
    <dgm:pt modelId="{0902515E-8102-4DB8-8A3A-BA0FFEAD39B1}" type="parTrans" cxnId="{299F5E1C-53A7-4754-9671-50E02868989A}">
      <dgm:prSet/>
      <dgm:spPr/>
      <dgm:t>
        <a:bodyPr/>
        <a:lstStyle/>
        <a:p>
          <a:endParaRPr lang="en-GB"/>
        </a:p>
      </dgm:t>
    </dgm:pt>
    <dgm:pt modelId="{786DFEB2-C0BC-4DA7-B51F-4EDBE263CF8F}" type="sibTrans" cxnId="{299F5E1C-53A7-4754-9671-50E02868989A}">
      <dgm:prSet/>
      <dgm:spPr/>
      <dgm:t>
        <a:bodyPr/>
        <a:lstStyle/>
        <a:p>
          <a:endParaRPr lang="en-GB"/>
        </a:p>
      </dgm:t>
    </dgm:pt>
    <dgm:pt modelId="{75EF59C2-CC19-4B16-A10A-23D047A8DAD2}">
      <dgm:prSet phldrT="[Text]"/>
      <dgm:spPr>
        <a:solidFill>
          <a:srgbClr val="B14500"/>
        </a:solidFill>
        <a:effectLst>
          <a:glow rad="228600">
            <a:schemeClr val="accent4">
              <a:satMod val="175000"/>
              <a:alpha val="40000"/>
            </a:schemeClr>
          </a:glow>
        </a:effectLst>
      </dgm:spPr>
      <dgm:t>
        <a:bodyPr/>
        <a:lstStyle/>
        <a:p>
          <a:r>
            <a:rPr lang="en-GB" dirty="0"/>
            <a:t>Echo checks</a:t>
          </a:r>
        </a:p>
      </dgm:t>
    </dgm:pt>
    <dgm:pt modelId="{BC752785-96F8-4899-8A9D-EB1E902E813E}" type="parTrans" cxnId="{7C80647D-E11E-428F-A83D-70B986637D66}">
      <dgm:prSet/>
      <dgm:spPr/>
      <dgm:t>
        <a:bodyPr/>
        <a:lstStyle/>
        <a:p>
          <a:endParaRPr lang="en-GB"/>
        </a:p>
      </dgm:t>
    </dgm:pt>
    <dgm:pt modelId="{7550F32F-80C5-4640-96FE-8FE2D600ECF8}" type="sibTrans" cxnId="{7C80647D-E11E-428F-A83D-70B986637D66}">
      <dgm:prSet/>
      <dgm:spPr/>
      <dgm:t>
        <a:bodyPr/>
        <a:lstStyle/>
        <a:p>
          <a:endParaRPr lang="en-GB"/>
        </a:p>
      </dgm:t>
    </dgm:pt>
    <dgm:pt modelId="{0752BC48-DB13-4DDC-9BAB-6854E2D5B281}">
      <dgm:prSet phldrT="[Text]"/>
      <dgm:spPr>
        <a:solidFill>
          <a:schemeClr val="bg1">
            <a:lumMod val="75000"/>
          </a:schemeClr>
        </a:solidFill>
      </dgm:spPr>
      <dgm:t>
        <a:bodyPr/>
        <a:lstStyle/>
        <a:p>
          <a:r>
            <a:rPr lang="en-GB" dirty="0"/>
            <a:t>Automatic Repeat Query (ARQ)</a:t>
          </a:r>
        </a:p>
      </dgm:t>
    </dgm:pt>
    <dgm:pt modelId="{BBFCB234-50DB-49BA-B051-380CFF37CDE6}" type="parTrans" cxnId="{58CA98B2-7210-4EB9-A1C0-63E0825AA747}">
      <dgm:prSet/>
      <dgm:spPr/>
      <dgm:t>
        <a:bodyPr/>
        <a:lstStyle/>
        <a:p>
          <a:endParaRPr lang="en-GB"/>
        </a:p>
      </dgm:t>
    </dgm:pt>
    <dgm:pt modelId="{29E97963-E002-449C-B1B7-CBEC9640B378}" type="sibTrans" cxnId="{58CA98B2-7210-4EB9-A1C0-63E0825AA747}">
      <dgm:prSet/>
      <dgm:spPr/>
      <dgm:t>
        <a:bodyPr/>
        <a:lstStyle/>
        <a:p>
          <a:endParaRPr lang="en-GB"/>
        </a:p>
      </dgm:t>
    </dgm:pt>
    <dgm:pt modelId="{769CBA96-085A-48FC-B7FA-8FB5C75DD7C6}">
      <dgm:prSet phldrT="[Text]"/>
      <dgm:spPr>
        <a:solidFill>
          <a:srgbClr val="AE8B45"/>
        </a:solidFill>
        <a:effectLst>
          <a:glow rad="228600">
            <a:schemeClr val="accent4">
              <a:satMod val="175000"/>
              <a:alpha val="40000"/>
            </a:schemeClr>
          </a:glow>
        </a:effectLst>
      </dgm:spPr>
      <dgm:t>
        <a:bodyPr/>
        <a:lstStyle/>
        <a:p>
          <a:r>
            <a:rPr lang="en-GB" dirty="0"/>
            <a:t>Parity checks</a:t>
          </a:r>
        </a:p>
      </dgm:t>
    </dgm:pt>
    <dgm:pt modelId="{AF30B337-5D57-4131-96B0-D1C008911840}" type="parTrans" cxnId="{DFADC5CD-F62D-4F7C-885A-8C61FD5B813E}">
      <dgm:prSet/>
      <dgm:spPr/>
      <dgm:t>
        <a:bodyPr/>
        <a:lstStyle/>
        <a:p>
          <a:endParaRPr lang="en-GB"/>
        </a:p>
      </dgm:t>
    </dgm:pt>
    <dgm:pt modelId="{B26669B6-B8DB-4361-9C84-4EBD5C41AD2F}" type="sibTrans" cxnId="{DFADC5CD-F62D-4F7C-885A-8C61FD5B813E}">
      <dgm:prSet/>
      <dgm:spPr/>
      <dgm:t>
        <a:bodyPr/>
        <a:lstStyle/>
        <a:p>
          <a:endParaRPr lang="en-GB"/>
        </a:p>
      </dgm:t>
    </dgm:pt>
    <dgm:pt modelId="{09A80FB5-0E92-4EFF-8215-71778E9BFF84}">
      <dgm:prSet phldrT="[Text]"/>
      <dgm:spPr>
        <a:solidFill>
          <a:srgbClr val="AE5800"/>
        </a:solidFill>
        <a:effectLst>
          <a:glow rad="228600">
            <a:schemeClr val="accent4">
              <a:satMod val="175000"/>
              <a:alpha val="40000"/>
            </a:schemeClr>
          </a:glow>
        </a:effectLst>
      </dgm:spPr>
      <dgm:t>
        <a:bodyPr/>
        <a:lstStyle/>
        <a:p>
          <a:r>
            <a:rPr lang="en-GB"/>
            <a:t>Checksums</a:t>
          </a:r>
          <a:endParaRPr lang="en-GB" dirty="0"/>
        </a:p>
      </dgm:t>
    </dgm:pt>
    <dgm:pt modelId="{EF0CC4C7-F2EF-49E9-929C-BDDCF8FC2E86}" type="parTrans" cxnId="{23CAFBC3-493B-432F-959E-3B4E186E9150}">
      <dgm:prSet/>
      <dgm:spPr/>
      <dgm:t>
        <a:bodyPr/>
        <a:lstStyle/>
        <a:p>
          <a:endParaRPr lang="en-GB"/>
        </a:p>
      </dgm:t>
    </dgm:pt>
    <dgm:pt modelId="{2E029C52-F291-4C8B-A876-DF964AF3C24C}" type="sibTrans" cxnId="{23CAFBC3-493B-432F-959E-3B4E186E9150}">
      <dgm:prSet/>
      <dgm:spPr/>
      <dgm:t>
        <a:bodyPr/>
        <a:lstStyle/>
        <a:p>
          <a:endParaRPr lang="en-GB"/>
        </a:p>
      </dgm:t>
    </dgm:pt>
    <dgm:pt modelId="{8AA6BF2D-3B73-41DC-8D52-69FA1B09DF76}">
      <dgm:prSet phldrT="[Text]"/>
      <dgm:spPr>
        <a:solidFill>
          <a:schemeClr val="bg1">
            <a:lumMod val="75000"/>
          </a:schemeClr>
        </a:solidFill>
      </dgm:spPr>
      <dgm:t>
        <a:bodyPr/>
        <a:lstStyle/>
        <a:p>
          <a:r>
            <a:rPr lang="en-GB" dirty="0"/>
            <a:t>Check digits</a:t>
          </a:r>
        </a:p>
      </dgm:t>
    </dgm:pt>
    <dgm:pt modelId="{364E6E36-27C4-4D89-BB26-5F58B76169AE}" type="parTrans" cxnId="{2A0ED639-F5E5-49DB-9837-C0D97B9DCB2F}">
      <dgm:prSet/>
      <dgm:spPr/>
      <dgm:t>
        <a:bodyPr/>
        <a:lstStyle/>
        <a:p>
          <a:endParaRPr lang="en-GB"/>
        </a:p>
      </dgm:t>
    </dgm:pt>
    <dgm:pt modelId="{DB4D82C9-697A-4698-B264-B839443395A2}" type="sibTrans" cxnId="{2A0ED639-F5E5-49DB-9837-C0D97B9DCB2F}">
      <dgm:prSet/>
      <dgm:spPr/>
      <dgm:t>
        <a:bodyPr/>
        <a:lstStyle/>
        <a:p>
          <a:endParaRPr lang="en-GB"/>
        </a:p>
      </dgm:t>
    </dgm:pt>
    <dgm:pt modelId="{D97D9760-F010-4218-9608-7DC980288E64}" type="pres">
      <dgm:prSet presAssocID="{18D0488D-22BD-4CA9-985A-E5B07765AAF4}" presName="Name0" presStyleCnt="0">
        <dgm:presLayoutVars>
          <dgm:chMax val="1"/>
          <dgm:chPref val="1"/>
          <dgm:dir/>
          <dgm:animOne val="branch"/>
          <dgm:animLvl val="lvl"/>
        </dgm:presLayoutVars>
      </dgm:prSet>
      <dgm:spPr/>
    </dgm:pt>
    <dgm:pt modelId="{84F9B16B-0BAB-40A6-A610-7B601D9264DD}" type="pres">
      <dgm:prSet presAssocID="{919C5CE8-B414-41AF-927B-95882AF2110D}" presName="Parent" presStyleLbl="node0" presStyleIdx="0" presStyleCnt="1">
        <dgm:presLayoutVars>
          <dgm:chMax val="6"/>
          <dgm:chPref val="6"/>
        </dgm:presLayoutVars>
      </dgm:prSet>
      <dgm:spPr/>
    </dgm:pt>
    <dgm:pt modelId="{7E6E0EE9-D667-43C4-8BB0-E55775F800FC}" type="pres">
      <dgm:prSet presAssocID="{769CBA96-085A-48FC-B7FA-8FB5C75DD7C6}" presName="Accent1" presStyleCnt="0"/>
      <dgm:spPr/>
    </dgm:pt>
    <dgm:pt modelId="{041F3DEC-4B94-44FD-BDB9-ED1977E14C7A}" type="pres">
      <dgm:prSet presAssocID="{769CBA96-085A-48FC-B7FA-8FB5C75DD7C6}" presName="Accent" presStyleLbl="bgShp" presStyleIdx="0" presStyleCnt="6"/>
      <dgm:spPr/>
    </dgm:pt>
    <dgm:pt modelId="{1F58B3E5-5A09-4C13-A6FE-AECD8D5FC4F8}" type="pres">
      <dgm:prSet presAssocID="{769CBA96-085A-48FC-B7FA-8FB5C75DD7C6}" presName="Child1" presStyleLbl="node1" presStyleIdx="0" presStyleCnt="6">
        <dgm:presLayoutVars>
          <dgm:chMax val="0"/>
          <dgm:chPref val="0"/>
          <dgm:bulletEnabled val="1"/>
        </dgm:presLayoutVars>
      </dgm:prSet>
      <dgm:spPr/>
    </dgm:pt>
    <dgm:pt modelId="{8EFDD72C-1548-4762-BC42-46EB49E7739A}" type="pres">
      <dgm:prSet presAssocID="{040B2368-3E01-4126-9276-2CCA3A101561}" presName="Accent2" presStyleCnt="0"/>
      <dgm:spPr/>
    </dgm:pt>
    <dgm:pt modelId="{F3B4FAA7-CA66-4041-8B09-F234530EBCCE}" type="pres">
      <dgm:prSet presAssocID="{040B2368-3E01-4126-9276-2CCA3A101561}" presName="Accent" presStyleLbl="bgShp" presStyleIdx="1" presStyleCnt="6"/>
      <dgm:spPr>
        <a:solidFill>
          <a:schemeClr val="bg1"/>
        </a:solidFill>
      </dgm:spPr>
    </dgm:pt>
    <dgm:pt modelId="{B801A17B-74A4-49F2-B90E-3F8518C33F0B}" type="pres">
      <dgm:prSet presAssocID="{040B2368-3E01-4126-9276-2CCA3A101561}" presName="Child2" presStyleLbl="node1" presStyleIdx="1" presStyleCnt="6">
        <dgm:presLayoutVars>
          <dgm:chMax val="0"/>
          <dgm:chPref val="0"/>
          <dgm:bulletEnabled val="1"/>
        </dgm:presLayoutVars>
      </dgm:prSet>
      <dgm:spPr/>
    </dgm:pt>
    <dgm:pt modelId="{2E74054B-344A-4A3E-9716-695823CDB137}" type="pres">
      <dgm:prSet presAssocID="{09A80FB5-0E92-4EFF-8215-71778E9BFF84}" presName="Accent3" presStyleCnt="0"/>
      <dgm:spPr/>
    </dgm:pt>
    <dgm:pt modelId="{DA20A7DC-4FEB-4655-85FA-0F66BF166CEE}" type="pres">
      <dgm:prSet presAssocID="{09A80FB5-0E92-4EFF-8215-71778E9BFF84}" presName="Accent" presStyleLbl="bgShp" presStyleIdx="2" presStyleCnt="6"/>
      <dgm:spPr>
        <a:solidFill>
          <a:schemeClr val="bg1"/>
        </a:solidFill>
      </dgm:spPr>
    </dgm:pt>
    <dgm:pt modelId="{F14ECAA3-10D9-46A5-85F4-3581FC91D95F}" type="pres">
      <dgm:prSet presAssocID="{09A80FB5-0E92-4EFF-8215-71778E9BFF84}" presName="Child3" presStyleLbl="node1" presStyleIdx="2" presStyleCnt="6">
        <dgm:presLayoutVars>
          <dgm:chMax val="0"/>
          <dgm:chPref val="0"/>
          <dgm:bulletEnabled val="1"/>
        </dgm:presLayoutVars>
      </dgm:prSet>
      <dgm:spPr/>
    </dgm:pt>
    <dgm:pt modelId="{36659F0C-5028-42DC-BCAF-25B50BFC8CA1}" type="pres">
      <dgm:prSet presAssocID="{75EF59C2-CC19-4B16-A10A-23D047A8DAD2}" presName="Accent4" presStyleCnt="0"/>
      <dgm:spPr/>
    </dgm:pt>
    <dgm:pt modelId="{F7CD388A-2FCD-437C-A9F1-5B99252453A9}" type="pres">
      <dgm:prSet presAssocID="{75EF59C2-CC19-4B16-A10A-23D047A8DAD2}" presName="Accent" presStyleLbl="bgShp" presStyleIdx="3" presStyleCnt="6"/>
      <dgm:spPr>
        <a:solidFill>
          <a:schemeClr val="bg1"/>
        </a:solidFill>
      </dgm:spPr>
    </dgm:pt>
    <dgm:pt modelId="{9E90ECDE-7F91-4F01-84E5-92E04784A594}" type="pres">
      <dgm:prSet presAssocID="{75EF59C2-CC19-4B16-A10A-23D047A8DAD2}" presName="Child4" presStyleLbl="node1" presStyleIdx="3" presStyleCnt="6">
        <dgm:presLayoutVars>
          <dgm:chMax val="0"/>
          <dgm:chPref val="0"/>
          <dgm:bulletEnabled val="1"/>
        </dgm:presLayoutVars>
      </dgm:prSet>
      <dgm:spPr/>
    </dgm:pt>
    <dgm:pt modelId="{B842FF43-0C28-4F76-AFDF-E01EEBC104BB}" type="pres">
      <dgm:prSet presAssocID="{8AA6BF2D-3B73-41DC-8D52-69FA1B09DF76}" presName="Accent5" presStyleCnt="0"/>
      <dgm:spPr/>
    </dgm:pt>
    <dgm:pt modelId="{B98BB02D-851D-4987-A52A-C45BCFD404A5}" type="pres">
      <dgm:prSet presAssocID="{8AA6BF2D-3B73-41DC-8D52-69FA1B09DF76}" presName="Accent" presStyleLbl="bgShp" presStyleIdx="4" presStyleCnt="6"/>
      <dgm:spPr>
        <a:solidFill>
          <a:schemeClr val="bg1"/>
        </a:solidFill>
      </dgm:spPr>
    </dgm:pt>
    <dgm:pt modelId="{CA284B41-8178-4E6E-9862-AA1F6BCB1DB5}" type="pres">
      <dgm:prSet presAssocID="{8AA6BF2D-3B73-41DC-8D52-69FA1B09DF76}" presName="Child5" presStyleLbl="node1" presStyleIdx="4" presStyleCnt="6">
        <dgm:presLayoutVars>
          <dgm:chMax val="0"/>
          <dgm:chPref val="0"/>
          <dgm:bulletEnabled val="1"/>
        </dgm:presLayoutVars>
      </dgm:prSet>
      <dgm:spPr/>
    </dgm:pt>
    <dgm:pt modelId="{384E803C-A0CA-4C6A-8B9F-CDC7131AD207}" type="pres">
      <dgm:prSet presAssocID="{0752BC48-DB13-4DDC-9BAB-6854E2D5B281}" presName="Accent6" presStyleCnt="0"/>
      <dgm:spPr/>
    </dgm:pt>
    <dgm:pt modelId="{D80F7589-4524-40CA-B36F-E782CF51CCD1}" type="pres">
      <dgm:prSet presAssocID="{0752BC48-DB13-4DDC-9BAB-6854E2D5B281}" presName="Accent" presStyleLbl="bgShp" presStyleIdx="5" presStyleCnt="6"/>
      <dgm:spPr>
        <a:solidFill>
          <a:schemeClr val="bg1"/>
        </a:solidFill>
      </dgm:spPr>
    </dgm:pt>
    <dgm:pt modelId="{096344C8-C7D9-4AC6-A701-CD9F2F9F4EEC}" type="pres">
      <dgm:prSet presAssocID="{0752BC48-DB13-4DDC-9BAB-6854E2D5B281}" presName="Child6" presStyleLbl="node1" presStyleIdx="5" presStyleCnt="6">
        <dgm:presLayoutVars>
          <dgm:chMax val="0"/>
          <dgm:chPref val="0"/>
          <dgm:bulletEnabled val="1"/>
        </dgm:presLayoutVars>
      </dgm:prSet>
      <dgm:spPr/>
    </dgm:pt>
  </dgm:ptLst>
  <dgm:cxnLst>
    <dgm:cxn modelId="{299F5E1C-53A7-4754-9671-50E02868989A}" srcId="{919C5CE8-B414-41AF-927B-95882AF2110D}" destId="{040B2368-3E01-4126-9276-2CCA3A101561}" srcOrd="1" destOrd="0" parTransId="{0902515E-8102-4DB8-8A3A-BA0FFEAD39B1}" sibTransId="{786DFEB2-C0BC-4DA7-B51F-4EDBE263CF8F}"/>
    <dgm:cxn modelId="{2A0ED639-F5E5-49DB-9837-C0D97B9DCB2F}" srcId="{919C5CE8-B414-41AF-927B-95882AF2110D}" destId="{8AA6BF2D-3B73-41DC-8D52-69FA1B09DF76}" srcOrd="4" destOrd="0" parTransId="{364E6E36-27C4-4D89-BB26-5F58B76169AE}" sibTransId="{DB4D82C9-697A-4698-B264-B839443395A2}"/>
    <dgm:cxn modelId="{95406960-33F5-4461-A362-4F146BD9556F}" type="presOf" srcId="{8AA6BF2D-3B73-41DC-8D52-69FA1B09DF76}" destId="{CA284B41-8178-4E6E-9862-AA1F6BCB1DB5}" srcOrd="0" destOrd="0" presId="urn:microsoft.com/office/officeart/2011/layout/HexagonRadial"/>
    <dgm:cxn modelId="{230D3968-FB53-4534-ACC8-C70D073585AF}" type="presOf" srcId="{769CBA96-085A-48FC-B7FA-8FB5C75DD7C6}" destId="{1F58B3E5-5A09-4C13-A6FE-AECD8D5FC4F8}" srcOrd="0" destOrd="0" presId="urn:microsoft.com/office/officeart/2011/layout/HexagonRadial"/>
    <dgm:cxn modelId="{38013673-648D-4471-A429-7ADF8F9F75D7}" type="presOf" srcId="{919C5CE8-B414-41AF-927B-95882AF2110D}" destId="{84F9B16B-0BAB-40A6-A610-7B601D9264DD}" srcOrd="0" destOrd="0" presId="urn:microsoft.com/office/officeart/2011/layout/HexagonRadial"/>
    <dgm:cxn modelId="{0F079859-BD47-4F97-8321-56138C3E07E6}" type="presOf" srcId="{18D0488D-22BD-4CA9-985A-E5B07765AAF4}" destId="{D97D9760-F010-4218-9608-7DC980288E64}" srcOrd="0" destOrd="0" presId="urn:microsoft.com/office/officeart/2011/layout/HexagonRadial"/>
    <dgm:cxn modelId="{7C80647D-E11E-428F-A83D-70B986637D66}" srcId="{919C5CE8-B414-41AF-927B-95882AF2110D}" destId="{75EF59C2-CC19-4B16-A10A-23D047A8DAD2}" srcOrd="3" destOrd="0" parTransId="{BC752785-96F8-4899-8A9D-EB1E902E813E}" sibTransId="{7550F32F-80C5-4640-96FE-8FE2D600ECF8}"/>
    <dgm:cxn modelId="{E1239480-B3A2-4ED8-AFC1-95082D2A2572}" srcId="{18D0488D-22BD-4CA9-985A-E5B07765AAF4}" destId="{919C5CE8-B414-41AF-927B-95882AF2110D}" srcOrd="0" destOrd="0" parTransId="{CA0DE188-0C25-433D-ABE8-AEA0619854E4}" sibTransId="{7DB09D2D-849B-479F-9878-B37AB84081B3}"/>
    <dgm:cxn modelId="{9BE00999-9E12-4B86-82BE-A27B6AFBB2C0}" type="presOf" srcId="{0752BC48-DB13-4DDC-9BAB-6854E2D5B281}" destId="{096344C8-C7D9-4AC6-A701-CD9F2F9F4EEC}" srcOrd="0" destOrd="0" presId="urn:microsoft.com/office/officeart/2011/layout/HexagonRadial"/>
    <dgm:cxn modelId="{58CA98B2-7210-4EB9-A1C0-63E0825AA747}" srcId="{919C5CE8-B414-41AF-927B-95882AF2110D}" destId="{0752BC48-DB13-4DDC-9BAB-6854E2D5B281}" srcOrd="5" destOrd="0" parTransId="{BBFCB234-50DB-49BA-B051-380CFF37CDE6}" sibTransId="{29E97963-E002-449C-B1B7-CBEC9640B378}"/>
    <dgm:cxn modelId="{31F6CCB6-B011-4C45-960C-2CE5ABFD0803}" type="presOf" srcId="{040B2368-3E01-4126-9276-2CCA3A101561}" destId="{B801A17B-74A4-49F2-B90E-3F8518C33F0B}" srcOrd="0" destOrd="0" presId="urn:microsoft.com/office/officeart/2011/layout/HexagonRadial"/>
    <dgm:cxn modelId="{23CAFBC3-493B-432F-959E-3B4E186E9150}" srcId="{919C5CE8-B414-41AF-927B-95882AF2110D}" destId="{09A80FB5-0E92-4EFF-8215-71778E9BFF84}" srcOrd="2" destOrd="0" parTransId="{EF0CC4C7-F2EF-49E9-929C-BDDCF8FC2E86}" sibTransId="{2E029C52-F291-4C8B-A876-DF964AF3C24C}"/>
    <dgm:cxn modelId="{DFADC5CD-F62D-4F7C-885A-8C61FD5B813E}" srcId="{919C5CE8-B414-41AF-927B-95882AF2110D}" destId="{769CBA96-085A-48FC-B7FA-8FB5C75DD7C6}" srcOrd="0" destOrd="0" parTransId="{AF30B337-5D57-4131-96B0-D1C008911840}" sibTransId="{B26669B6-B8DB-4361-9C84-4EBD5C41AD2F}"/>
    <dgm:cxn modelId="{F0877DDD-02FE-4CD6-97A2-80D491520BBE}" type="presOf" srcId="{09A80FB5-0E92-4EFF-8215-71778E9BFF84}" destId="{F14ECAA3-10D9-46A5-85F4-3581FC91D95F}" srcOrd="0" destOrd="0" presId="urn:microsoft.com/office/officeart/2011/layout/HexagonRadial"/>
    <dgm:cxn modelId="{4EFFBDFF-AB7A-4932-8EFD-09729B156420}" type="presOf" srcId="{75EF59C2-CC19-4B16-A10A-23D047A8DAD2}" destId="{9E90ECDE-7F91-4F01-84E5-92E04784A594}" srcOrd="0" destOrd="0" presId="urn:microsoft.com/office/officeart/2011/layout/HexagonRadial"/>
    <dgm:cxn modelId="{87445C82-48AF-45C5-8ADD-6628829DA723}" type="presParOf" srcId="{D97D9760-F010-4218-9608-7DC980288E64}" destId="{84F9B16B-0BAB-40A6-A610-7B601D9264DD}" srcOrd="0" destOrd="0" presId="urn:microsoft.com/office/officeart/2011/layout/HexagonRadial"/>
    <dgm:cxn modelId="{E339C5A0-1ED1-47F0-9919-FCAB598741BD}" type="presParOf" srcId="{D97D9760-F010-4218-9608-7DC980288E64}" destId="{7E6E0EE9-D667-43C4-8BB0-E55775F800FC}" srcOrd="1" destOrd="0" presId="urn:microsoft.com/office/officeart/2011/layout/HexagonRadial"/>
    <dgm:cxn modelId="{810D9686-C296-4425-B830-122EC3011A30}" type="presParOf" srcId="{7E6E0EE9-D667-43C4-8BB0-E55775F800FC}" destId="{041F3DEC-4B94-44FD-BDB9-ED1977E14C7A}" srcOrd="0" destOrd="0" presId="urn:microsoft.com/office/officeart/2011/layout/HexagonRadial"/>
    <dgm:cxn modelId="{AF1781D9-5CC3-49A1-9739-013F5BCA7487}" type="presParOf" srcId="{D97D9760-F010-4218-9608-7DC980288E64}" destId="{1F58B3E5-5A09-4C13-A6FE-AECD8D5FC4F8}" srcOrd="2" destOrd="0" presId="urn:microsoft.com/office/officeart/2011/layout/HexagonRadial"/>
    <dgm:cxn modelId="{A8CEFF17-4324-4587-9023-46CDA1AFD935}" type="presParOf" srcId="{D97D9760-F010-4218-9608-7DC980288E64}" destId="{8EFDD72C-1548-4762-BC42-46EB49E7739A}" srcOrd="3" destOrd="0" presId="urn:microsoft.com/office/officeart/2011/layout/HexagonRadial"/>
    <dgm:cxn modelId="{90748C05-862F-4530-A38F-449FA2828C1C}" type="presParOf" srcId="{8EFDD72C-1548-4762-BC42-46EB49E7739A}" destId="{F3B4FAA7-CA66-4041-8B09-F234530EBCCE}" srcOrd="0" destOrd="0" presId="urn:microsoft.com/office/officeart/2011/layout/HexagonRadial"/>
    <dgm:cxn modelId="{2F9C15FF-B408-49E8-9FC2-D619DB4C3A65}" type="presParOf" srcId="{D97D9760-F010-4218-9608-7DC980288E64}" destId="{B801A17B-74A4-49F2-B90E-3F8518C33F0B}" srcOrd="4" destOrd="0" presId="urn:microsoft.com/office/officeart/2011/layout/HexagonRadial"/>
    <dgm:cxn modelId="{E5E5111E-65D4-4547-8203-6BB50DBC53EE}" type="presParOf" srcId="{D97D9760-F010-4218-9608-7DC980288E64}" destId="{2E74054B-344A-4A3E-9716-695823CDB137}" srcOrd="5" destOrd="0" presId="urn:microsoft.com/office/officeart/2011/layout/HexagonRadial"/>
    <dgm:cxn modelId="{90D16F91-FA13-4F2D-8748-AFBBF9E797F4}" type="presParOf" srcId="{2E74054B-344A-4A3E-9716-695823CDB137}" destId="{DA20A7DC-4FEB-4655-85FA-0F66BF166CEE}" srcOrd="0" destOrd="0" presId="urn:microsoft.com/office/officeart/2011/layout/HexagonRadial"/>
    <dgm:cxn modelId="{F6207F7A-93D2-4508-9946-42F6A0261161}" type="presParOf" srcId="{D97D9760-F010-4218-9608-7DC980288E64}" destId="{F14ECAA3-10D9-46A5-85F4-3581FC91D95F}" srcOrd="6" destOrd="0" presId="urn:microsoft.com/office/officeart/2011/layout/HexagonRadial"/>
    <dgm:cxn modelId="{49A6C359-0505-47A2-BFAA-1108BD1F5BC9}" type="presParOf" srcId="{D97D9760-F010-4218-9608-7DC980288E64}" destId="{36659F0C-5028-42DC-BCAF-25B50BFC8CA1}" srcOrd="7" destOrd="0" presId="urn:microsoft.com/office/officeart/2011/layout/HexagonRadial"/>
    <dgm:cxn modelId="{E396FA70-0AD9-431E-BA52-3E92376DD2B6}" type="presParOf" srcId="{36659F0C-5028-42DC-BCAF-25B50BFC8CA1}" destId="{F7CD388A-2FCD-437C-A9F1-5B99252453A9}" srcOrd="0" destOrd="0" presId="urn:microsoft.com/office/officeart/2011/layout/HexagonRadial"/>
    <dgm:cxn modelId="{5F8E1A88-DD40-4875-8B34-B77EE9EFC220}" type="presParOf" srcId="{D97D9760-F010-4218-9608-7DC980288E64}" destId="{9E90ECDE-7F91-4F01-84E5-92E04784A594}" srcOrd="8" destOrd="0" presId="urn:microsoft.com/office/officeart/2011/layout/HexagonRadial"/>
    <dgm:cxn modelId="{5D66EDC1-074D-4502-A854-8141C3378CBE}" type="presParOf" srcId="{D97D9760-F010-4218-9608-7DC980288E64}" destId="{B842FF43-0C28-4F76-AFDF-E01EEBC104BB}" srcOrd="9" destOrd="0" presId="urn:microsoft.com/office/officeart/2011/layout/HexagonRadial"/>
    <dgm:cxn modelId="{FD74224B-351E-4AD5-8221-239F862DA7AB}" type="presParOf" srcId="{B842FF43-0C28-4F76-AFDF-E01EEBC104BB}" destId="{B98BB02D-851D-4987-A52A-C45BCFD404A5}" srcOrd="0" destOrd="0" presId="urn:microsoft.com/office/officeart/2011/layout/HexagonRadial"/>
    <dgm:cxn modelId="{792169F2-C342-43DA-A346-13A9FF65FA4A}" type="presParOf" srcId="{D97D9760-F010-4218-9608-7DC980288E64}" destId="{CA284B41-8178-4E6E-9862-AA1F6BCB1DB5}" srcOrd="10" destOrd="0" presId="urn:microsoft.com/office/officeart/2011/layout/HexagonRadial"/>
    <dgm:cxn modelId="{99531EC7-C2EB-491C-A515-8647FF47E441}" type="presParOf" srcId="{D97D9760-F010-4218-9608-7DC980288E64}" destId="{384E803C-A0CA-4C6A-8B9F-CDC7131AD207}" srcOrd="11" destOrd="0" presId="urn:microsoft.com/office/officeart/2011/layout/HexagonRadial"/>
    <dgm:cxn modelId="{68F3C624-A87F-49E2-BB0C-2DF81533DCF1}" type="presParOf" srcId="{384E803C-A0CA-4C6A-8B9F-CDC7131AD207}" destId="{D80F7589-4524-40CA-B36F-E782CF51CCD1}" srcOrd="0" destOrd="0" presId="urn:microsoft.com/office/officeart/2011/layout/HexagonRadial"/>
    <dgm:cxn modelId="{6750C106-B23A-49AD-8364-618B0313697D}" type="presParOf" srcId="{D97D9760-F010-4218-9608-7DC980288E64}" destId="{096344C8-C7D9-4AC6-A701-CD9F2F9F4EEC}"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F9B16B-0BAB-40A6-A610-7B601D9264DD}">
      <dsp:nvSpPr>
        <dsp:cNvPr id="0" name=""/>
        <dsp:cNvSpPr/>
      </dsp:nvSpPr>
      <dsp:spPr>
        <a:xfrm>
          <a:off x="3352477" y="1984664"/>
          <a:ext cx="2522595" cy="2182147"/>
        </a:xfrm>
        <a:prstGeom prst="hexagon">
          <a:avLst>
            <a:gd name="adj" fmla="val 2857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Error detection methods</a:t>
          </a:r>
        </a:p>
      </dsp:txBody>
      <dsp:txXfrm>
        <a:off x="3770506" y="2346276"/>
        <a:ext cx="1686537" cy="1458923"/>
      </dsp:txXfrm>
    </dsp:sp>
    <dsp:sp modelId="{F3B4FAA7-CA66-4041-8B09-F234530EBCCE}">
      <dsp:nvSpPr>
        <dsp:cNvPr id="0" name=""/>
        <dsp:cNvSpPr/>
      </dsp:nvSpPr>
      <dsp:spPr>
        <a:xfrm>
          <a:off x="4932106" y="940654"/>
          <a:ext cx="951767" cy="820073"/>
        </a:xfrm>
        <a:prstGeom prst="hexagon">
          <a:avLst>
            <a:gd name="adj" fmla="val 28900"/>
            <a:gd name="vf" fmla="val 115470"/>
          </a:avLst>
        </a:prstGeom>
        <a:solidFill>
          <a:schemeClr val="bg1"/>
        </a:solidFill>
        <a:ln>
          <a:noFill/>
        </a:ln>
        <a:effectLst/>
      </dsp:spPr>
      <dsp:style>
        <a:lnRef idx="0">
          <a:scrgbClr r="0" g="0" b="0"/>
        </a:lnRef>
        <a:fillRef idx="1">
          <a:scrgbClr r="0" g="0" b="0"/>
        </a:fillRef>
        <a:effectRef idx="0">
          <a:scrgbClr r="0" g="0" b="0"/>
        </a:effectRef>
        <a:fontRef idx="minor"/>
      </dsp:style>
    </dsp:sp>
    <dsp:sp modelId="{1F58B3E5-5A09-4C13-A6FE-AECD8D5FC4F8}">
      <dsp:nvSpPr>
        <dsp:cNvPr id="0" name=""/>
        <dsp:cNvSpPr/>
      </dsp:nvSpPr>
      <dsp:spPr>
        <a:xfrm>
          <a:off x="3584844" y="0"/>
          <a:ext cx="2067248" cy="1788413"/>
        </a:xfrm>
        <a:prstGeom prst="hexagon">
          <a:avLst>
            <a:gd name="adj" fmla="val 28570"/>
            <a:gd name="vf" fmla="val 115470"/>
          </a:avLst>
        </a:prstGeom>
        <a:solidFill>
          <a:srgbClr val="AE8B45"/>
        </a:solidFill>
        <a:ln w="12700" cap="flat" cmpd="sng" algn="ctr">
          <a:solidFill>
            <a:schemeClr val="lt1">
              <a:hueOff val="0"/>
              <a:satOff val="0"/>
              <a:lumOff val="0"/>
              <a:alphaOff val="0"/>
            </a:schemeClr>
          </a:solidFill>
          <a:prstDash val="solid"/>
          <a:miter lim="800000"/>
        </a:ln>
        <a:effectLst>
          <a:glow rad="2286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Parity checks</a:t>
          </a:r>
        </a:p>
      </dsp:txBody>
      <dsp:txXfrm>
        <a:off x="3927431" y="296378"/>
        <a:ext cx="1382074" cy="1195657"/>
      </dsp:txXfrm>
    </dsp:sp>
    <dsp:sp modelId="{DA20A7DC-4FEB-4655-85FA-0F66BF166CEE}">
      <dsp:nvSpPr>
        <dsp:cNvPr id="0" name=""/>
        <dsp:cNvSpPr/>
      </dsp:nvSpPr>
      <dsp:spPr>
        <a:xfrm>
          <a:off x="6042893" y="2473756"/>
          <a:ext cx="951767" cy="820073"/>
        </a:xfrm>
        <a:prstGeom prst="hexagon">
          <a:avLst>
            <a:gd name="adj" fmla="val 28900"/>
            <a:gd name="vf" fmla="val 115470"/>
          </a:avLst>
        </a:prstGeom>
        <a:solidFill>
          <a:schemeClr val="bg1"/>
        </a:solidFill>
        <a:ln>
          <a:noFill/>
        </a:ln>
        <a:effectLst/>
      </dsp:spPr>
      <dsp:style>
        <a:lnRef idx="0">
          <a:scrgbClr r="0" g="0" b="0"/>
        </a:lnRef>
        <a:fillRef idx="1">
          <a:scrgbClr r="0" g="0" b="0"/>
        </a:fillRef>
        <a:effectRef idx="0">
          <a:scrgbClr r="0" g="0" b="0"/>
        </a:effectRef>
        <a:fontRef idx="minor"/>
      </dsp:style>
    </dsp:sp>
    <dsp:sp modelId="{B801A17B-74A4-49F2-B90E-3F8518C33F0B}">
      <dsp:nvSpPr>
        <dsp:cNvPr id="0" name=""/>
        <dsp:cNvSpPr/>
      </dsp:nvSpPr>
      <dsp:spPr>
        <a:xfrm>
          <a:off x="5480752" y="1099994"/>
          <a:ext cx="2067248" cy="1788413"/>
        </a:xfrm>
        <a:prstGeom prst="hexagon">
          <a:avLst>
            <a:gd name="adj" fmla="val 28570"/>
            <a:gd name="vf" fmla="val 115470"/>
          </a:avLst>
        </a:prstGeom>
        <a:solidFill>
          <a:srgbClr val="AB6E00"/>
        </a:solidFill>
        <a:ln w="12700" cap="flat" cmpd="sng" algn="ctr">
          <a:solidFill>
            <a:schemeClr val="lt1">
              <a:hueOff val="0"/>
              <a:satOff val="0"/>
              <a:lumOff val="0"/>
              <a:alphaOff val="0"/>
            </a:schemeClr>
          </a:solidFill>
          <a:prstDash val="solid"/>
          <a:miter lim="800000"/>
        </a:ln>
        <a:effectLst>
          <a:glow rad="2286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Parity block checks</a:t>
          </a:r>
        </a:p>
      </dsp:txBody>
      <dsp:txXfrm>
        <a:off x="5823339" y="1396372"/>
        <a:ext cx="1382074" cy="1195657"/>
      </dsp:txXfrm>
    </dsp:sp>
    <dsp:sp modelId="{F7CD388A-2FCD-437C-A9F1-5B99252453A9}">
      <dsp:nvSpPr>
        <dsp:cNvPr id="0" name=""/>
        <dsp:cNvSpPr/>
      </dsp:nvSpPr>
      <dsp:spPr>
        <a:xfrm>
          <a:off x="5271269" y="4204339"/>
          <a:ext cx="951767" cy="820073"/>
        </a:xfrm>
        <a:prstGeom prst="hexagon">
          <a:avLst>
            <a:gd name="adj" fmla="val 28900"/>
            <a:gd name="vf" fmla="val 115470"/>
          </a:avLst>
        </a:prstGeom>
        <a:solidFill>
          <a:schemeClr val="bg1"/>
        </a:solidFill>
        <a:ln>
          <a:noFill/>
        </a:ln>
        <a:effectLst/>
      </dsp:spPr>
      <dsp:style>
        <a:lnRef idx="0">
          <a:scrgbClr r="0" g="0" b="0"/>
        </a:lnRef>
        <a:fillRef idx="1">
          <a:scrgbClr r="0" g="0" b="0"/>
        </a:fillRef>
        <a:effectRef idx="0">
          <a:scrgbClr r="0" g="0" b="0"/>
        </a:effectRef>
        <a:fontRef idx="minor"/>
      </dsp:style>
    </dsp:sp>
    <dsp:sp modelId="{F14ECAA3-10D9-46A5-85F4-3581FC91D95F}">
      <dsp:nvSpPr>
        <dsp:cNvPr id="0" name=""/>
        <dsp:cNvSpPr/>
      </dsp:nvSpPr>
      <dsp:spPr>
        <a:xfrm>
          <a:off x="5480752" y="3262454"/>
          <a:ext cx="2067248" cy="1788413"/>
        </a:xfrm>
        <a:prstGeom prst="hexagon">
          <a:avLst>
            <a:gd name="adj" fmla="val 28570"/>
            <a:gd name="vf" fmla="val 115470"/>
          </a:avLst>
        </a:prstGeom>
        <a:solidFill>
          <a:srgbClr val="AE5800"/>
        </a:solidFill>
        <a:ln w="12700" cap="flat" cmpd="sng" algn="ctr">
          <a:solidFill>
            <a:schemeClr val="lt1">
              <a:hueOff val="0"/>
              <a:satOff val="0"/>
              <a:lumOff val="0"/>
              <a:alphaOff val="0"/>
            </a:schemeClr>
          </a:solidFill>
          <a:prstDash val="solid"/>
          <a:miter lim="800000"/>
        </a:ln>
        <a:effectLst>
          <a:glow rad="2286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a:t>Checksums</a:t>
          </a:r>
          <a:endParaRPr lang="en-GB" sz="2000" kern="1200" dirty="0"/>
        </a:p>
      </dsp:txBody>
      <dsp:txXfrm>
        <a:off x="5823339" y="3558832"/>
        <a:ext cx="1382074" cy="1195657"/>
      </dsp:txXfrm>
    </dsp:sp>
    <dsp:sp modelId="{B98BB02D-851D-4987-A52A-C45BCFD404A5}">
      <dsp:nvSpPr>
        <dsp:cNvPr id="0" name=""/>
        <dsp:cNvSpPr/>
      </dsp:nvSpPr>
      <dsp:spPr>
        <a:xfrm>
          <a:off x="3357171" y="4383980"/>
          <a:ext cx="951767" cy="820073"/>
        </a:xfrm>
        <a:prstGeom prst="hexagon">
          <a:avLst>
            <a:gd name="adj" fmla="val 28900"/>
            <a:gd name="vf" fmla="val 115470"/>
          </a:avLst>
        </a:prstGeom>
        <a:solidFill>
          <a:schemeClr val="bg1"/>
        </a:solidFill>
        <a:ln>
          <a:noFill/>
        </a:ln>
        <a:effectLst/>
      </dsp:spPr>
      <dsp:style>
        <a:lnRef idx="0">
          <a:scrgbClr r="0" g="0" b="0"/>
        </a:lnRef>
        <a:fillRef idx="1">
          <a:scrgbClr r="0" g="0" b="0"/>
        </a:fillRef>
        <a:effectRef idx="0">
          <a:scrgbClr r="0" g="0" b="0"/>
        </a:effectRef>
        <a:fontRef idx="minor"/>
      </dsp:style>
    </dsp:sp>
    <dsp:sp modelId="{9E90ECDE-7F91-4F01-84E5-92E04784A594}">
      <dsp:nvSpPr>
        <dsp:cNvPr id="0" name=""/>
        <dsp:cNvSpPr/>
      </dsp:nvSpPr>
      <dsp:spPr>
        <a:xfrm>
          <a:off x="3584844" y="4363678"/>
          <a:ext cx="2067248" cy="1788413"/>
        </a:xfrm>
        <a:prstGeom prst="hexagon">
          <a:avLst>
            <a:gd name="adj" fmla="val 28570"/>
            <a:gd name="vf" fmla="val 115470"/>
          </a:avLst>
        </a:prstGeom>
        <a:solidFill>
          <a:srgbClr val="B14500"/>
        </a:solidFill>
        <a:ln w="12700" cap="flat" cmpd="sng" algn="ctr">
          <a:solidFill>
            <a:schemeClr val="lt1">
              <a:hueOff val="0"/>
              <a:satOff val="0"/>
              <a:lumOff val="0"/>
              <a:alphaOff val="0"/>
            </a:schemeClr>
          </a:solidFill>
          <a:prstDash val="solid"/>
          <a:miter lim="800000"/>
        </a:ln>
        <a:effectLst>
          <a:glow rad="2286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Echo checks</a:t>
          </a:r>
        </a:p>
      </dsp:txBody>
      <dsp:txXfrm>
        <a:off x="3927431" y="4660056"/>
        <a:ext cx="1382074" cy="1195657"/>
      </dsp:txXfrm>
    </dsp:sp>
    <dsp:sp modelId="{D80F7589-4524-40CA-B36F-E782CF51CCD1}">
      <dsp:nvSpPr>
        <dsp:cNvPr id="0" name=""/>
        <dsp:cNvSpPr/>
      </dsp:nvSpPr>
      <dsp:spPr>
        <a:xfrm>
          <a:off x="2228194" y="2851494"/>
          <a:ext cx="951767" cy="820073"/>
        </a:xfrm>
        <a:prstGeom prst="hexagon">
          <a:avLst>
            <a:gd name="adj" fmla="val 28900"/>
            <a:gd name="vf" fmla="val 115470"/>
          </a:avLst>
        </a:prstGeom>
        <a:solidFill>
          <a:schemeClr val="bg1"/>
        </a:solidFill>
        <a:ln>
          <a:noFill/>
        </a:ln>
        <a:effectLst/>
      </dsp:spPr>
      <dsp:style>
        <a:lnRef idx="0">
          <a:scrgbClr r="0" g="0" b="0"/>
        </a:lnRef>
        <a:fillRef idx="1">
          <a:scrgbClr r="0" g="0" b="0"/>
        </a:fillRef>
        <a:effectRef idx="0">
          <a:scrgbClr r="0" g="0" b="0"/>
        </a:effectRef>
        <a:fontRef idx="minor"/>
      </dsp:style>
    </dsp:sp>
    <dsp:sp modelId="{CA284B41-8178-4E6E-9862-AA1F6BCB1DB5}">
      <dsp:nvSpPr>
        <dsp:cNvPr id="0" name=""/>
        <dsp:cNvSpPr/>
      </dsp:nvSpPr>
      <dsp:spPr>
        <a:xfrm>
          <a:off x="1680135" y="3263684"/>
          <a:ext cx="2067248" cy="1788413"/>
        </a:xfrm>
        <a:prstGeom prst="hexagon">
          <a:avLst>
            <a:gd name="adj" fmla="val 28570"/>
            <a:gd name="vf" fmla="val 115470"/>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Check digits</a:t>
          </a:r>
        </a:p>
      </dsp:txBody>
      <dsp:txXfrm>
        <a:off x="2022722" y="3560062"/>
        <a:ext cx="1382074" cy="1195657"/>
      </dsp:txXfrm>
    </dsp:sp>
    <dsp:sp modelId="{096344C8-C7D9-4AC6-A701-CD9F2F9F4EEC}">
      <dsp:nvSpPr>
        <dsp:cNvPr id="0" name=""/>
        <dsp:cNvSpPr/>
      </dsp:nvSpPr>
      <dsp:spPr>
        <a:xfrm>
          <a:off x="1680135" y="1097533"/>
          <a:ext cx="2067248" cy="1788413"/>
        </a:xfrm>
        <a:prstGeom prst="hexagon">
          <a:avLst>
            <a:gd name="adj" fmla="val 28570"/>
            <a:gd name="vf" fmla="val 115470"/>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Automatic Repeat Query (ARQ)</a:t>
          </a:r>
        </a:p>
      </dsp:txBody>
      <dsp:txXfrm>
        <a:off x="2022722" y="1393911"/>
        <a:ext cx="1382074" cy="1195657"/>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A54553-2A3F-4C94-AA62-ABFC40E07E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0996737-DD0F-4016-9F43-1C3C116716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E11316-EC54-4B9D-B716-15D72C7F09B1}" type="datetimeFigureOut">
              <a:rPr lang="en-GB" smtClean="0"/>
              <a:t>17/05/2022</a:t>
            </a:fld>
            <a:endParaRPr lang="en-GB"/>
          </a:p>
        </p:txBody>
      </p:sp>
      <p:sp>
        <p:nvSpPr>
          <p:cNvPr id="4" name="Footer Placeholder 3">
            <a:extLst>
              <a:ext uri="{FF2B5EF4-FFF2-40B4-BE49-F238E27FC236}">
                <a16:creationId xmlns:a16="http://schemas.microsoft.com/office/drawing/2014/main" id="{147A745F-1972-497D-8174-B5868433DF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8CE6AC0-619C-486F-A045-23AE3DF3E3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3CFB52-3982-4249-B609-86D9E8883619}" type="slidenum">
              <a:rPr lang="en-GB" smtClean="0"/>
              <a:t>‹#›</a:t>
            </a:fld>
            <a:endParaRPr lang="en-GB"/>
          </a:p>
        </p:txBody>
      </p:sp>
    </p:spTree>
    <p:extLst>
      <p:ext uri="{BB962C8B-B14F-4D97-AF65-F5344CB8AC3E}">
        <p14:creationId xmlns:p14="http://schemas.microsoft.com/office/powerpoint/2010/main" val="795163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01D13-C50D-4862-A50B-4E5D0E7CA144}" type="datetimeFigureOut">
              <a:rPr lang="en-GB" smtClean="0"/>
              <a:t>17/05/2022</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E031B-FEB2-4221-8849-89831B3F1108}" type="slidenum">
              <a:rPr lang="en-GB" smtClean="0"/>
              <a:t>‹#›</a:t>
            </a:fld>
            <a:endParaRPr lang="en-GB" dirty="0"/>
          </a:p>
        </p:txBody>
      </p:sp>
    </p:spTree>
    <p:extLst>
      <p:ext uri="{BB962C8B-B14F-4D97-AF65-F5344CB8AC3E}">
        <p14:creationId xmlns:p14="http://schemas.microsoft.com/office/powerpoint/2010/main" val="3697644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7369-A355-4D19-AEEC-9D0100EF3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7924699-1673-40E6-9241-180D779421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CBE935-35F7-402A-9F4D-C68B29248BA9}"/>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5" name="Footer Placeholder 4">
            <a:extLst>
              <a:ext uri="{FF2B5EF4-FFF2-40B4-BE49-F238E27FC236}">
                <a16:creationId xmlns:a16="http://schemas.microsoft.com/office/drawing/2014/main" id="{004D7A12-EBDB-45B0-9FF5-F17A7EF6715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7C7090-3E02-4EBA-95BB-2F3FF45C1E86}"/>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018429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7CF4-093B-4C66-A107-491AFAE190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7249AB-C9F4-4A3F-A472-C5FDCF3AAF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6A491B-E55E-4F96-A0A2-08ABE85381B5}"/>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5" name="Footer Placeholder 4">
            <a:extLst>
              <a:ext uri="{FF2B5EF4-FFF2-40B4-BE49-F238E27FC236}">
                <a16:creationId xmlns:a16="http://schemas.microsoft.com/office/drawing/2014/main" id="{5D5EE9C3-3BD7-499C-9C8F-E914AF0CCD4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8CA0F2C-BB77-4D20-BD01-009748E06A21}"/>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443006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EAB41-C5F4-4F77-8A5C-14CA38A3E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C5B807-A41F-4934-B9B5-F06B7FECFD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BA9AEC-9ECF-4105-84CF-CCC301ADB0FE}"/>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5" name="Footer Placeholder 4">
            <a:extLst>
              <a:ext uri="{FF2B5EF4-FFF2-40B4-BE49-F238E27FC236}">
                <a16:creationId xmlns:a16="http://schemas.microsoft.com/office/drawing/2014/main" id="{199A81FA-05E8-4A50-9FC5-A94F3634CB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EB13BE1-EE3A-45AF-BF76-41B86D070B05}"/>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1730735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1685-8ECA-46F3-BC78-B8E4D43D8A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4A252D3-EA14-47C6-8BDF-B549E97DE48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9FA317-5ECF-4693-88DD-BCA7EC3919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CCCA0AA-2226-49B9-8142-4F45D8CE683F}"/>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6" name="Footer Placeholder 5">
            <a:extLst>
              <a:ext uri="{FF2B5EF4-FFF2-40B4-BE49-F238E27FC236}">
                <a16:creationId xmlns:a16="http://schemas.microsoft.com/office/drawing/2014/main" id="{197F340D-9456-43F7-A764-CBD130EF688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F72910B-6BBA-4043-8CD2-7AE056F14AA9}"/>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360604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60B3-16E7-4811-A5F8-83614659ACE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DB62EE-BCB8-429D-BB6F-89DF9F3EA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34AD67-4C0E-484D-B7FF-FB976A1710F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D7660E-8B38-43A5-A48D-A4523AA03A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E7EFE82-A3BC-42B8-9F71-5C3C1ADD41B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BBD8DB3-F688-4AB2-AAFC-0E5E7F2EB1DC}"/>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8" name="Footer Placeholder 7">
            <a:extLst>
              <a:ext uri="{FF2B5EF4-FFF2-40B4-BE49-F238E27FC236}">
                <a16:creationId xmlns:a16="http://schemas.microsoft.com/office/drawing/2014/main" id="{848F70DA-1B40-4425-B025-A8D06411AA4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0A95CE6D-8A51-4013-A622-D11EFBB72DA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805227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232E-9E69-481F-BDD8-74F4219ED3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BAD69E5-4081-437F-98E4-2CAF4F5CCAA8}"/>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4" name="Footer Placeholder 3">
            <a:extLst>
              <a:ext uri="{FF2B5EF4-FFF2-40B4-BE49-F238E27FC236}">
                <a16:creationId xmlns:a16="http://schemas.microsoft.com/office/drawing/2014/main" id="{E1B30953-0189-477F-ABF4-CE4D2ED1E48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BCC43C7-506A-468F-96CB-96E8683CF1B7}"/>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39981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o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0CC6F3-15F4-4749-9242-EDD4FF8C5DBF}"/>
              </a:ext>
            </a:extLst>
          </p:cNvPr>
          <p:cNvSpPr/>
          <p:nvPr userDrawn="1"/>
        </p:nvSpPr>
        <p:spPr>
          <a:xfrm>
            <a:off x="10088880" y="0"/>
            <a:ext cx="2103120" cy="68580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pPr algn="ctr"/>
            <a:r>
              <a:rPr lang="en-GB" sz="2400" b="1" dirty="0">
                <a:solidFill>
                  <a:schemeClr val="bg1"/>
                </a:solidFill>
                <a:latin typeface="Century Gothic" panose="020B0502020202020204" pitchFamily="34" charset="0"/>
              </a:rPr>
              <a:t>CAMBRIDGE IGCSE</a:t>
            </a:r>
          </a:p>
          <a:p>
            <a:pPr algn="ctr"/>
            <a:r>
              <a:rPr lang="en-GB" sz="2400" b="1" dirty="0">
                <a:solidFill>
                  <a:schemeClr val="bg1"/>
                </a:solidFill>
                <a:latin typeface="Century Gothic" panose="020B0502020202020204" pitchFamily="34" charset="0"/>
              </a:rPr>
              <a:t>(0478/0984)</a:t>
            </a:r>
          </a:p>
          <a:p>
            <a:pPr algn="ctr"/>
            <a:endParaRPr lang="en-GB" sz="2400" b="1" dirty="0">
              <a:solidFill>
                <a:schemeClr val="bg1"/>
              </a:solidFill>
              <a:latin typeface="Century Gothic" panose="020B0502020202020204" pitchFamily="34" charset="0"/>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1600" dirty="0">
              <a:solidFill>
                <a:schemeClr val="bg1">
                  <a:lumMod val="85000"/>
                </a:schemeClr>
              </a:solidFill>
            </a:endParaRPr>
          </a:p>
        </p:txBody>
      </p:sp>
      <p:sp>
        <p:nvSpPr>
          <p:cNvPr id="6" name="Oval 5">
            <a:extLst>
              <a:ext uri="{FF2B5EF4-FFF2-40B4-BE49-F238E27FC236}">
                <a16:creationId xmlns:a16="http://schemas.microsoft.com/office/drawing/2014/main" id="{8B2C14A7-E460-4357-90EB-FC2CBD74FCA1}"/>
              </a:ext>
            </a:extLst>
          </p:cNvPr>
          <p:cNvSpPr/>
          <p:nvPr userDrawn="1"/>
        </p:nvSpPr>
        <p:spPr>
          <a:xfrm>
            <a:off x="8915400" y="2354373"/>
            <a:ext cx="2140171" cy="2140171"/>
          </a:xfrm>
          <a:prstGeom prst="ellipse">
            <a:avLst/>
          </a:prstGeom>
          <a:solidFill>
            <a:schemeClr val="bg1"/>
          </a:solidFill>
          <a:ln w="28575">
            <a:solidFill>
              <a:srgbClr val="F265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A picture containing brush&#10;&#10;Description automatically generated">
            <a:extLst>
              <a:ext uri="{FF2B5EF4-FFF2-40B4-BE49-F238E27FC236}">
                <a16:creationId xmlns:a16="http://schemas.microsoft.com/office/drawing/2014/main" id="{802D9E8A-D873-49FF-AED9-2CD228DFF517}"/>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61" r="-3" b="-3"/>
          <a:stretch/>
        </p:blipFill>
        <p:spPr>
          <a:xfrm>
            <a:off x="9029206" y="2474254"/>
            <a:ext cx="1912560" cy="1909489"/>
          </a:xfrm>
          <a:custGeom>
            <a:avLst/>
            <a:gdLst>
              <a:gd name="connsiteX0" fmla="*/ 3028805 w 6057610"/>
              <a:gd name="connsiteY0" fmla="*/ 0 h 6057610"/>
              <a:gd name="connsiteX1" fmla="*/ 6057610 w 6057610"/>
              <a:gd name="connsiteY1" fmla="*/ 3028805 h 6057610"/>
              <a:gd name="connsiteX2" fmla="*/ 3028805 w 6057610"/>
              <a:gd name="connsiteY2" fmla="*/ 6057610 h 6057610"/>
              <a:gd name="connsiteX3" fmla="*/ 0 w 6057610"/>
              <a:gd name="connsiteY3" fmla="*/ 3028805 h 6057610"/>
              <a:gd name="connsiteX4" fmla="*/ 3028805 w 6057610"/>
              <a:gd name="connsiteY4" fmla="*/ 0 h 6057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10" name="Rectangle 9">
            <a:extLst>
              <a:ext uri="{FF2B5EF4-FFF2-40B4-BE49-F238E27FC236}">
                <a16:creationId xmlns:a16="http://schemas.microsoft.com/office/drawing/2014/main" id="{1FE3659E-7B75-43EA-B2D2-F180CB40635B}"/>
              </a:ext>
            </a:extLst>
          </p:cNvPr>
          <p:cNvSpPr/>
          <p:nvPr userDrawn="1"/>
        </p:nvSpPr>
        <p:spPr>
          <a:xfrm>
            <a:off x="0" y="6451184"/>
            <a:ext cx="10088879" cy="338554"/>
          </a:xfrm>
          <a:prstGeom prst="rect">
            <a:avLst/>
          </a:prstGeom>
        </p:spPr>
        <p:txBody>
          <a:bodyPr wrap="square">
            <a:spAutoFit/>
          </a:bodyPr>
          <a:lstStyle/>
          <a:p>
            <a:pPr algn="ctr"/>
            <a:r>
              <a:rPr lang="en-GB" sz="1600" b="1" dirty="0">
                <a:solidFill>
                  <a:schemeClr val="bg1">
                    <a:lumMod val="50000"/>
                  </a:schemeClr>
                </a:solidFill>
              </a:rPr>
              <a:t>Teacher site: </a:t>
            </a:r>
            <a:r>
              <a:rPr lang="en-GB" sz="1600" dirty="0">
                <a:solidFill>
                  <a:schemeClr val="bg1">
                    <a:lumMod val="50000"/>
                  </a:schemeClr>
                </a:solidFill>
              </a:rPr>
              <a:t>craigndave.org  |  </a:t>
            </a:r>
            <a:r>
              <a:rPr lang="en-GB" sz="1600" b="1" dirty="0">
                <a:solidFill>
                  <a:schemeClr val="bg1">
                    <a:lumMod val="50000"/>
                  </a:schemeClr>
                </a:solidFill>
              </a:rPr>
              <a:t>Student site: </a:t>
            </a:r>
            <a:r>
              <a:rPr lang="en-GB" sz="1600" dirty="0">
                <a:solidFill>
                  <a:schemeClr val="bg1">
                    <a:lumMod val="50000"/>
                  </a:schemeClr>
                </a:solidFill>
              </a:rPr>
              <a:t>student.craigndave.org  |  </a:t>
            </a:r>
            <a:r>
              <a:rPr lang="en-GB" sz="1600" b="1" dirty="0">
                <a:solidFill>
                  <a:schemeClr val="bg1">
                    <a:lumMod val="50000"/>
                  </a:schemeClr>
                </a:solidFill>
              </a:rPr>
              <a:t>Smart revise: </a:t>
            </a:r>
            <a:r>
              <a:rPr lang="en-GB" sz="1600" dirty="0">
                <a:solidFill>
                  <a:schemeClr val="bg1">
                    <a:lumMod val="50000"/>
                  </a:schemeClr>
                </a:solidFill>
              </a:rPr>
              <a:t>smartrevise.co.uk </a:t>
            </a:r>
          </a:p>
        </p:txBody>
      </p:sp>
    </p:spTree>
    <p:extLst>
      <p:ext uri="{BB962C8B-B14F-4D97-AF65-F5344CB8AC3E}">
        <p14:creationId xmlns:p14="http://schemas.microsoft.com/office/powerpoint/2010/main" val="409001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o content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19224-2084-4C89-AEFB-59035B0F8D1F}"/>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3" name="Footer Placeholder 2">
            <a:extLst>
              <a:ext uri="{FF2B5EF4-FFF2-40B4-BE49-F238E27FC236}">
                <a16:creationId xmlns:a16="http://schemas.microsoft.com/office/drawing/2014/main" id="{2B8E9D01-9A95-4DC3-AD5E-0657203E7B2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0DB0936-CF61-444A-88C9-B1BE2B016644}"/>
              </a:ext>
            </a:extLst>
          </p:cNvPr>
          <p:cNvSpPr>
            <a:spLocks noGrp="1"/>
          </p:cNvSpPr>
          <p:nvPr>
            <p:ph type="sldNum" sz="quarter" idx="12"/>
          </p:nvPr>
        </p:nvSpPr>
        <p:spPr/>
        <p:txBody>
          <a:bodyPr/>
          <a:lstStyle/>
          <a:p>
            <a:fld id="{CFC6102D-FACC-46D2-982F-C509AB4FB7F4}" type="slidenum">
              <a:rPr lang="en-GB" smtClean="0"/>
              <a:t>‹#›</a:t>
            </a:fld>
            <a:endParaRPr lang="en-GB" dirty="0"/>
          </a:p>
        </p:txBody>
      </p:sp>
      <p:grpSp>
        <p:nvGrpSpPr>
          <p:cNvPr id="13" name="Group 12">
            <a:extLst>
              <a:ext uri="{FF2B5EF4-FFF2-40B4-BE49-F238E27FC236}">
                <a16:creationId xmlns:a16="http://schemas.microsoft.com/office/drawing/2014/main" id="{87AACC54-1682-4874-BD09-D8CF92EDAE43}"/>
              </a:ext>
            </a:extLst>
          </p:cNvPr>
          <p:cNvGrpSpPr/>
          <p:nvPr userDrawn="1"/>
        </p:nvGrpSpPr>
        <p:grpSpPr>
          <a:xfrm>
            <a:off x="-1" y="0"/>
            <a:ext cx="12192001" cy="419100"/>
            <a:chOff x="-1" y="0"/>
            <a:chExt cx="12192001" cy="533400"/>
          </a:xfrm>
        </p:grpSpPr>
        <p:sp>
          <p:nvSpPr>
            <p:cNvPr id="15" name="Rectangle 14">
              <a:extLst>
                <a:ext uri="{FF2B5EF4-FFF2-40B4-BE49-F238E27FC236}">
                  <a16:creationId xmlns:a16="http://schemas.microsoft.com/office/drawing/2014/main" id="{A3B4ABA0-791C-4EF4-91E1-0A7F5B882D36}"/>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b="1" dirty="0">
                  <a:solidFill>
                    <a:schemeClr val="bg1"/>
                  </a:solidFill>
                </a:rPr>
                <a:t>2.2 Methods of error detection | Error detection methods</a:t>
              </a:r>
            </a:p>
          </p:txBody>
        </p:sp>
        <p:sp>
          <p:nvSpPr>
            <p:cNvPr id="14" name="Rectangle 13">
              <a:extLst>
                <a:ext uri="{FF2B5EF4-FFF2-40B4-BE49-F238E27FC236}">
                  <a16:creationId xmlns:a16="http://schemas.microsoft.com/office/drawing/2014/main" id="{7E5FF8B6-F953-41A2-8CA9-2F6F841BDD32}"/>
                </a:ext>
              </a:extLst>
            </p:cNvPr>
            <p:cNvSpPr/>
            <p:nvPr/>
          </p:nvSpPr>
          <p:spPr>
            <a:xfrm>
              <a:off x="8992998" y="0"/>
              <a:ext cx="319900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92091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615E-FCEC-48A2-8A58-855AC17510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A6C2E3-EFFC-4E46-8E3B-353E3410C7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A8F8DFF-FB25-4FDB-AE01-189095807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575E6D8-83E5-4A1F-91A5-3CC7778FDD15}"/>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6" name="Footer Placeholder 5">
            <a:extLst>
              <a:ext uri="{FF2B5EF4-FFF2-40B4-BE49-F238E27FC236}">
                <a16:creationId xmlns:a16="http://schemas.microsoft.com/office/drawing/2014/main" id="{2962ED67-D636-4841-A380-71A8E2C2234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1ECBE11-BFFB-4E5F-95F9-EF6A83AD83A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941817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3C68-F937-4619-AC2A-808BB5FBC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4D0E72-F13A-47A1-9749-F939C5B61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DACE7D0-DEEB-4789-9725-4826AE9B0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252C0A-0BB5-4C36-AC67-AFCF2DC0A65F}"/>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6" name="Footer Placeholder 5">
            <a:extLst>
              <a:ext uri="{FF2B5EF4-FFF2-40B4-BE49-F238E27FC236}">
                <a16:creationId xmlns:a16="http://schemas.microsoft.com/office/drawing/2014/main" id="{B01906B4-69CB-471E-B443-A6DD5955608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AC21424-3B0E-4EEC-875D-327603D191FC}"/>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820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6F412-1941-41D2-AC46-E8C20860A8D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2A1B5D-15E6-4D4B-B6F5-E46A1A7234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418167-751F-4B50-84DD-7F7377E43E1D}"/>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5" name="Footer Placeholder 4">
            <a:extLst>
              <a:ext uri="{FF2B5EF4-FFF2-40B4-BE49-F238E27FC236}">
                <a16:creationId xmlns:a16="http://schemas.microsoft.com/office/drawing/2014/main" id="{8AA10E4B-ECAF-4B58-9633-F0D2214AE3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6D0936C-E069-45AA-8B1E-8B295D2AAB7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2373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BBC43-F9FB-4DC0-9192-4C6BBC0BB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65541F-6124-45F5-9E33-C8877152332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28D7AD-9B6B-4D71-A044-0A8CD107B0C3}"/>
              </a:ext>
            </a:extLst>
          </p:cNvPr>
          <p:cNvSpPr>
            <a:spLocks noGrp="1"/>
          </p:cNvSpPr>
          <p:nvPr>
            <p:ph type="dt" sz="half" idx="10"/>
          </p:nvPr>
        </p:nvSpPr>
        <p:spPr/>
        <p:txBody>
          <a:bodyPr/>
          <a:lstStyle/>
          <a:p>
            <a:fld id="{83EBD5A5-95A5-4ED6-B746-12AF9CEAF3AB}" type="datetimeFigureOut">
              <a:rPr lang="en-GB" smtClean="0"/>
              <a:t>17/05/2022</a:t>
            </a:fld>
            <a:endParaRPr lang="en-GB" dirty="0"/>
          </a:p>
        </p:txBody>
      </p:sp>
      <p:sp>
        <p:nvSpPr>
          <p:cNvPr id="5" name="Footer Placeholder 4">
            <a:extLst>
              <a:ext uri="{FF2B5EF4-FFF2-40B4-BE49-F238E27FC236}">
                <a16:creationId xmlns:a16="http://schemas.microsoft.com/office/drawing/2014/main" id="{FB6F19E0-2B2A-44A5-95AA-5794953B827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E8AE265-1899-40B9-ABCC-0F0FA6B4523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10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68667-8C97-4EFE-84F3-BDAFCA0DE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A6806C-F4A6-4145-8586-E1BA0D6AA7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A371F7-F0FF-4998-A335-671F6745CC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BD5A5-95A5-4ED6-B746-12AF9CEAF3AB}" type="datetimeFigureOut">
              <a:rPr lang="en-GB" smtClean="0"/>
              <a:t>17/05/2022</a:t>
            </a:fld>
            <a:endParaRPr lang="en-GB" dirty="0"/>
          </a:p>
        </p:txBody>
      </p:sp>
      <p:sp>
        <p:nvSpPr>
          <p:cNvPr id="5" name="Footer Placeholder 4">
            <a:extLst>
              <a:ext uri="{FF2B5EF4-FFF2-40B4-BE49-F238E27FC236}">
                <a16:creationId xmlns:a16="http://schemas.microsoft.com/office/drawing/2014/main" id="{3E11381F-CB31-4B37-8E8C-1B4AD2A08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4B29192-27C3-435C-AA4E-0FF49DC56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6102D-FACC-46D2-982F-C509AB4FB7F4}" type="slidenum">
              <a:rPr lang="en-GB" smtClean="0"/>
              <a:t>‹#›</a:t>
            </a:fld>
            <a:endParaRPr lang="en-GB" dirty="0"/>
          </a:p>
        </p:txBody>
      </p:sp>
    </p:spTree>
    <p:extLst>
      <p:ext uri="{BB962C8B-B14F-4D97-AF65-F5344CB8AC3E}">
        <p14:creationId xmlns:p14="http://schemas.microsoft.com/office/powerpoint/2010/main" val="3407013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5.sv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 Id="rId5" Type="http://schemas.openxmlformats.org/officeDocument/2006/relationships/image" Target="../media/image5.sv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3.svg"/><Relationship Id="rId4" Type="http://schemas.openxmlformats.org/officeDocument/2006/relationships/image" Target="../media/image8.svg"/><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342EC1-2AFD-4406-9F14-4D674F90CAE8}"/>
              </a:ext>
            </a:extLst>
          </p:cNvPr>
          <p:cNvSpPr txBox="1"/>
          <p:nvPr/>
        </p:nvSpPr>
        <p:spPr>
          <a:xfrm>
            <a:off x="304800" y="92954"/>
            <a:ext cx="98792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chemeClr val="accent2">
                    <a:lumMod val="75000"/>
                  </a:schemeClr>
                </a:solidFill>
                <a:latin typeface="Century Gothic" panose="020B0502020202020204" pitchFamily="34" charset="0"/>
                <a:ea typeface="+mj-ea"/>
                <a:cs typeface="+mj-cs"/>
              </a:rPr>
              <a:t>2.2 Methods of error detection</a:t>
            </a:r>
          </a:p>
        </p:txBody>
      </p:sp>
      <p:sp>
        <p:nvSpPr>
          <p:cNvPr id="6" name="TextBox 5">
            <a:extLst>
              <a:ext uri="{FF2B5EF4-FFF2-40B4-BE49-F238E27FC236}">
                <a16:creationId xmlns:a16="http://schemas.microsoft.com/office/drawing/2014/main" id="{5FABF442-A178-4CA8-8D0A-DF0A8E18C046}"/>
              </a:ext>
            </a:extLst>
          </p:cNvPr>
          <p:cNvSpPr txBox="1"/>
          <p:nvPr/>
        </p:nvSpPr>
        <p:spPr>
          <a:xfrm>
            <a:off x="927652" y="1650609"/>
            <a:ext cx="6997148" cy="3450613"/>
          </a:xfrm>
          <a:prstGeom prst="rect">
            <a:avLst/>
          </a:prstGeom>
        </p:spPr>
        <p:txBody>
          <a:bodyPr vert="horz" lIns="91440" tIns="45720" rIns="91440" bIns="45720" rtlCol="0" anchor="ctr">
            <a:normAutofit/>
          </a:bodyPr>
          <a:lstStyle/>
          <a:p>
            <a:pPr algn="ctr">
              <a:lnSpc>
                <a:spcPct val="90000"/>
              </a:lnSpc>
              <a:spcAft>
                <a:spcPts val="1200"/>
              </a:spcAft>
            </a:pPr>
            <a:r>
              <a:rPr lang="en-GB" sz="4000" dirty="0">
                <a:solidFill>
                  <a:schemeClr val="accent2">
                    <a:lumMod val="75000"/>
                  </a:schemeClr>
                </a:solidFill>
              </a:rPr>
              <a:t>Error detection methods</a:t>
            </a:r>
            <a:endParaRPr lang="en-US" sz="4000" dirty="0">
              <a:solidFill>
                <a:schemeClr val="accent2">
                  <a:lumMod val="75000"/>
                </a:schemeClr>
              </a:solidFill>
            </a:endParaRPr>
          </a:p>
        </p:txBody>
      </p:sp>
    </p:spTree>
    <p:extLst>
      <p:ext uri="{BB962C8B-B14F-4D97-AF65-F5344CB8AC3E}">
        <p14:creationId xmlns:p14="http://schemas.microsoft.com/office/powerpoint/2010/main" val="1383771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Error detection methods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7D61EE7C-7CCD-58E5-3677-58363F9BA477}"/>
              </a:ext>
            </a:extLst>
          </p:cNvPr>
          <p:cNvGraphicFramePr/>
          <p:nvPr>
            <p:extLst>
              <p:ext uri="{D42A27DB-BD31-4B8C-83A1-F6EECF244321}">
                <p14:modId xmlns:p14="http://schemas.microsoft.com/office/powerpoint/2010/main" val="1961879016"/>
              </p:ext>
            </p:extLst>
          </p:nvPr>
        </p:nvGraphicFramePr>
        <p:xfrm>
          <a:off x="1485900" y="554141"/>
          <a:ext cx="9228137" cy="61520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296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7">
                                            <p:graphicEl>
                                              <a:dgm id="{84F9B16B-0BAB-40A6-A610-7B601D9264DD}"/>
                                            </p:graphicEl>
                                          </p:spTgt>
                                        </p:tgtEl>
                                        <p:attrNameLst>
                                          <p:attrName>style.visibility</p:attrName>
                                        </p:attrNameLst>
                                      </p:cBhvr>
                                      <p:to>
                                        <p:strVal val="visible"/>
                                      </p:to>
                                    </p:set>
                                    <p:animEffect transition="in" filter="fade">
                                      <p:cBhvr>
                                        <p:cTn id="7" dur="500"/>
                                        <p:tgtEl>
                                          <p:spTgt spid="7">
                                            <p:graphicEl>
                                              <a:dgm id="{84F9B16B-0BAB-40A6-A610-7B601D9264DD}"/>
                                            </p:graphicEl>
                                          </p:spTgt>
                                        </p:tgtEl>
                                      </p:cBhvr>
                                    </p:animEffect>
                                  </p:childTnLst>
                                </p:cTn>
                              </p:par>
                            </p:childTnLst>
                          </p:cTn>
                        </p:par>
                        <p:par>
                          <p:cTn id="8" fill="hold">
                            <p:stCondLst>
                              <p:cond delay="1500"/>
                            </p:stCondLst>
                            <p:childTnLst>
                              <p:par>
                                <p:cTn id="9" presetID="10" presetClass="entr" presetSubtype="0" fill="hold" grpId="0" nodeType="afterEffect">
                                  <p:stCondLst>
                                    <p:cond delay="0"/>
                                  </p:stCondLst>
                                  <p:childTnLst>
                                    <p:set>
                                      <p:cBhvr>
                                        <p:cTn id="10" dur="1" fill="hold">
                                          <p:stCondLst>
                                            <p:cond delay="0"/>
                                          </p:stCondLst>
                                        </p:cTn>
                                        <p:tgtEl>
                                          <p:spTgt spid="7">
                                            <p:graphicEl>
                                              <a:dgm id="{041F3DEC-4B94-44FD-BDB9-ED1977E14C7A}"/>
                                            </p:graphicEl>
                                          </p:spTgt>
                                        </p:tgtEl>
                                        <p:attrNameLst>
                                          <p:attrName>style.visibility</p:attrName>
                                        </p:attrNameLst>
                                      </p:cBhvr>
                                      <p:to>
                                        <p:strVal val="visible"/>
                                      </p:to>
                                    </p:set>
                                    <p:animEffect transition="in" filter="fade">
                                      <p:cBhvr>
                                        <p:cTn id="11" dur="500"/>
                                        <p:tgtEl>
                                          <p:spTgt spid="7">
                                            <p:graphicEl>
                                              <a:dgm id="{041F3DEC-4B94-44FD-BDB9-ED1977E14C7A}"/>
                                            </p:graphic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graphicEl>
                                              <a:dgm id="{1F58B3E5-5A09-4C13-A6FE-AECD8D5FC4F8}"/>
                                            </p:graphicEl>
                                          </p:spTgt>
                                        </p:tgtEl>
                                        <p:attrNameLst>
                                          <p:attrName>style.visibility</p:attrName>
                                        </p:attrNameLst>
                                      </p:cBhvr>
                                      <p:to>
                                        <p:strVal val="visible"/>
                                      </p:to>
                                    </p:set>
                                    <p:animEffect transition="in" filter="fade">
                                      <p:cBhvr>
                                        <p:cTn id="14" dur="500"/>
                                        <p:tgtEl>
                                          <p:spTgt spid="7">
                                            <p:graphicEl>
                                              <a:dgm id="{1F58B3E5-5A09-4C13-A6FE-AECD8D5FC4F8}"/>
                                            </p:graphicEl>
                                          </p:spTgt>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7">
                                            <p:graphicEl>
                                              <a:dgm id="{F3B4FAA7-CA66-4041-8B09-F234530EBCCE}"/>
                                            </p:graphicEl>
                                          </p:spTgt>
                                        </p:tgtEl>
                                        <p:attrNameLst>
                                          <p:attrName>style.visibility</p:attrName>
                                        </p:attrNameLst>
                                      </p:cBhvr>
                                      <p:to>
                                        <p:strVal val="visible"/>
                                      </p:to>
                                    </p:set>
                                    <p:animEffect transition="in" filter="fade">
                                      <p:cBhvr>
                                        <p:cTn id="18" dur="500"/>
                                        <p:tgtEl>
                                          <p:spTgt spid="7">
                                            <p:graphicEl>
                                              <a:dgm id="{F3B4FAA7-CA66-4041-8B09-F234530EBCCE}"/>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graphicEl>
                                              <a:dgm id="{B801A17B-74A4-49F2-B90E-3F8518C33F0B}"/>
                                            </p:graphicEl>
                                          </p:spTgt>
                                        </p:tgtEl>
                                        <p:attrNameLst>
                                          <p:attrName>style.visibility</p:attrName>
                                        </p:attrNameLst>
                                      </p:cBhvr>
                                      <p:to>
                                        <p:strVal val="visible"/>
                                      </p:to>
                                    </p:set>
                                    <p:animEffect transition="in" filter="fade">
                                      <p:cBhvr>
                                        <p:cTn id="21" dur="500"/>
                                        <p:tgtEl>
                                          <p:spTgt spid="7">
                                            <p:graphicEl>
                                              <a:dgm id="{B801A17B-74A4-49F2-B90E-3F8518C33F0B}"/>
                                            </p:graphicEl>
                                          </p:spTgt>
                                        </p:tgtEl>
                                      </p:cBhvr>
                                    </p:animEffect>
                                  </p:childTnLst>
                                </p:cTn>
                              </p:par>
                            </p:childTnLst>
                          </p:cTn>
                        </p:par>
                        <p:par>
                          <p:cTn id="22" fill="hold">
                            <p:stCondLst>
                              <p:cond delay="2500"/>
                            </p:stCondLst>
                            <p:childTnLst>
                              <p:par>
                                <p:cTn id="23" presetID="10" presetClass="entr" presetSubtype="0" fill="hold" grpId="0" nodeType="afterEffect">
                                  <p:stCondLst>
                                    <p:cond delay="0"/>
                                  </p:stCondLst>
                                  <p:childTnLst>
                                    <p:set>
                                      <p:cBhvr>
                                        <p:cTn id="24" dur="1" fill="hold">
                                          <p:stCondLst>
                                            <p:cond delay="0"/>
                                          </p:stCondLst>
                                        </p:cTn>
                                        <p:tgtEl>
                                          <p:spTgt spid="7">
                                            <p:graphicEl>
                                              <a:dgm id="{DA20A7DC-4FEB-4655-85FA-0F66BF166CEE}"/>
                                            </p:graphicEl>
                                          </p:spTgt>
                                        </p:tgtEl>
                                        <p:attrNameLst>
                                          <p:attrName>style.visibility</p:attrName>
                                        </p:attrNameLst>
                                      </p:cBhvr>
                                      <p:to>
                                        <p:strVal val="visible"/>
                                      </p:to>
                                    </p:set>
                                    <p:animEffect transition="in" filter="fade">
                                      <p:cBhvr>
                                        <p:cTn id="25" dur="500"/>
                                        <p:tgtEl>
                                          <p:spTgt spid="7">
                                            <p:graphicEl>
                                              <a:dgm id="{DA20A7DC-4FEB-4655-85FA-0F66BF166CEE}"/>
                                            </p:graphic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graphicEl>
                                              <a:dgm id="{F14ECAA3-10D9-46A5-85F4-3581FC91D95F}"/>
                                            </p:graphicEl>
                                          </p:spTgt>
                                        </p:tgtEl>
                                        <p:attrNameLst>
                                          <p:attrName>style.visibility</p:attrName>
                                        </p:attrNameLst>
                                      </p:cBhvr>
                                      <p:to>
                                        <p:strVal val="visible"/>
                                      </p:to>
                                    </p:set>
                                    <p:animEffect transition="in" filter="fade">
                                      <p:cBhvr>
                                        <p:cTn id="28" dur="500"/>
                                        <p:tgtEl>
                                          <p:spTgt spid="7">
                                            <p:graphicEl>
                                              <a:dgm id="{F14ECAA3-10D9-46A5-85F4-3581FC91D95F}"/>
                                            </p:graphicEl>
                                          </p:spTgt>
                                        </p:tgtEl>
                                      </p:cBhvr>
                                    </p:animEffect>
                                  </p:childTnLst>
                                </p:cTn>
                              </p:par>
                            </p:childTnLst>
                          </p:cTn>
                        </p:par>
                        <p:par>
                          <p:cTn id="29" fill="hold">
                            <p:stCondLst>
                              <p:cond delay="3000"/>
                            </p:stCondLst>
                            <p:childTnLst>
                              <p:par>
                                <p:cTn id="30" presetID="10" presetClass="entr" presetSubtype="0" fill="hold" grpId="0" nodeType="afterEffect">
                                  <p:stCondLst>
                                    <p:cond delay="0"/>
                                  </p:stCondLst>
                                  <p:childTnLst>
                                    <p:set>
                                      <p:cBhvr>
                                        <p:cTn id="31" dur="1" fill="hold">
                                          <p:stCondLst>
                                            <p:cond delay="0"/>
                                          </p:stCondLst>
                                        </p:cTn>
                                        <p:tgtEl>
                                          <p:spTgt spid="7">
                                            <p:graphicEl>
                                              <a:dgm id="{F7CD388A-2FCD-437C-A9F1-5B99252453A9}"/>
                                            </p:graphicEl>
                                          </p:spTgt>
                                        </p:tgtEl>
                                        <p:attrNameLst>
                                          <p:attrName>style.visibility</p:attrName>
                                        </p:attrNameLst>
                                      </p:cBhvr>
                                      <p:to>
                                        <p:strVal val="visible"/>
                                      </p:to>
                                    </p:set>
                                    <p:animEffect transition="in" filter="fade">
                                      <p:cBhvr>
                                        <p:cTn id="32" dur="500"/>
                                        <p:tgtEl>
                                          <p:spTgt spid="7">
                                            <p:graphicEl>
                                              <a:dgm id="{F7CD388A-2FCD-437C-A9F1-5B99252453A9}"/>
                                            </p:graphic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graphicEl>
                                              <a:dgm id="{9E90ECDE-7F91-4F01-84E5-92E04784A594}"/>
                                            </p:graphicEl>
                                          </p:spTgt>
                                        </p:tgtEl>
                                        <p:attrNameLst>
                                          <p:attrName>style.visibility</p:attrName>
                                        </p:attrNameLst>
                                      </p:cBhvr>
                                      <p:to>
                                        <p:strVal val="visible"/>
                                      </p:to>
                                    </p:set>
                                    <p:animEffect transition="in" filter="fade">
                                      <p:cBhvr>
                                        <p:cTn id="35" dur="500"/>
                                        <p:tgtEl>
                                          <p:spTgt spid="7">
                                            <p:graphicEl>
                                              <a:dgm id="{9E90ECDE-7F91-4F01-84E5-92E04784A594}"/>
                                            </p:graphicEl>
                                          </p:spTgt>
                                        </p:tgtEl>
                                      </p:cBhvr>
                                    </p:animEffect>
                                  </p:childTnLst>
                                </p:cTn>
                              </p:par>
                            </p:childTnLst>
                          </p:cTn>
                        </p:par>
                        <p:par>
                          <p:cTn id="36" fill="hold">
                            <p:stCondLst>
                              <p:cond delay="3500"/>
                            </p:stCondLst>
                            <p:childTnLst>
                              <p:par>
                                <p:cTn id="37" presetID="10" presetClass="entr" presetSubtype="0" fill="hold" grpId="0" nodeType="afterEffect">
                                  <p:stCondLst>
                                    <p:cond delay="0"/>
                                  </p:stCondLst>
                                  <p:childTnLst>
                                    <p:set>
                                      <p:cBhvr>
                                        <p:cTn id="38" dur="1" fill="hold">
                                          <p:stCondLst>
                                            <p:cond delay="0"/>
                                          </p:stCondLst>
                                        </p:cTn>
                                        <p:tgtEl>
                                          <p:spTgt spid="7">
                                            <p:graphicEl>
                                              <a:dgm id="{B98BB02D-851D-4987-A52A-C45BCFD404A5}"/>
                                            </p:graphicEl>
                                          </p:spTgt>
                                        </p:tgtEl>
                                        <p:attrNameLst>
                                          <p:attrName>style.visibility</p:attrName>
                                        </p:attrNameLst>
                                      </p:cBhvr>
                                      <p:to>
                                        <p:strVal val="visible"/>
                                      </p:to>
                                    </p:set>
                                    <p:animEffect transition="in" filter="fade">
                                      <p:cBhvr>
                                        <p:cTn id="39" dur="500"/>
                                        <p:tgtEl>
                                          <p:spTgt spid="7">
                                            <p:graphicEl>
                                              <a:dgm id="{B98BB02D-851D-4987-A52A-C45BCFD404A5}"/>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
                                            <p:graphicEl>
                                              <a:dgm id="{CA284B41-8178-4E6E-9862-AA1F6BCB1DB5}"/>
                                            </p:graphicEl>
                                          </p:spTgt>
                                        </p:tgtEl>
                                        <p:attrNameLst>
                                          <p:attrName>style.visibility</p:attrName>
                                        </p:attrNameLst>
                                      </p:cBhvr>
                                      <p:to>
                                        <p:strVal val="visible"/>
                                      </p:to>
                                    </p:set>
                                    <p:animEffect transition="in" filter="fade">
                                      <p:cBhvr>
                                        <p:cTn id="42" dur="500"/>
                                        <p:tgtEl>
                                          <p:spTgt spid="7">
                                            <p:graphicEl>
                                              <a:dgm id="{CA284B41-8178-4E6E-9862-AA1F6BCB1DB5}"/>
                                            </p:graphicEl>
                                          </p:spTgt>
                                        </p:tgtEl>
                                      </p:cBhvr>
                                    </p:animEffect>
                                  </p:childTnLst>
                                </p:cTn>
                              </p:par>
                            </p:childTnLst>
                          </p:cTn>
                        </p:par>
                        <p:par>
                          <p:cTn id="43" fill="hold">
                            <p:stCondLst>
                              <p:cond delay="4000"/>
                            </p:stCondLst>
                            <p:childTnLst>
                              <p:par>
                                <p:cTn id="44" presetID="10" presetClass="entr" presetSubtype="0" fill="hold" grpId="0" nodeType="afterEffect">
                                  <p:stCondLst>
                                    <p:cond delay="0"/>
                                  </p:stCondLst>
                                  <p:childTnLst>
                                    <p:set>
                                      <p:cBhvr>
                                        <p:cTn id="45" dur="1" fill="hold">
                                          <p:stCondLst>
                                            <p:cond delay="0"/>
                                          </p:stCondLst>
                                        </p:cTn>
                                        <p:tgtEl>
                                          <p:spTgt spid="7">
                                            <p:graphicEl>
                                              <a:dgm id="{D80F7589-4524-40CA-B36F-E782CF51CCD1}"/>
                                            </p:graphicEl>
                                          </p:spTgt>
                                        </p:tgtEl>
                                        <p:attrNameLst>
                                          <p:attrName>style.visibility</p:attrName>
                                        </p:attrNameLst>
                                      </p:cBhvr>
                                      <p:to>
                                        <p:strVal val="visible"/>
                                      </p:to>
                                    </p:set>
                                    <p:animEffect transition="in" filter="fade">
                                      <p:cBhvr>
                                        <p:cTn id="46" dur="500"/>
                                        <p:tgtEl>
                                          <p:spTgt spid="7">
                                            <p:graphicEl>
                                              <a:dgm id="{D80F7589-4524-40CA-B36F-E782CF51CCD1}"/>
                                            </p:graphic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
                                            <p:graphicEl>
                                              <a:dgm id="{096344C8-C7D9-4AC6-A701-CD9F2F9F4EEC}"/>
                                            </p:graphicEl>
                                          </p:spTgt>
                                        </p:tgtEl>
                                        <p:attrNameLst>
                                          <p:attrName>style.visibility</p:attrName>
                                        </p:attrNameLst>
                                      </p:cBhvr>
                                      <p:to>
                                        <p:strVal val="visible"/>
                                      </p:to>
                                    </p:set>
                                    <p:animEffect transition="in" filter="fade">
                                      <p:cBhvr>
                                        <p:cTn id="49" dur="500"/>
                                        <p:tgtEl>
                                          <p:spTgt spid="7">
                                            <p:graphicEl>
                                              <a:dgm id="{096344C8-C7D9-4AC6-A701-CD9F2F9F4EE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5" y="1052896"/>
            <a:ext cx="10313586" cy="1785104"/>
          </a:xfrm>
          <a:prstGeom prst="rect">
            <a:avLst/>
          </a:prstGeom>
        </p:spPr>
        <p:txBody>
          <a:bodyPr wrap="square">
            <a:spAutoFit/>
          </a:bodyPr>
          <a:lstStyle/>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Computers submit data in bytes. As we know, a byte is 8 bits.</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In this method, the </a:t>
            </a:r>
            <a:r>
              <a:rPr lang="en-GB" b="1" dirty="0">
                <a:latin typeface="Calibri" panose="020F0502020204030204" pitchFamily="34" charset="0"/>
                <a:ea typeface="Calibri" panose="020F0502020204030204" pitchFamily="34" charset="0"/>
                <a:cs typeface="Times New Roman" panose="02020603050405020304" pitchFamily="18" charset="0"/>
              </a:rPr>
              <a:t>Most Significant Bit </a:t>
            </a:r>
            <a:r>
              <a:rPr lang="en-GB" dirty="0">
                <a:latin typeface="Calibri" panose="020F0502020204030204" pitchFamily="34" charset="0"/>
                <a:ea typeface="Calibri" panose="020F0502020204030204" pitchFamily="34" charset="0"/>
                <a:cs typeface="Times New Roman" panose="02020603050405020304" pitchFamily="18" charset="0"/>
              </a:rPr>
              <a:t>(</a:t>
            </a:r>
            <a:r>
              <a:rPr lang="en-GB" b="1" dirty="0">
                <a:latin typeface="Calibri" panose="020F0502020204030204" pitchFamily="34" charset="0"/>
                <a:ea typeface="Calibri" panose="020F0502020204030204" pitchFamily="34" charset="0"/>
                <a:cs typeface="Times New Roman" panose="02020603050405020304" pitchFamily="18" charset="0"/>
              </a:rPr>
              <a:t>MSB</a:t>
            </a:r>
            <a:r>
              <a:rPr lang="en-GB" dirty="0">
                <a:latin typeface="Calibri" panose="020F0502020204030204" pitchFamily="34" charset="0"/>
                <a:ea typeface="Calibri" panose="020F0502020204030204" pitchFamily="34" charset="0"/>
                <a:cs typeface="Times New Roman" panose="02020603050405020304" pitchFamily="18" charset="0"/>
              </a:rPr>
              <a:t>) is reserved and used as a </a:t>
            </a:r>
            <a:r>
              <a:rPr lang="en-GB" b="1" dirty="0">
                <a:latin typeface="Calibri" panose="020F0502020204030204" pitchFamily="34" charset="0"/>
                <a:ea typeface="Calibri" panose="020F0502020204030204" pitchFamily="34" charset="0"/>
                <a:cs typeface="Times New Roman" panose="02020603050405020304" pitchFamily="18" charset="0"/>
              </a:rPr>
              <a:t>parity bit</a:t>
            </a:r>
            <a:r>
              <a:rPr lang="en-GB" dirty="0">
                <a:latin typeface="Calibri" panose="020F0502020204030204" pitchFamily="34" charset="0"/>
                <a:ea typeface="Calibri" panose="020F0502020204030204" pitchFamily="34" charset="0"/>
                <a:cs typeface="Times New Roman" panose="02020603050405020304" pitchFamily="18" charset="0"/>
              </a:rPr>
              <a:t>.</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We can use either </a:t>
            </a:r>
            <a:r>
              <a:rPr lang="en-GB" b="1" dirty="0">
                <a:latin typeface="Calibri" panose="020F0502020204030204" pitchFamily="34" charset="0"/>
                <a:ea typeface="Calibri" panose="020F0502020204030204" pitchFamily="34" charset="0"/>
                <a:cs typeface="Times New Roman" panose="02020603050405020304" pitchFamily="18" charset="0"/>
              </a:rPr>
              <a:t>odd</a:t>
            </a:r>
            <a:r>
              <a:rPr lang="en-GB" dirty="0">
                <a:latin typeface="Calibri" panose="020F0502020204030204" pitchFamily="34" charset="0"/>
                <a:ea typeface="Calibri" panose="020F0502020204030204" pitchFamily="34" charset="0"/>
                <a:cs typeface="Times New Roman" panose="02020603050405020304" pitchFamily="18" charset="0"/>
              </a:rPr>
              <a:t> or </a:t>
            </a:r>
            <a:r>
              <a:rPr lang="en-GB" b="1" dirty="0">
                <a:latin typeface="Calibri" panose="020F0502020204030204" pitchFamily="34" charset="0"/>
                <a:ea typeface="Calibri" panose="020F0502020204030204" pitchFamily="34" charset="0"/>
                <a:cs typeface="Times New Roman" panose="02020603050405020304" pitchFamily="18" charset="0"/>
              </a:rPr>
              <a:t>even</a:t>
            </a:r>
            <a:r>
              <a:rPr lang="en-GB" dirty="0">
                <a:latin typeface="Calibri" panose="020F0502020204030204" pitchFamily="34" charset="0"/>
                <a:ea typeface="Calibri" panose="020F0502020204030204" pitchFamily="34" charset="0"/>
                <a:cs typeface="Times New Roman" panose="02020603050405020304" pitchFamily="18" charset="0"/>
              </a:rPr>
              <a:t> parity.</a:t>
            </a:r>
          </a:p>
          <a:p>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checks (odd and even)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0" name="Table 2">
            <a:extLst>
              <a:ext uri="{FF2B5EF4-FFF2-40B4-BE49-F238E27FC236}">
                <a16:creationId xmlns:a16="http://schemas.microsoft.com/office/drawing/2014/main" id="{3A645280-095D-5083-BDDE-2B143EF28B0B}"/>
              </a:ext>
            </a:extLst>
          </p:cNvPr>
          <p:cNvGraphicFramePr>
            <a:graphicFrameLocks noGrp="1"/>
          </p:cNvGraphicFramePr>
          <p:nvPr>
            <p:extLst>
              <p:ext uri="{D42A27DB-BD31-4B8C-83A1-F6EECF244321}">
                <p14:modId xmlns:p14="http://schemas.microsoft.com/office/powerpoint/2010/main" val="2567579186"/>
              </p:ext>
            </p:extLst>
          </p:nvPr>
        </p:nvGraphicFramePr>
        <p:xfrm>
          <a:off x="2022475" y="2955199"/>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endParaRPr lang="en-GB" sz="3200" dirty="0">
                        <a:solidFill>
                          <a:srgbClr val="C00000"/>
                        </a:solidFill>
                      </a:endParaRP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11" name="Rectangle 10">
            <a:extLst>
              <a:ext uri="{FF2B5EF4-FFF2-40B4-BE49-F238E27FC236}">
                <a16:creationId xmlns:a16="http://schemas.microsoft.com/office/drawing/2014/main" id="{01E5708C-DC36-0EDA-BB41-19ECE2FF965C}"/>
              </a:ext>
            </a:extLst>
          </p:cNvPr>
          <p:cNvSpPr/>
          <p:nvPr/>
        </p:nvSpPr>
        <p:spPr>
          <a:xfrm>
            <a:off x="2022473" y="4155002"/>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12" name="Rectangle 11">
            <a:extLst>
              <a:ext uri="{FF2B5EF4-FFF2-40B4-BE49-F238E27FC236}">
                <a16:creationId xmlns:a16="http://schemas.microsoft.com/office/drawing/2014/main" id="{DCFE2483-8820-EBCF-4F24-2DF36017679C}"/>
              </a:ext>
            </a:extLst>
          </p:cNvPr>
          <p:cNvSpPr/>
          <p:nvPr/>
        </p:nvSpPr>
        <p:spPr>
          <a:xfrm>
            <a:off x="6175189" y="4155002"/>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13" name="Right Brace 12">
            <a:extLst>
              <a:ext uri="{FF2B5EF4-FFF2-40B4-BE49-F238E27FC236}">
                <a16:creationId xmlns:a16="http://schemas.microsoft.com/office/drawing/2014/main" id="{8745F1A3-53AC-CA83-651D-075083BCFB8F}"/>
              </a:ext>
            </a:extLst>
          </p:cNvPr>
          <p:cNvSpPr/>
          <p:nvPr/>
        </p:nvSpPr>
        <p:spPr>
          <a:xfrm rot="5400000">
            <a:off x="6474366" y="478893"/>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5" name="Right Brace 14">
            <a:extLst>
              <a:ext uri="{FF2B5EF4-FFF2-40B4-BE49-F238E27FC236}">
                <a16:creationId xmlns:a16="http://schemas.microsoft.com/office/drawing/2014/main" id="{D56289C4-F208-0ADC-CB65-D106DC5A0F41}"/>
              </a:ext>
            </a:extLst>
          </p:cNvPr>
          <p:cNvSpPr/>
          <p:nvPr/>
        </p:nvSpPr>
        <p:spPr>
          <a:xfrm rot="5400000">
            <a:off x="2410365" y="3515011"/>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688680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checks (odd and even)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64E01C34-1378-39F6-DA95-8E559AF243DB}"/>
              </a:ext>
            </a:extLst>
          </p:cNvPr>
          <p:cNvGraphicFramePr>
            <a:graphicFrameLocks noGrp="1"/>
          </p:cNvGraphicFramePr>
          <p:nvPr>
            <p:extLst>
              <p:ext uri="{D42A27DB-BD31-4B8C-83A1-F6EECF244321}">
                <p14:modId xmlns:p14="http://schemas.microsoft.com/office/powerpoint/2010/main" val="113102569"/>
              </p:ext>
            </p:extLst>
          </p:nvPr>
        </p:nvGraphicFramePr>
        <p:xfrm>
          <a:off x="2022475" y="2955199"/>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endParaRPr lang="en-GB" sz="3200" dirty="0">
                        <a:solidFill>
                          <a:srgbClr val="C00000"/>
                        </a:solidFill>
                      </a:endParaRP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5" name="Rectangle 4">
            <a:extLst>
              <a:ext uri="{FF2B5EF4-FFF2-40B4-BE49-F238E27FC236}">
                <a16:creationId xmlns:a16="http://schemas.microsoft.com/office/drawing/2014/main" id="{72161D13-6667-E494-16AA-335558A9D137}"/>
              </a:ext>
            </a:extLst>
          </p:cNvPr>
          <p:cNvSpPr/>
          <p:nvPr/>
        </p:nvSpPr>
        <p:spPr>
          <a:xfrm>
            <a:off x="2022473" y="4155002"/>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7" name="Rectangle 6">
            <a:extLst>
              <a:ext uri="{FF2B5EF4-FFF2-40B4-BE49-F238E27FC236}">
                <a16:creationId xmlns:a16="http://schemas.microsoft.com/office/drawing/2014/main" id="{D2C16BD2-10C2-A26B-4864-0D03E21D313F}"/>
              </a:ext>
            </a:extLst>
          </p:cNvPr>
          <p:cNvSpPr/>
          <p:nvPr/>
        </p:nvSpPr>
        <p:spPr>
          <a:xfrm>
            <a:off x="6175189" y="4155002"/>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3" name="Right Brace 2">
            <a:extLst>
              <a:ext uri="{FF2B5EF4-FFF2-40B4-BE49-F238E27FC236}">
                <a16:creationId xmlns:a16="http://schemas.microsoft.com/office/drawing/2014/main" id="{B7B779EC-F5E5-7F50-D5C7-ADD6659AFA4C}"/>
              </a:ext>
            </a:extLst>
          </p:cNvPr>
          <p:cNvSpPr/>
          <p:nvPr/>
        </p:nvSpPr>
        <p:spPr>
          <a:xfrm rot="5400000">
            <a:off x="6474366" y="478893"/>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Right Brace 7">
            <a:extLst>
              <a:ext uri="{FF2B5EF4-FFF2-40B4-BE49-F238E27FC236}">
                <a16:creationId xmlns:a16="http://schemas.microsoft.com/office/drawing/2014/main" id="{176076C3-8E75-8056-BA22-595CF0304497}"/>
              </a:ext>
            </a:extLst>
          </p:cNvPr>
          <p:cNvSpPr/>
          <p:nvPr/>
        </p:nvSpPr>
        <p:spPr>
          <a:xfrm rot="5400000">
            <a:off x="2410365" y="3515011"/>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aphicFrame>
        <p:nvGraphicFramePr>
          <p:cNvPr id="9" name="Table 2">
            <a:extLst>
              <a:ext uri="{FF2B5EF4-FFF2-40B4-BE49-F238E27FC236}">
                <a16:creationId xmlns:a16="http://schemas.microsoft.com/office/drawing/2014/main" id="{4442FF9D-7CA6-9685-D201-DCB17B0633E5}"/>
              </a:ext>
            </a:extLst>
          </p:cNvPr>
          <p:cNvGraphicFramePr>
            <a:graphicFrameLocks noGrp="1"/>
          </p:cNvGraphicFramePr>
          <p:nvPr>
            <p:extLst>
              <p:ext uri="{D42A27DB-BD31-4B8C-83A1-F6EECF244321}">
                <p14:modId xmlns:p14="http://schemas.microsoft.com/office/powerpoint/2010/main" val="3312041027"/>
              </p:ext>
            </p:extLst>
          </p:nvPr>
        </p:nvGraphicFramePr>
        <p:xfrm>
          <a:off x="2032000" y="4533834"/>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graphicFrame>
        <p:nvGraphicFramePr>
          <p:cNvPr id="10" name="Table 2">
            <a:extLst>
              <a:ext uri="{FF2B5EF4-FFF2-40B4-BE49-F238E27FC236}">
                <a16:creationId xmlns:a16="http://schemas.microsoft.com/office/drawing/2014/main" id="{5FF1E9CA-3B0A-31B6-ACB6-6767A1DBB2FA}"/>
              </a:ext>
            </a:extLst>
          </p:cNvPr>
          <p:cNvGraphicFramePr>
            <a:graphicFrameLocks noGrp="1"/>
          </p:cNvGraphicFramePr>
          <p:nvPr>
            <p:extLst>
              <p:ext uri="{D42A27DB-BD31-4B8C-83A1-F6EECF244321}">
                <p14:modId xmlns:p14="http://schemas.microsoft.com/office/powerpoint/2010/main" val="335783360"/>
              </p:ext>
            </p:extLst>
          </p:nvPr>
        </p:nvGraphicFramePr>
        <p:xfrm>
          <a:off x="2032000" y="5482806"/>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11" name="Rectangle 10">
            <a:extLst>
              <a:ext uri="{FF2B5EF4-FFF2-40B4-BE49-F238E27FC236}">
                <a16:creationId xmlns:a16="http://schemas.microsoft.com/office/drawing/2014/main" id="{07FC07A9-F734-B8C6-9BFF-D21988057F15}"/>
              </a:ext>
            </a:extLst>
          </p:cNvPr>
          <p:cNvSpPr/>
          <p:nvPr/>
        </p:nvSpPr>
        <p:spPr>
          <a:xfrm>
            <a:off x="812798" y="4799864"/>
            <a:ext cx="1219202"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Odd parity</a:t>
            </a:r>
          </a:p>
        </p:txBody>
      </p:sp>
      <p:sp>
        <p:nvSpPr>
          <p:cNvPr id="12" name="Rectangle 11">
            <a:extLst>
              <a:ext uri="{FF2B5EF4-FFF2-40B4-BE49-F238E27FC236}">
                <a16:creationId xmlns:a16="http://schemas.microsoft.com/office/drawing/2014/main" id="{12DBBE3D-41B5-6271-437B-D93E7A2081A5}"/>
              </a:ext>
            </a:extLst>
          </p:cNvPr>
          <p:cNvSpPr/>
          <p:nvPr/>
        </p:nvSpPr>
        <p:spPr>
          <a:xfrm>
            <a:off x="723900" y="5743136"/>
            <a:ext cx="1308100"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Even parity</a:t>
            </a:r>
          </a:p>
        </p:txBody>
      </p:sp>
      <p:sp>
        <p:nvSpPr>
          <p:cNvPr id="14" name="Rectangle 13">
            <a:extLst>
              <a:ext uri="{FF2B5EF4-FFF2-40B4-BE49-F238E27FC236}">
                <a16:creationId xmlns:a16="http://schemas.microsoft.com/office/drawing/2014/main" id="{3863D045-D1F6-7A8F-51E1-5C5B5E7B0F10}"/>
              </a:ext>
            </a:extLst>
          </p:cNvPr>
          <p:cNvSpPr/>
          <p:nvPr/>
        </p:nvSpPr>
        <p:spPr>
          <a:xfrm>
            <a:off x="220675" y="1052896"/>
            <a:ext cx="10313586" cy="2164695"/>
          </a:xfrm>
          <a:prstGeom prst="rect">
            <a:avLst/>
          </a:prstGeom>
        </p:spPr>
        <p:txBody>
          <a:bodyPr wrap="square">
            <a:spAutoFit/>
          </a:bodyPr>
          <a:lstStyle/>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Computers submit data in bytes. As we know, a byte is 8 bits.</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In this method, the </a:t>
            </a:r>
            <a:r>
              <a:rPr lang="en-GB" b="1" dirty="0">
                <a:latin typeface="Calibri" panose="020F0502020204030204" pitchFamily="34" charset="0"/>
                <a:ea typeface="Calibri" panose="020F0502020204030204" pitchFamily="34" charset="0"/>
                <a:cs typeface="Times New Roman" panose="02020603050405020304" pitchFamily="18" charset="0"/>
              </a:rPr>
              <a:t>Most Significant Bit </a:t>
            </a:r>
            <a:r>
              <a:rPr lang="en-GB" dirty="0">
                <a:latin typeface="Calibri" panose="020F0502020204030204" pitchFamily="34" charset="0"/>
                <a:ea typeface="Calibri" panose="020F0502020204030204" pitchFamily="34" charset="0"/>
                <a:cs typeface="Times New Roman" panose="02020603050405020304" pitchFamily="18" charset="0"/>
              </a:rPr>
              <a:t>(</a:t>
            </a:r>
            <a:r>
              <a:rPr lang="en-GB" b="1" dirty="0">
                <a:latin typeface="Calibri" panose="020F0502020204030204" pitchFamily="34" charset="0"/>
                <a:ea typeface="Calibri" panose="020F0502020204030204" pitchFamily="34" charset="0"/>
                <a:cs typeface="Times New Roman" panose="02020603050405020304" pitchFamily="18" charset="0"/>
              </a:rPr>
              <a:t>MSB</a:t>
            </a:r>
            <a:r>
              <a:rPr lang="en-GB" dirty="0">
                <a:latin typeface="Calibri" panose="020F0502020204030204" pitchFamily="34" charset="0"/>
                <a:ea typeface="Calibri" panose="020F0502020204030204" pitchFamily="34" charset="0"/>
                <a:cs typeface="Times New Roman" panose="02020603050405020304" pitchFamily="18" charset="0"/>
              </a:rPr>
              <a:t>) is reserved and used as a </a:t>
            </a:r>
            <a:r>
              <a:rPr lang="en-GB" b="1" dirty="0">
                <a:latin typeface="Calibri" panose="020F0502020204030204" pitchFamily="34" charset="0"/>
                <a:ea typeface="Calibri" panose="020F0502020204030204" pitchFamily="34" charset="0"/>
                <a:cs typeface="Times New Roman" panose="02020603050405020304" pitchFamily="18" charset="0"/>
              </a:rPr>
              <a:t>parity bit</a:t>
            </a:r>
            <a:r>
              <a:rPr lang="en-GB" dirty="0">
                <a:latin typeface="Calibri" panose="020F0502020204030204" pitchFamily="34" charset="0"/>
                <a:ea typeface="Calibri" panose="020F0502020204030204" pitchFamily="34" charset="0"/>
                <a:cs typeface="Times New Roman" panose="02020603050405020304" pitchFamily="18" charset="0"/>
              </a:rPr>
              <a:t>.</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We can use either </a:t>
            </a:r>
            <a:r>
              <a:rPr lang="en-GB" b="1" dirty="0">
                <a:latin typeface="Calibri" panose="020F0502020204030204" pitchFamily="34" charset="0"/>
                <a:ea typeface="Calibri" panose="020F0502020204030204" pitchFamily="34" charset="0"/>
                <a:cs typeface="Times New Roman" panose="02020603050405020304" pitchFamily="18" charset="0"/>
              </a:rPr>
              <a:t>odd</a:t>
            </a:r>
            <a:r>
              <a:rPr lang="en-GB" dirty="0">
                <a:latin typeface="Calibri" panose="020F0502020204030204" pitchFamily="34" charset="0"/>
                <a:ea typeface="Calibri" panose="020F0502020204030204" pitchFamily="34" charset="0"/>
                <a:cs typeface="Times New Roman" panose="02020603050405020304" pitchFamily="18" charset="0"/>
              </a:rPr>
              <a:t> or </a:t>
            </a:r>
            <a:r>
              <a:rPr lang="en-GB" b="1" dirty="0">
                <a:latin typeface="Calibri" panose="020F0502020204030204" pitchFamily="34" charset="0"/>
                <a:ea typeface="Calibri" panose="020F0502020204030204" pitchFamily="34" charset="0"/>
                <a:cs typeface="Times New Roman" panose="02020603050405020304" pitchFamily="18" charset="0"/>
              </a:rPr>
              <a:t>even</a:t>
            </a:r>
            <a:r>
              <a:rPr lang="en-GB" dirty="0">
                <a:latin typeface="Calibri" panose="020F0502020204030204" pitchFamily="34" charset="0"/>
                <a:ea typeface="Calibri" panose="020F0502020204030204" pitchFamily="34" charset="0"/>
                <a:cs typeface="Times New Roman" panose="02020603050405020304" pitchFamily="18" charset="0"/>
              </a:rPr>
              <a:t> parity.</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The </a:t>
            </a:r>
            <a:r>
              <a:rPr lang="en-GB" b="1" dirty="0">
                <a:latin typeface="Calibri" panose="020F0502020204030204" pitchFamily="34" charset="0"/>
                <a:ea typeface="Calibri" panose="020F0502020204030204" pitchFamily="34" charset="0"/>
                <a:cs typeface="Times New Roman" panose="02020603050405020304" pitchFamily="18" charset="0"/>
              </a:rPr>
              <a:t>parity bit</a:t>
            </a:r>
            <a:r>
              <a:rPr lang="en-GB" dirty="0">
                <a:latin typeface="Calibri" panose="020F0502020204030204" pitchFamily="34" charset="0"/>
                <a:ea typeface="Calibri" panose="020F0502020204030204" pitchFamily="34" charset="0"/>
                <a:cs typeface="Times New Roman" panose="02020603050405020304" pitchFamily="18" charset="0"/>
              </a:rPr>
              <a:t> is set to either 0 or 1 so that the total number of 1s in the byte is either odd or even.</a:t>
            </a:r>
          </a:p>
          <a:p>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9581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checks (odd and even)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3A41EDAB-FB27-2EC7-8F33-3E186699443F}"/>
              </a:ext>
            </a:extLst>
          </p:cNvPr>
          <p:cNvSpPr/>
          <p:nvPr/>
        </p:nvSpPr>
        <p:spPr>
          <a:xfrm>
            <a:off x="220675" y="1052896"/>
            <a:ext cx="11675234" cy="923330"/>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Standard ASCII characters store letters in 7 bits and do not make use of the </a:t>
            </a:r>
            <a:r>
              <a:rPr lang="en-GB" b="1" dirty="0">
                <a:latin typeface="Calibri" panose="020F0502020204030204" pitchFamily="34" charset="0"/>
                <a:ea typeface="Calibri" panose="020F0502020204030204" pitchFamily="34" charset="0"/>
                <a:cs typeface="Times New Roman" panose="02020603050405020304" pitchFamily="18" charset="0"/>
              </a:rPr>
              <a:t>Most Significant Bit (</a:t>
            </a:r>
            <a:r>
              <a:rPr lang="en-GB" b="1">
                <a:latin typeface="Calibri" panose="020F0502020204030204" pitchFamily="34" charset="0"/>
                <a:ea typeface="Calibri" panose="020F0502020204030204" pitchFamily="34" charset="0"/>
                <a:cs typeface="Times New Roman" panose="02020603050405020304" pitchFamily="18" charset="0"/>
              </a:rPr>
              <a:t>MSB)</a:t>
            </a:r>
            <a:r>
              <a:rPr lang="en-GB">
                <a:latin typeface="Calibri" panose="020F0502020204030204" pitchFamily="34" charset="0"/>
                <a:ea typeface="Calibri" panose="020F0502020204030204" pitchFamily="34" charset="0"/>
                <a:cs typeface="Times New Roman" panose="02020603050405020304" pitchFamily="18" charset="0"/>
              </a:rPr>
              <a:t>, so it can </a:t>
            </a:r>
            <a:r>
              <a:rPr lang="en-GB" dirty="0">
                <a:latin typeface="Calibri" panose="020F0502020204030204" pitchFamily="34" charset="0"/>
                <a:ea typeface="Calibri" panose="020F0502020204030204" pitchFamily="34" charset="0"/>
                <a:cs typeface="Times New Roman" panose="02020603050405020304" pitchFamily="18" charset="0"/>
              </a:rPr>
              <a:t>potentially be turned into a </a:t>
            </a:r>
            <a:r>
              <a:rPr lang="en-GB" b="1" dirty="0">
                <a:latin typeface="Calibri" panose="020F0502020204030204" pitchFamily="34" charset="0"/>
                <a:ea typeface="Calibri" panose="020F0502020204030204" pitchFamily="34" charset="0"/>
                <a:cs typeface="Times New Roman" panose="02020603050405020304" pitchFamily="18" charset="0"/>
              </a:rPr>
              <a:t>parity bit</a:t>
            </a:r>
            <a:r>
              <a:rPr lang="en-GB" dirty="0">
                <a:latin typeface="Calibri" panose="020F0502020204030204" pitchFamily="34" charset="0"/>
                <a:ea typeface="Calibri" panose="020F0502020204030204" pitchFamily="34" charset="0"/>
                <a:cs typeface="Times New Roman" panose="02020603050405020304" pitchFamily="18" charset="0"/>
              </a:rPr>
              <a:t>.</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1" name="Table 2">
            <a:extLst>
              <a:ext uri="{FF2B5EF4-FFF2-40B4-BE49-F238E27FC236}">
                <a16:creationId xmlns:a16="http://schemas.microsoft.com/office/drawing/2014/main" id="{F0D7449E-2FD0-44BC-C1D3-EFC1FA66327A}"/>
              </a:ext>
            </a:extLst>
          </p:cNvPr>
          <p:cNvGraphicFramePr>
            <a:graphicFrameLocks noGrp="1"/>
          </p:cNvGraphicFramePr>
          <p:nvPr>
            <p:extLst>
              <p:ext uri="{D42A27DB-BD31-4B8C-83A1-F6EECF244321}">
                <p14:modId xmlns:p14="http://schemas.microsoft.com/office/powerpoint/2010/main" val="1596033639"/>
              </p:ext>
            </p:extLst>
          </p:nvPr>
        </p:nvGraphicFramePr>
        <p:xfrm>
          <a:off x="2084258" y="2475138"/>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12" name="Rectangle 11">
            <a:extLst>
              <a:ext uri="{FF2B5EF4-FFF2-40B4-BE49-F238E27FC236}">
                <a16:creationId xmlns:a16="http://schemas.microsoft.com/office/drawing/2014/main" id="{279F8273-26D1-39C8-F07E-C87B6F0692BC}"/>
              </a:ext>
            </a:extLst>
          </p:cNvPr>
          <p:cNvSpPr/>
          <p:nvPr/>
        </p:nvSpPr>
        <p:spPr>
          <a:xfrm>
            <a:off x="2084256" y="3674941"/>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14" name="Rectangle 13">
            <a:extLst>
              <a:ext uri="{FF2B5EF4-FFF2-40B4-BE49-F238E27FC236}">
                <a16:creationId xmlns:a16="http://schemas.microsoft.com/office/drawing/2014/main" id="{DD057A31-0CC0-88AD-1E18-27DDD31218BC}"/>
              </a:ext>
            </a:extLst>
          </p:cNvPr>
          <p:cNvSpPr/>
          <p:nvPr/>
        </p:nvSpPr>
        <p:spPr>
          <a:xfrm>
            <a:off x="5500558" y="3674941"/>
            <a:ext cx="2305049"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Character code for G</a:t>
            </a:r>
          </a:p>
        </p:txBody>
      </p:sp>
      <p:sp>
        <p:nvSpPr>
          <p:cNvPr id="16" name="Right Brace 15">
            <a:extLst>
              <a:ext uri="{FF2B5EF4-FFF2-40B4-BE49-F238E27FC236}">
                <a16:creationId xmlns:a16="http://schemas.microsoft.com/office/drawing/2014/main" id="{CDAB565C-CB68-A81F-44DE-FBDA54B36735}"/>
              </a:ext>
            </a:extLst>
          </p:cNvPr>
          <p:cNvSpPr/>
          <p:nvPr/>
        </p:nvSpPr>
        <p:spPr>
          <a:xfrm rot="5400000">
            <a:off x="6536149" y="-1168"/>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Right Brace 16">
            <a:extLst>
              <a:ext uri="{FF2B5EF4-FFF2-40B4-BE49-F238E27FC236}">
                <a16:creationId xmlns:a16="http://schemas.microsoft.com/office/drawing/2014/main" id="{A747D076-B686-31BD-2782-C348CC6C6165}"/>
              </a:ext>
            </a:extLst>
          </p:cNvPr>
          <p:cNvSpPr/>
          <p:nvPr/>
        </p:nvSpPr>
        <p:spPr>
          <a:xfrm rot="5400000">
            <a:off x="2472148" y="3034950"/>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8" name="Rectangle 17">
            <a:extLst>
              <a:ext uri="{FF2B5EF4-FFF2-40B4-BE49-F238E27FC236}">
                <a16:creationId xmlns:a16="http://schemas.microsoft.com/office/drawing/2014/main" id="{90C19387-909D-D934-66ED-FE177CB724D1}"/>
              </a:ext>
            </a:extLst>
          </p:cNvPr>
          <p:cNvSpPr/>
          <p:nvPr/>
        </p:nvSpPr>
        <p:spPr>
          <a:xfrm>
            <a:off x="353877" y="2621718"/>
            <a:ext cx="1606553" cy="646331"/>
          </a:xfrm>
          <a:prstGeom prst="rect">
            <a:avLst/>
          </a:prstGeom>
        </p:spPr>
        <p:txBody>
          <a:bodyPr wrap="square">
            <a:spAutoFit/>
          </a:bodyPr>
          <a:lstStyle/>
          <a:p>
            <a:pPr algn="ctr"/>
            <a:r>
              <a:rPr lang="en-GB" b="1" dirty="0">
                <a:latin typeface="Calibri" panose="020F0502020204030204" pitchFamily="34" charset="0"/>
                <a:ea typeface="Calibri" panose="020F0502020204030204" pitchFamily="34" charset="0"/>
                <a:cs typeface="Times New Roman" panose="02020603050405020304" pitchFamily="18" charset="0"/>
              </a:rPr>
              <a:t>G sent using </a:t>
            </a:r>
          </a:p>
          <a:p>
            <a:pPr algn="ctr"/>
            <a:r>
              <a:rPr lang="en-GB" b="1" dirty="0">
                <a:latin typeface="Calibri" panose="020F0502020204030204" pitchFamily="34" charset="0"/>
                <a:ea typeface="Calibri" panose="020F0502020204030204" pitchFamily="34" charset="0"/>
                <a:cs typeface="Times New Roman" panose="02020603050405020304" pitchFamily="18" charset="0"/>
              </a:rPr>
              <a:t>even parity</a:t>
            </a:r>
          </a:p>
        </p:txBody>
      </p:sp>
      <p:graphicFrame>
        <p:nvGraphicFramePr>
          <p:cNvPr id="19" name="Table 2">
            <a:extLst>
              <a:ext uri="{FF2B5EF4-FFF2-40B4-BE49-F238E27FC236}">
                <a16:creationId xmlns:a16="http://schemas.microsoft.com/office/drawing/2014/main" id="{AAC51D2A-5425-CE7F-8EF5-255870590012}"/>
              </a:ext>
            </a:extLst>
          </p:cNvPr>
          <p:cNvGraphicFramePr>
            <a:graphicFrameLocks noGrp="1"/>
          </p:cNvGraphicFramePr>
          <p:nvPr>
            <p:extLst>
              <p:ext uri="{D42A27DB-BD31-4B8C-83A1-F6EECF244321}">
                <p14:modId xmlns:p14="http://schemas.microsoft.com/office/powerpoint/2010/main" val="2478198654"/>
              </p:ext>
            </p:extLst>
          </p:nvPr>
        </p:nvGraphicFramePr>
        <p:xfrm>
          <a:off x="2084258" y="4499249"/>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20" name="Rectangle 19">
            <a:extLst>
              <a:ext uri="{FF2B5EF4-FFF2-40B4-BE49-F238E27FC236}">
                <a16:creationId xmlns:a16="http://schemas.microsoft.com/office/drawing/2014/main" id="{C1AD9982-BF54-DABE-4904-4E89CAA00639}"/>
              </a:ext>
            </a:extLst>
          </p:cNvPr>
          <p:cNvSpPr/>
          <p:nvPr/>
        </p:nvSpPr>
        <p:spPr>
          <a:xfrm>
            <a:off x="2084256" y="5699052"/>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21" name="Rectangle 20">
            <a:extLst>
              <a:ext uri="{FF2B5EF4-FFF2-40B4-BE49-F238E27FC236}">
                <a16:creationId xmlns:a16="http://schemas.microsoft.com/office/drawing/2014/main" id="{4B92F55E-3CF6-4BA6-46BE-05EAC08B592F}"/>
              </a:ext>
            </a:extLst>
          </p:cNvPr>
          <p:cNvSpPr/>
          <p:nvPr/>
        </p:nvSpPr>
        <p:spPr>
          <a:xfrm>
            <a:off x="5500558" y="5699052"/>
            <a:ext cx="2305049"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Character code for G</a:t>
            </a:r>
          </a:p>
        </p:txBody>
      </p:sp>
      <p:sp>
        <p:nvSpPr>
          <p:cNvPr id="22" name="Right Brace 21">
            <a:extLst>
              <a:ext uri="{FF2B5EF4-FFF2-40B4-BE49-F238E27FC236}">
                <a16:creationId xmlns:a16="http://schemas.microsoft.com/office/drawing/2014/main" id="{B4F67D5A-C2C9-B94B-B173-D381CC31B3E7}"/>
              </a:ext>
            </a:extLst>
          </p:cNvPr>
          <p:cNvSpPr/>
          <p:nvPr/>
        </p:nvSpPr>
        <p:spPr>
          <a:xfrm rot="5400000">
            <a:off x="6536149" y="2022943"/>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3" name="Right Brace 22">
            <a:extLst>
              <a:ext uri="{FF2B5EF4-FFF2-40B4-BE49-F238E27FC236}">
                <a16:creationId xmlns:a16="http://schemas.microsoft.com/office/drawing/2014/main" id="{7B34F897-0B1F-BFD4-57E8-8FB83E2A7CAF}"/>
              </a:ext>
            </a:extLst>
          </p:cNvPr>
          <p:cNvSpPr/>
          <p:nvPr/>
        </p:nvSpPr>
        <p:spPr>
          <a:xfrm rot="5400000">
            <a:off x="2472148" y="5059061"/>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A1EF4AC8-545B-0668-9251-0223268F6E74}"/>
              </a:ext>
            </a:extLst>
          </p:cNvPr>
          <p:cNvSpPr/>
          <p:nvPr/>
        </p:nvSpPr>
        <p:spPr>
          <a:xfrm>
            <a:off x="353877" y="4645829"/>
            <a:ext cx="1606553" cy="646331"/>
          </a:xfrm>
          <a:prstGeom prst="rect">
            <a:avLst/>
          </a:prstGeom>
        </p:spPr>
        <p:txBody>
          <a:bodyPr wrap="square">
            <a:spAutoFit/>
          </a:bodyPr>
          <a:lstStyle/>
          <a:p>
            <a:pPr algn="ctr"/>
            <a:r>
              <a:rPr lang="en-GB" b="1" dirty="0">
                <a:latin typeface="Calibri" panose="020F0502020204030204" pitchFamily="34" charset="0"/>
                <a:ea typeface="Calibri" panose="020F0502020204030204" pitchFamily="34" charset="0"/>
                <a:cs typeface="Times New Roman" panose="02020603050405020304" pitchFamily="18" charset="0"/>
              </a:rPr>
              <a:t>G sent using </a:t>
            </a:r>
          </a:p>
          <a:p>
            <a:pPr algn="ctr"/>
            <a:r>
              <a:rPr lang="en-GB" b="1" dirty="0">
                <a:latin typeface="Calibri" panose="020F0502020204030204" pitchFamily="34" charset="0"/>
                <a:ea typeface="Calibri" panose="020F0502020204030204" pitchFamily="34" charset="0"/>
                <a:cs typeface="Times New Roman" panose="02020603050405020304" pitchFamily="18" charset="0"/>
              </a:rPr>
              <a:t>odd parity</a:t>
            </a:r>
          </a:p>
        </p:txBody>
      </p:sp>
    </p:spTree>
    <p:extLst>
      <p:ext uri="{BB962C8B-B14F-4D97-AF65-F5344CB8AC3E}">
        <p14:creationId xmlns:p14="http://schemas.microsoft.com/office/powerpoint/2010/main" val="3003951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checks (odd and even)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64E01C34-1378-39F6-DA95-8E559AF243DB}"/>
              </a:ext>
            </a:extLst>
          </p:cNvPr>
          <p:cNvGraphicFramePr>
            <a:graphicFrameLocks noGrp="1"/>
          </p:cNvGraphicFramePr>
          <p:nvPr/>
        </p:nvGraphicFramePr>
        <p:xfrm>
          <a:off x="2022475" y="1383615"/>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5" name="Rectangle 4">
            <a:extLst>
              <a:ext uri="{FF2B5EF4-FFF2-40B4-BE49-F238E27FC236}">
                <a16:creationId xmlns:a16="http://schemas.microsoft.com/office/drawing/2014/main" id="{72161D13-6667-E494-16AA-335558A9D137}"/>
              </a:ext>
            </a:extLst>
          </p:cNvPr>
          <p:cNvSpPr/>
          <p:nvPr/>
        </p:nvSpPr>
        <p:spPr>
          <a:xfrm>
            <a:off x="2022473" y="2583418"/>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7" name="Rectangle 6">
            <a:extLst>
              <a:ext uri="{FF2B5EF4-FFF2-40B4-BE49-F238E27FC236}">
                <a16:creationId xmlns:a16="http://schemas.microsoft.com/office/drawing/2014/main" id="{D2C16BD2-10C2-A26B-4864-0D03E21D313F}"/>
              </a:ext>
            </a:extLst>
          </p:cNvPr>
          <p:cNvSpPr/>
          <p:nvPr/>
        </p:nvSpPr>
        <p:spPr>
          <a:xfrm>
            <a:off x="6175189" y="2583418"/>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3" name="Right Brace 2">
            <a:extLst>
              <a:ext uri="{FF2B5EF4-FFF2-40B4-BE49-F238E27FC236}">
                <a16:creationId xmlns:a16="http://schemas.microsoft.com/office/drawing/2014/main" id="{B7B779EC-F5E5-7F50-D5C7-ADD6659AFA4C}"/>
              </a:ext>
            </a:extLst>
          </p:cNvPr>
          <p:cNvSpPr/>
          <p:nvPr/>
        </p:nvSpPr>
        <p:spPr>
          <a:xfrm rot="5400000">
            <a:off x="6474366" y="-1092691"/>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Right Brace 7">
            <a:extLst>
              <a:ext uri="{FF2B5EF4-FFF2-40B4-BE49-F238E27FC236}">
                <a16:creationId xmlns:a16="http://schemas.microsoft.com/office/drawing/2014/main" id="{176076C3-8E75-8056-BA22-595CF0304497}"/>
              </a:ext>
            </a:extLst>
          </p:cNvPr>
          <p:cNvSpPr/>
          <p:nvPr/>
        </p:nvSpPr>
        <p:spPr>
          <a:xfrm rot="5400000">
            <a:off x="2410365" y="1943427"/>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ectangle 12">
            <a:extLst>
              <a:ext uri="{FF2B5EF4-FFF2-40B4-BE49-F238E27FC236}">
                <a16:creationId xmlns:a16="http://schemas.microsoft.com/office/drawing/2014/main" id="{1DA99FB6-394D-61FC-431E-22951926D4E3}"/>
              </a:ext>
            </a:extLst>
          </p:cNvPr>
          <p:cNvSpPr/>
          <p:nvPr/>
        </p:nvSpPr>
        <p:spPr>
          <a:xfrm>
            <a:off x="1936564" y="967369"/>
            <a:ext cx="5807261" cy="369332"/>
          </a:xfrm>
          <a:prstGeom prst="rect">
            <a:avLst/>
          </a:prstGeom>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A byte of data being sent using odd parity without an error.</a:t>
            </a:r>
          </a:p>
        </p:txBody>
      </p:sp>
      <p:pic>
        <p:nvPicPr>
          <p:cNvPr id="15" name="Graphic 14" descr="Checkmark with solid fill">
            <a:extLst>
              <a:ext uri="{FF2B5EF4-FFF2-40B4-BE49-F238E27FC236}">
                <a16:creationId xmlns:a16="http://schemas.microsoft.com/office/drawing/2014/main" id="{8819790A-7DE4-4A9B-4175-962970AB3E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02794" y="1416919"/>
            <a:ext cx="914400" cy="914400"/>
          </a:xfrm>
          <a:prstGeom prst="rect">
            <a:avLst/>
          </a:prstGeom>
        </p:spPr>
      </p:pic>
    </p:spTree>
    <p:extLst>
      <p:ext uri="{BB962C8B-B14F-4D97-AF65-F5344CB8AC3E}">
        <p14:creationId xmlns:p14="http://schemas.microsoft.com/office/powerpoint/2010/main" val="1663254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checks (odd and even)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64E01C34-1378-39F6-DA95-8E559AF243DB}"/>
              </a:ext>
            </a:extLst>
          </p:cNvPr>
          <p:cNvGraphicFramePr>
            <a:graphicFrameLocks noGrp="1"/>
          </p:cNvGraphicFramePr>
          <p:nvPr>
            <p:extLst>
              <p:ext uri="{D42A27DB-BD31-4B8C-83A1-F6EECF244321}">
                <p14:modId xmlns:p14="http://schemas.microsoft.com/office/powerpoint/2010/main" val="156385951"/>
              </p:ext>
            </p:extLst>
          </p:nvPr>
        </p:nvGraphicFramePr>
        <p:xfrm>
          <a:off x="2022475" y="1383615"/>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5" name="Rectangle 4">
            <a:extLst>
              <a:ext uri="{FF2B5EF4-FFF2-40B4-BE49-F238E27FC236}">
                <a16:creationId xmlns:a16="http://schemas.microsoft.com/office/drawing/2014/main" id="{72161D13-6667-E494-16AA-335558A9D137}"/>
              </a:ext>
            </a:extLst>
          </p:cNvPr>
          <p:cNvSpPr/>
          <p:nvPr/>
        </p:nvSpPr>
        <p:spPr>
          <a:xfrm>
            <a:off x="2022473" y="2583418"/>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7" name="Rectangle 6">
            <a:extLst>
              <a:ext uri="{FF2B5EF4-FFF2-40B4-BE49-F238E27FC236}">
                <a16:creationId xmlns:a16="http://schemas.microsoft.com/office/drawing/2014/main" id="{D2C16BD2-10C2-A26B-4864-0D03E21D313F}"/>
              </a:ext>
            </a:extLst>
          </p:cNvPr>
          <p:cNvSpPr/>
          <p:nvPr/>
        </p:nvSpPr>
        <p:spPr>
          <a:xfrm>
            <a:off x="6175189" y="2583418"/>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3" name="Right Brace 2">
            <a:extLst>
              <a:ext uri="{FF2B5EF4-FFF2-40B4-BE49-F238E27FC236}">
                <a16:creationId xmlns:a16="http://schemas.microsoft.com/office/drawing/2014/main" id="{B7B779EC-F5E5-7F50-D5C7-ADD6659AFA4C}"/>
              </a:ext>
            </a:extLst>
          </p:cNvPr>
          <p:cNvSpPr/>
          <p:nvPr/>
        </p:nvSpPr>
        <p:spPr>
          <a:xfrm rot="5400000">
            <a:off x="6474366" y="-1092691"/>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Right Brace 7">
            <a:extLst>
              <a:ext uri="{FF2B5EF4-FFF2-40B4-BE49-F238E27FC236}">
                <a16:creationId xmlns:a16="http://schemas.microsoft.com/office/drawing/2014/main" id="{176076C3-8E75-8056-BA22-595CF0304497}"/>
              </a:ext>
            </a:extLst>
          </p:cNvPr>
          <p:cNvSpPr/>
          <p:nvPr/>
        </p:nvSpPr>
        <p:spPr>
          <a:xfrm rot="5400000">
            <a:off x="2410365" y="1943427"/>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ectangle 12">
            <a:extLst>
              <a:ext uri="{FF2B5EF4-FFF2-40B4-BE49-F238E27FC236}">
                <a16:creationId xmlns:a16="http://schemas.microsoft.com/office/drawing/2014/main" id="{1DA99FB6-394D-61FC-431E-22951926D4E3}"/>
              </a:ext>
            </a:extLst>
          </p:cNvPr>
          <p:cNvSpPr/>
          <p:nvPr/>
        </p:nvSpPr>
        <p:spPr>
          <a:xfrm>
            <a:off x="1936564" y="967369"/>
            <a:ext cx="5807261" cy="369332"/>
          </a:xfrm>
          <a:prstGeom prst="rect">
            <a:avLst/>
          </a:prstGeom>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A byte of data being sent using odd parity without an error. </a:t>
            </a:r>
          </a:p>
        </p:txBody>
      </p:sp>
      <p:pic>
        <p:nvPicPr>
          <p:cNvPr id="15" name="Graphic 14" descr="Checkmark with solid fill">
            <a:extLst>
              <a:ext uri="{FF2B5EF4-FFF2-40B4-BE49-F238E27FC236}">
                <a16:creationId xmlns:a16="http://schemas.microsoft.com/office/drawing/2014/main" id="{8819790A-7DE4-4A9B-4175-962970AB3E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02794" y="1416919"/>
            <a:ext cx="914400" cy="914400"/>
          </a:xfrm>
          <a:prstGeom prst="rect">
            <a:avLst/>
          </a:prstGeom>
        </p:spPr>
      </p:pic>
      <p:graphicFrame>
        <p:nvGraphicFramePr>
          <p:cNvPr id="10" name="Table 2">
            <a:extLst>
              <a:ext uri="{FF2B5EF4-FFF2-40B4-BE49-F238E27FC236}">
                <a16:creationId xmlns:a16="http://schemas.microsoft.com/office/drawing/2014/main" id="{0C6A1889-2EC5-7D2A-B8D7-AB5EEC5B1C5A}"/>
              </a:ext>
            </a:extLst>
          </p:cNvPr>
          <p:cNvGraphicFramePr>
            <a:graphicFrameLocks noGrp="1"/>
          </p:cNvGraphicFramePr>
          <p:nvPr>
            <p:extLst>
              <p:ext uri="{D42A27DB-BD31-4B8C-83A1-F6EECF244321}">
                <p14:modId xmlns:p14="http://schemas.microsoft.com/office/powerpoint/2010/main" val="1396925109"/>
              </p:ext>
            </p:extLst>
          </p:nvPr>
        </p:nvGraphicFramePr>
        <p:xfrm>
          <a:off x="2051049" y="3368331"/>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2">
                        <a:lumMod val="40000"/>
                        <a:lumOff val="60000"/>
                      </a:schemeClr>
                    </a:solidFill>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11" name="Rectangle 10">
            <a:extLst>
              <a:ext uri="{FF2B5EF4-FFF2-40B4-BE49-F238E27FC236}">
                <a16:creationId xmlns:a16="http://schemas.microsoft.com/office/drawing/2014/main" id="{7AB2A68C-8E0F-4F9F-5479-2495C7E6C58C}"/>
              </a:ext>
            </a:extLst>
          </p:cNvPr>
          <p:cNvSpPr/>
          <p:nvPr/>
        </p:nvSpPr>
        <p:spPr>
          <a:xfrm>
            <a:off x="2051047" y="4596709"/>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12" name="Rectangle 11">
            <a:extLst>
              <a:ext uri="{FF2B5EF4-FFF2-40B4-BE49-F238E27FC236}">
                <a16:creationId xmlns:a16="http://schemas.microsoft.com/office/drawing/2014/main" id="{4DCA2FC5-6824-BD97-1855-D690D3FEF3B7}"/>
              </a:ext>
            </a:extLst>
          </p:cNvPr>
          <p:cNvSpPr/>
          <p:nvPr/>
        </p:nvSpPr>
        <p:spPr>
          <a:xfrm>
            <a:off x="6203763" y="4596709"/>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14" name="Right Brace 13">
            <a:extLst>
              <a:ext uri="{FF2B5EF4-FFF2-40B4-BE49-F238E27FC236}">
                <a16:creationId xmlns:a16="http://schemas.microsoft.com/office/drawing/2014/main" id="{E5AC0435-FFCC-B6FD-37F2-CB167D045ACD}"/>
              </a:ext>
            </a:extLst>
          </p:cNvPr>
          <p:cNvSpPr/>
          <p:nvPr/>
        </p:nvSpPr>
        <p:spPr>
          <a:xfrm rot="5400000">
            <a:off x="6502940" y="892025"/>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Right Brace 15">
            <a:extLst>
              <a:ext uri="{FF2B5EF4-FFF2-40B4-BE49-F238E27FC236}">
                <a16:creationId xmlns:a16="http://schemas.microsoft.com/office/drawing/2014/main" id="{AAF11E4C-EB8D-8810-3B8A-2BEE6AAD9C69}"/>
              </a:ext>
            </a:extLst>
          </p:cNvPr>
          <p:cNvSpPr/>
          <p:nvPr/>
        </p:nvSpPr>
        <p:spPr>
          <a:xfrm rot="5400000">
            <a:off x="2438939" y="3928143"/>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Rectangle 16">
            <a:extLst>
              <a:ext uri="{FF2B5EF4-FFF2-40B4-BE49-F238E27FC236}">
                <a16:creationId xmlns:a16="http://schemas.microsoft.com/office/drawing/2014/main" id="{EFE14196-00C6-00F8-29D9-4BE06FE14864}"/>
              </a:ext>
            </a:extLst>
          </p:cNvPr>
          <p:cNvSpPr/>
          <p:nvPr/>
        </p:nvSpPr>
        <p:spPr>
          <a:xfrm>
            <a:off x="1965138" y="2952085"/>
            <a:ext cx="7109618" cy="369332"/>
          </a:xfrm>
          <a:prstGeom prst="rect">
            <a:avLst/>
          </a:prstGeom>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A byte of data being sent using odd parity with a single error.</a:t>
            </a:r>
          </a:p>
        </p:txBody>
      </p:sp>
      <p:pic>
        <p:nvPicPr>
          <p:cNvPr id="9" name="Graphic 8" descr="Close with solid fill">
            <a:extLst>
              <a:ext uri="{FF2B5EF4-FFF2-40B4-BE49-F238E27FC236}">
                <a16:creationId xmlns:a16="http://schemas.microsoft.com/office/drawing/2014/main" id="{E9C687D6-BA0F-E3FE-04A3-3718EA251AF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02794" y="3333466"/>
            <a:ext cx="914400" cy="914400"/>
          </a:xfrm>
          <a:prstGeom prst="rect">
            <a:avLst/>
          </a:prstGeom>
        </p:spPr>
      </p:pic>
    </p:spTree>
    <p:extLst>
      <p:ext uri="{BB962C8B-B14F-4D97-AF65-F5344CB8AC3E}">
        <p14:creationId xmlns:p14="http://schemas.microsoft.com/office/powerpoint/2010/main" val="552078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checks (odd and even)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64E01C34-1378-39F6-DA95-8E559AF243DB}"/>
              </a:ext>
            </a:extLst>
          </p:cNvPr>
          <p:cNvGraphicFramePr>
            <a:graphicFrameLocks noGrp="1"/>
          </p:cNvGraphicFramePr>
          <p:nvPr/>
        </p:nvGraphicFramePr>
        <p:xfrm>
          <a:off x="2022475" y="1383615"/>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5" name="Rectangle 4">
            <a:extLst>
              <a:ext uri="{FF2B5EF4-FFF2-40B4-BE49-F238E27FC236}">
                <a16:creationId xmlns:a16="http://schemas.microsoft.com/office/drawing/2014/main" id="{72161D13-6667-E494-16AA-335558A9D137}"/>
              </a:ext>
            </a:extLst>
          </p:cNvPr>
          <p:cNvSpPr/>
          <p:nvPr/>
        </p:nvSpPr>
        <p:spPr>
          <a:xfrm>
            <a:off x="2022473" y="2583418"/>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7" name="Rectangle 6">
            <a:extLst>
              <a:ext uri="{FF2B5EF4-FFF2-40B4-BE49-F238E27FC236}">
                <a16:creationId xmlns:a16="http://schemas.microsoft.com/office/drawing/2014/main" id="{D2C16BD2-10C2-A26B-4864-0D03E21D313F}"/>
              </a:ext>
            </a:extLst>
          </p:cNvPr>
          <p:cNvSpPr/>
          <p:nvPr/>
        </p:nvSpPr>
        <p:spPr>
          <a:xfrm>
            <a:off x="6175189" y="2583418"/>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3" name="Right Brace 2">
            <a:extLst>
              <a:ext uri="{FF2B5EF4-FFF2-40B4-BE49-F238E27FC236}">
                <a16:creationId xmlns:a16="http://schemas.microsoft.com/office/drawing/2014/main" id="{B7B779EC-F5E5-7F50-D5C7-ADD6659AFA4C}"/>
              </a:ext>
            </a:extLst>
          </p:cNvPr>
          <p:cNvSpPr/>
          <p:nvPr/>
        </p:nvSpPr>
        <p:spPr>
          <a:xfrm rot="5400000">
            <a:off x="6474366" y="-1092691"/>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Right Brace 7">
            <a:extLst>
              <a:ext uri="{FF2B5EF4-FFF2-40B4-BE49-F238E27FC236}">
                <a16:creationId xmlns:a16="http://schemas.microsoft.com/office/drawing/2014/main" id="{176076C3-8E75-8056-BA22-595CF0304497}"/>
              </a:ext>
            </a:extLst>
          </p:cNvPr>
          <p:cNvSpPr/>
          <p:nvPr/>
        </p:nvSpPr>
        <p:spPr>
          <a:xfrm rot="5400000">
            <a:off x="2410365" y="1943427"/>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ectangle 12">
            <a:extLst>
              <a:ext uri="{FF2B5EF4-FFF2-40B4-BE49-F238E27FC236}">
                <a16:creationId xmlns:a16="http://schemas.microsoft.com/office/drawing/2014/main" id="{1DA99FB6-394D-61FC-431E-22951926D4E3}"/>
              </a:ext>
            </a:extLst>
          </p:cNvPr>
          <p:cNvSpPr/>
          <p:nvPr/>
        </p:nvSpPr>
        <p:spPr>
          <a:xfrm>
            <a:off x="1936564" y="967369"/>
            <a:ext cx="5807261" cy="369332"/>
          </a:xfrm>
          <a:prstGeom prst="rect">
            <a:avLst/>
          </a:prstGeom>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A byte of data being sent using odd parity without an error. </a:t>
            </a:r>
          </a:p>
        </p:txBody>
      </p:sp>
      <p:pic>
        <p:nvPicPr>
          <p:cNvPr id="15" name="Graphic 14" descr="Checkmark with solid fill">
            <a:extLst>
              <a:ext uri="{FF2B5EF4-FFF2-40B4-BE49-F238E27FC236}">
                <a16:creationId xmlns:a16="http://schemas.microsoft.com/office/drawing/2014/main" id="{8819790A-7DE4-4A9B-4175-962970AB3E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02794" y="1416919"/>
            <a:ext cx="914400" cy="914400"/>
          </a:xfrm>
          <a:prstGeom prst="rect">
            <a:avLst/>
          </a:prstGeom>
        </p:spPr>
      </p:pic>
      <p:graphicFrame>
        <p:nvGraphicFramePr>
          <p:cNvPr id="10" name="Table 2">
            <a:extLst>
              <a:ext uri="{FF2B5EF4-FFF2-40B4-BE49-F238E27FC236}">
                <a16:creationId xmlns:a16="http://schemas.microsoft.com/office/drawing/2014/main" id="{0C6A1889-2EC5-7D2A-B8D7-AB5EEC5B1C5A}"/>
              </a:ext>
            </a:extLst>
          </p:cNvPr>
          <p:cNvGraphicFramePr>
            <a:graphicFrameLocks noGrp="1"/>
          </p:cNvGraphicFramePr>
          <p:nvPr>
            <p:extLst>
              <p:ext uri="{D42A27DB-BD31-4B8C-83A1-F6EECF244321}">
                <p14:modId xmlns:p14="http://schemas.microsoft.com/office/powerpoint/2010/main" val="1373355399"/>
              </p:ext>
            </p:extLst>
          </p:nvPr>
        </p:nvGraphicFramePr>
        <p:xfrm>
          <a:off x="2051049" y="3368331"/>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2">
                        <a:lumMod val="40000"/>
                        <a:lumOff val="60000"/>
                      </a:schemeClr>
                    </a:solidFill>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11" name="Rectangle 10">
            <a:extLst>
              <a:ext uri="{FF2B5EF4-FFF2-40B4-BE49-F238E27FC236}">
                <a16:creationId xmlns:a16="http://schemas.microsoft.com/office/drawing/2014/main" id="{7AB2A68C-8E0F-4F9F-5479-2495C7E6C58C}"/>
              </a:ext>
            </a:extLst>
          </p:cNvPr>
          <p:cNvSpPr/>
          <p:nvPr/>
        </p:nvSpPr>
        <p:spPr>
          <a:xfrm>
            <a:off x="2051047" y="4596709"/>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12" name="Rectangle 11">
            <a:extLst>
              <a:ext uri="{FF2B5EF4-FFF2-40B4-BE49-F238E27FC236}">
                <a16:creationId xmlns:a16="http://schemas.microsoft.com/office/drawing/2014/main" id="{4DCA2FC5-6824-BD97-1855-D690D3FEF3B7}"/>
              </a:ext>
            </a:extLst>
          </p:cNvPr>
          <p:cNvSpPr/>
          <p:nvPr/>
        </p:nvSpPr>
        <p:spPr>
          <a:xfrm>
            <a:off x="6203763" y="4596709"/>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14" name="Right Brace 13">
            <a:extLst>
              <a:ext uri="{FF2B5EF4-FFF2-40B4-BE49-F238E27FC236}">
                <a16:creationId xmlns:a16="http://schemas.microsoft.com/office/drawing/2014/main" id="{E5AC0435-FFCC-B6FD-37F2-CB167D045ACD}"/>
              </a:ext>
            </a:extLst>
          </p:cNvPr>
          <p:cNvSpPr/>
          <p:nvPr/>
        </p:nvSpPr>
        <p:spPr>
          <a:xfrm rot="5400000">
            <a:off x="6502940" y="892025"/>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Right Brace 15">
            <a:extLst>
              <a:ext uri="{FF2B5EF4-FFF2-40B4-BE49-F238E27FC236}">
                <a16:creationId xmlns:a16="http://schemas.microsoft.com/office/drawing/2014/main" id="{AAF11E4C-EB8D-8810-3B8A-2BEE6AAD9C69}"/>
              </a:ext>
            </a:extLst>
          </p:cNvPr>
          <p:cNvSpPr/>
          <p:nvPr/>
        </p:nvSpPr>
        <p:spPr>
          <a:xfrm rot="5400000">
            <a:off x="2438939" y="3928143"/>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Rectangle 16">
            <a:extLst>
              <a:ext uri="{FF2B5EF4-FFF2-40B4-BE49-F238E27FC236}">
                <a16:creationId xmlns:a16="http://schemas.microsoft.com/office/drawing/2014/main" id="{EFE14196-00C6-00F8-29D9-4BE06FE14864}"/>
              </a:ext>
            </a:extLst>
          </p:cNvPr>
          <p:cNvSpPr/>
          <p:nvPr/>
        </p:nvSpPr>
        <p:spPr>
          <a:xfrm>
            <a:off x="1965138" y="2952085"/>
            <a:ext cx="6264462" cy="369332"/>
          </a:xfrm>
          <a:prstGeom prst="rect">
            <a:avLst/>
          </a:prstGeom>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A byte of data being sent using odd parity with a single error.</a:t>
            </a:r>
          </a:p>
        </p:txBody>
      </p:sp>
      <p:graphicFrame>
        <p:nvGraphicFramePr>
          <p:cNvPr id="18" name="Table 2">
            <a:extLst>
              <a:ext uri="{FF2B5EF4-FFF2-40B4-BE49-F238E27FC236}">
                <a16:creationId xmlns:a16="http://schemas.microsoft.com/office/drawing/2014/main" id="{BCD4BE53-C9BC-1A33-1C8E-186B2017AB6F}"/>
              </a:ext>
            </a:extLst>
          </p:cNvPr>
          <p:cNvGraphicFramePr>
            <a:graphicFrameLocks noGrp="1"/>
          </p:cNvGraphicFramePr>
          <p:nvPr>
            <p:extLst>
              <p:ext uri="{D42A27DB-BD31-4B8C-83A1-F6EECF244321}">
                <p14:modId xmlns:p14="http://schemas.microsoft.com/office/powerpoint/2010/main" val="3616363578"/>
              </p:ext>
            </p:extLst>
          </p:nvPr>
        </p:nvGraphicFramePr>
        <p:xfrm>
          <a:off x="2070099" y="5319131"/>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2">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2">
                        <a:lumMod val="40000"/>
                        <a:lumOff val="60000"/>
                      </a:schemeClr>
                    </a:solidFill>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19" name="Rectangle 18">
            <a:extLst>
              <a:ext uri="{FF2B5EF4-FFF2-40B4-BE49-F238E27FC236}">
                <a16:creationId xmlns:a16="http://schemas.microsoft.com/office/drawing/2014/main" id="{FD06A48B-7AE2-472A-CCCE-EBA94DA16341}"/>
              </a:ext>
            </a:extLst>
          </p:cNvPr>
          <p:cNvSpPr/>
          <p:nvPr/>
        </p:nvSpPr>
        <p:spPr>
          <a:xfrm>
            <a:off x="2070097" y="6518934"/>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20" name="Rectangle 19">
            <a:extLst>
              <a:ext uri="{FF2B5EF4-FFF2-40B4-BE49-F238E27FC236}">
                <a16:creationId xmlns:a16="http://schemas.microsoft.com/office/drawing/2014/main" id="{BB80EBAE-2B95-31AD-2F3F-9F215E6D5CCE}"/>
              </a:ext>
            </a:extLst>
          </p:cNvPr>
          <p:cNvSpPr/>
          <p:nvPr/>
        </p:nvSpPr>
        <p:spPr>
          <a:xfrm>
            <a:off x="6222813" y="6518934"/>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21" name="Right Brace 20">
            <a:extLst>
              <a:ext uri="{FF2B5EF4-FFF2-40B4-BE49-F238E27FC236}">
                <a16:creationId xmlns:a16="http://schemas.microsoft.com/office/drawing/2014/main" id="{C89B9D0B-4B48-FECA-BCB2-5A4E57DDD7ED}"/>
              </a:ext>
            </a:extLst>
          </p:cNvPr>
          <p:cNvSpPr/>
          <p:nvPr/>
        </p:nvSpPr>
        <p:spPr>
          <a:xfrm rot="5400000">
            <a:off x="6521990" y="2842825"/>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Right Brace 21">
            <a:extLst>
              <a:ext uri="{FF2B5EF4-FFF2-40B4-BE49-F238E27FC236}">
                <a16:creationId xmlns:a16="http://schemas.microsoft.com/office/drawing/2014/main" id="{CDDC8F44-BD8E-5753-DA2E-9D643D3B2EC3}"/>
              </a:ext>
            </a:extLst>
          </p:cNvPr>
          <p:cNvSpPr/>
          <p:nvPr/>
        </p:nvSpPr>
        <p:spPr>
          <a:xfrm rot="5400000">
            <a:off x="2457989" y="5878943"/>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3" name="Rectangle 22">
            <a:extLst>
              <a:ext uri="{FF2B5EF4-FFF2-40B4-BE49-F238E27FC236}">
                <a16:creationId xmlns:a16="http://schemas.microsoft.com/office/drawing/2014/main" id="{D4677184-C2B7-4F84-CD50-7D53B63335A3}"/>
              </a:ext>
            </a:extLst>
          </p:cNvPr>
          <p:cNvSpPr/>
          <p:nvPr/>
        </p:nvSpPr>
        <p:spPr>
          <a:xfrm>
            <a:off x="1984188" y="4902885"/>
            <a:ext cx="5807261" cy="369332"/>
          </a:xfrm>
          <a:prstGeom prst="rect">
            <a:avLst/>
          </a:prstGeom>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A byte of data being sent using odd parity with two errors. </a:t>
            </a:r>
          </a:p>
        </p:txBody>
      </p:sp>
      <p:pic>
        <p:nvPicPr>
          <p:cNvPr id="9" name="Graphic 8" descr="Close with solid fill">
            <a:extLst>
              <a:ext uri="{FF2B5EF4-FFF2-40B4-BE49-F238E27FC236}">
                <a16:creationId xmlns:a16="http://schemas.microsoft.com/office/drawing/2014/main" id="{E9C687D6-BA0F-E3FE-04A3-3718EA251AF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02794" y="3333466"/>
            <a:ext cx="914400" cy="914400"/>
          </a:xfrm>
          <a:prstGeom prst="rect">
            <a:avLst/>
          </a:prstGeom>
        </p:spPr>
      </p:pic>
      <p:pic>
        <p:nvPicPr>
          <p:cNvPr id="24" name="Graphic 23" descr="Checkmark with solid fill">
            <a:extLst>
              <a:ext uri="{FF2B5EF4-FFF2-40B4-BE49-F238E27FC236}">
                <a16:creationId xmlns:a16="http://schemas.microsoft.com/office/drawing/2014/main" id="{73420E47-D800-AC53-67BF-DFA49A1F49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02794" y="5272217"/>
            <a:ext cx="914400" cy="914400"/>
          </a:xfrm>
          <a:prstGeom prst="rect">
            <a:avLst/>
          </a:prstGeom>
        </p:spPr>
      </p:pic>
    </p:spTree>
    <p:extLst>
      <p:ext uri="{BB962C8B-B14F-4D97-AF65-F5344CB8AC3E}">
        <p14:creationId xmlns:p14="http://schemas.microsoft.com/office/powerpoint/2010/main" val="2374738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5" y="1052896"/>
            <a:ext cx="7866050" cy="1025922"/>
          </a:xfrm>
          <a:prstGeom prst="rect">
            <a:avLst/>
          </a:prstGeom>
        </p:spPr>
        <p:txBody>
          <a:bodyPr wrap="square">
            <a:spAutoFit/>
          </a:bodyPr>
          <a:lstStyle/>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We have seen how parity can be used to detect an error in a single byte of data.</a:t>
            </a:r>
          </a:p>
          <a:p>
            <a:r>
              <a:rPr lang="en-GB" dirty="0">
                <a:latin typeface="Calibri" panose="020F0502020204030204" pitchFamily="34" charset="0"/>
                <a:ea typeface="Calibri" panose="020F0502020204030204" pitchFamily="34" charset="0"/>
                <a:cs typeface="Times New Roman" panose="02020603050405020304" pitchFamily="18" charset="0"/>
              </a:rPr>
              <a:t>However, the position of the error cannot be worked out.</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block checks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able 2">
            <a:extLst>
              <a:ext uri="{FF2B5EF4-FFF2-40B4-BE49-F238E27FC236}">
                <a16:creationId xmlns:a16="http://schemas.microsoft.com/office/drawing/2014/main" id="{3F5D3ED8-EE0D-AAAB-B439-0BB8E779A57C}"/>
              </a:ext>
            </a:extLst>
          </p:cNvPr>
          <p:cNvGraphicFramePr>
            <a:graphicFrameLocks noGrp="1"/>
          </p:cNvGraphicFramePr>
          <p:nvPr>
            <p:extLst>
              <p:ext uri="{D42A27DB-BD31-4B8C-83A1-F6EECF244321}">
                <p14:modId xmlns:p14="http://schemas.microsoft.com/office/powerpoint/2010/main" val="1487004810"/>
              </p:ext>
            </p:extLst>
          </p:nvPr>
        </p:nvGraphicFramePr>
        <p:xfrm>
          <a:off x="1605545" y="2731020"/>
          <a:ext cx="8128000" cy="901393"/>
        </p:xfrm>
        <a:graphic>
          <a:graphicData uri="http://schemas.openxmlformats.org/drawingml/2006/table">
            <a:tbl>
              <a:tblPr firstRow="1" bandRow="1">
                <a:tableStyleId>{5DA37D80-6434-44D0-A028-1B22A696006F}</a:tableStyleId>
              </a:tblPr>
              <a:tblGrid>
                <a:gridCol w="1016000">
                  <a:extLst>
                    <a:ext uri="{9D8B030D-6E8A-4147-A177-3AD203B41FA5}">
                      <a16:colId xmlns:a16="http://schemas.microsoft.com/office/drawing/2014/main" val="181191561"/>
                    </a:ext>
                  </a:extLst>
                </a:gridCol>
                <a:gridCol w="1016000">
                  <a:extLst>
                    <a:ext uri="{9D8B030D-6E8A-4147-A177-3AD203B41FA5}">
                      <a16:colId xmlns:a16="http://schemas.microsoft.com/office/drawing/2014/main" val="3711099904"/>
                    </a:ext>
                  </a:extLst>
                </a:gridCol>
                <a:gridCol w="1016000">
                  <a:extLst>
                    <a:ext uri="{9D8B030D-6E8A-4147-A177-3AD203B41FA5}">
                      <a16:colId xmlns:a16="http://schemas.microsoft.com/office/drawing/2014/main" val="98164074"/>
                    </a:ext>
                  </a:extLst>
                </a:gridCol>
                <a:gridCol w="1016000">
                  <a:extLst>
                    <a:ext uri="{9D8B030D-6E8A-4147-A177-3AD203B41FA5}">
                      <a16:colId xmlns:a16="http://schemas.microsoft.com/office/drawing/2014/main" val="739064140"/>
                    </a:ext>
                  </a:extLst>
                </a:gridCol>
                <a:gridCol w="1016000">
                  <a:extLst>
                    <a:ext uri="{9D8B030D-6E8A-4147-A177-3AD203B41FA5}">
                      <a16:colId xmlns:a16="http://schemas.microsoft.com/office/drawing/2014/main" val="3437707387"/>
                    </a:ext>
                  </a:extLst>
                </a:gridCol>
                <a:gridCol w="1016000">
                  <a:extLst>
                    <a:ext uri="{9D8B030D-6E8A-4147-A177-3AD203B41FA5}">
                      <a16:colId xmlns:a16="http://schemas.microsoft.com/office/drawing/2014/main" val="160402872"/>
                    </a:ext>
                  </a:extLst>
                </a:gridCol>
                <a:gridCol w="1016000">
                  <a:extLst>
                    <a:ext uri="{9D8B030D-6E8A-4147-A177-3AD203B41FA5}">
                      <a16:colId xmlns:a16="http://schemas.microsoft.com/office/drawing/2014/main" val="2555578986"/>
                    </a:ext>
                  </a:extLst>
                </a:gridCol>
                <a:gridCol w="1016000">
                  <a:extLst>
                    <a:ext uri="{9D8B030D-6E8A-4147-A177-3AD203B41FA5}">
                      <a16:colId xmlns:a16="http://schemas.microsoft.com/office/drawing/2014/main" val="1568607245"/>
                    </a:ext>
                  </a:extLst>
                </a:gridCol>
              </a:tblGrid>
              <a:tr h="901393">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4">
                        <a:lumMod val="40000"/>
                        <a:lumOff val="60000"/>
                      </a:schemeClr>
                    </a:solidFill>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2">
                        <a:lumMod val="40000"/>
                        <a:lumOff val="60000"/>
                      </a:schemeClr>
                    </a:solidFill>
                  </a:tcPr>
                </a:tc>
                <a:tc>
                  <a:txBody>
                    <a:bodyPr/>
                    <a:lstStyle/>
                    <a:p>
                      <a:pPr algn="ctr"/>
                      <a:r>
                        <a:rPr lang="en-GB" sz="3200" dirty="0">
                          <a:solidFill>
                            <a:srgbClr val="C00000"/>
                          </a:solidFill>
                        </a:rPr>
                        <a:t>1</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GB" sz="3200" dirty="0">
                          <a:solidFill>
                            <a:srgbClr val="C00000"/>
                          </a:solidFill>
                        </a:rPr>
                        <a:t>0</a:t>
                      </a: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46515274"/>
                  </a:ext>
                </a:extLst>
              </a:tr>
            </a:tbl>
          </a:graphicData>
        </a:graphic>
      </p:graphicFrame>
      <p:sp>
        <p:nvSpPr>
          <p:cNvPr id="7" name="Rectangle 6">
            <a:extLst>
              <a:ext uri="{FF2B5EF4-FFF2-40B4-BE49-F238E27FC236}">
                <a16:creationId xmlns:a16="http://schemas.microsoft.com/office/drawing/2014/main" id="{E6091CBD-AC09-D7BB-AC79-BBB5A132478F}"/>
              </a:ext>
            </a:extLst>
          </p:cNvPr>
          <p:cNvSpPr/>
          <p:nvPr/>
        </p:nvSpPr>
        <p:spPr>
          <a:xfrm>
            <a:off x="1605543" y="3959398"/>
            <a:ext cx="1045178"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Parity bit</a:t>
            </a:r>
          </a:p>
        </p:txBody>
      </p:sp>
      <p:sp>
        <p:nvSpPr>
          <p:cNvPr id="8" name="Rectangle 7">
            <a:extLst>
              <a:ext uri="{FF2B5EF4-FFF2-40B4-BE49-F238E27FC236}">
                <a16:creationId xmlns:a16="http://schemas.microsoft.com/office/drawing/2014/main" id="{BE6D08D9-049B-E981-0E4A-0E741C920F0A}"/>
              </a:ext>
            </a:extLst>
          </p:cNvPr>
          <p:cNvSpPr/>
          <p:nvPr/>
        </p:nvSpPr>
        <p:spPr>
          <a:xfrm>
            <a:off x="5758259" y="3959398"/>
            <a:ext cx="867747"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Data</a:t>
            </a:r>
          </a:p>
        </p:txBody>
      </p:sp>
      <p:sp>
        <p:nvSpPr>
          <p:cNvPr id="9" name="Right Brace 8">
            <a:extLst>
              <a:ext uri="{FF2B5EF4-FFF2-40B4-BE49-F238E27FC236}">
                <a16:creationId xmlns:a16="http://schemas.microsoft.com/office/drawing/2014/main" id="{59DD6AD2-EC76-68AC-A468-94C3C8A8E83B}"/>
              </a:ext>
            </a:extLst>
          </p:cNvPr>
          <p:cNvSpPr/>
          <p:nvPr/>
        </p:nvSpPr>
        <p:spPr>
          <a:xfrm rot="5400000">
            <a:off x="6057436" y="254714"/>
            <a:ext cx="242598" cy="7109618"/>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 name="Right Brace 9">
            <a:extLst>
              <a:ext uri="{FF2B5EF4-FFF2-40B4-BE49-F238E27FC236}">
                <a16:creationId xmlns:a16="http://schemas.microsoft.com/office/drawing/2014/main" id="{88B3D722-2E3F-1D92-616E-1CFE96B41915}"/>
              </a:ext>
            </a:extLst>
          </p:cNvPr>
          <p:cNvSpPr/>
          <p:nvPr/>
        </p:nvSpPr>
        <p:spPr>
          <a:xfrm rot="5400000">
            <a:off x="1993435" y="3290832"/>
            <a:ext cx="242598" cy="101838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 name="Rectangle 10">
            <a:extLst>
              <a:ext uri="{FF2B5EF4-FFF2-40B4-BE49-F238E27FC236}">
                <a16:creationId xmlns:a16="http://schemas.microsoft.com/office/drawing/2014/main" id="{BD74D863-0CE3-7051-5517-D9BB8CC8E823}"/>
              </a:ext>
            </a:extLst>
          </p:cNvPr>
          <p:cNvSpPr/>
          <p:nvPr/>
        </p:nvSpPr>
        <p:spPr>
          <a:xfrm>
            <a:off x="1519634" y="2314774"/>
            <a:ext cx="7109618" cy="369332"/>
          </a:xfrm>
          <a:prstGeom prst="rect">
            <a:avLst/>
          </a:prstGeom>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A byte of data being sent using odd parity with a single error</a:t>
            </a:r>
          </a:p>
        </p:txBody>
      </p:sp>
      <p:pic>
        <p:nvPicPr>
          <p:cNvPr id="12" name="Graphic 11" descr="Close with solid fill">
            <a:extLst>
              <a:ext uri="{FF2B5EF4-FFF2-40B4-BE49-F238E27FC236}">
                <a16:creationId xmlns:a16="http://schemas.microsoft.com/office/drawing/2014/main" id="{9819B88F-7669-7315-48CF-14BF15359E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57290" y="2696155"/>
            <a:ext cx="914400" cy="914400"/>
          </a:xfrm>
          <a:prstGeom prst="rect">
            <a:avLst/>
          </a:prstGeom>
        </p:spPr>
      </p:pic>
      <p:sp>
        <p:nvSpPr>
          <p:cNvPr id="13" name="Rectangle 12">
            <a:extLst>
              <a:ext uri="{FF2B5EF4-FFF2-40B4-BE49-F238E27FC236}">
                <a16:creationId xmlns:a16="http://schemas.microsoft.com/office/drawing/2014/main" id="{2F30249A-E3C6-5A1A-5068-DD0D1BB24773}"/>
              </a:ext>
            </a:extLst>
          </p:cNvPr>
          <p:cNvSpPr/>
          <p:nvPr/>
        </p:nvSpPr>
        <p:spPr>
          <a:xfrm>
            <a:off x="220675" y="4888311"/>
            <a:ext cx="11502623" cy="1025922"/>
          </a:xfrm>
          <a:prstGeom prst="rect">
            <a:avLst/>
          </a:prstGeom>
        </p:spPr>
        <p:txBody>
          <a:bodyPr wrap="square">
            <a:spAutoFit/>
          </a:bodyPr>
          <a:lstStyle/>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Our only option is to ask for the data to be sent again.</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However, if we send multiple bytes as a transmission block, not only can we spot that an error has occurred, but it can also be identified – and corrected by performing both horizontal and vertical parity checks on the whole block of data.</a:t>
            </a:r>
          </a:p>
        </p:txBody>
      </p:sp>
    </p:spTree>
    <p:extLst>
      <p:ext uri="{BB962C8B-B14F-4D97-AF65-F5344CB8AC3E}">
        <p14:creationId xmlns:p14="http://schemas.microsoft.com/office/powerpoint/2010/main" val="1480161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block checks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Group 1152">
            <a:extLst>
              <a:ext uri="{FF2B5EF4-FFF2-40B4-BE49-F238E27FC236}">
                <a16:creationId xmlns:a16="http://schemas.microsoft.com/office/drawing/2014/main" id="{599E36D1-DD63-9431-BC56-9C79B8B9D766}"/>
              </a:ext>
            </a:extLst>
          </p:cNvPr>
          <p:cNvGraphicFramePr>
            <a:graphicFrameLocks noGrp="1"/>
          </p:cNvGraphicFramePr>
          <p:nvPr>
            <p:extLst>
              <p:ext uri="{D42A27DB-BD31-4B8C-83A1-F6EECF244321}">
                <p14:modId xmlns:p14="http://schemas.microsoft.com/office/powerpoint/2010/main" val="1301385718"/>
              </p:ext>
            </p:extLst>
          </p:nvPr>
        </p:nvGraphicFramePr>
        <p:xfrm>
          <a:off x="492125" y="1160463"/>
          <a:ext cx="4127420" cy="5383698"/>
        </p:xfrm>
        <a:graphic>
          <a:graphicData uri="http://schemas.openxmlformats.org/drawingml/2006/table">
            <a:tbl>
              <a:tblPr/>
              <a:tblGrid>
                <a:gridCol w="402241">
                  <a:extLst>
                    <a:ext uri="{9D8B030D-6E8A-4147-A177-3AD203B41FA5}">
                      <a16:colId xmlns:a16="http://schemas.microsoft.com/office/drawing/2014/main" val="20000"/>
                    </a:ext>
                  </a:extLst>
                </a:gridCol>
                <a:gridCol w="828258">
                  <a:extLst>
                    <a:ext uri="{9D8B030D-6E8A-4147-A177-3AD203B41FA5}">
                      <a16:colId xmlns:a16="http://schemas.microsoft.com/office/drawing/2014/main" val="20001"/>
                    </a:ext>
                  </a:extLst>
                </a:gridCol>
                <a:gridCol w="386388">
                  <a:extLst>
                    <a:ext uri="{9D8B030D-6E8A-4147-A177-3AD203B41FA5}">
                      <a16:colId xmlns:a16="http://schemas.microsoft.com/office/drawing/2014/main" val="20002"/>
                    </a:ext>
                  </a:extLst>
                </a:gridCol>
                <a:gridCol w="386389">
                  <a:extLst>
                    <a:ext uri="{9D8B030D-6E8A-4147-A177-3AD203B41FA5}">
                      <a16:colId xmlns:a16="http://schemas.microsoft.com/office/drawing/2014/main" val="20003"/>
                    </a:ext>
                  </a:extLst>
                </a:gridCol>
                <a:gridCol w="348740">
                  <a:extLst>
                    <a:ext uri="{9D8B030D-6E8A-4147-A177-3AD203B41FA5}">
                      <a16:colId xmlns:a16="http://schemas.microsoft.com/office/drawing/2014/main" val="20004"/>
                    </a:ext>
                  </a:extLst>
                </a:gridCol>
                <a:gridCol w="352703">
                  <a:extLst>
                    <a:ext uri="{9D8B030D-6E8A-4147-A177-3AD203B41FA5}">
                      <a16:colId xmlns:a16="http://schemas.microsoft.com/office/drawing/2014/main" val="20005"/>
                    </a:ext>
                  </a:extLst>
                </a:gridCol>
                <a:gridCol w="350721">
                  <a:extLst>
                    <a:ext uri="{9D8B030D-6E8A-4147-A177-3AD203B41FA5}">
                      <a16:colId xmlns:a16="http://schemas.microsoft.com/office/drawing/2014/main" val="20006"/>
                    </a:ext>
                  </a:extLst>
                </a:gridCol>
                <a:gridCol w="334870">
                  <a:extLst>
                    <a:ext uri="{9D8B030D-6E8A-4147-A177-3AD203B41FA5}">
                      <a16:colId xmlns:a16="http://schemas.microsoft.com/office/drawing/2014/main" val="20007"/>
                    </a:ext>
                  </a:extLst>
                </a:gridCol>
                <a:gridCol w="368555">
                  <a:extLst>
                    <a:ext uri="{9D8B030D-6E8A-4147-A177-3AD203B41FA5}">
                      <a16:colId xmlns:a16="http://schemas.microsoft.com/office/drawing/2014/main" val="20008"/>
                    </a:ext>
                  </a:extLst>
                </a:gridCol>
                <a:gridCol w="368555">
                  <a:extLst>
                    <a:ext uri="{9D8B030D-6E8A-4147-A177-3AD203B41FA5}">
                      <a16:colId xmlns:a16="http://schemas.microsoft.com/office/drawing/2014/main" val="20009"/>
                    </a:ext>
                  </a:extLst>
                </a:gridCol>
              </a:tblGrid>
              <a:tr h="532663">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Denary</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ASCII Value</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charset="0"/>
                        </a:rPr>
                        <a:t>Denary</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charset="0"/>
                        </a:rPr>
                        <a:t>ASCII Value</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8">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Binary</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(no parity)</a:t>
                      </a:r>
                    </a:p>
                  </a:txBody>
                  <a:tcPr marL="114133" marR="114133" marT="57067" marB="570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A</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65</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mn-lt"/>
                      </a:endParaRP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32</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V</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86</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E</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69</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R</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82</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Y</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89</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mn-lt"/>
                      </a:endParaRP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32</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T</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84</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H</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72</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I</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73</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C</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67</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K</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75</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mn-lt"/>
                      </a:endParaRP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32</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mn-lt"/>
                        </a:rPr>
                        <a:t>F</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70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O</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79</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mn-lt"/>
                        </a:rPr>
                        <a:t>G</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71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100" b="1" i="0" u="none" strike="noStrike" cap="none" normalizeH="0" baseline="0">
                        <a:ln>
                          <a:noFill/>
                        </a:ln>
                        <a:solidFill>
                          <a:schemeClr val="tx1"/>
                        </a:solidFill>
                        <a:effectLst/>
                        <a:latin typeface="+mn-lt"/>
                      </a:endParaRPr>
                    </a:p>
                  </a:txBody>
                  <a:tcPr marL="114133" marR="114133" marT="57072" marB="57072"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100" b="0" i="0" u="none" strike="noStrike" cap="none" normalizeH="0" baseline="0">
                        <a:ln>
                          <a:noFill/>
                        </a:ln>
                        <a:solidFill>
                          <a:schemeClr val="tx1"/>
                        </a:solidFill>
                        <a:effectLst/>
                        <a:latin typeface="+mn-lt"/>
                      </a:endParaRPr>
                    </a:p>
                  </a:txBody>
                  <a:tcPr marL="114133" marR="114133" marT="57072" marB="5707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100" b="1" i="0" u="none" strike="noStrike" cap="none" normalizeH="0" baseline="0" dirty="0">
                        <a:ln>
                          <a:noFill/>
                        </a:ln>
                        <a:solidFill>
                          <a:srgbClr val="C00000"/>
                        </a:solidFill>
                        <a:effectLst/>
                        <a:latin typeface="+mn-lt"/>
                      </a:endParaRPr>
                    </a:p>
                  </a:txBody>
                  <a:tcPr marL="114133" marR="114133" marT="57072" marB="57072" horzOverflow="overflow">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701425174"/>
                  </a:ext>
                </a:extLst>
              </a:tr>
            </a:tbl>
          </a:graphicData>
        </a:graphic>
      </p:graphicFrame>
      <p:graphicFrame>
        <p:nvGraphicFramePr>
          <p:cNvPr id="7" name="Group 1273">
            <a:extLst>
              <a:ext uri="{FF2B5EF4-FFF2-40B4-BE49-F238E27FC236}">
                <a16:creationId xmlns:a16="http://schemas.microsoft.com/office/drawing/2014/main" id="{D0771776-A158-C91F-D149-89174D4F711C}"/>
              </a:ext>
            </a:extLst>
          </p:cNvPr>
          <p:cNvGraphicFramePr>
            <a:graphicFrameLocks noGrp="1"/>
          </p:cNvGraphicFramePr>
          <p:nvPr>
            <p:extLst>
              <p:ext uri="{D42A27DB-BD31-4B8C-83A1-F6EECF244321}">
                <p14:modId xmlns:p14="http://schemas.microsoft.com/office/powerpoint/2010/main" val="884980779"/>
              </p:ext>
            </p:extLst>
          </p:nvPr>
        </p:nvGraphicFramePr>
        <p:xfrm>
          <a:off x="5145801" y="1157290"/>
          <a:ext cx="2986088" cy="5405750"/>
        </p:xfrm>
        <a:graphic>
          <a:graphicData uri="http://schemas.openxmlformats.org/drawingml/2006/table">
            <a:tbl>
              <a:tblPr/>
              <a:tblGrid>
                <a:gridCol w="398278">
                  <a:extLst>
                    <a:ext uri="{9D8B030D-6E8A-4147-A177-3AD203B41FA5}">
                      <a16:colId xmlns:a16="http://schemas.microsoft.com/office/drawing/2014/main" val="20000"/>
                    </a:ext>
                  </a:extLst>
                </a:gridCol>
                <a:gridCol w="398276">
                  <a:extLst>
                    <a:ext uri="{9D8B030D-6E8A-4147-A177-3AD203B41FA5}">
                      <a16:colId xmlns:a16="http://schemas.microsoft.com/office/drawing/2014/main" val="20001"/>
                    </a:ext>
                  </a:extLst>
                </a:gridCol>
                <a:gridCol w="360629">
                  <a:extLst>
                    <a:ext uri="{9D8B030D-6E8A-4147-A177-3AD203B41FA5}">
                      <a16:colId xmlns:a16="http://schemas.microsoft.com/office/drawing/2014/main" val="20002"/>
                    </a:ext>
                  </a:extLst>
                </a:gridCol>
                <a:gridCol w="362611">
                  <a:extLst>
                    <a:ext uri="{9D8B030D-6E8A-4147-A177-3AD203B41FA5}">
                      <a16:colId xmlns:a16="http://schemas.microsoft.com/office/drawing/2014/main" val="20003"/>
                    </a:ext>
                  </a:extLst>
                </a:gridCol>
                <a:gridCol w="362610">
                  <a:extLst>
                    <a:ext uri="{9D8B030D-6E8A-4147-A177-3AD203B41FA5}">
                      <a16:colId xmlns:a16="http://schemas.microsoft.com/office/drawing/2014/main" val="20004"/>
                    </a:ext>
                  </a:extLst>
                </a:gridCol>
                <a:gridCol w="342796">
                  <a:extLst>
                    <a:ext uri="{9D8B030D-6E8A-4147-A177-3AD203B41FA5}">
                      <a16:colId xmlns:a16="http://schemas.microsoft.com/office/drawing/2014/main" val="20005"/>
                    </a:ext>
                  </a:extLst>
                </a:gridCol>
                <a:gridCol w="382425">
                  <a:extLst>
                    <a:ext uri="{9D8B030D-6E8A-4147-A177-3AD203B41FA5}">
                      <a16:colId xmlns:a16="http://schemas.microsoft.com/office/drawing/2014/main" val="20006"/>
                    </a:ext>
                  </a:extLst>
                </a:gridCol>
                <a:gridCol w="378463">
                  <a:extLst>
                    <a:ext uri="{9D8B030D-6E8A-4147-A177-3AD203B41FA5}">
                      <a16:colId xmlns:a16="http://schemas.microsoft.com/office/drawing/2014/main" val="20007"/>
                    </a:ext>
                  </a:extLst>
                </a:gridCol>
              </a:tblGrid>
              <a:tr h="532662">
                <a:tc gridSpan="8">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Binary</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(even parity)</a:t>
                      </a:r>
                    </a:p>
                  </a:txBody>
                  <a:tcPr marL="114133" marR="114133" marT="57067" marB="5706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100" b="1" i="0" u="none" strike="noStrike" cap="none" normalizeH="0" baseline="0" dirty="0">
                        <a:ln>
                          <a:noFill/>
                        </a:ln>
                        <a:solidFill>
                          <a:srgbClr val="C00000"/>
                        </a:solidFill>
                        <a:effectLst/>
                        <a:latin typeface="+mn-lt"/>
                      </a:endParaRPr>
                    </a:p>
                  </a:txBody>
                  <a:tcPr marL="114133" marR="114133" marT="57072" marB="57072" horzOverflow="overflow">
                    <a:lnL w="28575"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919887599"/>
                  </a:ext>
                </a:extLst>
              </a:tr>
            </a:tbl>
          </a:graphicData>
        </a:graphic>
      </p:graphicFrame>
      <p:graphicFrame>
        <p:nvGraphicFramePr>
          <p:cNvPr id="8" name="Group 1394">
            <a:extLst>
              <a:ext uri="{FF2B5EF4-FFF2-40B4-BE49-F238E27FC236}">
                <a16:creationId xmlns:a16="http://schemas.microsoft.com/office/drawing/2014/main" id="{936BD0D2-7339-B3E3-E82E-B2293D36F4B2}"/>
              </a:ext>
            </a:extLst>
          </p:cNvPr>
          <p:cNvGraphicFramePr>
            <a:graphicFrameLocks noGrp="1"/>
          </p:cNvGraphicFramePr>
          <p:nvPr>
            <p:extLst>
              <p:ext uri="{D42A27DB-BD31-4B8C-83A1-F6EECF244321}">
                <p14:modId xmlns:p14="http://schemas.microsoft.com/office/powerpoint/2010/main" val="4099670757"/>
              </p:ext>
            </p:extLst>
          </p:nvPr>
        </p:nvGraphicFramePr>
        <p:xfrm>
          <a:off x="8658145" y="1157289"/>
          <a:ext cx="2931964" cy="5405751"/>
        </p:xfrm>
        <a:graphic>
          <a:graphicData uri="http://schemas.openxmlformats.org/drawingml/2006/table">
            <a:tbl>
              <a:tblPr/>
              <a:tblGrid>
                <a:gridCol w="344153">
                  <a:extLst>
                    <a:ext uri="{9D8B030D-6E8A-4147-A177-3AD203B41FA5}">
                      <a16:colId xmlns:a16="http://schemas.microsoft.com/office/drawing/2014/main" val="20000"/>
                    </a:ext>
                  </a:extLst>
                </a:gridCol>
                <a:gridCol w="398278">
                  <a:extLst>
                    <a:ext uri="{9D8B030D-6E8A-4147-A177-3AD203B41FA5}">
                      <a16:colId xmlns:a16="http://schemas.microsoft.com/office/drawing/2014/main" val="20001"/>
                    </a:ext>
                  </a:extLst>
                </a:gridCol>
                <a:gridCol w="360629">
                  <a:extLst>
                    <a:ext uri="{9D8B030D-6E8A-4147-A177-3AD203B41FA5}">
                      <a16:colId xmlns:a16="http://schemas.microsoft.com/office/drawing/2014/main" val="20002"/>
                    </a:ext>
                  </a:extLst>
                </a:gridCol>
                <a:gridCol w="362610">
                  <a:extLst>
                    <a:ext uri="{9D8B030D-6E8A-4147-A177-3AD203B41FA5}">
                      <a16:colId xmlns:a16="http://schemas.microsoft.com/office/drawing/2014/main" val="20003"/>
                    </a:ext>
                  </a:extLst>
                </a:gridCol>
                <a:gridCol w="362611">
                  <a:extLst>
                    <a:ext uri="{9D8B030D-6E8A-4147-A177-3AD203B41FA5}">
                      <a16:colId xmlns:a16="http://schemas.microsoft.com/office/drawing/2014/main" val="20004"/>
                    </a:ext>
                  </a:extLst>
                </a:gridCol>
                <a:gridCol w="342795">
                  <a:extLst>
                    <a:ext uri="{9D8B030D-6E8A-4147-A177-3AD203B41FA5}">
                      <a16:colId xmlns:a16="http://schemas.microsoft.com/office/drawing/2014/main" val="20005"/>
                    </a:ext>
                  </a:extLst>
                </a:gridCol>
                <a:gridCol w="382426">
                  <a:extLst>
                    <a:ext uri="{9D8B030D-6E8A-4147-A177-3AD203B41FA5}">
                      <a16:colId xmlns:a16="http://schemas.microsoft.com/office/drawing/2014/main" val="20006"/>
                    </a:ext>
                  </a:extLst>
                </a:gridCol>
                <a:gridCol w="378462">
                  <a:extLst>
                    <a:ext uri="{9D8B030D-6E8A-4147-A177-3AD203B41FA5}">
                      <a16:colId xmlns:a16="http://schemas.microsoft.com/office/drawing/2014/main" val="20007"/>
                    </a:ext>
                  </a:extLst>
                </a:gridCol>
              </a:tblGrid>
              <a:tr h="532663">
                <a:tc gridSpan="8">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Binary</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(odd parity)</a:t>
                      </a:r>
                    </a:p>
                  </a:txBody>
                  <a:tcPr marL="114133" marR="114133" marT="57067" marB="5706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a:ln>
                            <a:noFill/>
                          </a:ln>
                          <a:solidFill>
                            <a:srgbClr val="C00000"/>
                          </a:solidFill>
                          <a:effectLst/>
                          <a:latin typeface="+mn-lt"/>
                        </a:rPr>
                        <a:t>0</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1" i="0" u="none" strike="noStrike" cap="none" normalizeH="0" baseline="0" dirty="0">
                          <a:ln>
                            <a:noFill/>
                          </a:ln>
                          <a:solidFill>
                            <a:srgbClr val="C00000"/>
                          </a:solidFill>
                          <a:effectLst/>
                          <a:latin typeface="+mn-lt"/>
                        </a:rPr>
                        <a:t>1</a:t>
                      </a:r>
                    </a:p>
                  </a:txBody>
                  <a:tcPr marL="114133" marR="114133" marT="57072" marB="570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0</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mn-lt"/>
                        </a:rPr>
                        <a:t>1</a:t>
                      </a:r>
                    </a:p>
                  </a:txBody>
                  <a:tcPr marL="114133" marR="114133" marT="57072" marB="5707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8535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100" b="1" i="0" u="none" strike="noStrike" cap="none" normalizeH="0" baseline="0" dirty="0">
                        <a:ln>
                          <a:noFill/>
                        </a:ln>
                        <a:solidFill>
                          <a:srgbClr val="C00000"/>
                        </a:solidFill>
                        <a:effectLst/>
                        <a:latin typeface="+mn-lt"/>
                      </a:endParaRPr>
                    </a:p>
                  </a:txBody>
                  <a:tcPr marL="114133" marR="114133" marT="57072" marB="57072" horzOverflow="overflow">
                    <a:lnL w="28575"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354887755"/>
                  </a:ext>
                </a:extLst>
              </a:tr>
            </a:tbl>
          </a:graphicData>
        </a:graphic>
      </p:graphicFrame>
    </p:spTree>
    <p:extLst>
      <p:ext uri="{BB962C8B-B14F-4D97-AF65-F5344CB8AC3E}">
        <p14:creationId xmlns:p14="http://schemas.microsoft.com/office/powerpoint/2010/main" val="404018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block checks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Group 1641">
            <a:extLst>
              <a:ext uri="{FF2B5EF4-FFF2-40B4-BE49-F238E27FC236}">
                <a16:creationId xmlns:a16="http://schemas.microsoft.com/office/drawing/2014/main" id="{FDEEED60-4DF8-64AF-F545-217DEA23FE7A}"/>
              </a:ext>
            </a:extLst>
          </p:cNvPr>
          <p:cNvGraphicFramePr>
            <a:graphicFrameLocks noGrp="1"/>
          </p:cNvGraphicFramePr>
          <p:nvPr>
            <p:extLst>
              <p:ext uri="{D42A27DB-BD31-4B8C-83A1-F6EECF244321}">
                <p14:modId xmlns:p14="http://schemas.microsoft.com/office/powerpoint/2010/main" val="1799451145"/>
              </p:ext>
            </p:extLst>
          </p:nvPr>
        </p:nvGraphicFramePr>
        <p:xfrm>
          <a:off x="5667375" y="517524"/>
          <a:ext cx="3257550" cy="5730118"/>
        </p:xfrm>
        <a:graphic>
          <a:graphicData uri="http://schemas.openxmlformats.org/drawingml/2006/table">
            <a:tbl>
              <a:tblPr/>
              <a:tblGrid>
                <a:gridCol w="434485">
                  <a:extLst>
                    <a:ext uri="{9D8B030D-6E8A-4147-A177-3AD203B41FA5}">
                      <a16:colId xmlns:a16="http://schemas.microsoft.com/office/drawing/2014/main" val="20000"/>
                    </a:ext>
                  </a:extLst>
                </a:gridCol>
                <a:gridCol w="434484">
                  <a:extLst>
                    <a:ext uri="{9D8B030D-6E8A-4147-A177-3AD203B41FA5}">
                      <a16:colId xmlns:a16="http://schemas.microsoft.com/office/drawing/2014/main" val="20001"/>
                    </a:ext>
                  </a:extLst>
                </a:gridCol>
                <a:gridCol w="393413">
                  <a:extLst>
                    <a:ext uri="{9D8B030D-6E8A-4147-A177-3AD203B41FA5}">
                      <a16:colId xmlns:a16="http://schemas.microsoft.com/office/drawing/2014/main" val="20002"/>
                    </a:ext>
                  </a:extLst>
                </a:gridCol>
                <a:gridCol w="395576">
                  <a:extLst>
                    <a:ext uri="{9D8B030D-6E8A-4147-A177-3AD203B41FA5}">
                      <a16:colId xmlns:a16="http://schemas.microsoft.com/office/drawing/2014/main" val="20003"/>
                    </a:ext>
                  </a:extLst>
                </a:gridCol>
                <a:gridCol w="395574">
                  <a:extLst>
                    <a:ext uri="{9D8B030D-6E8A-4147-A177-3AD203B41FA5}">
                      <a16:colId xmlns:a16="http://schemas.microsoft.com/office/drawing/2014/main" val="20004"/>
                    </a:ext>
                  </a:extLst>
                </a:gridCol>
                <a:gridCol w="373960">
                  <a:extLst>
                    <a:ext uri="{9D8B030D-6E8A-4147-A177-3AD203B41FA5}">
                      <a16:colId xmlns:a16="http://schemas.microsoft.com/office/drawing/2014/main" val="20005"/>
                    </a:ext>
                  </a:extLst>
                </a:gridCol>
                <a:gridCol w="376120">
                  <a:extLst>
                    <a:ext uri="{9D8B030D-6E8A-4147-A177-3AD203B41FA5}">
                      <a16:colId xmlns:a16="http://schemas.microsoft.com/office/drawing/2014/main" val="20006"/>
                    </a:ext>
                  </a:extLst>
                </a:gridCol>
                <a:gridCol w="453938">
                  <a:extLst>
                    <a:ext uri="{9D8B030D-6E8A-4147-A177-3AD203B41FA5}">
                      <a16:colId xmlns:a16="http://schemas.microsoft.com/office/drawing/2014/main" val="20007"/>
                    </a:ext>
                  </a:extLst>
                </a:gridCol>
              </a:tblGrid>
              <a:tr h="394389">
                <a:tc gridSpan="8">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C00000"/>
                          </a:solidFill>
                          <a:effectLst/>
                          <a:latin typeface="+mn-lt"/>
                        </a:rPr>
                        <a:t>Actual message received</a:t>
                      </a:r>
                    </a:p>
                  </a:txBody>
                  <a:tcPr marL="101205" marR="101205" marT="50603" marB="506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561">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200" b="1" i="0" u="none" strike="noStrike" cap="none" normalizeH="0" baseline="0" dirty="0">
                        <a:ln>
                          <a:noFill/>
                        </a:ln>
                        <a:solidFill>
                          <a:srgbClr val="C00000"/>
                        </a:solidFill>
                        <a:effectLst/>
                        <a:latin typeface="+mn-lt"/>
                      </a:endParaRPr>
                    </a:p>
                  </a:txBody>
                  <a:tcPr marL="124509" marR="124509" marT="62264" marB="62264" horzOverflow="overflow">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3454457155"/>
                  </a:ext>
                </a:extLst>
              </a:tr>
            </a:tbl>
          </a:graphicData>
        </a:graphic>
      </p:graphicFrame>
      <p:graphicFrame>
        <p:nvGraphicFramePr>
          <p:cNvPr id="8" name="Group 1427">
            <a:extLst>
              <a:ext uri="{FF2B5EF4-FFF2-40B4-BE49-F238E27FC236}">
                <a16:creationId xmlns:a16="http://schemas.microsoft.com/office/drawing/2014/main" id="{1F66C17B-5B53-4FB1-A645-2C22A7CCC466}"/>
              </a:ext>
            </a:extLst>
          </p:cNvPr>
          <p:cNvGraphicFramePr>
            <a:graphicFrameLocks noGrp="1"/>
          </p:cNvGraphicFramePr>
          <p:nvPr>
            <p:extLst>
              <p:ext uri="{D42A27DB-BD31-4B8C-83A1-F6EECF244321}">
                <p14:modId xmlns:p14="http://schemas.microsoft.com/office/powerpoint/2010/main" val="3092948887"/>
              </p:ext>
            </p:extLst>
          </p:nvPr>
        </p:nvGraphicFramePr>
        <p:xfrm>
          <a:off x="8924925" y="917362"/>
          <a:ext cx="371475" cy="5018953"/>
        </p:xfrm>
        <a:graphic>
          <a:graphicData uri="http://schemas.openxmlformats.org/drawingml/2006/table">
            <a:tbl>
              <a:tblPr/>
              <a:tblGrid>
                <a:gridCol w="371475">
                  <a:extLst>
                    <a:ext uri="{9D8B030D-6E8A-4147-A177-3AD203B41FA5}">
                      <a16:colId xmlns:a16="http://schemas.microsoft.com/office/drawing/2014/main" val="20000"/>
                    </a:ext>
                  </a:extLst>
                </a:gridCol>
              </a:tblGrid>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A</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10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V</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E</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R</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Y</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T</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H</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I</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C</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K</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D</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O</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G</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10" name="Rectangle 9">
            <a:extLst>
              <a:ext uri="{FF2B5EF4-FFF2-40B4-BE49-F238E27FC236}">
                <a16:creationId xmlns:a16="http://schemas.microsoft.com/office/drawing/2014/main" id="{E6A264C2-F012-FA07-9246-5BC835AE213A}"/>
              </a:ext>
            </a:extLst>
          </p:cNvPr>
          <p:cNvSpPr/>
          <p:nvPr/>
        </p:nvSpPr>
        <p:spPr>
          <a:xfrm>
            <a:off x="220674" y="1052896"/>
            <a:ext cx="4152917" cy="1200329"/>
          </a:xfrm>
          <a:prstGeom prst="rect">
            <a:avLst/>
          </a:prstGeom>
        </p:spPr>
        <p:txBody>
          <a:bodyPr wrap="square">
            <a:spAutoFit/>
          </a:bodyPr>
          <a:lstStyle/>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Using even parity, a message is sent as a block of 8-bit bytes.</a:t>
            </a:r>
          </a:p>
          <a:p>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04197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block checks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Group 1641">
            <a:extLst>
              <a:ext uri="{FF2B5EF4-FFF2-40B4-BE49-F238E27FC236}">
                <a16:creationId xmlns:a16="http://schemas.microsoft.com/office/drawing/2014/main" id="{FDEEED60-4DF8-64AF-F545-217DEA23FE7A}"/>
              </a:ext>
            </a:extLst>
          </p:cNvPr>
          <p:cNvGraphicFramePr>
            <a:graphicFrameLocks noGrp="1"/>
          </p:cNvGraphicFramePr>
          <p:nvPr>
            <p:extLst>
              <p:ext uri="{D42A27DB-BD31-4B8C-83A1-F6EECF244321}">
                <p14:modId xmlns:p14="http://schemas.microsoft.com/office/powerpoint/2010/main" val="1084703738"/>
              </p:ext>
            </p:extLst>
          </p:nvPr>
        </p:nvGraphicFramePr>
        <p:xfrm>
          <a:off x="5667375" y="517524"/>
          <a:ext cx="3257550" cy="5730118"/>
        </p:xfrm>
        <a:graphic>
          <a:graphicData uri="http://schemas.openxmlformats.org/drawingml/2006/table">
            <a:tbl>
              <a:tblPr/>
              <a:tblGrid>
                <a:gridCol w="434485">
                  <a:extLst>
                    <a:ext uri="{9D8B030D-6E8A-4147-A177-3AD203B41FA5}">
                      <a16:colId xmlns:a16="http://schemas.microsoft.com/office/drawing/2014/main" val="20000"/>
                    </a:ext>
                  </a:extLst>
                </a:gridCol>
                <a:gridCol w="434484">
                  <a:extLst>
                    <a:ext uri="{9D8B030D-6E8A-4147-A177-3AD203B41FA5}">
                      <a16:colId xmlns:a16="http://schemas.microsoft.com/office/drawing/2014/main" val="20001"/>
                    </a:ext>
                  </a:extLst>
                </a:gridCol>
                <a:gridCol w="393413">
                  <a:extLst>
                    <a:ext uri="{9D8B030D-6E8A-4147-A177-3AD203B41FA5}">
                      <a16:colId xmlns:a16="http://schemas.microsoft.com/office/drawing/2014/main" val="20002"/>
                    </a:ext>
                  </a:extLst>
                </a:gridCol>
                <a:gridCol w="395576">
                  <a:extLst>
                    <a:ext uri="{9D8B030D-6E8A-4147-A177-3AD203B41FA5}">
                      <a16:colId xmlns:a16="http://schemas.microsoft.com/office/drawing/2014/main" val="20003"/>
                    </a:ext>
                  </a:extLst>
                </a:gridCol>
                <a:gridCol w="395574">
                  <a:extLst>
                    <a:ext uri="{9D8B030D-6E8A-4147-A177-3AD203B41FA5}">
                      <a16:colId xmlns:a16="http://schemas.microsoft.com/office/drawing/2014/main" val="20004"/>
                    </a:ext>
                  </a:extLst>
                </a:gridCol>
                <a:gridCol w="373960">
                  <a:extLst>
                    <a:ext uri="{9D8B030D-6E8A-4147-A177-3AD203B41FA5}">
                      <a16:colId xmlns:a16="http://schemas.microsoft.com/office/drawing/2014/main" val="20005"/>
                    </a:ext>
                  </a:extLst>
                </a:gridCol>
                <a:gridCol w="376120">
                  <a:extLst>
                    <a:ext uri="{9D8B030D-6E8A-4147-A177-3AD203B41FA5}">
                      <a16:colId xmlns:a16="http://schemas.microsoft.com/office/drawing/2014/main" val="20006"/>
                    </a:ext>
                  </a:extLst>
                </a:gridCol>
                <a:gridCol w="453938">
                  <a:extLst>
                    <a:ext uri="{9D8B030D-6E8A-4147-A177-3AD203B41FA5}">
                      <a16:colId xmlns:a16="http://schemas.microsoft.com/office/drawing/2014/main" val="20007"/>
                    </a:ext>
                  </a:extLst>
                </a:gridCol>
              </a:tblGrid>
              <a:tr h="394389">
                <a:tc gridSpan="8">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C00000"/>
                          </a:solidFill>
                          <a:effectLst/>
                          <a:latin typeface="+mn-lt"/>
                        </a:rPr>
                        <a:t>Actual message received</a:t>
                      </a:r>
                    </a:p>
                  </a:txBody>
                  <a:tcPr marL="101205" marR="101205" marT="50603" marB="506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561">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200" b="1" i="0" u="none" strike="noStrike" cap="none" normalizeH="0" baseline="0" dirty="0">
                        <a:ln>
                          <a:noFill/>
                        </a:ln>
                        <a:solidFill>
                          <a:srgbClr val="C00000"/>
                        </a:solidFill>
                        <a:effectLst/>
                        <a:latin typeface="+mn-lt"/>
                      </a:endParaRPr>
                    </a:p>
                  </a:txBody>
                  <a:tcPr marL="124509" marR="124509" marT="62264" marB="62264" horzOverflow="overflow">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564217323"/>
                  </a:ext>
                </a:extLst>
              </a:tr>
            </a:tbl>
          </a:graphicData>
        </a:graphic>
      </p:graphicFrame>
      <p:graphicFrame>
        <p:nvGraphicFramePr>
          <p:cNvPr id="8" name="Group 1427">
            <a:extLst>
              <a:ext uri="{FF2B5EF4-FFF2-40B4-BE49-F238E27FC236}">
                <a16:creationId xmlns:a16="http://schemas.microsoft.com/office/drawing/2014/main" id="{1F66C17B-5B53-4FB1-A645-2C22A7CCC466}"/>
              </a:ext>
            </a:extLst>
          </p:cNvPr>
          <p:cNvGraphicFramePr>
            <a:graphicFrameLocks noGrp="1"/>
          </p:cNvGraphicFramePr>
          <p:nvPr>
            <p:extLst>
              <p:ext uri="{D42A27DB-BD31-4B8C-83A1-F6EECF244321}">
                <p14:modId xmlns:p14="http://schemas.microsoft.com/office/powerpoint/2010/main" val="2837366499"/>
              </p:ext>
            </p:extLst>
          </p:nvPr>
        </p:nvGraphicFramePr>
        <p:xfrm>
          <a:off x="8925741" y="917362"/>
          <a:ext cx="371475" cy="5018953"/>
        </p:xfrm>
        <a:graphic>
          <a:graphicData uri="http://schemas.openxmlformats.org/drawingml/2006/table">
            <a:tbl>
              <a:tblPr/>
              <a:tblGrid>
                <a:gridCol w="371475">
                  <a:extLst>
                    <a:ext uri="{9D8B030D-6E8A-4147-A177-3AD203B41FA5}">
                      <a16:colId xmlns:a16="http://schemas.microsoft.com/office/drawing/2014/main" val="20000"/>
                    </a:ext>
                  </a:extLst>
                </a:gridCol>
              </a:tblGrid>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A</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10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V</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E</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R</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Y</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T</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H</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I</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C</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K</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D</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O</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G</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10" name="Rectangle 9">
            <a:extLst>
              <a:ext uri="{FF2B5EF4-FFF2-40B4-BE49-F238E27FC236}">
                <a16:creationId xmlns:a16="http://schemas.microsoft.com/office/drawing/2014/main" id="{E6A264C2-F012-FA07-9246-5BC835AE213A}"/>
              </a:ext>
            </a:extLst>
          </p:cNvPr>
          <p:cNvSpPr/>
          <p:nvPr/>
        </p:nvSpPr>
        <p:spPr>
          <a:xfrm>
            <a:off x="220674" y="1052896"/>
            <a:ext cx="4160825" cy="2031325"/>
          </a:xfrm>
          <a:prstGeom prst="rect">
            <a:avLst/>
          </a:prstGeom>
        </p:spPr>
        <p:txBody>
          <a:bodyPr wrap="square">
            <a:spAutoFit/>
          </a:bodyPr>
          <a:lstStyle/>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Using even parity, a message is sent as a block of 8-bit bytes.</a:t>
            </a:r>
          </a:p>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A horizontal parity check is performed on each byte, which identifies an error in one of the bytes.</a:t>
            </a:r>
          </a:p>
          <a:p>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Graphic 2" descr="Checkmark with solid fill">
            <a:extLst>
              <a:ext uri="{FF2B5EF4-FFF2-40B4-BE49-F238E27FC236}">
                <a16:creationId xmlns:a16="http://schemas.microsoft.com/office/drawing/2014/main" id="{966370E6-D2D6-1074-6B40-DD51109EFB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95" y="869737"/>
            <a:ext cx="352120" cy="352120"/>
          </a:xfrm>
          <a:prstGeom prst="rect">
            <a:avLst/>
          </a:prstGeom>
        </p:spPr>
      </p:pic>
      <p:pic>
        <p:nvPicPr>
          <p:cNvPr id="23" name="Graphic 22" descr="Close with solid fill">
            <a:extLst>
              <a:ext uri="{FF2B5EF4-FFF2-40B4-BE49-F238E27FC236}">
                <a16:creationId xmlns:a16="http://schemas.microsoft.com/office/drawing/2014/main" id="{7F0B3859-5264-455D-3ECD-9FD3BBADA8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32813" y="4986375"/>
            <a:ext cx="352120" cy="352120"/>
          </a:xfrm>
          <a:prstGeom prst="rect">
            <a:avLst/>
          </a:prstGeom>
        </p:spPr>
      </p:pic>
      <p:sp>
        <p:nvSpPr>
          <p:cNvPr id="26" name="Rectangle 25">
            <a:extLst>
              <a:ext uri="{FF2B5EF4-FFF2-40B4-BE49-F238E27FC236}">
                <a16:creationId xmlns:a16="http://schemas.microsoft.com/office/drawing/2014/main" id="{2B56585E-D149-6DBF-9EEF-5D6593AA14DD}"/>
              </a:ext>
            </a:extLst>
          </p:cNvPr>
          <p:cNvSpPr/>
          <p:nvPr/>
        </p:nvSpPr>
        <p:spPr>
          <a:xfrm>
            <a:off x="5663813" y="903121"/>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Graphic 26" descr="Checkmark with solid fill">
            <a:extLst>
              <a:ext uri="{FF2B5EF4-FFF2-40B4-BE49-F238E27FC236}">
                <a16:creationId xmlns:a16="http://schemas.microsoft.com/office/drawing/2014/main" id="{4582DA0B-61DF-21E1-7C06-5C666D9E9B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85" y="1198352"/>
            <a:ext cx="352120" cy="352120"/>
          </a:xfrm>
          <a:prstGeom prst="rect">
            <a:avLst/>
          </a:prstGeom>
        </p:spPr>
      </p:pic>
      <p:sp>
        <p:nvSpPr>
          <p:cNvPr id="28" name="Rectangle 27">
            <a:extLst>
              <a:ext uri="{FF2B5EF4-FFF2-40B4-BE49-F238E27FC236}">
                <a16:creationId xmlns:a16="http://schemas.microsoft.com/office/drawing/2014/main" id="{149F0F65-CE4A-C18D-B424-7BE3AB5FC760}"/>
              </a:ext>
            </a:extLst>
          </p:cNvPr>
          <p:cNvSpPr/>
          <p:nvPr/>
        </p:nvSpPr>
        <p:spPr>
          <a:xfrm>
            <a:off x="5663803" y="1231736"/>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Graphic 28" descr="Checkmark with solid fill">
            <a:extLst>
              <a:ext uri="{FF2B5EF4-FFF2-40B4-BE49-F238E27FC236}">
                <a16:creationId xmlns:a16="http://schemas.microsoft.com/office/drawing/2014/main" id="{11474262-5309-DCA9-AD5E-714689BF33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2144" y="1526965"/>
            <a:ext cx="352120" cy="352120"/>
          </a:xfrm>
          <a:prstGeom prst="rect">
            <a:avLst/>
          </a:prstGeom>
        </p:spPr>
      </p:pic>
      <p:sp>
        <p:nvSpPr>
          <p:cNvPr id="30" name="Rectangle 29">
            <a:extLst>
              <a:ext uri="{FF2B5EF4-FFF2-40B4-BE49-F238E27FC236}">
                <a16:creationId xmlns:a16="http://schemas.microsoft.com/office/drawing/2014/main" id="{81154511-E8A8-6A2E-A9D3-2774E5778277}"/>
              </a:ext>
            </a:extLst>
          </p:cNvPr>
          <p:cNvSpPr/>
          <p:nvPr/>
        </p:nvSpPr>
        <p:spPr>
          <a:xfrm>
            <a:off x="5668562" y="1560349"/>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 name="Graphic 30" descr="Checkmark with solid fill">
            <a:extLst>
              <a:ext uri="{FF2B5EF4-FFF2-40B4-BE49-F238E27FC236}">
                <a16:creationId xmlns:a16="http://schemas.microsoft.com/office/drawing/2014/main" id="{FF45E177-93CD-B7FA-0EBF-D15BCD194C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85" y="1847898"/>
            <a:ext cx="352120" cy="352120"/>
          </a:xfrm>
          <a:prstGeom prst="rect">
            <a:avLst/>
          </a:prstGeom>
        </p:spPr>
      </p:pic>
      <p:sp>
        <p:nvSpPr>
          <p:cNvPr id="32" name="Rectangle 31">
            <a:extLst>
              <a:ext uri="{FF2B5EF4-FFF2-40B4-BE49-F238E27FC236}">
                <a16:creationId xmlns:a16="http://schemas.microsoft.com/office/drawing/2014/main" id="{BF17E429-6DCB-9819-DCE8-AB1D20AE8188}"/>
              </a:ext>
            </a:extLst>
          </p:cNvPr>
          <p:cNvSpPr/>
          <p:nvPr/>
        </p:nvSpPr>
        <p:spPr>
          <a:xfrm>
            <a:off x="5663803" y="1881282"/>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3" name="Graphic 32" descr="Checkmark with solid fill">
            <a:extLst>
              <a:ext uri="{FF2B5EF4-FFF2-40B4-BE49-F238E27FC236}">
                <a16:creationId xmlns:a16="http://schemas.microsoft.com/office/drawing/2014/main" id="{4810367C-0171-777B-33C9-11933665A0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2144" y="2162222"/>
            <a:ext cx="352120" cy="352120"/>
          </a:xfrm>
          <a:prstGeom prst="rect">
            <a:avLst/>
          </a:prstGeom>
        </p:spPr>
      </p:pic>
      <p:sp>
        <p:nvSpPr>
          <p:cNvPr id="34" name="Rectangle 33">
            <a:extLst>
              <a:ext uri="{FF2B5EF4-FFF2-40B4-BE49-F238E27FC236}">
                <a16:creationId xmlns:a16="http://schemas.microsoft.com/office/drawing/2014/main" id="{38214988-8265-CBB0-9FCF-7E30246A678D}"/>
              </a:ext>
            </a:extLst>
          </p:cNvPr>
          <p:cNvSpPr/>
          <p:nvPr/>
        </p:nvSpPr>
        <p:spPr>
          <a:xfrm>
            <a:off x="5668562" y="2195606"/>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descr="Checkmark with solid fill">
            <a:extLst>
              <a:ext uri="{FF2B5EF4-FFF2-40B4-BE49-F238E27FC236}">
                <a16:creationId xmlns:a16="http://schemas.microsoft.com/office/drawing/2014/main" id="{6761700E-798E-DE7F-A210-F33B358967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81" y="2471791"/>
            <a:ext cx="352120" cy="352120"/>
          </a:xfrm>
          <a:prstGeom prst="rect">
            <a:avLst/>
          </a:prstGeom>
        </p:spPr>
      </p:pic>
      <p:sp>
        <p:nvSpPr>
          <p:cNvPr id="36" name="Rectangle 35">
            <a:extLst>
              <a:ext uri="{FF2B5EF4-FFF2-40B4-BE49-F238E27FC236}">
                <a16:creationId xmlns:a16="http://schemas.microsoft.com/office/drawing/2014/main" id="{D573F8AF-62A0-C5FD-6FBE-08675B03C8AE}"/>
              </a:ext>
            </a:extLst>
          </p:cNvPr>
          <p:cNvSpPr/>
          <p:nvPr/>
        </p:nvSpPr>
        <p:spPr>
          <a:xfrm>
            <a:off x="5663799" y="2505175"/>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7" name="Graphic 36" descr="Checkmark with solid fill">
            <a:extLst>
              <a:ext uri="{FF2B5EF4-FFF2-40B4-BE49-F238E27FC236}">
                <a16:creationId xmlns:a16="http://schemas.microsoft.com/office/drawing/2014/main" id="{0ADFB5FA-F243-2015-7A5C-454A174D10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73" y="2776597"/>
            <a:ext cx="352120" cy="352120"/>
          </a:xfrm>
          <a:prstGeom prst="rect">
            <a:avLst/>
          </a:prstGeom>
        </p:spPr>
      </p:pic>
      <p:sp>
        <p:nvSpPr>
          <p:cNvPr id="38" name="Rectangle 37">
            <a:extLst>
              <a:ext uri="{FF2B5EF4-FFF2-40B4-BE49-F238E27FC236}">
                <a16:creationId xmlns:a16="http://schemas.microsoft.com/office/drawing/2014/main" id="{952ED16B-18F3-E12B-8A34-22AE76356E90}"/>
              </a:ext>
            </a:extLst>
          </p:cNvPr>
          <p:cNvSpPr/>
          <p:nvPr/>
        </p:nvSpPr>
        <p:spPr>
          <a:xfrm>
            <a:off x="5663791" y="2809981"/>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9" name="Graphic 38" descr="Checkmark with solid fill">
            <a:extLst>
              <a:ext uri="{FF2B5EF4-FFF2-40B4-BE49-F238E27FC236}">
                <a16:creationId xmlns:a16="http://schemas.microsoft.com/office/drawing/2014/main" id="{5709E20F-1685-F8F8-B065-B7073C00B3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73" y="3080581"/>
            <a:ext cx="352120" cy="352120"/>
          </a:xfrm>
          <a:prstGeom prst="rect">
            <a:avLst/>
          </a:prstGeom>
        </p:spPr>
      </p:pic>
      <p:sp>
        <p:nvSpPr>
          <p:cNvPr id="40" name="Rectangle 39">
            <a:extLst>
              <a:ext uri="{FF2B5EF4-FFF2-40B4-BE49-F238E27FC236}">
                <a16:creationId xmlns:a16="http://schemas.microsoft.com/office/drawing/2014/main" id="{59F982C9-1102-A1E8-CD82-26D8501278AC}"/>
              </a:ext>
            </a:extLst>
          </p:cNvPr>
          <p:cNvSpPr/>
          <p:nvPr/>
        </p:nvSpPr>
        <p:spPr>
          <a:xfrm>
            <a:off x="5663791" y="3113965"/>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1" name="Graphic 40" descr="Checkmark with solid fill">
            <a:extLst>
              <a:ext uri="{FF2B5EF4-FFF2-40B4-BE49-F238E27FC236}">
                <a16:creationId xmlns:a16="http://schemas.microsoft.com/office/drawing/2014/main" id="{CFC7A04E-654D-D1DA-DAA2-270EA477DD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2144" y="3398695"/>
            <a:ext cx="352120" cy="352120"/>
          </a:xfrm>
          <a:prstGeom prst="rect">
            <a:avLst/>
          </a:prstGeom>
        </p:spPr>
      </p:pic>
      <p:sp>
        <p:nvSpPr>
          <p:cNvPr id="42" name="Rectangle 41">
            <a:extLst>
              <a:ext uri="{FF2B5EF4-FFF2-40B4-BE49-F238E27FC236}">
                <a16:creationId xmlns:a16="http://schemas.microsoft.com/office/drawing/2014/main" id="{B687E01C-2F37-74CB-58D3-DB1C9B1F1661}"/>
              </a:ext>
            </a:extLst>
          </p:cNvPr>
          <p:cNvSpPr/>
          <p:nvPr/>
        </p:nvSpPr>
        <p:spPr>
          <a:xfrm>
            <a:off x="5668562" y="3432079"/>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3" name="Graphic 42" descr="Checkmark with solid fill">
            <a:extLst>
              <a:ext uri="{FF2B5EF4-FFF2-40B4-BE49-F238E27FC236}">
                <a16:creationId xmlns:a16="http://schemas.microsoft.com/office/drawing/2014/main" id="{E0E0744C-3E49-8CAF-FD90-6E977BA9C7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73" y="3712640"/>
            <a:ext cx="352120" cy="352120"/>
          </a:xfrm>
          <a:prstGeom prst="rect">
            <a:avLst/>
          </a:prstGeom>
        </p:spPr>
      </p:pic>
      <p:sp>
        <p:nvSpPr>
          <p:cNvPr id="44" name="Rectangle 43">
            <a:extLst>
              <a:ext uri="{FF2B5EF4-FFF2-40B4-BE49-F238E27FC236}">
                <a16:creationId xmlns:a16="http://schemas.microsoft.com/office/drawing/2014/main" id="{9F1F9470-91C4-53DB-C36F-86C41CE68D5C}"/>
              </a:ext>
            </a:extLst>
          </p:cNvPr>
          <p:cNvSpPr/>
          <p:nvPr/>
        </p:nvSpPr>
        <p:spPr>
          <a:xfrm>
            <a:off x="5663791" y="3746024"/>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5" name="Graphic 44" descr="Checkmark with solid fill">
            <a:extLst>
              <a:ext uri="{FF2B5EF4-FFF2-40B4-BE49-F238E27FC236}">
                <a16:creationId xmlns:a16="http://schemas.microsoft.com/office/drawing/2014/main" id="{553E6C45-D82B-9349-42FD-74663F5BAA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73" y="4017740"/>
            <a:ext cx="352120" cy="352120"/>
          </a:xfrm>
          <a:prstGeom prst="rect">
            <a:avLst/>
          </a:prstGeom>
        </p:spPr>
      </p:pic>
      <p:sp>
        <p:nvSpPr>
          <p:cNvPr id="46" name="Rectangle 45">
            <a:extLst>
              <a:ext uri="{FF2B5EF4-FFF2-40B4-BE49-F238E27FC236}">
                <a16:creationId xmlns:a16="http://schemas.microsoft.com/office/drawing/2014/main" id="{E728F719-FC44-CB9C-5103-74CF782B5719}"/>
              </a:ext>
            </a:extLst>
          </p:cNvPr>
          <p:cNvSpPr/>
          <p:nvPr/>
        </p:nvSpPr>
        <p:spPr>
          <a:xfrm>
            <a:off x="5663791" y="4051124"/>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7" name="Graphic 46" descr="Checkmark with solid fill">
            <a:extLst>
              <a:ext uri="{FF2B5EF4-FFF2-40B4-BE49-F238E27FC236}">
                <a16:creationId xmlns:a16="http://schemas.microsoft.com/office/drawing/2014/main" id="{46A5BA92-BB06-1CAF-A94C-9C10C69118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81" y="4335834"/>
            <a:ext cx="352120" cy="352120"/>
          </a:xfrm>
          <a:prstGeom prst="rect">
            <a:avLst/>
          </a:prstGeom>
        </p:spPr>
      </p:pic>
      <p:sp>
        <p:nvSpPr>
          <p:cNvPr id="48" name="Rectangle 47">
            <a:extLst>
              <a:ext uri="{FF2B5EF4-FFF2-40B4-BE49-F238E27FC236}">
                <a16:creationId xmlns:a16="http://schemas.microsoft.com/office/drawing/2014/main" id="{FC1E1D51-B3B3-CA77-6012-F591337ECF9B}"/>
              </a:ext>
            </a:extLst>
          </p:cNvPr>
          <p:cNvSpPr/>
          <p:nvPr/>
        </p:nvSpPr>
        <p:spPr>
          <a:xfrm>
            <a:off x="5663799" y="4369218"/>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9" name="Graphic 48" descr="Checkmark with solid fill">
            <a:extLst>
              <a:ext uri="{FF2B5EF4-FFF2-40B4-BE49-F238E27FC236}">
                <a16:creationId xmlns:a16="http://schemas.microsoft.com/office/drawing/2014/main" id="{C2C9EAC2-D340-61BD-3BF1-7E6F4D06778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73" y="4655913"/>
            <a:ext cx="352120" cy="352120"/>
          </a:xfrm>
          <a:prstGeom prst="rect">
            <a:avLst/>
          </a:prstGeom>
        </p:spPr>
      </p:pic>
      <p:sp>
        <p:nvSpPr>
          <p:cNvPr id="50" name="Rectangle 49">
            <a:extLst>
              <a:ext uri="{FF2B5EF4-FFF2-40B4-BE49-F238E27FC236}">
                <a16:creationId xmlns:a16="http://schemas.microsoft.com/office/drawing/2014/main" id="{E53B1491-A549-48A0-0541-4E00B03B3476}"/>
              </a:ext>
            </a:extLst>
          </p:cNvPr>
          <p:cNvSpPr/>
          <p:nvPr/>
        </p:nvSpPr>
        <p:spPr>
          <a:xfrm>
            <a:off x="5663791" y="4689297"/>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1EA92E50-4E0F-72C8-5C8C-BA34B2F98700}"/>
              </a:ext>
            </a:extLst>
          </p:cNvPr>
          <p:cNvSpPr/>
          <p:nvPr/>
        </p:nvSpPr>
        <p:spPr>
          <a:xfrm>
            <a:off x="5661425" y="4986375"/>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2" name="Graphic 51" descr="Checkmark with solid fill">
            <a:extLst>
              <a:ext uri="{FF2B5EF4-FFF2-40B4-BE49-F238E27FC236}">
                <a16:creationId xmlns:a16="http://schemas.microsoft.com/office/drawing/2014/main" id="{335C670B-3623-98B4-28A5-3E23B4D50E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0258" y="5263374"/>
            <a:ext cx="352120" cy="352120"/>
          </a:xfrm>
          <a:prstGeom prst="rect">
            <a:avLst/>
          </a:prstGeom>
        </p:spPr>
      </p:pic>
      <p:sp>
        <p:nvSpPr>
          <p:cNvPr id="53" name="Rectangle 52">
            <a:extLst>
              <a:ext uri="{FF2B5EF4-FFF2-40B4-BE49-F238E27FC236}">
                <a16:creationId xmlns:a16="http://schemas.microsoft.com/office/drawing/2014/main" id="{716B20D8-CC3F-2B13-F38B-21E23880D817}"/>
              </a:ext>
            </a:extLst>
          </p:cNvPr>
          <p:cNvSpPr/>
          <p:nvPr/>
        </p:nvSpPr>
        <p:spPr>
          <a:xfrm>
            <a:off x="5656676" y="5296758"/>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4" name="Graphic 53" descr="Checkmark with solid fill">
            <a:extLst>
              <a:ext uri="{FF2B5EF4-FFF2-40B4-BE49-F238E27FC236}">
                <a16:creationId xmlns:a16="http://schemas.microsoft.com/office/drawing/2014/main" id="{2CC13EB0-0147-6A69-0EDD-0A98587637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7373" y="5577505"/>
            <a:ext cx="352120" cy="352120"/>
          </a:xfrm>
          <a:prstGeom prst="rect">
            <a:avLst/>
          </a:prstGeom>
        </p:spPr>
      </p:pic>
      <p:sp>
        <p:nvSpPr>
          <p:cNvPr id="55" name="Rectangle 54">
            <a:extLst>
              <a:ext uri="{FF2B5EF4-FFF2-40B4-BE49-F238E27FC236}">
                <a16:creationId xmlns:a16="http://schemas.microsoft.com/office/drawing/2014/main" id="{4B1499FA-BFA9-DD9B-114F-36454B3D4453}"/>
              </a:ext>
            </a:extLst>
          </p:cNvPr>
          <p:cNvSpPr/>
          <p:nvPr/>
        </p:nvSpPr>
        <p:spPr>
          <a:xfrm>
            <a:off x="5663791" y="5610889"/>
            <a:ext cx="3257550" cy="30183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A03B868B-3077-0A28-6355-AB1991F4B81F}"/>
              </a:ext>
            </a:extLst>
          </p:cNvPr>
          <p:cNvSpPr/>
          <p:nvPr/>
        </p:nvSpPr>
        <p:spPr>
          <a:xfrm>
            <a:off x="5663791" y="4986375"/>
            <a:ext cx="3257550" cy="304806"/>
          </a:xfrm>
          <a:prstGeom prst="rect">
            <a:avLst/>
          </a:prstGeom>
          <a:noFill/>
          <a:ln w="28575">
            <a:solidFill>
              <a:srgbClr val="C00000"/>
            </a:solidFill>
          </a:ln>
          <a:effectLst>
            <a:glow rad="38100">
              <a:srgbClr val="C000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5428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par>
                          <p:cTn id="11" fill="hold">
                            <p:stCondLst>
                              <p:cond delay="1500"/>
                            </p:stCondLst>
                            <p:childTnLst>
                              <p:par>
                                <p:cTn id="12" presetID="10" presetClass="exit" presetSubtype="0" fill="hold" grpId="1" nodeType="afterEffect">
                                  <p:stCondLst>
                                    <p:cond delay="0"/>
                                  </p:stCondLst>
                                  <p:childTnLst>
                                    <p:animEffect transition="out" filter="fade">
                                      <p:cBhvr>
                                        <p:cTn id="13" dur="500"/>
                                        <p:tgtEl>
                                          <p:spTgt spid="26"/>
                                        </p:tgtEl>
                                      </p:cBhvr>
                                    </p:animEffect>
                                    <p:set>
                                      <p:cBhvr>
                                        <p:cTn id="14" dur="1" fill="hold">
                                          <p:stCondLst>
                                            <p:cond delay="499"/>
                                          </p:stCondLst>
                                        </p:cTn>
                                        <p:tgtEl>
                                          <p:spTgt spid="26"/>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par>
                          <p:cTn id="21" fill="hold">
                            <p:stCondLst>
                              <p:cond delay="2000"/>
                            </p:stCondLst>
                            <p:childTnLst>
                              <p:par>
                                <p:cTn id="22" presetID="10" presetClass="exit" presetSubtype="0" fill="hold" grpId="1" nodeType="afterEffect">
                                  <p:stCondLst>
                                    <p:cond delay="0"/>
                                  </p:stCondLst>
                                  <p:childTnLst>
                                    <p:animEffect transition="out" filter="fade">
                                      <p:cBhvr>
                                        <p:cTn id="23" dur="500"/>
                                        <p:tgtEl>
                                          <p:spTgt spid="28"/>
                                        </p:tgtEl>
                                      </p:cBhvr>
                                    </p:animEffect>
                                    <p:set>
                                      <p:cBhvr>
                                        <p:cTn id="24" dur="1" fill="hold">
                                          <p:stCondLst>
                                            <p:cond delay="499"/>
                                          </p:stCondLst>
                                        </p:cTn>
                                        <p:tgtEl>
                                          <p:spTgt spid="28"/>
                                        </p:tgtEl>
                                        <p:attrNameLst>
                                          <p:attrName>style.visibility</p:attrName>
                                        </p:attrNameLst>
                                      </p:cBhvr>
                                      <p:to>
                                        <p:strVal val="hidden"/>
                                      </p:to>
                                    </p:set>
                                  </p:childTnLst>
                                </p:cTn>
                              </p:par>
                              <p:par>
                                <p:cTn id="25" presetID="10"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par>
                          <p:cTn id="31" fill="hold">
                            <p:stCondLst>
                              <p:cond delay="2500"/>
                            </p:stCondLst>
                            <p:childTnLst>
                              <p:par>
                                <p:cTn id="32" presetID="10" presetClass="exit" presetSubtype="0" fill="hold" grpId="1" nodeType="afterEffect">
                                  <p:stCondLst>
                                    <p:cond delay="0"/>
                                  </p:stCondLst>
                                  <p:childTnLst>
                                    <p:animEffect transition="out" filter="fade">
                                      <p:cBhvr>
                                        <p:cTn id="33" dur="500"/>
                                        <p:tgtEl>
                                          <p:spTgt spid="30"/>
                                        </p:tgtEl>
                                      </p:cBhvr>
                                    </p:animEffect>
                                    <p:set>
                                      <p:cBhvr>
                                        <p:cTn id="34" dur="1" fill="hold">
                                          <p:stCondLst>
                                            <p:cond delay="499"/>
                                          </p:stCondLst>
                                        </p:cTn>
                                        <p:tgtEl>
                                          <p:spTgt spid="30"/>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500"/>
                                        <p:tgtEl>
                                          <p:spTgt spid="32"/>
                                        </p:tgtEl>
                                      </p:cBhvr>
                                    </p:animEffect>
                                  </p:childTnLst>
                                </p:cTn>
                              </p:par>
                            </p:childTnLst>
                          </p:cTn>
                        </p:par>
                        <p:par>
                          <p:cTn id="41" fill="hold">
                            <p:stCondLst>
                              <p:cond delay="3000"/>
                            </p:stCondLst>
                            <p:childTnLst>
                              <p:par>
                                <p:cTn id="42" presetID="10" presetClass="exit" presetSubtype="0" fill="hold" grpId="1" nodeType="afterEffect">
                                  <p:stCondLst>
                                    <p:cond delay="0"/>
                                  </p:stCondLst>
                                  <p:childTnLst>
                                    <p:animEffect transition="out" filter="fade">
                                      <p:cBhvr>
                                        <p:cTn id="43" dur="500"/>
                                        <p:tgtEl>
                                          <p:spTgt spid="32"/>
                                        </p:tgtEl>
                                      </p:cBhvr>
                                    </p:animEffect>
                                    <p:set>
                                      <p:cBhvr>
                                        <p:cTn id="44" dur="1" fill="hold">
                                          <p:stCondLst>
                                            <p:cond delay="499"/>
                                          </p:stCondLst>
                                        </p:cTn>
                                        <p:tgtEl>
                                          <p:spTgt spid="32"/>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500"/>
                                        <p:tgtEl>
                                          <p:spTgt spid="34"/>
                                        </p:tgtEl>
                                      </p:cBhvr>
                                    </p:animEffect>
                                  </p:childTnLst>
                                </p:cTn>
                              </p:par>
                            </p:childTnLst>
                          </p:cTn>
                        </p:par>
                        <p:par>
                          <p:cTn id="51" fill="hold">
                            <p:stCondLst>
                              <p:cond delay="3500"/>
                            </p:stCondLst>
                            <p:childTnLst>
                              <p:par>
                                <p:cTn id="52" presetID="10" presetClass="exit" presetSubtype="0" fill="hold" grpId="1" nodeType="afterEffect">
                                  <p:stCondLst>
                                    <p:cond delay="0"/>
                                  </p:stCondLst>
                                  <p:childTnLst>
                                    <p:animEffect transition="out" filter="fade">
                                      <p:cBhvr>
                                        <p:cTn id="53" dur="500"/>
                                        <p:tgtEl>
                                          <p:spTgt spid="34"/>
                                        </p:tgtEl>
                                      </p:cBhvr>
                                    </p:animEffect>
                                    <p:set>
                                      <p:cBhvr>
                                        <p:cTn id="54" dur="1" fill="hold">
                                          <p:stCondLst>
                                            <p:cond delay="499"/>
                                          </p:stCondLst>
                                        </p:cTn>
                                        <p:tgtEl>
                                          <p:spTgt spid="34"/>
                                        </p:tgtEl>
                                        <p:attrNameLst>
                                          <p:attrName>style.visibility</p:attrName>
                                        </p:attrNameLst>
                                      </p:cBhvr>
                                      <p:to>
                                        <p:strVal val="hidden"/>
                                      </p:to>
                                    </p:set>
                                  </p:childTnLst>
                                </p:cTn>
                              </p:par>
                              <p:par>
                                <p:cTn id="55" presetID="10"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500"/>
                                        <p:tgtEl>
                                          <p:spTgt spid="3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500"/>
                                        <p:tgtEl>
                                          <p:spTgt spid="36"/>
                                        </p:tgtEl>
                                      </p:cBhvr>
                                    </p:animEffect>
                                  </p:childTnLst>
                                </p:cTn>
                              </p:par>
                            </p:childTnLst>
                          </p:cTn>
                        </p:par>
                        <p:par>
                          <p:cTn id="61" fill="hold">
                            <p:stCondLst>
                              <p:cond delay="4000"/>
                            </p:stCondLst>
                            <p:childTnLst>
                              <p:par>
                                <p:cTn id="62" presetID="10" presetClass="exit" presetSubtype="0" fill="hold" grpId="1" nodeType="afterEffect">
                                  <p:stCondLst>
                                    <p:cond delay="0"/>
                                  </p:stCondLst>
                                  <p:childTnLst>
                                    <p:animEffect transition="out" filter="fade">
                                      <p:cBhvr>
                                        <p:cTn id="63" dur="500"/>
                                        <p:tgtEl>
                                          <p:spTgt spid="36"/>
                                        </p:tgtEl>
                                      </p:cBhvr>
                                    </p:animEffect>
                                    <p:set>
                                      <p:cBhvr>
                                        <p:cTn id="64" dur="1" fill="hold">
                                          <p:stCondLst>
                                            <p:cond delay="499"/>
                                          </p:stCondLst>
                                        </p:cTn>
                                        <p:tgtEl>
                                          <p:spTgt spid="36"/>
                                        </p:tgtEl>
                                        <p:attrNameLst>
                                          <p:attrName>style.visibility</p:attrName>
                                        </p:attrNameLst>
                                      </p:cBhvr>
                                      <p:to>
                                        <p:strVal val="hidden"/>
                                      </p:to>
                                    </p:set>
                                  </p:childTnLst>
                                </p:cTn>
                              </p:par>
                              <p:par>
                                <p:cTn id="65" presetID="10"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500"/>
                                        <p:tgtEl>
                                          <p:spTgt spid="3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500"/>
                                        <p:tgtEl>
                                          <p:spTgt spid="38"/>
                                        </p:tgtEl>
                                      </p:cBhvr>
                                    </p:animEffect>
                                  </p:childTnLst>
                                </p:cTn>
                              </p:par>
                            </p:childTnLst>
                          </p:cTn>
                        </p:par>
                        <p:par>
                          <p:cTn id="71" fill="hold">
                            <p:stCondLst>
                              <p:cond delay="4500"/>
                            </p:stCondLst>
                            <p:childTnLst>
                              <p:par>
                                <p:cTn id="72" presetID="10" presetClass="exit" presetSubtype="0" fill="hold" grpId="1" nodeType="afterEffect">
                                  <p:stCondLst>
                                    <p:cond delay="0"/>
                                  </p:stCondLst>
                                  <p:childTnLst>
                                    <p:animEffect transition="out" filter="fade">
                                      <p:cBhvr>
                                        <p:cTn id="73" dur="500"/>
                                        <p:tgtEl>
                                          <p:spTgt spid="38"/>
                                        </p:tgtEl>
                                      </p:cBhvr>
                                    </p:animEffect>
                                    <p:set>
                                      <p:cBhvr>
                                        <p:cTn id="74" dur="1" fill="hold">
                                          <p:stCondLst>
                                            <p:cond delay="499"/>
                                          </p:stCondLst>
                                        </p:cTn>
                                        <p:tgtEl>
                                          <p:spTgt spid="38"/>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500"/>
                                        <p:tgtEl>
                                          <p:spTgt spid="3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500"/>
                                        <p:tgtEl>
                                          <p:spTgt spid="40"/>
                                        </p:tgtEl>
                                      </p:cBhvr>
                                    </p:animEffect>
                                  </p:childTnLst>
                                </p:cTn>
                              </p:par>
                            </p:childTnLst>
                          </p:cTn>
                        </p:par>
                        <p:par>
                          <p:cTn id="81" fill="hold">
                            <p:stCondLst>
                              <p:cond delay="5000"/>
                            </p:stCondLst>
                            <p:childTnLst>
                              <p:par>
                                <p:cTn id="82" presetID="10" presetClass="exit" presetSubtype="0" fill="hold" grpId="1" nodeType="afterEffect">
                                  <p:stCondLst>
                                    <p:cond delay="0"/>
                                  </p:stCondLst>
                                  <p:childTnLst>
                                    <p:animEffect transition="out" filter="fade">
                                      <p:cBhvr>
                                        <p:cTn id="83" dur="500"/>
                                        <p:tgtEl>
                                          <p:spTgt spid="40"/>
                                        </p:tgtEl>
                                      </p:cBhvr>
                                    </p:animEffect>
                                    <p:set>
                                      <p:cBhvr>
                                        <p:cTn id="84" dur="1" fill="hold">
                                          <p:stCondLst>
                                            <p:cond delay="499"/>
                                          </p:stCondLst>
                                        </p:cTn>
                                        <p:tgtEl>
                                          <p:spTgt spid="40"/>
                                        </p:tgtEl>
                                        <p:attrNameLst>
                                          <p:attrName>style.visibility</p:attrName>
                                        </p:attrNameLst>
                                      </p:cBhvr>
                                      <p:to>
                                        <p:strVal val="hidden"/>
                                      </p:to>
                                    </p:set>
                                  </p:childTnLst>
                                </p:cTn>
                              </p:par>
                              <p:par>
                                <p:cTn id="85" presetID="10" presetClass="entr" presetSubtype="0" fill="hold" nodeType="with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500"/>
                                        <p:tgtEl>
                                          <p:spTgt spid="4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2"/>
                                        </p:tgtEl>
                                        <p:attrNameLst>
                                          <p:attrName>style.visibility</p:attrName>
                                        </p:attrNameLst>
                                      </p:cBhvr>
                                      <p:to>
                                        <p:strVal val="visible"/>
                                      </p:to>
                                    </p:set>
                                    <p:animEffect transition="in" filter="fade">
                                      <p:cBhvr>
                                        <p:cTn id="90" dur="500"/>
                                        <p:tgtEl>
                                          <p:spTgt spid="42"/>
                                        </p:tgtEl>
                                      </p:cBhvr>
                                    </p:animEffect>
                                  </p:childTnLst>
                                </p:cTn>
                              </p:par>
                            </p:childTnLst>
                          </p:cTn>
                        </p:par>
                        <p:par>
                          <p:cTn id="91" fill="hold">
                            <p:stCondLst>
                              <p:cond delay="5500"/>
                            </p:stCondLst>
                            <p:childTnLst>
                              <p:par>
                                <p:cTn id="92" presetID="10" presetClass="exit" presetSubtype="0" fill="hold" grpId="1" nodeType="afterEffect">
                                  <p:stCondLst>
                                    <p:cond delay="0"/>
                                  </p:stCondLst>
                                  <p:childTnLst>
                                    <p:animEffect transition="out" filter="fade">
                                      <p:cBhvr>
                                        <p:cTn id="93" dur="500"/>
                                        <p:tgtEl>
                                          <p:spTgt spid="42"/>
                                        </p:tgtEl>
                                      </p:cBhvr>
                                    </p:animEffect>
                                    <p:set>
                                      <p:cBhvr>
                                        <p:cTn id="94" dur="1" fill="hold">
                                          <p:stCondLst>
                                            <p:cond delay="499"/>
                                          </p:stCondLst>
                                        </p:cTn>
                                        <p:tgtEl>
                                          <p:spTgt spid="42"/>
                                        </p:tgtEl>
                                        <p:attrNameLst>
                                          <p:attrName>style.visibility</p:attrName>
                                        </p:attrNameLst>
                                      </p:cBhvr>
                                      <p:to>
                                        <p:strVal val="hidden"/>
                                      </p:to>
                                    </p:set>
                                  </p:childTnLst>
                                </p:cTn>
                              </p:par>
                              <p:par>
                                <p:cTn id="95" presetID="10"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500"/>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500"/>
                                        <p:tgtEl>
                                          <p:spTgt spid="44"/>
                                        </p:tgtEl>
                                      </p:cBhvr>
                                    </p:animEffect>
                                  </p:childTnLst>
                                </p:cTn>
                              </p:par>
                            </p:childTnLst>
                          </p:cTn>
                        </p:par>
                        <p:par>
                          <p:cTn id="101" fill="hold">
                            <p:stCondLst>
                              <p:cond delay="6000"/>
                            </p:stCondLst>
                            <p:childTnLst>
                              <p:par>
                                <p:cTn id="102" presetID="10" presetClass="exit" presetSubtype="0" fill="hold" grpId="1" nodeType="afterEffect">
                                  <p:stCondLst>
                                    <p:cond delay="0"/>
                                  </p:stCondLst>
                                  <p:childTnLst>
                                    <p:animEffect transition="out" filter="fade">
                                      <p:cBhvr>
                                        <p:cTn id="103" dur="500"/>
                                        <p:tgtEl>
                                          <p:spTgt spid="44"/>
                                        </p:tgtEl>
                                      </p:cBhvr>
                                    </p:animEffect>
                                    <p:set>
                                      <p:cBhvr>
                                        <p:cTn id="104" dur="1" fill="hold">
                                          <p:stCondLst>
                                            <p:cond delay="499"/>
                                          </p:stCondLst>
                                        </p:cTn>
                                        <p:tgtEl>
                                          <p:spTgt spid="44"/>
                                        </p:tgtEl>
                                        <p:attrNameLst>
                                          <p:attrName>style.visibility</p:attrName>
                                        </p:attrNameLst>
                                      </p:cBhvr>
                                      <p:to>
                                        <p:strVal val="hidden"/>
                                      </p:to>
                                    </p:set>
                                  </p:childTnLst>
                                </p:cTn>
                              </p:par>
                              <p:par>
                                <p:cTn id="105" presetID="10" presetClass="entr" presetSubtype="0" fill="hold"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500"/>
                                        <p:tgtEl>
                                          <p:spTgt spid="45"/>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6"/>
                                        </p:tgtEl>
                                        <p:attrNameLst>
                                          <p:attrName>style.visibility</p:attrName>
                                        </p:attrNameLst>
                                      </p:cBhvr>
                                      <p:to>
                                        <p:strVal val="visible"/>
                                      </p:to>
                                    </p:set>
                                    <p:animEffect transition="in" filter="fade">
                                      <p:cBhvr>
                                        <p:cTn id="110" dur="500"/>
                                        <p:tgtEl>
                                          <p:spTgt spid="46"/>
                                        </p:tgtEl>
                                      </p:cBhvr>
                                    </p:animEffect>
                                  </p:childTnLst>
                                </p:cTn>
                              </p:par>
                            </p:childTnLst>
                          </p:cTn>
                        </p:par>
                        <p:par>
                          <p:cTn id="111" fill="hold">
                            <p:stCondLst>
                              <p:cond delay="6500"/>
                            </p:stCondLst>
                            <p:childTnLst>
                              <p:par>
                                <p:cTn id="112" presetID="10" presetClass="exit" presetSubtype="0" fill="hold" grpId="1" nodeType="afterEffect">
                                  <p:stCondLst>
                                    <p:cond delay="0"/>
                                  </p:stCondLst>
                                  <p:childTnLst>
                                    <p:animEffect transition="out" filter="fade">
                                      <p:cBhvr>
                                        <p:cTn id="113" dur="500"/>
                                        <p:tgtEl>
                                          <p:spTgt spid="46"/>
                                        </p:tgtEl>
                                      </p:cBhvr>
                                    </p:animEffect>
                                    <p:set>
                                      <p:cBhvr>
                                        <p:cTn id="114" dur="1" fill="hold">
                                          <p:stCondLst>
                                            <p:cond delay="499"/>
                                          </p:stCondLst>
                                        </p:cTn>
                                        <p:tgtEl>
                                          <p:spTgt spid="46"/>
                                        </p:tgtEl>
                                        <p:attrNameLst>
                                          <p:attrName>style.visibility</p:attrName>
                                        </p:attrNameLst>
                                      </p:cBhvr>
                                      <p:to>
                                        <p:strVal val="hidden"/>
                                      </p:to>
                                    </p:set>
                                  </p:childTnLst>
                                </p:cTn>
                              </p:par>
                              <p:par>
                                <p:cTn id="115" presetID="10" presetClass="entr" presetSubtype="0" fill="hold" nodeType="withEffect">
                                  <p:stCondLst>
                                    <p:cond delay="0"/>
                                  </p:stCondLst>
                                  <p:childTnLst>
                                    <p:set>
                                      <p:cBhvr>
                                        <p:cTn id="116" dur="1" fill="hold">
                                          <p:stCondLst>
                                            <p:cond delay="0"/>
                                          </p:stCondLst>
                                        </p:cTn>
                                        <p:tgtEl>
                                          <p:spTgt spid="47"/>
                                        </p:tgtEl>
                                        <p:attrNameLst>
                                          <p:attrName>style.visibility</p:attrName>
                                        </p:attrNameLst>
                                      </p:cBhvr>
                                      <p:to>
                                        <p:strVal val="visible"/>
                                      </p:to>
                                    </p:set>
                                    <p:animEffect transition="in" filter="fade">
                                      <p:cBhvr>
                                        <p:cTn id="117" dur="500"/>
                                        <p:tgtEl>
                                          <p:spTgt spid="4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8"/>
                                        </p:tgtEl>
                                        <p:attrNameLst>
                                          <p:attrName>style.visibility</p:attrName>
                                        </p:attrNameLst>
                                      </p:cBhvr>
                                      <p:to>
                                        <p:strVal val="visible"/>
                                      </p:to>
                                    </p:set>
                                    <p:animEffect transition="in" filter="fade">
                                      <p:cBhvr>
                                        <p:cTn id="120" dur="500"/>
                                        <p:tgtEl>
                                          <p:spTgt spid="48"/>
                                        </p:tgtEl>
                                      </p:cBhvr>
                                    </p:animEffect>
                                  </p:childTnLst>
                                </p:cTn>
                              </p:par>
                            </p:childTnLst>
                          </p:cTn>
                        </p:par>
                        <p:par>
                          <p:cTn id="121" fill="hold">
                            <p:stCondLst>
                              <p:cond delay="7000"/>
                            </p:stCondLst>
                            <p:childTnLst>
                              <p:par>
                                <p:cTn id="122" presetID="10" presetClass="exit" presetSubtype="0" fill="hold" grpId="1" nodeType="afterEffect">
                                  <p:stCondLst>
                                    <p:cond delay="0"/>
                                  </p:stCondLst>
                                  <p:childTnLst>
                                    <p:animEffect transition="out" filter="fade">
                                      <p:cBhvr>
                                        <p:cTn id="123" dur="500"/>
                                        <p:tgtEl>
                                          <p:spTgt spid="48"/>
                                        </p:tgtEl>
                                      </p:cBhvr>
                                    </p:animEffect>
                                    <p:set>
                                      <p:cBhvr>
                                        <p:cTn id="124" dur="1" fill="hold">
                                          <p:stCondLst>
                                            <p:cond delay="499"/>
                                          </p:stCondLst>
                                        </p:cTn>
                                        <p:tgtEl>
                                          <p:spTgt spid="48"/>
                                        </p:tgtEl>
                                        <p:attrNameLst>
                                          <p:attrName>style.visibility</p:attrName>
                                        </p:attrNameLst>
                                      </p:cBhvr>
                                      <p:to>
                                        <p:strVal val="hidden"/>
                                      </p:to>
                                    </p:set>
                                  </p:childTnLst>
                                </p:cTn>
                              </p:par>
                              <p:par>
                                <p:cTn id="125" presetID="10" presetClass="entr" presetSubtype="0" fill="hold" nodeType="withEffect">
                                  <p:stCondLst>
                                    <p:cond delay="0"/>
                                  </p:stCondLst>
                                  <p:childTnLst>
                                    <p:set>
                                      <p:cBhvr>
                                        <p:cTn id="126" dur="1" fill="hold">
                                          <p:stCondLst>
                                            <p:cond delay="0"/>
                                          </p:stCondLst>
                                        </p:cTn>
                                        <p:tgtEl>
                                          <p:spTgt spid="49"/>
                                        </p:tgtEl>
                                        <p:attrNameLst>
                                          <p:attrName>style.visibility</p:attrName>
                                        </p:attrNameLst>
                                      </p:cBhvr>
                                      <p:to>
                                        <p:strVal val="visible"/>
                                      </p:to>
                                    </p:set>
                                    <p:animEffect transition="in" filter="fade">
                                      <p:cBhvr>
                                        <p:cTn id="127" dur="500"/>
                                        <p:tgtEl>
                                          <p:spTgt spid="4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0"/>
                                        </p:tgtEl>
                                        <p:attrNameLst>
                                          <p:attrName>style.visibility</p:attrName>
                                        </p:attrNameLst>
                                      </p:cBhvr>
                                      <p:to>
                                        <p:strVal val="visible"/>
                                      </p:to>
                                    </p:set>
                                    <p:animEffect transition="in" filter="fade">
                                      <p:cBhvr>
                                        <p:cTn id="130" dur="500"/>
                                        <p:tgtEl>
                                          <p:spTgt spid="50"/>
                                        </p:tgtEl>
                                      </p:cBhvr>
                                    </p:animEffect>
                                  </p:childTnLst>
                                </p:cTn>
                              </p:par>
                            </p:childTnLst>
                          </p:cTn>
                        </p:par>
                        <p:par>
                          <p:cTn id="131" fill="hold">
                            <p:stCondLst>
                              <p:cond delay="7500"/>
                            </p:stCondLst>
                            <p:childTnLst>
                              <p:par>
                                <p:cTn id="132" presetID="10" presetClass="exit" presetSubtype="0" fill="hold" grpId="1" nodeType="afterEffect">
                                  <p:stCondLst>
                                    <p:cond delay="0"/>
                                  </p:stCondLst>
                                  <p:childTnLst>
                                    <p:animEffect transition="out" filter="fade">
                                      <p:cBhvr>
                                        <p:cTn id="133" dur="500"/>
                                        <p:tgtEl>
                                          <p:spTgt spid="50"/>
                                        </p:tgtEl>
                                      </p:cBhvr>
                                    </p:animEffect>
                                    <p:set>
                                      <p:cBhvr>
                                        <p:cTn id="134" dur="1" fill="hold">
                                          <p:stCondLst>
                                            <p:cond delay="499"/>
                                          </p:stCondLst>
                                        </p:cTn>
                                        <p:tgtEl>
                                          <p:spTgt spid="50"/>
                                        </p:tgtEl>
                                        <p:attrNameLst>
                                          <p:attrName>style.visibility</p:attrName>
                                        </p:attrNameLst>
                                      </p:cBhvr>
                                      <p:to>
                                        <p:strVal val="hidden"/>
                                      </p:to>
                                    </p:set>
                                  </p:childTnLst>
                                </p:cTn>
                              </p:par>
                              <p:par>
                                <p:cTn id="135" presetID="10" presetClass="entr" presetSubtype="0" fill="hold" nodeType="withEffect">
                                  <p:stCondLst>
                                    <p:cond delay="0"/>
                                  </p:stCondLst>
                                  <p:childTnLst>
                                    <p:set>
                                      <p:cBhvr>
                                        <p:cTn id="136" dur="1" fill="hold">
                                          <p:stCondLst>
                                            <p:cond delay="0"/>
                                          </p:stCondLst>
                                        </p:cTn>
                                        <p:tgtEl>
                                          <p:spTgt spid="23"/>
                                        </p:tgtEl>
                                        <p:attrNameLst>
                                          <p:attrName>style.visibility</p:attrName>
                                        </p:attrNameLst>
                                      </p:cBhvr>
                                      <p:to>
                                        <p:strVal val="visible"/>
                                      </p:to>
                                    </p:set>
                                    <p:animEffect transition="in" filter="fade">
                                      <p:cBhvr>
                                        <p:cTn id="137" dur="500"/>
                                        <p:tgtEl>
                                          <p:spTgt spid="2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6"/>
                                        </p:tgtEl>
                                        <p:attrNameLst>
                                          <p:attrName>style.visibility</p:attrName>
                                        </p:attrNameLst>
                                      </p:cBhvr>
                                      <p:to>
                                        <p:strVal val="visible"/>
                                      </p:to>
                                    </p:set>
                                    <p:animEffect transition="in" filter="fade">
                                      <p:cBhvr>
                                        <p:cTn id="140" dur="500"/>
                                        <p:tgtEl>
                                          <p:spTgt spid="56"/>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500"/>
                                        <p:tgtEl>
                                          <p:spTgt spid="51"/>
                                        </p:tgtEl>
                                      </p:cBhvr>
                                    </p:animEffect>
                                  </p:childTnLst>
                                </p:cTn>
                              </p:par>
                            </p:childTnLst>
                          </p:cTn>
                        </p:par>
                        <p:par>
                          <p:cTn id="144" fill="hold">
                            <p:stCondLst>
                              <p:cond delay="8000"/>
                            </p:stCondLst>
                            <p:childTnLst>
                              <p:par>
                                <p:cTn id="145" presetID="10" presetClass="exit" presetSubtype="0" fill="hold" grpId="1" nodeType="afterEffect">
                                  <p:stCondLst>
                                    <p:cond delay="0"/>
                                  </p:stCondLst>
                                  <p:childTnLst>
                                    <p:animEffect transition="out" filter="fade">
                                      <p:cBhvr>
                                        <p:cTn id="146" dur="500"/>
                                        <p:tgtEl>
                                          <p:spTgt spid="51"/>
                                        </p:tgtEl>
                                      </p:cBhvr>
                                    </p:animEffect>
                                    <p:set>
                                      <p:cBhvr>
                                        <p:cTn id="147" dur="1" fill="hold">
                                          <p:stCondLst>
                                            <p:cond delay="499"/>
                                          </p:stCondLst>
                                        </p:cTn>
                                        <p:tgtEl>
                                          <p:spTgt spid="51"/>
                                        </p:tgtEl>
                                        <p:attrNameLst>
                                          <p:attrName>style.visibility</p:attrName>
                                        </p:attrNameLst>
                                      </p:cBhvr>
                                      <p:to>
                                        <p:strVal val="hidden"/>
                                      </p:to>
                                    </p:set>
                                  </p:childTnLst>
                                </p:cTn>
                              </p:par>
                              <p:par>
                                <p:cTn id="148" presetID="10" presetClass="entr" presetSubtype="0" fill="hold" nodeType="with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fade">
                                      <p:cBhvr>
                                        <p:cTn id="150" dur="500"/>
                                        <p:tgtEl>
                                          <p:spTgt spid="52"/>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3"/>
                                        </p:tgtEl>
                                        <p:attrNameLst>
                                          <p:attrName>style.visibility</p:attrName>
                                        </p:attrNameLst>
                                      </p:cBhvr>
                                      <p:to>
                                        <p:strVal val="visible"/>
                                      </p:to>
                                    </p:set>
                                    <p:animEffect transition="in" filter="fade">
                                      <p:cBhvr>
                                        <p:cTn id="153" dur="500"/>
                                        <p:tgtEl>
                                          <p:spTgt spid="53"/>
                                        </p:tgtEl>
                                      </p:cBhvr>
                                    </p:animEffect>
                                  </p:childTnLst>
                                </p:cTn>
                              </p:par>
                            </p:childTnLst>
                          </p:cTn>
                        </p:par>
                        <p:par>
                          <p:cTn id="154" fill="hold">
                            <p:stCondLst>
                              <p:cond delay="8500"/>
                            </p:stCondLst>
                            <p:childTnLst>
                              <p:par>
                                <p:cTn id="155" presetID="10" presetClass="exit" presetSubtype="0" fill="hold" grpId="1" nodeType="afterEffect">
                                  <p:stCondLst>
                                    <p:cond delay="0"/>
                                  </p:stCondLst>
                                  <p:childTnLst>
                                    <p:animEffect transition="out" filter="fade">
                                      <p:cBhvr>
                                        <p:cTn id="156" dur="500"/>
                                        <p:tgtEl>
                                          <p:spTgt spid="53"/>
                                        </p:tgtEl>
                                      </p:cBhvr>
                                    </p:animEffect>
                                    <p:set>
                                      <p:cBhvr>
                                        <p:cTn id="157" dur="1" fill="hold">
                                          <p:stCondLst>
                                            <p:cond delay="499"/>
                                          </p:stCondLst>
                                        </p:cTn>
                                        <p:tgtEl>
                                          <p:spTgt spid="53"/>
                                        </p:tgtEl>
                                        <p:attrNameLst>
                                          <p:attrName>style.visibility</p:attrName>
                                        </p:attrNameLst>
                                      </p:cBhvr>
                                      <p:to>
                                        <p:strVal val="hidden"/>
                                      </p:to>
                                    </p:set>
                                  </p:childTnLst>
                                </p:cTn>
                              </p:par>
                              <p:par>
                                <p:cTn id="158" presetID="10" presetClass="entr" presetSubtype="0" fill="hold" nodeType="withEffect">
                                  <p:stCondLst>
                                    <p:cond delay="0"/>
                                  </p:stCondLst>
                                  <p:childTnLst>
                                    <p:set>
                                      <p:cBhvr>
                                        <p:cTn id="159" dur="1" fill="hold">
                                          <p:stCondLst>
                                            <p:cond delay="0"/>
                                          </p:stCondLst>
                                        </p:cTn>
                                        <p:tgtEl>
                                          <p:spTgt spid="54"/>
                                        </p:tgtEl>
                                        <p:attrNameLst>
                                          <p:attrName>style.visibility</p:attrName>
                                        </p:attrNameLst>
                                      </p:cBhvr>
                                      <p:to>
                                        <p:strVal val="visible"/>
                                      </p:to>
                                    </p:set>
                                    <p:animEffect transition="in" filter="fade">
                                      <p:cBhvr>
                                        <p:cTn id="160" dur="500"/>
                                        <p:tgtEl>
                                          <p:spTgt spid="54"/>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5"/>
                                        </p:tgtEl>
                                        <p:attrNameLst>
                                          <p:attrName>style.visibility</p:attrName>
                                        </p:attrNameLst>
                                      </p:cBhvr>
                                      <p:to>
                                        <p:strVal val="visible"/>
                                      </p:to>
                                    </p:set>
                                    <p:animEffect transition="in" filter="fade">
                                      <p:cBhvr>
                                        <p:cTn id="163" dur="500"/>
                                        <p:tgtEl>
                                          <p:spTgt spid="55"/>
                                        </p:tgtEl>
                                      </p:cBhvr>
                                    </p:animEffect>
                                  </p:childTnLst>
                                </p:cTn>
                              </p:par>
                            </p:childTnLst>
                          </p:cTn>
                        </p:par>
                        <p:par>
                          <p:cTn id="164" fill="hold">
                            <p:stCondLst>
                              <p:cond delay="9000"/>
                            </p:stCondLst>
                            <p:childTnLst>
                              <p:par>
                                <p:cTn id="165" presetID="10" presetClass="exit" presetSubtype="0" fill="hold" grpId="1" nodeType="afterEffect">
                                  <p:stCondLst>
                                    <p:cond delay="0"/>
                                  </p:stCondLst>
                                  <p:childTnLst>
                                    <p:animEffect transition="out" filter="fade">
                                      <p:cBhvr>
                                        <p:cTn id="166" dur="500"/>
                                        <p:tgtEl>
                                          <p:spTgt spid="55"/>
                                        </p:tgtEl>
                                      </p:cBhvr>
                                    </p:animEffect>
                                    <p:set>
                                      <p:cBhvr>
                                        <p:cTn id="167" dur="1" fill="hold">
                                          <p:stCondLst>
                                            <p:cond delay="499"/>
                                          </p:stCondLst>
                                        </p:cTn>
                                        <p:tgtEl>
                                          <p:spTgt spid="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28" grpId="0" animBg="1"/>
      <p:bldP spid="28" grpId="1" animBg="1"/>
      <p:bldP spid="30" grpId="0" animBg="1"/>
      <p:bldP spid="30" grpId="1" animBg="1"/>
      <p:bldP spid="32" grpId="0" animBg="1"/>
      <p:bldP spid="32" grpId="1" animBg="1"/>
      <p:bldP spid="34" grpId="0" animBg="1"/>
      <p:bldP spid="34" grpId="1" animBg="1"/>
      <p:bldP spid="36" grpId="0" animBg="1"/>
      <p:bldP spid="36" grpId="1" animBg="1"/>
      <p:bldP spid="38" grpId="0" animBg="1"/>
      <p:bldP spid="38" grpId="1" animBg="1"/>
      <p:bldP spid="40" grpId="0" animBg="1"/>
      <p:bldP spid="40" grpId="1" animBg="1"/>
      <p:bldP spid="42" grpId="0" animBg="1"/>
      <p:bldP spid="42" grpId="1" animBg="1"/>
      <p:bldP spid="44" grpId="0" animBg="1"/>
      <p:bldP spid="44" grpId="1" animBg="1"/>
      <p:bldP spid="46" grpId="0" animBg="1"/>
      <p:bldP spid="46" grpId="1" animBg="1"/>
      <p:bldP spid="48" grpId="0" animBg="1"/>
      <p:bldP spid="48" grpId="1" animBg="1"/>
      <p:bldP spid="50" grpId="0" animBg="1"/>
      <p:bldP spid="50" grpId="1" animBg="1"/>
      <p:bldP spid="51" grpId="0" animBg="1"/>
      <p:bldP spid="51" grpId="1" animBg="1"/>
      <p:bldP spid="53" grpId="0" animBg="1"/>
      <p:bldP spid="53" grpId="1" animBg="1"/>
      <p:bldP spid="55" grpId="0" animBg="1"/>
      <p:bldP spid="55" grpId="1" animBg="1"/>
      <p:bldP spid="5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1641">
            <a:extLst>
              <a:ext uri="{FF2B5EF4-FFF2-40B4-BE49-F238E27FC236}">
                <a16:creationId xmlns:a16="http://schemas.microsoft.com/office/drawing/2014/main" id="{FDEEED60-4DF8-64AF-F545-217DEA23FE7A}"/>
              </a:ext>
            </a:extLst>
          </p:cNvPr>
          <p:cNvGraphicFramePr>
            <a:graphicFrameLocks noGrp="1"/>
          </p:cNvGraphicFramePr>
          <p:nvPr>
            <p:extLst>
              <p:ext uri="{D42A27DB-BD31-4B8C-83A1-F6EECF244321}">
                <p14:modId xmlns:p14="http://schemas.microsoft.com/office/powerpoint/2010/main" val="329853495"/>
              </p:ext>
            </p:extLst>
          </p:nvPr>
        </p:nvGraphicFramePr>
        <p:xfrm>
          <a:off x="5667375" y="517524"/>
          <a:ext cx="3257550" cy="5730118"/>
        </p:xfrm>
        <a:graphic>
          <a:graphicData uri="http://schemas.openxmlformats.org/drawingml/2006/table">
            <a:tbl>
              <a:tblPr/>
              <a:tblGrid>
                <a:gridCol w="434485">
                  <a:extLst>
                    <a:ext uri="{9D8B030D-6E8A-4147-A177-3AD203B41FA5}">
                      <a16:colId xmlns:a16="http://schemas.microsoft.com/office/drawing/2014/main" val="20000"/>
                    </a:ext>
                  </a:extLst>
                </a:gridCol>
                <a:gridCol w="434484">
                  <a:extLst>
                    <a:ext uri="{9D8B030D-6E8A-4147-A177-3AD203B41FA5}">
                      <a16:colId xmlns:a16="http://schemas.microsoft.com/office/drawing/2014/main" val="20001"/>
                    </a:ext>
                  </a:extLst>
                </a:gridCol>
                <a:gridCol w="393413">
                  <a:extLst>
                    <a:ext uri="{9D8B030D-6E8A-4147-A177-3AD203B41FA5}">
                      <a16:colId xmlns:a16="http://schemas.microsoft.com/office/drawing/2014/main" val="20002"/>
                    </a:ext>
                  </a:extLst>
                </a:gridCol>
                <a:gridCol w="395576">
                  <a:extLst>
                    <a:ext uri="{9D8B030D-6E8A-4147-A177-3AD203B41FA5}">
                      <a16:colId xmlns:a16="http://schemas.microsoft.com/office/drawing/2014/main" val="20003"/>
                    </a:ext>
                  </a:extLst>
                </a:gridCol>
                <a:gridCol w="395574">
                  <a:extLst>
                    <a:ext uri="{9D8B030D-6E8A-4147-A177-3AD203B41FA5}">
                      <a16:colId xmlns:a16="http://schemas.microsoft.com/office/drawing/2014/main" val="20004"/>
                    </a:ext>
                  </a:extLst>
                </a:gridCol>
                <a:gridCol w="373960">
                  <a:extLst>
                    <a:ext uri="{9D8B030D-6E8A-4147-A177-3AD203B41FA5}">
                      <a16:colId xmlns:a16="http://schemas.microsoft.com/office/drawing/2014/main" val="20005"/>
                    </a:ext>
                  </a:extLst>
                </a:gridCol>
                <a:gridCol w="376120">
                  <a:extLst>
                    <a:ext uri="{9D8B030D-6E8A-4147-A177-3AD203B41FA5}">
                      <a16:colId xmlns:a16="http://schemas.microsoft.com/office/drawing/2014/main" val="20006"/>
                    </a:ext>
                  </a:extLst>
                </a:gridCol>
                <a:gridCol w="453938">
                  <a:extLst>
                    <a:ext uri="{9D8B030D-6E8A-4147-A177-3AD203B41FA5}">
                      <a16:colId xmlns:a16="http://schemas.microsoft.com/office/drawing/2014/main" val="20007"/>
                    </a:ext>
                  </a:extLst>
                </a:gridCol>
              </a:tblGrid>
              <a:tr h="394389">
                <a:tc gridSpan="8">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C00000"/>
                          </a:solidFill>
                          <a:effectLst/>
                          <a:latin typeface="+mn-lt"/>
                        </a:rPr>
                        <a:t>Actual message received</a:t>
                      </a:r>
                    </a:p>
                  </a:txBody>
                  <a:tcPr marL="101205" marR="101205" marT="50603" marB="506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561">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200" b="1" i="0" u="none" strike="noStrike" cap="none" normalizeH="0" baseline="0" dirty="0">
                        <a:ln>
                          <a:noFill/>
                        </a:ln>
                        <a:solidFill>
                          <a:srgbClr val="C00000"/>
                        </a:solidFill>
                        <a:effectLst/>
                        <a:latin typeface="+mn-lt"/>
                      </a:endParaRPr>
                    </a:p>
                  </a:txBody>
                  <a:tcPr marL="124509" marR="124509" marT="62264" marB="62264" horzOverflow="overflow">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3501965698"/>
                  </a:ext>
                </a:extLst>
              </a:tr>
            </a:tbl>
          </a:graphicData>
        </a:graphic>
      </p:graphicFrame>
      <p:sp>
        <p:nvSpPr>
          <p:cNvPr id="56" name="Rectangle 55">
            <a:extLst>
              <a:ext uri="{FF2B5EF4-FFF2-40B4-BE49-F238E27FC236}">
                <a16:creationId xmlns:a16="http://schemas.microsoft.com/office/drawing/2014/main" id="{A03B868B-3077-0A28-6355-AB1991F4B81F}"/>
              </a:ext>
            </a:extLst>
          </p:cNvPr>
          <p:cNvSpPr/>
          <p:nvPr/>
        </p:nvSpPr>
        <p:spPr>
          <a:xfrm>
            <a:off x="5667353" y="5000617"/>
            <a:ext cx="3257550" cy="304806"/>
          </a:xfrm>
          <a:prstGeom prst="rect">
            <a:avLst/>
          </a:prstGeom>
          <a:noFill/>
          <a:ln w="28575">
            <a:solidFill>
              <a:srgbClr val="C00000"/>
            </a:solidFill>
          </a:ln>
          <a:effectLst>
            <a:glow rad="38100">
              <a:srgbClr val="C000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block checks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8" name="Group 1427">
            <a:extLst>
              <a:ext uri="{FF2B5EF4-FFF2-40B4-BE49-F238E27FC236}">
                <a16:creationId xmlns:a16="http://schemas.microsoft.com/office/drawing/2014/main" id="{1F66C17B-5B53-4FB1-A645-2C22A7CCC466}"/>
              </a:ext>
            </a:extLst>
          </p:cNvPr>
          <p:cNvGraphicFramePr>
            <a:graphicFrameLocks noGrp="1"/>
          </p:cNvGraphicFramePr>
          <p:nvPr>
            <p:extLst>
              <p:ext uri="{D42A27DB-BD31-4B8C-83A1-F6EECF244321}">
                <p14:modId xmlns:p14="http://schemas.microsoft.com/office/powerpoint/2010/main" val="2123775541"/>
              </p:ext>
            </p:extLst>
          </p:nvPr>
        </p:nvGraphicFramePr>
        <p:xfrm>
          <a:off x="8924925" y="917362"/>
          <a:ext cx="371475" cy="5018953"/>
        </p:xfrm>
        <a:graphic>
          <a:graphicData uri="http://schemas.openxmlformats.org/drawingml/2006/table">
            <a:tbl>
              <a:tblPr/>
              <a:tblGrid>
                <a:gridCol w="371475">
                  <a:extLst>
                    <a:ext uri="{9D8B030D-6E8A-4147-A177-3AD203B41FA5}">
                      <a16:colId xmlns:a16="http://schemas.microsoft.com/office/drawing/2014/main" val="20000"/>
                    </a:ext>
                  </a:extLst>
                </a:gridCol>
              </a:tblGrid>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A</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10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V</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E</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R</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Y</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dirty="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T</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H</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I</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C</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K</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mn-lt"/>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D</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mn-lt"/>
                        </a:rPr>
                        <a:t>O</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mn-lt"/>
                        </a:rPr>
                        <a:t>G</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10" name="Rectangle 9">
            <a:extLst>
              <a:ext uri="{FF2B5EF4-FFF2-40B4-BE49-F238E27FC236}">
                <a16:creationId xmlns:a16="http://schemas.microsoft.com/office/drawing/2014/main" id="{E6A264C2-F012-FA07-9246-5BC835AE213A}"/>
              </a:ext>
            </a:extLst>
          </p:cNvPr>
          <p:cNvSpPr/>
          <p:nvPr/>
        </p:nvSpPr>
        <p:spPr>
          <a:xfrm>
            <a:off x="220674" y="1052896"/>
            <a:ext cx="4160825" cy="2585323"/>
          </a:xfrm>
          <a:prstGeom prst="rect">
            <a:avLst/>
          </a:prstGeom>
        </p:spPr>
        <p:txBody>
          <a:bodyPr wrap="square">
            <a:spAutoFit/>
          </a:bodyPr>
          <a:lstStyle/>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Using even parity, a message is sent as a block of 8-bit bytes.</a:t>
            </a:r>
          </a:p>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A horizontal parity check is performed on each byte, which identifies an error in one of the bytes.</a:t>
            </a:r>
          </a:p>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Additional vertical parity checks are performed on the whole block.</a:t>
            </a:r>
          </a:p>
          <a:p>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Graphic 2" descr="Checkmark with solid fill">
            <a:extLst>
              <a:ext uri="{FF2B5EF4-FFF2-40B4-BE49-F238E27FC236}">
                <a16:creationId xmlns:a16="http://schemas.microsoft.com/office/drawing/2014/main" id="{966370E6-D2D6-1074-6B40-DD51109EFB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57" y="883979"/>
            <a:ext cx="352120" cy="352120"/>
          </a:xfrm>
          <a:prstGeom prst="rect">
            <a:avLst/>
          </a:prstGeom>
        </p:spPr>
      </p:pic>
      <p:pic>
        <p:nvPicPr>
          <p:cNvPr id="23" name="Graphic 22" descr="Close with solid fill">
            <a:extLst>
              <a:ext uri="{FF2B5EF4-FFF2-40B4-BE49-F238E27FC236}">
                <a16:creationId xmlns:a16="http://schemas.microsoft.com/office/drawing/2014/main" id="{7F0B3859-5264-455D-3ECD-9FD3BBADA8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36375" y="5000617"/>
            <a:ext cx="352120" cy="352120"/>
          </a:xfrm>
          <a:prstGeom prst="rect">
            <a:avLst/>
          </a:prstGeom>
        </p:spPr>
      </p:pic>
      <p:pic>
        <p:nvPicPr>
          <p:cNvPr id="27" name="Graphic 26" descr="Checkmark with solid fill">
            <a:extLst>
              <a:ext uri="{FF2B5EF4-FFF2-40B4-BE49-F238E27FC236}">
                <a16:creationId xmlns:a16="http://schemas.microsoft.com/office/drawing/2014/main" id="{4582DA0B-61DF-21E1-7C06-5C666D9E9B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47" y="1212594"/>
            <a:ext cx="352120" cy="352120"/>
          </a:xfrm>
          <a:prstGeom prst="rect">
            <a:avLst/>
          </a:prstGeom>
        </p:spPr>
      </p:pic>
      <p:pic>
        <p:nvPicPr>
          <p:cNvPr id="29" name="Graphic 28" descr="Checkmark with solid fill">
            <a:extLst>
              <a:ext uri="{FF2B5EF4-FFF2-40B4-BE49-F238E27FC236}">
                <a16:creationId xmlns:a16="http://schemas.microsoft.com/office/drawing/2014/main" id="{11474262-5309-DCA9-AD5E-714689BF33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5706" y="1541207"/>
            <a:ext cx="352120" cy="352120"/>
          </a:xfrm>
          <a:prstGeom prst="rect">
            <a:avLst/>
          </a:prstGeom>
        </p:spPr>
      </p:pic>
      <p:pic>
        <p:nvPicPr>
          <p:cNvPr id="31" name="Graphic 30" descr="Checkmark with solid fill">
            <a:extLst>
              <a:ext uri="{FF2B5EF4-FFF2-40B4-BE49-F238E27FC236}">
                <a16:creationId xmlns:a16="http://schemas.microsoft.com/office/drawing/2014/main" id="{FF45E177-93CD-B7FA-0EBF-D15BCD194C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47" y="1862140"/>
            <a:ext cx="352120" cy="352120"/>
          </a:xfrm>
          <a:prstGeom prst="rect">
            <a:avLst/>
          </a:prstGeom>
        </p:spPr>
      </p:pic>
      <p:pic>
        <p:nvPicPr>
          <p:cNvPr id="33" name="Graphic 32" descr="Checkmark with solid fill">
            <a:extLst>
              <a:ext uri="{FF2B5EF4-FFF2-40B4-BE49-F238E27FC236}">
                <a16:creationId xmlns:a16="http://schemas.microsoft.com/office/drawing/2014/main" id="{4810367C-0171-777B-33C9-11933665A0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5706" y="2176464"/>
            <a:ext cx="352120" cy="352120"/>
          </a:xfrm>
          <a:prstGeom prst="rect">
            <a:avLst/>
          </a:prstGeom>
        </p:spPr>
      </p:pic>
      <p:pic>
        <p:nvPicPr>
          <p:cNvPr id="35" name="Graphic 34" descr="Checkmark with solid fill">
            <a:extLst>
              <a:ext uri="{FF2B5EF4-FFF2-40B4-BE49-F238E27FC236}">
                <a16:creationId xmlns:a16="http://schemas.microsoft.com/office/drawing/2014/main" id="{6761700E-798E-DE7F-A210-F33B358967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43" y="2486033"/>
            <a:ext cx="352120" cy="352120"/>
          </a:xfrm>
          <a:prstGeom prst="rect">
            <a:avLst/>
          </a:prstGeom>
        </p:spPr>
      </p:pic>
      <p:pic>
        <p:nvPicPr>
          <p:cNvPr id="37" name="Graphic 36" descr="Checkmark with solid fill">
            <a:extLst>
              <a:ext uri="{FF2B5EF4-FFF2-40B4-BE49-F238E27FC236}">
                <a16:creationId xmlns:a16="http://schemas.microsoft.com/office/drawing/2014/main" id="{0ADFB5FA-F243-2015-7A5C-454A174D10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2790839"/>
            <a:ext cx="352120" cy="352120"/>
          </a:xfrm>
          <a:prstGeom prst="rect">
            <a:avLst/>
          </a:prstGeom>
        </p:spPr>
      </p:pic>
      <p:pic>
        <p:nvPicPr>
          <p:cNvPr id="39" name="Graphic 38" descr="Checkmark with solid fill">
            <a:extLst>
              <a:ext uri="{FF2B5EF4-FFF2-40B4-BE49-F238E27FC236}">
                <a16:creationId xmlns:a16="http://schemas.microsoft.com/office/drawing/2014/main" id="{5709E20F-1685-F8F8-B065-B7073C00B3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3094823"/>
            <a:ext cx="352120" cy="352120"/>
          </a:xfrm>
          <a:prstGeom prst="rect">
            <a:avLst/>
          </a:prstGeom>
        </p:spPr>
      </p:pic>
      <p:pic>
        <p:nvPicPr>
          <p:cNvPr id="41" name="Graphic 40" descr="Checkmark with solid fill">
            <a:extLst>
              <a:ext uri="{FF2B5EF4-FFF2-40B4-BE49-F238E27FC236}">
                <a16:creationId xmlns:a16="http://schemas.microsoft.com/office/drawing/2014/main" id="{CFC7A04E-654D-D1DA-DAA2-270EA477DD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5706" y="3412937"/>
            <a:ext cx="352120" cy="352120"/>
          </a:xfrm>
          <a:prstGeom prst="rect">
            <a:avLst/>
          </a:prstGeom>
        </p:spPr>
      </p:pic>
      <p:pic>
        <p:nvPicPr>
          <p:cNvPr id="43" name="Graphic 42" descr="Checkmark with solid fill">
            <a:extLst>
              <a:ext uri="{FF2B5EF4-FFF2-40B4-BE49-F238E27FC236}">
                <a16:creationId xmlns:a16="http://schemas.microsoft.com/office/drawing/2014/main" id="{E0E0744C-3E49-8CAF-FD90-6E977BA9C7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3726882"/>
            <a:ext cx="352120" cy="352120"/>
          </a:xfrm>
          <a:prstGeom prst="rect">
            <a:avLst/>
          </a:prstGeom>
        </p:spPr>
      </p:pic>
      <p:pic>
        <p:nvPicPr>
          <p:cNvPr id="45" name="Graphic 44" descr="Checkmark with solid fill">
            <a:extLst>
              <a:ext uri="{FF2B5EF4-FFF2-40B4-BE49-F238E27FC236}">
                <a16:creationId xmlns:a16="http://schemas.microsoft.com/office/drawing/2014/main" id="{553E6C45-D82B-9349-42FD-74663F5BAA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4031982"/>
            <a:ext cx="352120" cy="352120"/>
          </a:xfrm>
          <a:prstGeom prst="rect">
            <a:avLst/>
          </a:prstGeom>
        </p:spPr>
      </p:pic>
      <p:pic>
        <p:nvPicPr>
          <p:cNvPr id="47" name="Graphic 46" descr="Checkmark with solid fill">
            <a:extLst>
              <a:ext uri="{FF2B5EF4-FFF2-40B4-BE49-F238E27FC236}">
                <a16:creationId xmlns:a16="http://schemas.microsoft.com/office/drawing/2014/main" id="{46A5BA92-BB06-1CAF-A94C-9C10C69118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43" y="4350076"/>
            <a:ext cx="352120" cy="352120"/>
          </a:xfrm>
          <a:prstGeom prst="rect">
            <a:avLst/>
          </a:prstGeom>
        </p:spPr>
      </p:pic>
      <p:pic>
        <p:nvPicPr>
          <p:cNvPr id="49" name="Graphic 48" descr="Checkmark with solid fill">
            <a:extLst>
              <a:ext uri="{FF2B5EF4-FFF2-40B4-BE49-F238E27FC236}">
                <a16:creationId xmlns:a16="http://schemas.microsoft.com/office/drawing/2014/main" id="{C2C9EAC2-D340-61BD-3BF1-7E6F4D06778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4670155"/>
            <a:ext cx="352120" cy="352120"/>
          </a:xfrm>
          <a:prstGeom prst="rect">
            <a:avLst/>
          </a:prstGeom>
        </p:spPr>
      </p:pic>
      <p:pic>
        <p:nvPicPr>
          <p:cNvPr id="52" name="Graphic 51" descr="Checkmark with solid fill">
            <a:extLst>
              <a:ext uri="{FF2B5EF4-FFF2-40B4-BE49-F238E27FC236}">
                <a16:creationId xmlns:a16="http://schemas.microsoft.com/office/drawing/2014/main" id="{335C670B-3623-98B4-28A5-3E23B4D50E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3820" y="5277616"/>
            <a:ext cx="352120" cy="352120"/>
          </a:xfrm>
          <a:prstGeom prst="rect">
            <a:avLst/>
          </a:prstGeom>
        </p:spPr>
      </p:pic>
      <p:pic>
        <p:nvPicPr>
          <p:cNvPr id="54" name="Graphic 53" descr="Checkmark with solid fill">
            <a:extLst>
              <a:ext uri="{FF2B5EF4-FFF2-40B4-BE49-F238E27FC236}">
                <a16:creationId xmlns:a16="http://schemas.microsoft.com/office/drawing/2014/main" id="{2CC13EB0-0147-6A69-0EDD-0A98587637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5591747"/>
            <a:ext cx="352120" cy="352120"/>
          </a:xfrm>
          <a:prstGeom prst="rect">
            <a:avLst/>
          </a:prstGeom>
        </p:spPr>
      </p:pic>
      <p:pic>
        <p:nvPicPr>
          <p:cNvPr id="57" name="Graphic 56" descr="Checkmark with solid fill">
            <a:extLst>
              <a:ext uri="{FF2B5EF4-FFF2-40B4-BE49-F238E27FC236}">
                <a16:creationId xmlns:a16="http://schemas.microsoft.com/office/drawing/2014/main" id="{F5F65CDD-682E-7148-D120-D7DDB868F0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22772" y="6223822"/>
            <a:ext cx="352120" cy="352120"/>
          </a:xfrm>
          <a:prstGeom prst="rect">
            <a:avLst/>
          </a:prstGeom>
        </p:spPr>
      </p:pic>
      <p:sp>
        <p:nvSpPr>
          <p:cNvPr id="58" name="Rectangle 57">
            <a:extLst>
              <a:ext uri="{FF2B5EF4-FFF2-40B4-BE49-F238E27FC236}">
                <a16:creationId xmlns:a16="http://schemas.microsoft.com/office/drawing/2014/main" id="{234E404E-F20D-972F-4BA1-A94F45D0F48C}"/>
              </a:ext>
            </a:extLst>
          </p:cNvPr>
          <p:cNvSpPr/>
          <p:nvPr/>
        </p:nvSpPr>
        <p:spPr>
          <a:xfrm>
            <a:off x="6105519" y="919335"/>
            <a:ext cx="415358" cy="5296935"/>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9" name="Graphic 58" descr="Checkmark with solid fill">
            <a:extLst>
              <a:ext uri="{FF2B5EF4-FFF2-40B4-BE49-F238E27FC236}">
                <a16:creationId xmlns:a16="http://schemas.microsoft.com/office/drawing/2014/main" id="{5242A512-71C3-D98B-D5C1-0600E7BCE5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43948" y="6223822"/>
            <a:ext cx="352120" cy="352120"/>
          </a:xfrm>
          <a:prstGeom prst="rect">
            <a:avLst/>
          </a:prstGeom>
        </p:spPr>
      </p:pic>
      <p:sp>
        <p:nvSpPr>
          <p:cNvPr id="60" name="Rectangle 59">
            <a:extLst>
              <a:ext uri="{FF2B5EF4-FFF2-40B4-BE49-F238E27FC236}">
                <a16:creationId xmlns:a16="http://schemas.microsoft.com/office/drawing/2014/main" id="{057C6C46-02BB-130D-5DE0-C028A768AECA}"/>
              </a:ext>
            </a:extLst>
          </p:cNvPr>
          <p:cNvSpPr/>
          <p:nvPr/>
        </p:nvSpPr>
        <p:spPr>
          <a:xfrm>
            <a:off x="6543947" y="919335"/>
            <a:ext cx="386033" cy="5296935"/>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5E50BA9F-D6DD-AF6F-3A3C-1D84044F3AA4}"/>
              </a:ext>
            </a:extLst>
          </p:cNvPr>
          <p:cNvSpPr/>
          <p:nvPr/>
        </p:nvSpPr>
        <p:spPr>
          <a:xfrm>
            <a:off x="7319977" y="917362"/>
            <a:ext cx="386033" cy="5306460"/>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1" name="Graphic 60" descr="Checkmark with solid fill">
            <a:extLst>
              <a:ext uri="{FF2B5EF4-FFF2-40B4-BE49-F238E27FC236}">
                <a16:creationId xmlns:a16="http://schemas.microsoft.com/office/drawing/2014/main" id="{AB240BA8-E71B-3190-C1E9-78A4522138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6315" y="6224876"/>
            <a:ext cx="352120" cy="352120"/>
          </a:xfrm>
          <a:prstGeom prst="rect">
            <a:avLst/>
          </a:prstGeom>
        </p:spPr>
      </p:pic>
      <p:sp>
        <p:nvSpPr>
          <p:cNvPr id="62" name="Rectangle 61">
            <a:extLst>
              <a:ext uri="{FF2B5EF4-FFF2-40B4-BE49-F238E27FC236}">
                <a16:creationId xmlns:a16="http://schemas.microsoft.com/office/drawing/2014/main" id="{4AD25AC0-B054-06EE-1C9B-ED463C118B67}"/>
              </a:ext>
            </a:extLst>
          </p:cNvPr>
          <p:cNvSpPr/>
          <p:nvPr/>
        </p:nvSpPr>
        <p:spPr>
          <a:xfrm>
            <a:off x="6926314" y="920389"/>
            <a:ext cx="386033" cy="5296935"/>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3" name="Graphic 62" descr="Checkmark with solid fill">
            <a:extLst>
              <a:ext uri="{FF2B5EF4-FFF2-40B4-BE49-F238E27FC236}">
                <a16:creationId xmlns:a16="http://schemas.microsoft.com/office/drawing/2014/main" id="{0AA9AA77-A4A8-E130-0D1B-CA9F7640ED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9978" y="6221849"/>
            <a:ext cx="352120" cy="352120"/>
          </a:xfrm>
          <a:prstGeom prst="rect">
            <a:avLst/>
          </a:prstGeom>
        </p:spPr>
      </p:pic>
      <p:pic>
        <p:nvPicPr>
          <p:cNvPr id="65" name="Graphic 64" descr="Checkmark with solid fill">
            <a:extLst>
              <a:ext uri="{FF2B5EF4-FFF2-40B4-BE49-F238E27FC236}">
                <a16:creationId xmlns:a16="http://schemas.microsoft.com/office/drawing/2014/main" id="{59BB43E0-6FE4-A055-81DB-348627AA1C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0774" y="6209920"/>
            <a:ext cx="352120" cy="352120"/>
          </a:xfrm>
          <a:prstGeom prst="rect">
            <a:avLst/>
          </a:prstGeom>
        </p:spPr>
      </p:pic>
      <p:sp>
        <p:nvSpPr>
          <p:cNvPr id="66" name="Rectangle 65">
            <a:extLst>
              <a:ext uri="{FF2B5EF4-FFF2-40B4-BE49-F238E27FC236}">
                <a16:creationId xmlns:a16="http://schemas.microsoft.com/office/drawing/2014/main" id="{D8FAF2E0-7F66-AD94-6F1F-5B40EC88DB48}"/>
              </a:ext>
            </a:extLst>
          </p:cNvPr>
          <p:cNvSpPr/>
          <p:nvPr/>
        </p:nvSpPr>
        <p:spPr>
          <a:xfrm>
            <a:off x="7720773" y="905433"/>
            <a:ext cx="386033" cy="5318389"/>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D7E088FF-BEF6-55DB-DFC8-B6C0FF68DD0E}"/>
              </a:ext>
            </a:extLst>
          </p:cNvPr>
          <p:cNvSpPr/>
          <p:nvPr/>
        </p:nvSpPr>
        <p:spPr>
          <a:xfrm>
            <a:off x="8090662" y="926887"/>
            <a:ext cx="386033" cy="5296935"/>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9" name="Graphic 68" descr="Close with solid fill">
            <a:extLst>
              <a:ext uri="{FF2B5EF4-FFF2-40B4-BE49-F238E27FC236}">
                <a16:creationId xmlns:a16="http://schemas.microsoft.com/office/drawing/2014/main" id="{D003B1E1-FD18-8D67-384B-A36DFC408D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95964" y="6233605"/>
            <a:ext cx="352120" cy="352120"/>
          </a:xfrm>
          <a:prstGeom prst="rect">
            <a:avLst/>
          </a:prstGeom>
        </p:spPr>
      </p:pic>
      <p:pic>
        <p:nvPicPr>
          <p:cNvPr id="70" name="Graphic 69" descr="Checkmark with solid fill">
            <a:extLst>
              <a:ext uri="{FF2B5EF4-FFF2-40B4-BE49-F238E27FC236}">
                <a16:creationId xmlns:a16="http://schemas.microsoft.com/office/drawing/2014/main" id="{7534764A-CD12-77B9-3628-919210E759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00771" y="6219179"/>
            <a:ext cx="352120" cy="352120"/>
          </a:xfrm>
          <a:prstGeom prst="rect">
            <a:avLst/>
          </a:prstGeom>
        </p:spPr>
      </p:pic>
      <p:sp>
        <p:nvSpPr>
          <p:cNvPr id="71" name="Rectangle 70">
            <a:extLst>
              <a:ext uri="{FF2B5EF4-FFF2-40B4-BE49-F238E27FC236}">
                <a16:creationId xmlns:a16="http://schemas.microsoft.com/office/drawing/2014/main" id="{6039BBC3-3A29-6D47-7F47-5D831DA439A4}"/>
              </a:ext>
            </a:extLst>
          </p:cNvPr>
          <p:cNvSpPr/>
          <p:nvPr/>
        </p:nvSpPr>
        <p:spPr>
          <a:xfrm>
            <a:off x="8483518" y="914693"/>
            <a:ext cx="424133" cy="5301578"/>
          </a:xfrm>
          <a:prstGeom prst="rect">
            <a:avLst/>
          </a:prstGeom>
          <a:solidFill>
            <a:schemeClr val="accent2">
              <a:alpha val="50000"/>
            </a:schemeClr>
          </a:solidFill>
          <a:ln>
            <a:solidFill>
              <a:schemeClr val="accent2"/>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Rectangle 71">
            <a:extLst>
              <a:ext uri="{FF2B5EF4-FFF2-40B4-BE49-F238E27FC236}">
                <a16:creationId xmlns:a16="http://schemas.microsoft.com/office/drawing/2014/main" id="{A0C481D9-A24F-E75E-49ED-9C66CF3519D3}"/>
              </a:ext>
            </a:extLst>
          </p:cNvPr>
          <p:cNvSpPr/>
          <p:nvPr/>
        </p:nvSpPr>
        <p:spPr>
          <a:xfrm>
            <a:off x="8103140" y="897882"/>
            <a:ext cx="373555" cy="5340896"/>
          </a:xfrm>
          <a:prstGeom prst="rect">
            <a:avLst/>
          </a:prstGeom>
          <a:noFill/>
          <a:ln w="28575">
            <a:solidFill>
              <a:srgbClr val="C00000"/>
            </a:solidFill>
          </a:ln>
          <a:effectLst>
            <a:glow rad="38100">
              <a:srgbClr val="C000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3072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childTnLst>
                          </p:cTn>
                        </p:par>
                        <p:par>
                          <p:cTn id="11" fill="hold">
                            <p:stCondLst>
                              <p:cond delay="1500"/>
                            </p:stCondLst>
                            <p:childTnLst>
                              <p:par>
                                <p:cTn id="12" presetID="10" presetClass="exit" presetSubtype="0" fill="hold" grpId="1" nodeType="afterEffect">
                                  <p:stCondLst>
                                    <p:cond delay="0"/>
                                  </p:stCondLst>
                                  <p:childTnLst>
                                    <p:animEffect transition="out" filter="fade">
                                      <p:cBhvr>
                                        <p:cTn id="13" dur="500"/>
                                        <p:tgtEl>
                                          <p:spTgt spid="58"/>
                                        </p:tgtEl>
                                      </p:cBhvr>
                                    </p:animEffect>
                                    <p:set>
                                      <p:cBhvr>
                                        <p:cTn id="14" dur="1" fill="hold">
                                          <p:stCondLst>
                                            <p:cond delay="499"/>
                                          </p:stCondLst>
                                        </p:cTn>
                                        <p:tgtEl>
                                          <p:spTgt spid="58"/>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500"/>
                                        <p:tgtEl>
                                          <p:spTgt spid="60"/>
                                        </p:tgtEl>
                                      </p:cBhvr>
                                    </p:animEffect>
                                  </p:childTnLst>
                                </p:cTn>
                              </p:par>
                            </p:childTnLst>
                          </p:cTn>
                        </p:par>
                        <p:par>
                          <p:cTn id="21" fill="hold">
                            <p:stCondLst>
                              <p:cond delay="2000"/>
                            </p:stCondLst>
                            <p:childTnLst>
                              <p:par>
                                <p:cTn id="22" presetID="10" presetClass="exit" presetSubtype="0" fill="hold" grpId="1" nodeType="afterEffect">
                                  <p:stCondLst>
                                    <p:cond delay="0"/>
                                  </p:stCondLst>
                                  <p:childTnLst>
                                    <p:animEffect transition="out" filter="fade">
                                      <p:cBhvr>
                                        <p:cTn id="23" dur="500"/>
                                        <p:tgtEl>
                                          <p:spTgt spid="60"/>
                                        </p:tgtEl>
                                      </p:cBhvr>
                                    </p:animEffect>
                                    <p:set>
                                      <p:cBhvr>
                                        <p:cTn id="24" dur="1" fill="hold">
                                          <p:stCondLst>
                                            <p:cond delay="499"/>
                                          </p:stCondLst>
                                        </p:cTn>
                                        <p:tgtEl>
                                          <p:spTgt spid="60"/>
                                        </p:tgtEl>
                                        <p:attrNameLst>
                                          <p:attrName>style.visibility</p:attrName>
                                        </p:attrNameLst>
                                      </p:cBhvr>
                                      <p:to>
                                        <p:strVal val="hidden"/>
                                      </p:to>
                                    </p:set>
                                  </p:childTnLst>
                                </p:cTn>
                              </p:par>
                              <p:par>
                                <p:cTn id="25" presetID="10" presetClass="entr" presetSubtype="0"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fade">
                                      <p:cBhvr>
                                        <p:cTn id="30" dur="500"/>
                                        <p:tgtEl>
                                          <p:spTgt spid="62"/>
                                        </p:tgtEl>
                                      </p:cBhvr>
                                    </p:animEffect>
                                  </p:childTnLst>
                                </p:cTn>
                              </p:par>
                            </p:childTnLst>
                          </p:cTn>
                        </p:par>
                        <p:par>
                          <p:cTn id="31" fill="hold">
                            <p:stCondLst>
                              <p:cond delay="2500"/>
                            </p:stCondLst>
                            <p:childTnLst>
                              <p:par>
                                <p:cTn id="32" presetID="10" presetClass="exit" presetSubtype="0" fill="hold" grpId="1" nodeType="afterEffect">
                                  <p:stCondLst>
                                    <p:cond delay="0"/>
                                  </p:stCondLst>
                                  <p:childTnLst>
                                    <p:animEffect transition="out" filter="fade">
                                      <p:cBhvr>
                                        <p:cTn id="33" dur="500"/>
                                        <p:tgtEl>
                                          <p:spTgt spid="62"/>
                                        </p:tgtEl>
                                      </p:cBhvr>
                                    </p:animEffect>
                                    <p:set>
                                      <p:cBhvr>
                                        <p:cTn id="34" dur="1" fill="hold">
                                          <p:stCondLst>
                                            <p:cond delay="499"/>
                                          </p:stCondLst>
                                        </p:cTn>
                                        <p:tgtEl>
                                          <p:spTgt spid="62"/>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fade">
                                      <p:cBhvr>
                                        <p:cTn id="37" dur="500"/>
                                        <p:tgtEl>
                                          <p:spTgt spid="6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500"/>
                                        <p:tgtEl>
                                          <p:spTgt spid="64"/>
                                        </p:tgtEl>
                                      </p:cBhvr>
                                    </p:animEffect>
                                  </p:childTnLst>
                                </p:cTn>
                              </p:par>
                            </p:childTnLst>
                          </p:cTn>
                        </p:par>
                        <p:par>
                          <p:cTn id="41" fill="hold">
                            <p:stCondLst>
                              <p:cond delay="3000"/>
                            </p:stCondLst>
                            <p:childTnLst>
                              <p:par>
                                <p:cTn id="42" presetID="10" presetClass="exit" presetSubtype="0" fill="hold" grpId="1" nodeType="afterEffect">
                                  <p:stCondLst>
                                    <p:cond delay="0"/>
                                  </p:stCondLst>
                                  <p:childTnLst>
                                    <p:animEffect transition="out" filter="fade">
                                      <p:cBhvr>
                                        <p:cTn id="43" dur="500"/>
                                        <p:tgtEl>
                                          <p:spTgt spid="64"/>
                                        </p:tgtEl>
                                      </p:cBhvr>
                                    </p:animEffect>
                                    <p:set>
                                      <p:cBhvr>
                                        <p:cTn id="44" dur="1" fill="hold">
                                          <p:stCondLst>
                                            <p:cond delay="499"/>
                                          </p:stCondLst>
                                        </p:cTn>
                                        <p:tgtEl>
                                          <p:spTgt spid="64"/>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childTnLst>
                          </p:cTn>
                        </p:par>
                        <p:par>
                          <p:cTn id="51" fill="hold">
                            <p:stCondLst>
                              <p:cond delay="3500"/>
                            </p:stCondLst>
                            <p:childTnLst>
                              <p:par>
                                <p:cTn id="52" presetID="10" presetClass="exit" presetSubtype="0" fill="hold" grpId="1" nodeType="afterEffect">
                                  <p:stCondLst>
                                    <p:cond delay="0"/>
                                  </p:stCondLst>
                                  <p:childTnLst>
                                    <p:animEffect transition="out" filter="fade">
                                      <p:cBhvr>
                                        <p:cTn id="53" dur="500"/>
                                        <p:tgtEl>
                                          <p:spTgt spid="66"/>
                                        </p:tgtEl>
                                      </p:cBhvr>
                                    </p:animEffect>
                                    <p:set>
                                      <p:cBhvr>
                                        <p:cTn id="54" dur="1" fill="hold">
                                          <p:stCondLst>
                                            <p:cond delay="499"/>
                                          </p:stCondLst>
                                        </p:cTn>
                                        <p:tgtEl>
                                          <p:spTgt spid="66"/>
                                        </p:tgtEl>
                                        <p:attrNameLst>
                                          <p:attrName>style.visibility</p:attrName>
                                        </p:attrNameLst>
                                      </p:cBhvr>
                                      <p:to>
                                        <p:strVal val="hidden"/>
                                      </p:to>
                                    </p:set>
                                  </p:childTnLst>
                                </p:cTn>
                              </p:par>
                              <p:par>
                                <p:cTn id="55" presetID="10" presetClass="entr" presetSubtype="0" fill="hold" grpId="0" nodeType="withEffect">
                                  <p:stCondLst>
                                    <p:cond delay="0"/>
                                  </p:stCondLst>
                                  <p:childTnLst>
                                    <p:set>
                                      <p:cBhvr>
                                        <p:cTn id="56" dur="1" fill="hold">
                                          <p:stCondLst>
                                            <p:cond delay="0"/>
                                          </p:stCondLst>
                                        </p:cTn>
                                        <p:tgtEl>
                                          <p:spTgt spid="68"/>
                                        </p:tgtEl>
                                        <p:attrNameLst>
                                          <p:attrName>style.visibility</p:attrName>
                                        </p:attrNameLst>
                                      </p:cBhvr>
                                      <p:to>
                                        <p:strVal val="visible"/>
                                      </p:to>
                                    </p:set>
                                    <p:animEffect transition="in" filter="fade">
                                      <p:cBhvr>
                                        <p:cTn id="57" dur="500"/>
                                        <p:tgtEl>
                                          <p:spTgt spid="6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72"/>
                                        </p:tgtEl>
                                        <p:attrNameLst>
                                          <p:attrName>style.visibility</p:attrName>
                                        </p:attrNameLst>
                                      </p:cBhvr>
                                      <p:to>
                                        <p:strVal val="visible"/>
                                      </p:to>
                                    </p:set>
                                    <p:animEffect transition="in" filter="fade">
                                      <p:cBhvr>
                                        <p:cTn id="60" dur="500"/>
                                        <p:tgtEl>
                                          <p:spTgt spid="72"/>
                                        </p:tgtEl>
                                      </p:cBhvr>
                                    </p:animEffect>
                                  </p:childTnLst>
                                </p:cTn>
                              </p:par>
                              <p:par>
                                <p:cTn id="61" presetID="10" presetClass="entr" presetSubtype="0" fill="hold" nodeType="with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fade">
                                      <p:cBhvr>
                                        <p:cTn id="63" dur="500"/>
                                        <p:tgtEl>
                                          <p:spTgt spid="69"/>
                                        </p:tgtEl>
                                      </p:cBhvr>
                                    </p:animEffect>
                                  </p:childTnLst>
                                </p:cTn>
                              </p:par>
                            </p:childTnLst>
                          </p:cTn>
                        </p:par>
                        <p:par>
                          <p:cTn id="64" fill="hold">
                            <p:stCondLst>
                              <p:cond delay="4000"/>
                            </p:stCondLst>
                            <p:childTnLst>
                              <p:par>
                                <p:cTn id="65" presetID="10" presetClass="exit" presetSubtype="0" fill="hold" grpId="1" nodeType="afterEffect">
                                  <p:stCondLst>
                                    <p:cond delay="0"/>
                                  </p:stCondLst>
                                  <p:childTnLst>
                                    <p:animEffect transition="out" filter="fade">
                                      <p:cBhvr>
                                        <p:cTn id="66" dur="500"/>
                                        <p:tgtEl>
                                          <p:spTgt spid="68"/>
                                        </p:tgtEl>
                                      </p:cBhvr>
                                    </p:animEffect>
                                    <p:set>
                                      <p:cBhvr>
                                        <p:cTn id="67" dur="1" fill="hold">
                                          <p:stCondLst>
                                            <p:cond delay="499"/>
                                          </p:stCondLst>
                                        </p:cTn>
                                        <p:tgtEl>
                                          <p:spTgt spid="68"/>
                                        </p:tgtEl>
                                        <p:attrNameLst>
                                          <p:attrName>style.visibility</p:attrName>
                                        </p:attrNameLst>
                                      </p:cBhvr>
                                      <p:to>
                                        <p:strVal val="hidden"/>
                                      </p:to>
                                    </p:set>
                                  </p:childTnLst>
                                </p:cTn>
                              </p:par>
                              <p:par>
                                <p:cTn id="68" presetID="10" presetClass="entr" presetSubtype="0" fill="hold" nodeType="withEffect">
                                  <p:stCondLst>
                                    <p:cond delay="0"/>
                                  </p:stCondLst>
                                  <p:childTnLst>
                                    <p:set>
                                      <p:cBhvr>
                                        <p:cTn id="69" dur="1" fill="hold">
                                          <p:stCondLst>
                                            <p:cond delay="0"/>
                                          </p:stCondLst>
                                        </p:cTn>
                                        <p:tgtEl>
                                          <p:spTgt spid="70"/>
                                        </p:tgtEl>
                                        <p:attrNameLst>
                                          <p:attrName>style.visibility</p:attrName>
                                        </p:attrNameLst>
                                      </p:cBhvr>
                                      <p:to>
                                        <p:strVal val="visible"/>
                                      </p:to>
                                    </p:set>
                                    <p:animEffect transition="in" filter="fade">
                                      <p:cBhvr>
                                        <p:cTn id="70" dur="500"/>
                                        <p:tgtEl>
                                          <p:spTgt spid="7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animEffect transition="in" filter="fade">
                                      <p:cBhvr>
                                        <p:cTn id="73" dur="500"/>
                                        <p:tgtEl>
                                          <p:spTgt spid="71"/>
                                        </p:tgtEl>
                                      </p:cBhvr>
                                    </p:animEffect>
                                  </p:childTnLst>
                                </p:cTn>
                              </p:par>
                            </p:childTnLst>
                          </p:cTn>
                        </p:par>
                        <p:par>
                          <p:cTn id="74" fill="hold">
                            <p:stCondLst>
                              <p:cond delay="4500"/>
                            </p:stCondLst>
                            <p:childTnLst>
                              <p:par>
                                <p:cTn id="75" presetID="10" presetClass="exit" presetSubtype="0" fill="hold" grpId="1" nodeType="afterEffect">
                                  <p:stCondLst>
                                    <p:cond delay="0"/>
                                  </p:stCondLst>
                                  <p:childTnLst>
                                    <p:animEffect transition="out" filter="fade">
                                      <p:cBhvr>
                                        <p:cTn id="76" dur="500"/>
                                        <p:tgtEl>
                                          <p:spTgt spid="71"/>
                                        </p:tgtEl>
                                      </p:cBhvr>
                                    </p:animEffect>
                                    <p:set>
                                      <p:cBhvr>
                                        <p:cTn id="77" dur="1" fill="hold">
                                          <p:stCondLst>
                                            <p:cond delay="499"/>
                                          </p:stCondLst>
                                        </p:cTn>
                                        <p:tgtEl>
                                          <p:spTgt spid="7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60" grpId="0" animBg="1"/>
      <p:bldP spid="60" grpId="1" animBg="1"/>
      <p:bldP spid="64" grpId="0" animBg="1"/>
      <p:bldP spid="64" grpId="1" animBg="1"/>
      <p:bldP spid="62" grpId="0" animBg="1"/>
      <p:bldP spid="62" grpId="1" animBg="1"/>
      <p:bldP spid="66" grpId="0" animBg="1"/>
      <p:bldP spid="66" grpId="1" animBg="1"/>
      <p:bldP spid="68" grpId="0" animBg="1"/>
      <p:bldP spid="68" grpId="1" animBg="1"/>
      <p:bldP spid="71" grpId="0" animBg="1"/>
      <p:bldP spid="71" grpId="1" animBg="1"/>
      <p:bldP spid="7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Parity block checks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Group 1641">
            <a:extLst>
              <a:ext uri="{FF2B5EF4-FFF2-40B4-BE49-F238E27FC236}">
                <a16:creationId xmlns:a16="http://schemas.microsoft.com/office/drawing/2014/main" id="{FDEEED60-4DF8-64AF-F545-217DEA23FE7A}"/>
              </a:ext>
            </a:extLst>
          </p:cNvPr>
          <p:cNvGraphicFramePr>
            <a:graphicFrameLocks noGrp="1"/>
          </p:cNvGraphicFramePr>
          <p:nvPr>
            <p:extLst>
              <p:ext uri="{D42A27DB-BD31-4B8C-83A1-F6EECF244321}">
                <p14:modId xmlns:p14="http://schemas.microsoft.com/office/powerpoint/2010/main" val="1217850727"/>
              </p:ext>
            </p:extLst>
          </p:nvPr>
        </p:nvGraphicFramePr>
        <p:xfrm>
          <a:off x="5667375" y="517524"/>
          <a:ext cx="3257550" cy="5730118"/>
        </p:xfrm>
        <a:graphic>
          <a:graphicData uri="http://schemas.openxmlformats.org/drawingml/2006/table">
            <a:tbl>
              <a:tblPr/>
              <a:tblGrid>
                <a:gridCol w="434485">
                  <a:extLst>
                    <a:ext uri="{9D8B030D-6E8A-4147-A177-3AD203B41FA5}">
                      <a16:colId xmlns:a16="http://schemas.microsoft.com/office/drawing/2014/main" val="20000"/>
                    </a:ext>
                  </a:extLst>
                </a:gridCol>
                <a:gridCol w="434484">
                  <a:extLst>
                    <a:ext uri="{9D8B030D-6E8A-4147-A177-3AD203B41FA5}">
                      <a16:colId xmlns:a16="http://schemas.microsoft.com/office/drawing/2014/main" val="20001"/>
                    </a:ext>
                  </a:extLst>
                </a:gridCol>
                <a:gridCol w="393413">
                  <a:extLst>
                    <a:ext uri="{9D8B030D-6E8A-4147-A177-3AD203B41FA5}">
                      <a16:colId xmlns:a16="http://schemas.microsoft.com/office/drawing/2014/main" val="20002"/>
                    </a:ext>
                  </a:extLst>
                </a:gridCol>
                <a:gridCol w="395576">
                  <a:extLst>
                    <a:ext uri="{9D8B030D-6E8A-4147-A177-3AD203B41FA5}">
                      <a16:colId xmlns:a16="http://schemas.microsoft.com/office/drawing/2014/main" val="20003"/>
                    </a:ext>
                  </a:extLst>
                </a:gridCol>
                <a:gridCol w="395574">
                  <a:extLst>
                    <a:ext uri="{9D8B030D-6E8A-4147-A177-3AD203B41FA5}">
                      <a16:colId xmlns:a16="http://schemas.microsoft.com/office/drawing/2014/main" val="20004"/>
                    </a:ext>
                  </a:extLst>
                </a:gridCol>
                <a:gridCol w="373960">
                  <a:extLst>
                    <a:ext uri="{9D8B030D-6E8A-4147-A177-3AD203B41FA5}">
                      <a16:colId xmlns:a16="http://schemas.microsoft.com/office/drawing/2014/main" val="20005"/>
                    </a:ext>
                  </a:extLst>
                </a:gridCol>
                <a:gridCol w="376120">
                  <a:extLst>
                    <a:ext uri="{9D8B030D-6E8A-4147-A177-3AD203B41FA5}">
                      <a16:colId xmlns:a16="http://schemas.microsoft.com/office/drawing/2014/main" val="20006"/>
                    </a:ext>
                  </a:extLst>
                </a:gridCol>
                <a:gridCol w="453938">
                  <a:extLst>
                    <a:ext uri="{9D8B030D-6E8A-4147-A177-3AD203B41FA5}">
                      <a16:colId xmlns:a16="http://schemas.microsoft.com/office/drawing/2014/main" val="20007"/>
                    </a:ext>
                  </a:extLst>
                </a:gridCol>
              </a:tblGrid>
              <a:tr h="394389">
                <a:tc gridSpan="8">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C00000"/>
                          </a:solidFill>
                          <a:effectLst/>
                          <a:latin typeface="+mn-lt"/>
                        </a:rPr>
                        <a:t>Actual message received</a:t>
                      </a:r>
                    </a:p>
                  </a:txBody>
                  <a:tcPr marL="101205" marR="101205" marT="50603" marB="506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561">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rgbClr val="C00000"/>
                          </a:solidFill>
                          <a:effectLst/>
                          <a:latin typeface="+mn-lt"/>
                        </a:rPr>
                        <a:t>1</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1132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GB" sz="1200" b="1" i="0" u="none" strike="noStrike" cap="none" normalizeH="0" baseline="0" dirty="0">
                        <a:ln>
                          <a:noFill/>
                        </a:ln>
                        <a:solidFill>
                          <a:srgbClr val="C00000"/>
                        </a:solidFill>
                        <a:effectLst/>
                        <a:latin typeface="+mn-lt"/>
                      </a:endParaRPr>
                    </a:p>
                  </a:txBody>
                  <a:tcPr marL="124509" marR="124509" marT="62264" marB="62264" horzOverflow="overflow">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1</a:t>
                      </a:r>
                    </a:p>
                  </a:txBody>
                  <a:tcPr marL="124509" marR="124509" marT="62264" marB="622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rgbClr val="C00000"/>
                          </a:solidFill>
                          <a:effectLst/>
                          <a:latin typeface="+mn-lt"/>
                        </a:rPr>
                        <a:t>0</a:t>
                      </a:r>
                    </a:p>
                  </a:txBody>
                  <a:tcPr marL="124509" marR="124509" marT="62264" marB="622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3501965698"/>
                  </a:ext>
                </a:extLst>
              </a:tr>
            </a:tbl>
          </a:graphicData>
        </a:graphic>
      </p:graphicFrame>
      <p:graphicFrame>
        <p:nvGraphicFramePr>
          <p:cNvPr id="8" name="Group 1427">
            <a:extLst>
              <a:ext uri="{FF2B5EF4-FFF2-40B4-BE49-F238E27FC236}">
                <a16:creationId xmlns:a16="http://schemas.microsoft.com/office/drawing/2014/main" id="{1F66C17B-5B53-4FB1-A645-2C22A7CCC466}"/>
              </a:ext>
            </a:extLst>
          </p:cNvPr>
          <p:cNvGraphicFramePr>
            <a:graphicFrameLocks noGrp="1"/>
          </p:cNvGraphicFramePr>
          <p:nvPr/>
        </p:nvGraphicFramePr>
        <p:xfrm>
          <a:off x="8924925" y="917362"/>
          <a:ext cx="371475" cy="5018953"/>
        </p:xfrm>
        <a:graphic>
          <a:graphicData uri="http://schemas.openxmlformats.org/drawingml/2006/table">
            <a:tbl>
              <a:tblPr/>
              <a:tblGrid>
                <a:gridCol w="371475">
                  <a:extLst>
                    <a:ext uri="{9D8B030D-6E8A-4147-A177-3AD203B41FA5}">
                      <a16:colId xmlns:a16="http://schemas.microsoft.com/office/drawing/2014/main" val="20000"/>
                    </a:ext>
                  </a:extLst>
                </a:gridCol>
              </a:tblGrid>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A</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10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Arial" charset="0"/>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Arial" charset="0"/>
                        </a:rPr>
                        <a:t>V</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E</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R</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Y</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Arial" charset="0"/>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T</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H</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I</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Arial" charset="0"/>
                        </a:rPr>
                        <a:t>C</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K</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100" b="0" i="0" u="none" strike="noStrike" cap="none" normalizeH="0" baseline="0">
                        <a:ln>
                          <a:noFill/>
                        </a:ln>
                        <a:solidFill>
                          <a:srgbClr val="008000"/>
                        </a:solidFill>
                        <a:effectLst/>
                        <a:latin typeface="Arial" charset="0"/>
                      </a:endParaRP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D</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a:ln>
                            <a:noFill/>
                          </a:ln>
                          <a:solidFill>
                            <a:srgbClr val="008000"/>
                          </a:solidFill>
                          <a:effectLst/>
                          <a:latin typeface="Arial" charset="0"/>
                        </a:rPr>
                        <a:t>O</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179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100" b="0" i="0" u="none" strike="noStrike" cap="none" normalizeH="0" baseline="0" dirty="0">
                          <a:ln>
                            <a:noFill/>
                          </a:ln>
                          <a:solidFill>
                            <a:srgbClr val="008000"/>
                          </a:solidFill>
                          <a:effectLst/>
                          <a:latin typeface="Arial" charset="0"/>
                        </a:rPr>
                        <a:t>G</a:t>
                      </a:r>
                    </a:p>
                  </a:txBody>
                  <a:tcPr marL="113512" marR="113512" marT="56756" marB="5675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10" name="Rectangle 9">
            <a:extLst>
              <a:ext uri="{FF2B5EF4-FFF2-40B4-BE49-F238E27FC236}">
                <a16:creationId xmlns:a16="http://schemas.microsoft.com/office/drawing/2014/main" id="{E6A264C2-F012-FA07-9246-5BC835AE213A}"/>
              </a:ext>
            </a:extLst>
          </p:cNvPr>
          <p:cNvSpPr/>
          <p:nvPr/>
        </p:nvSpPr>
        <p:spPr>
          <a:xfrm>
            <a:off x="220674" y="1052896"/>
            <a:ext cx="4160825" cy="3416320"/>
          </a:xfrm>
          <a:prstGeom prst="rect">
            <a:avLst/>
          </a:prstGeom>
        </p:spPr>
        <p:txBody>
          <a:bodyPr wrap="square">
            <a:spAutoFit/>
          </a:bodyPr>
          <a:lstStyle/>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Using even parity, a message is sent as a block of 8-bit bytes.</a:t>
            </a:r>
          </a:p>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A horizontal parity check is performed on each byte, which identifies an error in one of the bytes.</a:t>
            </a:r>
          </a:p>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Additional vertical parity checks are performed on the whole block.</a:t>
            </a:r>
          </a:p>
          <a:p>
            <a:pPr marL="342900" indent="-342900">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error can now be identified and corrected without having to ask for the data to be re-sent.</a:t>
            </a:r>
          </a:p>
          <a:p>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Graphic 2" descr="Checkmark with solid fill">
            <a:extLst>
              <a:ext uri="{FF2B5EF4-FFF2-40B4-BE49-F238E27FC236}">
                <a16:creationId xmlns:a16="http://schemas.microsoft.com/office/drawing/2014/main" id="{966370E6-D2D6-1074-6B40-DD51109EFB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57" y="883979"/>
            <a:ext cx="352120" cy="352120"/>
          </a:xfrm>
          <a:prstGeom prst="rect">
            <a:avLst/>
          </a:prstGeom>
        </p:spPr>
      </p:pic>
      <p:pic>
        <p:nvPicPr>
          <p:cNvPr id="23" name="Graphic 22" descr="Close with solid fill">
            <a:extLst>
              <a:ext uri="{FF2B5EF4-FFF2-40B4-BE49-F238E27FC236}">
                <a16:creationId xmlns:a16="http://schemas.microsoft.com/office/drawing/2014/main" id="{7F0B3859-5264-455D-3ECD-9FD3BBADA8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36375" y="5000617"/>
            <a:ext cx="352120" cy="352120"/>
          </a:xfrm>
          <a:prstGeom prst="rect">
            <a:avLst/>
          </a:prstGeom>
        </p:spPr>
      </p:pic>
      <p:pic>
        <p:nvPicPr>
          <p:cNvPr id="27" name="Graphic 26" descr="Checkmark with solid fill">
            <a:extLst>
              <a:ext uri="{FF2B5EF4-FFF2-40B4-BE49-F238E27FC236}">
                <a16:creationId xmlns:a16="http://schemas.microsoft.com/office/drawing/2014/main" id="{4582DA0B-61DF-21E1-7C06-5C666D9E9B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47" y="1212594"/>
            <a:ext cx="352120" cy="352120"/>
          </a:xfrm>
          <a:prstGeom prst="rect">
            <a:avLst/>
          </a:prstGeom>
        </p:spPr>
      </p:pic>
      <p:pic>
        <p:nvPicPr>
          <p:cNvPr id="29" name="Graphic 28" descr="Checkmark with solid fill">
            <a:extLst>
              <a:ext uri="{FF2B5EF4-FFF2-40B4-BE49-F238E27FC236}">
                <a16:creationId xmlns:a16="http://schemas.microsoft.com/office/drawing/2014/main" id="{11474262-5309-DCA9-AD5E-714689BF33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5706" y="1541207"/>
            <a:ext cx="352120" cy="352120"/>
          </a:xfrm>
          <a:prstGeom prst="rect">
            <a:avLst/>
          </a:prstGeom>
        </p:spPr>
      </p:pic>
      <p:pic>
        <p:nvPicPr>
          <p:cNvPr id="31" name="Graphic 30" descr="Checkmark with solid fill">
            <a:extLst>
              <a:ext uri="{FF2B5EF4-FFF2-40B4-BE49-F238E27FC236}">
                <a16:creationId xmlns:a16="http://schemas.microsoft.com/office/drawing/2014/main" id="{FF45E177-93CD-B7FA-0EBF-D15BCD194C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47" y="1862140"/>
            <a:ext cx="352120" cy="352120"/>
          </a:xfrm>
          <a:prstGeom prst="rect">
            <a:avLst/>
          </a:prstGeom>
        </p:spPr>
      </p:pic>
      <p:pic>
        <p:nvPicPr>
          <p:cNvPr id="33" name="Graphic 32" descr="Checkmark with solid fill">
            <a:extLst>
              <a:ext uri="{FF2B5EF4-FFF2-40B4-BE49-F238E27FC236}">
                <a16:creationId xmlns:a16="http://schemas.microsoft.com/office/drawing/2014/main" id="{4810367C-0171-777B-33C9-11933665A0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5706" y="2176464"/>
            <a:ext cx="352120" cy="352120"/>
          </a:xfrm>
          <a:prstGeom prst="rect">
            <a:avLst/>
          </a:prstGeom>
        </p:spPr>
      </p:pic>
      <p:pic>
        <p:nvPicPr>
          <p:cNvPr id="35" name="Graphic 34" descr="Checkmark with solid fill">
            <a:extLst>
              <a:ext uri="{FF2B5EF4-FFF2-40B4-BE49-F238E27FC236}">
                <a16:creationId xmlns:a16="http://schemas.microsoft.com/office/drawing/2014/main" id="{6761700E-798E-DE7F-A210-F33B358967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43" y="2486033"/>
            <a:ext cx="352120" cy="352120"/>
          </a:xfrm>
          <a:prstGeom prst="rect">
            <a:avLst/>
          </a:prstGeom>
        </p:spPr>
      </p:pic>
      <p:pic>
        <p:nvPicPr>
          <p:cNvPr id="37" name="Graphic 36" descr="Checkmark with solid fill">
            <a:extLst>
              <a:ext uri="{FF2B5EF4-FFF2-40B4-BE49-F238E27FC236}">
                <a16:creationId xmlns:a16="http://schemas.microsoft.com/office/drawing/2014/main" id="{0ADFB5FA-F243-2015-7A5C-454A174D10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2790839"/>
            <a:ext cx="352120" cy="352120"/>
          </a:xfrm>
          <a:prstGeom prst="rect">
            <a:avLst/>
          </a:prstGeom>
        </p:spPr>
      </p:pic>
      <p:pic>
        <p:nvPicPr>
          <p:cNvPr id="39" name="Graphic 38" descr="Checkmark with solid fill">
            <a:extLst>
              <a:ext uri="{FF2B5EF4-FFF2-40B4-BE49-F238E27FC236}">
                <a16:creationId xmlns:a16="http://schemas.microsoft.com/office/drawing/2014/main" id="{5709E20F-1685-F8F8-B065-B7073C00B3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3094823"/>
            <a:ext cx="352120" cy="352120"/>
          </a:xfrm>
          <a:prstGeom prst="rect">
            <a:avLst/>
          </a:prstGeom>
        </p:spPr>
      </p:pic>
      <p:pic>
        <p:nvPicPr>
          <p:cNvPr id="41" name="Graphic 40" descr="Checkmark with solid fill">
            <a:extLst>
              <a:ext uri="{FF2B5EF4-FFF2-40B4-BE49-F238E27FC236}">
                <a16:creationId xmlns:a16="http://schemas.microsoft.com/office/drawing/2014/main" id="{CFC7A04E-654D-D1DA-DAA2-270EA477DD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5706" y="3412937"/>
            <a:ext cx="352120" cy="352120"/>
          </a:xfrm>
          <a:prstGeom prst="rect">
            <a:avLst/>
          </a:prstGeom>
        </p:spPr>
      </p:pic>
      <p:pic>
        <p:nvPicPr>
          <p:cNvPr id="43" name="Graphic 42" descr="Checkmark with solid fill">
            <a:extLst>
              <a:ext uri="{FF2B5EF4-FFF2-40B4-BE49-F238E27FC236}">
                <a16:creationId xmlns:a16="http://schemas.microsoft.com/office/drawing/2014/main" id="{E0E0744C-3E49-8CAF-FD90-6E977BA9C7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3726882"/>
            <a:ext cx="352120" cy="352120"/>
          </a:xfrm>
          <a:prstGeom prst="rect">
            <a:avLst/>
          </a:prstGeom>
        </p:spPr>
      </p:pic>
      <p:pic>
        <p:nvPicPr>
          <p:cNvPr id="45" name="Graphic 44" descr="Checkmark with solid fill">
            <a:extLst>
              <a:ext uri="{FF2B5EF4-FFF2-40B4-BE49-F238E27FC236}">
                <a16:creationId xmlns:a16="http://schemas.microsoft.com/office/drawing/2014/main" id="{553E6C45-D82B-9349-42FD-74663F5BAA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4031982"/>
            <a:ext cx="352120" cy="352120"/>
          </a:xfrm>
          <a:prstGeom prst="rect">
            <a:avLst/>
          </a:prstGeom>
        </p:spPr>
      </p:pic>
      <p:pic>
        <p:nvPicPr>
          <p:cNvPr id="47" name="Graphic 46" descr="Checkmark with solid fill">
            <a:extLst>
              <a:ext uri="{FF2B5EF4-FFF2-40B4-BE49-F238E27FC236}">
                <a16:creationId xmlns:a16="http://schemas.microsoft.com/office/drawing/2014/main" id="{46A5BA92-BB06-1CAF-A94C-9C10C69118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43" y="4350076"/>
            <a:ext cx="352120" cy="352120"/>
          </a:xfrm>
          <a:prstGeom prst="rect">
            <a:avLst/>
          </a:prstGeom>
        </p:spPr>
      </p:pic>
      <p:pic>
        <p:nvPicPr>
          <p:cNvPr id="49" name="Graphic 48" descr="Checkmark with solid fill">
            <a:extLst>
              <a:ext uri="{FF2B5EF4-FFF2-40B4-BE49-F238E27FC236}">
                <a16:creationId xmlns:a16="http://schemas.microsoft.com/office/drawing/2014/main" id="{C2C9EAC2-D340-61BD-3BF1-7E6F4D06778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4670155"/>
            <a:ext cx="352120" cy="352120"/>
          </a:xfrm>
          <a:prstGeom prst="rect">
            <a:avLst/>
          </a:prstGeom>
        </p:spPr>
      </p:pic>
      <p:pic>
        <p:nvPicPr>
          <p:cNvPr id="52" name="Graphic 51" descr="Checkmark with solid fill">
            <a:extLst>
              <a:ext uri="{FF2B5EF4-FFF2-40B4-BE49-F238E27FC236}">
                <a16:creationId xmlns:a16="http://schemas.microsoft.com/office/drawing/2014/main" id="{335C670B-3623-98B4-28A5-3E23B4D50E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3820" y="5277616"/>
            <a:ext cx="352120" cy="352120"/>
          </a:xfrm>
          <a:prstGeom prst="rect">
            <a:avLst/>
          </a:prstGeom>
        </p:spPr>
      </p:pic>
      <p:pic>
        <p:nvPicPr>
          <p:cNvPr id="54" name="Graphic 53" descr="Checkmark with solid fill">
            <a:extLst>
              <a:ext uri="{FF2B5EF4-FFF2-40B4-BE49-F238E27FC236}">
                <a16:creationId xmlns:a16="http://schemas.microsoft.com/office/drawing/2014/main" id="{2CC13EB0-0147-6A69-0EDD-0A98587637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935" y="5591747"/>
            <a:ext cx="352120" cy="352120"/>
          </a:xfrm>
          <a:prstGeom prst="rect">
            <a:avLst/>
          </a:prstGeom>
        </p:spPr>
      </p:pic>
      <p:sp>
        <p:nvSpPr>
          <p:cNvPr id="56" name="Rectangle 55">
            <a:extLst>
              <a:ext uri="{FF2B5EF4-FFF2-40B4-BE49-F238E27FC236}">
                <a16:creationId xmlns:a16="http://schemas.microsoft.com/office/drawing/2014/main" id="{A03B868B-3077-0A28-6355-AB1991F4B81F}"/>
              </a:ext>
            </a:extLst>
          </p:cNvPr>
          <p:cNvSpPr/>
          <p:nvPr/>
        </p:nvSpPr>
        <p:spPr>
          <a:xfrm>
            <a:off x="5667353" y="5000617"/>
            <a:ext cx="3257550" cy="304806"/>
          </a:xfrm>
          <a:prstGeom prst="rect">
            <a:avLst/>
          </a:prstGeom>
          <a:noFill/>
          <a:ln w="28575">
            <a:solidFill>
              <a:srgbClr val="C00000"/>
            </a:solidFill>
          </a:ln>
          <a:effectLst>
            <a:glow rad="38100">
              <a:srgbClr val="C000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7" name="Graphic 56" descr="Checkmark with solid fill">
            <a:extLst>
              <a:ext uri="{FF2B5EF4-FFF2-40B4-BE49-F238E27FC236}">
                <a16:creationId xmlns:a16="http://schemas.microsoft.com/office/drawing/2014/main" id="{F5F65CDD-682E-7148-D120-D7DDB868F0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22772" y="6223822"/>
            <a:ext cx="352120" cy="352120"/>
          </a:xfrm>
          <a:prstGeom prst="rect">
            <a:avLst/>
          </a:prstGeom>
        </p:spPr>
      </p:pic>
      <p:pic>
        <p:nvPicPr>
          <p:cNvPr id="59" name="Graphic 58" descr="Checkmark with solid fill">
            <a:extLst>
              <a:ext uri="{FF2B5EF4-FFF2-40B4-BE49-F238E27FC236}">
                <a16:creationId xmlns:a16="http://schemas.microsoft.com/office/drawing/2014/main" id="{5242A512-71C3-D98B-D5C1-0600E7BCE5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43948" y="6223822"/>
            <a:ext cx="352120" cy="352120"/>
          </a:xfrm>
          <a:prstGeom prst="rect">
            <a:avLst/>
          </a:prstGeom>
        </p:spPr>
      </p:pic>
      <p:pic>
        <p:nvPicPr>
          <p:cNvPr id="61" name="Graphic 60" descr="Checkmark with solid fill">
            <a:extLst>
              <a:ext uri="{FF2B5EF4-FFF2-40B4-BE49-F238E27FC236}">
                <a16:creationId xmlns:a16="http://schemas.microsoft.com/office/drawing/2014/main" id="{AB240BA8-E71B-3190-C1E9-78A4522138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6315" y="6224876"/>
            <a:ext cx="352120" cy="352120"/>
          </a:xfrm>
          <a:prstGeom prst="rect">
            <a:avLst/>
          </a:prstGeom>
        </p:spPr>
      </p:pic>
      <p:pic>
        <p:nvPicPr>
          <p:cNvPr id="63" name="Graphic 62" descr="Checkmark with solid fill">
            <a:extLst>
              <a:ext uri="{FF2B5EF4-FFF2-40B4-BE49-F238E27FC236}">
                <a16:creationId xmlns:a16="http://schemas.microsoft.com/office/drawing/2014/main" id="{0AA9AA77-A4A8-E130-0D1B-CA9F7640ED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9978" y="6221849"/>
            <a:ext cx="352120" cy="352120"/>
          </a:xfrm>
          <a:prstGeom prst="rect">
            <a:avLst/>
          </a:prstGeom>
        </p:spPr>
      </p:pic>
      <p:pic>
        <p:nvPicPr>
          <p:cNvPr id="65" name="Graphic 64" descr="Checkmark with solid fill">
            <a:extLst>
              <a:ext uri="{FF2B5EF4-FFF2-40B4-BE49-F238E27FC236}">
                <a16:creationId xmlns:a16="http://schemas.microsoft.com/office/drawing/2014/main" id="{59BB43E0-6FE4-A055-81DB-348627AA1C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0774" y="6209920"/>
            <a:ext cx="352120" cy="352120"/>
          </a:xfrm>
          <a:prstGeom prst="rect">
            <a:avLst/>
          </a:prstGeom>
        </p:spPr>
      </p:pic>
      <p:pic>
        <p:nvPicPr>
          <p:cNvPr id="69" name="Graphic 68" descr="Close with solid fill">
            <a:extLst>
              <a:ext uri="{FF2B5EF4-FFF2-40B4-BE49-F238E27FC236}">
                <a16:creationId xmlns:a16="http://schemas.microsoft.com/office/drawing/2014/main" id="{D003B1E1-FD18-8D67-384B-A36DFC408D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95964" y="6233605"/>
            <a:ext cx="352120" cy="352120"/>
          </a:xfrm>
          <a:prstGeom prst="rect">
            <a:avLst/>
          </a:prstGeom>
        </p:spPr>
      </p:pic>
      <p:pic>
        <p:nvPicPr>
          <p:cNvPr id="70" name="Graphic 69" descr="Checkmark with solid fill">
            <a:extLst>
              <a:ext uri="{FF2B5EF4-FFF2-40B4-BE49-F238E27FC236}">
                <a16:creationId xmlns:a16="http://schemas.microsoft.com/office/drawing/2014/main" id="{7534764A-CD12-77B9-3628-919210E759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00771" y="6219179"/>
            <a:ext cx="352120" cy="352120"/>
          </a:xfrm>
          <a:prstGeom prst="rect">
            <a:avLst/>
          </a:prstGeom>
        </p:spPr>
      </p:pic>
      <p:sp>
        <p:nvSpPr>
          <p:cNvPr id="72" name="Rectangle 71">
            <a:extLst>
              <a:ext uri="{FF2B5EF4-FFF2-40B4-BE49-F238E27FC236}">
                <a16:creationId xmlns:a16="http://schemas.microsoft.com/office/drawing/2014/main" id="{A0C481D9-A24F-E75E-49ED-9C66CF3519D3}"/>
              </a:ext>
            </a:extLst>
          </p:cNvPr>
          <p:cNvSpPr/>
          <p:nvPr/>
        </p:nvSpPr>
        <p:spPr>
          <a:xfrm>
            <a:off x="8103140" y="897882"/>
            <a:ext cx="373555" cy="5340896"/>
          </a:xfrm>
          <a:prstGeom prst="rect">
            <a:avLst/>
          </a:prstGeom>
          <a:noFill/>
          <a:ln w="28575">
            <a:solidFill>
              <a:srgbClr val="C00000"/>
            </a:solidFill>
          </a:ln>
          <a:effectLst>
            <a:glow rad="38100">
              <a:srgbClr val="C000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AF7F9C93-7A75-919F-E09A-2C13E638A4EA}"/>
              </a:ext>
            </a:extLst>
          </p:cNvPr>
          <p:cNvSpPr/>
          <p:nvPr/>
        </p:nvSpPr>
        <p:spPr>
          <a:xfrm>
            <a:off x="8082519" y="4991753"/>
            <a:ext cx="404807" cy="304806"/>
          </a:xfrm>
          <a:prstGeom prst="rect">
            <a:avLst/>
          </a:prstGeom>
          <a:noFill/>
          <a:ln w="28575">
            <a:solidFill>
              <a:srgbClr val="C00000"/>
            </a:solidFill>
          </a:ln>
          <a:effectLst>
            <a:glow rad="50800">
              <a:srgbClr val="C000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8FB08498-CE57-27E8-84D5-F7FFCBECC967}"/>
              </a:ext>
            </a:extLst>
          </p:cNvPr>
          <p:cNvSpPr txBox="1"/>
          <p:nvPr/>
        </p:nvSpPr>
        <p:spPr>
          <a:xfrm>
            <a:off x="8099184" y="4915837"/>
            <a:ext cx="371475" cy="461665"/>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Arial" charset="0"/>
              </a:rPr>
              <a:t>0</a:t>
            </a:r>
          </a:p>
        </p:txBody>
      </p:sp>
      <p:sp>
        <p:nvSpPr>
          <p:cNvPr id="42" name="TextBox 41">
            <a:extLst>
              <a:ext uri="{FF2B5EF4-FFF2-40B4-BE49-F238E27FC236}">
                <a16:creationId xmlns:a16="http://schemas.microsoft.com/office/drawing/2014/main" id="{14DDB813-B394-1FE5-A02D-701E2E1199BF}"/>
              </a:ext>
            </a:extLst>
          </p:cNvPr>
          <p:cNvSpPr txBox="1"/>
          <p:nvPr/>
        </p:nvSpPr>
        <p:spPr>
          <a:xfrm>
            <a:off x="8087050" y="4915837"/>
            <a:ext cx="371475" cy="461665"/>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Arial" charset="0"/>
              </a:rPr>
              <a:t>1</a:t>
            </a:r>
          </a:p>
        </p:txBody>
      </p:sp>
      <p:grpSp>
        <p:nvGrpSpPr>
          <p:cNvPr id="15" name="Group 14">
            <a:extLst>
              <a:ext uri="{FF2B5EF4-FFF2-40B4-BE49-F238E27FC236}">
                <a16:creationId xmlns:a16="http://schemas.microsoft.com/office/drawing/2014/main" id="{22BC9983-33F0-9050-B4B8-CCDA05B974C5}"/>
              </a:ext>
            </a:extLst>
          </p:cNvPr>
          <p:cNvGrpSpPr/>
          <p:nvPr/>
        </p:nvGrpSpPr>
        <p:grpSpPr>
          <a:xfrm>
            <a:off x="8943015" y="5028625"/>
            <a:ext cx="341251" cy="255341"/>
            <a:chOff x="8943015" y="5022275"/>
            <a:chExt cx="341251" cy="255341"/>
          </a:xfrm>
        </p:grpSpPr>
        <p:cxnSp>
          <p:nvCxnSpPr>
            <p:cNvPr id="9" name="Straight Connector 8">
              <a:extLst>
                <a:ext uri="{FF2B5EF4-FFF2-40B4-BE49-F238E27FC236}">
                  <a16:creationId xmlns:a16="http://schemas.microsoft.com/office/drawing/2014/main" id="{26D9D105-27B4-A96D-EF5D-C31A76201740}"/>
                </a:ext>
              </a:extLst>
            </p:cNvPr>
            <p:cNvCxnSpPr>
              <a:cxnSpLocks/>
            </p:cNvCxnSpPr>
            <p:nvPr/>
          </p:nvCxnSpPr>
          <p:spPr>
            <a:xfrm flipV="1">
              <a:off x="8955149" y="5022275"/>
              <a:ext cx="329117" cy="25534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46A9EFA-126D-3583-5283-DFB25630D228}"/>
                </a:ext>
              </a:extLst>
            </p:cNvPr>
            <p:cNvCxnSpPr>
              <a:cxnSpLocks/>
            </p:cNvCxnSpPr>
            <p:nvPr/>
          </p:nvCxnSpPr>
          <p:spPr>
            <a:xfrm flipH="1" flipV="1">
              <a:off x="8943015" y="5022275"/>
              <a:ext cx="341251" cy="25534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BD5E74DA-F325-7DDD-B33D-918FF3DB347E}"/>
              </a:ext>
            </a:extLst>
          </p:cNvPr>
          <p:cNvSpPr txBox="1"/>
          <p:nvPr/>
        </p:nvSpPr>
        <p:spPr>
          <a:xfrm>
            <a:off x="9299438" y="4915837"/>
            <a:ext cx="371475" cy="461665"/>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2400" b="1" i="0" u="none" strike="noStrike" cap="none" normalizeH="0" baseline="0" dirty="0">
                <a:ln>
                  <a:noFill/>
                </a:ln>
                <a:solidFill>
                  <a:schemeClr val="accent6"/>
                </a:solidFill>
                <a:effectLst/>
                <a:latin typeface="Arial" charset="0"/>
              </a:rPr>
              <a:t>F</a:t>
            </a:r>
          </a:p>
        </p:txBody>
      </p:sp>
    </p:spTree>
    <p:extLst>
      <p:ext uri="{BB962C8B-B14F-4D97-AF65-F5344CB8AC3E}">
        <p14:creationId xmlns:p14="http://schemas.microsoft.com/office/powerpoint/2010/main" val="157901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1000"/>
                                  </p:stCondLst>
                                  <p:childTnLst>
                                    <p:animEffect transition="out" filter="fade">
                                      <p:cBhvr>
                                        <p:cTn id="6" dur="500"/>
                                        <p:tgtEl>
                                          <p:spTgt spid="72"/>
                                        </p:tgtEl>
                                      </p:cBhvr>
                                    </p:animEffect>
                                    <p:set>
                                      <p:cBhvr>
                                        <p:cTn id="7" dur="1" fill="hold">
                                          <p:stCondLst>
                                            <p:cond delay="499"/>
                                          </p:stCondLst>
                                        </p:cTn>
                                        <p:tgtEl>
                                          <p:spTgt spid="72"/>
                                        </p:tgtEl>
                                        <p:attrNameLst>
                                          <p:attrName>style.visibility</p:attrName>
                                        </p:attrNameLst>
                                      </p:cBhvr>
                                      <p:to>
                                        <p:strVal val="hidden"/>
                                      </p:to>
                                    </p:set>
                                  </p:childTnLst>
                                </p:cTn>
                              </p:par>
                              <p:par>
                                <p:cTn id="8" presetID="10" presetClass="exit" presetSubtype="0" fill="hold" grpId="0" nodeType="withEffect">
                                  <p:stCondLst>
                                    <p:cond delay="1000"/>
                                  </p:stCondLst>
                                  <p:childTnLst>
                                    <p:animEffect transition="out" filter="fade">
                                      <p:cBhvr>
                                        <p:cTn id="9" dur="500"/>
                                        <p:tgtEl>
                                          <p:spTgt spid="56"/>
                                        </p:tgtEl>
                                      </p:cBhvr>
                                    </p:animEffect>
                                    <p:set>
                                      <p:cBhvr>
                                        <p:cTn id="10" dur="1" fill="hold">
                                          <p:stCondLst>
                                            <p:cond delay="499"/>
                                          </p:stCondLst>
                                        </p:cTn>
                                        <p:tgtEl>
                                          <p:spTgt spid="56"/>
                                        </p:tgtEl>
                                        <p:attrNameLst>
                                          <p:attrName>style.visibility</p:attrName>
                                        </p:attrNameLst>
                                      </p:cBhvr>
                                      <p:to>
                                        <p:strVal val="hidden"/>
                                      </p:to>
                                    </p:set>
                                  </p:childTnLst>
                                </p:cTn>
                              </p:par>
                              <p:par>
                                <p:cTn id="11" presetID="10" presetClass="entr" presetSubtype="0" fill="hold" grpId="0" nodeType="withEffect">
                                  <p:stCondLst>
                                    <p:cond delay="10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par>
                          <p:cTn id="14" fill="hold">
                            <p:stCondLst>
                              <p:cond delay="1500"/>
                            </p:stCondLst>
                            <p:childTnLst>
                              <p:par>
                                <p:cTn id="15" presetID="26" presetClass="emph" presetSubtype="0" fill="hold" grpId="0" nodeType="afterEffect">
                                  <p:stCondLst>
                                    <p:cond delay="0"/>
                                  </p:stCondLst>
                                  <p:childTnLst>
                                    <p:animEffect transition="out" filter="fade">
                                      <p:cBhvr>
                                        <p:cTn id="16" dur="500" tmFilter="0, 0; .2, .5; .8, .5; 1, 0"/>
                                        <p:tgtEl>
                                          <p:spTgt spid="40"/>
                                        </p:tgtEl>
                                      </p:cBhvr>
                                    </p:animEffect>
                                    <p:animScale>
                                      <p:cBhvr>
                                        <p:cTn id="17" dur="250" autoRev="1" fill="hold"/>
                                        <p:tgtEl>
                                          <p:spTgt spid="40"/>
                                        </p:tgtEl>
                                      </p:cBhvr>
                                      <p:by x="105000" y="105000"/>
                                    </p:animScale>
                                  </p:childTnLst>
                                </p:cTn>
                              </p:par>
                              <p:par>
                                <p:cTn id="18" presetID="10" presetClass="exit" presetSubtype="0" fill="hold" grpId="1" nodeType="withEffect">
                                  <p:stCondLst>
                                    <p:cond delay="0"/>
                                  </p:stCondLst>
                                  <p:childTnLst>
                                    <p:animEffect transition="out" filter="fade">
                                      <p:cBhvr>
                                        <p:cTn id="19" dur="500"/>
                                        <p:tgtEl>
                                          <p:spTgt spid="40"/>
                                        </p:tgtEl>
                                      </p:cBhvr>
                                    </p:animEffect>
                                    <p:set>
                                      <p:cBhvr>
                                        <p:cTn id="20" dur="1" fill="hold">
                                          <p:stCondLst>
                                            <p:cond delay="499"/>
                                          </p:stCondLst>
                                        </p:cTn>
                                        <p:tgtEl>
                                          <p:spTgt spid="40"/>
                                        </p:tgtEl>
                                        <p:attrNameLst>
                                          <p:attrName>style.visibility</p:attrName>
                                        </p:attrNameLst>
                                      </p:cBhvr>
                                      <p:to>
                                        <p:strVal val="hidden"/>
                                      </p:to>
                                    </p:set>
                                  </p:childTnLst>
                                </p:cTn>
                              </p:par>
                              <p:par>
                                <p:cTn id="21" presetID="10" presetClass="entr" presetSubtype="0" fill="hold" grpId="0" nodeType="withEffect">
                                  <p:stCondLst>
                                    <p:cond delay="5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500"/>
                                        <p:tgtEl>
                                          <p:spTgt spid="4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72" grpId="0" animBg="1"/>
      <p:bldP spid="2" grpId="0" animBg="1"/>
      <p:bldP spid="40" grpId="0"/>
      <p:bldP spid="40" grpId="1"/>
      <p:bldP spid="42" grpId="0"/>
      <p:bldP spid="5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5" y="1052896"/>
            <a:ext cx="11578602" cy="748923"/>
          </a:xfrm>
          <a:prstGeom prst="rect">
            <a:avLst/>
          </a:prstGeom>
        </p:spPr>
        <p:txBody>
          <a:bodyPr wrap="square">
            <a:spAutoFit/>
          </a:bodyPr>
          <a:lstStyle/>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A checksum is an error checking method that can verify if data has become corrupt following a transmission.</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With this method, data is sent in blocks with an additional value known as a </a:t>
            </a:r>
            <a:r>
              <a:rPr lang="en-GB" b="1" dirty="0">
                <a:latin typeface="Calibri" panose="020F0502020204030204" pitchFamily="34" charset="0"/>
                <a:ea typeface="Calibri" panose="020F0502020204030204" pitchFamily="34" charset="0"/>
                <a:cs typeface="Times New Roman" panose="02020603050405020304" pitchFamily="18" charset="0"/>
              </a:rPr>
              <a:t>checksum</a:t>
            </a:r>
            <a:r>
              <a:rPr lang="en-GB" dirty="0">
                <a:latin typeface="Calibri" panose="020F0502020204030204" pitchFamily="34" charset="0"/>
                <a:ea typeface="Calibri" panose="020F0502020204030204" pitchFamily="34" charset="0"/>
                <a:cs typeface="Times New Roman" panose="02020603050405020304" pitchFamily="18" charset="0"/>
              </a:rPr>
              <a:t> added at the end. </a:t>
            </a: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Checksums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39" name="Group 38">
            <a:extLst>
              <a:ext uri="{FF2B5EF4-FFF2-40B4-BE49-F238E27FC236}">
                <a16:creationId xmlns:a16="http://schemas.microsoft.com/office/drawing/2014/main" id="{A25C2547-3776-0BFB-26D5-0FEE3D8D0C40}"/>
              </a:ext>
            </a:extLst>
          </p:cNvPr>
          <p:cNvGrpSpPr/>
          <p:nvPr/>
        </p:nvGrpSpPr>
        <p:grpSpPr>
          <a:xfrm>
            <a:off x="2335316" y="3385039"/>
            <a:ext cx="1578494" cy="492370"/>
            <a:chOff x="2335316" y="3385039"/>
            <a:chExt cx="1578494" cy="492370"/>
          </a:xfrm>
        </p:grpSpPr>
        <p:sp>
          <p:nvSpPr>
            <p:cNvPr id="2" name="Rectangle 1">
              <a:extLst>
                <a:ext uri="{FF2B5EF4-FFF2-40B4-BE49-F238E27FC236}">
                  <a16:creationId xmlns:a16="http://schemas.microsoft.com/office/drawing/2014/main" id="{65253530-96CA-3AEA-B828-D4A55E81AB82}"/>
                </a:ext>
              </a:extLst>
            </p:cNvPr>
            <p:cNvSpPr/>
            <p:nvPr/>
          </p:nvSpPr>
          <p:spPr>
            <a:xfrm>
              <a:off x="2335316" y="3385039"/>
              <a:ext cx="1207391" cy="492370"/>
            </a:xfrm>
            <a:prstGeom prst="rect">
              <a:avLst/>
            </a:prstGeom>
            <a:solidFill>
              <a:schemeClr val="accent2">
                <a:lumMod val="40000"/>
                <a:lumOff val="60000"/>
              </a:schemeClr>
            </a:solidFill>
            <a:ln w="38100">
              <a:solidFill>
                <a:srgbClr val="B14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00101001</a:t>
              </a:r>
            </a:p>
          </p:txBody>
        </p:sp>
        <p:cxnSp>
          <p:nvCxnSpPr>
            <p:cNvPr id="10" name="Straight Arrow Connector 9">
              <a:extLst>
                <a:ext uri="{FF2B5EF4-FFF2-40B4-BE49-F238E27FC236}">
                  <a16:creationId xmlns:a16="http://schemas.microsoft.com/office/drawing/2014/main" id="{402253FE-AE4D-7C0C-54E5-FD9DF1695A8F}"/>
                </a:ext>
              </a:extLst>
            </p:cNvPr>
            <p:cNvCxnSpPr>
              <a:stCxn id="2" idx="3"/>
              <a:endCxn id="5" idx="1"/>
            </p:cNvCxnSpPr>
            <p:nvPr/>
          </p:nvCxnSpPr>
          <p:spPr>
            <a:xfrm>
              <a:off x="3542707" y="3631224"/>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A8DE8841-7D99-A0BE-B9CC-0FB955C07C04}"/>
              </a:ext>
            </a:extLst>
          </p:cNvPr>
          <p:cNvGrpSpPr/>
          <p:nvPr/>
        </p:nvGrpSpPr>
        <p:grpSpPr>
          <a:xfrm>
            <a:off x="3913810" y="3385039"/>
            <a:ext cx="5942873" cy="492370"/>
            <a:chOff x="3913810" y="3385039"/>
            <a:chExt cx="5942873" cy="492370"/>
          </a:xfrm>
        </p:grpSpPr>
        <p:sp>
          <p:nvSpPr>
            <p:cNvPr id="5" name="Rectangle 4">
              <a:extLst>
                <a:ext uri="{FF2B5EF4-FFF2-40B4-BE49-F238E27FC236}">
                  <a16:creationId xmlns:a16="http://schemas.microsoft.com/office/drawing/2014/main" id="{D07FF460-EF06-7B72-D013-5FC165233E77}"/>
                </a:ext>
              </a:extLst>
            </p:cNvPr>
            <p:cNvSpPr/>
            <p:nvPr/>
          </p:nvSpPr>
          <p:spPr>
            <a:xfrm>
              <a:off x="3913810" y="3385039"/>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01101001</a:t>
              </a:r>
            </a:p>
          </p:txBody>
        </p:sp>
        <p:sp>
          <p:nvSpPr>
            <p:cNvPr id="7" name="Rectangle 6">
              <a:extLst>
                <a:ext uri="{FF2B5EF4-FFF2-40B4-BE49-F238E27FC236}">
                  <a16:creationId xmlns:a16="http://schemas.microsoft.com/office/drawing/2014/main" id="{F67FB3F1-B1D7-261B-8FEB-929A2E70264A}"/>
                </a:ext>
              </a:extLst>
            </p:cNvPr>
            <p:cNvSpPr/>
            <p:nvPr/>
          </p:nvSpPr>
          <p:spPr>
            <a:xfrm>
              <a:off x="5492304" y="3385039"/>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11101000</a:t>
              </a:r>
            </a:p>
          </p:txBody>
        </p:sp>
        <p:sp>
          <p:nvSpPr>
            <p:cNvPr id="8" name="Rectangle 7">
              <a:extLst>
                <a:ext uri="{FF2B5EF4-FFF2-40B4-BE49-F238E27FC236}">
                  <a16:creationId xmlns:a16="http://schemas.microsoft.com/office/drawing/2014/main" id="{AB8ABCB3-96B2-CA33-DCA4-F91C9DA1C4A0}"/>
                </a:ext>
              </a:extLst>
            </p:cNvPr>
            <p:cNvSpPr/>
            <p:nvPr/>
          </p:nvSpPr>
          <p:spPr>
            <a:xfrm>
              <a:off x="7070798" y="3385039"/>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01010000</a:t>
              </a:r>
            </a:p>
          </p:txBody>
        </p:sp>
        <p:sp>
          <p:nvSpPr>
            <p:cNvPr id="9" name="Rectangle 8">
              <a:extLst>
                <a:ext uri="{FF2B5EF4-FFF2-40B4-BE49-F238E27FC236}">
                  <a16:creationId xmlns:a16="http://schemas.microsoft.com/office/drawing/2014/main" id="{67F3F472-C232-067F-82E0-D5827DA616FF}"/>
                </a:ext>
              </a:extLst>
            </p:cNvPr>
            <p:cNvSpPr/>
            <p:nvPr/>
          </p:nvSpPr>
          <p:spPr>
            <a:xfrm>
              <a:off x="8649292" y="3385039"/>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11110100</a:t>
              </a:r>
            </a:p>
          </p:txBody>
        </p:sp>
        <p:cxnSp>
          <p:nvCxnSpPr>
            <p:cNvPr id="11" name="Straight Arrow Connector 10">
              <a:extLst>
                <a:ext uri="{FF2B5EF4-FFF2-40B4-BE49-F238E27FC236}">
                  <a16:creationId xmlns:a16="http://schemas.microsoft.com/office/drawing/2014/main" id="{EBCDA0DA-0BC0-B832-54BF-1752D7DB0EA6}"/>
                </a:ext>
              </a:extLst>
            </p:cNvPr>
            <p:cNvCxnSpPr>
              <a:cxnSpLocks/>
              <a:stCxn id="5" idx="3"/>
              <a:endCxn id="7" idx="1"/>
            </p:cNvCxnSpPr>
            <p:nvPr/>
          </p:nvCxnSpPr>
          <p:spPr>
            <a:xfrm>
              <a:off x="5121201" y="3631224"/>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896FA17-A6AF-06A1-D592-B88869B696FE}"/>
                </a:ext>
              </a:extLst>
            </p:cNvPr>
            <p:cNvCxnSpPr>
              <a:cxnSpLocks/>
              <a:stCxn id="7" idx="3"/>
              <a:endCxn id="8" idx="1"/>
            </p:cNvCxnSpPr>
            <p:nvPr/>
          </p:nvCxnSpPr>
          <p:spPr>
            <a:xfrm>
              <a:off x="6699695" y="3631224"/>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2717D8B-21F8-92A0-C6E0-426014005269}"/>
                </a:ext>
              </a:extLst>
            </p:cNvPr>
            <p:cNvCxnSpPr>
              <a:cxnSpLocks/>
              <a:stCxn id="8" idx="3"/>
              <a:endCxn id="9" idx="1"/>
            </p:cNvCxnSpPr>
            <p:nvPr/>
          </p:nvCxnSpPr>
          <p:spPr>
            <a:xfrm>
              <a:off x="8278189" y="3631224"/>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B1B5E28-989E-7792-6BD9-1BF9247F3314}"/>
              </a:ext>
            </a:extLst>
          </p:cNvPr>
          <p:cNvGrpSpPr/>
          <p:nvPr/>
        </p:nvGrpSpPr>
        <p:grpSpPr>
          <a:xfrm>
            <a:off x="10264003" y="2690984"/>
            <a:ext cx="1859672" cy="1689772"/>
            <a:chOff x="4392654" y="2682339"/>
            <a:chExt cx="1194329" cy="1085215"/>
          </a:xfrm>
        </p:grpSpPr>
        <p:pic>
          <p:nvPicPr>
            <p:cNvPr id="24" name="Picture 23" descr="A picture containing text, electronics, display&#10;&#10;Description automatically generated">
              <a:extLst>
                <a:ext uri="{FF2B5EF4-FFF2-40B4-BE49-F238E27FC236}">
                  <a16:creationId xmlns:a16="http://schemas.microsoft.com/office/drawing/2014/main" id="{2EA74FE4-E362-BD62-5BFD-CA5F61965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25" name="TextBox 24">
              <a:extLst>
                <a:ext uri="{FF2B5EF4-FFF2-40B4-BE49-F238E27FC236}">
                  <a16:creationId xmlns:a16="http://schemas.microsoft.com/office/drawing/2014/main" id="{85E4657B-70F2-162B-F439-9206633B62A2}"/>
                </a:ext>
              </a:extLst>
            </p:cNvPr>
            <p:cNvSpPr txBox="1"/>
            <p:nvPr/>
          </p:nvSpPr>
          <p:spPr>
            <a:xfrm>
              <a:off x="4392654" y="3429000"/>
              <a:ext cx="1194329" cy="338554"/>
            </a:xfrm>
            <a:prstGeom prst="rect">
              <a:avLst/>
            </a:prstGeom>
            <a:noFill/>
          </p:spPr>
          <p:txBody>
            <a:bodyPr wrap="square" rtlCol="0">
              <a:spAutoFit/>
            </a:bodyPr>
            <a:lstStyle/>
            <a:p>
              <a:pPr algn="ctr"/>
              <a:r>
                <a:rPr lang="en-GB" sz="1600" b="1" dirty="0"/>
                <a:t>Destination</a:t>
              </a:r>
              <a:endParaRPr lang="en-GB" b="1" dirty="0"/>
            </a:p>
          </p:txBody>
        </p:sp>
      </p:grpSp>
      <p:grpSp>
        <p:nvGrpSpPr>
          <p:cNvPr id="26" name="Group 25">
            <a:extLst>
              <a:ext uri="{FF2B5EF4-FFF2-40B4-BE49-F238E27FC236}">
                <a16:creationId xmlns:a16="http://schemas.microsoft.com/office/drawing/2014/main" id="{B5FDE903-0774-86DB-95BB-4A1E0D586035}"/>
              </a:ext>
            </a:extLst>
          </p:cNvPr>
          <p:cNvGrpSpPr/>
          <p:nvPr/>
        </p:nvGrpSpPr>
        <p:grpSpPr>
          <a:xfrm>
            <a:off x="359703" y="2691426"/>
            <a:ext cx="1257122" cy="1689330"/>
            <a:chOff x="481384" y="3456432"/>
            <a:chExt cx="807356" cy="1084931"/>
          </a:xfrm>
        </p:grpSpPr>
        <p:sp>
          <p:nvSpPr>
            <p:cNvPr id="27" name="TextBox 26">
              <a:extLst>
                <a:ext uri="{FF2B5EF4-FFF2-40B4-BE49-F238E27FC236}">
                  <a16:creationId xmlns:a16="http://schemas.microsoft.com/office/drawing/2014/main" id="{1E27FE12-CD59-5334-A511-1B74819B282A}"/>
                </a:ext>
              </a:extLst>
            </p:cNvPr>
            <p:cNvSpPr txBox="1"/>
            <p:nvPr/>
          </p:nvSpPr>
          <p:spPr>
            <a:xfrm>
              <a:off x="492889" y="4202809"/>
              <a:ext cx="784346" cy="338554"/>
            </a:xfrm>
            <a:prstGeom prst="rect">
              <a:avLst/>
            </a:prstGeom>
            <a:noFill/>
          </p:spPr>
          <p:txBody>
            <a:bodyPr wrap="square" rtlCol="0">
              <a:spAutoFit/>
            </a:bodyPr>
            <a:lstStyle/>
            <a:p>
              <a:pPr algn="ctr"/>
              <a:r>
                <a:rPr lang="en-GB" sz="1600" b="1" dirty="0"/>
                <a:t>Source</a:t>
              </a:r>
              <a:endParaRPr lang="en-GB" b="1" dirty="0"/>
            </a:p>
          </p:txBody>
        </p:sp>
        <p:pic>
          <p:nvPicPr>
            <p:cNvPr id="28" name="Picture 27" descr="A picture containing text, electronics, display&#10;&#10;Description automatically generated">
              <a:extLst>
                <a:ext uri="{FF2B5EF4-FFF2-40B4-BE49-F238E27FC236}">
                  <a16:creationId xmlns:a16="http://schemas.microsoft.com/office/drawing/2014/main" id="{F18680F4-FE2F-5EF3-AA58-2D705FCBD8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grpSp>
        <p:nvGrpSpPr>
          <p:cNvPr id="37" name="Group 36">
            <a:extLst>
              <a:ext uri="{FF2B5EF4-FFF2-40B4-BE49-F238E27FC236}">
                <a16:creationId xmlns:a16="http://schemas.microsoft.com/office/drawing/2014/main" id="{248ABD6B-764E-9E50-99BE-4D69AAAC1165}"/>
              </a:ext>
            </a:extLst>
          </p:cNvPr>
          <p:cNvGrpSpPr/>
          <p:nvPr/>
        </p:nvGrpSpPr>
        <p:grpSpPr>
          <a:xfrm>
            <a:off x="2347171" y="2523721"/>
            <a:ext cx="7509511" cy="667232"/>
            <a:chOff x="2347171" y="2523721"/>
            <a:chExt cx="7509511" cy="667232"/>
          </a:xfrm>
        </p:grpSpPr>
        <p:sp>
          <p:nvSpPr>
            <p:cNvPr id="31" name="Right Brace 30">
              <a:extLst>
                <a:ext uri="{FF2B5EF4-FFF2-40B4-BE49-F238E27FC236}">
                  <a16:creationId xmlns:a16="http://schemas.microsoft.com/office/drawing/2014/main" id="{FB92E007-A5E0-A628-7922-CB6182473729}"/>
                </a:ext>
              </a:extLst>
            </p:cNvPr>
            <p:cNvSpPr/>
            <p:nvPr/>
          </p:nvSpPr>
          <p:spPr>
            <a:xfrm rot="16200000" flipV="1">
              <a:off x="5980628" y="-685102"/>
              <a:ext cx="242598" cy="7509511"/>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2" name="TextBox 31">
              <a:extLst>
                <a:ext uri="{FF2B5EF4-FFF2-40B4-BE49-F238E27FC236}">
                  <a16:creationId xmlns:a16="http://schemas.microsoft.com/office/drawing/2014/main" id="{8923A25A-62EC-70FD-0AA0-E949FB774299}"/>
                </a:ext>
              </a:extLst>
            </p:cNvPr>
            <p:cNvSpPr txBox="1"/>
            <p:nvPr/>
          </p:nvSpPr>
          <p:spPr>
            <a:xfrm>
              <a:off x="5232872" y="2523721"/>
              <a:ext cx="1726256" cy="338554"/>
            </a:xfrm>
            <a:prstGeom prst="rect">
              <a:avLst/>
            </a:prstGeom>
            <a:noFill/>
          </p:spPr>
          <p:txBody>
            <a:bodyPr wrap="square" rtlCol="0">
              <a:spAutoFit/>
            </a:bodyPr>
            <a:lstStyle/>
            <a:p>
              <a:pPr algn="ctr"/>
              <a:r>
                <a:rPr lang="en-GB" sz="1600" b="1" dirty="0"/>
                <a:t>Data transmission</a:t>
              </a:r>
              <a:endParaRPr lang="en-GB" b="1" dirty="0"/>
            </a:p>
          </p:txBody>
        </p:sp>
      </p:grpSp>
      <p:grpSp>
        <p:nvGrpSpPr>
          <p:cNvPr id="35" name="Group 34">
            <a:extLst>
              <a:ext uri="{FF2B5EF4-FFF2-40B4-BE49-F238E27FC236}">
                <a16:creationId xmlns:a16="http://schemas.microsoft.com/office/drawing/2014/main" id="{3EE9F385-528A-EADC-6A84-3F1A17DAA6E7}"/>
              </a:ext>
            </a:extLst>
          </p:cNvPr>
          <p:cNvGrpSpPr/>
          <p:nvPr/>
        </p:nvGrpSpPr>
        <p:grpSpPr>
          <a:xfrm>
            <a:off x="3913809" y="4117177"/>
            <a:ext cx="5942873" cy="598736"/>
            <a:chOff x="3913809" y="4117177"/>
            <a:chExt cx="5942873" cy="598736"/>
          </a:xfrm>
        </p:grpSpPr>
        <p:sp>
          <p:nvSpPr>
            <p:cNvPr id="29" name="Right Brace 28">
              <a:extLst>
                <a:ext uri="{FF2B5EF4-FFF2-40B4-BE49-F238E27FC236}">
                  <a16:creationId xmlns:a16="http://schemas.microsoft.com/office/drawing/2014/main" id="{8C8C76E9-E6AC-3D1D-7D00-333D07CCF86B}"/>
                </a:ext>
              </a:extLst>
            </p:cNvPr>
            <p:cNvSpPr/>
            <p:nvPr/>
          </p:nvSpPr>
          <p:spPr>
            <a:xfrm rot="5400000">
              <a:off x="6763947" y="1267039"/>
              <a:ext cx="242598" cy="5942873"/>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3" name="TextBox 32">
              <a:extLst>
                <a:ext uri="{FF2B5EF4-FFF2-40B4-BE49-F238E27FC236}">
                  <a16:creationId xmlns:a16="http://schemas.microsoft.com/office/drawing/2014/main" id="{07A313B0-7FF9-5AB6-8C0B-413E18C8291D}"/>
                </a:ext>
              </a:extLst>
            </p:cNvPr>
            <p:cNvSpPr txBox="1"/>
            <p:nvPr/>
          </p:nvSpPr>
          <p:spPr>
            <a:xfrm>
              <a:off x="6022643" y="4377359"/>
              <a:ext cx="1726256" cy="338554"/>
            </a:xfrm>
            <a:prstGeom prst="rect">
              <a:avLst/>
            </a:prstGeom>
            <a:noFill/>
          </p:spPr>
          <p:txBody>
            <a:bodyPr wrap="square" rtlCol="0">
              <a:spAutoFit/>
            </a:bodyPr>
            <a:lstStyle/>
            <a:p>
              <a:pPr algn="ctr"/>
              <a:r>
                <a:rPr lang="en-GB" sz="1600" b="1" dirty="0"/>
                <a:t>Original data</a:t>
              </a:r>
              <a:endParaRPr lang="en-GB" b="1" dirty="0"/>
            </a:p>
          </p:txBody>
        </p:sp>
      </p:grpSp>
      <p:grpSp>
        <p:nvGrpSpPr>
          <p:cNvPr id="36" name="Group 35">
            <a:extLst>
              <a:ext uri="{FF2B5EF4-FFF2-40B4-BE49-F238E27FC236}">
                <a16:creationId xmlns:a16="http://schemas.microsoft.com/office/drawing/2014/main" id="{35C646BF-A27F-3BCA-A12B-33EAD3A3EAFE}"/>
              </a:ext>
            </a:extLst>
          </p:cNvPr>
          <p:cNvGrpSpPr/>
          <p:nvPr/>
        </p:nvGrpSpPr>
        <p:grpSpPr>
          <a:xfrm>
            <a:off x="2335315" y="4117177"/>
            <a:ext cx="1207392" cy="598736"/>
            <a:chOff x="2335315" y="4117177"/>
            <a:chExt cx="1207392" cy="598736"/>
          </a:xfrm>
        </p:grpSpPr>
        <p:sp>
          <p:nvSpPr>
            <p:cNvPr id="30" name="Right Brace 29">
              <a:extLst>
                <a:ext uri="{FF2B5EF4-FFF2-40B4-BE49-F238E27FC236}">
                  <a16:creationId xmlns:a16="http://schemas.microsoft.com/office/drawing/2014/main" id="{C665D454-E4AE-232E-ED7F-BBD680121600}"/>
                </a:ext>
              </a:extLst>
            </p:cNvPr>
            <p:cNvSpPr/>
            <p:nvPr/>
          </p:nvSpPr>
          <p:spPr>
            <a:xfrm rot="5400000">
              <a:off x="2817712" y="3634780"/>
              <a:ext cx="242598" cy="1207392"/>
            </a:xfrm>
            <a:prstGeom prst="rightBrace">
              <a:avLst>
                <a:gd name="adj1" fmla="val 6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4" name="TextBox 33">
              <a:extLst>
                <a:ext uri="{FF2B5EF4-FFF2-40B4-BE49-F238E27FC236}">
                  <a16:creationId xmlns:a16="http://schemas.microsoft.com/office/drawing/2014/main" id="{3DC15BAE-145A-678F-DE20-54EC860C3861}"/>
                </a:ext>
              </a:extLst>
            </p:cNvPr>
            <p:cNvSpPr txBox="1"/>
            <p:nvPr/>
          </p:nvSpPr>
          <p:spPr>
            <a:xfrm>
              <a:off x="2417290" y="4377359"/>
              <a:ext cx="1043442" cy="338554"/>
            </a:xfrm>
            <a:prstGeom prst="rect">
              <a:avLst/>
            </a:prstGeom>
            <a:noFill/>
          </p:spPr>
          <p:txBody>
            <a:bodyPr wrap="square" rtlCol="0">
              <a:spAutoFit/>
            </a:bodyPr>
            <a:lstStyle/>
            <a:p>
              <a:pPr algn="ctr"/>
              <a:r>
                <a:rPr lang="en-GB" sz="1600" b="1" dirty="0"/>
                <a:t>Checksum</a:t>
              </a:r>
              <a:endParaRPr lang="en-GB" b="1" dirty="0"/>
            </a:p>
          </p:txBody>
        </p:sp>
      </p:grpSp>
    </p:spTree>
    <p:extLst>
      <p:ext uri="{BB962C8B-B14F-4D97-AF65-F5344CB8AC3E}">
        <p14:creationId xmlns:p14="http://schemas.microsoft.com/office/powerpoint/2010/main" val="150861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childTnLst>
                                </p:cTn>
                              </p:par>
                              <p:par>
                                <p:cTn id="8" presetID="10" presetClass="entr" presetSubtype="0" fill="hold" nodeType="withEffect">
                                  <p:stCondLst>
                                    <p:cond delay="200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1000"/>
                                        <p:tgtEl>
                                          <p:spTgt spid="35"/>
                                        </p:tgtEl>
                                      </p:cBhvr>
                                    </p:animEffect>
                                  </p:childTnLst>
                                </p:cTn>
                              </p:par>
                            </p:childTnLst>
                          </p:cTn>
                        </p:par>
                        <p:par>
                          <p:cTn id="11" fill="hold">
                            <p:stCondLst>
                              <p:cond delay="3000"/>
                            </p:stCondLst>
                            <p:childTnLst>
                              <p:par>
                                <p:cTn id="12" presetID="10" presetClass="entr" presetSubtype="0" fill="hold" nodeType="after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1000"/>
                                        <p:tgtEl>
                                          <p:spTgt spid="39"/>
                                        </p:tgtEl>
                                      </p:cBhvr>
                                    </p:animEffect>
                                  </p:childTnLst>
                                </p:cTn>
                              </p:par>
                              <p:par>
                                <p:cTn id="15" presetID="10"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1000"/>
                                        <p:tgtEl>
                                          <p:spTgt spid="36"/>
                                        </p:tgtEl>
                                      </p:cBhvr>
                                    </p:animEffect>
                                  </p:childTnLst>
                                </p:cTn>
                              </p:par>
                            </p:childTnLst>
                          </p:cTn>
                        </p:par>
                        <p:par>
                          <p:cTn id="18" fill="hold">
                            <p:stCondLst>
                              <p:cond delay="4000"/>
                            </p:stCondLst>
                            <p:childTnLst>
                              <p:par>
                                <p:cTn id="19" presetID="10" presetClass="entr" presetSubtype="0" fill="hold" nodeType="after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8C48FD42-1D3A-BA8F-AB59-BF01EC6D83CE}"/>
              </a:ext>
            </a:extLst>
          </p:cNvPr>
          <p:cNvGrpSpPr/>
          <p:nvPr/>
        </p:nvGrpSpPr>
        <p:grpSpPr>
          <a:xfrm>
            <a:off x="2655368" y="2126370"/>
            <a:ext cx="1217288" cy="3145354"/>
            <a:chOff x="3114666" y="2362200"/>
            <a:chExt cx="1217288" cy="3145354"/>
          </a:xfrm>
        </p:grpSpPr>
        <p:sp>
          <p:nvSpPr>
            <p:cNvPr id="48" name="Rectangle 47">
              <a:extLst>
                <a:ext uri="{FF2B5EF4-FFF2-40B4-BE49-F238E27FC236}">
                  <a16:creationId xmlns:a16="http://schemas.microsoft.com/office/drawing/2014/main" id="{61C132CA-0346-8598-8ACB-5CD8D7E839D3}"/>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11110100</a:t>
              </a:r>
            </a:p>
          </p:txBody>
        </p:sp>
        <p:sp>
          <p:nvSpPr>
            <p:cNvPr id="49" name="Rectangle 48">
              <a:extLst>
                <a:ext uri="{FF2B5EF4-FFF2-40B4-BE49-F238E27FC236}">
                  <a16:creationId xmlns:a16="http://schemas.microsoft.com/office/drawing/2014/main" id="{84115D1D-AB30-41ED-F685-2CB4D6343D36}"/>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01010000</a:t>
              </a:r>
            </a:p>
          </p:txBody>
        </p:sp>
        <p:sp>
          <p:nvSpPr>
            <p:cNvPr id="50" name="Rectangle 49">
              <a:extLst>
                <a:ext uri="{FF2B5EF4-FFF2-40B4-BE49-F238E27FC236}">
                  <a16:creationId xmlns:a16="http://schemas.microsoft.com/office/drawing/2014/main" id="{792A2915-0BAC-0949-E814-FB54A7E6FA4A}"/>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11101000</a:t>
              </a:r>
            </a:p>
          </p:txBody>
        </p:sp>
        <p:sp>
          <p:nvSpPr>
            <p:cNvPr id="51" name="Rectangle 50">
              <a:extLst>
                <a:ext uri="{FF2B5EF4-FFF2-40B4-BE49-F238E27FC236}">
                  <a16:creationId xmlns:a16="http://schemas.microsoft.com/office/drawing/2014/main" id="{B091F625-668C-76AE-8C04-3452BB05E694}"/>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01101001</a:t>
              </a:r>
            </a:p>
          </p:txBody>
        </p:sp>
        <p:cxnSp>
          <p:nvCxnSpPr>
            <p:cNvPr id="52" name="Straight Arrow Connector 51">
              <a:extLst>
                <a:ext uri="{FF2B5EF4-FFF2-40B4-BE49-F238E27FC236}">
                  <a16:creationId xmlns:a16="http://schemas.microsoft.com/office/drawing/2014/main" id="{862A62D0-5985-AAD3-3CBE-A9E5DB4803D4}"/>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DE3475E-E7D3-0F04-E1E3-84A2887BF845}"/>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29D64CC-DE8D-61A7-FA15-42096C071EF4}"/>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D989BBE4-38CA-4FFB-B9AA-E0BBB2AB22B7}"/>
              </a:ext>
            </a:extLst>
          </p:cNvPr>
          <p:cNvSpPr/>
          <p:nvPr/>
        </p:nvSpPr>
        <p:spPr>
          <a:xfrm>
            <a:off x="220675" y="1052896"/>
            <a:ext cx="11578602"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1. Before the data is transmitted, a </a:t>
            </a:r>
            <a:r>
              <a:rPr lang="en-GB" b="1" dirty="0">
                <a:latin typeface="Calibri" panose="020F0502020204030204" pitchFamily="34" charset="0"/>
                <a:ea typeface="Calibri" panose="020F0502020204030204" pitchFamily="34" charset="0"/>
                <a:cs typeface="Times New Roman" panose="02020603050405020304" pitchFamily="18" charset="0"/>
              </a:rPr>
              <a:t>checksum</a:t>
            </a:r>
            <a:r>
              <a:rPr lang="en-GB" dirty="0">
                <a:latin typeface="Calibri" panose="020F0502020204030204" pitchFamily="34" charset="0"/>
                <a:ea typeface="Calibri" panose="020F0502020204030204" pitchFamily="34" charset="0"/>
                <a:cs typeface="Times New Roman" panose="02020603050405020304" pitchFamily="18" charset="0"/>
              </a:rPr>
              <a:t> must be calculated and added to the end of the block of data. The </a:t>
            </a:r>
            <a:r>
              <a:rPr lang="en-GB" b="1" dirty="0">
                <a:latin typeface="Calibri" panose="020F0502020204030204" pitchFamily="34" charset="0"/>
                <a:ea typeface="Calibri" panose="020F0502020204030204" pitchFamily="34" charset="0"/>
                <a:cs typeface="Times New Roman" panose="02020603050405020304" pitchFamily="18" charset="0"/>
              </a:rPr>
              <a:t>checksum</a:t>
            </a:r>
            <a:r>
              <a:rPr lang="en-GB" dirty="0">
                <a:latin typeface="Calibri" panose="020F0502020204030204" pitchFamily="34" charset="0"/>
                <a:ea typeface="Calibri" panose="020F0502020204030204" pitchFamily="34" charset="0"/>
                <a:cs typeface="Times New Roman" panose="02020603050405020304" pitchFamily="18" charset="0"/>
              </a:rPr>
              <a:t> is calculated from the block of data based on a pre-agreed algorithm.</a:t>
            </a: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Checksums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23" name="Group 22">
            <a:extLst>
              <a:ext uri="{FF2B5EF4-FFF2-40B4-BE49-F238E27FC236}">
                <a16:creationId xmlns:a16="http://schemas.microsoft.com/office/drawing/2014/main" id="{3B1B5E28-989E-7792-6BD9-1BF9247F3314}"/>
              </a:ext>
            </a:extLst>
          </p:cNvPr>
          <p:cNvGrpSpPr/>
          <p:nvPr/>
        </p:nvGrpSpPr>
        <p:grpSpPr>
          <a:xfrm>
            <a:off x="10264003" y="2690984"/>
            <a:ext cx="1859672" cy="1689772"/>
            <a:chOff x="4392654" y="2682339"/>
            <a:chExt cx="1194329" cy="1085215"/>
          </a:xfrm>
        </p:grpSpPr>
        <p:pic>
          <p:nvPicPr>
            <p:cNvPr id="24" name="Picture 23" descr="A picture containing text, electronics, display&#10;&#10;Description automatically generated">
              <a:extLst>
                <a:ext uri="{FF2B5EF4-FFF2-40B4-BE49-F238E27FC236}">
                  <a16:creationId xmlns:a16="http://schemas.microsoft.com/office/drawing/2014/main" id="{2EA74FE4-E362-BD62-5BFD-CA5F61965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25" name="TextBox 24">
              <a:extLst>
                <a:ext uri="{FF2B5EF4-FFF2-40B4-BE49-F238E27FC236}">
                  <a16:creationId xmlns:a16="http://schemas.microsoft.com/office/drawing/2014/main" id="{85E4657B-70F2-162B-F439-9206633B62A2}"/>
                </a:ext>
              </a:extLst>
            </p:cNvPr>
            <p:cNvSpPr txBox="1"/>
            <p:nvPr/>
          </p:nvSpPr>
          <p:spPr>
            <a:xfrm>
              <a:off x="4392654" y="3429000"/>
              <a:ext cx="1194329" cy="338554"/>
            </a:xfrm>
            <a:prstGeom prst="rect">
              <a:avLst/>
            </a:prstGeom>
            <a:noFill/>
          </p:spPr>
          <p:txBody>
            <a:bodyPr wrap="square" rtlCol="0">
              <a:spAutoFit/>
            </a:bodyPr>
            <a:lstStyle/>
            <a:p>
              <a:pPr algn="ctr"/>
              <a:r>
                <a:rPr lang="en-GB" sz="1600" b="1" dirty="0"/>
                <a:t>Destination</a:t>
              </a:r>
              <a:endParaRPr lang="en-GB" b="1" dirty="0"/>
            </a:p>
          </p:txBody>
        </p:sp>
      </p:grpSp>
      <p:grpSp>
        <p:nvGrpSpPr>
          <p:cNvPr id="26" name="Group 25">
            <a:extLst>
              <a:ext uri="{FF2B5EF4-FFF2-40B4-BE49-F238E27FC236}">
                <a16:creationId xmlns:a16="http://schemas.microsoft.com/office/drawing/2014/main" id="{B5FDE903-0774-86DB-95BB-4A1E0D586035}"/>
              </a:ext>
            </a:extLst>
          </p:cNvPr>
          <p:cNvGrpSpPr/>
          <p:nvPr/>
        </p:nvGrpSpPr>
        <p:grpSpPr>
          <a:xfrm>
            <a:off x="359703" y="2691426"/>
            <a:ext cx="1257122" cy="1689330"/>
            <a:chOff x="481384" y="3456432"/>
            <a:chExt cx="807356" cy="1084931"/>
          </a:xfrm>
        </p:grpSpPr>
        <p:sp>
          <p:nvSpPr>
            <p:cNvPr id="27" name="TextBox 26">
              <a:extLst>
                <a:ext uri="{FF2B5EF4-FFF2-40B4-BE49-F238E27FC236}">
                  <a16:creationId xmlns:a16="http://schemas.microsoft.com/office/drawing/2014/main" id="{1E27FE12-CD59-5334-A511-1B74819B282A}"/>
                </a:ext>
              </a:extLst>
            </p:cNvPr>
            <p:cNvSpPr txBox="1"/>
            <p:nvPr/>
          </p:nvSpPr>
          <p:spPr>
            <a:xfrm>
              <a:off x="492889" y="4202809"/>
              <a:ext cx="784346" cy="338554"/>
            </a:xfrm>
            <a:prstGeom prst="rect">
              <a:avLst/>
            </a:prstGeom>
            <a:noFill/>
          </p:spPr>
          <p:txBody>
            <a:bodyPr wrap="square" rtlCol="0">
              <a:spAutoFit/>
            </a:bodyPr>
            <a:lstStyle/>
            <a:p>
              <a:pPr algn="ctr"/>
              <a:r>
                <a:rPr lang="en-GB" sz="1600" b="1" dirty="0"/>
                <a:t>Source</a:t>
              </a:r>
              <a:endParaRPr lang="en-GB" b="1" dirty="0"/>
            </a:p>
          </p:txBody>
        </p:sp>
        <p:pic>
          <p:nvPicPr>
            <p:cNvPr id="28" name="Picture 27" descr="A picture containing text, electronics, display&#10;&#10;Description automatically generated">
              <a:extLst>
                <a:ext uri="{FF2B5EF4-FFF2-40B4-BE49-F238E27FC236}">
                  <a16:creationId xmlns:a16="http://schemas.microsoft.com/office/drawing/2014/main" id="{F18680F4-FE2F-5EF3-AA58-2D705FCBD8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grpSp>
        <p:nvGrpSpPr>
          <p:cNvPr id="20" name="Group 19">
            <a:extLst>
              <a:ext uri="{FF2B5EF4-FFF2-40B4-BE49-F238E27FC236}">
                <a16:creationId xmlns:a16="http://schemas.microsoft.com/office/drawing/2014/main" id="{9443264C-C36C-815D-14AE-62AA98DD4904}"/>
              </a:ext>
            </a:extLst>
          </p:cNvPr>
          <p:cNvGrpSpPr/>
          <p:nvPr/>
        </p:nvGrpSpPr>
        <p:grpSpPr>
          <a:xfrm>
            <a:off x="2663379" y="2126370"/>
            <a:ext cx="1217288" cy="3145354"/>
            <a:chOff x="3114666" y="2362200"/>
            <a:chExt cx="1217288" cy="3145354"/>
          </a:xfrm>
        </p:grpSpPr>
        <p:sp>
          <p:nvSpPr>
            <p:cNvPr id="5" name="Rectangle 4">
              <a:extLst>
                <a:ext uri="{FF2B5EF4-FFF2-40B4-BE49-F238E27FC236}">
                  <a16:creationId xmlns:a16="http://schemas.microsoft.com/office/drawing/2014/main" id="{D07FF460-EF06-7B72-D013-5FC165233E77}"/>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11110100</a:t>
              </a:r>
            </a:p>
          </p:txBody>
        </p:sp>
        <p:sp>
          <p:nvSpPr>
            <p:cNvPr id="7" name="Rectangle 6">
              <a:extLst>
                <a:ext uri="{FF2B5EF4-FFF2-40B4-BE49-F238E27FC236}">
                  <a16:creationId xmlns:a16="http://schemas.microsoft.com/office/drawing/2014/main" id="{F67FB3F1-B1D7-261B-8FEB-929A2E70264A}"/>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01010000</a:t>
              </a:r>
            </a:p>
          </p:txBody>
        </p:sp>
        <p:sp>
          <p:nvSpPr>
            <p:cNvPr id="8" name="Rectangle 7">
              <a:extLst>
                <a:ext uri="{FF2B5EF4-FFF2-40B4-BE49-F238E27FC236}">
                  <a16:creationId xmlns:a16="http://schemas.microsoft.com/office/drawing/2014/main" id="{AB8ABCB3-96B2-CA33-DCA4-F91C9DA1C4A0}"/>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11101000</a:t>
              </a:r>
            </a:p>
          </p:txBody>
        </p:sp>
        <p:sp>
          <p:nvSpPr>
            <p:cNvPr id="9" name="Rectangle 8">
              <a:extLst>
                <a:ext uri="{FF2B5EF4-FFF2-40B4-BE49-F238E27FC236}">
                  <a16:creationId xmlns:a16="http://schemas.microsoft.com/office/drawing/2014/main" id="{67F3F472-C232-067F-82E0-D5827DA616FF}"/>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01101001</a:t>
              </a:r>
            </a:p>
          </p:txBody>
        </p:sp>
        <p:cxnSp>
          <p:nvCxnSpPr>
            <p:cNvPr id="43" name="Straight Arrow Connector 42">
              <a:extLst>
                <a:ext uri="{FF2B5EF4-FFF2-40B4-BE49-F238E27FC236}">
                  <a16:creationId xmlns:a16="http://schemas.microsoft.com/office/drawing/2014/main" id="{1BD95B27-ECAB-D849-1865-CD99149BE96C}"/>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0C60A90-BB19-967C-3E00-8842A7814DC9}"/>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05C7E61-2A8E-3E5A-C607-DE72EF2A83C7}"/>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2FF245EF-12D0-FE3E-8610-0C249DD1E159}"/>
              </a:ext>
            </a:extLst>
          </p:cNvPr>
          <p:cNvGrpSpPr/>
          <p:nvPr/>
        </p:nvGrpSpPr>
        <p:grpSpPr>
          <a:xfrm>
            <a:off x="409434" y="4698345"/>
            <a:ext cx="1207391" cy="882375"/>
            <a:chOff x="2877428" y="5151961"/>
            <a:chExt cx="1207391" cy="882375"/>
          </a:xfrm>
        </p:grpSpPr>
        <p:sp>
          <p:nvSpPr>
            <p:cNvPr id="2" name="Rectangle 1">
              <a:extLst>
                <a:ext uri="{FF2B5EF4-FFF2-40B4-BE49-F238E27FC236}">
                  <a16:creationId xmlns:a16="http://schemas.microsoft.com/office/drawing/2014/main" id="{65253530-96CA-3AEA-B828-D4A55E81AB82}"/>
                </a:ext>
              </a:extLst>
            </p:cNvPr>
            <p:cNvSpPr/>
            <p:nvPr/>
          </p:nvSpPr>
          <p:spPr>
            <a:xfrm>
              <a:off x="2877428" y="5541966"/>
              <a:ext cx="1207391" cy="492370"/>
            </a:xfrm>
            <a:prstGeom prst="rect">
              <a:avLst/>
            </a:prstGeom>
            <a:solidFill>
              <a:schemeClr val="accent2">
                <a:lumMod val="40000"/>
                <a:lumOff val="60000"/>
              </a:schemeClr>
            </a:solidFill>
            <a:ln w="38100">
              <a:solidFill>
                <a:srgbClr val="B14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00101001</a:t>
              </a:r>
            </a:p>
          </p:txBody>
        </p:sp>
        <p:cxnSp>
          <p:nvCxnSpPr>
            <p:cNvPr id="46" name="Straight Arrow Connector 45">
              <a:extLst>
                <a:ext uri="{FF2B5EF4-FFF2-40B4-BE49-F238E27FC236}">
                  <a16:creationId xmlns:a16="http://schemas.microsoft.com/office/drawing/2014/main" id="{50C731F4-72CB-4638-E215-6F04AA08136B}"/>
                </a:ext>
              </a:extLst>
            </p:cNvPr>
            <p:cNvCxnSpPr>
              <a:cxnSpLocks/>
            </p:cNvCxnSpPr>
            <p:nvPr/>
          </p:nvCxnSpPr>
          <p:spPr>
            <a:xfrm rot="16200000">
              <a:off x="3295573" y="5337513"/>
              <a:ext cx="371103" cy="0"/>
            </a:xfrm>
            <a:prstGeom prst="straightConnector1">
              <a:avLst/>
            </a:prstGeom>
            <a:ln w="57150">
              <a:solidFill>
                <a:srgbClr val="B14500"/>
              </a:solidFill>
              <a:tailEnd type="triangle"/>
            </a:ln>
          </p:spPr>
          <p:style>
            <a:lnRef idx="1">
              <a:schemeClr val="accent1"/>
            </a:lnRef>
            <a:fillRef idx="0">
              <a:schemeClr val="accent1"/>
            </a:fillRef>
            <a:effectRef idx="0">
              <a:schemeClr val="accent1"/>
            </a:effectRef>
            <a:fontRef idx="minor">
              <a:schemeClr val="tx1"/>
            </a:fontRef>
          </p:style>
        </p:cxnSp>
      </p:grpSp>
      <p:pic>
        <p:nvPicPr>
          <p:cNvPr id="12" name="Graphic 11" descr="Single gear with solid fill">
            <a:extLst>
              <a:ext uri="{FF2B5EF4-FFF2-40B4-BE49-F238E27FC236}">
                <a16:creationId xmlns:a16="http://schemas.microsoft.com/office/drawing/2014/main" id="{0A27B3F4-4D8F-23F1-422E-A937D91EFB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92" y="4223094"/>
            <a:ext cx="1728619" cy="1728619"/>
          </a:xfrm>
          <a:prstGeom prst="rect">
            <a:avLst/>
          </a:prstGeom>
        </p:spPr>
      </p:pic>
      <p:pic>
        <p:nvPicPr>
          <p:cNvPr id="40" name="Graphic 39" descr="Single gear with solid fill">
            <a:extLst>
              <a:ext uri="{FF2B5EF4-FFF2-40B4-BE49-F238E27FC236}">
                <a16:creationId xmlns:a16="http://schemas.microsoft.com/office/drawing/2014/main" id="{31A4B40C-CF86-BB49-8567-36967A9A8D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2818" y="4931760"/>
            <a:ext cx="1222338" cy="1222338"/>
          </a:xfrm>
          <a:prstGeom prst="rect">
            <a:avLst/>
          </a:prstGeom>
        </p:spPr>
      </p:pic>
      <p:pic>
        <p:nvPicPr>
          <p:cNvPr id="41" name="Graphic 40" descr="Single gear with solid fill">
            <a:extLst>
              <a:ext uri="{FF2B5EF4-FFF2-40B4-BE49-F238E27FC236}">
                <a16:creationId xmlns:a16="http://schemas.microsoft.com/office/drawing/2014/main" id="{D3857396-EAA9-C830-33EF-D5B3830256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9141" y="4678619"/>
            <a:ext cx="867553" cy="867553"/>
          </a:xfrm>
          <a:prstGeom prst="rect">
            <a:avLst/>
          </a:prstGeom>
        </p:spPr>
      </p:pic>
      <p:pic>
        <p:nvPicPr>
          <p:cNvPr id="55" name="Graphic 54" descr="Single gear with solid fill">
            <a:extLst>
              <a:ext uri="{FF2B5EF4-FFF2-40B4-BE49-F238E27FC236}">
                <a16:creationId xmlns:a16="http://schemas.microsoft.com/office/drawing/2014/main" id="{5EE1D193-DD1E-A877-C479-719E024B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64003" y="4281192"/>
            <a:ext cx="1728619" cy="1728619"/>
          </a:xfrm>
          <a:prstGeom prst="rect">
            <a:avLst/>
          </a:prstGeom>
        </p:spPr>
      </p:pic>
      <p:pic>
        <p:nvPicPr>
          <p:cNvPr id="56" name="Graphic 55" descr="Single gear with solid fill">
            <a:extLst>
              <a:ext uri="{FF2B5EF4-FFF2-40B4-BE49-F238E27FC236}">
                <a16:creationId xmlns:a16="http://schemas.microsoft.com/office/drawing/2014/main" id="{1B3970AB-0A3D-9B4E-AAC3-5E423811B3E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23729" y="4989858"/>
            <a:ext cx="1222338" cy="1222338"/>
          </a:xfrm>
          <a:prstGeom prst="rect">
            <a:avLst/>
          </a:prstGeom>
        </p:spPr>
      </p:pic>
      <p:pic>
        <p:nvPicPr>
          <p:cNvPr id="57" name="Graphic 56" descr="Single gear with solid fill">
            <a:extLst>
              <a:ext uri="{FF2B5EF4-FFF2-40B4-BE49-F238E27FC236}">
                <a16:creationId xmlns:a16="http://schemas.microsoft.com/office/drawing/2014/main" id="{0407CAA8-932F-D212-66F8-6B71BF9168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20052" y="4736717"/>
            <a:ext cx="867553" cy="867553"/>
          </a:xfrm>
          <a:prstGeom prst="rect">
            <a:avLst/>
          </a:prstGeom>
        </p:spPr>
      </p:pic>
    </p:spTree>
    <p:extLst>
      <p:ext uri="{BB962C8B-B14F-4D97-AF65-F5344CB8AC3E}">
        <p14:creationId xmlns:p14="http://schemas.microsoft.com/office/powerpoint/2010/main" val="78734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1000"/>
                                  </p:stCondLst>
                                  <p:childTnLst>
                                    <p:animMotion origin="layout" path="M 6.25E-7 -1.85185E-6 L -0.18542 0.21852 " pathEditMode="relative" rAng="0" ptsTypes="AA">
                                      <p:cBhvr>
                                        <p:cTn id="6" dur="3000" fill="hold"/>
                                        <p:tgtEl>
                                          <p:spTgt spid="20"/>
                                        </p:tgtEl>
                                        <p:attrNameLst>
                                          <p:attrName>ppt_x</p:attrName>
                                          <p:attrName>ppt_y</p:attrName>
                                        </p:attrNameLst>
                                      </p:cBhvr>
                                      <p:rCtr x="-9271" y="10926"/>
                                    </p:animMotion>
                                  </p:childTnLst>
                                </p:cTn>
                              </p:par>
                              <p:par>
                                <p:cTn id="7" presetID="6" presetClass="emph" presetSubtype="0" fill="hold" nodeType="withEffect">
                                  <p:stCondLst>
                                    <p:cond delay="1000"/>
                                  </p:stCondLst>
                                  <p:childTnLst>
                                    <p:animScale>
                                      <p:cBhvr>
                                        <p:cTn id="8" dur="2000" fill="hold"/>
                                        <p:tgtEl>
                                          <p:spTgt spid="20"/>
                                        </p:tgtEl>
                                      </p:cBhvr>
                                      <p:by x="25000" y="25000"/>
                                    </p:animScale>
                                  </p:childTnLst>
                                </p:cTn>
                              </p:par>
                              <p:par>
                                <p:cTn id="9" presetID="10" presetClass="exit" presetSubtype="0" fill="hold" nodeType="withEffect">
                                  <p:stCondLst>
                                    <p:cond delay="2500"/>
                                  </p:stCondLst>
                                  <p:childTnLst>
                                    <p:animEffect transition="out" filter="fade">
                                      <p:cBhvr>
                                        <p:cTn id="10" dur="1500"/>
                                        <p:tgtEl>
                                          <p:spTgt spid="20"/>
                                        </p:tgtEl>
                                      </p:cBhvr>
                                    </p:animEffect>
                                    <p:set>
                                      <p:cBhvr>
                                        <p:cTn id="11" dur="1" fill="hold">
                                          <p:stCondLst>
                                            <p:cond delay="1499"/>
                                          </p:stCondLst>
                                        </p:cTn>
                                        <p:tgtEl>
                                          <p:spTgt spid="20"/>
                                        </p:tgtEl>
                                        <p:attrNameLst>
                                          <p:attrName>style.visibility</p:attrName>
                                        </p:attrNameLst>
                                      </p:cBhvr>
                                      <p:to>
                                        <p:strVal val="hidden"/>
                                      </p:to>
                                    </p:set>
                                  </p:childTnLst>
                                </p:cTn>
                              </p:par>
                              <p:par>
                                <p:cTn id="12" presetID="8" presetClass="emph" presetSubtype="0" fill="hold" nodeType="withEffect">
                                  <p:stCondLst>
                                    <p:cond delay="2500"/>
                                  </p:stCondLst>
                                  <p:childTnLst>
                                    <p:animRot by="21600000">
                                      <p:cBhvr>
                                        <p:cTn id="13" dur="2000" fill="hold"/>
                                        <p:tgtEl>
                                          <p:spTgt spid="12"/>
                                        </p:tgtEl>
                                        <p:attrNameLst>
                                          <p:attrName>r</p:attrName>
                                        </p:attrNameLst>
                                      </p:cBhvr>
                                    </p:animRot>
                                  </p:childTnLst>
                                </p:cTn>
                              </p:par>
                              <p:par>
                                <p:cTn id="14" presetID="8" presetClass="emph" presetSubtype="0" fill="hold" nodeType="withEffect">
                                  <p:stCondLst>
                                    <p:cond delay="3000"/>
                                  </p:stCondLst>
                                  <p:childTnLst>
                                    <p:animRot by="21600000">
                                      <p:cBhvr>
                                        <p:cTn id="15" dur="2000" fill="hold"/>
                                        <p:tgtEl>
                                          <p:spTgt spid="40"/>
                                        </p:tgtEl>
                                        <p:attrNameLst>
                                          <p:attrName>r</p:attrName>
                                        </p:attrNameLst>
                                      </p:cBhvr>
                                    </p:animRot>
                                  </p:childTnLst>
                                </p:cTn>
                              </p:par>
                              <p:par>
                                <p:cTn id="16" presetID="8" presetClass="emph" presetSubtype="0" fill="hold" nodeType="withEffect">
                                  <p:stCondLst>
                                    <p:cond delay="3250"/>
                                  </p:stCondLst>
                                  <p:childTnLst>
                                    <p:animRot by="21600000">
                                      <p:cBhvr>
                                        <p:cTn id="17" dur="2000" fill="hold"/>
                                        <p:tgtEl>
                                          <p:spTgt spid="41"/>
                                        </p:tgtEl>
                                        <p:attrNameLst>
                                          <p:attrName>r</p:attrName>
                                        </p:attrNameLst>
                                      </p:cBhvr>
                                    </p:animRot>
                                  </p:childTnLst>
                                </p:cTn>
                              </p:par>
                            </p:childTnLst>
                          </p:cTn>
                        </p:par>
                        <p:par>
                          <p:cTn id="18" fill="hold">
                            <p:stCondLst>
                              <p:cond delay="5250"/>
                            </p:stCondLst>
                            <p:childTnLst>
                              <p:par>
                                <p:cTn id="19" presetID="10" presetClass="entr" presetSubtype="0"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childTnLst>
                                </p:cTn>
                              </p:par>
                              <p:par>
                                <p:cTn id="22" presetID="42" presetClass="path" presetSubtype="0" accel="50000" decel="50000" fill="hold" nodeType="withEffect">
                                  <p:stCondLst>
                                    <p:cond delay="0"/>
                                  </p:stCondLst>
                                  <p:childTnLst>
                                    <p:animMotion origin="layout" path="M -2.91667E-6 4.44444E-6 L 0.18503 0.08726 " pathEditMode="relative" rAng="0" ptsTypes="AA">
                                      <p:cBhvr>
                                        <p:cTn id="23" dur="2000" fill="hold"/>
                                        <p:tgtEl>
                                          <p:spTgt spid="21"/>
                                        </p:tgtEl>
                                        <p:attrNameLst>
                                          <p:attrName>ppt_x</p:attrName>
                                          <p:attrName>ppt_y</p:attrName>
                                        </p:attrNameLst>
                                      </p:cBhvr>
                                      <p:rCtr x="9245" y="43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5" y="1052896"/>
            <a:ext cx="11578602"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2. The data, along with the </a:t>
            </a:r>
            <a:r>
              <a:rPr lang="en-GB" b="1" dirty="0">
                <a:latin typeface="Calibri" panose="020F0502020204030204" pitchFamily="34" charset="0"/>
                <a:ea typeface="Calibri" panose="020F0502020204030204" pitchFamily="34" charset="0"/>
                <a:cs typeface="Times New Roman" panose="02020603050405020304" pitchFamily="18" charset="0"/>
              </a:rPr>
              <a:t>checksum</a:t>
            </a:r>
            <a:r>
              <a:rPr lang="en-GB" dirty="0">
                <a:latin typeface="Calibri" panose="020F0502020204030204" pitchFamily="34" charset="0"/>
                <a:ea typeface="Calibri" panose="020F0502020204030204" pitchFamily="34" charset="0"/>
                <a:cs typeface="Times New Roman" panose="02020603050405020304" pitchFamily="18" charset="0"/>
              </a:rPr>
              <a:t>, can now be transmitted.</a:t>
            </a: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Checksums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23" name="Group 22">
            <a:extLst>
              <a:ext uri="{FF2B5EF4-FFF2-40B4-BE49-F238E27FC236}">
                <a16:creationId xmlns:a16="http://schemas.microsoft.com/office/drawing/2014/main" id="{3B1B5E28-989E-7792-6BD9-1BF9247F3314}"/>
              </a:ext>
            </a:extLst>
          </p:cNvPr>
          <p:cNvGrpSpPr/>
          <p:nvPr/>
        </p:nvGrpSpPr>
        <p:grpSpPr>
          <a:xfrm>
            <a:off x="10264003" y="2690984"/>
            <a:ext cx="1859672" cy="1689772"/>
            <a:chOff x="4392654" y="2682339"/>
            <a:chExt cx="1194329" cy="1085215"/>
          </a:xfrm>
        </p:grpSpPr>
        <p:pic>
          <p:nvPicPr>
            <p:cNvPr id="24" name="Picture 23" descr="A picture containing text, electronics, display&#10;&#10;Description automatically generated">
              <a:extLst>
                <a:ext uri="{FF2B5EF4-FFF2-40B4-BE49-F238E27FC236}">
                  <a16:creationId xmlns:a16="http://schemas.microsoft.com/office/drawing/2014/main" id="{2EA74FE4-E362-BD62-5BFD-CA5F61965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25" name="TextBox 24">
              <a:extLst>
                <a:ext uri="{FF2B5EF4-FFF2-40B4-BE49-F238E27FC236}">
                  <a16:creationId xmlns:a16="http://schemas.microsoft.com/office/drawing/2014/main" id="{85E4657B-70F2-162B-F439-9206633B62A2}"/>
                </a:ext>
              </a:extLst>
            </p:cNvPr>
            <p:cNvSpPr txBox="1"/>
            <p:nvPr/>
          </p:nvSpPr>
          <p:spPr>
            <a:xfrm>
              <a:off x="4392654" y="3429000"/>
              <a:ext cx="1194329" cy="338554"/>
            </a:xfrm>
            <a:prstGeom prst="rect">
              <a:avLst/>
            </a:prstGeom>
            <a:noFill/>
          </p:spPr>
          <p:txBody>
            <a:bodyPr wrap="square" rtlCol="0">
              <a:spAutoFit/>
            </a:bodyPr>
            <a:lstStyle/>
            <a:p>
              <a:pPr algn="ctr"/>
              <a:r>
                <a:rPr lang="en-GB" sz="1600" b="1" dirty="0"/>
                <a:t>Destination</a:t>
              </a:r>
              <a:endParaRPr lang="en-GB" b="1" dirty="0"/>
            </a:p>
          </p:txBody>
        </p:sp>
      </p:grpSp>
      <p:grpSp>
        <p:nvGrpSpPr>
          <p:cNvPr id="26" name="Group 25">
            <a:extLst>
              <a:ext uri="{FF2B5EF4-FFF2-40B4-BE49-F238E27FC236}">
                <a16:creationId xmlns:a16="http://schemas.microsoft.com/office/drawing/2014/main" id="{B5FDE903-0774-86DB-95BB-4A1E0D586035}"/>
              </a:ext>
            </a:extLst>
          </p:cNvPr>
          <p:cNvGrpSpPr/>
          <p:nvPr/>
        </p:nvGrpSpPr>
        <p:grpSpPr>
          <a:xfrm>
            <a:off x="359703" y="2691426"/>
            <a:ext cx="1257122" cy="1689330"/>
            <a:chOff x="481384" y="3456432"/>
            <a:chExt cx="807356" cy="1084931"/>
          </a:xfrm>
        </p:grpSpPr>
        <p:sp>
          <p:nvSpPr>
            <p:cNvPr id="27" name="TextBox 26">
              <a:extLst>
                <a:ext uri="{FF2B5EF4-FFF2-40B4-BE49-F238E27FC236}">
                  <a16:creationId xmlns:a16="http://schemas.microsoft.com/office/drawing/2014/main" id="{1E27FE12-CD59-5334-A511-1B74819B282A}"/>
                </a:ext>
              </a:extLst>
            </p:cNvPr>
            <p:cNvSpPr txBox="1"/>
            <p:nvPr/>
          </p:nvSpPr>
          <p:spPr>
            <a:xfrm>
              <a:off x="492889" y="4202809"/>
              <a:ext cx="784346" cy="338554"/>
            </a:xfrm>
            <a:prstGeom prst="rect">
              <a:avLst/>
            </a:prstGeom>
            <a:noFill/>
          </p:spPr>
          <p:txBody>
            <a:bodyPr wrap="square" rtlCol="0">
              <a:spAutoFit/>
            </a:bodyPr>
            <a:lstStyle/>
            <a:p>
              <a:pPr algn="ctr"/>
              <a:r>
                <a:rPr lang="en-GB" sz="1600" b="1" dirty="0"/>
                <a:t>Source</a:t>
              </a:r>
              <a:endParaRPr lang="en-GB" b="1" dirty="0"/>
            </a:p>
          </p:txBody>
        </p:sp>
        <p:pic>
          <p:nvPicPr>
            <p:cNvPr id="28" name="Picture 27" descr="A picture containing text, electronics, display&#10;&#10;Description automatically generated">
              <a:extLst>
                <a:ext uri="{FF2B5EF4-FFF2-40B4-BE49-F238E27FC236}">
                  <a16:creationId xmlns:a16="http://schemas.microsoft.com/office/drawing/2014/main" id="{F18680F4-FE2F-5EF3-AA58-2D705FCBD8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grpSp>
        <p:nvGrpSpPr>
          <p:cNvPr id="3" name="Group 2">
            <a:extLst>
              <a:ext uri="{FF2B5EF4-FFF2-40B4-BE49-F238E27FC236}">
                <a16:creationId xmlns:a16="http://schemas.microsoft.com/office/drawing/2014/main" id="{44D9AE0A-EEA0-5002-6826-6E1F5D7ADC29}"/>
              </a:ext>
            </a:extLst>
          </p:cNvPr>
          <p:cNvGrpSpPr/>
          <p:nvPr/>
        </p:nvGrpSpPr>
        <p:grpSpPr>
          <a:xfrm>
            <a:off x="2654959" y="2126370"/>
            <a:ext cx="1217697" cy="4048456"/>
            <a:chOff x="2654959" y="2126370"/>
            <a:chExt cx="1217697" cy="4048456"/>
          </a:xfrm>
        </p:grpSpPr>
        <p:grpSp>
          <p:nvGrpSpPr>
            <p:cNvPr id="47" name="Group 46">
              <a:extLst>
                <a:ext uri="{FF2B5EF4-FFF2-40B4-BE49-F238E27FC236}">
                  <a16:creationId xmlns:a16="http://schemas.microsoft.com/office/drawing/2014/main" id="{8C48FD42-1D3A-BA8F-AB59-BF01EC6D83CE}"/>
                </a:ext>
              </a:extLst>
            </p:cNvPr>
            <p:cNvGrpSpPr/>
            <p:nvPr/>
          </p:nvGrpSpPr>
          <p:grpSpPr>
            <a:xfrm>
              <a:off x="2655368" y="2126370"/>
              <a:ext cx="1217288" cy="3145354"/>
              <a:chOff x="3114666" y="2362200"/>
              <a:chExt cx="1217288" cy="3145354"/>
            </a:xfrm>
          </p:grpSpPr>
          <p:sp>
            <p:nvSpPr>
              <p:cNvPr id="48" name="Rectangle 47">
                <a:extLst>
                  <a:ext uri="{FF2B5EF4-FFF2-40B4-BE49-F238E27FC236}">
                    <a16:creationId xmlns:a16="http://schemas.microsoft.com/office/drawing/2014/main" id="{61C132CA-0346-8598-8ACB-5CD8D7E839D3}"/>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49" name="Rectangle 48">
                <a:extLst>
                  <a:ext uri="{FF2B5EF4-FFF2-40B4-BE49-F238E27FC236}">
                    <a16:creationId xmlns:a16="http://schemas.microsoft.com/office/drawing/2014/main" id="{84115D1D-AB30-41ED-F685-2CB4D6343D36}"/>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50" name="Rectangle 49">
                <a:extLst>
                  <a:ext uri="{FF2B5EF4-FFF2-40B4-BE49-F238E27FC236}">
                    <a16:creationId xmlns:a16="http://schemas.microsoft.com/office/drawing/2014/main" id="{792A2915-0BAC-0949-E814-FB54A7E6FA4A}"/>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51" name="Rectangle 50">
                <a:extLst>
                  <a:ext uri="{FF2B5EF4-FFF2-40B4-BE49-F238E27FC236}">
                    <a16:creationId xmlns:a16="http://schemas.microsoft.com/office/drawing/2014/main" id="{B091F625-668C-76AE-8C04-3452BB05E694}"/>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cxnSp>
            <p:nvCxnSpPr>
              <p:cNvPr id="52" name="Straight Arrow Connector 51">
                <a:extLst>
                  <a:ext uri="{FF2B5EF4-FFF2-40B4-BE49-F238E27FC236}">
                    <a16:creationId xmlns:a16="http://schemas.microsoft.com/office/drawing/2014/main" id="{862A62D0-5985-AAD3-3CBE-A9E5DB4803D4}"/>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DE3475E-E7D3-0F04-E1E3-84A2887BF845}"/>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29D64CC-DE8D-61A7-FA15-42096C071EF4}"/>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9443264C-C36C-815D-14AE-62AA98DD4904}"/>
                </a:ext>
              </a:extLst>
            </p:cNvPr>
            <p:cNvGrpSpPr/>
            <p:nvPr/>
          </p:nvGrpSpPr>
          <p:grpSpPr>
            <a:xfrm>
              <a:off x="2654959" y="2126370"/>
              <a:ext cx="1217288" cy="3145354"/>
              <a:chOff x="3114666" y="2362200"/>
              <a:chExt cx="1217288" cy="3145354"/>
            </a:xfrm>
          </p:grpSpPr>
          <p:sp>
            <p:nvSpPr>
              <p:cNvPr id="5" name="Rectangle 4">
                <a:extLst>
                  <a:ext uri="{FF2B5EF4-FFF2-40B4-BE49-F238E27FC236}">
                    <a16:creationId xmlns:a16="http://schemas.microsoft.com/office/drawing/2014/main" id="{D07FF460-EF06-7B72-D013-5FC165233E77}"/>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11110100</a:t>
                </a:r>
              </a:p>
            </p:txBody>
          </p:sp>
          <p:sp>
            <p:nvSpPr>
              <p:cNvPr id="7" name="Rectangle 6">
                <a:extLst>
                  <a:ext uri="{FF2B5EF4-FFF2-40B4-BE49-F238E27FC236}">
                    <a16:creationId xmlns:a16="http://schemas.microsoft.com/office/drawing/2014/main" id="{F67FB3F1-B1D7-261B-8FEB-929A2E70264A}"/>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01010000</a:t>
                </a:r>
              </a:p>
            </p:txBody>
          </p:sp>
          <p:sp>
            <p:nvSpPr>
              <p:cNvPr id="8" name="Rectangle 7">
                <a:extLst>
                  <a:ext uri="{FF2B5EF4-FFF2-40B4-BE49-F238E27FC236}">
                    <a16:creationId xmlns:a16="http://schemas.microsoft.com/office/drawing/2014/main" id="{AB8ABCB3-96B2-CA33-DCA4-F91C9DA1C4A0}"/>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11101000</a:t>
                </a:r>
              </a:p>
            </p:txBody>
          </p:sp>
          <p:sp>
            <p:nvSpPr>
              <p:cNvPr id="9" name="Rectangle 8">
                <a:extLst>
                  <a:ext uri="{FF2B5EF4-FFF2-40B4-BE49-F238E27FC236}">
                    <a16:creationId xmlns:a16="http://schemas.microsoft.com/office/drawing/2014/main" id="{67F3F472-C232-067F-82E0-D5827DA616FF}"/>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01101001</a:t>
                </a:r>
              </a:p>
            </p:txBody>
          </p:sp>
          <p:cxnSp>
            <p:nvCxnSpPr>
              <p:cNvPr id="43" name="Straight Arrow Connector 42">
                <a:extLst>
                  <a:ext uri="{FF2B5EF4-FFF2-40B4-BE49-F238E27FC236}">
                    <a16:creationId xmlns:a16="http://schemas.microsoft.com/office/drawing/2014/main" id="{1BD95B27-ECAB-D849-1865-CD99149BE96C}"/>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0C60A90-BB19-967C-3E00-8842A7814DC9}"/>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05C7E61-2A8E-3E5A-C607-DE72EF2A83C7}"/>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2FF245EF-12D0-FE3E-8610-0C249DD1E159}"/>
                </a:ext>
              </a:extLst>
            </p:cNvPr>
            <p:cNvGrpSpPr/>
            <p:nvPr/>
          </p:nvGrpSpPr>
          <p:grpSpPr>
            <a:xfrm>
              <a:off x="2664856" y="5292451"/>
              <a:ext cx="1207391" cy="882375"/>
              <a:chOff x="2877428" y="5151961"/>
              <a:chExt cx="1207391" cy="882375"/>
            </a:xfrm>
          </p:grpSpPr>
          <p:sp>
            <p:nvSpPr>
              <p:cNvPr id="2" name="Rectangle 1">
                <a:extLst>
                  <a:ext uri="{FF2B5EF4-FFF2-40B4-BE49-F238E27FC236}">
                    <a16:creationId xmlns:a16="http://schemas.microsoft.com/office/drawing/2014/main" id="{65253530-96CA-3AEA-B828-D4A55E81AB82}"/>
                  </a:ext>
                </a:extLst>
              </p:cNvPr>
              <p:cNvSpPr/>
              <p:nvPr/>
            </p:nvSpPr>
            <p:spPr>
              <a:xfrm>
                <a:off x="2877428" y="5541966"/>
                <a:ext cx="1207391" cy="492370"/>
              </a:xfrm>
              <a:prstGeom prst="rect">
                <a:avLst/>
              </a:prstGeom>
              <a:solidFill>
                <a:schemeClr val="accent2">
                  <a:lumMod val="40000"/>
                  <a:lumOff val="60000"/>
                </a:schemeClr>
              </a:solidFill>
              <a:ln w="38100">
                <a:solidFill>
                  <a:srgbClr val="B14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00101001</a:t>
                </a:r>
              </a:p>
            </p:txBody>
          </p:sp>
          <p:cxnSp>
            <p:nvCxnSpPr>
              <p:cNvPr id="46" name="Straight Arrow Connector 45">
                <a:extLst>
                  <a:ext uri="{FF2B5EF4-FFF2-40B4-BE49-F238E27FC236}">
                    <a16:creationId xmlns:a16="http://schemas.microsoft.com/office/drawing/2014/main" id="{50C731F4-72CB-4638-E215-6F04AA08136B}"/>
                  </a:ext>
                </a:extLst>
              </p:cNvPr>
              <p:cNvCxnSpPr>
                <a:cxnSpLocks/>
              </p:cNvCxnSpPr>
              <p:nvPr/>
            </p:nvCxnSpPr>
            <p:spPr>
              <a:xfrm rot="16200000">
                <a:off x="3295573" y="5337513"/>
                <a:ext cx="371103" cy="0"/>
              </a:xfrm>
              <a:prstGeom prst="straightConnector1">
                <a:avLst/>
              </a:prstGeom>
              <a:ln w="57150">
                <a:solidFill>
                  <a:srgbClr val="B14500"/>
                </a:solidFill>
                <a:tailEnd type="triangle"/>
              </a:ln>
            </p:spPr>
            <p:style>
              <a:lnRef idx="1">
                <a:schemeClr val="accent1"/>
              </a:lnRef>
              <a:fillRef idx="0">
                <a:schemeClr val="accent1"/>
              </a:fillRef>
              <a:effectRef idx="0">
                <a:schemeClr val="accent1"/>
              </a:effectRef>
              <a:fontRef idx="minor">
                <a:schemeClr val="tx1"/>
              </a:fontRef>
            </p:style>
          </p:cxnSp>
        </p:grpSp>
      </p:grpSp>
      <p:pic>
        <p:nvPicPr>
          <p:cNvPr id="12" name="Graphic 11" descr="Single gear with solid fill">
            <a:extLst>
              <a:ext uri="{FF2B5EF4-FFF2-40B4-BE49-F238E27FC236}">
                <a16:creationId xmlns:a16="http://schemas.microsoft.com/office/drawing/2014/main" id="{0A27B3F4-4D8F-23F1-422E-A937D91EFB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92" y="4223094"/>
            <a:ext cx="1728619" cy="1728619"/>
          </a:xfrm>
          <a:prstGeom prst="rect">
            <a:avLst/>
          </a:prstGeom>
        </p:spPr>
      </p:pic>
      <p:pic>
        <p:nvPicPr>
          <p:cNvPr id="40" name="Graphic 39" descr="Single gear with solid fill">
            <a:extLst>
              <a:ext uri="{FF2B5EF4-FFF2-40B4-BE49-F238E27FC236}">
                <a16:creationId xmlns:a16="http://schemas.microsoft.com/office/drawing/2014/main" id="{31A4B40C-CF86-BB49-8567-36967A9A8D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2818" y="4931760"/>
            <a:ext cx="1222338" cy="1222338"/>
          </a:xfrm>
          <a:prstGeom prst="rect">
            <a:avLst/>
          </a:prstGeom>
        </p:spPr>
      </p:pic>
      <p:pic>
        <p:nvPicPr>
          <p:cNvPr id="41" name="Graphic 40" descr="Single gear with solid fill">
            <a:extLst>
              <a:ext uri="{FF2B5EF4-FFF2-40B4-BE49-F238E27FC236}">
                <a16:creationId xmlns:a16="http://schemas.microsoft.com/office/drawing/2014/main" id="{D3857396-EAA9-C830-33EF-D5B3830256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9141" y="4678619"/>
            <a:ext cx="867553" cy="867553"/>
          </a:xfrm>
          <a:prstGeom prst="rect">
            <a:avLst/>
          </a:prstGeom>
        </p:spPr>
      </p:pic>
      <p:pic>
        <p:nvPicPr>
          <p:cNvPr id="67" name="Graphic 66" descr="Single gear with solid fill">
            <a:extLst>
              <a:ext uri="{FF2B5EF4-FFF2-40B4-BE49-F238E27FC236}">
                <a16:creationId xmlns:a16="http://schemas.microsoft.com/office/drawing/2014/main" id="{90AD1B0C-647F-7FE9-AD31-96BCFBBA15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64003" y="4281192"/>
            <a:ext cx="1728619" cy="1728619"/>
          </a:xfrm>
          <a:prstGeom prst="rect">
            <a:avLst/>
          </a:prstGeom>
        </p:spPr>
      </p:pic>
      <p:pic>
        <p:nvPicPr>
          <p:cNvPr id="68" name="Graphic 67" descr="Single gear with solid fill">
            <a:extLst>
              <a:ext uri="{FF2B5EF4-FFF2-40B4-BE49-F238E27FC236}">
                <a16:creationId xmlns:a16="http://schemas.microsoft.com/office/drawing/2014/main" id="{6D8665A7-B8F9-B7A6-799A-6EBD7C2AF4F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23729" y="4989858"/>
            <a:ext cx="1222338" cy="1222338"/>
          </a:xfrm>
          <a:prstGeom prst="rect">
            <a:avLst/>
          </a:prstGeom>
        </p:spPr>
      </p:pic>
      <p:pic>
        <p:nvPicPr>
          <p:cNvPr id="69" name="Graphic 68" descr="Single gear with solid fill">
            <a:extLst>
              <a:ext uri="{FF2B5EF4-FFF2-40B4-BE49-F238E27FC236}">
                <a16:creationId xmlns:a16="http://schemas.microsoft.com/office/drawing/2014/main" id="{3B3C7882-48BA-0FA1-1AB7-2687039DF66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20052" y="4736717"/>
            <a:ext cx="867553" cy="867553"/>
          </a:xfrm>
          <a:prstGeom prst="rect">
            <a:avLst/>
          </a:prstGeom>
        </p:spPr>
      </p:pic>
    </p:spTree>
    <p:extLst>
      <p:ext uri="{BB962C8B-B14F-4D97-AF65-F5344CB8AC3E}">
        <p14:creationId xmlns:p14="http://schemas.microsoft.com/office/powerpoint/2010/main" val="385705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1.875E-6 -2.59259E-6 L 0.47747 -2.59259E-6 " pathEditMode="relative" rAng="0" ptsTypes="AA">
                                      <p:cBhvr>
                                        <p:cTn id="6" dur="3000" fill="hold"/>
                                        <p:tgtEl>
                                          <p:spTgt spid="3"/>
                                        </p:tgtEl>
                                        <p:attrNameLst>
                                          <p:attrName>ppt_x</p:attrName>
                                          <p:attrName>ppt_y</p:attrName>
                                        </p:attrNameLst>
                                      </p:cBhvr>
                                      <p:rCtr x="2386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5" y="1052896"/>
            <a:ext cx="11578602" cy="369332"/>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3. The receiving device uses the same pre-agreed algorithm to recalculate the </a:t>
            </a:r>
            <a:r>
              <a:rPr lang="en-GB" b="1" dirty="0">
                <a:latin typeface="Calibri" panose="020F0502020204030204" pitchFamily="34" charset="0"/>
                <a:ea typeface="Calibri" panose="020F0502020204030204" pitchFamily="34" charset="0"/>
                <a:cs typeface="Times New Roman" panose="02020603050405020304" pitchFamily="18" charset="0"/>
              </a:rPr>
              <a:t>checksum</a:t>
            </a:r>
            <a:r>
              <a:rPr lang="en-GB" dirty="0">
                <a:latin typeface="Calibri" panose="020F0502020204030204" pitchFamily="34" charset="0"/>
                <a:ea typeface="Calibri" panose="020F0502020204030204" pitchFamily="34" charset="0"/>
                <a:cs typeface="Times New Roman" panose="02020603050405020304" pitchFamily="18" charset="0"/>
              </a:rPr>
              <a:t>.</a:t>
            </a: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Checksums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23" name="Group 22">
            <a:extLst>
              <a:ext uri="{FF2B5EF4-FFF2-40B4-BE49-F238E27FC236}">
                <a16:creationId xmlns:a16="http://schemas.microsoft.com/office/drawing/2014/main" id="{3B1B5E28-989E-7792-6BD9-1BF9247F3314}"/>
              </a:ext>
            </a:extLst>
          </p:cNvPr>
          <p:cNvGrpSpPr/>
          <p:nvPr/>
        </p:nvGrpSpPr>
        <p:grpSpPr>
          <a:xfrm>
            <a:off x="10264003" y="2690984"/>
            <a:ext cx="1859672" cy="1689772"/>
            <a:chOff x="4392654" y="2682339"/>
            <a:chExt cx="1194329" cy="1085215"/>
          </a:xfrm>
        </p:grpSpPr>
        <p:pic>
          <p:nvPicPr>
            <p:cNvPr id="24" name="Picture 23" descr="A picture containing text, electronics, display&#10;&#10;Description automatically generated">
              <a:extLst>
                <a:ext uri="{FF2B5EF4-FFF2-40B4-BE49-F238E27FC236}">
                  <a16:creationId xmlns:a16="http://schemas.microsoft.com/office/drawing/2014/main" id="{2EA74FE4-E362-BD62-5BFD-CA5F61965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25" name="TextBox 24">
              <a:extLst>
                <a:ext uri="{FF2B5EF4-FFF2-40B4-BE49-F238E27FC236}">
                  <a16:creationId xmlns:a16="http://schemas.microsoft.com/office/drawing/2014/main" id="{85E4657B-70F2-162B-F439-9206633B62A2}"/>
                </a:ext>
              </a:extLst>
            </p:cNvPr>
            <p:cNvSpPr txBox="1"/>
            <p:nvPr/>
          </p:nvSpPr>
          <p:spPr>
            <a:xfrm>
              <a:off x="4392654" y="3429000"/>
              <a:ext cx="1194329" cy="338554"/>
            </a:xfrm>
            <a:prstGeom prst="rect">
              <a:avLst/>
            </a:prstGeom>
            <a:noFill/>
          </p:spPr>
          <p:txBody>
            <a:bodyPr wrap="square" rtlCol="0">
              <a:spAutoFit/>
            </a:bodyPr>
            <a:lstStyle/>
            <a:p>
              <a:pPr algn="ctr"/>
              <a:r>
                <a:rPr lang="en-GB" sz="1600" b="1" dirty="0"/>
                <a:t>Destination</a:t>
              </a:r>
              <a:endParaRPr lang="en-GB" b="1" dirty="0"/>
            </a:p>
          </p:txBody>
        </p:sp>
      </p:grpSp>
      <p:grpSp>
        <p:nvGrpSpPr>
          <p:cNvPr id="26" name="Group 25">
            <a:extLst>
              <a:ext uri="{FF2B5EF4-FFF2-40B4-BE49-F238E27FC236}">
                <a16:creationId xmlns:a16="http://schemas.microsoft.com/office/drawing/2014/main" id="{B5FDE903-0774-86DB-95BB-4A1E0D586035}"/>
              </a:ext>
            </a:extLst>
          </p:cNvPr>
          <p:cNvGrpSpPr/>
          <p:nvPr/>
        </p:nvGrpSpPr>
        <p:grpSpPr>
          <a:xfrm>
            <a:off x="359703" y="2691426"/>
            <a:ext cx="1257122" cy="1689330"/>
            <a:chOff x="481384" y="3456432"/>
            <a:chExt cx="807356" cy="1084931"/>
          </a:xfrm>
        </p:grpSpPr>
        <p:sp>
          <p:nvSpPr>
            <p:cNvPr id="27" name="TextBox 26">
              <a:extLst>
                <a:ext uri="{FF2B5EF4-FFF2-40B4-BE49-F238E27FC236}">
                  <a16:creationId xmlns:a16="http://schemas.microsoft.com/office/drawing/2014/main" id="{1E27FE12-CD59-5334-A511-1B74819B282A}"/>
                </a:ext>
              </a:extLst>
            </p:cNvPr>
            <p:cNvSpPr txBox="1"/>
            <p:nvPr/>
          </p:nvSpPr>
          <p:spPr>
            <a:xfrm>
              <a:off x="492889" y="4202809"/>
              <a:ext cx="784346" cy="338554"/>
            </a:xfrm>
            <a:prstGeom prst="rect">
              <a:avLst/>
            </a:prstGeom>
            <a:noFill/>
          </p:spPr>
          <p:txBody>
            <a:bodyPr wrap="square" rtlCol="0">
              <a:spAutoFit/>
            </a:bodyPr>
            <a:lstStyle/>
            <a:p>
              <a:pPr algn="ctr"/>
              <a:r>
                <a:rPr lang="en-GB" sz="1600" b="1" dirty="0"/>
                <a:t>Source</a:t>
              </a:r>
              <a:endParaRPr lang="en-GB" b="1" dirty="0"/>
            </a:p>
          </p:txBody>
        </p:sp>
        <p:pic>
          <p:nvPicPr>
            <p:cNvPr id="28" name="Picture 27" descr="A picture containing text, electronics, display&#10;&#10;Description automatically generated">
              <a:extLst>
                <a:ext uri="{FF2B5EF4-FFF2-40B4-BE49-F238E27FC236}">
                  <a16:creationId xmlns:a16="http://schemas.microsoft.com/office/drawing/2014/main" id="{F18680F4-FE2F-5EF3-AA58-2D705FCBD8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pic>
        <p:nvPicPr>
          <p:cNvPr id="12" name="Graphic 11" descr="Single gear with solid fill">
            <a:extLst>
              <a:ext uri="{FF2B5EF4-FFF2-40B4-BE49-F238E27FC236}">
                <a16:creationId xmlns:a16="http://schemas.microsoft.com/office/drawing/2014/main" id="{0A27B3F4-4D8F-23F1-422E-A937D91EFB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92" y="4223094"/>
            <a:ext cx="1728619" cy="1728619"/>
          </a:xfrm>
          <a:prstGeom prst="rect">
            <a:avLst/>
          </a:prstGeom>
        </p:spPr>
      </p:pic>
      <p:pic>
        <p:nvPicPr>
          <p:cNvPr id="40" name="Graphic 39" descr="Single gear with solid fill">
            <a:extLst>
              <a:ext uri="{FF2B5EF4-FFF2-40B4-BE49-F238E27FC236}">
                <a16:creationId xmlns:a16="http://schemas.microsoft.com/office/drawing/2014/main" id="{31A4B40C-CF86-BB49-8567-36967A9A8D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2818" y="4931760"/>
            <a:ext cx="1222338" cy="1222338"/>
          </a:xfrm>
          <a:prstGeom prst="rect">
            <a:avLst/>
          </a:prstGeom>
        </p:spPr>
      </p:pic>
      <p:pic>
        <p:nvPicPr>
          <p:cNvPr id="41" name="Graphic 40" descr="Single gear with solid fill">
            <a:extLst>
              <a:ext uri="{FF2B5EF4-FFF2-40B4-BE49-F238E27FC236}">
                <a16:creationId xmlns:a16="http://schemas.microsoft.com/office/drawing/2014/main" id="{D3857396-EAA9-C830-33EF-D5B3830256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9141" y="4678619"/>
            <a:ext cx="867553" cy="867553"/>
          </a:xfrm>
          <a:prstGeom prst="rect">
            <a:avLst/>
          </a:prstGeom>
        </p:spPr>
      </p:pic>
      <p:grpSp>
        <p:nvGrpSpPr>
          <p:cNvPr id="34" name="Group 33">
            <a:extLst>
              <a:ext uri="{FF2B5EF4-FFF2-40B4-BE49-F238E27FC236}">
                <a16:creationId xmlns:a16="http://schemas.microsoft.com/office/drawing/2014/main" id="{9E654322-AD8F-726B-5C3B-7789C00A1138}"/>
              </a:ext>
            </a:extLst>
          </p:cNvPr>
          <p:cNvGrpSpPr/>
          <p:nvPr/>
        </p:nvGrpSpPr>
        <p:grpSpPr>
          <a:xfrm>
            <a:off x="8470227" y="2126370"/>
            <a:ext cx="1217288" cy="3145354"/>
            <a:chOff x="3114666" y="2362200"/>
            <a:chExt cx="1217288" cy="3145354"/>
          </a:xfrm>
        </p:grpSpPr>
        <p:sp>
          <p:nvSpPr>
            <p:cNvPr id="60" name="Rectangle 59">
              <a:extLst>
                <a:ext uri="{FF2B5EF4-FFF2-40B4-BE49-F238E27FC236}">
                  <a16:creationId xmlns:a16="http://schemas.microsoft.com/office/drawing/2014/main" id="{BACFC78B-B816-A87D-A93A-21DAA4271107}"/>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61" name="Rectangle 60">
              <a:extLst>
                <a:ext uri="{FF2B5EF4-FFF2-40B4-BE49-F238E27FC236}">
                  <a16:creationId xmlns:a16="http://schemas.microsoft.com/office/drawing/2014/main" id="{42DC1090-C85D-56A1-ED61-AF5FE2795285}"/>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62" name="Rectangle 61">
              <a:extLst>
                <a:ext uri="{FF2B5EF4-FFF2-40B4-BE49-F238E27FC236}">
                  <a16:creationId xmlns:a16="http://schemas.microsoft.com/office/drawing/2014/main" id="{80B24170-E7BF-FDEF-53B7-E198BFE3094F}"/>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63" name="Rectangle 62">
              <a:extLst>
                <a:ext uri="{FF2B5EF4-FFF2-40B4-BE49-F238E27FC236}">
                  <a16:creationId xmlns:a16="http://schemas.microsoft.com/office/drawing/2014/main" id="{284B00E7-505B-552C-D745-2308E30DA009}"/>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cxnSp>
          <p:nvCxnSpPr>
            <p:cNvPr id="64" name="Straight Arrow Connector 63">
              <a:extLst>
                <a:ext uri="{FF2B5EF4-FFF2-40B4-BE49-F238E27FC236}">
                  <a16:creationId xmlns:a16="http://schemas.microsoft.com/office/drawing/2014/main" id="{0D73A19B-78D6-9F3E-8ACF-84CBF52D61B4}"/>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5D4CE0D-1CDE-718C-A875-5EADA0CCD107}"/>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D29F091-0410-87B7-22EC-BCBA0171025B}"/>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4209C744-EE09-7E3C-D835-75C7D00FFFD1}"/>
              </a:ext>
            </a:extLst>
          </p:cNvPr>
          <p:cNvGrpSpPr/>
          <p:nvPr/>
        </p:nvGrpSpPr>
        <p:grpSpPr>
          <a:xfrm>
            <a:off x="8469818" y="2126370"/>
            <a:ext cx="1217288" cy="3145354"/>
            <a:chOff x="3114666" y="2362200"/>
            <a:chExt cx="1217288" cy="3145354"/>
          </a:xfrm>
        </p:grpSpPr>
        <p:sp>
          <p:nvSpPr>
            <p:cNvPr id="39" name="Rectangle 38">
              <a:extLst>
                <a:ext uri="{FF2B5EF4-FFF2-40B4-BE49-F238E27FC236}">
                  <a16:creationId xmlns:a16="http://schemas.microsoft.com/office/drawing/2014/main" id="{88FB96AA-6D54-25A6-EB13-5036491B58F5}"/>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11110100</a:t>
              </a:r>
            </a:p>
          </p:txBody>
        </p:sp>
        <p:sp>
          <p:nvSpPr>
            <p:cNvPr id="42" name="Rectangle 41">
              <a:extLst>
                <a:ext uri="{FF2B5EF4-FFF2-40B4-BE49-F238E27FC236}">
                  <a16:creationId xmlns:a16="http://schemas.microsoft.com/office/drawing/2014/main" id="{12F60CE1-FE1D-6C9A-6E67-C31D3D1915E2}"/>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01010000</a:t>
              </a:r>
            </a:p>
          </p:txBody>
        </p:sp>
        <p:sp>
          <p:nvSpPr>
            <p:cNvPr id="55" name="Rectangle 54">
              <a:extLst>
                <a:ext uri="{FF2B5EF4-FFF2-40B4-BE49-F238E27FC236}">
                  <a16:creationId xmlns:a16="http://schemas.microsoft.com/office/drawing/2014/main" id="{20AFCA99-6B8A-D3DC-20AE-7F684F8CFE27}"/>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11101000</a:t>
              </a:r>
            </a:p>
          </p:txBody>
        </p:sp>
        <p:sp>
          <p:nvSpPr>
            <p:cNvPr id="56" name="Rectangle 55">
              <a:extLst>
                <a:ext uri="{FF2B5EF4-FFF2-40B4-BE49-F238E27FC236}">
                  <a16:creationId xmlns:a16="http://schemas.microsoft.com/office/drawing/2014/main" id="{429C95AD-2629-D5AB-DE6A-91A291F2CC9D}"/>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01101001</a:t>
              </a:r>
            </a:p>
          </p:txBody>
        </p:sp>
        <p:cxnSp>
          <p:nvCxnSpPr>
            <p:cNvPr id="57" name="Straight Arrow Connector 56">
              <a:extLst>
                <a:ext uri="{FF2B5EF4-FFF2-40B4-BE49-F238E27FC236}">
                  <a16:creationId xmlns:a16="http://schemas.microsoft.com/office/drawing/2014/main" id="{211E03B6-E5C7-9CE3-976B-00BE59E332C2}"/>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738CD8BB-D7A0-44EB-1374-D423E20DD2E7}"/>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2C7F6AE-9032-2793-A7DF-9BDE3A150826}"/>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D36994BD-F8C5-6ACC-5D7D-4A446D860621}"/>
              </a:ext>
            </a:extLst>
          </p:cNvPr>
          <p:cNvGrpSpPr/>
          <p:nvPr/>
        </p:nvGrpSpPr>
        <p:grpSpPr>
          <a:xfrm>
            <a:off x="8479715" y="5292451"/>
            <a:ext cx="1207391" cy="882375"/>
            <a:chOff x="2877428" y="5151961"/>
            <a:chExt cx="1207391" cy="882375"/>
          </a:xfrm>
        </p:grpSpPr>
        <p:sp>
          <p:nvSpPr>
            <p:cNvPr id="37" name="Rectangle 36">
              <a:extLst>
                <a:ext uri="{FF2B5EF4-FFF2-40B4-BE49-F238E27FC236}">
                  <a16:creationId xmlns:a16="http://schemas.microsoft.com/office/drawing/2014/main" id="{247210D0-7758-9C51-50A0-FA93755552B2}"/>
                </a:ext>
              </a:extLst>
            </p:cNvPr>
            <p:cNvSpPr/>
            <p:nvPr/>
          </p:nvSpPr>
          <p:spPr>
            <a:xfrm>
              <a:off x="2877428" y="5541966"/>
              <a:ext cx="1207391" cy="492370"/>
            </a:xfrm>
            <a:prstGeom prst="rect">
              <a:avLst/>
            </a:prstGeom>
            <a:solidFill>
              <a:schemeClr val="accent2">
                <a:lumMod val="40000"/>
                <a:lumOff val="60000"/>
              </a:schemeClr>
            </a:solidFill>
            <a:ln w="38100">
              <a:solidFill>
                <a:srgbClr val="B14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00101001</a:t>
              </a:r>
            </a:p>
          </p:txBody>
        </p:sp>
        <p:cxnSp>
          <p:nvCxnSpPr>
            <p:cNvPr id="38" name="Straight Arrow Connector 37">
              <a:extLst>
                <a:ext uri="{FF2B5EF4-FFF2-40B4-BE49-F238E27FC236}">
                  <a16:creationId xmlns:a16="http://schemas.microsoft.com/office/drawing/2014/main" id="{8C07C86F-3152-E331-54DE-5689C1E90DA3}"/>
                </a:ext>
              </a:extLst>
            </p:cNvPr>
            <p:cNvCxnSpPr>
              <a:cxnSpLocks/>
            </p:cNvCxnSpPr>
            <p:nvPr/>
          </p:nvCxnSpPr>
          <p:spPr>
            <a:xfrm rot="16200000">
              <a:off x="3295573" y="5337513"/>
              <a:ext cx="371103" cy="0"/>
            </a:xfrm>
            <a:prstGeom prst="straightConnector1">
              <a:avLst/>
            </a:prstGeom>
            <a:ln w="57150">
              <a:solidFill>
                <a:srgbClr val="B145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8719446F-C0F1-8A9F-F13E-6BE6078BCE67}"/>
              </a:ext>
            </a:extLst>
          </p:cNvPr>
          <p:cNvGrpSpPr/>
          <p:nvPr/>
        </p:nvGrpSpPr>
        <p:grpSpPr>
          <a:xfrm>
            <a:off x="8461722" y="2127942"/>
            <a:ext cx="1217288" cy="3145354"/>
            <a:chOff x="3114666" y="2362200"/>
            <a:chExt cx="1217288" cy="3145354"/>
          </a:xfrm>
        </p:grpSpPr>
        <p:sp>
          <p:nvSpPr>
            <p:cNvPr id="71" name="Rectangle 70">
              <a:extLst>
                <a:ext uri="{FF2B5EF4-FFF2-40B4-BE49-F238E27FC236}">
                  <a16:creationId xmlns:a16="http://schemas.microsoft.com/office/drawing/2014/main" id="{D5B92AA0-ACD4-6C36-4589-F333A0C4A6D6}"/>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11110100</a:t>
              </a:r>
            </a:p>
          </p:txBody>
        </p:sp>
        <p:sp>
          <p:nvSpPr>
            <p:cNvPr id="72" name="Rectangle 71">
              <a:extLst>
                <a:ext uri="{FF2B5EF4-FFF2-40B4-BE49-F238E27FC236}">
                  <a16:creationId xmlns:a16="http://schemas.microsoft.com/office/drawing/2014/main" id="{1E1F41BB-A2A7-B53C-03DA-190A0BCFCB94}"/>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01010000</a:t>
              </a:r>
            </a:p>
          </p:txBody>
        </p:sp>
        <p:sp>
          <p:nvSpPr>
            <p:cNvPr id="73" name="Rectangle 72">
              <a:extLst>
                <a:ext uri="{FF2B5EF4-FFF2-40B4-BE49-F238E27FC236}">
                  <a16:creationId xmlns:a16="http://schemas.microsoft.com/office/drawing/2014/main" id="{EBB77181-1768-4072-DA64-70A4327C1717}"/>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11101000</a:t>
              </a:r>
            </a:p>
          </p:txBody>
        </p:sp>
        <p:sp>
          <p:nvSpPr>
            <p:cNvPr id="74" name="Rectangle 73">
              <a:extLst>
                <a:ext uri="{FF2B5EF4-FFF2-40B4-BE49-F238E27FC236}">
                  <a16:creationId xmlns:a16="http://schemas.microsoft.com/office/drawing/2014/main" id="{8981CD04-E73F-EA5A-A90A-DB194660B608}"/>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01101001</a:t>
              </a:r>
            </a:p>
          </p:txBody>
        </p:sp>
        <p:cxnSp>
          <p:nvCxnSpPr>
            <p:cNvPr id="75" name="Straight Arrow Connector 74">
              <a:extLst>
                <a:ext uri="{FF2B5EF4-FFF2-40B4-BE49-F238E27FC236}">
                  <a16:creationId xmlns:a16="http://schemas.microsoft.com/office/drawing/2014/main" id="{7A6FB535-6D60-8DC2-86C6-52F4B95F948E}"/>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2E19278-E284-E32A-86FC-D7FBCA3D805A}"/>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7AB31F7-0FB6-2E33-FD39-9426384CDB24}"/>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82" name="Rectangle 81">
            <a:extLst>
              <a:ext uri="{FF2B5EF4-FFF2-40B4-BE49-F238E27FC236}">
                <a16:creationId xmlns:a16="http://schemas.microsoft.com/office/drawing/2014/main" id="{B2D5AB24-248D-B3E8-06AD-385DEDAC8BAE}"/>
              </a:ext>
            </a:extLst>
          </p:cNvPr>
          <p:cNvSpPr/>
          <p:nvPr/>
        </p:nvSpPr>
        <p:spPr>
          <a:xfrm>
            <a:off x="10615008" y="5144101"/>
            <a:ext cx="1207391" cy="492370"/>
          </a:xfrm>
          <a:prstGeom prst="rect">
            <a:avLst/>
          </a:prstGeom>
          <a:solidFill>
            <a:schemeClr val="accent2">
              <a:lumMod val="40000"/>
              <a:lumOff val="60000"/>
            </a:schemeClr>
          </a:solidFill>
          <a:ln w="38100">
            <a:solidFill>
              <a:srgbClr val="B14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00101001</a:t>
            </a:r>
          </a:p>
        </p:txBody>
      </p:sp>
      <p:pic>
        <p:nvPicPr>
          <p:cNvPr id="78" name="Graphic 77" descr="Single gear with solid fill">
            <a:extLst>
              <a:ext uri="{FF2B5EF4-FFF2-40B4-BE49-F238E27FC236}">
                <a16:creationId xmlns:a16="http://schemas.microsoft.com/office/drawing/2014/main" id="{2C40B84F-F23C-FE93-7B0C-AF473C111C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58549" y="4281192"/>
            <a:ext cx="1728619" cy="1728619"/>
          </a:xfrm>
          <a:prstGeom prst="rect">
            <a:avLst/>
          </a:prstGeom>
        </p:spPr>
      </p:pic>
      <p:pic>
        <p:nvPicPr>
          <p:cNvPr id="79" name="Graphic 78" descr="Single gear with solid fill">
            <a:extLst>
              <a:ext uri="{FF2B5EF4-FFF2-40B4-BE49-F238E27FC236}">
                <a16:creationId xmlns:a16="http://schemas.microsoft.com/office/drawing/2014/main" id="{AED94083-24E7-BB1E-A6D1-6003DFBACDE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18275" y="4989858"/>
            <a:ext cx="1222338" cy="1222338"/>
          </a:xfrm>
          <a:prstGeom prst="rect">
            <a:avLst/>
          </a:prstGeom>
        </p:spPr>
      </p:pic>
      <p:pic>
        <p:nvPicPr>
          <p:cNvPr id="80" name="Graphic 79" descr="Single gear with solid fill">
            <a:extLst>
              <a:ext uri="{FF2B5EF4-FFF2-40B4-BE49-F238E27FC236}">
                <a16:creationId xmlns:a16="http://schemas.microsoft.com/office/drawing/2014/main" id="{B692EC58-1729-B03A-140A-E611AB1822E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14598" y="4736717"/>
            <a:ext cx="867553" cy="867553"/>
          </a:xfrm>
          <a:prstGeom prst="rect">
            <a:avLst/>
          </a:prstGeom>
        </p:spPr>
      </p:pic>
    </p:spTree>
    <p:extLst>
      <p:ext uri="{BB962C8B-B14F-4D97-AF65-F5344CB8AC3E}">
        <p14:creationId xmlns:p14="http://schemas.microsoft.com/office/powerpoint/2010/main" val="308768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1000"/>
                                  </p:stCondLst>
                                  <p:childTnLst>
                                    <p:animMotion origin="layout" path="M -2.08333E-7 -3.33333E-6 L 0.17227 0.21829 " pathEditMode="relative" rAng="0" ptsTypes="AA">
                                      <p:cBhvr>
                                        <p:cTn id="6" dur="3000" fill="hold"/>
                                        <p:tgtEl>
                                          <p:spTgt spid="70"/>
                                        </p:tgtEl>
                                        <p:attrNameLst>
                                          <p:attrName>ppt_x</p:attrName>
                                          <p:attrName>ppt_y</p:attrName>
                                        </p:attrNameLst>
                                      </p:cBhvr>
                                      <p:rCtr x="8607" y="10903"/>
                                    </p:animMotion>
                                  </p:childTnLst>
                                </p:cTn>
                              </p:par>
                              <p:par>
                                <p:cTn id="7" presetID="6" presetClass="emph" presetSubtype="0" fill="hold" nodeType="withEffect">
                                  <p:stCondLst>
                                    <p:cond delay="1000"/>
                                  </p:stCondLst>
                                  <p:childTnLst>
                                    <p:animScale>
                                      <p:cBhvr>
                                        <p:cTn id="8" dur="2000" fill="hold"/>
                                        <p:tgtEl>
                                          <p:spTgt spid="70"/>
                                        </p:tgtEl>
                                      </p:cBhvr>
                                      <p:by x="25000" y="25000"/>
                                    </p:animScale>
                                  </p:childTnLst>
                                </p:cTn>
                              </p:par>
                              <p:par>
                                <p:cTn id="9" presetID="10" presetClass="exit" presetSubtype="0" fill="hold" nodeType="withEffect">
                                  <p:stCondLst>
                                    <p:cond delay="2500"/>
                                  </p:stCondLst>
                                  <p:childTnLst>
                                    <p:animEffect transition="out" filter="fade">
                                      <p:cBhvr>
                                        <p:cTn id="10" dur="1500"/>
                                        <p:tgtEl>
                                          <p:spTgt spid="70"/>
                                        </p:tgtEl>
                                      </p:cBhvr>
                                    </p:animEffect>
                                    <p:set>
                                      <p:cBhvr>
                                        <p:cTn id="11" dur="1" fill="hold">
                                          <p:stCondLst>
                                            <p:cond delay="1499"/>
                                          </p:stCondLst>
                                        </p:cTn>
                                        <p:tgtEl>
                                          <p:spTgt spid="70"/>
                                        </p:tgtEl>
                                        <p:attrNameLst>
                                          <p:attrName>style.visibility</p:attrName>
                                        </p:attrNameLst>
                                      </p:cBhvr>
                                      <p:to>
                                        <p:strVal val="hidden"/>
                                      </p:to>
                                    </p:set>
                                  </p:childTnLst>
                                </p:cTn>
                              </p:par>
                              <p:par>
                                <p:cTn id="12" presetID="8" presetClass="emph" presetSubtype="0" fill="hold" nodeType="withEffect">
                                  <p:stCondLst>
                                    <p:cond delay="2500"/>
                                  </p:stCondLst>
                                  <p:childTnLst>
                                    <p:animRot by="21600000">
                                      <p:cBhvr>
                                        <p:cTn id="13" dur="2000" fill="hold"/>
                                        <p:tgtEl>
                                          <p:spTgt spid="78"/>
                                        </p:tgtEl>
                                        <p:attrNameLst>
                                          <p:attrName>r</p:attrName>
                                        </p:attrNameLst>
                                      </p:cBhvr>
                                    </p:animRot>
                                  </p:childTnLst>
                                </p:cTn>
                              </p:par>
                              <p:par>
                                <p:cTn id="14" presetID="8" presetClass="emph" presetSubtype="0" fill="hold" nodeType="withEffect">
                                  <p:stCondLst>
                                    <p:cond delay="3000"/>
                                  </p:stCondLst>
                                  <p:childTnLst>
                                    <p:animRot by="21600000">
                                      <p:cBhvr>
                                        <p:cTn id="15" dur="2000" fill="hold"/>
                                        <p:tgtEl>
                                          <p:spTgt spid="79"/>
                                        </p:tgtEl>
                                        <p:attrNameLst>
                                          <p:attrName>r</p:attrName>
                                        </p:attrNameLst>
                                      </p:cBhvr>
                                    </p:animRot>
                                  </p:childTnLst>
                                </p:cTn>
                              </p:par>
                              <p:par>
                                <p:cTn id="16" presetID="8" presetClass="emph" presetSubtype="0" fill="hold" nodeType="withEffect">
                                  <p:stCondLst>
                                    <p:cond delay="3250"/>
                                  </p:stCondLst>
                                  <p:childTnLst>
                                    <p:animRot by="21600000">
                                      <p:cBhvr>
                                        <p:cTn id="17" dur="2000" fill="hold"/>
                                        <p:tgtEl>
                                          <p:spTgt spid="80"/>
                                        </p:tgtEl>
                                        <p:attrNameLst>
                                          <p:attrName>r</p:attrName>
                                        </p:attrNameLst>
                                      </p:cBhvr>
                                    </p:animRot>
                                  </p:childTnLst>
                                </p:cTn>
                              </p:par>
                            </p:childTnLst>
                          </p:cTn>
                        </p:par>
                        <p:par>
                          <p:cTn id="18" fill="hold">
                            <p:stCondLst>
                              <p:cond delay="5250"/>
                            </p:stCondLst>
                            <p:childTnLst>
                              <p:par>
                                <p:cTn id="19" presetID="10" presetClass="entr" presetSubtype="0" fill="hold" grpId="0" nodeType="afterEffect">
                                  <p:stCondLst>
                                    <p:cond delay="0"/>
                                  </p:stCondLst>
                                  <p:childTnLst>
                                    <p:set>
                                      <p:cBhvr>
                                        <p:cTn id="20" dur="1" fill="hold">
                                          <p:stCondLst>
                                            <p:cond delay="0"/>
                                          </p:stCondLst>
                                        </p:cTn>
                                        <p:tgtEl>
                                          <p:spTgt spid="82"/>
                                        </p:tgtEl>
                                        <p:attrNameLst>
                                          <p:attrName>style.visibility</p:attrName>
                                        </p:attrNameLst>
                                      </p:cBhvr>
                                      <p:to>
                                        <p:strVal val="visible"/>
                                      </p:to>
                                    </p:set>
                                    <p:animEffect transition="in" filter="fade">
                                      <p:cBhvr>
                                        <p:cTn id="21" dur="1000"/>
                                        <p:tgtEl>
                                          <p:spTgt spid="82"/>
                                        </p:tgtEl>
                                      </p:cBhvr>
                                    </p:animEffect>
                                  </p:childTnLst>
                                </p:cTn>
                              </p:par>
                              <p:par>
                                <p:cTn id="22" presetID="42" presetClass="path" presetSubtype="0" accel="50000" decel="50000" fill="hold" grpId="1" nodeType="withEffect">
                                  <p:stCondLst>
                                    <p:cond delay="0"/>
                                  </p:stCondLst>
                                  <p:childTnLst>
                                    <p:animMotion origin="layout" path="M -2.29167E-6 3.7037E-7 L -0.28932 0.07685 " pathEditMode="relative" rAng="0" ptsTypes="AA">
                                      <p:cBhvr>
                                        <p:cTn id="23" dur="2000" fill="hold"/>
                                        <p:tgtEl>
                                          <p:spTgt spid="82"/>
                                        </p:tgtEl>
                                        <p:attrNameLst>
                                          <p:attrName>ppt_x</p:attrName>
                                          <p:attrName>ppt_y</p:attrName>
                                        </p:attrNameLst>
                                      </p:cBhvr>
                                      <p:rCtr x="-14466" y="384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2"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5" y="1052896"/>
            <a:ext cx="11578602"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4. The re-calculated </a:t>
            </a:r>
            <a:r>
              <a:rPr lang="en-GB" b="1" dirty="0">
                <a:latin typeface="Calibri" panose="020F0502020204030204" pitchFamily="34" charset="0"/>
                <a:ea typeface="Calibri" panose="020F0502020204030204" pitchFamily="34" charset="0"/>
                <a:cs typeface="Times New Roman" panose="02020603050405020304" pitchFamily="18" charset="0"/>
              </a:rPr>
              <a:t>checksum</a:t>
            </a:r>
            <a:r>
              <a:rPr lang="en-GB" dirty="0">
                <a:latin typeface="Calibri" panose="020F0502020204030204" pitchFamily="34" charset="0"/>
                <a:ea typeface="Calibri" panose="020F0502020204030204" pitchFamily="34" charset="0"/>
                <a:cs typeface="Times New Roman" panose="02020603050405020304" pitchFamily="18" charset="0"/>
              </a:rPr>
              <a:t> is compared to the original </a:t>
            </a:r>
            <a:r>
              <a:rPr lang="en-GB" b="1" dirty="0">
                <a:latin typeface="Calibri" panose="020F0502020204030204" pitchFamily="34" charset="0"/>
                <a:ea typeface="Calibri" panose="020F0502020204030204" pitchFamily="34" charset="0"/>
                <a:cs typeface="Times New Roman" panose="02020603050405020304" pitchFamily="18" charset="0"/>
              </a:rPr>
              <a:t>checksum</a:t>
            </a:r>
            <a:r>
              <a:rPr lang="en-GB" dirty="0">
                <a:latin typeface="Calibri" panose="020F0502020204030204" pitchFamily="34" charset="0"/>
                <a:ea typeface="Calibri" panose="020F0502020204030204" pitchFamily="34" charset="0"/>
                <a:cs typeface="Times New Roman" panose="02020603050405020304" pitchFamily="18" charset="0"/>
              </a:rPr>
              <a:t>. If the two </a:t>
            </a:r>
            <a:r>
              <a:rPr lang="en-GB" b="1" dirty="0">
                <a:latin typeface="Calibri" panose="020F0502020204030204" pitchFamily="34" charset="0"/>
                <a:ea typeface="Calibri" panose="020F0502020204030204" pitchFamily="34" charset="0"/>
                <a:cs typeface="Times New Roman" panose="02020603050405020304" pitchFamily="18" charset="0"/>
              </a:rPr>
              <a:t>checksums</a:t>
            </a:r>
            <a:r>
              <a:rPr lang="en-GB" dirty="0">
                <a:latin typeface="Calibri" panose="020F0502020204030204" pitchFamily="34" charset="0"/>
                <a:ea typeface="Calibri" panose="020F0502020204030204" pitchFamily="34" charset="0"/>
                <a:cs typeface="Times New Roman" panose="02020603050405020304" pitchFamily="18" charset="0"/>
              </a:rPr>
              <a:t> are the same, it is assumed there are no errors. Otherwise, a request to re-send the original data is sent.</a:t>
            </a: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Checksums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23" name="Group 22">
            <a:extLst>
              <a:ext uri="{FF2B5EF4-FFF2-40B4-BE49-F238E27FC236}">
                <a16:creationId xmlns:a16="http://schemas.microsoft.com/office/drawing/2014/main" id="{3B1B5E28-989E-7792-6BD9-1BF9247F3314}"/>
              </a:ext>
            </a:extLst>
          </p:cNvPr>
          <p:cNvGrpSpPr/>
          <p:nvPr/>
        </p:nvGrpSpPr>
        <p:grpSpPr>
          <a:xfrm>
            <a:off x="10264003" y="2690984"/>
            <a:ext cx="1859672" cy="1689772"/>
            <a:chOff x="4392654" y="2682339"/>
            <a:chExt cx="1194329" cy="1085215"/>
          </a:xfrm>
        </p:grpSpPr>
        <p:pic>
          <p:nvPicPr>
            <p:cNvPr id="24" name="Picture 23" descr="A picture containing text, electronics, display&#10;&#10;Description automatically generated">
              <a:extLst>
                <a:ext uri="{FF2B5EF4-FFF2-40B4-BE49-F238E27FC236}">
                  <a16:creationId xmlns:a16="http://schemas.microsoft.com/office/drawing/2014/main" id="{2EA74FE4-E362-BD62-5BFD-CA5F61965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25" name="TextBox 24">
              <a:extLst>
                <a:ext uri="{FF2B5EF4-FFF2-40B4-BE49-F238E27FC236}">
                  <a16:creationId xmlns:a16="http://schemas.microsoft.com/office/drawing/2014/main" id="{85E4657B-70F2-162B-F439-9206633B62A2}"/>
                </a:ext>
              </a:extLst>
            </p:cNvPr>
            <p:cNvSpPr txBox="1"/>
            <p:nvPr/>
          </p:nvSpPr>
          <p:spPr>
            <a:xfrm>
              <a:off x="4392654" y="3429000"/>
              <a:ext cx="1194329" cy="338554"/>
            </a:xfrm>
            <a:prstGeom prst="rect">
              <a:avLst/>
            </a:prstGeom>
            <a:noFill/>
          </p:spPr>
          <p:txBody>
            <a:bodyPr wrap="square" rtlCol="0">
              <a:spAutoFit/>
            </a:bodyPr>
            <a:lstStyle/>
            <a:p>
              <a:pPr algn="ctr"/>
              <a:r>
                <a:rPr lang="en-GB" sz="1600" b="1" dirty="0"/>
                <a:t>Destination</a:t>
              </a:r>
              <a:endParaRPr lang="en-GB" b="1" dirty="0"/>
            </a:p>
          </p:txBody>
        </p:sp>
      </p:grpSp>
      <p:grpSp>
        <p:nvGrpSpPr>
          <p:cNvPr id="26" name="Group 25">
            <a:extLst>
              <a:ext uri="{FF2B5EF4-FFF2-40B4-BE49-F238E27FC236}">
                <a16:creationId xmlns:a16="http://schemas.microsoft.com/office/drawing/2014/main" id="{B5FDE903-0774-86DB-95BB-4A1E0D586035}"/>
              </a:ext>
            </a:extLst>
          </p:cNvPr>
          <p:cNvGrpSpPr/>
          <p:nvPr/>
        </p:nvGrpSpPr>
        <p:grpSpPr>
          <a:xfrm>
            <a:off x="359703" y="2691426"/>
            <a:ext cx="1257122" cy="1689330"/>
            <a:chOff x="481384" y="3456432"/>
            <a:chExt cx="807356" cy="1084931"/>
          </a:xfrm>
        </p:grpSpPr>
        <p:sp>
          <p:nvSpPr>
            <p:cNvPr id="27" name="TextBox 26">
              <a:extLst>
                <a:ext uri="{FF2B5EF4-FFF2-40B4-BE49-F238E27FC236}">
                  <a16:creationId xmlns:a16="http://schemas.microsoft.com/office/drawing/2014/main" id="{1E27FE12-CD59-5334-A511-1B74819B282A}"/>
                </a:ext>
              </a:extLst>
            </p:cNvPr>
            <p:cNvSpPr txBox="1"/>
            <p:nvPr/>
          </p:nvSpPr>
          <p:spPr>
            <a:xfrm>
              <a:off x="492889" y="4202809"/>
              <a:ext cx="784346" cy="338554"/>
            </a:xfrm>
            <a:prstGeom prst="rect">
              <a:avLst/>
            </a:prstGeom>
            <a:noFill/>
          </p:spPr>
          <p:txBody>
            <a:bodyPr wrap="square" rtlCol="0">
              <a:spAutoFit/>
            </a:bodyPr>
            <a:lstStyle/>
            <a:p>
              <a:pPr algn="ctr"/>
              <a:r>
                <a:rPr lang="en-GB" sz="1600" b="1" dirty="0"/>
                <a:t>Source</a:t>
              </a:r>
              <a:endParaRPr lang="en-GB" b="1" dirty="0"/>
            </a:p>
          </p:txBody>
        </p:sp>
        <p:pic>
          <p:nvPicPr>
            <p:cNvPr id="28" name="Picture 27" descr="A picture containing text, electronics, display&#10;&#10;Description automatically generated">
              <a:extLst>
                <a:ext uri="{FF2B5EF4-FFF2-40B4-BE49-F238E27FC236}">
                  <a16:creationId xmlns:a16="http://schemas.microsoft.com/office/drawing/2014/main" id="{F18680F4-FE2F-5EF3-AA58-2D705FCBD8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pic>
        <p:nvPicPr>
          <p:cNvPr id="12" name="Graphic 11" descr="Single gear with solid fill">
            <a:extLst>
              <a:ext uri="{FF2B5EF4-FFF2-40B4-BE49-F238E27FC236}">
                <a16:creationId xmlns:a16="http://schemas.microsoft.com/office/drawing/2014/main" id="{0A27B3F4-4D8F-23F1-422E-A937D91EFB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92" y="4223094"/>
            <a:ext cx="1728619" cy="1728619"/>
          </a:xfrm>
          <a:prstGeom prst="rect">
            <a:avLst/>
          </a:prstGeom>
        </p:spPr>
      </p:pic>
      <p:pic>
        <p:nvPicPr>
          <p:cNvPr id="40" name="Graphic 39" descr="Single gear with solid fill">
            <a:extLst>
              <a:ext uri="{FF2B5EF4-FFF2-40B4-BE49-F238E27FC236}">
                <a16:creationId xmlns:a16="http://schemas.microsoft.com/office/drawing/2014/main" id="{31A4B40C-CF86-BB49-8567-36967A9A8D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2818" y="4931760"/>
            <a:ext cx="1222338" cy="1222338"/>
          </a:xfrm>
          <a:prstGeom prst="rect">
            <a:avLst/>
          </a:prstGeom>
        </p:spPr>
      </p:pic>
      <p:pic>
        <p:nvPicPr>
          <p:cNvPr id="41" name="Graphic 40" descr="Single gear with solid fill">
            <a:extLst>
              <a:ext uri="{FF2B5EF4-FFF2-40B4-BE49-F238E27FC236}">
                <a16:creationId xmlns:a16="http://schemas.microsoft.com/office/drawing/2014/main" id="{D3857396-EAA9-C830-33EF-D5B3830256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9141" y="4678619"/>
            <a:ext cx="867553" cy="867553"/>
          </a:xfrm>
          <a:prstGeom prst="rect">
            <a:avLst/>
          </a:prstGeom>
        </p:spPr>
      </p:pic>
      <p:grpSp>
        <p:nvGrpSpPr>
          <p:cNvPr id="34" name="Group 33">
            <a:extLst>
              <a:ext uri="{FF2B5EF4-FFF2-40B4-BE49-F238E27FC236}">
                <a16:creationId xmlns:a16="http://schemas.microsoft.com/office/drawing/2014/main" id="{9E654322-AD8F-726B-5C3B-7789C00A1138}"/>
              </a:ext>
            </a:extLst>
          </p:cNvPr>
          <p:cNvGrpSpPr/>
          <p:nvPr/>
        </p:nvGrpSpPr>
        <p:grpSpPr>
          <a:xfrm>
            <a:off x="8470227" y="2126370"/>
            <a:ext cx="1217288" cy="3145354"/>
            <a:chOff x="3114666" y="2362200"/>
            <a:chExt cx="1217288" cy="3145354"/>
          </a:xfrm>
        </p:grpSpPr>
        <p:sp>
          <p:nvSpPr>
            <p:cNvPr id="60" name="Rectangle 59">
              <a:extLst>
                <a:ext uri="{FF2B5EF4-FFF2-40B4-BE49-F238E27FC236}">
                  <a16:creationId xmlns:a16="http://schemas.microsoft.com/office/drawing/2014/main" id="{BACFC78B-B816-A87D-A93A-21DAA4271107}"/>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61" name="Rectangle 60">
              <a:extLst>
                <a:ext uri="{FF2B5EF4-FFF2-40B4-BE49-F238E27FC236}">
                  <a16:creationId xmlns:a16="http://schemas.microsoft.com/office/drawing/2014/main" id="{42DC1090-C85D-56A1-ED61-AF5FE2795285}"/>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62" name="Rectangle 61">
              <a:extLst>
                <a:ext uri="{FF2B5EF4-FFF2-40B4-BE49-F238E27FC236}">
                  <a16:creationId xmlns:a16="http://schemas.microsoft.com/office/drawing/2014/main" id="{80B24170-E7BF-FDEF-53B7-E198BFE3094F}"/>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63" name="Rectangle 62">
              <a:extLst>
                <a:ext uri="{FF2B5EF4-FFF2-40B4-BE49-F238E27FC236}">
                  <a16:creationId xmlns:a16="http://schemas.microsoft.com/office/drawing/2014/main" id="{284B00E7-505B-552C-D745-2308E30DA009}"/>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cxnSp>
          <p:nvCxnSpPr>
            <p:cNvPr id="64" name="Straight Arrow Connector 63">
              <a:extLst>
                <a:ext uri="{FF2B5EF4-FFF2-40B4-BE49-F238E27FC236}">
                  <a16:creationId xmlns:a16="http://schemas.microsoft.com/office/drawing/2014/main" id="{0D73A19B-78D6-9F3E-8ACF-84CBF52D61B4}"/>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5D4CE0D-1CDE-718C-A875-5EADA0CCD107}"/>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D29F091-0410-87B7-22EC-BCBA0171025B}"/>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4209C744-EE09-7E3C-D835-75C7D00FFFD1}"/>
              </a:ext>
            </a:extLst>
          </p:cNvPr>
          <p:cNvGrpSpPr/>
          <p:nvPr/>
        </p:nvGrpSpPr>
        <p:grpSpPr>
          <a:xfrm>
            <a:off x="8469818" y="2126370"/>
            <a:ext cx="1217288" cy="3145354"/>
            <a:chOff x="3114666" y="2362200"/>
            <a:chExt cx="1217288" cy="3145354"/>
          </a:xfrm>
        </p:grpSpPr>
        <p:sp>
          <p:nvSpPr>
            <p:cNvPr id="39" name="Rectangle 38">
              <a:extLst>
                <a:ext uri="{FF2B5EF4-FFF2-40B4-BE49-F238E27FC236}">
                  <a16:creationId xmlns:a16="http://schemas.microsoft.com/office/drawing/2014/main" id="{88FB96AA-6D54-25A6-EB13-5036491B58F5}"/>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42" name="Rectangle 41">
              <a:extLst>
                <a:ext uri="{FF2B5EF4-FFF2-40B4-BE49-F238E27FC236}">
                  <a16:creationId xmlns:a16="http://schemas.microsoft.com/office/drawing/2014/main" id="{12F60CE1-FE1D-6C9A-6E67-C31D3D1915E2}"/>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55" name="Rectangle 54">
              <a:extLst>
                <a:ext uri="{FF2B5EF4-FFF2-40B4-BE49-F238E27FC236}">
                  <a16:creationId xmlns:a16="http://schemas.microsoft.com/office/drawing/2014/main" id="{20AFCA99-6B8A-D3DC-20AE-7F684F8CFE27}"/>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sp>
          <p:nvSpPr>
            <p:cNvPr id="56" name="Rectangle 55">
              <a:extLst>
                <a:ext uri="{FF2B5EF4-FFF2-40B4-BE49-F238E27FC236}">
                  <a16:creationId xmlns:a16="http://schemas.microsoft.com/office/drawing/2014/main" id="{429C95AD-2629-D5AB-DE6A-91A291F2CC9D}"/>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00101001</a:t>
              </a:r>
            </a:p>
          </p:txBody>
        </p:sp>
        <p:cxnSp>
          <p:nvCxnSpPr>
            <p:cNvPr id="57" name="Straight Arrow Connector 56">
              <a:extLst>
                <a:ext uri="{FF2B5EF4-FFF2-40B4-BE49-F238E27FC236}">
                  <a16:creationId xmlns:a16="http://schemas.microsoft.com/office/drawing/2014/main" id="{211E03B6-E5C7-9CE3-976B-00BE59E332C2}"/>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738CD8BB-D7A0-44EB-1374-D423E20DD2E7}"/>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2C7F6AE-9032-2793-A7DF-9BDE3A150826}"/>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7" name="Rectangle 36">
            <a:extLst>
              <a:ext uri="{FF2B5EF4-FFF2-40B4-BE49-F238E27FC236}">
                <a16:creationId xmlns:a16="http://schemas.microsoft.com/office/drawing/2014/main" id="{247210D0-7758-9C51-50A0-FA93755552B2}"/>
              </a:ext>
            </a:extLst>
          </p:cNvPr>
          <p:cNvSpPr/>
          <p:nvPr/>
        </p:nvSpPr>
        <p:spPr>
          <a:xfrm>
            <a:off x="8479715" y="5682456"/>
            <a:ext cx="1207391" cy="492370"/>
          </a:xfrm>
          <a:prstGeom prst="rect">
            <a:avLst/>
          </a:prstGeom>
          <a:solidFill>
            <a:schemeClr val="accent2">
              <a:lumMod val="40000"/>
              <a:lumOff val="60000"/>
            </a:schemeClr>
          </a:solidFill>
          <a:ln w="38100">
            <a:solidFill>
              <a:srgbClr val="B14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00101001</a:t>
            </a:r>
          </a:p>
        </p:txBody>
      </p:sp>
      <p:cxnSp>
        <p:nvCxnSpPr>
          <p:cNvPr id="38" name="Straight Arrow Connector 37">
            <a:extLst>
              <a:ext uri="{FF2B5EF4-FFF2-40B4-BE49-F238E27FC236}">
                <a16:creationId xmlns:a16="http://schemas.microsoft.com/office/drawing/2014/main" id="{8C07C86F-3152-E331-54DE-5689C1E90DA3}"/>
              </a:ext>
            </a:extLst>
          </p:cNvPr>
          <p:cNvCxnSpPr>
            <a:cxnSpLocks/>
          </p:cNvCxnSpPr>
          <p:nvPr/>
        </p:nvCxnSpPr>
        <p:spPr>
          <a:xfrm rot="16200000">
            <a:off x="8897860" y="5478003"/>
            <a:ext cx="371103" cy="0"/>
          </a:xfrm>
          <a:prstGeom prst="straightConnector1">
            <a:avLst/>
          </a:prstGeom>
          <a:ln w="57150">
            <a:solidFill>
              <a:srgbClr val="B14500"/>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8719446F-C0F1-8A9F-F13E-6BE6078BCE67}"/>
              </a:ext>
            </a:extLst>
          </p:cNvPr>
          <p:cNvGrpSpPr/>
          <p:nvPr/>
        </p:nvGrpSpPr>
        <p:grpSpPr>
          <a:xfrm>
            <a:off x="8469555" y="2124951"/>
            <a:ext cx="1217288" cy="3145354"/>
            <a:chOff x="3114666" y="2362200"/>
            <a:chExt cx="1217288" cy="3145354"/>
          </a:xfrm>
        </p:grpSpPr>
        <p:sp>
          <p:nvSpPr>
            <p:cNvPr id="71" name="Rectangle 70">
              <a:extLst>
                <a:ext uri="{FF2B5EF4-FFF2-40B4-BE49-F238E27FC236}">
                  <a16:creationId xmlns:a16="http://schemas.microsoft.com/office/drawing/2014/main" id="{D5B92AA0-ACD4-6C36-4589-F333A0C4A6D6}"/>
                </a:ext>
              </a:extLst>
            </p:cNvPr>
            <p:cNvSpPr/>
            <p:nvPr/>
          </p:nvSpPr>
          <p:spPr>
            <a:xfrm>
              <a:off x="3124563" y="236220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11110100</a:t>
              </a:r>
            </a:p>
          </p:txBody>
        </p:sp>
        <p:sp>
          <p:nvSpPr>
            <p:cNvPr id="72" name="Rectangle 71">
              <a:extLst>
                <a:ext uri="{FF2B5EF4-FFF2-40B4-BE49-F238E27FC236}">
                  <a16:creationId xmlns:a16="http://schemas.microsoft.com/office/drawing/2014/main" id="{1E1F41BB-A2A7-B53C-03DA-190A0BCFCB94}"/>
                </a:ext>
              </a:extLst>
            </p:cNvPr>
            <p:cNvSpPr/>
            <p:nvPr/>
          </p:nvSpPr>
          <p:spPr>
            <a:xfrm>
              <a:off x="3114666" y="3247505"/>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01010000</a:t>
              </a:r>
            </a:p>
          </p:txBody>
        </p:sp>
        <p:sp>
          <p:nvSpPr>
            <p:cNvPr id="73" name="Rectangle 72">
              <a:extLst>
                <a:ext uri="{FF2B5EF4-FFF2-40B4-BE49-F238E27FC236}">
                  <a16:creationId xmlns:a16="http://schemas.microsoft.com/office/drawing/2014/main" id="{EBB77181-1768-4072-DA64-70A4327C1717}"/>
                </a:ext>
              </a:extLst>
            </p:cNvPr>
            <p:cNvSpPr/>
            <p:nvPr/>
          </p:nvSpPr>
          <p:spPr>
            <a:xfrm>
              <a:off x="3114666" y="4132810"/>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11101000</a:t>
              </a:r>
            </a:p>
          </p:txBody>
        </p:sp>
        <p:sp>
          <p:nvSpPr>
            <p:cNvPr id="74" name="Rectangle 73">
              <a:extLst>
                <a:ext uri="{FF2B5EF4-FFF2-40B4-BE49-F238E27FC236}">
                  <a16:creationId xmlns:a16="http://schemas.microsoft.com/office/drawing/2014/main" id="{8981CD04-E73F-EA5A-A90A-DB194660B608}"/>
                </a:ext>
              </a:extLst>
            </p:cNvPr>
            <p:cNvSpPr/>
            <p:nvPr/>
          </p:nvSpPr>
          <p:spPr>
            <a:xfrm>
              <a:off x="3124563" y="5015184"/>
              <a:ext cx="1207391" cy="492370"/>
            </a:xfrm>
            <a:prstGeom prst="rect">
              <a:avLst/>
            </a:prstGeom>
            <a:solidFill>
              <a:schemeClr val="accent4">
                <a:lumMod val="20000"/>
                <a:lumOff val="8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C00000"/>
                  </a:solidFill>
                </a:rPr>
                <a:t>01101001</a:t>
              </a:r>
            </a:p>
          </p:txBody>
        </p:sp>
        <p:cxnSp>
          <p:nvCxnSpPr>
            <p:cNvPr id="75" name="Straight Arrow Connector 74">
              <a:extLst>
                <a:ext uri="{FF2B5EF4-FFF2-40B4-BE49-F238E27FC236}">
                  <a16:creationId xmlns:a16="http://schemas.microsoft.com/office/drawing/2014/main" id="{7A6FB535-6D60-8DC2-86C6-52F4B95F948E}"/>
                </a:ext>
              </a:extLst>
            </p:cNvPr>
            <p:cNvCxnSpPr>
              <a:cxnSpLocks/>
            </p:cNvCxnSpPr>
            <p:nvPr/>
          </p:nvCxnSpPr>
          <p:spPr>
            <a:xfrm rot="16200000">
              <a:off x="3542707" y="3040121"/>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2E19278-E284-E32A-86FC-D7FBCA3D805A}"/>
                </a:ext>
              </a:extLst>
            </p:cNvPr>
            <p:cNvCxnSpPr>
              <a:cxnSpLocks/>
            </p:cNvCxnSpPr>
            <p:nvPr/>
          </p:nvCxnSpPr>
          <p:spPr>
            <a:xfrm rot="16200000">
              <a:off x="3542707" y="3918783"/>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7AB31F7-0FB6-2E33-FD39-9426384CDB24}"/>
                </a:ext>
              </a:extLst>
            </p:cNvPr>
            <p:cNvCxnSpPr>
              <a:cxnSpLocks/>
            </p:cNvCxnSpPr>
            <p:nvPr/>
          </p:nvCxnSpPr>
          <p:spPr>
            <a:xfrm rot="16200000">
              <a:off x="3542707" y="4808905"/>
              <a:ext cx="37110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78" name="Graphic 77" descr="Single gear with solid fill">
            <a:extLst>
              <a:ext uri="{FF2B5EF4-FFF2-40B4-BE49-F238E27FC236}">
                <a16:creationId xmlns:a16="http://schemas.microsoft.com/office/drawing/2014/main" id="{2C40B84F-F23C-FE93-7B0C-AF473C111C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58549" y="4281192"/>
            <a:ext cx="1728619" cy="1728619"/>
          </a:xfrm>
          <a:prstGeom prst="rect">
            <a:avLst/>
          </a:prstGeom>
        </p:spPr>
      </p:pic>
      <p:pic>
        <p:nvPicPr>
          <p:cNvPr id="79" name="Graphic 78" descr="Single gear with solid fill">
            <a:extLst>
              <a:ext uri="{FF2B5EF4-FFF2-40B4-BE49-F238E27FC236}">
                <a16:creationId xmlns:a16="http://schemas.microsoft.com/office/drawing/2014/main" id="{AED94083-24E7-BB1E-A6D1-6003DFBACDE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18275" y="4989858"/>
            <a:ext cx="1222338" cy="1222338"/>
          </a:xfrm>
          <a:prstGeom prst="rect">
            <a:avLst/>
          </a:prstGeom>
        </p:spPr>
      </p:pic>
      <p:pic>
        <p:nvPicPr>
          <p:cNvPr id="80" name="Graphic 79" descr="Single gear with solid fill">
            <a:extLst>
              <a:ext uri="{FF2B5EF4-FFF2-40B4-BE49-F238E27FC236}">
                <a16:creationId xmlns:a16="http://schemas.microsoft.com/office/drawing/2014/main" id="{B692EC58-1729-B03A-140A-E611AB1822E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14598" y="4736717"/>
            <a:ext cx="867553" cy="867553"/>
          </a:xfrm>
          <a:prstGeom prst="rect">
            <a:avLst/>
          </a:prstGeom>
        </p:spPr>
      </p:pic>
      <p:sp>
        <p:nvSpPr>
          <p:cNvPr id="84" name="Rectangle 83">
            <a:extLst>
              <a:ext uri="{FF2B5EF4-FFF2-40B4-BE49-F238E27FC236}">
                <a16:creationId xmlns:a16="http://schemas.microsoft.com/office/drawing/2014/main" id="{DF0321F7-0F7A-E669-9953-925B5B5562AE}"/>
              </a:ext>
            </a:extLst>
          </p:cNvPr>
          <p:cNvSpPr/>
          <p:nvPr/>
        </p:nvSpPr>
        <p:spPr>
          <a:xfrm>
            <a:off x="7087501" y="5672296"/>
            <a:ext cx="1207391" cy="492370"/>
          </a:xfrm>
          <a:prstGeom prst="rect">
            <a:avLst/>
          </a:prstGeom>
          <a:solidFill>
            <a:schemeClr val="accent2">
              <a:lumMod val="40000"/>
              <a:lumOff val="60000"/>
            </a:schemeClr>
          </a:solidFill>
          <a:ln w="38100">
            <a:solidFill>
              <a:srgbClr val="B14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00101001</a:t>
            </a:r>
          </a:p>
        </p:txBody>
      </p:sp>
      <p:pic>
        <p:nvPicPr>
          <p:cNvPr id="3" name="Graphic 2" descr="Checkmark with solid fill">
            <a:extLst>
              <a:ext uri="{FF2B5EF4-FFF2-40B4-BE49-F238E27FC236}">
                <a16:creationId xmlns:a16="http://schemas.microsoft.com/office/drawing/2014/main" id="{0F67F997-340B-D686-8373-B20F5F6C247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09976" y="5461281"/>
            <a:ext cx="914400" cy="914400"/>
          </a:xfrm>
          <a:prstGeom prst="rect">
            <a:avLst/>
          </a:prstGeom>
        </p:spPr>
      </p:pic>
    </p:spTree>
    <p:extLst>
      <p:ext uri="{BB962C8B-B14F-4D97-AF65-F5344CB8AC3E}">
        <p14:creationId xmlns:p14="http://schemas.microsoft.com/office/powerpoint/2010/main" val="410053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fill="remove" grpId="0" nodeType="withEffect">
                                  <p:stCondLst>
                                    <p:cond delay="1000"/>
                                  </p:stCondLst>
                                  <p:childTnLst>
                                    <p:animClr clrSpc="rgb" dir="cw">
                                      <p:cBhvr override="childStyle">
                                        <p:cTn id="6" dur="1000" autoRev="1" fill="remove"/>
                                        <p:tgtEl>
                                          <p:spTgt spid="84"/>
                                        </p:tgtEl>
                                        <p:attrNameLst>
                                          <p:attrName>style.color</p:attrName>
                                        </p:attrNameLst>
                                      </p:cBhvr>
                                      <p:to>
                                        <a:srgbClr val="FF0000"/>
                                      </p:to>
                                    </p:animClr>
                                    <p:animClr clrSpc="rgb" dir="cw">
                                      <p:cBhvr>
                                        <p:cTn id="7" dur="1000" autoRev="1" fill="remove"/>
                                        <p:tgtEl>
                                          <p:spTgt spid="84"/>
                                        </p:tgtEl>
                                        <p:attrNameLst>
                                          <p:attrName>fillcolor</p:attrName>
                                        </p:attrNameLst>
                                      </p:cBhvr>
                                      <p:to>
                                        <a:srgbClr val="FF0000"/>
                                      </p:to>
                                    </p:animClr>
                                    <p:set>
                                      <p:cBhvr>
                                        <p:cTn id="8" dur="1000" autoRev="1" fill="remove"/>
                                        <p:tgtEl>
                                          <p:spTgt spid="84"/>
                                        </p:tgtEl>
                                        <p:attrNameLst>
                                          <p:attrName>fill.type</p:attrName>
                                        </p:attrNameLst>
                                      </p:cBhvr>
                                      <p:to>
                                        <p:strVal val="solid"/>
                                      </p:to>
                                    </p:set>
                                    <p:set>
                                      <p:cBhvr>
                                        <p:cTn id="9" dur="1000" autoRev="1" fill="remove"/>
                                        <p:tgtEl>
                                          <p:spTgt spid="84"/>
                                        </p:tgtEl>
                                        <p:attrNameLst>
                                          <p:attrName>fill.on</p:attrName>
                                        </p:attrNameLst>
                                      </p:cBhvr>
                                      <p:to>
                                        <p:strVal val="true"/>
                                      </p:to>
                                    </p:set>
                                  </p:childTnLst>
                                </p:cTn>
                              </p:par>
                              <p:par>
                                <p:cTn id="10" presetID="27" presetClass="emph" presetSubtype="0" fill="remove" grpId="0" nodeType="withEffect">
                                  <p:stCondLst>
                                    <p:cond delay="1000"/>
                                  </p:stCondLst>
                                  <p:childTnLst>
                                    <p:animClr clrSpc="rgb" dir="cw">
                                      <p:cBhvr override="childStyle">
                                        <p:cTn id="11" dur="1000" autoRev="1" fill="remove"/>
                                        <p:tgtEl>
                                          <p:spTgt spid="37"/>
                                        </p:tgtEl>
                                        <p:attrNameLst>
                                          <p:attrName>style.color</p:attrName>
                                        </p:attrNameLst>
                                      </p:cBhvr>
                                      <p:to>
                                        <a:srgbClr val="FF0000"/>
                                      </p:to>
                                    </p:animClr>
                                    <p:animClr clrSpc="rgb" dir="cw">
                                      <p:cBhvr>
                                        <p:cTn id="12" dur="1000" autoRev="1" fill="remove"/>
                                        <p:tgtEl>
                                          <p:spTgt spid="37"/>
                                        </p:tgtEl>
                                        <p:attrNameLst>
                                          <p:attrName>fillcolor</p:attrName>
                                        </p:attrNameLst>
                                      </p:cBhvr>
                                      <p:to>
                                        <a:srgbClr val="FF0000"/>
                                      </p:to>
                                    </p:animClr>
                                    <p:set>
                                      <p:cBhvr>
                                        <p:cTn id="13" dur="1000" autoRev="1" fill="remove"/>
                                        <p:tgtEl>
                                          <p:spTgt spid="37"/>
                                        </p:tgtEl>
                                        <p:attrNameLst>
                                          <p:attrName>fill.type</p:attrName>
                                        </p:attrNameLst>
                                      </p:cBhvr>
                                      <p:to>
                                        <p:strVal val="solid"/>
                                      </p:to>
                                    </p:set>
                                    <p:set>
                                      <p:cBhvr>
                                        <p:cTn id="14" dur="1000" autoRev="1" fill="remove"/>
                                        <p:tgtEl>
                                          <p:spTgt spid="37"/>
                                        </p:tgtEl>
                                        <p:attrNameLst>
                                          <p:attrName>fill.on</p:attrName>
                                        </p:attrNameLst>
                                      </p:cBhvr>
                                      <p:to>
                                        <p:strVal val="true"/>
                                      </p:to>
                                    </p:set>
                                  </p:childTnLst>
                                </p:cTn>
                              </p:par>
                              <p:par>
                                <p:cTn id="15" presetID="26" presetClass="emph" presetSubtype="0" fill="hold" grpId="1" nodeType="withEffect">
                                  <p:stCondLst>
                                    <p:cond delay="1000"/>
                                  </p:stCondLst>
                                  <p:childTnLst>
                                    <p:animEffect transition="out" filter="fade">
                                      <p:cBhvr>
                                        <p:cTn id="16" dur="2000" tmFilter="0, 0; .2, .5; .8, .5; 1, 0"/>
                                        <p:tgtEl>
                                          <p:spTgt spid="84"/>
                                        </p:tgtEl>
                                      </p:cBhvr>
                                    </p:animEffect>
                                    <p:animScale>
                                      <p:cBhvr>
                                        <p:cTn id="17" dur="1000" autoRev="1" fill="hold"/>
                                        <p:tgtEl>
                                          <p:spTgt spid="84"/>
                                        </p:tgtEl>
                                      </p:cBhvr>
                                      <p:by x="105000" y="105000"/>
                                    </p:animScale>
                                  </p:childTnLst>
                                </p:cTn>
                              </p:par>
                              <p:par>
                                <p:cTn id="18" presetID="26" presetClass="emph" presetSubtype="0" fill="hold" grpId="1" nodeType="withEffect">
                                  <p:stCondLst>
                                    <p:cond delay="1000"/>
                                  </p:stCondLst>
                                  <p:childTnLst>
                                    <p:animEffect transition="out" filter="fade">
                                      <p:cBhvr>
                                        <p:cTn id="19" dur="2000" tmFilter="0, 0; .2, .5; .8, .5; 1, 0"/>
                                        <p:tgtEl>
                                          <p:spTgt spid="37"/>
                                        </p:tgtEl>
                                      </p:cBhvr>
                                    </p:animEffect>
                                    <p:animScale>
                                      <p:cBhvr>
                                        <p:cTn id="20" dur="1000" autoRev="1" fill="hold"/>
                                        <p:tgtEl>
                                          <p:spTgt spid="37"/>
                                        </p:tgtEl>
                                      </p:cBhvr>
                                      <p:by x="105000" y="105000"/>
                                    </p:animScale>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7" grpId="1" animBg="1"/>
      <p:bldP spid="84" grpId="0" animBg="1"/>
      <p:bldP spid="8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4" y="1052896"/>
            <a:ext cx="10593863"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1. Data is transmitted to the destination device.</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Echo check</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Arrow: Right 1">
            <a:extLst>
              <a:ext uri="{FF2B5EF4-FFF2-40B4-BE49-F238E27FC236}">
                <a16:creationId xmlns:a16="http://schemas.microsoft.com/office/drawing/2014/main" id="{DE7835D5-07C8-7132-5751-95B2FAFA4BE1}"/>
              </a:ext>
            </a:extLst>
          </p:cNvPr>
          <p:cNvSpPr/>
          <p:nvPr/>
        </p:nvSpPr>
        <p:spPr>
          <a:xfrm>
            <a:off x="2716823" y="2237551"/>
            <a:ext cx="6534282" cy="835269"/>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A3D814CF-7413-65D0-00C5-6A8FDBFB971B}"/>
              </a:ext>
            </a:extLst>
          </p:cNvPr>
          <p:cNvSpPr txBox="1"/>
          <p:nvPr/>
        </p:nvSpPr>
        <p:spPr>
          <a:xfrm>
            <a:off x="256832" y="2479431"/>
            <a:ext cx="2642070" cy="369332"/>
          </a:xfrm>
          <a:prstGeom prst="rect">
            <a:avLst/>
          </a:prstGeom>
          <a:noFill/>
        </p:spPr>
        <p:txBody>
          <a:bodyPr wrap="none" rtlCol="0">
            <a:spAutoFit/>
          </a:bodyPr>
          <a:lstStyle/>
          <a:p>
            <a:r>
              <a:rPr lang="en-GB" dirty="0"/>
              <a:t>100101100110100110010</a:t>
            </a:r>
          </a:p>
        </p:txBody>
      </p:sp>
      <p:grpSp>
        <p:nvGrpSpPr>
          <p:cNvPr id="5" name="Group 4">
            <a:extLst>
              <a:ext uri="{FF2B5EF4-FFF2-40B4-BE49-F238E27FC236}">
                <a16:creationId xmlns:a16="http://schemas.microsoft.com/office/drawing/2014/main" id="{ECB69803-5951-6B2A-38FE-25C9E4DD469F}"/>
              </a:ext>
            </a:extLst>
          </p:cNvPr>
          <p:cNvGrpSpPr/>
          <p:nvPr/>
        </p:nvGrpSpPr>
        <p:grpSpPr>
          <a:xfrm>
            <a:off x="8608907" y="2368795"/>
            <a:ext cx="3964091" cy="3063013"/>
            <a:chOff x="4392654" y="2682339"/>
            <a:chExt cx="1194329" cy="922846"/>
          </a:xfrm>
        </p:grpSpPr>
        <p:pic>
          <p:nvPicPr>
            <p:cNvPr id="7" name="Picture 6" descr="A picture containing text, electronics, display&#10;&#10;Description automatically generated">
              <a:extLst>
                <a:ext uri="{FF2B5EF4-FFF2-40B4-BE49-F238E27FC236}">
                  <a16:creationId xmlns:a16="http://schemas.microsoft.com/office/drawing/2014/main" id="{BE534F91-BE23-E574-2096-AE67479A0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8" name="TextBox 7">
              <a:extLst>
                <a:ext uri="{FF2B5EF4-FFF2-40B4-BE49-F238E27FC236}">
                  <a16:creationId xmlns:a16="http://schemas.microsoft.com/office/drawing/2014/main" id="{B24E265D-592B-E1E9-33B9-25D3E05E733F}"/>
                </a:ext>
              </a:extLst>
            </p:cNvPr>
            <p:cNvSpPr txBox="1"/>
            <p:nvPr/>
          </p:nvSpPr>
          <p:spPr>
            <a:xfrm>
              <a:off x="4392654" y="3429000"/>
              <a:ext cx="1194329" cy="176185"/>
            </a:xfrm>
            <a:prstGeom prst="rect">
              <a:avLst/>
            </a:prstGeom>
            <a:noFill/>
          </p:spPr>
          <p:txBody>
            <a:bodyPr wrap="square" rtlCol="0">
              <a:spAutoFit/>
            </a:bodyPr>
            <a:lstStyle/>
            <a:p>
              <a:pPr algn="ctr"/>
              <a:endParaRPr lang="en-GB" sz="1600" b="1" dirty="0"/>
            </a:p>
            <a:p>
              <a:pPr algn="ctr"/>
              <a:r>
                <a:rPr lang="en-GB" sz="1600" b="1" dirty="0"/>
                <a:t>Destination</a:t>
              </a:r>
              <a:endParaRPr lang="en-GB" b="1" dirty="0"/>
            </a:p>
          </p:txBody>
        </p:sp>
      </p:grpSp>
      <p:grpSp>
        <p:nvGrpSpPr>
          <p:cNvPr id="9" name="Group 8">
            <a:extLst>
              <a:ext uri="{FF2B5EF4-FFF2-40B4-BE49-F238E27FC236}">
                <a16:creationId xmlns:a16="http://schemas.microsoft.com/office/drawing/2014/main" id="{D246BD5B-B2ED-5001-D7ED-093ED57C9A0B}"/>
              </a:ext>
            </a:extLst>
          </p:cNvPr>
          <p:cNvGrpSpPr/>
          <p:nvPr/>
        </p:nvGrpSpPr>
        <p:grpSpPr>
          <a:xfrm>
            <a:off x="228010" y="2368796"/>
            <a:ext cx="2639517" cy="3024933"/>
            <a:chOff x="481384" y="3456432"/>
            <a:chExt cx="807356" cy="925244"/>
          </a:xfrm>
        </p:grpSpPr>
        <p:sp>
          <p:nvSpPr>
            <p:cNvPr id="10" name="TextBox 9">
              <a:extLst>
                <a:ext uri="{FF2B5EF4-FFF2-40B4-BE49-F238E27FC236}">
                  <a16:creationId xmlns:a16="http://schemas.microsoft.com/office/drawing/2014/main" id="{D36B0077-BA5A-603B-DB2E-B7D6EC0E0197}"/>
                </a:ext>
              </a:extLst>
            </p:cNvPr>
            <p:cNvSpPr txBox="1"/>
            <p:nvPr/>
          </p:nvSpPr>
          <p:spPr>
            <a:xfrm>
              <a:off x="492889" y="4202809"/>
              <a:ext cx="784346" cy="178867"/>
            </a:xfrm>
            <a:prstGeom prst="rect">
              <a:avLst/>
            </a:prstGeom>
            <a:noFill/>
          </p:spPr>
          <p:txBody>
            <a:bodyPr wrap="square" rtlCol="0">
              <a:spAutoFit/>
            </a:bodyPr>
            <a:lstStyle/>
            <a:p>
              <a:pPr algn="ctr"/>
              <a:endParaRPr lang="en-GB" sz="1600" b="1" dirty="0"/>
            </a:p>
            <a:p>
              <a:pPr algn="ctr"/>
              <a:r>
                <a:rPr lang="en-GB" sz="1600" b="1" dirty="0"/>
                <a:t>Source</a:t>
              </a:r>
              <a:endParaRPr lang="en-GB" b="1" dirty="0"/>
            </a:p>
          </p:txBody>
        </p:sp>
        <p:pic>
          <p:nvPicPr>
            <p:cNvPr id="11" name="Picture 10" descr="A picture containing text, electronics, display&#10;&#10;Description automatically generated">
              <a:extLst>
                <a:ext uri="{FF2B5EF4-FFF2-40B4-BE49-F238E27FC236}">
                  <a16:creationId xmlns:a16="http://schemas.microsoft.com/office/drawing/2014/main" id="{9300D8CD-58CD-FEAC-0957-8DAF8F23A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spTree>
    <p:extLst>
      <p:ext uri="{BB962C8B-B14F-4D97-AF65-F5344CB8AC3E}">
        <p14:creationId xmlns:p14="http://schemas.microsoft.com/office/powerpoint/2010/main" val="150610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91667E-6 4.07407E-6 L 0.74323 -0.0051 " pathEditMode="relative" rAng="0" ptsTypes="AA">
                                      <p:cBhvr>
                                        <p:cTn id="6" dur="5000" fill="hold"/>
                                        <p:tgtEl>
                                          <p:spTgt spid="3"/>
                                        </p:tgtEl>
                                        <p:attrNameLst>
                                          <p:attrName>ppt_x</p:attrName>
                                          <p:attrName>ppt_y</p:attrName>
                                        </p:attrNameLst>
                                      </p:cBhvr>
                                      <p:rCtr x="37161" y="-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4" y="1052896"/>
            <a:ext cx="10593863"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2. The destination device returns a copy of what it received back to the sender. </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Echo check</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Arrow: Right 1">
            <a:extLst>
              <a:ext uri="{FF2B5EF4-FFF2-40B4-BE49-F238E27FC236}">
                <a16:creationId xmlns:a16="http://schemas.microsoft.com/office/drawing/2014/main" id="{DE7835D5-07C8-7132-5751-95B2FAFA4BE1}"/>
              </a:ext>
            </a:extLst>
          </p:cNvPr>
          <p:cNvSpPr/>
          <p:nvPr/>
        </p:nvSpPr>
        <p:spPr>
          <a:xfrm>
            <a:off x="2716823" y="2237551"/>
            <a:ext cx="6534282" cy="835269"/>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id="{524A8AEB-2F49-FBE8-8E29-4C13947DB25C}"/>
              </a:ext>
            </a:extLst>
          </p:cNvPr>
          <p:cNvSpPr/>
          <p:nvPr/>
        </p:nvSpPr>
        <p:spPr>
          <a:xfrm flipH="1">
            <a:off x="2859126" y="3018068"/>
            <a:ext cx="6534282" cy="835269"/>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D329B37-D915-0797-F3F2-C4044478F13D}"/>
              </a:ext>
            </a:extLst>
          </p:cNvPr>
          <p:cNvSpPr txBox="1"/>
          <p:nvPr/>
        </p:nvSpPr>
        <p:spPr>
          <a:xfrm>
            <a:off x="9269915" y="3238582"/>
            <a:ext cx="2642070" cy="369332"/>
          </a:xfrm>
          <a:prstGeom prst="rect">
            <a:avLst/>
          </a:prstGeom>
          <a:noFill/>
        </p:spPr>
        <p:txBody>
          <a:bodyPr wrap="none" rtlCol="0">
            <a:spAutoFit/>
          </a:bodyPr>
          <a:lstStyle/>
          <a:p>
            <a:r>
              <a:rPr lang="en-GB" dirty="0"/>
              <a:t>100100000110110110010</a:t>
            </a:r>
          </a:p>
        </p:txBody>
      </p:sp>
      <p:grpSp>
        <p:nvGrpSpPr>
          <p:cNvPr id="5" name="Group 4">
            <a:extLst>
              <a:ext uri="{FF2B5EF4-FFF2-40B4-BE49-F238E27FC236}">
                <a16:creationId xmlns:a16="http://schemas.microsoft.com/office/drawing/2014/main" id="{ECB69803-5951-6B2A-38FE-25C9E4DD469F}"/>
              </a:ext>
            </a:extLst>
          </p:cNvPr>
          <p:cNvGrpSpPr/>
          <p:nvPr/>
        </p:nvGrpSpPr>
        <p:grpSpPr>
          <a:xfrm>
            <a:off x="8608907" y="2368795"/>
            <a:ext cx="3964091" cy="3063013"/>
            <a:chOff x="4392654" y="2682339"/>
            <a:chExt cx="1194329" cy="922846"/>
          </a:xfrm>
        </p:grpSpPr>
        <p:pic>
          <p:nvPicPr>
            <p:cNvPr id="7" name="Picture 6" descr="A picture containing text, electronics, display&#10;&#10;Description automatically generated">
              <a:extLst>
                <a:ext uri="{FF2B5EF4-FFF2-40B4-BE49-F238E27FC236}">
                  <a16:creationId xmlns:a16="http://schemas.microsoft.com/office/drawing/2014/main" id="{BE534F91-BE23-E574-2096-AE67479A0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8" name="TextBox 7">
              <a:extLst>
                <a:ext uri="{FF2B5EF4-FFF2-40B4-BE49-F238E27FC236}">
                  <a16:creationId xmlns:a16="http://schemas.microsoft.com/office/drawing/2014/main" id="{B24E265D-592B-E1E9-33B9-25D3E05E733F}"/>
                </a:ext>
              </a:extLst>
            </p:cNvPr>
            <p:cNvSpPr txBox="1"/>
            <p:nvPr/>
          </p:nvSpPr>
          <p:spPr>
            <a:xfrm>
              <a:off x="4392654" y="3429000"/>
              <a:ext cx="1194329" cy="176185"/>
            </a:xfrm>
            <a:prstGeom prst="rect">
              <a:avLst/>
            </a:prstGeom>
            <a:noFill/>
          </p:spPr>
          <p:txBody>
            <a:bodyPr wrap="square" rtlCol="0">
              <a:spAutoFit/>
            </a:bodyPr>
            <a:lstStyle/>
            <a:p>
              <a:pPr algn="ctr"/>
              <a:endParaRPr lang="en-GB" sz="1600" b="1" dirty="0"/>
            </a:p>
            <a:p>
              <a:pPr algn="ctr"/>
              <a:r>
                <a:rPr lang="en-GB" sz="1600" b="1" dirty="0"/>
                <a:t>Destination</a:t>
              </a:r>
              <a:endParaRPr lang="en-GB" b="1" dirty="0"/>
            </a:p>
          </p:txBody>
        </p:sp>
      </p:grpSp>
      <p:grpSp>
        <p:nvGrpSpPr>
          <p:cNvPr id="9" name="Group 8">
            <a:extLst>
              <a:ext uri="{FF2B5EF4-FFF2-40B4-BE49-F238E27FC236}">
                <a16:creationId xmlns:a16="http://schemas.microsoft.com/office/drawing/2014/main" id="{D246BD5B-B2ED-5001-D7ED-093ED57C9A0B}"/>
              </a:ext>
            </a:extLst>
          </p:cNvPr>
          <p:cNvGrpSpPr/>
          <p:nvPr/>
        </p:nvGrpSpPr>
        <p:grpSpPr>
          <a:xfrm>
            <a:off x="228010" y="2368796"/>
            <a:ext cx="2639517" cy="3024933"/>
            <a:chOff x="481384" y="3456432"/>
            <a:chExt cx="807356" cy="925244"/>
          </a:xfrm>
        </p:grpSpPr>
        <p:sp>
          <p:nvSpPr>
            <p:cNvPr id="10" name="TextBox 9">
              <a:extLst>
                <a:ext uri="{FF2B5EF4-FFF2-40B4-BE49-F238E27FC236}">
                  <a16:creationId xmlns:a16="http://schemas.microsoft.com/office/drawing/2014/main" id="{D36B0077-BA5A-603B-DB2E-B7D6EC0E0197}"/>
                </a:ext>
              </a:extLst>
            </p:cNvPr>
            <p:cNvSpPr txBox="1"/>
            <p:nvPr/>
          </p:nvSpPr>
          <p:spPr>
            <a:xfrm>
              <a:off x="492889" y="4202809"/>
              <a:ext cx="784346" cy="178867"/>
            </a:xfrm>
            <a:prstGeom prst="rect">
              <a:avLst/>
            </a:prstGeom>
            <a:noFill/>
          </p:spPr>
          <p:txBody>
            <a:bodyPr wrap="square" rtlCol="0">
              <a:spAutoFit/>
            </a:bodyPr>
            <a:lstStyle/>
            <a:p>
              <a:pPr algn="ctr"/>
              <a:endParaRPr lang="en-GB" sz="1600" b="1" dirty="0"/>
            </a:p>
            <a:p>
              <a:pPr algn="ctr"/>
              <a:r>
                <a:rPr lang="en-GB" sz="1600" b="1" dirty="0"/>
                <a:t>Source</a:t>
              </a:r>
              <a:endParaRPr lang="en-GB" b="1" dirty="0"/>
            </a:p>
          </p:txBody>
        </p:sp>
        <p:pic>
          <p:nvPicPr>
            <p:cNvPr id="11" name="Picture 10" descr="A picture containing text, electronics, display&#10;&#10;Description automatically generated">
              <a:extLst>
                <a:ext uri="{FF2B5EF4-FFF2-40B4-BE49-F238E27FC236}">
                  <a16:creationId xmlns:a16="http://schemas.microsoft.com/office/drawing/2014/main" id="{9300D8CD-58CD-FEAC-0957-8DAF8F23A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spTree>
    <p:extLst>
      <p:ext uri="{BB962C8B-B14F-4D97-AF65-F5344CB8AC3E}">
        <p14:creationId xmlns:p14="http://schemas.microsoft.com/office/powerpoint/2010/main" val="183372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2.08333E-7 -4.07407E-6 L -0.74167 -4.07407E-6 " pathEditMode="relative" rAng="0" ptsTypes="AA">
                                      <p:cBhvr>
                                        <p:cTn id="6" dur="5000" fill="hold"/>
                                        <p:tgtEl>
                                          <p:spTgt spid="14"/>
                                        </p:tgtEl>
                                        <p:attrNameLst>
                                          <p:attrName>ppt_x</p:attrName>
                                          <p:attrName>ppt_y</p:attrName>
                                        </p:attrNameLst>
                                      </p:cBhvr>
                                      <p:rCtr x="-370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4" y="1052896"/>
            <a:ext cx="10593863" cy="923330"/>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3. The returned data is compared with the original data. If they are different, that means an error has occurred at some stage, and the data is re-sent.</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Echo check</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Arrow: Right 1">
            <a:extLst>
              <a:ext uri="{FF2B5EF4-FFF2-40B4-BE49-F238E27FC236}">
                <a16:creationId xmlns:a16="http://schemas.microsoft.com/office/drawing/2014/main" id="{DE7835D5-07C8-7132-5751-95B2FAFA4BE1}"/>
              </a:ext>
            </a:extLst>
          </p:cNvPr>
          <p:cNvSpPr/>
          <p:nvPr/>
        </p:nvSpPr>
        <p:spPr>
          <a:xfrm>
            <a:off x="2716823" y="2237551"/>
            <a:ext cx="6534282" cy="835269"/>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id="{524A8AEB-2F49-FBE8-8E29-4C13947DB25C}"/>
              </a:ext>
            </a:extLst>
          </p:cNvPr>
          <p:cNvSpPr/>
          <p:nvPr/>
        </p:nvSpPr>
        <p:spPr>
          <a:xfrm flipH="1">
            <a:off x="2859126" y="3018068"/>
            <a:ext cx="6534282" cy="835269"/>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Right 12">
            <a:extLst>
              <a:ext uri="{FF2B5EF4-FFF2-40B4-BE49-F238E27FC236}">
                <a16:creationId xmlns:a16="http://schemas.microsoft.com/office/drawing/2014/main" id="{DF2F1C4C-3A42-33B6-DBFF-60C75A32AE51}"/>
              </a:ext>
            </a:extLst>
          </p:cNvPr>
          <p:cNvSpPr/>
          <p:nvPr/>
        </p:nvSpPr>
        <p:spPr>
          <a:xfrm>
            <a:off x="2602523" y="3812582"/>
            <a:ext cx="6646137" cy="835269"/>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1E73E5E-10F8-6C9F-EE7F-2A841A1A6F05}"/>
              </a:ext>
            </a:extLst>
          </p:cNvPr>
          <p:cNvSpPr txBox="1"/>
          <p:nvPr/>
        </p:nvSpPr>
        <p:spPr>
          <a:xfrm>
            <a:off x="256832" y="4064391"/>
            <a:ext cx="2642070" cy="369332"/>
          </a:xfrm>
          <a:prstGeom prst="rect">
            <a:avLst/>
          </a:prstGeom>
          <a:noFill/>
        </p:spPr>
        <p:txBody>
          <a:bodyPr wrap="none" rtlCol="0">
            <a:spAutoFit/>
          </a:bodyPr>
          <a:lstStyle/>
          <a:p>
            <a:r>
              <a:rPr lang="en-GB" dirty="0"/>
              <a:t>100101100110100110010</a:t>
            </a:r>
          </a:p>
        </p:txBody>
      </p:sp>
      <p:grpSp>
        <p:nvGrpSpPr>
          <p:cNvPr id="5" name="Group 4">
            <a:extLst>
              <a:ext uri="{FF2B5EF4-FFF2-40B4-BE49-F238E27FC236}">
                <a16:creationId xmlns:a16="http://schemas.microsoft.com/office/drawing/2014/main" id="{ECB69803-5951-6B2A-38FE-25C9E4DD469F}"/>
              </a:ext>
            </a:extLst>
          </p:cNvPr>
          <p:cNvGrpSpPr/>
          <p:nvPr/>
        </p:nvGrpSpPr>
        <p:grpSpPr>
          <a:xfrm>
            <a:off x="8608907" y="2368795"/>
            <a:ext cx="3964091" cy="3063013"/>
            <a:chOff x="4392654" y="2682339"/>
            <a:chExt cx="1194329" cy="922846"/>
          </a:xfrm>
        </p:grpSpPr>
        <p:pic>
          <p:nvPicPr>
            <p:cNvPr id="7" name="Picture 6" descr="A picture containing text, electronics, display&#10;&#10;Description automatically generated">
              <a:extLst>
                <a:ext uri="{FF2B5EF4-FFF2-40B4-BE49-F238E27FC236}">
                  <a16:creationId xmlns:a16="http://schemas.microsoft.com/office/drawing/2014/main" id="{BE534F91-BE23-E574-2096-AE67479A0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8" name="TextBox 7">
              <a:extLst>
                <a:ext uri="{FF2B5EF4-FFF2-40B4-BE49-F238E27FC236}">
                  <a16:creationId xmlns:a16="http://schemas.microsoft.com/office/drawing/2014/main" id="{B24E265D-592B-E1E9-33B9-25D3E05E733F}"/>
                </a:ext>
              </a:extLst>
            </p:cNvPr>
            <p:cNvSpPr txBox="1"/>
            <p:nvPr/>
          </p:nvSpPr>
          <p:spPr>
            <a:xfrm>
              <a:off x="4392654" y="3429000"/>
              <a:ext cx="1194329" cy="176185"/>
            </a:xfrm>
            <a:prstGeom prst="rect">
              <a:avLst/>
            </a:prstGeom>
            <a:noFill/>
          </p:spPr>
          <p:txBody>
            <a:bodyPr wrap="square" rtlCol="0">
              <a:spAutoFit/>
            </a:bodyPr>
            <a:lstStyle/>
            <a:p>
              <a:pPr algn="ctr"/>
              <a:endParaRPr lang="en-GB" sz="1600" b="1" dirty="0"/>
            </a:p>
            <a:p>
              <a:pPr algn="ctr"/>
              <a:r>
                <a:rPr lang="en-GB" sz="1600" b="1" dirty="0"/>
                <a:t>Destination</a:t>
              </a:r>
              <a:endParaRPr lang="en-GB" b="1" dirty="0"/>
            </a:p>
          </p:txBody>
        </p:sp>
      </p:grpSp>
      <p:grpSp>
        <p:nvGrpSpPr>
          <p:cNvPr id="9" name="Group 8">
            <a:extLst>
              <a:ext uri="{FF2B5EF4-FFF2-40B4-BE49-F238E27FC236}">
                <a16:creationId xmlns:a16="http://schemas.microsoft.com/office/drawing/2014/main" id="{D246BD5B-B2ED-5001-D7ED-093ED57C9A0B}"/>
              </a:ext>
            </a:extLst>
          </p:cNvPr>
          <p:cNvGrpSpPr/>
          <p:nvPr/>
        </p:nvGrpSpPr>
        <p:grpSpPr>
          <a:xfrm>
            <a:off x="228010" y="2368796"/>
            <a:ext cx="2639517" cy="3024933"/>
            <a:chOff x="481384" y="3456432"/>
            <a:chExt cx="807356" cy="925244"/>
          </a:xfrm>
        </p:grpSpPr>
        <p:sp>
          <p:nvSpPr>
            <p:cNvPr id="10" name="TextBox 9">
              <a:extLst>
                <a:ext uri="{FF2B5EF4-FFF2-40B4-BE49-F238E27FC236}">
                  <a16:creationId xmlns:a16="http://schemas.microsoft.com/office/drawing/2014/main" id="{D36B0077-BA5A-603B-DB2E-B7D6EC0E0197}"/>
                </a:ext>
              </a:extLst>
            </p:cNvPr>
            <p:cNvSpPr txBox="1"/>
            <p:nvPr/>
          </p:nvSpPr>
          <p:spPr>
            <a:xfrm>
              <a:off x="492889" y="4202809"/>
              <a:ext cx="784346" cy="178867"/>
            </a:xfrm>
            <a:prstGeom prst="rect">
              <a:avLst/>
            </a:prstGeom>
            <a:noFill/>
          </p:spPr>
          <p:txBody>
            <a:bodyPr wrap="square" rtlCol="0">
              <a:spAutoFit/>
            </a:bodyPr>
            <a:lstStyle/>
            <a:p>
              <a:pPr algn="ctr"/>
              <a:endParaRPr lang="en-GB" sz="1600" b="1" dirty="0"/>
            </a:p>
            <a:p>
              <a:pPr algn="ctr"/>
              <a:r>
                <a:rPr lang="en-GB" sz="1600" b="1" dirty="0"/>
                <a:t>Source</a:t>
              </a:r>
              <a:endParaRPr lang="en-GB" b="1" dirty="0"/>
            </a:p>
          </p:txBody>
        </p:sp>
        <p:pic>
          <p:nvPicPr>
            <p:cNvPr id="11" name="Picture 10" descr="A picture containing text, electronics, display&#10;&#10;Description automatically generated">
              <a:extLst>
                <a:ext uri="{FF2B5EF4-FFF2-40B4-BE49-F238E27FC236}">
                  <a16:creationId xmlns:a16="http://schemas.microsoft.com/office/drawing/2014/main" id="{9300D8CD-58CD-FEAC-0957-8DAF8F23A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spTree>
    <p:extLst>
      <p:ext uri="{BB962C8B-B14F-4D97-AF65-F5344CB8AC3E}">
        <p14:creationId xmlns:p14="http://schemas.microsoft.com/office/powerpoint/2010/main" val="112790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91667E-6 -4.44444E-6 L 0.74323 -0.00509 " pathEditMode="relative" rAng="0" ptsTypes="AA">
                                      <p:cBhvr>
                                        <p:cTn id="6" dur="5000" fill="hold"/>
                                        <p:tgtEl>
                                          <p:spTgt spid="14"/>
                                        </p:tgtEl>
                                        <p:attrNameLst>
                                          <p:attrName>ppt_x</p:attrName>
                                          <p:attrName>ppt_y</p:attrName>
                                        </p:attrNameLst>
                                      </p:cBhvr>
                                      <p:rCtr x="37161" y="-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4" y="1052896"/>
            <a:ext cx="10593863" cy="923330"/>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The problem with this approach is that if the two sets of data are different, there is no way to tell whether the error occurred when sending the data or when it was returned for checking.</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Echo check</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Arrow: Right 1">
            <a:extLst>
              <a:ext uri="{FF2B5EF4-FFF2-40B4-BE49-F238E27FC236}">
                <a16:creationId xmlns:a16="http://schemas.microsoft.com/office/drawing/2014/main" id="{DE7835D5-07C8-7132-5751-95B2FAFA4BE1}"/>
              </a:ext>
            </a:extLst>
          </p:cNvPr>
          <p:cNvSpPr/>
          <p:nvPr/>
        </p:nvSpPr>
        <p:spPr>
          <a:xfrm>
            <a:off x="2716823" y="2237551"/>
            <a:ext cx="6534282" cy="835269"/>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id="{524A8AEB-2F49-FBE8-8E29-4C13947DB25C}"/>
              </a:ext>
            </a:extLst>
          </p:cNvPr>
          <p:cNvSpPr/>
          <p:nvPr/>
        </p:nvSpPr>
        <p:spPr>
          <a:xfrm flipH="1">
            <a:off x="2859126" y="3018068"/>
            <a:ext cx="6534282" cy="835269"/>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Right 12">
            <a:extLst>
              <a:ext uri="{FF2B5EF4-FFF2-40B4-BE49-F238E27FC236}">
                <a16:creationId xmlns:a16="http://schemas.microsoft.com/office/drawing/2014/main" id="{DF2F1C4C-3A42-33B6-DBFF-60C75A32AE51}"/>
              </a:ext>
            </a:extLst>
          </p:cNvPr>
          <p:cNvSpPr/>
          <p:nvPr/>
        </p:nvSpPr>
        <p:spPr>
          <a:xfrm>
            <a:off x="2602523" y="3812582"/>
            <a:ext cx="6646137" cy="835269"/>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1E73E5E-10F8-6C9F-EE7F-2A841A1A6F05}"/>
              </a:ext>
            </a:extLst>
          </p:cNvPr>
          <p:cNvSpPr txBox="1"/>
          <p:nvPr/>
        </p:nvSpPr>
        <p:spPr>
          <a:xfrm>
            <a:off x="256832" y="4064391"/>
            <a:ext cx="2642070" cy="369332"/>
          </a:xfrm>
          <a:prstGeom prst="rect">
            <a:avLst/>
          </a:prstGeom>
          <a:noFill/>
        </p:spPr>
        <p:txBody>
          <a:bodyPr wrap="none" rtlCol="0">
            <a:spAutoFit/>
          </a:bodyPr>
          <a:lstStyle/>
          <a:p>
            <a:r>
              <a:rPr lang="en-GB" dirty="0"/>
              <a:t>100101100110100110010</a:t>
            </a:r>
          </a:p>
        </p:txBody>
      </p:sp>
      <p:grpSp>
        <p:nvGrpSpPr>
          <p:cNvPr id="5" name="Group 4">
            <a:extLst>
              <a:ext uri="{FF2B5EF4-FFF2-40B4-BE49-F238E27FC236}">
                <a16:creationId xmlns:a16="http://schemas.microsoft.com/office/drawing/2014/main" id="{ECB69803-5951-6B2A-38FE-25C9E4DD469F}"/>
              </a:ext>
            </a:extLst>
          </p:cNvPr>
          <p:cNvGrpSpPr/>
          <p:nvPr/>
        </p:nvGrpSpPr>
        <p:grpSpPr>
          <a:xfrm>
            <a:off x="8608907" y="2368795"/>
            <a:ext cx="3964091" cy="3063013"/>
            <a:chOff x="4392654" y="2682339"/>
            <a:chExt cx="1194329" cy="922846"/>
          </a:xfrm>
        </p:grpSpPr>
        <p:pic>
          <p:nvPicPr>
            <p:cNvPr id="7" name="Picture 6" descr="A picture containing text, electronics, display&#10;&#10;Description automatically generated">
              <a:extLst>
                <a:ext uri="{FF2B5EF4-FFF2-40B4-BE49-F238E27FC236}">
                  <a16:creationId xmlns:a16="http://schemas.microsoft.com/office/drawing/2014/main" id="{BE534F91-BE23-E574-2096-AE67479A0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140" y="2682339"/>
              <a:ext cx="807356" cy="792381"/>
            </a:xfrm>
            <a:prstGeom prst="rect">
              <a:avLst/>
            </a:prstGeom>
          </p:spPr>
        </p:pic>
        <p:sp>
          <p:nvSpPr>
            <p:cNvPr id="8" name="TextBox 7">
              <a:extLst>
                <a:ext uri="{FF2B5EF4-FFF2-40B4-BE49-F238E27FC236}">
                  <a16:creationId xmlns:a16="http://schemas.microsoft.com/office/drawing/2014/main" id="{B24E265D-592B-E1E9-33B9-25D3E05E733F}"/>
                </a:ext>
              </a:extLst>
            </p:cNvPr>
            <p:cNvSpPr txBox="1"/>
            <p:nvPr/>
          </p:nvSpPr>
          <p:spPr>
            <a:xfrm>
              <a:off x="4392654" y="3429000"/>
              <a:ext cx="1194329" cy="176185"/>
            </a:xfrm>
            <a:prstGeom prst="rect">
              <a:avLst/>
            </a:prstGeom>
            <a:noFill/>
          </p:spPr>
          <p:txBody>
            <a:bodyPr wrap="square" rtlCol="0">
              <a:spAutoFit/>
            </a:bodyPr>
            <a:lstStyle/>
            <a:p>
              <a:pPr algn="ctr"/>
              <a:endParaRPr lang="en-GB" sz="1600" b="1" dirty="0"/>
            </a:p>
            <a:p>
              <a:pPr algn="ctr"/>
              <a:r>
                <a:rPr lang="en-GB" sz="1600" b="1" dirty="0"/>
                <a:t>Destination</a:t>
              </a:r>
              <a:endParaRPr lang="en-GB" b="1" dirty="0"/>
            </a:p>
          </p:txBody>
        </p:sp>
      </p:grpSp>
      <p:grpSp>
        <p:nvGrpSpPr>
          <p:cNvPr id="9" name="Group 8">
            <a:extLst>
              <a:ext uri="{FF2B5EF4-FFF2-40B4-BE49-F238E27FC236}">
                <a16:creationId xmlns:a16="http://schemas.microsoft.com/office/drawing/2014/main" id="{D246BD5B-B2ED-5001-D7ED-093ED57C9A0B}"/>
              </a:ext>
            </a:extLst>
          </p:cNvPr>
          <p:cNvGrpSpPr/>
          <p:nvPr/>
        </p:nvGrpSpPr>
        <p:grpSpPr>
          <a:xfrm>
            <a:off x="228010" y="2368796"/>
            <a:ext cx="2639517" cy="3024933"/>
            <a:chOff x="481384" y="3456432"/>
            <a:chExt cx="807356" cy="925244"/>
          </a:xfrm>
        </p:grpSpPr>
        <p:sp>
          <p:nvSpPr>
            <p:cNvPr id="10" name="TextBox 9">
              <a:extLst>
                <a:ext uri="{FF2B5EF4-FFF2-40B4-BE49-F238E27FC236}">
                  <a16:creationId xmlns:a16="http://schemas.microsoft.com/office/drawing/2014/main" id="{D36B0077-BA5A-603B-DB2E-B7D6EC0E0197}"/>
                </a:ext>
              </a:extLst>
            </p:cNvPr>
            <p:cNvSpPr txBox="1"/>
            <p:nvPr/>
          </p:nvSpPr>
          <p:spPr>
            <a:xfrm>
              <a:off x="492889" y="4202809"/>
              <a:ext cx="784346" cy="178867"/>
            </a:xfrm>
            <a:prstGeom prst="rect">
              <a:avLst/>
            </a:prstGeom>
            <a:noFill/>
          </p:spPr>
          <p:txBody>
            <a:bodyPr wrap="square" rtlCol="0">
              <a:spAutoFit/>
            </a:bodyPr>
            <a:lstStyle/>
            <a:p>
              <a:pPr algn="ctr"/>
              <a:endParaRPr lang="en-GB" sz="1600" b="1" dirty="0"/>
            </a:p>
            <a:p>
              <a:pPr algn="ctr"/>
              <a:r>
                <a:rPr lang="en-GB" sz="1600" b="1" dirty="0"/>
                <a:t>Source</a:t>
              </a:r>
              <a:endParaRPr lang="en-GB" b="1" dirty="0"/>
            </a:p>
          </p:txBody>
        </p:sp>
        <p:pic>
          <p:nvPicPr>
            <p:cNvPr id="11" name="Picture 10" descr="A picture containing text, electronics, display&#10;&#10;Description automatically generated">
              <a:extLst>
                <a:ext uri="{FF2B5EF4-FFF2-40B4-BE49-F238E27FC236}">
                  <a16:creationId xmlns:a16="http://schemas.microsoft.com/office/drawing/2014/main" id="{9300D8CD-58CD-FEAC-0957-8DAF8F23A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384" y="3456432"/>
              <a:ext cx="807356" cy="792381"/>
            </a:xfrm>
            <a:prstGeom prst="rect">
              <a:avLst/>
            </a:prstGeom>
          </p:spPr>
        </p:pic>
      </p:grpSp>
    </p:spTree>
    <p:extLst>
      <p:ext uri="{BB962C8B-B14F-4D97-AF65-F5344CB8AC3E}">
        <p14:creationId xmlns:p14="http://schemas.microsoft.com/office/powerpoint/2010/main" val="4118590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54906" y="1789863"/>
            <a:ext cx="11662774" cy="5032147"/>
          </a:xfrm>
          <a:prstGeom prst="rect">
            <a:avLst/>
          </a:prstGeom>
        </p:spPr>
        <p:txBody>
          <a:bodyPr wrap="square">
            <a:spAutoFit/>
          </a:bodyPr>
          <a:lstStyle/>
          <a:p>
            <a:r>
              <a:rPr lang="en-GB" b="1" dirty="0">
                <a:latin typeface="Calibri" panose="020F0502020204030204" pitchFamily="34" charset="0"/>
                <a:ea typeface="Calibri" panose="020F0502020204030204" pitchFamily="34" charset="0"/>
                <a:cs typeface="Times New Roman" panose="02020603050405020304" pitchFamily="18" charset="0"/>
              </a:rPr>
              <a:t>Parity checks</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When sending a byte of data, we can use the Most Significant Bit as a parity bit.</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With even parity, we set the MSB to be 1 or 0 so that the total number of bits – including the parity bit – is even.</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With odd parity, we set the MSB to be 1 or 0 so that the total number of bits – including the parity bit – is odd. </a:t>
            </a:r>
          </a:p>
          <a:p>
            <a:pPr marL="742950" lvl="1" indent="-285750">
              <a:spcAft>
                <a:spcPts val="6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With this method, simple errors can be spotted, but there is no way to tell exactly where the error occurred.</a:t>
            </a:r>
          </a:p>
          <a:p>
            <a:r>
              <a:rPr lang="en-GB" b="1" dirty="0">
                <a:latin typeface="Calibri" panose="020F0502020204030204" pitchFamily="34" charset="0"/>
                <a:ea typeface="Calibri" panose="020F0502020204030204" pitchFamily="34" charset="0"/>
                <a:cs typeface="Times New Roman" panose="02020603050405020304" pitchFamily="18" charset="0"/>
              </a:rPr>
              <a:t>Parity block checks</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When sending a block of data, parity checks can be performed both horizontally and vertically on the whole block.</a:t>
            </a:r>
          </a:p>
          <a:p>
            <a:pPr marL="742950" lvl="1" indent="-285750">
              <a:spcAft>
                <a:spcPts val="6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These checks can spot that an error has occurred </a:t>
            </a:r>
            <a:r>
              <a:rPr lang="en-GB" i="1" dirty="0">
                <a:latin typeface="Calibri" panose="020F0502020204030204" pitchFamily="34" charset="0"/>
                <a:ea typeface="Calibri" panose="020F0502020204030204" pitchFamily="34" charset="0"/>
                <a:cs typeface="Times New Roman" panose="02020603050405020304" pitchFamily="18" charset="0"/>
              </a:rPr>
              <a:t>and</a:t>
            </a:r>
            <a:r>
              <a:rPr lang="en-GB" dirty="0">
                <a:latin typeface="Calibri" panose="020F0502020204030204" pitchFamily="34" charset="0"/>
                <a:ea typeface="Calibri" panose="020F0502020204030204" pitchFamily="34" charset="0"/>
                <a:cs typeface="Times New Roman" panose="02020603050405020304" pitchFamily="18" charset="0"/>
              </a:rPr>
              <a:t> where, allowing the receiving device to fix the error.</a:t>
            </a:r>
          </a:p>
          <a:p>
            <a:r>
              <a:rPr lang="en-GB" b="1" dirty="0">
                <a:latin typeface="Calibri" panose="020F0502020204030204" pitchFamily="34" charset="0"/>
                <a:ea typeface="Calibri" panose="020F0502020204030204" pitchFamily="34" charset="0"/>
                <a:cs typeface="Times New Roman" panose="02020603050405020304" pitchFamily="18" charset="0"/>
              </a:rPr>
              <a:t>Checksums</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checksum is calculated by using an algorithm on the data to be transmitted.</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This checksum is added to the transmission and sent along with it.</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The receiving device re-calculates the checksum and compares the new one with the original.</a:t>
            </a:r>
          </a:p>
          <a:p>
            <a:pPr marL="742950" lvl="1" indent="-285750">
              <a:spcAft>
                <a:spcPts val="6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If the checksums do not match, it is assumed that an error has occurred</a:t>
            </a:r>
          </a:p>
          <a:p>
            <a:r>
              <a:rPr lang="en-GB" b="1" dirty="0">
                <a:latin typeface="Calibri" panose="020F0502020204030204" pitchFamily="34" charset="0"/>
                <a:ea typeface="Calibri" panose="020F0502020204030204" pitchFamily="34" charset="0"/>
                <a:cs typeface="Times New Roman" panose="02020603050405020304" pitchFamily="18" charset="0"/>
              </a:rPr>
              <a:t>Echo check</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The receiving device returns an exact copy of the data it has just received.</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The data is compared to what was originally sent. If it is different, it is assumed that an error has occurred, and the original data is re-sent.</a:t>
            </a:r>
          </a:p>
        </p:txBody>
      </p:sp>
      <p:sp>
        <p:nvSpPr>
          <p:cNvPr id="6" name="Rectangle 5">
            <a:extLst>
              <a:ext uri="{FF2B5EF4-FFF2-40B4-BE49-F238E27FC236}">
                <a16:creationId xmlns:a16="http://schemas.microsoft.com/office/drawing/2014/main" id="{50213629-B856-4319-B482-ECBCD25E2D9C}"/>
              </a:ext>
            </a:extLst>
          </p:cNvPr>
          <p:cNvSpPr/>
          <p:nvPr/>
        </p:nvSpPr>
        <p:spPr>
          <a:xfrm>
            <a:off x="1368341" y="523174"/>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Error detection methods</a:t>
            </a:r>
            <a:endParaRPr lang="en-GB" sz="12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2" descr="make_notes">
            <a:extLst>
              <a:ext uri="{FF2B5EF4-FFF2-40B4-BE49-F238E27FC236}">
                <a16:creationId xmlns:a16="http://schemas.microsoft.com/office/drawing/2014/main" id="{EB9ED92E-B991-4AC2-BFD3-EAB43E73000A}"/>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54906" y="611347"/>
            <a:ext cx="1113436" cy="1113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151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947853-E1EE-4D77-9DC1-BD14C2A8064E}"/>
              </a:ext>
            </a:extLst>
          </p:cNvPr>
          <p:cNvPicPr>
            <a:picLocks noChangeAspect="1"/>
          </p:cNvPicPr>
          <p:nvPr/>
        </p:nvPicPr>
        <p:blipFill>
          <a:blip r:embed="rId2"/>
          <a:stretch>
            <a:fillRect/>
          </a:stretch>
        </p:blipFill>
        <p:spPr>
          <a:xfrm>
            <a:off x="-47625" y="-28575"/>
            <a:ext cx="12239625" cy="6886575"/>
          </a:xfrm>
          <a:prstGeom prst="rect">
            <a:avLst/>
          </a:prstGeom>
        </p:spPr>
      </p:pic>
    </p:spTree>
    <p:extLst>
      <p:ext uri="{BB962C8B-B14F-4D97-AF65-F5344CB8AC3E}">
        <p14:creationId xmlns:p14="http://schemas.microsoft.com/office/powerpoint/2010/main" val="38148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1919</TotalTime>
  <Words>2393</Words>
  <Application>Microsoft Office PowerPoint</Application>
  <PresentationFormat>Widescreen</PresentationFormat>
  <Paragraphs>1341</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Craig Sargent</dc:creator>
  <cp:lastModifiedBy>Craig Sargent</cp:lastModifiedBy>
  <cp:revision>122</cp:revision>
  <dcterms:created xsi:type="dcterms:W3CDTF">2019-10-14T15:21:06Z</dcterms:created>
  <dcterms:modified xsi:type="dcterms:W3CDTF">2022-05-17T16:21:16Z</dcterms:modified>
</cp:coreProperties>
</file>