
<file path=[Content_Types].xml><?xml version="1.0" encoding="utf-8"?>
<Types xmlns="http://schemas.openxmlformats.org/package/2006/content-types"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7" r:id="rId2"/>
    <p:sldId id="262" r:id="rId3"/>
    <p:sldId id="259" r:id="rId4"/>
    <p:sldId id="263" r:id="rId5"/>
    <p:sldId id="264" r:id="rId6"/>
    <p:sldId id="266" r:id="rId7"/>
    <p:sldId id="267" r:id="rId8"/>
    <p:sldId id="268" r:id="rId9"/>
    <p:sldId id="269" r:id="rId10"/>
    <p:sldId id="270" r:id="rId11"/>
    <p:sldId id="271" r:id="rId12"/>
    <p:sldId id="260" r:id="rId13"/>
    <p:sldId id="322" r:id="rId14"/>
    <p:sldId id="275" r:id="rId15"/>
    <p:sldId id="277" r:id="rId16"/>
    <p:sldId id="272" r:id="rId17"/>
    <p:sldId id="273" r:id="rId18"/>
    <p:sldId id="278" r:id="rId19"/>
    <p:sldId id="274" r:id="rId20"/>
    <p:sldId id="29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2CC"/>
    <a:srgbClr val="D9D9D9"/>
    <a:srgbClr val="FFFFFF"/>
    <a:srgbClr val="0087B1"/>
    <a:srgbClr val="000956"/>
    <a:srgbClr val="99E265"/>
    <a:srgbClr val="008C8C"/>
    <a:srgbClr val="00B2B2"/>
    <a:srgbClr val="26C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4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4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23/05/2022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23/05/2022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23/05/2022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23/05/2022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23/05/2022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23/05/2022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23/05/2022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23/05/2022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23/05/2022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b="1" dirty="0">
                  <a:solidFill>
                    <a:schemeClr val="bg1"/>
                  </a:solidFill>
                </a:rPr>
                <a:t>3.1 Computer architecture | Purpose of the components in a CPU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8992998" y="0"/>
              <a:ext cx="319900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23/05/2022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23/05/2022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23/05/2022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23/05/2022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23/05/2022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audio" Target="../media/media1.m4a"/><Relationship Id="rId7" Type="http://schemas.openxmlformats.org/officeDocument/2006/relationships/image" Target="../media/image4.png"/><Relationship Id="rId2" Type="http://schemas.microsoft.com/office/2007/relationships/media" Target="../media/media1.m4a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slideLayout" Target="../slideLayouts/slideLayout8.xml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3.1 Computer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Purpose of the </a:t>
            </a:r>
            <a:br>
              <a:rPr lang="en-GB" sz="40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components in a CPU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9FA845C-A2B6-4ABC-BC01-D8E4389F0C3D}"/>
              </a:ext>
            </a:extLst>
          </p:cNvPr>
          <p:cNvSpPr/>
          <p:nvPr/>
        </p:nvSpPr>
        <p:spPr>
          <a:xfrm>
            <a:off x="176565" y="523174"/>
            <a:ext cx="4281813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F2652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Main components of a computer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66E5496-2DAC-4A38-80A3-F1527EE6F218}"/>
              </a:ext>
            </a:extLst>
          </p:cNvPr>
          <p:cNvGrpSpPr/>
          <p:nvPr/>
        </p:nvGrpSpPr>
        <p:grpSpPr>
          <a:xfrm>
            <a:off x="314381" y="1126679"/>
            <a:ext cx="9452402" cy="5524781"/>
            <a:chOff x="314381" y="1126679"/>
            <a:chExt cx="9452402" cy="5524781"/>
          </a:xfrm>
        </p:grpSpPr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C33C84AB-7BA6-4D3B-B5A1-FB00CAF4F1A2}"/>
                </a:ext>
              </a:extLst>
            </p:cNvPr>
            <p:cNvGrpSpPr/>
            <p:nvPr/>
          </p:nvGrpSpPr>
          <p:grpSpPr>
            <a:xfrm>
              <a:off x="8986147" y="1792330"/>
              <a:ext cx="780636" cy="4248617"/>
              <a:chOff x="5696193" y="1876048"/>
              <a:chExt cx="1665274" cy="4248617"/>
            </a:xfrm>
          </p:grpSpPr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4F94A383-09A8-4898-924A-CEDDCC36ED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96193" y="1876048"/>
                <a:ext cx="1658924" cy="0"/>
              </a:xfrm>
              <a:prstGeom prst="straightConnector1">
                <a:avLst/>
              </a:prstGeom>
              <a:ln w="508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58750DAB-344D-4D4A-A75A-1CC8F929B0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02543" y="6124665"/>
                <a:ext cx="1658924" cy="0"/>
              </a:xfrm>
              <a:prstGeom prst="straightConnector1">
                <a:avLst/>
              </a:prstGeom>
              <a:ln w="50800">
                <a:solidFill>
                  <a:srgbClr val="C0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0901B2A0-A704-46A6-BCE8-2FE664A73D1A}"/>
                </a:ext>
              </a:extLst>
            </p:cNvPr>
            <p:cNvGrpSpPr/>
            <p:nvPr/>
          </p:nvGrpSpPr>
          <p:grpSpPr>
            <a:xfrm>
              <a:off x="314381" y="1126679"/>
              <a:ext cx="3252122" cy="5524781"/>
              <a:chOff x="314381" y="1126679"/>
              <a:chExt cx="3252122" cy="5524781"/>
            </a:xfrm>
          </p:grpSpPr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ED5BCC9D-9D82-44AB-B83B-076CFF1596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85867" y="1792330"/>
                <a:ext cx="777659" cy="0"/>
              </a:xfrm>
              <a:prstGeom prst="straightConnector1">
                <a:avLst/>
              </a:prstGeom>
              <a:ln w="508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2B76C5F7-1E8B-49B6-9E11-C3C606E372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88844" y="6040947"/>
                <a:ext cx="777659" cy="0"/>
              </a:xfrm>
              <a:prstGeom prst="straightConnector1">
                <a:avLst/>
              </a:prstGeom>
              <a:ln w="50800">
                <a:solidFill>
                  <a:srgbClr val="C0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4" name="Picture 13" descr="A picture containing drawing&#10;&#10;Description automatically generated">
                <a:extLst>
                  <a:ext uri="{FF2B5EF4-FFF2-40B4-BE49-F238E27FC236}">
                    <a16:creationId xmlns:a16="http://schemas.microsoft.com/office/drawing/2014/main" id="{8054AEF3-6900-48FB-B77D-31FA931B6D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93383" y="1178314"/>
                <a:ext cx="1228029" cy="1228029"/>
              </a:xfrm>
              <a:prstGeom prst="rect">
                <a:avLst/>
              </a:prstGeom>
            </p:spPr>
          </p:pic>
          <p:pic>
            <p:nvPicPr>
              <p:cNvPr id="16" name="Picture 15" descr="A close up of a logo&#10;&#10;Description automatically generated">
                <a:extLst>
                  <a:ext uri="{FF2B5EF4-FFF2-40B4-BE49-F238E27FC236}">
                    <a16:creationId xmlns:a16="http://schemas.microsoft.com/office/drawing/2014/main" id="{34463B7E-D45E-4075-BAC2-ABEC34A7E64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314" r="16633"/>
              <a:stretch/>
            </p:blipFill>
            <p:spPr>
              <a:xfrm>
                <a:off x="1797893" y="1126679"/>
                <a:ext cx="887123" cy="1331301"/>
              </a:xfrm>
              <a:prstGeom prst="rect">
                <a:avLst/>
              </a:prstGeom>
            </p:spPr>
          </p:pic>
          <p:pic>
            <p:nvPicPr>
              <p:cNvPr id="18" name="Picture 17" descr="A close up of a computer&#10;&#10;Description automatically generated">
                <a:extLst>
                  <a:ext uri="{FF2B5EF4-FFF2-40B4-BE49-F238E27FC236}">
                    <a16:creationId xmlns:a16="http://schemas.microsoft.com/office/drawing/2014/main" id="{4490B959-052F-41BA-9FAC-49C89ED079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4381" y="5423431"/>
                <a:ext cx="1228029" cy="1228029"/>
              </a:xfrm>
              <a:prstGeom prst="rect">
                <a:avLst/>
              </a:prstGeom>
            </p:spPr>
          </p:pic>
          <p:pic>
            <p:nvPicPr>
              <p:cNvPr id="20" name="Picture 19" descr="A close up of a logo&#10;&#10;Description automatically generated">
                <a:extLst>
                  <a:ext uri="{FF2B5EF4-FFF2-40B4-BE49-F238E27FC236}">
                    <a16:creationId xmlns:a16="http://schemas.microsoft.com/office/drawing/2014/main" id="{C5D240B2-D6D3-4FF1-BD61-FC770C197D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49693" y="5434541"/>
                <a:ext cx="1153794" cy="1153794"/>
              </a:xfrm>
              <a:prstGeom prst="rect">
                <a:avLst/>
              </a:prstGeom>
            </p:spPr>
          </p:pic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D5935B9C-B50B-4CAC-A6CE-DF9F31147076}"/>
                  </a:ext>
                </a:extLst>
              </p:cNvPr>
              <p:cNvSpPr txBox="1"/>
              <p:nvPr/>
            </p:nvSpPr>
            <p:spPr>
              <a:xfrm>
                <a:off x="751858" y="2457980"/>
                <a:ext cx="19324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800" b="1" dirty="0">
                    <a:solidFill>
                      <a:schemeClr val="tx1"/>
                    </a:solidFill>
                  </a:rPr>
                  <a:t>Input devices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42ED4B4-93D5-4734-9863-A33F4810B393}"/>
                  </a:ext>
                </a:extLst>
              </p:cNvPr>
              <p:cNvSpPr txBox="1"/>
              <p:nvPr/>
            </p:nvSpPr>
            <p:spPr>
              <a:xfrm>
                <a:off x="751858" y="5002462"/>
                <a:ext cx="19324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800" b="1" dirty="0">
                    <a:solidFill>
                      <a:schemeClr val="tx1"/>
                    </a:solidFill>
                  </a:rPr>
                  <a:t>Output devices</a:t>
                </a:r>
              </a:p>
            </p:txBody>
          </p: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869BC2C-838E-4230-B9FE-AB0D8374C9B2}"/>
              </a:ext>
            </a:extLst>
          </p:cNvPr>
          <p:cNvGrpSpPr/>
          <p:nvPr/>
        </p:nvGrpSpPr>
        <p:grpSpPr>
          <a:xfrm>
            <a:off x="3566503" y="1077398"/>
            <a:ext cx="8217002" cy="5632293"/>
            <a:chOff x="3566503" y="993174"/>
            <a:chExt cx="8217002" cy="563229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5B355E1-549A-4594-8FEA-A0CA781F2760}"/>
                </a:ext>
              </a:extLst>
            </p:cNvPr>
            <p:cNvSpPr/>
            <p:nvPr/>
          </p:nvSpPr>
          <p:spPr>
            <a:xfrm>
              <a:off x="3566503" y="993174"/>
              <a:ext cx="5425625" cy="5632293"/>
            </a:xfrm>
            <a:prstGeom prst="rect">
              <a:avLst/>
            </a:prstGeom>
            <a:solidFill>
              <a:srgbClr val="FFB3B3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72000" tIns="1260000" rtlCol="0" anchor="t" anchorCtr="0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855D8CD-D8EF-4205-82AD-300AD2BB5329}"/>
                </a:ext>
              </a:extLst>
            </p:cNvPr>
            <p:cNvSpPr/>
            <p:nvPr/>
          </p:nvSpPr>
          <p:spPr>
            <a:xfrm>
              <a:off x="3657598" y="1075035"/>
              <a:ext cx="5229018" cy="546444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sz="1400" b="1" dirty="0">
                  <a:solidFill>
                    <a:schemeClr val="tx1"/>
                  </a:solidFill>
                </a:rPr>
                <a:t>Central processing unit (CPU)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5C0EEA4-FF12-4DCA-BEDE-D3D7E1AD75E4}"/>
                </a:ext>
              </a:extLst>
            </p:cNvPr>
            <p:cNvSpPr/>
            <p:nvPr/>
          </p:nvSpPr>
          <p:spPr>
            <a:xfrm>
              <a:off x="9777802" y="993174"/>
              <a:ext cx="2005703" cy="5632279"/>
            </a:xfrm>
            <a:prstGeom prst="rect">
              <a:avLst/>
            </a:prstGeom>
            <a:solidFill>
              <a:srgbClr val="FFB3B3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sz="1400" b="1" dirty="0">
                  <a:solidFill>
                    <a:schemeClr val="tx1"/>
                  </a:solidFill>
                </a:rPr>
                <a:t>Main memory (RAM)</a:t>
              </a:r>
            </a:p>
          </p:txBody>
        </p:sp>
        <p:pic>
          <p:nvPicPr>
            <p:cNvPr id="26" name="Picture 25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00392DEB-C7B2-4B80-BC3B-FA639734F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485" y="1423447"/>
              <a:ext cx="4956714" cy="4956714"/>
            </a:xfrm>
            <a:prstGeom prst="rect">
              <a:avLst/>
            </a:prstGeom>
          </p:spPr>
        </p:pic>
        <p:pic>
          <p:nvPicPr>
            <p:cNvPr id="31" name="Picture 30" descr="A picture containing clock&#10;&#10;Description automatically generated">
              <a:extLst>
                <a:ext uri="{FF2B5EF4-FFF2-40B4-BE49-F238E27FC236}">
                  <a16:creationId xmlns:a16="http://schemas.microsoft.com/office/drawing/2014/main" id="{87174724-8E26-4849-B4F5-4E720BC727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702" b="50520"/>
            <a:stretch/>
          </p:blipFill>
          <p:spPr>
            <a:xfrm rot="16200000">
              <a:off x="8370839" y="3053866"/>
              <a:ext cx="4876190" cy="1695875"/>
            </a:xfrm>
            <a:prstGeom prst="rect">
              <a:avLst/>
            </a:prstGeom>
          </p:spPr>
        </p:pic>
      </p:grpSp>
      <p:pic>
        <p:nvPicPr>
          <p:cNvPr id="23" name="Audio 3">
            <a:hlinkClick r:id="" action="ppaction://media"/>
            <a:extLst>
              <a:ext uri="{FF2B5EF4-FFF2-40B4-BE49-F238E27FC236}">
                <a16:creationId xmlns:a16="http://schemas.microsoft.com/office/drawing/2014/main" id="{4F42A03E-34F7-EF1D-F463-5F34AC74814D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93403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875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xit" presetSubtype="0" fill="hold" nodeType="withEffect">
                                  <p:stCondLst>
                                    <p:cond delay="38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5" presetClass="path" presetSubtype="0" accel="50000" decel="50000" fill="hold" nodeType="withEffect">
                                  <p:stCondLst>
                                    <p:cond delay="38500"/>
                                  </p:stCondLst>
                                  <p:childTnLst>
                                    <p:animMotion origin="layout" path="M 2.70833E-6 -4.07407E-6 L -0.28112 -4.07407E-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06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5B355E1-549A-4594-8FEA-A0CA781F2760}"/>
              </a:ext>
            </a:extLst>
          </p:cNvPr>
          <p:cNvSpPr/>
          <p:nvPr/>
        </p:nvSpPr>
        <p:spPr>
          <a:xfrm>
            <a:off x="144573" y="1076892"/>
            <a:ext cx="5425625" cy="5632293"/>
          </a:xfrm>
          <a:prstGeom prst="rect">
            <a:avLst/>
          </a:prstGeom>
          <a:solidFill>
            <a:srgbClr val="FFB3B3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72000" tIns="1260000" rtlCol="0" anchor="t" anchorCtr="0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55D8CD-D8EF-4205-82AD-300AD2BB5329}"/>
              </a:ext>
            </a:extLst>
          </p:cNvPr>
          <p:cNvSpPr/>
          <p:nvPr/>
        </p:nvSpPr>
        <p:spPr>
          <a:xfrm>
            <a:off x="235668" y="1158753"/>
            <a:ext cx="5229018" cy="54644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Central processing unit (CPU)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49E10F79-511E-4EC4-AAE7-1E022E464105}"/>
              </a:ext>
            </a:extLst>
          </p:cNvPr>
          <p:cNvGrpSpPr/>
          <p:nvPr/>
        </p:nvGrpSpPr>
        <p:grpSpPr>
          <a:xfrm>
            <a:off x="1641577" y="2169083"/>
            <a:ext cx="3500410" cy="4333994"/>
            <a:chOff x="1773554" y="2169083"/>
            <a:chExt cx="3500410" cy="4333994"/>
          </a:xfrm>
        </p:grpSpPr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57888D9B-63CC-4AFF-8DBD-0809DA7704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1904" y="6503077"/>
              <a:ext cx="191165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77DA5366-36A4-475D-80F3-FCFA2BBF28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45226" y="6389225"/>
              <a:ext cx="1838337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875504A7-D1EF-4CC0-B21B-97723B8703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4019" y="6281065"/>
              <a:ext cx="1109544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E61048D-FA7A-450B-9057-1B71AF9CF5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2638" y="6178598"/>
              <a:ext cx="300926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1D04FA21-AA72-4833-9A58-FA3142351A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65188" y="6070440"/>
              <a:ext cx="218375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9DB82770-4BBA-4268-974D-D070F70CB5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47434" y="5956589"/>
              <a:ext cx="13612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A52308F8-4A31-4510-BAE3-99871709F0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3" y="5848429"/>
              <a:ext cx="59410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A6F29D5-82AB-4E5E-8D98-7818D5DEB4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0064" y="5542644"/>
              <a:ext cx="0" cy="738421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C47FA203-A773-425C-9E14-DDCB084AF9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0893" y="4701128"/>
              <a:ext cx="0" cy="213772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F5A2EFA0-5A33-49CE-80AF-085E74F169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4544" y="4914900"/>
              <a:ext cx="480682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CB6A3E1B-243B-4D67-9E51-A465C1F557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5226" y="4910139"/>
              <a:ext cx="0" cy="1479086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6D3CB495-CDE1-472D-971B-2637811B79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3964" y="4381492"/>
              <a:ext cx="0" cy="1317756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F7DB7E6F-644E-4468-A5ED-ACBF2F3CC9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153" y="2169083"/>
              <a:ext cx="0" cy="3679347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D98872B6-7248-41DB-A180-E0EF590867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7434" y="2230993"/>
              <a:ext cx="0" cy="3725597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62277DB8-B20F-48C4-80A9-CE0268CED7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5188" y="3054908"/>
              <a:ext cx="0" cy="3015532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87C4F4E2-88CF-48DF-B66A-EB6A3F623C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2638" y="3966927"/>
              <a:ext cx="0" cy="2211671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3D1895AC-8354-4DF1-8C93-38A4515EB8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2" y="3971689"/>
              <a:ext cx="13612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F35D0887-9845-4D5E-A243-13BEC393B6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3" y="3054908"/>
              <a:ext cx="222685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BECAA9B0-DB0B-47DE-91A2-842DF82A9F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4" y="2173845"/>
              <a:ext cx="6631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A15AAD2E-4F60-4D04-828B-4DB4212A01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3554" y="2233374"/>
              <a:ext cx="2473880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2109BE97-9B90-4417-8D03-D0AFF857C56F}"/>
              </a:ext>
            </a:extLst>
          </p:cNvPr>
          <p:cNvSpPr/>
          <p:nvPr/>
        </p:nvSpPr>
        <p:spPr>
          <a:xfrm>
            <a:off x="329506" y="5279014"/>
            <a:ext cx="2010421" cy="124189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Cache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D1D5CDF-1A51-486F-A79D-EDC4E208B261}"/>
              </a:ext>
            </a:extLst>
          </p:cNvPr>
          <p:cNvSpPr/>
          <p:nvPr/>
        </p:nvSpPr>
        <p:spPr>
          <a:xfrm>
            <a:off x="2491086" y="4708604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Current instruction register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44EA3CA-B2AE-4A07-A327-AC253DF3EC0C}"/>
              </a:ext>
            </a:extLst>
          </p:cNvPr>
          <p:cNvSpPr/>
          <p:nvPr/>
        </p:nvSpPr>
        <p:spPr>
          <a:xfrm>
            <a:off x="329506" y="1461652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Program counter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844966C-9D33-4FB4-91E9-FC5819D4BA3B}"/>
              </a:ext>
            </a:extLst>
          </p:cNvPr>
          <p:cNvSpPr/>
          <p:nvPr/>
        </p:nvSpPr>
        <p:spPr>
          <a:xfrm>
            <a:off x="2492502" y="2398380"/>
            <a:ext cx="1314000" cy="82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Accumulator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3360B80-E436-4445-AF6B-DCC7370F14F2}"/>
              </a:ext>
            </a:extLst>
          </p:cNvPr>
          <p:cNvSpPr/>
          <p:nvPr/>
        </p:nvSpPr>
        <p:spPr>
          <a:xfrm>
            <a:off x="2494433" y="3553492"/>
            <a:ext cx="1312069" cy="82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Arithmetic logic unit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0C88483-223A-43FF-B0CD-C28747578C03}"/>
              </a:ext>
            </a:extLst>
          </p:cNvPr>
          <p:cNvSpPr/>
          <p:nvPr/>
        </p:nvSpPr>
        <p:spPr>
          <a:xfrm>
            <a:off x="4258496" y="1461652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address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F22CAA4-0A4F-4F5B-ABD8-6EF614C8140D}"/>
              </a:ext>
            </a:extLst>
          </p:cNvPr>
          <p:cNvSpPr/>
          <p:nvPr/>
        </p:nvSpPr>
        <p:spPr>
          <a:xfrm>
            <a:off x="4258496" y="3554121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data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955642C-8431-4E2A-89CC-8357C1EF8B5E}"/>
              </a:ext>
            </a:extLst>
          </p:cNvPr>
          <p:cNvSpPr/>
          <p:nvPr/>
        </p:nvSpPr>
        <p:spPr>
          <a:xfrm>
            <a:off x="4258597" y="5699247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Control</a:t>
            </a:r>
          </a:p>
          <a:p>
            <a:pPr algn="ctr"/>
            <a:r>
              <a:rPr lang="en-GB" sz="1100" b="1" dirty="0">
                <a:solidFill>
                  <a:schemeClr val="tx1"/>
                </a:solidFill>
              </a:rPr>
              <a:t>unit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9899F61-F6B5-4D33-A478-3B9D48E4F16A}"/>
              </a:ext>
            </a:extLst>
          </p:cNvPr>
          <p:cNvCxnSpPr>
            <a:cxnSpLocks/>
          </p:cNvCxnSpPr>
          <p:nvPr/>
        </p:nvCxnSpPr>
        <p:spPr>
          <a:xfrm>
            <a:off x="1641576" y="1677928"/>
            <a:ext cx="261057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C853DF55-7BE5-4BEC-ADA5-08BE7E6E302F}"/>
              </a:ext>
            </a:extLst>
          </p:cNvPr>
          <p:cNvGrpSpPr/>
          <p:nvPr/>
        </p:nvGrpSpPr>
        <p:grpSpPr>
          <a:xfrm>
            <a:off x="1641576" y="1973102"/>
            <a:ext cx="305278" cy="418928"/>
            <a:chOff x="1641576" y="1973102"/>
            <a:chExt cx="305278" cy="418928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51A98C67-6EFD-482B-AD9D-6E06220D71A3}"/>
                </a:ext>
              </a:extLst>
            </p:cNvPr>
            <p:cNvCxnSpPr/>
            <p:nvPr/>
          </p:nvCxnSpPr>
          <p:spPr>
            <a:xfrm flipV="1">
              <a:off x="1932566" y="1980723"/>
              <a:ext cx="0" cy="411307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D44E5C96-B86A-44AF-95E3-C2EE30FE02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1576" y="1973102"/>
              <a:ext cx="305278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851AF537-1B00-4212-8982-2FD467DAF4F6}"/>
              </a:ext>
            </a:extLst>
          </p:cNvPr>
          <p:cNvGrpSpPr/>
          <p:nvPr/>
        </p:nvGrpSpPr>
        <p:grpSpPr>
          <a:xfrm>
            <a:off x="2175453" y="1973102"/>
            <a:ext cx="2076693" cy="418928"/>
            <a:chOff x="2175453" y="1973102"/>
            <a:chExt cx="2076693" cy="418928"/>
          </a:xfrm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6706EBCA-A953-4750-B67F-9E2C340BA05F}"/>
                </a:ext>
              </a:extLst>
            </p:cNvPr>
            <p:cNvCxnSpPr/>
            <p:nvPr/>
          </p:nvCxnSpPr>
          <p:spPr>
            <a:xfrm flipV="1">
              <a:off x="2189740" y="1980723"/>
              <a:ext cx="0" cy="411307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50F0D26-AC86-451E-A7B8-329F2863D8DD}"/>
                </a:ext>
              </a:extLst>
            </p:cNvPr>
            <p:cNvCxnSpPr>
              <a:cxnSpLocks/>
            </p:cNvCxnSpPr>
            <p:nvPr/>
          </p:nvCxnSpPr>
          <p:spPr>
            <a:xfrm>
              <a:off x="2175453" y="1973102"/>
              <a:ext cx="2076693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AA287EB-E571-42D1-AEDC-912F0CE3949C}"/>
              </a:ext>
            </a:extLst>
          </p:cNvPr>
          <p:cNvCxnSpPr>
            <a:cxnSpLocks/>
            <a:stCxn id="51" idx="0"/>
          </p:cNvCxnSpPr>
          <p:nvPr/>
        </p:nvCxnSpPr>
        <p:spPr>
          <a:xfrm flipH="1" flipV="1">
            <a:off x="3142042" y="3232336"/>
            <a:ext cx="8426" cy="321156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3E1640E-C787-4FD8-935B-912FDC5A2CEA}"/>
              </a:ext>
            </a:extLst>
          </p:cNvPr>
          <p:cNvCxnSpPr>
            <a:cxnSpLocks/>
          </p:cNvCxnSpPr>
          <p:nvPr/>
        </p:nvCxnSpPr>
        <p:spPr>
          <a:xfrm flipV="1">
            <a:off x="4920982" y="2770122"/>
            <a:ext cx="0" cy="780826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13FE9B8-92F9-42F9-844F-021624B0D8F6}"/>
              </a:ext>
            </a:extLst>
          </p:cNvPr>
          <p:cNvCxnSpPr>
            <a:cxnSpLocks/>
          </p:cNvCxnSpPr>
          <p:nvPr/>
        </p:nvCxnSpPr>
        <p:spPr>
          <a:xfrm flipH="1">
            <a:off x="3806502" y="2770122"/>
            <a:ext cx="1127180" cy="0"/>
          </a:xfrm>
          <a:prstGeom prst="line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024632E5-0DCF-4BCE-9306-692F2A1A4528}"/>
              </a:ext>
            </a:extLst>
          </p:cNvPr>
          <p:cNvGrpSpPr/>
          <p:nvPr/>
        </p:nvGrpSpPr>
        <p:grpSpPr>
          <a:xfrm>
            <a:off x="3810525" y="4382913"/>
            <a:ext cx="1123157" cy="741531"/>
            <a:chOff x="3863234" y="4382913"/>
            <a:chExt cx="1202425" cy="1144394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94BF27E-4F7B-48A0-BB1D-7924C13036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A7FECD1-4257-4FAF-BD1D-4D809BED52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AECE537-6ACB-44D0-A092-63AB541186E4}"/>
              </a:ext>
            </a:extLst>
          </p:cNvPr>
          <p:cNvGrpSpPr/>
          <p:nvPr/>
        </p:nvGrpSpPr>
        <p:grpSpPr>
          <a:xfrm rot="5400000">
            <a:off x="1448476" y="4082207"/>
            <a:ext cx="423320" cy="1661159"/>
            <a:chOff x="3863234" y="4382913"/>
            <a:chExt cx="1202425" cy="1144394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5FDB3E7B-2157-4842-9E9E-73DE437B28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25A27C00-C803-4B21-A77E-7D5983355A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B5C0EEA4-FF12-4DCA-BEDE-D3D7E1AD75E4}"/>
              </a:ext>
            </a:extLst>
          </p:cNvPr>
          <p:cNvSpPr/>
          <p:nvPr/>
        </p:nvSpPr>
        <p:spPr>
          <a:xfrm>
            <a:off x="6355872" y="1076892"/>
            <a:ext cx="2005703" cy="5632279"/>
          </a:xfrm>
          <a:prstGeom prst="rect">
            <a:avLst/>
          </a:prstGeom>
          <a:solidFill>
            <a:srgbClr val="FFB3B3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Main memory (RAM)</a:t>
            </a:r>
          </a:p>
        </p:txBody>
      </p: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53CC8A9F-CC9B-4731-B8D8-2C1712498496}"/>
              </a:ext>
            </a:extLst>
          </p:cNvPr>
          <p:cNvGrpSpPr/>
          <p:nvPr/>
        </p:nvGrpSpPr>
        <p:grpSpPr>
          <a:xfrm>
            <a:off x="5564217" y="1601453"/>
            <a:ext cx="780636" cy="4797806"/>
            <a:chOff x="5564216" y="1601453"/>
            <a:chExt cx="957317" cy="4797806"/>
          </a:xfrm>
        </p:grpSpPr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C33C84AB-7BA6-4D3B-B5A1-FB00CAF4F1A2}"/>
                </a:ext>
              </a:extLst>
            </p:cNvPr>
            <p:cNvGrpSpPr/>
            <p:nvPr/>
          </p:nvGrpSpPr>
          <p:grpSpPr>
            <a:xfrm>
              <a:off x="5564216" y="1876048"/>
              <a:ext cx="957317" cy="4248617"/>
              <a:chOff x="5696193" y="1876048"/>
              <a:chExt cx="1665274" cy="4248617"/>
            </a:xfrm>
          </p:grpSpPr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AB8D6E0D-6A9D-466A-9A91-439CBD80D4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96193" y="3973782"/>
                <a:ext cx="1658924" cy="0"/>
              </a:xfrm>
              <a:prstGeom prst="straightConnector1">
                <a:avLst/>
              </a:prstGeom>
              <a:ln w="50800">
                <a:solidFill>
                  <a:srgbClr val="C0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4F94A383-09A8-4898-924A-CEDDCC36ED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96193" y="1876048"/>
                <a:ext cx="1658924" cy="0"/>
              </a:xfrm>
              <a:prstGeom prst="straightConnector1">
                <a:avLst/>
              </a:prstGeom>
              <a:ln w="508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58750DAB-344D-4D4A-A75A-1CC8F929B0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02543" y="6124665"/>
                <a:ext cx="1658924" cy="0"/>
              </a:xfrm>
              <a:prstGeom prst="straightConnector1">
                <a:avLst/>
              </a:prstGeom>
              <a:ln w="50800">
                <a:solidFill>
                  <a:srgbClr val="C0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2C179DA-AE6B-4EAA-991B-2B528B232486}"/>
                </a:ext>
              </a:extLst>
            </p:cNvPr>
            <p:cNvSpPr/>
            <p:nvPr/>
          </p:nvSpPr>
          <p:spPr>
            <a:xfrm>
              <a:off x="5606331" y="1601453"/>
              <a:ext cx="800478" cy="54918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GB" sz="1100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Address</a:t>
              </a:r>
            </a:p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GB" sz="1100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bus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70F3A455-65B2-4DA2-8DA7-90D115E402E9}"/>
                </a:ext>
              </a:extLst>
            </p:cNvPr>
            <p:cNvSpPr/>
            <p:nvPr/>
          </p:nvSpPr>
          <p:spPr>
            <a:xfrm>
              <a:off x="5757508" y="3688865"/>
              <a:ext cx="564581" cy="54918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GB" sz="1100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Data</a:t>
              </a:r>
            </a:p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GB" sz="1100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bus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94BE47C0-8C49-4296-A75F-A6F9F8BA8AC0}"/>
                </a:ext>
              </a:extLst>
            </p:cNvPr>
            <p:cNvSpPr/>
            <p:nvPr/>
          </p:nvSpPr>
          <p:spPr>
            <a:xfrm>
              <a:off x="5673379" y="5850070"/>
              <a:ext cx="761162" cy="54918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GB" sz="1100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Control</a:t>
              </a:r>
            </a:p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GB" sz="1100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bus</a:t>
              </a: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29FA845C-A2B6-4ABC-BC01-D8E4389F0C3D}"/>
              </a:ext>
            </a:extLst>
          </p:cNvPr>
          <p:cNvSpPr/>
          <p:nvPr/>
        </p:nvSpPr>
        <p:spPr>
          <a:xfrm>
            <a:off x="176565" y="523174"/>
            <a:ext cx="377128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F2652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Internal structure of the CPU</a:t>
            </a:r>
          </a:p>
        </p:txBody>
      </p:sp>
      <p:graphicFrame>
        <p:nvGraphicFramePr>
          <p:cNvPr id="25" name="Table 32">
            <a:extLst>
              <a:ext uri="{FF2B5EF4-FFF2-40B4-BE49-F238E27FC236}">
                <a16:creationId xmlns:a16="http://schemas.microsoft.com/office/drawing/2014/main" id="{F2A53EAF-E270-492D-88AC-B54A5D50374C}"/>
              </a:ext>
            </a:extLst>
          </p:cNvPr>
          <p:cNvGraphicFramePr>
            <a:graphicFrameLocks noGrp="1"/>
          </p:cNvGraphicFramePr>
          <p:nvPr/>
        </p:nvGraphicFramePr>
        <p:xfrm>
          <a:off x="6458233" y="1427933"/>
          <a:ext cx="1823192" cy="5081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46">
                  <a:extLst>
                    <a:ext uri="{9D8B030D-6E8A-4147-A177-3AD203B41FA5}">
                      <a16:colId xmlns:a16="http://schemas.microsoft.com/office/drawing/2014/main" val="3614015831"/>
                    </a:ext>
                  </a:extLst>
                </a:gridCol>
                <a:gridCol w="952446">
                  <a:extLst>
                    <a:ext uri="{9D8B030D-6E8A-4147-A177-3AD203B41FA5}">
                      <a16:colId xmlns:a16="http://schemas.microsoft.com/office/drawing/2014/main" val="3794086153"/>
                    </a:ext>
                  </a:extLst>
                </a:gridCol>
              </a:tblGrid>
              <a:tr h="187507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Address</a:t>
                      </a:r>
                    </a:p>
                  </a:txBody>
                  <a:tcPr marL="36000" marR="360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Data</a:t>
                      </a:r>
                    </a:p>
                  </a:txBody>
                  <a:tcPr marL="36000" marR="36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211108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0101 0101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7878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0001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0001 0110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188674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0010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0011 0111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260329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0011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1001 0010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26722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0100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340781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0101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0011 0000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87073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0110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0000 0001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443288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0111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824555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24416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1001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76455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1010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386007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1011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985182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1100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90943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1101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198533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1110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96377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1111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878757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7D7CBF01-86D3-3213-EDF5-8AD94E08BC21}"/>
              </a:ext>
            </a:extLst>
          </p:cNvPr>
          <p:cNvGrpSpPr/>
          <p:nvPr/>
        </p:nvGrpSpPr>
        <p:grpSpPr>
          <a:xfrm>
            <a:off x="319130" y="2400565"/>
            <a:ext cx="2108069" cy="2303453"/>
            <a:chOff x="319130" y="2400565"/>
            <a:chExt cx="2108069" cy="2303453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597663F-38F4-D4E9-E475-326B8F72C730}"/>
                </a:ext>
              </a:extLst>
            </p:cNvPr>
            <p:cNvSpPr/>
            <p:nvPr/>
          </p:nvSpPr>
          <p:spPr>
            <a:xfrm>
              <a:off x="319130" y="2400565"/>
              <a:ext cx="2108069" cy="230345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sz="1100" b="1" dirty="0">
                  <a:solidFill>
                    <a:schemeClr val="tx1"/>
                  </a:solidFill>
                </a:rPr>
                <a:t>Decode unit</a:t>
              </a:r>
            </a:p>
            <a:p>
              <a:pPr algn="ctr"/>
              <a:endParaRPr lang="en-GB" sz="1100" b="1" dirty="0">
                <a:solidFill>
                  <a:schemeClr val="tx1"/>
                </a:solidFill>
              </a:endParaRPr>
            </a:p>
          </p:txBody>
        </p:sp>
        <p:pic>
          <p:nvPicPr>
            <p:cNvPr id="3" name="Graphic 2" descr="Gears with solid fill">
              <a:extLst>
                <a:ext uri="{FF2B5EF4-FFF2-40B4-BE49-F238E27FC236}">
                  <a16:creationId xmlns:a16="http://schemas.microsoft.com/office/drawing/2014/main" id="{3288EFF8-54A6-4005-EE14-5D0416BA19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35490" y="2702448"/>
              <a:ext cx="1639963" cy="16399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428455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5B355E1-549A-4594-8FEA-A0CA781F2760}"/>
              </a:ext>
            </a:extLst>
          </p:cNvPr>
          <p:cNvSpPr/>
          <p:nvPr/>
        </p:nvSpPr>
        <p:spPr>
          <a:xfrm>
            <a:off x="144573" y="1076892"/>
            <a:ext cx="5425625" cy="563229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72000" tIns="1260000" rtlCol="0" anchor="t" anchorCtr="0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55D8CD-D8EF-4205-82AD-300AD2BB5329}"/>
              </a:ext>
            </a:extLst>
          </p:cNvPr>
          <p:cNvSpPr/>
          <p:nvPr/>
        </p:nvSpPr>
        <p:spPr>
          <a:xfrm>
            <a:off x="235668" y="1158753"/>
            <a:ext cx="5229018" cy="5464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Central processing unit (CPU)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49E10F79-511E-4EC4-AAE7-1E022E464105}"/>
              </a:ext>
            </a:extLst>
          </p:cNvPr>
          <p:cNvGrpSpPr/>
          <p:nvPr/>
        </p:nvGrpSpPr>
        <p:grpSpPr>
          <a:xfrm>
            <a:off x="1641577" y="2169083"/>
            <a:ext cx="3500410" cy="4333994"/>
            <a:chOff x="1773554" y="2169083"/>
            <a:chExt cx="3500410" cy="4333994"/>
          </a:xfrm>
        </p:grpSpPr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57888D9B-63CC-4AFF-8DBD-0809DA7704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1904" y="6503077"/>
              <a:ext cx="191165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77DA5366-36A4-475D-80F3-FCFA2BBF28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45226" y="6389225"/>
              <a:ext cx="1838337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875504A7-D1EF-4CC0-B21B-97723B8703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4019" y="6281065"/>
              <a:ext cx="1109544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E61048D-FA7A-450B-9057-1B71AF9CF5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2638" y="6178598"/>
              <a:ext cx="300926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1D04FA21-AA72-4833-9A58-FA3142351A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65188" y="6070440"/>
              <a:ext cx="218375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9DB82770-4BBA-4268-974D-D070F70CB5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47434" y="5956589"/>
              <a:ext cx="13612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A52308F8-4A31-4510-BAE3-99871709F0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3" y="5848429"/>
              <a:ext cx="59410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A6F29D5-82AB-4E5E-8D98-7818D5DEB4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0064" y="5542644"/>
              <a:ext cx="0" cy="738421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C47FA203-A773-425C-9E14-DDCB084AF9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0893" y="4701128"/>
              <a:ext cx="0" cy="213772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F5A2EFA0-5A33-49CE-80AF-085E74F169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4544" y="4914900"/>
              <a:ext cx="480682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CB6A3E1B-243B-4D67-9E51-A465C1F557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5226" y="4910139"/>
              <a:ext cx="0" cy="1479086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6D3CB495-CDE1-472D-971B-2637811B79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3964" y="4381492"/>
              <a:ext cx="0" cy="1317756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F7DB7E6F-644E-4468-A5ED-ACBF2F3CC9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153" y="2169083"/>
              <a:ext cx="0" cy="3679347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D98872B6-7248-41DB-A180-E0EF590867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7434" y="2230993"/>
              <a:ext cx="0" cy="3725597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62277DB8-B20F-48C4-80A9-CE0268CED7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5188" y="3054908"/>
              <a:ext cx="0" cy="3015532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87C4F4E2-88CF-48DF-B66A-EB6A3F623C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2638" y="3966927"/>
              <a:ext cx="0" cy="2211671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3D1895AC-8354-4DF1-8C93-38A4515EB8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2" y="3971689"/>
              <a:ext cx="13612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F35D0887-9845-4D5E-A243-13BEC393B6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3" y="3054908"/>
              <a:ext cx="222685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BECAA9B0-DB0B-47DE-91A2-842DF82A9F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4" y="2173845"/>
              <a:ext cx="6631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A15AAD2E-4F60-4D04-828B-4DB4212A01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3554" y="2233374"/>
              <a:ext cx="2473880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2109BE97-9B90-4417-8D03-D0AFF857C56F}"/>
              </a:ext>
            </a:extLst>
          </p:cNvPr>
          <p:cNvSpPr/>
          <p:nvPr/>
        </p:nvSpPr>
        <p:spPr>
          <a:xfrm>
            <a:off x="329506" y="5279014"/>
            <a:ext cx="2010421" cy="12418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Cache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D1D5CDF-1A51-486F-A79D-EDC4E208B261}"/>
              </a:ext>
            </a:extLst>
          </p:cNvPr>
          <p:cNvSpPr/>
          <p:nvPr/>
        </p:nvSpPr>
        <p:spPr>
          <a:xfrm>
            <a:off x="2491086" y="4708604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Current instruction register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44EA3CA-B2AE-4A07-A327-AC253DF3EC0C}"/>
              </a:ext>
            </a:extLst>
          </p:cNvPr>
          <p:cNvSpPr/>
          <p:nvPr/>
        </p:nvSpPr>
        <p:spPr>
          <a:xfrm>
            <a:off x="329506" y="1461652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Program counter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844966C-9D33-4FB4-91E9-FC5819D4BA3B}"/>
              </a:ext>
            </a:extLst>
          </p:cNvPr>
          <p:cNvSpPr/>
          <p:nvPr/>
        </p:nvSpPr>
        <p:spPr>
          <a:xfrm>
            <a:off x="2492502" y="2398380"/>
            <a:ext cx="1314000" cy="82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Accumulator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3360B80-E436-4445-AF6B-DCC7370F14F2}"/>
              </a:ext>
            </a:extLst>
          </p:cNvPr>
          <p:cNvSpPr/>
          <p:nvPr/>
        </p:nvSpPr>
        <p:spPr>
          <a:xfrm>
            <a:off x="2494433" y="3553492"/>
            <a:ext cx="1312069" cy="82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Arithmetic logic unit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0C88483-223A-43FF-B0CD-C28747578C03}"/>
              </a:ext>
            </a:extLst>
          </p:cNvPr>
          <p:cNvSpPr/>
          <p:nvPr/>
        </p:nvSpPr>
        <p:spPr>
          <a:xfrm>
            <a:off x="4258496" y="1461652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Memory address register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F22CAA4-0A4F-4F5B-ABD8-6EF614C8140D}"/>
              </a:ext>
            </a:extLst>
          </p:cNvPr>
          <p:cNvSpPr/>
          <p:nvPr/>
        </p:nvSpPr>
        <p:spPr>
          <a:xfrm>
            <a:off x="4258496" y="3554121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Memory data register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955642C-8431-4E2A-89CC-8357C1EF8B5E}"/>
              </a:ext>
            </a:extLst>
          </p:cNvPr>
          <p:cNvSpPr/>
          <p:nvPr/>
        </p:nvSpPr>
        <p:spPr>
          <a:xfrm>
            <a:off x="4258597" y="5699247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Control</a:t>
            </a:r>
          </a:p>
          <a:p>
            <a:pPr algn="ctr"/>
            <a:r>
              <a:rPr lang="en-GB" sz="1100" b="1" dirty="0">
                <a:solidFill>
                  <a:schemeClr val="tx1"/>
                </a:solidFill>
              </a:rPr>
              <a:t>unit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9899F61-F6B5-4D33-A478-3B9D48E4F16A}"/>
              </a:ext>
            </a:extLst>
          </p:cNvPr>
          <p:cNvCxnSpPr>
            <a:cxnSpLocks/>
          </p:cNvCxnSpPr>
          <p:nvPr/>
        </p:nvCxnSpPr>
        <p:spPr>
          <a:xfrm>
            <a:off x="1641576" y="1677928"/>
            <a:ext cx="2610570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4074AF43-D19A-4254-B032-01E6439ED7BA}"/>
              </a:ext>
            </a:extLst>
          </p:cNvPr>
          <p:cNvGrpSpPr/>
          <p:nvPr/>
        </p:nvGrpSpPr>
        <p:grpSpPr>
          <a:xfrm>
            <a:off x="1641576" y="1973102"/>
            <a:ext cx="305278" cy="418928"/>
            <a:chOff x="1641576" y="1973102"/>
            <a:chExt cx="305278" cy="418928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51A98C67-6EFD-482B-AD9D-6E06220D71A3}"/>
                </a:ext>
              </a:extLst>
            </p:cNvPr>
            <p:cNvCxnSpPr/>
            <p:nvPr/>
          </p:nvCxnSpPr>
          <p:spPr>
            <a:xfrm flipV="1">
              <a:off x="1932566" y="1980723"/>
              <a:ext cx="0" cy="411307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D44E5C96-B86A-44AF-95E3-C2EE30FE02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1576" y="1973102"/>
              <a:ext cx="305278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42E282C-6271-40B0-B009-A65033A4C886}"/>
              </a:ext>
            </a:extLst>
          </p:cNvPr>
          <p:cNvGrpSpPr/>
          <p:nvPr/>
        </p:nvGrpSpPr>
        <p:grpSpPr>
          <a:xfrm>
            <a:off x="2175453" y="1973102"/>
            <a:ext cx="2076693" cy="418928"/>
            <a:chOff x="2175453" y="1973102"/>
            <a:chExt cx="2076693" cy="418928"/>
          </a:xfrm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6706EBCA-A953-4750-B67F-9E2C340BA05F}"/>
                </a:ext>
              </a:extLst>
            </p:cNvPr>
            <p:cNvCxnSpPr/>
            <p:nvPr/>
          </p:nvCxnSpPr>
          <p:spPr>
            <a:xfrm flipV="1">
              <a:off x="2189740" y="1980723"/>
              <a:ext cx="0" cy="411307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50F0D26-AC86-451E-A7B8-329F2863D8DD}"/>
                </a:ext>
              </a:extLst>
            </p:cNvPr>
            <p:cNvCxnSpPr>
              <a:cxnSpLocks/>
            </p:cNvCxnSpPr>
            <p:nvPr/>
          </p:nvCxnSpPr>
          <p:spPr>
            <a:xfrm>
              <a:off x="2175453" y="1973102"/>
              <a:ext cx="2076693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AA287EB-E571-42D1-AEDC-912F0CE3949C}"/>
              </a:ext>
            </a:extLst>
          </p:cNvPr>
          <p:cNvCxnSpPr>
            <a:cxnSpLocks/>
            <a:stCxn id="51" idx="0"/>
          </p:cNvCxnSpPr>
          <p:nvPr/>
        </p:nvCxnSpPr>
        <p:spPr>
          <a:xfrm flipH="1" flipV="1">
            <a:off x="3142042" y="3232336"/>
            <a:ext cx="8426" cy="32115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D90980DA-0C3A-4731-89F6-89E7F99D5FC3}"/>
              </a:ext>
            </a:extLst>
          </p:cNvPr>
          <p:cNvGrpSpPr/>
          <p:nvPr/>
        </p:nvGrpSpPr>
        <p:grpSpPr>
          <a:xfrm>
            <a:off x="3806502" y="2770122"/>
            <a:ext cx="1127180" cy="780826"/>
            <a:chOff x="3806502" y="2770122"/>
            <a:chExt cx="1127180" cy="780826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3E1640E-C787-4FD8-935B-912FDC5A2C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0982" y="2770122"/>
              <a:ext cx="0" cy="780826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B13FE9B8-92F9-42F9-844F-021624B0D8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06502" y="2770122"/>
              <a:ext cx="1127180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024632E5-0DCF-4BCE-9306-692F2A1A4528}"/>
              </a:ext>
            </a:extLst>
          </p:cNvPr>
          <p:cNvGrpSpPr/>
          <p:nvPr/>
        </p:nvGrpSpPr>
        <p:grpSpPr>
          <a:xfrm>
            <a:off x="3810525" y="4382913"/>
            <a:ext cx="1123157" cy="741531"/>
            <a:chOff x="3863234" y="4382913"/>
            <a:chExt cx="1202425" cy="1144394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94BF27E-4F7B-48A0-BB1D-7924C13036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A7FECD1-4257-4FAF-BD1D-4D809BED52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AECE537-6ACB-44D0-A092-63AB541186E4}"/>
              </a:ext>
            </a:extLst>
          </p:cNvPr>
          <p:cNvGrpSpPr/>
          <p:nvPr/>
        </p:nvGrpSpPr>
        <p:grpSpPr>
          <a:xfrm rot="5400000">
            <a:off x="1448476" y="4082207"/>
            <a:ext cx="423320" cy="1661159"/>
            <a:chOff x="3863234" y="4382913"/>
            <a:chExt cx="1202425" cy="1144394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5FDB3E7B-2157-4842-9E9E-73DE437B28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25A27C00-C803-4B21-A77E-7D5983355A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B5C0EEA4-FF12-4DCA-BEDE-D3D7E1AD75E4}"/>
              </a:ext>
            </a:extLst>
          </p:cNvPr>
          <p:cNvSpPr/>
          <p:nvPr/>
        </p:nvSpPr>
        <p:spPr>
          <a:xfrm>
            <a:off x="6355872" y="1076892"/>
            <a:ext cx="2005703" cy="5632279"/>
          </a:xfrm>
          <a:prstGeom prst="rect">
            <a:avLst/>
          </a:prstGeom>
          <a:solidFill>
            <a:srgbClr val="FFB3B3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Main memory (RAM)</a:t>
            </a:r>
          </a:p>
        </p:txBody>
      </p:sp>
      <p:graphicFrame>
        <p:nvGraphicFramePr>
          <p:cNvPr id="25" name="Table 32">
            <a:extLst>
              <a:ext uri="{FF2B5EF4-FFF2-40B4-BE49-F238E27FC236}">
                <a16:creationId xmlns:a16="http://schemas.microsoft.com/office/drawing/2014/main" id="{F2A53EAF-E270-492D-88AC-B54A5D50374C}"/>
              </a:ext>
            </a:extLst>
          </p:cNvPr>
          <p:cNvGraphicFramePr>
            <a:graphicFrameLocks noGrp="1"/>
          </p:cNvGraphicFramePr>
          <p:nvPr/>
        </p:nvGraphicFramePr>
        <p:xfrm>
          <a:off x="6458233" y="1427933"/>
          <a:ext cx="1823192" cy="5081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46">
                  <a:extLst>
                    <a:ext uri="{9D8B030D-6E8A-4147-A177-3AD203B41FA5}">
                      <a16:colId xmlns:a16="http://schemas.microsoft.com/office/drawing/2014/main" val="3614015831"/>
                    </a:ext>
                  </a:extLst>
                </a:gridCol>
                <a:gridCol w="952446">
                  <a:extLst>
                    <a:ext uri="{9D8B030D-6E8A-4147-A177-3AD203B41FA5}">
                      <a16:colId xmlns:a16="http://schemas.microsoft.com/office/drawing/2014/main" val="3794086153"/>
                    </a:ext>
                  </a:extLst>
                </a:gridCol>
              </a:tblGrid>
              <a:tr h="187507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Address</a:t>
                      </a:r>
                    </a:p>
                  </a:txBody>
                  <a:tcPr marL="36000" marR="360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Data</a:t>
                      </a:r>
                    </a:p>
                  </a:txBody>
                  <a:tcPr marL="36000" marR="36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211108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0101 0101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7878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0001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0001 0110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188674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0010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0011 0111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260329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0011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1001 0010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26722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0100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340781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0101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0011 0000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87073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0110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0000 0001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443288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0111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824555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24416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1001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76455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1010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386007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1011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985182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1100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90943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1101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198533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1110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96377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1111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878757"/>
                  </a:ext>
                </a:extLst>
              </a:tr>
            </a:tbl>
          </a:graphicData>
        </a:graphic>
      </p:graphicFrame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B8D6E0D-6A9D-466A-9A91-439CBD80D4A8}"/>
              </a:ext>
            </a:extLst>
          </p:cNvPr>
          <p:cNvCxnSpPr>
            <a:cxnSpLocks/>
          </p:cNvCxnSpPr>
          <p:nvPr/>
        </p:nvCxnSpPr>
        <p:spPr>
          <a:xfrm>
            <a:off x="5564217" y="3973782"/>
            <a:ext cx="777659" cy="0"/>
          </a:xfrm>
          <a:prstGeom prst="straightConnector1">
            <a:avLst/>
          </a:prstGeom>
          <a:ln w="508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F94A383-09A8-4898-924A-CEDDCC36EDD2}"/>
              </a:ext>
            </a:extLst>
          </p:cNvPr>
          <p:cNvCxnSpPr>
            <a:cxnSpLocks/>
          </p:cNvCxnSpPr>
          <p:nvPr/>
        </p:nvCxnSpPr>
        <p:spPr>
          <a:xfrm>
            <a:off x="5564217" y="1876048"/>
            <a:ext cx="777659" cy="0"/>
          </a:xfrm>
          <a:prstGeom prst="straightConnector1">
            <a:avLst/>
          </a:prstGeom>
          <a:ln w="508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58750DAB-344D-4D4A-A75A-1CC8F929B09C}"/>
              </a:ext>
            </a:extLst>
          </p:cNvPr>
          <p:cNvCxnSpPr>
            <a:cxnSpLocks/>
          </p:cNvCxnSpPr>
          <p:nvPr/>
        </p:nvCxnSpPr>
        <p:spPr>
          <a:xfrm>
            <a:off x="5567194" y="6124665"/>
            <a:ext cx="777659" cy="0"/>
          </a:xfrm>
          <a:prstGeom prst="straightConnector1">
            <a:avLst/>
          </a:prstGeom>
          <a:ln w="50800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92C179DA-AE6B-4EAA-991B-2B528B232486}"/>
              </a:ext>
            </a:extLst>
          </p:cNvPr>
          <p:cNvSpPr/>
          <p:nvPr/>
        </p:nvSpPr>
        <p:spPr>
          <a:xfrm>
            <a:off x="5598559" y="1601453"/>
            <a:ext cx="65274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0F3A455-65B2-4DA2-8DA7-90D115E402E9}"/>
              </a:ext>
            </a:extLst>
          </p:cNvPr>
          <p:cNvSpPr/>
          <p:nvPr/>
        </p:nvSpPr>
        <p:spPr>
          <a:xfrm>
            <a:off x="5721835" y="3688865"/>
            <a:ext cx="46038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4BE47C0-8C49-4296-A75F-A6F9F8BA8AC0}"/>
              </a:ext>
            </a:extLst>
          </p:cNvPr>
          <p:cNvSpPr/>
          <p:nvPr/>
        </p:nvSpPr>
        <p:spPr>
          <a:xfrm>
            <a:off x="5653233" y="5850070"/>
            <a:ext cx="62068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Control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570F366-D62A-4F86-BE23-37B6DC9DCAAA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600" b="1" dirty="0">
                <a:solidFill>
                  <a:schemeClr val="tx1"/>
                </a:solidFill>
              </a:rPr>
              <a:t>Control unit: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Coordinates all CPU activities.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Directs flow of data between the CPU and other devices.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Coordinates and communicates with all parts of the CPU (orange lines).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9E307F-7EC9-4667-96F2-A9CA4B99934F}"/>
              </a:ext>
            </a:extLst>
          </p:cNvPr>
          <p:cNvSpPr/>
          <p:nvPr/>
        </p:nvSpPr>
        <p:spPr>
          <a:xfrm>
            <a:off x="176565" y="523174"/>
            <a:ext cx="377128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F2652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Internal structure of the CPU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D39EE05-E879-E92D-CC5B-8F2E09BEB145}"/>
              </a:ext>
            </a:extLst>
          </p:cNvPr>
          <p:cNvGrpSpPr/>
          <p:nvPr/>
        </p:nvGrpSpPr>
        <p:grpSpPr>
          <a:xfrm>
            <a:off x="319130" y="2400565"/>
            <a:ext cx="2108069" cy="2303453"/>
            <a:chOff x="319130" y="2400565"/>
            <a:chExt cx="2108069" cy="2303453"/>
          </a:xfrm>
          <a:solidFill>
            <a:srgbClr val="D9D9D9"/>
          </a:solidFill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E0DB0333-59F0-FB74-AB26-1FDE17B90802}"/>
                </a:ext>
              </a:extLst>
            </p:cNvPr>
            <p:cNvSpPr/>
            <p:nvPr/>
          </p:nvSpPr>
          <p:spPr>
            <a:xfrm>
              <a:off x="319130" y="2400565"/>
              <a:ext cx="2108069" cy="2303453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sz="1100" b="1" dirty="0">
                  <a:solidFill>
                    <a:schemeClr val="bg1">
                      <a:lumMod val="50000"/>
                    </a:schemeClr>
                  </a:solidFill>
                </a:rPr>
                <a:t>Decode unit</a:t>
              </a:r>
            </a:p>
            <a:p>
              <a:pPr algn="ctr"/>
              <a:endParaRPr lang="en-GB" sz="1100" b="1" dirty="0">
                <a:solidFill>
                  <a:schemeClr val="tx1"/>
                </a:solidFill>
              </a:endParaRPr>
            </a:p>
          </p:txBody>
        </p:sp>
        <p:pic>
          <p:nvPicPr>
            <p:cNvPr id="67" name="Graphic 66" descr="Gears with solid fill">
              <a:extLst>
                <a:ext uri="{FF2B5EF4-FFF2-40B4-BE49-F238E27FC236}">
                  <a16:creationId xmlns:a16="http://schemas.microsoft.com/office/drawing/2014/main" id="{6A2F8F2E-CD1A-D04F-D0C2-00B68C9913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35490" y="2702448"/>
              <a:ext cx="1639963" cy="16399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49228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5B355E1-549A-4594-8FEA-A0CA781F2760}"/>
              </a:ext>
            </a:extLst>
          </p:cNvPr>
          <p:cNvSpPr/>
          <p:nvPr/>
        </p:nvSpPr>
        <p:spPr>
          <a:xfrm>
            <a:off x="144573" y="1076892"/>
            <a:ext cx="5425625" cy="563229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72000" tIns="1260000" rtlCol="0" anchor="t" anchorCtr="0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55D8CD-D8EF-4205-82AD-300AD2BB5329}"/>
              </a:ext>
            </a:extLst>
          </p:cNvPr>
          <p:cNvSpPr/>
          <p:nvPr/>
        </p:nvSpPr>
        <p:spPr>
          <a:xfrm>
            <a:off x="235668" y="1158753"/>
            <a:ext cx="5229018" cy="5464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Central processing unit (CPU)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49E10F79-511E-4EC4-AAE7-1E022E464105}"/>
              </a:ext>
            </a:extLst>
          </p:cNvPr>
          <p:cNvGrpSpPr/>
          <p:nvPr/>
        </p:nvGrpSpPr>
        <p:grpSpPr>
          <a:xfrm>
            <a:off x="1641577" y="2169083"/>
            <a:ext cx="3500410" cy="4333994"/>
            <a:chOff x="1773554" y="2169083"/>
            <a:chExt cx="3500410" cy="4333994"/>
          </a:xfrm>
        </p:grpSpPr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57888D9B-63CC-4AFF-8DBD-0809DA7704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1904" y="6503077"/>
              <a:ext cx="191165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77DA5366-36A4-475D-80F3-FCFA2BBF28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45226" y="6389225"/>
              <a:ext cx="183833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875504A7-D1EF-4CC0-B21B-97723B8703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4019" y="6281065"/>
              <a:ext cx="110954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E61048D-FA7A-450B-9057-1B71AF9CF5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2638" y="6178598"/>
              <a:ext cx="300926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1D04FA21-AA72-4833-9A58-FA3142351A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65188" y="6070440"/>
              <a:ext cx="218375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9DB82770-4BBA-4268-974D-D070F70CB5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47434" y="5956589"/>
              <a:ext cx="13612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A52308F8-4A31-4510-BAE3-99871709F0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3" y="5848429"/>
              <a:ext cx="5941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A6F29D5-82AB-4E5E-8D98-7818D5DEB4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0064" y="5542644"/>
              <a:ext cx="0" cy="738421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C47FA203-A773-425C-9E14-DDCB084AF9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0893" y="4701128"/>
              <a:ext cx="0" cy="21377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F5A2EFA0-5A33-49CE-80AF-085E74F169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4544" y="4914900"/>
              <a:ext cx="48068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CB6A3E1B-243B-4D67-9E51-A465C1F557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5226" y="4910139"/>
              <a:ext cx="0" cy="1479086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6D3CB495-CDE1-472D-971B-2637811B79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3964" y="4381492"/>
              <a:ext cx="0" cy="1317756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F7DB7E6F-644E-4468-A5ED-ACBF2F3CC9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153" y="2169083"/>
              <a:ext cx="0" cy="3679347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D98872B6-7248-41DB-A180-E0EF590867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7434" y="2230993"/>
              <a:ext cx="0" cy="3725597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62277DB8-B20F-48C4-80A9-CE0268CED7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5188" y="3054908"/>
              <a:ext cx="0" cy="301553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87C4F4E2-88CF-48DF-B66A-EB6A3F623C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2638" y="3966927"/>
              <a:ext cx="0" cy="2211671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3D1895AC-8354-4DF1-8C93-38A4515EB8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2" y="3971689"/>
              <a:ext cx="13612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F35D0887-9845-4D5E-A243-13BEC393B6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3" y="3054908"/>
              <a:ext cx="222685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BECAA9B0-DB0B-47DE-91A2-842DF82A9F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4" y="2173845"/>
              <a:ext cx="6631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A15AAD2E-4F60-4D04-828B-4DB4212A01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3554" y="2233374"/>
              <a:ext cx="247388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2109BE97-9B90-4417-8D03-D0AFF857C56F}"/>
              </a:ext>
            </a:extLst>
          </p:cNvPr>
          <p:cNvSpPr/>
          <p:nvPr/>
        </p:nvSpPr>
        <p:spPr>
          <a:xfrm>
            <a:off x="329506" y="5279014"/>
            <a:ext cx="2010421" cy="12418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Cache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D1D5CDF-1A51-486F-A79D-EDC4E208B261}"/>
              </a:ext>
            </a:extLst>
          </p:cNvPr>
          <p:cNvSpPr/>
          <p:nvPr/>
        </p:nvSpPr>
        <p:spPr>
          <a:xfrm>
            <a:off x="2491086" y="4708604"/>
            <a:ext cx="1312070" cy="8287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1B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Current instruction register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844966C-9D33-4FB4-91E9-FC5819D4BA3B}"/>
              </a:ext>
            </a:extLst>
          </p:cNvPr>
          <p:cNvSpPr/>
          <p:nvPr/>
        </p:nvSpPr>
        <p:spPr>
          <a:xfrm>
            <a:off x="2492502" y="2398380"/>
            <a:ext cx="1314000" cy="82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Accumulator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3360B80-E436-4445-AF6B-DCC7370F14F2}"/>
              </a:ext>
            </a:extLst>
          </p:cNvPr>
          <p:cNvSpPr/>
          <p:nvPr/>
        </p:nvSpPr>
        <p:spPr>
          <a:xfrm>
            <a:off x="2494433" y="3553492"/>
            <a:ext cx="1312069" cy="82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Arithmetic logic unit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F22CAA4-0A4F-4F5B-ABD8-6EF614C8140D}"/>
              </a:ext>
            </a:extLst>
          </p:cNvPr>
          <p:cNvSpPr/>
          <p:nvPr/>
        </p:nvSpPr>
        <p:spPr>
          <a:xfrm>
            <a:off x="4258496" y="3554121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Memory data register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955642C-8431-4E2A-89CC-8357C1EF8B5E}"/>
              </a:ext>
            </a:extLst>
          </p:cNvPr>
          <p:cNvSpPr/>
          <p:nvPr/>
        </p:nvSpPr>
        <p:spPr>
          <a:xfrm>
            <a:off x="4258597" y="5699247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Control</a:t>
            </a:r>
          </a:p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unit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9899F61-F6B5-4D33-A478-3B9D48E4F16A}"/>
              </a:ext>
            </a:extLst>
          </p:cNvPr>
          <p:cNvCxnSpPr>
            <a:cxnSpLocks/>
          </p:cNvCxnSpPr>
          <p:nvPr/>
        </p:nvCxnSpPr>
        <p:spPr>
          <a:xfrm>
            <a:off x="1641576" y="1677928"/>
            <a:ext cx="2610570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AA287EB-E571-42D1-AEDC-912F0CE3949C}"/>
              </a:ext>
            </a:extLst>
          </p:cNvPr>
          <p:cNvCxnSpPr>
            <a:cxnSpLocks/>
            <a:stCxn id="51" idx="0"/>
          </p:cNvCxnSpPr>
          <p:nvPr/>
        </p:nvCxnSpPr>
        <p:spPr>
          <a:xfrm flipH="1" flipV="1">
            <a:off x="3142042" y="3232336"/>
            <a:ext cx="8426" cy="32115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D90980DA-0C3A-4731-89F6-89E7F99D5FC3}"/>
              </a:ext>
            </a:extLst>
          </p:cNvPr>
          <p:cNvGrpSpPr/>
          <p:nvPr/>
        </p:nvGrpSpPr>
        <p:grpSpPr>
          <a:xfrm>
            <a:off x="3806502" y="2770122"/>
            <a:ext cx="1127180" cy="780826"/>
            <a:chOff x="3806502" y="2770122"/>
            <a:chExt cx="1127180" cy="780826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3E1640E-C787-4FD8-935B-912FDC5A2C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0982" y="2770122"/>
              <a:ext cx="0" cy="780826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B13FE9B8-92F9-42F9-844F-021624B0D8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06502" y="2770122"/>
              <a:ext cx="1127180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024632E5-0DCF-4BCE-9306-692F2A1A4528}"/>
              </a:ext>
            </a:extLst>
          </p:cNvPr>
          <p:cNvGrpSpPr/>
          <p:nvPr/>
        </p:nvGrpSpPr>
        <p:grpSpPr>
          <a:xfrm>
            <a:off x="3810525" y="4382913"/>
            <a:ext cx="1123157" cy="741531"/>
            <a:chOff x="3863234" y="4382913"/>
            <a:chExt cx="1202425" cy="1144394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94BF27E-4F7B-48A0-BB1D-7924C13036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A7FECD1-4257-4FAF-BD1D-4D809BED52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AECE537-6ACB-44D0-A092-63AB541186E4}"/>
              </a:ext>
            </a:extLst>
          </p:cNvPr>
          <p:cNvGrpSpPr/>
          <p:nvPr/>
        </p:nvGrpSpPr>
        <p:grpSpPr>
          <a:xfrm rot="5400000">
            <a:off x="1448476" y="4082207"/>
            <a:ext cx="423320" cy="1661159"/>
            <a:chOff x="3863234" y="4382913"/>
            <a:chExt cx="1202425" cy="1144394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5FDB3E7B-2157-4842-9E9E-73DE437B28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rgbClr val="C01B1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25A27C00-C803-4B21-A77E-7D5983355A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rgbClr val="C01B14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B5C0EEA4-FF12-4DCA-BEDE-D3D7E1AD75E4}"/>
              </a:ext>
            </a:extLst>
          </p:cNvPr>
          <p:cNvSpPr/>
          <p:nvPr/>
        </p:nvSpPr>
        <p:spPr>
          <a:xfrm>
            <a:off x="6355872" y="1076892"/>
            <a:ext cx="2005703" cy="56322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bg1">
                    <a:lumMod val="50000"/>
                  </a:schemeClr>
                </a:solidFill>
              </a:rPr>
              <a:t>Main memory (RAM)</a:t>
            </a:r>
          </a:p>
        </p:txBody>
      </p:sp>
      <p:graphicFrame>
        <p:nvGraphicFramePr>
          <p:cNvPr id="25" name="Table 32">
            <a:extLst>
              <a:ext uri="{FF2B5EF4-FFF2-40B4-BE49-F238E27FC236}">
                <a16:creationId xmlns:a16="http://schemas.microsoft.com/office/drawing/2014/main" id="{F2A53EAF-E270-492D-88AC-B54A5D50374C}"/>
              </a:ext>
            </a:extLst>
          </p:cNvPr>
          <p:cNvGraphicFramePr>
            <a:graphicFrameLocks noGrp="1"/>
          </p:cNvGraphicFramePr>
          <p:nvPr/>
        </p:nvGraphicFramePr>
        <p:xfrm>
          <a:off x="6458233" y="1427933"/>
          <a:ext cx="1823192" cy="508116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70746">
                  <a:extLst>
                    <a:ext uri="{9D8B030D-6E8A-4147-A177-3AD203B41FA5}">
                      <a16:colId xmlns:a16="http://schemas.microsoft.com/office/drawing/2014/main" val="3614015831"/>
                    </a:ext>
                  </a:extLst>
                </a:gridCol>
                <a:gridCol w="952446">
                  <a:extLst>
                    <a:ext uri="{9D8B030D-6E8A-4147-A177-3AD203B41FA5}">
                      <a16:colId xmlns:a16="http://schemas.microsoft.com/office/drawing/2014/main" val="3794086153"/>
                    </a:ext>
                  </a:extLst>
                </a:gridCol>
              </a:tblGrid>
              <a:tr h="187507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Address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Data</a:t>
                      </a:r>
                    </a:p>
                  </a:txBody>
                  <a:tcPr marL="36000" marR="36000"/>
                </a:tc>
                <a:extLst>
                  <a:ext uri="{0D108BD9-81ED-4DB2-BD59-A6C34878D82A}">
                    <a16:rowId xmlns:a16="http://schemas.microsoft.com/office/drawing/2014/main" val="1704211108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0101 0101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7417878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0001 0110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752188674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0011 0111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843260329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1001 0010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402726722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0100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887340781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0101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0011 0000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380887073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0000 0001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932443288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0111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105824555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1000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73624416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1001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403576455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311386007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1011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812985182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1100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71990943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1101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578198533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43496377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1111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311878757"/>
                  </a:ext>
                </a:extLst>
              </a:tr>
            </a:tbl>
          </a:graphicData>
        </a:graphic>
      </p:graphicFrame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B8D6E0D-6A9D-466A-9A91-439CBD80D4A8}"/>
              </a:ext>
            </a:extLst>
          </p:cNvPr>
          <p:cNvCxnSpPr>
            <a:cxnSpLocks/>
          </p:cNvCxnSpPr>
          <p:nvPr/>
        </p:nvCxnSpPr>
        <p:spPr>
          <a:xfrm>
            <a:off x="5564217" y="3973782"/>
            <a:ext cx="777659" cy="0"/>
          </a:xfrm>
          <a:prstGeom prst="straightConnector1">
            <a:avLst/>
          </a:prstGeom>
          <a:ln w="508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F94A383-09A8-4898-924A-CEDDCC36EDD2}"/>
              </a:ext>
            </a:extLst>
          </p:cNvPr>
          <p:cNvCxnSpPr>
            <a:cxnSpLocks/>
          </p:cNvCxnSpPr>
          <p:nvPr/>
        </p:nvCxnSpPr>
        <p:spPr>
          <a:xfrm>
            <a:off x="5564217" y="1876048"/>
            <a:ext cx="777659" cy="0"/>
          </a:xfrm>
          <a:prstGeom prst="straightConnector1">
            <a:avLst/>
          </a:prstGeom>
          <a:ln w="508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58750DAB-344D-4D4A-A75A-1CC8F929B09C}"/>
              </a:ext>
            </a:extLst>
          </p:cNvPr>
          <p:cNvCxnSpPr>
            <a:cxnSpLocks/>
          </p:cNvCxnSpPr>
          <p:nvPr/>
        </p:nvCxnSpPr>
        <p:spPr>
          <a:xfrm>
            <a:off x="5567194" y="6124665"/>
            <a:ext cx="777659" cy="0"/>
          </a:xfrm>
          <a:prstGeom prst="straightConnector1">
            <a:avLst/>
          </a:prstGeom>
          <a:ln w="508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92C179DA-AE6B-4EAA-991B-2B528B232486}"/>
              </a:ext>
            </a:extLst>
          </p:cNvPr>
          <p:cNvSpPr/>
          <p:nvPr/>
        </p:nvSpPr>
        <p:spPr>
          <a:xfrm>
            <a:off x="5598559" y="1601453"/>
            <a:ext cx="65274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0F3A455-65B2-4DA2-8DA7-90D115E402E9}"/>
              </a:ext>
            </a:extLst>
          </p:cNvPr>
          <p:cNvSpPr/>
          <p:nvPr/>
        </p:nvSpPr>
        <p:spPr>
          <a:xfrm>
            <a:off x="5721835" y="3688865"/>
            <a:ext cx="46038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4BE47C0-8C49-4296-A75F-A6F9F8BA8AC0}"/>
              </a:ext>
            </a:extLst>
          </p:cNvPr>
          <p:cNvSpPr/>
          <p:nvPr/>
        </p:nvSpPr>
        <p:spPr>
          <a:xfrm>
            <a:off x="5653233" y="5850070"/>
            <a:ext cx="62068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Control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570F366-D62A-4F86-BE23-37B6DC9DCAAA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600" b="1" dirty="0">
                <a:solidFill>
                  <a:schemeClr val="tx1"/>
                </a:solidFill>
              </a:rPr>
              <a:t>Program counter (PC):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Holds the address of the next instruction to be executed.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It could be the next instruction in a sequence of instructions or the address to jump to if the current instruction is a command to jump or branch – this would be copied from the current instruction register.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1FCFE5D-5B89-4602-A17C-CE80EC79ABA1}"/>
              </a:ext>
            </a:extLst>
          </p:cNvPr>
          <p:cNvSpPr/>
          <p:nvPr/>
        </p:nvSpPr>
        <p:spPr>
          <a:xfrm>
            <a:off x="329506" y="1461652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Program counter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7D33CD8-D0F8-4C67-A2C2-83802B1F8DFC}"/>
              </a:ext>
            </a:extLst>
          </p:cNvPr>
          <p:cNvSpPr/>
          <p:nvPr/>
        </p:nvSpPr>
        <p:spPr>
          <a:xfrm>
            <a:off x="4258496" y="1461652"/>
            <a:ext cx="1312070" cy="8287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1B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address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C21124EC-C35F-4392-A07C-BCEFD3FCF7B6}"/>
              </a:ext>
            </a:extLst>
          </p:cNvPr>
          <p:cNvCxnSpPr>
            <a:cxnSpLocks/>
          </p:cNvCxnSpPr>
          <p:nvPr/>
        </p:nvCxnSpPr>
        <p:spPr>
          <a:xfrm>
            <a:off x="1641576" y="1677928"/>
            <a:ext cx="261057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5518381-82E8-4712-96AA-A5B6070520FF}"/>
              </a:ext>
            </a:extLst>
          </p:cNvPr>
          <p:cNvGrpSpPr/>
          <p:nvPr/>
        </p:nvGrpSpPr>
        <p:grpSpPr>
          <a:xfrm>
            <a:off x="1641576" y="1973102"/>
            <a:ext cx="305278" cy="418928"/>
            <a:chOff x="1641576" y="1973102"/>
            <a:chExt cx="305278" cy="418928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7D5C89D5-7075-4CE9-8DCE-79C45ED186CB}"/>
                </a:ext>
              </a:extLst>
            </p:cNvPr>
            <p:cNvCxnSpPr/>
            <p:nvPr/>
          </p:nvCxnSpPr>
          <p:spPr>
            <a:xfrm flipV="1">
              <a:off x="1932566" y="1980723"/>
              <a:ext cx="0" cy="411307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F641DBF-B2B8-4ACE-8C63-6166885C62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1576" y="1973102"/>
              <a:ext cx="305278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80283B01-A66E-4DEE-8AA4-2DFC5B40127B}"/>
              </a:ext>
            </a:extLst>
          </p:cNvPr>
          <p:cNvGrpSpPr/>
          <p:nvPr/>
        </p:nvGrpSpPr>
        <p:grpSpPr>
          <a:xfrm>
            <a:off x="2175453" y="1973102"/>
            <a:ext cx="2076693" cy="418928"/>
            <a:chOff x="2175453" y="1973102"/>
            <a:chExt cx="2076693" cy="418928"/>
          </a:xfrm>
        </p:grpSpPr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16204CDD-D329-472D-9C6F-70CAB394BD4D}"/>
                </a:ext>
              </a:extLst>
            </p:cNvPr>
            <p:cNvCxnSpPr/>
            <p:nvPr/>
          </p:nvCxnSpPr>
          <p:spPr>
            <a:xfrm flipV="1">
              <a:off x="2189740" y="1980723"/>
              <a:ext cx="0" cy="411307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87DC0884-A0F4-47A9-B27A-5917FB1E3965}"/>
                </a:ext>
              </a:extLst>
            </p:cNvPr>
            <p:cNvCxnSpPr>
              <a:cxnSpLocks/>
            </p:cNvCxnSpPr>
            <p:nvPr/>
          </p:nvCxnSpPr>
          <p:spPr>
            <a:xfrm>
              <a:off x="2175453" y="1973102"/>
              <a:ext cx="2076693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88AEC17D-C230-481B-B90A-E18358EF2B85}"/>
              </a:ext>
            </a:extLst>
          </p:cNvPr>
          <p:cNvSpPr/>
          <p:nvPr/>
        </p:nvSpPr>
        <p:spPr>
          <a:xfrm>
            <a:off x="176565" y="523174"/>
            <a:ext cx="377128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F2652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Internal structure of the CPU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14DBBA3-3707-92E3-064C-7AB9D183C0AF}"/>
              </a:ext>
            </a:extLst>
          </p:cNvPr>
          <p:cNvGrpSpPr/>
          <p:nvPr/>
        </p:nvGrpSpPr>
        <p:grpSpPr>
          <a:xfrm>
            <a:off x="319130" y="2400565"/>
            <a:ext cx="2108069" cy="2303453"/>
            <a:chOff x="319130" y="2400565"/>
            <a:chExt cx="2108069" cy="2303453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DE67F911-B257-0D6E-474F-A40222DB977E}"/>
                </a:ext>
              </a:extLst>
            </p:cNvPr>
            <p:cNvSpPr/>
            <p:nvPr/>
          </p:nvSpPr>
          <p:spPr>
            <a:xfrm>
              <a:off x="319130" y="2400565"/>
              <a:ext cx="2108069" cy="2303453"/>
            </a:xfrm>
            <a:prstGeom prst="rect">
              <a:avLst/>
            </a:prstGeom>
            <a:solidFill>
              <a:srgbClr val="FFF2CC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sz="1100" b="1" dirty="0">
                  <a:solidFill>
                    <a:schemeClr val="tx1"/>
                  </a:solidFill>
                </a:rPr>
                <a:t>Decode unit</a:t>
              </a:r>
            </a:p>
            <a:p>
              <a:pPr algn="ctr"/>
              <a:endParaRPr lang="en-GB" sz="1100" b="1" dirty="0">
                <a:solidFill>
                  <a:schemeClr val="tx1"/>
                </a:solidFill>
              </a:endParaRPr>
            </a:p>
          </p:txBody>
        </p:sp>
        <p:pic>
          <p:nvPicPr>
            <p:cNvPr id="66" name="Graphic 65" descr="Gears with solid fill">
              <a:extLst>
                <a:ext uri="{FF2B5EF4-FFF2-40B4-BE49-F238E27FC236}">
                  <a16:creationId xmlns:a16="http://schemas.microsoft.com/office/drawing/2014/main" id="{144E80B7-0394-54F2-8025-965827A315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35490" y="2702448"/>
              <a:ext cx="1639963" cy="16399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47965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5B355E1-549A-4594-8FEA-A0CA781F2760}"/>
              </a:ext>
            </a:extLst>
          </p:cNvPr>
          <p:cNvSpPr/>
          <p:nvPr/>
        </p:nvSpPr>
        <p:spPr>
          <a:xfrm>
            <a:off x="144573" y="1076892"/>
            <a:ext cx="5425625" cy="563229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72000" tIns="1260000" rtlCol="0" anchor="t" anchorCtr="0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55D8CD-D8EF-4205-82AD-300AD2BB5329}"/>
              </a:ext>
            </a:extLst>
          </p:cNvPr>
          <p:cNvSpPr/>
          <p:nvPr/>
        </p:nvSpPr>
        <p:spPr>
          <a:xfrm>
            <a:off x="235668" y="1158753"/>
            <a:ext cx="5229018" cy="5464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Central processing unit (CPU)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49E10F79-511E-4EC4-AAE7-1E022E464105}"/>
              </a:ext>
            </a:extLst>
          </p:cNvPr>
          <p:cNvGrpSpPr/>
          <p:nvPr/>
        </p:nvGrpSpPr>
        <p:grpSpPr>
          <a:xfrm>
            <a:off x="1641577" y="2169083"/>
            <a:ext cx="3500410" cy="4333994"/>
            <a:chOff x="1773554" y="2169083"/>
            <a:chExt cx="3500410" cy="4333994"/>
          </a:xfrm>
        </p:grpSpPr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57888D9B-63CC-4AFF-8DBD-0809DA7704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1904" y="6503077"/>
              <a:ext cx="191165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77DA5366-36A4-475D-80F3-FCFA2BBF28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45226" y="6389225"/>
              <a:ext cx="183833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875504A7-D1EF-4CC0-B21B-97723B8703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4019" y="6281065"/>
              <a:ext cx="110954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E61048D-FA7A-450B-9057-1B71AF9CF5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2638" y="6178598"/>
              <a:ext cx="300926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1D04FA21-AA72-4833-9A58-FA3142351A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65188" y="6070440"/>
              <a:ext cx="218375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9DB82770-4BBA-4268-974D-D070F70CB5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47434" y="5956589"/>
              <a:ext cx="13612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A52308F8-4A31-4510-BAE3-99871709F0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3" y="5848429"/>
              <a:ext cx="5941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A6F29D5-82AB-4E5E-8D98-7818D5DEB4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0064" y="5542644"/>
              <a:ext cx="0" cy="738421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C47FA203-A773-425C-9E14-DDCB084AF9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0893" y="4701128"/>
              <a:ext cx="0" cy="21377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F5A2EFA0-5A33-49CE-80AF-085E74F169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4544" y="4914900"/>
              <a:ext cx="48068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CB6A3E1B-243B-4D67-9E51-A465C1F557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5226" y="4910139"/>
              <a:ext cx="0" cy="1479086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6D3CB495-CDE1-472D-971B-2637811B79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3964" y="4381492"/>
              <a:ext cx="0" cy="1317756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F7DB7E6F-644E-4468-A5ED-ACBF2F3CC9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153" y="2169083"/>
              <a:ext cx="0" cy="3679347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D98872B6-7248-41DB-A180-E0EF590867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7434" y="2230993"/>
              <a:ext cx="0" cy="3725597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62277DB8-B20F-48C4-80A9-CE0268CED7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5188" y="3054908"/>
              <a:ext cx="0" cy="301553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87C4F4E2-88CF-48DF-B66A-EB6A3F623C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2638" y="3966927"/>
              <a:ext cx="0" cy="2211671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3D1895AC-8354-4DF1-8C93-38A4515EB8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2" y="3971689"/>
              <a:ext cx="13612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F35D0887-9845-4D5E-A243-13BEC393B6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3" y="3054908"/>
              <a:ext cx="222685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BECAA9B0-DB0B-47DE-91A2-842DF82A9F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4" y="2173845"/>
              <a:ext cx="6631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A15AAD2E-4F60-4D04-828B-4DB4212A01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3554" y="2233374"/>
              <a:ext cx="247388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2109BE97-9B90-4417-8D03-D0AFF857C56F}"/>
              </a:ext>
            </a:extLst>
          </p:cNvPr>
          <p:cNvSpPr/>
          <p:nvPr/>
        </p:nvSpPr>
        <p:spPr>
          <a:xfrm>
            <a:off x="329506" y="5279014"/>
            <a:ext cx="2010421" cy="12418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Cache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D1D5CDF-1A51-486F-A79D-EDC4E208B261}"/>
              </a:ext>
            </a:extLst>
          </p:cNvPr>
          <p:cNvSpPr/>
          <p:nvPr/>
        </p:nvSpPr>
        <p:spPr>
          <a:xfrm>
            <a:off x="2491086" y="4708604"/>
            <a:ext cx="1312070" cy="8287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1B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Current instruction register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844966C-9D33-4FB4-91E9-FC5819D4BA3B}"/>
              </a:ext>
            </a:extLst>
          </p:cNvPr>
          <p:cNvSpPr/>
          <p:nvPr/>
        </p:nvSpPr>
        <p:spPr>
          <a:xfrm>
            <a:off x="2492502" y="2398380"/>
            <a:ext cx="1314000" cy="82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Accumulator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3360B80-E436-4445-AF6B-DCC7370F14F2}"/>
              </a:ext>
            </a:extLst>
          </p:cNvPr>
          <p:cNvSpPr/>
          <p:nvPr/>
        </p:nvSpPr>
        <p:spPr>
          <a:xfrm>
            <a:off x="2494433" y="3553492"/>
            <a:ext cx="1312069" cy="82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Arithmetic logic unit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F22CAA4-0A4F-4F5B-ABD8-6EF614C8140D}"/>
              </a:ext>
            </a:extLst>
          </p:cNvPr>
          <p:cNvSpPr/>
          <p:nvPr/>
        </p:nvSpPr>
        <p:spPr>
          <a:xfrm>
            <a:off x="4258496" y="3554121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Memory data register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955642C-8431-4E2A-89CC-8357C1EF8B5E}"/>
              </a:ext>
            </a:extLst>
          </p:cNvPr>
          <p:cNvSpPr/>
          <p:nvPr/>
        </p:nvSpPr>
        <p:spPr>
          <a:xfrm>
            <a:off x="4258597" y="5699247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Control</a:t>
            </a:r>
          </a:p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unit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9899F61-F6B5-4D33-A478-3B9D48E4F16A}"/>
              </a:ext>
            </a:extLst>
          </p:cNvPr>
          <p:cNvCxnSpPr>
            <a:cxnSpLocks/>
          </p:cNvCxnSpPr>
          <p:nvPr/>
        </p:nvCxnSpPr>
        <p:spPr>
          <a:xfrm>
            <a:off x="1641576" y="1677928"/>
            <a:ext cx="2610570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AA287EB-E571-42D1-AEDC-912F0CE3949C}"/>
              </a:ext>
            </a:extLst>
          </p:cNvPr>
          <p:cNvCxnSpPr>
            <a:cxnSpLocks/>
            <a:stCxn id="51" idx="0"/>
          </p:cNvCxnSpPr>
          <p:nvPr/>
        </p:nvCxnSpPr>
        <p:spPr>
          <a:xfrm flipH="1" flipV="1">
            <a:off x="3142042" y="3232336"/>
            <a:ext cx="8426" cy="32115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D90980DA-0C3A-4731-89F6-89E7F99D5FC3}"/>
              </a:ext>
            </a:extLst>
          </p:cNvPr>
          <p:cNvGrpSpPr/>
          <p:nvPr/>
        </p:nvGrpSpPr>
        <p:grpSpPr>
          <a:xfrm>
            <a:off x="3806502" y="2770122"/>
            <a:ext cx="1127180" cy="780826"/>
            <a:chOff x="3806502" y="2770122"/>
            <a:chExt cx="1127180" cy="780826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3E1640E-C787-4FD8-935B-912FDC5A2C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0982" y="2770122"/>
              <a:ext cx="0" cy="780826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B13FE9B8-92F9-42F9-844F-021624B0D8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06502" y="2770122"/>
              <a:ext cx="1127180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024632E5-0DCF-4BCE-9306-692F2A1A4528}"/>
              </a:ext>
            </a:extLst>
          </p:cNvPr>
          <p:cNvGrpSpPr/>
          <p:nvPr/>
        </p:nvGrpSpPr>
        <p:grpSpPr>
          <a:xfrm>
            <a:off x="3810525" y="4382913"/>
            <a:ext cx="1123157" cy="741531"/>
            <a:chOff x="3863234" y="4382913"/>
            <a:chExt cx="1202425" cy="1144394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94BF27E-4F7B-48A0-BB1D-7924C13036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A7FECD1-4257-4FAF-BD1D-4D809BED52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AECE537-6ACB-44D0-A092-63AB541186E4}"/>
              </a:ext>
            </a:extLst>
          </p:cNvPr>
          <p:cNvGrpSpPr/>
          <p:nvPr/>
        </p:nvGrpSpPr>
        <p:grpSpPr>
          <a:xfrm rot="5400000">
            <a:off x="1448476" y="4082207"/>
            <a:ext cx="423320" cy="1661159"/>
            <a:chOff x="3863234" y="4382913"/>
            <a:chExt cx="1202425" cy="1144394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5FDB3E7B-2157-4842-9E9E-73DE437B28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rgbClr val="C01B1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25A27C00-C803-4B21-A77E-7D5983355A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rgbClr val="C01B14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B8D6E0D-6A9D-466A-9A91-439CBD80D4A8}"/>
              </a:ext>
            </a:extLst>
          </p:cNvPr>
          <p:cNvCxnSpPr>
            <a:cxnSpLocks/>
          </p:cNvCxnSpPr>
          <p:nvPr/>
        </p:nvCxnSpPr>
        <p:spPr>
          <a:xfrm>
            <a:off x="5564217" y="3973782"/>
            <a:ext cx="777659" cy="0"/>
          </a:xfrm>
          <a:prstGeom prst="straightConnector1">
            <a:avLst/>
          </a:prstGeom>
          <a:ln w="508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F94A383-09A8-4898-924A-CEDDCC36EDD2}"/>
              </a:ext>
            </a:extLst>
          </p:cNvPr>
          <p:cNvCxnSpPr>
            <a:cxnSpLocks/>
          </p:cNvCxnSpPr>
          <p:nvPr/>
        </p:nvCxnSpPr>
        <p:spPr>
          <a:xfrm>
            <a:off x="5564217" y="1876048"/>
            <a:ext cx="777659" cy="0"/>
          </a:xfrm>
          <a:prstGeom prst="straightConnector1">
            <a:avLst/>
          </a:prstGeom>
          <a:ln w="50800">
            <a:solidFill>
              <a:srgbClr val="C01B1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58750DAB-344D-4D4A-A75A-1CC8F929B09C}"/>
              </a:ext>
            </a:extLst>
          </p:cNvPr>
          <p:cNvCxnSpPr>
            <a:cxnSpLocks/>
          </p:cNvCxnSpPr>
          <p:nvPr/>
        </p:nvCxnSpPr>
        <p:spPr>
          <a:xfrm>
            <a:off x="5567194" y="6124665"/>
            <a:ext cx="777659" cy="0"/>
          </a:xfrm>
          <a:prstGeom prst="straightConnector1">
            <a:avLst/>
          </a:prstGeom>
          <a:ln w="508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92C179DA-AE6B-4EAA-991B-2B528B232486}"/>
              </a:ext>
            </a:extLst>
          </p:cNvPr>
          <p:cNvSpPr/>
          <p:nvPr/>
        </p:nvSpPr>
        <p:spPr>
          <a:xfrm>
            <a:off x="5598559" y="1601453"/>
            <a:ext cx="65274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0F3A455-65B2-4DA2-8DA7-90D115E402E9}"/>
              </a:ext>
            </a:extLst>
          </p:cNvPr>
          <p:cNvSpPr/>
          <p:nvPr/>
        </p:nvSpPr>
        <p:spPr>
          <a:xfrm>
            <a:off x="5721835" y="3688865"/>
            <a:ext cx="46038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4BE47C0-8C49-4296-A75F-A6F9F8BA8AC0}"/>
              </a:ext>
            </a:extLst>
          </p:cNvPr>
          <p:cNvSpPr/>
          <p:nvPr/>
        </p:nvSpPr>
        <p:spPr>
          <a:xfrm>
            <a:off x="5653233" y="5850070"/>
            <a:ext cx="62068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Control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570F366-D62A-4F86-BE23-37B6DC9DCAAA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600" b="1" dirty="0">
                <a:solidFill>
                  <a:schemeClr val="tx1"/>
                </a:solidFill>
              </a:rPr>
              <a:t>Memory address register (MAR):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Holds the address of the memory location that data or an instruction is to be fetched from or written to.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Sends the address to memory down the address bus.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1FCFE5D-5B89-4602-A17C-CE80EC79ABA1}"/>
              </a:ext>
            </a:extLst>
          </p:cNvPr>
          <p:cNvSpPr/>
          <p:nvPr/>
        </p:nvSpPr>
        <p:spPr>
          <a:xfrm>
            <a:off x="329506" y="1461652"/>
            <a:ext cx="1312070" cy="8287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Program counter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C21124EC-C35F-4392-A07C-BCEFD3FCF7B6}"/>
              </a:ext>
            </a:extLst>
          </p:cNvPr>
          <p:cNvCxnSpPr>
            <a:cxnSpLocks/>
          </p:cNvCxnSpPr>
          <p:nvPr/>
        </p:nvCxnSpPr>
        <p:spPr>
          <a:xfrm>
            <a:off x="1641576" y="1677928"/>
            <a:ext cx="261057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5518381-82E8-4712-96AA-A5B6070520FF}"/>
              </a:ext>
            </a:extLst>
          </p:cNvPr>
          <p:cNvGrpSpPr/>
          <p:nvPr/>
        </p:nvGrpSpPr>
        <p:grpSpPr>
          <a:xfrm>
            <a:off x="1641576" y="1973102"/>
            <a:ext cx="305278" cy="418928"/>
            <a:chOff x="1641576" y="1973102"/>
            <a:chExt cx="305278" cy="418928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7D5C89D5-7075-4CE9-8DCE-79C45ED186CB}"/>
                </a:ext>
              </a:extLst>
            </p:cNvPr>
            <p:cNvCxnSpPr/>
            <p:nvPr/>
          </p:nvCxnSpPr>
          <p:spPr>
            <a:xfrm flipV="1">
              <a:off x="1932566" y="1980723"/>
              <a:ext cx="0" cy="411307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F641DBF-B2B8-4ACE-8C63-6166885C62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1576" y="1973102"/>
              <a:ext cx="305278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80283B01-A66E-4DEE-8AA4-2DFC5B40127B}"/>
              </a:ext>
            </a:extLst>
          </p:cNvPr>
          <p:cNvGrpSpPr/>
          <p:nvPr/>
        </p:nvGrpSpPr>
        <p:grpSpPr>
          <a:xfrm>
            <a:off x="2175453" y="1973102"/>
            <a:ext cx="2076693" cy="418928"/>
            <a:chOff x="2175453" y="1973102"/>
            <a:chExt cx="2076693" cy="418928"/>
          </a:xfrm>
        </p:grpSpPr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16204CDD-D329-472D-9C6F-70CAB394BD4D}"/>
                </a:ext>
              </a:extLst>
            </p:cNvPr>
            <p:cNvCxnSpPr/>
            <p:nvPr/>
          </p:nvCxnSpPr>
          <p:spPr>
            <a:xfrm flipV="1">
              <a:off x="2189740" y="1980723"/>
              <a:ext cx="0" cy="411307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87DC0884-A0F4-47A9-B27A-5917FB1E3965}"/>
                </a:ext>
              </a:extLst>
            </p:cNvPr>
            <p:cNvCxnSpPr>
              <a:cxnSpLocks/>
            </p:cNvCxnSpPr>
            <p:nvPr/>
          </p:nvCxnSpPr>
          <p:spPr>
            <a:xfrm>
              <a:off x="2175453" y="1973102"/>
              <a:ext cx="2076693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FDF5101-DE45-4073-8F27-922F15654C02}"/>
              </a:ext>
            </a:extLst>
          </p:cNvPr>
          <p:cNvSpPr/>
          <p:nvPr/>
        </p:nvSpPr>
        <p:spPr>
          <a:xfrm>
            <a:off x="4258496" y="1461652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address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930DF4-A101-4AFE-9809-0FC4FEA8BA80}"/>
              </a:ext>
            </a:extLst>
          </p:cNvPr>
          <p:cNvSpPr/>
          <p:nvPr/>
        </p:nvSpPr>
        <p:spPr>
          <a:xfrm>
            <a:off x="6355872" y="1076892"/>
            <a:ext cx="2005703" cy="5632279"/>
          </a:xfrm>
          <a:prstGeom prst="rect">
            <a:avLst/>
          </a:prstGeom>
          <a:solidFill>
            <a:srgbClr val="FFB3B3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Main memory (RAM)</a:t>
            </a:r>
          </a:p>
        </p:txBody>
      </p:sp>
      <p:graphicFrame>
        <p:nvGraphicFramePr>
          <p:cNvPr id="6" name="Table 32">
            <a:extLst>
              <a:ext uri="{FF2B5EF4-FFF2-40B4-BE49-F238E27FC236}">
                <a16:creationId xmlns:a16="http://schemas.microsoft.com/office/drawing/2014/main" id="{489A3572-44C6-416C-AB84-770215A6A5C8}"/>
              </a:ext>
            </a:extLst>
          </p:cNvPr>
          <p:cNvGraphicFramePr>
            <a:graphicFrameLocks noGrp="1"/>
          </p:cNvGraphicFramePr>
          <p:nvPr/>
        </p:nvGraphicFramePr>
        <p:xfrm>
          <a:off x="6458233" y="1427933"/>
          <a:ext cx="1823192" cy="5081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46">
                  <a:extLst>
                    <a:ext uri="{9D8B030D-6E8A-4147-A177-3AD203B41FA5}">
                      <a16:colId xmlns:a16="http://schemas.microsoft.com/office/drawing/2014/main" val="3614015831"/>
                    </a:ext>
                  </a:extLst>
                </a:gridCol>
                <a:gridCol w="952446">
                  <a:extLst>
                    <a:ext uri="{9D8B030D-6E8A-4147-A177-3AD203B41FA5}">
                      <a16:colId xmlns:a16="http://schemas.microsoft.com/office/drawing/2014/main" val="3794086153"/>
                    </a:ext>
                  </a:extLst>
                </a:gridCol>
              </a:tblGrid>
              <a:tr h="187507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Address</a:t>
                      </a:r>
                    </a:p>
                  </a:txBody>
                  <a:tcPr marL="36000" marR="360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Data</a:t>
                      </a:r>
                    </a:p>
                  </a:txBody>
                  <a:tcPr marL="36000" marR="36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211108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0101 0101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7878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0001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0001 0110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188674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0010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0011 0111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260329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0011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1001 0010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26722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0100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340781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0101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0011 0000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87073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0110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0000 0001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443288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0111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824555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24416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1001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76455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1010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386007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1011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985182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1100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90943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1101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198533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1110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96377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1111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878757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C17F56E-F548-4AFF-8245-E3338F551075}"/>
              </a:ext>
            </a:extLst>
          </p:cNvPr>
          <p:cNvSpPr/>
          <p:nvPr/>
        </p:nvSpPr>
        <p:spPr>
          <a:xfrm>
            <a:off x="176565" y="523174"/>
            <a:ext cx="377128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F2652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Internal structure of the CPU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D3C77F3-4879-C6A6-323B-C9603B7FDAB1}"/>
              </a:ext>
            </a:extLst>
          </p:cNvPr>
          <p:cNvGrpSpPr/>
          <p:nvPr/>
        </p:nvGrpSpPr>
        <p:grpSpPr>
          <a:xfrm>
            <a:off x="319130" y="2400565"/>
            <a:ext cx="2108069" cy="2303453"/>
            <a:chOff x="319130" y="2400565"/>
            <a:chExt cx="2108069" cy="2303453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2C1AA67-AC04-68B0-BF49-671F027A53D7}"/>
                </a:ext>
              </a:extLst>
            </p:cNvPr>
            <p:cNvSpPr/>
            <p:nvPr/>
          </p:nvSpPr>
          <p:spPr>
            <a:xfrm>
              <a:off x="319130" y="2400565"/>
              <a:ext cx="2108069" cy="230345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sz="1100" b="1" dirty="0">
                  <a:solidFill>
                    <a:schemeClr val="tx1"/>
                  </a:solidFill>
                </a:rPr>
                <a:t>Decode unit</a:t>
              </a:r>
            </a:p>
            <a:p>
              <a:pPr algn="ctr"/>
              <a:endParaRPr lang="en-GB" sz="1100" b="1" dirty="0">
                <a:solidFill>
                  <a:schemeClr val="tx1"/>
                </a:solidFill>
              </a:endParaRPr>
            </a:p>
          </p:txBody>
        </p:sp>
        <p:pic>
          <p:nvPicPr>
            <p:cNvPr id="66" name="Graphic 65" descr="Gears with solid fill">
              <a:extLst>
                <a:ext uri="{FF2B5EF4-FFF2-40B4-BE49-F238E27FC236}">
                  <a16:creationId xmlns:a16="http://schemas.microsoft.com/office/drawing/2014/main" id="{A125C49E-E42D-ED66-FA1D-0402F316C6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35490" y="2702448"/>
              <a:ext cx="1639963" cy="16399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5382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5B355E1-549A-4594-8FEA-A0CA781F2760}"/>
              </a:ext>
            </a:extLst>
          </p:cNvPr>
          <p:cNvSpPr/>
          <p:nvPr/>
        </p:nvSpPr>
        <p:spPr>
          <a:xfrm>
            <a:off x="144573" y="1076892"/>
            <a:ext cx="5425625" cy="563229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72000" tIns="1260000" rtlCol="0" anchor="t" anchorCtr="0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55D8CD-D8EF-4205-82AD-300AD2BB5329}"/>
              </a:ext>
            </a:extLst>
          </p:cNvPr>
          <p:cNvSpPr/>
          <p:nvPr/>
        </p:nvSpPr>
        <p:spPr>
          <a:xfrm>
            <a:off x="235668" y="1158753"/>
            <a:ext cx="5229018" cy="5464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Central processing unit (CPU)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49E10F79-511E-4EC4-AAE7-1E022E464105}"/>
              </a:ext>
            </a:extLst>
          </p:cNvPr>
          <p:cNvGrpSpPr/>
          <p:nvPr/>
        </p:nvGrpSpPr>
        <p:grpSpPr>
          <a:xfrm>
            <a:off x="1641577" y="2169083"/>
            <a:ext cx="3500410" cy="4333994"/>
            <a:chOff x="1773554" y="2169083"/>
            <a:chExt cx="3500410" cy="4333994"/>
          </a:xfrm>
        </p:grpSpPr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57888D9B-63CC-4AFF-8DBD-0809DA7704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1904" y="6503077"/>
              <a:ext cx="191165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77DA5366-36A4-475D-80F3-FCFA2BBF28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45226" y="6389225"/>
              <a:ext cx="183833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875504A7-D1EF-4CC0-B21B-97723B8703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4019" y="6281065"/>
              <a:ext cx="110954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E61048D-FA7A-450B-9057-1B71AF9CF5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2638" y="6178598"/>
              <a:ext cx="300926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1D04FA21-AA72-4833-9A58-FA3142351A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65188" y="6070440"/>
              <a:ext cx="218375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9DB82770-4BBA-4268-974D-D070F70CB5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47434" y="5956589"/>
              <a:ext cx="13612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A52308F8-4A31-4510-BAE3-99871709F0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3" y="5848429"/>
              <a:ext cx="5941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A6F29D5-82AB-4E5E-8D98-7818D5DEB4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0064" y="5542644"/>
              <a:ext cx="0" cy="738421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C47FA203-A773-425C-9E14-DDCB084AF9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0893" y="4701128"/>
              <a:ext cx="0" cy="21377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F5A2EFA0-5A33-49CE-80AF-085E74F169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4544" y="4914900"/>
              <a:ext cx="48068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CB6A3E1B-243B-4D67-9E51-A465C1F557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5226" y="4910139"/>
              <a:ext cx="0" cy="1479086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6D3CB495-CDE1-472D-971B-2637811B79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3964" y="4381492"/>
              <a:ext cx="0" cy="1317756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F7DB7E6F-644E-4468-A5ED-ACBF2F3CC9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153" y="2169083"/>
              <a:ext cx="0" cy="3679347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D98872B6-7248-41DB-A180-E0EF590867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7434" y="2230993"/>
              <a:ext cx="0" cy="3725597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62277DB8-B20F-48C4-80A9-CE0268CED7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5188" y="3054908"/>
              <a:ext cx="0" cy="301553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87C4F4E2-88CF-48DF-B66A-EB6A3F623C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2638" y="3966927"/>
              <a:ext cx="0" cy="2211671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3D1895AC-8354-4DF1-8C93-38A4515EB8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2" y="3971689"/>
              <a:ext cx="13612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F35D0887-9845-4D5E-A243-13BEC393B6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3" y="3054908"/>
              <a:ext cx="222685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BECAA9B0-DB0B-47DE-91A2-842DF82A9F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4" y="2173845"/>
              <a:ext cx="6631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A15AAD2E-4F60-4D04-828B-4DB4212A01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3554" y="2233374"/>
              <a:ext cx="247388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2109BE97-9B90-4417-8D03-D0AFF857C56F}"/>
              </a:ext>
            </a:extLst>
          </p:cNvPr>
          <p:cNvSpPr/>
          <p:nvPr/>
        </p:nvSpPr>
        <p:spPr>
          <a:xfrm>
            <a:off x="329506" y="5279014"/>
            <a:ext cx="2010421" cy="12418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Cache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D1D5CDF-1A51-486F-A79D-EDC4E208B261}"/>
              </a:ext>
            </a:extLst>
          </p:cNvPr>
          <p:cNvSpPr/>
          <p:nvPr/>
        </p:nvSpPr>
        <p:spPr>
          <a:xfrm>
            <a:off x="2491086" y="4708604"/>
            <a:ext cx="1312070" cy="8287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1B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Current instruction register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3360B80-E436-4445-AF6B-DCC7370F14F2}"/>
              </a:ext>
            </a:extLst>
          </p:cNvPr>
          <p:cNvSpPr/>
          <p:nvPr/>
        </p:nvSpPr>
        <p:spPr>
          <a:xfrm>
            <a:off x="2494433" y="3553492"/>
            <a:ext cx="1312069" cy="82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Arithmetic logic unit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955642C-8431-4E2A-89CC-8357C1EF8B5E}"/>
              </a:ext>
            </a:extLst>
          </p:cNvPr>
          <p:cNvSpPr/>
          <p:nvPr/>
        </p:nvSpPr>
        <p:spPr>
          <a:xfrm>
            <a:off x="4258597" y="5699247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Control</a:t>
            </a:r>
          </a:p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unit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9899F61-F6B5-4D33-A478-3B9D48E4F16A}"/>
              </a:ext>
            </a:extLst>
          </p:cNvPr>
          <p:cNvCxnSpPr>
            <a:cxnSpLocks/>
          </p:cNvCxnSpPr>
          <p:nvPr/>
        </p:nvCxnSpPr>
        <p:spPr>
          <a:xfrm>
            <a:off x="1641576" y="1677928"/>
            <a:ext cx="2610570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AA287EB-E571-42D1-AEDC-912F0CE3949C}"/>
              </a:ext>
            </a:extLst>
          </p:cNvPr>
          <p:cNvCxnSpPr>
            <a:cxnSpLocks/>
            <a:stCxn id="51" idx="0"/>
          </p:cNvCxnSpPr>
          <p:nvPr/>
        </p:nvCxnSpPr>
        <p:spPr>
          <a:xfrm flipH="1" flipV="1">
            <a:off x="3142042" y="3232336"/>
            <a:ext cx="8426" cy="32115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024632E5-0DCF-4BCE-9306-692F2A1A4528}"/>
              </a:ext>
            </a:extLst>
          </p:cNvPr>
          <p:cNvGrpSpPr/>
          <p:nvPr/>
        </p:nvGrpSpPr>
        <p:grpSpPr>
          <a:xfrm>
            <a:off x="3810525" y="4382913"/>
            <a:ext cx="1123157" cy="741531"/>
            <a:chOff x="3863234" y="4382913"/>
            <a:chExt cx="1202425" cy="1144394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94BF27E-4F7B-48A0-BB1D-7924C13036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rgbClr val="C01B1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A7FECD1-4257-4FAF-BD1D-4D809BED52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rgbClr val="C01B14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AECE537-6ACB-44D0-A092-63AB541186E4}"/>
              </a:ext>
            </a:extLst>
          </p:cNvPr>
          <p:cNvGrpSpPr/>
          <p:nvPr/>
        </p:nvGrpSpPr>
        <p:grpSpPr>
          <a:xfrm rot="5400000">
            <a:off x="1448476" y="4082207"/>
            <a:ext cx="423320" cy="1661159"/>
            <a:chOff x="3863234" y="4382913"/>
            <a:chExt cx="1202425" cy="1144394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5FDB3E7B-2157-4842-9E9E-73DE437B28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rgbClr val="C01B1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25A27C00-C803-4B21-A77E-7D5983355A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rgbClr val="C01B14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B8D6E0D-6A9D-466A-9A91-439CBD80D4A8}"/>
              </a:ext>
            </a:extLst>
          </p:cNvPr>
          <p:cNvCxnSpPr>
            <a:cxnSpLocks/>
          </p:cNvCxnSpPr>
          <p:nvPr/>
        </p:nvCxnSpPr>
        <p:spPr>
          <a:xfrm>
            <a:off x="5564217" y="3973782"/>
            <a:ext cx="777659" cy="0"/>
          </a:xfrm>
          <a:prstGeom prst="straightConnector1">
            <a:avLst/>
          </a:prstGeom>
          <a:ln w="50800">
            <a:solidFill>
              <a:srgbClr val="C01B14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58750DAB-344D-4D4A-A75A-1CC8F929B09C}"/>
              </a:ext>
            </a:extLst>
          </p:cNvPr>
          <p:cNvCxnSpPr>
            <a:cxnSpLocks/>
          </p:cNvCxnSpPr>
          <p:nvPr/>
        </p:nvCxnSpPr>
        <p:spPr>
          <a:xfrm>
            <a:off x="5567194" y="6124665"/>
            <a:ext cx="777659" cy="0"/>
          </a:xfrm>
          <a:prstGeom prst="straightConnector1">
            <a:avLst/>
          </a:prstGeom>
          <a:ln w="508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70F3A455-65B2-4DA2-8DA7-90D115E402E9}"/>
              </a:ext>
            </a:extLst>
          </p:cNvPr>
          <p:cNvSpPr/>
          <p:nvPr/>
        </p:nvSpPr>
        <p:spPr>
          <a:xfrm>
            <a:off x="5721835" y="3688865"/>
            <a:ext cx="46038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4BE47C0-8C49-4296-A75F-A6F9F8BA8AC0}"/>
              </a:ext>
            </a:extLst>
          </p:cNvPr>
          <p:cNvSpPr/>
          <p:nvPr/>
        </p:nvSpPr>
        <p:spPr>
          <a:xfrm>
            <a:off x="5653233" y="5850070"/>
            <a:ext cx="62068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Control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570F366-D62A-4F86-BE23-37B6DC9DCAAA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600" b="1" dirty="0">
                <a:solidFill>
                  <a:schemeClr val="tx1"/>
                </a:solidFill>
              </a:rPr>
              <a:t>Memory data register (MDR):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Used to temporarily store data that is read from or written to memory.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All data to and from memory must travel down the data bus and pass through the MDR.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930DF4-A101-4AFE-9809-0FC4FEA8BA80}"/>
              </a:ext>
            </a:extLst>
          </p:cNvPr>
          <p:cNvSpPr/>
          <p:nvPr/>
        </p:nvSpPr>
        <p:spPr>
          <a:xfrm>
            <a:off x="6355872" y="1076892"/>
            <a:ext cx="2005703" cy="5632279"/>
          </a:xfrm>
          <a:prstGeom prst="rect">
            <a:avLst/>
          </a:prstGeom>
          <a:solidFill>
            <a:srgbClr val="FFB3B3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Main memory (RAM)</a:t>
            </a:r>
          </a:p>
        </p:txBody>
      </p:sp>
      <p:graphicFrame>
        <p:nvGraphicFramePr>
          <p:cNvPr id="6" name="Table 32">
            <a:extLst>
              <a:ext uri="{FF2B5EF4-FFF2-40B4-BE49-F238E27FC236}">
                <a16:creationId xmlns:a16="http://schemas.microsoft.com/office/drawing/2014/main" id="{489A3572-44C6-416C-AB84-770215A6A5C8}"/>
              </a:ext>
            </a:extLst>
          </p:cNvPr>
          <p:cNvGraphicFramePr>
            <a:graphicFrameLocks noGrp="1"/>
          </p:cNvGraphicFramePr>
          <p:nvPr/>
        </p:nvGraphicFramePr>
        <p:xfrm>
          <a:off x="6458233" y="1427933"/>
          <a:ext cx="1823192" cy="5081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46">
                  <a:extLst>
                    <a:ext uri="{9D8B030D-6E8A-4147-A177-3AD203B41FA5}">
                      <a16:colId xmlns:a16="http://schemas.microsoft.com/office/drawing/2014/main" val="3614015831"/>
                    </a:ext>
                  </a:extLst>
                </a:gridCol>
                <a:gridCol w="952446">
                  <a:extLst>
                    <a:ext uri="{9D8B030D-6E8A-4147-A177-3AD203B41FA5}">
                      <a16:colId xmlns:a16="http://schemas.microsoft.com/office/drawing/2014/main" val="3794086153"/>
                    </a:ext>
                  </a:extLst>
                </a:gridCol>
              </a:tblGrid>
              <a:tr h="187507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Address</a:t>
                      </a:r>
                    </a:p>
                  </a:txBody>
                  <a:tcPr marL="36000" marR="360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Data</a:t>
                      </a:r>
                    </a:p>
                  </a:txBody>
                  <a:tcPr marL="36000" marR="36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211108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0101 0101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7878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0001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0001 0110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188674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0010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0011 0111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260329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0011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1001 0010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26722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0100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340781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0101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0011 0000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87073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0110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0000 0001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443288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0111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824555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24416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1001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76455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1010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386007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1011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985182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1100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90943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1101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198533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1110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96377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1111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878757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EC4F58DC-48AB-43F7-B53A-152A64F6CE1F}"/>
              </a:ext>
            </a:extLst>
          </p:cNvPr>
          <p:cNvSpPr/>
          <p:nvPr/>
        </p:nvSpPr>
        <p:spPr>
          <a:xfrm>
            <a:off x="4258496" y="1461652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Memory address register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6DD3F-2A64-4E66-9851-3762DC377CD6}"/>
              </a:ext>
            </a:extLst>
          </p:cNvPr>
          <p:cNvSpPr/>
          <p:nvPr/>
        </p:nvSpPr>
        <p:spPr>
          <a:xfrm>
            <a:off x="4258496" y="3554121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data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EABF939-E454-4BDF-89CC-29A052A86CAE}"/>
              </a:ext>
            </a:extLst>
          </p:cNvPr>
          <p:cNvCxnSpPr>
            <a:cxnSpLocks/>
          </p:cNvCxnSpPr>
          <p:nvPr/>
        </p:nvCxnSpPr>
        <p:spPr>
          <a:xfrm>
            <a:off x="5564217" y="1876048"/>
            <a:ext cx="777659" cy="0"/>
          </a:xfrm>
          <a:prstGeom prst="straightConnector1">
            <a:avLst/>
          </a:prstGeom>
          <a:ln w="508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ED49E43E-8857-4BB0-819F-E48DE12D3D7C}"/>
              </a:ext>
            </a:extLst>
          </p:cNvPr>
          <p:cNvSpPr/>
          <p:nvPr/>
        </p:nvSpPr>
        <p:spPr>
          <a:xfrm>
            <a:off x="5598559" y="1601453"/>
            <a:ext cx="65274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3D13D17-9C96-4DCC-BC43-EE06BB305469}"/>
              </a:ext>
            </a:extLst>
          </p:cNvPr>
          <p:cNvGrpSpPr/>
          <p:nvPr/>
        </p:nvGrpSpPr>
        <p:grpSpPr>
          <a:xfrm>
            <a:off x="1641576" y="1973102"/>
            <a:ext cx="305278" cy="418928"/>
            <a:chOff x="1641576" y="1973102"/>
            <a:chExt cx="305278" cy="418928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1BB1B16F-1478-4C93-A04D-8598C5D07CB8}"/>
                </a:ext>
              </a:extLst>
            </p:cNvPr>
            <p:cNvCxnSpPr/>
            <p:nvPr/>
          </p:nvCxnSpPr>
          <p:spPr>
            <a:xfrm flipV="1">
              <a:off x="1932566" y="1980723"/>
              <a:ext cx="0" cy="411307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06EDE58F-B045-47BC-A3CA-E013EF6F08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1576" y="1973102"/>
              <a:ext cx="305278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F59F967-E543-4EAD-8F35-60D35189BEA2}"/>
              </a:ext>
            </a:extLst>
          </p:cNvPr>
          <p:cNvGrpSpPr/>
          <p:nvPr/>
        </p:nvGrpSpPr>
        <p:grpSpPr>
          <a:xfrm>
            <a:off x="2175453" y="1973102"/>
            <a:ext cx="2076693" cy="418928"/>
            <a:chOff x="2175453" y="1973102"/>
            <a:chExt cx="2076693" cy="418928"/>
          </a:xfrm>
        </p:grpSpPr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4E9F1217-FF1B-4B44-95DD-DBAD1762F92E}"/>
                </a:ext>
              </a:extLst>
            </p:cNvPr>
            <p:cNvCxnSpPr/>
            <p:nvPr/>
          </p:nvCxnSpPr>
          <p:spPr>
            <a:xfrm flipV="1">
              <a:off x="2189740" y="1980723"/>
              <a:ext cx="0" cy="411307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F42CB918-132B-44DF-801C-2BBA9BDCE972}"/>
                </a:ext>
              </a:extLst>
            </p:cNvPr>
            <p:cNvCxnSpPr>
              <a:cxnSpLocks/>
            </p:cNvCxnSpPr>
            <p:nvPr/>
          </p:nvCxnSpPr>
          <p:spPr>
            <a:xfrm>
              <a:off x="2175453" y="1973102"/>
              <a:ext cx="2076693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D78C84F5-D12E-4371-BCFE-2877A8B8F259}"/>
              </a:ext>
            </a:extLst>
          </p:cNvPr>
          <p:cNvSpPr/>
          <p:nvPr/>
        </p:nvSpPr>
        <p:spPr>
          <a:xfrm>
            <a:off x="329506" y="1461652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Program counter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E8D4AD6-0F5A-4E11-AE7D-165FDCC99367}"/>
              </a:ext>
            </a:extLst>
          </p:cNvPr>
          <p:cNvSpPr/>
          <p:nvPr/>
        </p:nvSpPr>
        <p:spPr>
          <a:xfrm>
            <a:off x="2492502" y="2398380"/>
            <a:ext cx="1314000" cy="82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Accumulator</a:t>
            </a: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DEA360F7-9597-403E-AE1B-5405B4D92B13}"/>
              </a:ext>
            </a:extLst>
          </p:cNvPr>
          <p:cNvCxnSpPr>
            <a:cxnSpLocks/>
          </p:cNvCxnSpPr>
          <p:nvPr/>
        </p:nvCxnSpPr>
        <p:spPr>
          <a:xfrm flipV="1">
            <a:off x="4920982" y="2770122"/>
            <a:ext cx="0" cy="780826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4EAEF37B-9400-4C90-AA48-35F620F8CCD7}"/>
              </a:ext>
            </a:extLst>
          </p:cNvPr>
          <p:cNvCxnSpPr>
            <a:cxnSpLocks/>
          </p:cNvCxnSpPr>
          <p:nvPr/>
        </p:nvCxnSpPr>
        <p:spPr>
          <a:xfrm flipH="1">
            <a:off x="3806502" y="2770122"/>
            <a:ext cx="1127180" cy="0"/>
          </a:xfrm>
          <a:prstGeom prst="line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C43C9B7-E6AD-4308-B6AD-08680CDA066C}"/>
              </a:ext>
            </a:extLst>
          </p:cNvPr>
          <p:cNvSpPr/>
          <p:nvPr/>
        </p:nvSpPr>
        <p:spPr>
          <a:xfrm>
            <a:off x="176565" y="523174"/>
            <a:ext cx="377128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F2652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Internal structure of the CPU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1D14980-2B0D-870C-D226-92A8B1F35847}"/>
              </a:ext>
            </a:extLst>
          </p:cNvPr>
          <p:cNvGrpSpPr/>
          <p:nvPr/>
        </p:nvGrpSpPr>
        <p:grpSpPr>
          <a:xfrm>
            <a:off x="319130" y="2400565"/>
            <a:ext cx="2108069" cy="2303453"/>
            <a:chOff x="319130" y="2400565"/>
            <a:chExt cx="2108069" cy="2303453"/>
          </a:xfrm>
          <a:solidFill>
            <a:srgbClr val="D9D9D9"/>
          </a:solidFill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3E559BA-3359-CEE2-44D2-D8861569FAEE}"/>
                </a:ext>
              </a:extLst>
            </p:cNvPr>
            <p:cNvSpPr/>
            <p:nvPr/>
          </p:nvSpPr>
          <p:spPr>
            <a:xfrm>
              <a:off x="319130" y="2400565"/>
              <a:ext cx="2108069" cy="2303453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sz="1100" b="1" dirty="0">
                  <a:solidFill>
                    <a:schemeClr val="bg1">
                      <a:lumMod val="50000"/>
                    </a:schemeClr>
                  </a:solidFill>
                </a:rPr>
                <a:t>Decode unit</a:t>
              </a:r>
            </a:p>
            <a:p>
              <a:pPr algn="ctr"/>
              <a:endParaRPr lang="en-GB" sz="1100" b="1" dirty="0">
                <a:solidFill>
                  <a:schemeClr val="tx1"/>
                </a:solidFill>
              </a:endParaRPr>
            </a:p>
          </p:txBody>
        </p:sp>
        <p:pic>
          <p:nvPicPr>
            <p:cNvPr id="64" name="Graphic 63" descr="Gears with solid fill">
              <a:extLst>
                <a:ext uri="{FF2B5EF4-FFF2-40B4-BE49-F238E27FC236}">
                  <a16:creationId xmlns:a16="http://schemas.microsoft.com/office/drawing/2014/main" id="{1DC5E51A-8814-1511-E20B-31299F3EE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35490" y="2702448"/>
              <a:ext cx="1639963" cy="16399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70536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5B355E1-549A-4594-8FEA-A0CA781F2760}"/>
              </a:ext>
            </a:extLst>
          </p:cNvPr>
          <p:cNvSpPr/>
          <p:nvPr/>
        </p:nvSpPr>
        <p:spPr>
          <a:xfrm>
            <a:off x="144573" y="1076892"/>
            <a:ext cx="5425625" cy="563229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72000" tIns="1260000" rtlCol="0" anchor="t" anchorCtr="0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55D8CD-D8EF-4205-82AD-300AD2BB5329}"/>
              </a:ext>
            </a:extLst>
          </p:cNvPr>
          <p:cNvSpPr/>
          <p:nvPr/>
        </p:nvSpPr>
        <p:spPr>
          <a:xfrm>
            <a:off x="235668" y="1158753"/>
            <a:ext cx="5229018" cy="5464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Central processing unit (CPU)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49E10F79-511E-4EC4-AAE7-1E022E464105}"/>
              </a:ext>
            </a:extLst>
          </p:cNvPr>
          <p:cNvGrpSpPr/>
          <p:nvPr/>
        </p:nvGrpSpPr>
        <p:grpSpPr>
          <a:xfrm>
            <a:off x="1641577" y="2169083"/>
            <a:ext cx="3500410" cy="4333994"/>
            <a:chOff x="1773554" y="2169083"/>
            <a:chExt cx="3500410" cy="4333994"/>
          </a:xfrm>
        </p:grpSpPr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57888D9B-63CC-4AFF-8DBD-0809DA7704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1904" y="6503077"/>
              <a:ext cx="191165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77DA5366-36A4-475D-80F3-FCFA2BBF28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45226" y="6389225"/>
              <a:ext cx="183833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875504A7-D1EF-4CC0-B21B-97723B8703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4019" y="6281065"/>
              <a:ext cx="110954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E61048D-FA7A-450B-9057-1B71AF9CF5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2638" y="6178598"/>
              <a:ext cx="300926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1D04FA21-AA72-4833-9A58-FA3142351A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65188" y="6070440"/>
              <a:ext cx="218375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9DB82770-4BBA-4268-974D-D070F70CB5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47434" y="5956589"/>
              <a:ext cx="13612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A52308F8-4A31-4510-BAE3-99871709F0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3" y="5848429"/>
              <a:ext cx="5941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A6F29D5-82AB-4E5E-8D98-7818D5DEB4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0064" y="5542644"/>
              <a:ext cx="0" cy="738421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C47FA203-A773-425C-9E14-DDCB084AF9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0893" y="4701128"/>
              <a:ext cx="0" cy="21377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F5A2EFA0-5A33-49CE-80AF-085E74F169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4544" y="4914900"/>
              <a:ext cx="48068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CB6A3E1B-243B-4D67-9E51-A465C1F557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5226" y="4910139"/>
              <a:ext cx="0" cy="1479086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6D3CB495-CDE1-472D-971B-2637811B79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3964" y="4381492"/>
              <a:ext cx="0" cy="1317756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F7DB7E6F-644E-4468-A5ED-ACBF2F3CC9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153" y="2169083"/>
              <a:ext cx="0" cy="3679347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D98872B6-7248-41DB-A180-E0EF590867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7434" y="2230993"/>
              <a:ext cx="0" cy="3725597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62277DB8-B20F-48C4-80A9-CE0268CED7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5188" y="3054908"/>
              <a:ext cx="0" cy="301553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87C4F4E2-88CF-48DF-B66A-EB6A3F623C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2638" y="3966927"/>
              <a:ext cx="0" cy="2211671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3D1895AC-8354-4DF1-8C93-38A4515EB8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2" y="3971689"/>
              <a:ext cx="13612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F35D0887-9845-4D5E-A243-13BEC393B6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3" y="3054908"/>
              <a:ext cx="222685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BECAA9B0-DB0B-47DE-91A2-842DF82A9F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4" y="2173845"/>
              <a:ext cx="6631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A15AAD2E-4F60-4D04-828B-4DB4212A01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3554" y="2233374"/>
              <a:ext cx="247388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2109BE97-9B90-4417-8D03-D0AFF857C56F}"/>
              </a:ext>
            </a:extLst>
          </p:cNvPr>
          <p:cNvSpPr/>
          <p:nvPr/>
        </p:nvSpPr>
        <p:spPr>
          <a:xfrm>
            <a:off x="329506" y="5279014"/>
            <a:ext cx="2010421" cy="12418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Cache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3360B80-E436-4445-AF6B-DCC7370F14F2}"/>
              </a:ext>
            </a:extLst>
          </p:cNvPr>
          <p:cNvSpPr/>
          <p:nvPr/>
        </p:nvSpPr>
        <p:spPr>
          <a:xfrm>
            <a:off x="2494433" y="3553492"/>
            <a:ext cx="1312069" cy="82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Arithmetic logic unit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955642C-8431-4E2A-89CC-8357C1EF8B5E}"/>
              </a:ext>
            </a:extLst>
          </p:cNvPr>
          <p:cNvSpPr/>
          <p:nvPr/>
        </p:nvSpPr>
        <p:spPr>
          <a:xfrm>
            <a:off x="4258597" y="5699247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Control</a:t>
            </a:r>
          </a:p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unit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9899F61-F6B5-4D33-A478-3B9D48E4F16A}"/>
              </a:ext>
            </a:extLst>
          </p:cNvPr>
          <p:cNvCxnSpPr>
            <a:cxnSpLocks/>
          </p:cNvCxnSpPr>
          <p:nvPr/>
        </p:nvCxnSpPr>
        <p:spPr>
          <a:xfrm>
            <a:off x="1641576" y="1677928"/>
            <a:ext cx="2610570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AA287EB-E571-42D1-AEDC-912F0CE3949C}"/>
              </a:ext>
            </a:extLst>
          </p:cNvPr>
          <p:cNvCxnSpPr>
            <a:cxnSpLocks/>
            <a:stCxn id="51" idx="0"/>
          </p:cNvCxnSpPr>
          <p:nvPr/>
        </p:nvCxnSpPr>
        <p:spPr>
          <a:xfrm flipH="1" flipV="1">
            <a:off x="3142042" y="3232336"/>
            <a:ext cx="8426" cy="32115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024632E5-0DCF-4BCE-9306-692F2A1A4528}"/>
              </a:ext>
            </a:extLst>
          </p:cNvPr>
          <p:cNvGrpSpPr/>
          <p:nvPr/>
        </p:nvGrpSpPr>
        <p:grpSpPr>
          <a:xfrm>
            <a:off x="3810525" y="4382913"/>
            <a:ext cx="1123157" cy="741531"/>
            <a:chOff x="3863234" y="4382913"/>
            <a:chExt cx="1202425" cy="1144394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94BF27E-4F7B-48A0-BB1D-7924C13036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rgbClr val="C01B1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A7FECD1-4257-4FAF-BD1D-4D809BED52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rgbClr val="C01B14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AECE537-6ACB-44D0-A092-63AB541186E4}"/>
              </a:ext>
            </a:extLst>
          </p:cNvPr>
          <p:cNvGrpSpPr/>
          <p:nvPr/>
        </p:nvGrpSpPr>
        <p:grpSpPr>
          <a:xfrm rot="5400000">
            <a:off x="1448476" y="4082207"/>
            <a:ext cx="423320" cy="1661159"/>
            <a:chOff x="3863234" y="4382913"/>
            <a:chExt cx="1202425" cy="1144394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5FDB3E7B-2157-4842-9E9E-73DE437B28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rgbClr val="C01B1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25A27C00-C803-4B21-A77E-7D5983355A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rgbClr val="C01B14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58750DAB-344D-4D4A-A75A-1CC8F929B09C}"/>
              </a:ext>
            </a:extLst>
          </p:cNvPr>
          <p:cNvCxnSpPr>
            <a:cxnSpLocks/>
          </p:cNvCxnSpPr>
          <p:nvPr/>
        </p:nvCxnSpPr>
        <p:spPr>
          <a:xfrm>
            <a:off x="5567194" y="6124665"/>
            <a:ext cx="777659" cy="0"/>
          </a:xfrm>
          <a:prstGeom prst="straightConnector1">
            <a:avLst/>
          </a:prstGeom>
          <a:ln w="508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94BE47C0-8C49-4296-A75F-A6F9F8BA8AC0}"/>
              </a:ext>
            </a:extLst>
          </p:cNvPr>
          <p:cNvSpPr/>
          <p:nvPr/>
        </p:nvSpPr>
        <p:spPr>
          <a:xfrm>
            <a:off x="5653233" y="5850070"/>
            <a:ext cx="62068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Control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570F366-D62A-4F86-BE23-37B6DC9DCAAA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600" b="1" dirty="0">
                <a:solidFill>
                  <a:schemeClr val="tx1"/>
                </a:solidFill>
              </a:rPr>
              <a:t>Current instruction register (CIR):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Holds the current instruction being executed.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If the MDR is holding an instruction, it is copied to the current instruction register.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930DF4-A101-4AFE-9809-0FC4FEA8BA80}"/>
              </a:ext>
            </a:extLst>
          </p:cNvPr>
          <p:cNvSpPr/>
          <p:nvPr/>
        </p:nvSpPr>
        <p:spPr>
          <a:xfrm>
            <a:off x="6355872" y="1076892"/>
            <a:ext cx="2005703" cy="5632279"/>
          </a:xfrm>
          <a:prstGeom prst="rect">
            <a:avLst/>
          </a:prstGeom>
          <a:solidFill>
            <a:srgbClr val="FFB3B3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Main memory (RAM)</a:t>
            </a:r>
          </a:p>
        </p:txBody>
      </p:sp>
      <p:graphicFrame>
        <p:nvGraphicFramePr>
          <p:cNvPr id="6" name="Table 32">
            <a:extLst>
              <a:ext uri="{FF2B5EF4-FFF2-40B4-BE49-F238E27FC236}">
                <a16:creationId xmlns:a16="http://schemas.microsoft.com/office/drawing/2014/main" id="{489A3572-44C6-416C-AB84-770215A6A5C8}"/>
              </a:ext>
            </a:extLst>
          </p:cNvPr>
          <p:cNvGraphicFramePr>
            <a:graphicFrameLocks noGrp="1"/>
          </p:cNvGraphicFramePr>
          <p:nvPr/>
        </p:nvGraphicFramePr>
        <p:xfrm>
          <a:off x="6458233" y="1427933"/>
          <a:ext cx="1823192" cy="5081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46">
                  <a:extLst>
                    <a:ext uri="{9D8B030D-6E8A-4147-A177-3AD203B41FA5}">
                      <a16:colId xmlns:a16="http://schemas.microsoft.com/office/drawing/2014/main" val="3614015831"/>
                    </a:ext>
                  </a:extLst>
                </a:gridCol>
                <a:gridCol w="952446">
                  <a:extLst>
                    <a:ext uri="{9D8B030D-6E8A-4147-A177-3AD203B41FA5}">
                      <a16:colId xmlns:a16="http://schemas.microsoft.com/office/drawing/2014/main" val="3794086153"/>
                    </a:ext>
                  </a:extLst>
                </a:gridCol>
              </a:tblGrid>
              <a:tr h="187507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Address</a:t>
                      </a:r>
                    </a:p>
                  </a:txBody>
                  <a:tcPr marL="36000" marR="360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Data</a:t>
                      </a:r>
                    </a:p>
                  </a:txBody>
                  <a:tcPr marL="36000" marR="36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211108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0101 0101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7878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0001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0001 0110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188674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0010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0011 0111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260329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0011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1001 0010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26722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0100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340781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0101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0011 0000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87073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0110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0000 0001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443288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0111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824555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24416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1001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76455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1010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386007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1011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985182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1100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90943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1101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198533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1110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96377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1111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878757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EC4F58DC-48AB-43F7-B53A-152A64F6CE1F}"/>
              </a:ext>
            </a:extLst>
          </p:cNvPr>
          <p:cNvSpPr/>
          <p:nvPr/>
        </p:nvSpPr>
        <p:spPr>
          <a:xfrm>
            <a:off x="4258496" y="1461652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Memory address register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6DD3F-2A64-4E66-9851-3762DC377CD6}"/>
              </a:ext>
            </a:extLst>
          </p:cNvPr>
          <p:cNvSpPr/>
          <p:nvPr/>
        </p:nvSpPr>
        <p:spPr>
          <a:xfrm>
            <a:off x="4258496" y="3554121"/>
            <a:ext cx="1312070" cy="8287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data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EABF939-E454-4BDF-89CC-29A052A86CAE}"/>
              </a:ext>
            </a:extLst>
          </p:cNvPr>
          <p:cNvCxnSpPr>
            <a:cxnSpLocks/>
          </p:cNvCxnSpPr>
          <p:nvPr/>
        </p:nvCxnSpPr>
        <p:spPr>
          <a:xfrm>
            <a:off x="5564217" y="1876048"/>
            <a:ext cx="777659" cy="0"/>
          </a:xfrm>
          <a:prstGeom prst="straightConnector1">
            <a:avLst/>
          </a:prstGeom>
          <a:ln w="508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ED49E43E-8857-4BB0-819F-E48DE12D3D7C}"/>
              </a:ext>
            </a:extLst>
          </p:cNvPr>
          <p:cNvSpPr/>
          <p:nvPr/>
        </p:nvSpPr>
        <p:spPr>
          <a:xfrm>
            <a:off x="5598559" y="1601453"/>
            <a:ext cx="65274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3D13D17-9C96-4DCC-BC43-EE06BB305469}"/>
              </a:ext>
            </a:extLst>
          </p:cNvPr>
          <p:cNvGrpSpPr/>
          <p:nvPr/>
        </p:nvGrpSpPr>
        <p:grpSpPr>
          <a:xfrm>
            <a:off x="1641576" y="1973102"/>
            <a:ext cx="305278" cy="418928"/>
            <a:chOff x="1641576" y="1973102"/>
            <a:chExt cx="305278" cy="418928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1BB1B16F-1478-4C93-A04D-8598C5D07CB8}"/>
                </a:ext>
              </a:extLst>
            </p:cNvPr>
            <p:cNvCxnSpPr/>
            <p:nvPr/>
          </p:nvCxnSpPr>
          <p:spPr>
            <a:xfrm flipV="1">
              <a:off x="1932566" y="1980723"/>
              <a:ext cx="0" cy="411307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06EDE58F-B045-47BC-A3CA-E013EF6F08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1576" y="1973102"/>
              <a:ext cx="305278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F59F967-E543-4EAD-8F35-60D35189BEA2}"/>
              </a:ext>
            </a:extLst>
          </p:cNvPr>
          <p:cNvGrpSpPr/>
          <p:nvPr/>
        </p:nvGrpSpPr>
        <p:grpSpPr>
          <a:xfrm>
            <a:off x="2175453" y="1973102"/>
            <a:ext cx="2076693" cy="418928"/>
            <a:chOff x="2175453" y="1973102"/>
            <a:chExt cx="2076693" cy="418928"/>
          </a:xfrm>
        </p:grpSpPr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4E9F1217-FF1B-4B44-95DD-DBAD1762F92E}"/>
                </a:ext>
              </a:extLst>
            </p:cNvPr>
            <p:cNvCxnSpPr/>
            <p:nvPr/>
          </p:nvCxnSpPr>
          <p:spPr>
            <a:xfrm flipV="1">
              <a:off x="2189740" y="1980723"/>
              <a:ext cx="0" cy="411307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F42CB918-132B-44DF-801C-2BBA9BDCE972}"/>
                </a:ext>
              </a:extLst>
            </p:cNvPr>
            <p:cNvCxnSpPr>
              <a:cxnSpLocks/>
            </p:cNvCxnSpPr>
            <p:nvPr/>
          </p:nvCxnSpPr>
          <p:spPr>
            <a:xfrm>
              <a:off x="2175453" y="1973102"/>
              <a:ext cx="2076693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D78C84F5-D12E-4371-BCFE-2877A8B8F259}"/>
              </a:ext>
            </a:extLst>
          </p:cNvPr>
          <p:cNvSpPr/>
          <p:nvPr/>
        </p:nvSpPr>
        <p:spPr>
          <a:xfrm>
            <a:off x="329506" y="1461652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Program counter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3BB58C-D3E9-4F28-AE03-0950EAF49ADF}"/>
              </a:ext>
            </a:extLst>
          </p:cNvPr>
          <p:cNvSpPr/>
          <p:nvPr/>
        </p:nvSpPr>
        <p:spPr>
          <a:xfrm>
            <a:off x="2491086" y="4708604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Current instruction register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1A8197E-27FB-4575-97FF-1DE6476B9099}"/>
              </a:ext>
            </a:extLst>
          </p:cNvPr>
          <p:cNvCxnSpPr>
            <a:cxnSpLocks/>
          </p:cNvCxnSpPr>
          <p:nvPr/>
        </p:nvCxnSpPr>
        <p:spPr>
          <a:xfrm>
            <a:off x="5564217" y="3973782"/>
            <a:ext cx="777659" cy="0"/>
          </a:xfrm>
          <a:prstGeom prst="straightConnector1">
            <a:avLst/>
          </a:prstGeom>
          <a:ln w="508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855E34F6-F464-48E3-AED0-65E5331B9DBA}"/>
              </a:ext>
            </a:extLst>
          </p:cNvPr>
          <p:cNvSpPr/>
          <p:nvPr/>
        </p:nvSpPr>
        <p:spPr>
          <a:xfrm>
            <a:off x="5721835" y="3688865"/>
            <a:ext cx="46038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F1BA065-CCC5-446C-B5B1-82320E45BAE9}"/>
              </a:ext>
            </a:extLst>
          </p:cNvPr>
          <p:cNvSpPr/>
          <p:nvPr/>
        </p:nvSpPr>
        <p:spPr>
          <a:xfrm>
            <a:off x="2492502" y="2398380"/>
            <a:ext cx="1314000" cy="82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Accumulator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B813873-A0EC-4F1B-A57E-0EA2083C60DB}"/>
              </a:ext>
            </a:extLst>
          </p:cNvPr>
          <p:cNvGrpSpPr/>
          <p:nvPr/>
        </p:nvGrpSpPr>
        <p:grpSpPr>
          <a:xfrm>
            <a:off x="3806502" y="2770122"/>
            <a:ext cx="1127180" cy="780826"/>
            <a:chOff x="3806502" y="2770122"/>
            <a:chExt cx="1127180" cy="780826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4580E28-0931-462A-9B46-0CEC070140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0982" y="2770122"/>
              <a:ext cx="0" cy="780826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C9E98404-D365-4FBD-AD99-1F1BE18FBB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06502" y="2770122"/>
              <a:ext cx="1127180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C25DD03B-4C12-4B80-B318-21FD2EFC9A69}"/>
              </a:ext>
            </a:extLst>
          </p:cNvPr>
          <p:cNvSpPr/>
          <p:nvPr/>
        </p:nvSpPr>
        <p:spPr>
          <a:xfrm>
            <a:off x="176565" y="523174"/>
            <a:ext cx="377128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F2652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Internal structure of the CPU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D3706AF-4710-AF7C-3EFD-37D9E79B7B0C}"/>
              </a:ext>
            </a:extLst>
          </p:cNvPr>
          <p:cNvGrpSpPr/>
          <p:nvPr/>
        </p:nvGrpSpPr>
        <p:grpSpPr>
          <a:xfrm>
            <a:off x="319130" y="2400565"/>
            <a:ext cx="2108069" cy="2303453"/>
            <a:chOff x="319130" y="2400565"/>
            <a:chExt cx="2108069" cy="2303453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CAA0171-0CB8-ED1B-778C-7AC7553EEA7A}"/>
                </a:ext>
              </a:extLst>
            </p:cNvPr>
            <p:cNvSpPr/>
            <p:nvPr/>
          </p:nvSpPr>
          <p:spPr>
            <a:xfrm>
              <a:off x="319130" y="2400565"/>
              <a:ext cx="2108069" cy="230345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sz="1100" b="1" dirty="0">
                  <a:solidFill>
                    <a:schemeClr val="tx1"/>
                  </a:solidFill>
                </a:rPr>
                <a:t>Decode unit</a:t>
              </a:r>
            </a:p>
            <a:p>
              <a:pPr algn="ctr"/>
              <a:endParaRPr lang="en-GB" sz="1100" b="1" dirty="0">
                <a:solidFill>
                  <a:schemeClr val="tx1"/>
                </a:solidFill>
              </a:endParaRPr>
            </a:p>
          </p:txBody>
        </p:sp>
        <p:pic>
          <p:nvPicPr>
            <p:cNvPr id="78" name="Graphic 77" descr="Gears with solid fill">
              <a:extLst>
                <a:ext uri="{FF2B5EF4-FFF2-40B4-BE49-F238E27FC236}">
                  <a16:creationId xmlns:a16="http://schemas.microsoft.com/office/drawing/2014/main" id="{62FFC9BD-FD7F-D5C1-0401-DF51BF369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35490" y="2702448"/>
              <a:ext cx="1639963" cy="16399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97371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5B355E1-549A-4594-8FEA-A0CA781F2760}"/>
              </a:ext>
            </a:extLst>
          </p:cNvPr>
          <p:cNvSpPr/>
          <p:nvPr/>
        </p:nvSpPr>
        <p:spPr>
          <a:xfrm>
            <a:off x="144573" y="1076892"/>
            <a:ext cx="5425625" cy="563229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72000" tIns="1260000" rtlCol="0" anchor="t" anchorCtr="0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55D8CD-D8EF-4205-82AD-300AD2BB5329}"/>
              </a:ext>
            </a:extLst>
          </p:cNvPr>
          <p:cNvSpPr/>
          <p:nvPr/>
        </p:nvSpPr>
        <p:spPr>
          <a:xfrm>
            <a:off x="235668" y="1158753"/>
            <a:ext cx="5229018" cy="5464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Central processing unit (CPU)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49E10F79-511E-4EC4-AAE7-1E022E464105}"/>
              </a:ext>
            </a:extLst>
          </p:cNvPr>
          <p:cNvGrpSpPr/>
          <p:nvPr/>
        </p:nvGrpSpPr>
        <p:grpSpPr>
          <a:xfrm>
            <a:off x="1641577" y="2169083"/>
            <a:ext cx="3500410" cy="4333994"/>
            <a:chOff x="1773554" y="2169083"/>
            <a:chExt cx="3500410" cy="4333994"/>
          </a:xfrm>
        </p:grpSpPr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57888D9B-63CC-4AFF-8DBD-0809DA7704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1904" y="6503077"/>
              <a:ext cx="191165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77DA5366-36A4-475D-80F3-FCFA2BBF28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45226" y="6389225"/>
              <a:ext cx="183833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875504A7-D1EF-4CC0-B21B-97723B8703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4019" y="6281065"/>
              <a:ext cx="110954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E61048D-FA7A-450B-9057-1B71AF9CF5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2638" y="6178598"/>
              <a:ext cx="300926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1D04FA21-AA72-4833-9A58-FA3142351A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65188" y="6070440"/>
              <a:ext cx="218375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9DB82770-4BBA-4268-974D-D070F70CB5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47434" y="5956589"/>
              <a:ext cx="13612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A52308F8-4A31-4510-BAE3-99871709F0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3" y="5848429"/>
              <a:ext cx="5941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A6F29D5-82AB-4E5E-8D98-7818D5DEB4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0064" y="5542644"/>
              <a:ext cx="0" cy="738421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C47FA203-A773-425C-9E14-DDCB084AF9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0893" y="4701128"/>
              <a:ext cx="0" cy="21377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F5A2EFA0-5A33-49CE-80AF-085E74F169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4544" y="4914900"/>
              <a:ext cx="48068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CB6A3E1B-243B-4D67-9E51-A465C1F557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5226" y="4910139"/>
              <a:ext cx="0" cy="1479086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6D3CB495-CDE1-472D-971B-2637811B79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3964" y="4381492"/>
              <a:ext cx="0" cy="1317756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F7DB7E6F-644E-4468-A5ED-ACBF2F3CC9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153" y="2169083"/>
              <a:ext cx="0" cy="3679347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D98872B6-7248-41DB-A180-E0EF590867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7434" y="2230993"/>
              <a:ext cx="0" cy="3725597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62277DB8-B20F-48C4-80A9-CE0268CED7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5188" y="3054908"/>
              <a:ext cx="0" cy="301553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87C4F4E2-88CF-48DF-B66A-EB6A3F623C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2638" y="3966927"/>
              <a:ext cx="0" cy="2211671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3D1895AC-8354-4DF1-8C93-38A4515EB8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2" y="3971689"/>
              <a:ext cx="13612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F35D0887-9845-4D5E-A243-13BEC393B6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3" y="3054908"/>
              <a:ext cx="222685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BECAA9B0-DB0B-47DE-91A2-842DF82A9F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4" y="2173845"/>
              <a:ext cx="6631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A15AAD2E-4F60-4D04-828B-4DB4212A01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3554" y="2233374"/>
              <a:ext cx="247388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2109BE97-9B90-4417-8D03-D0AFF857C56F}"/>
              </a:ext>
            </a:extLst>
          </p:cNvPr>
          <p:cNvSpPr/>
          <p:nvPr/>
        </p:nvSpPr>
        <p:spPr>
          <a:xfrm>
            <a:off x="329506" y="5279014"/>
            <a:ext cx="2010421" cy="12418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Cache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955642C-8431-4E2A-89CC-8357C1EF8B5E}"/>
              </a:ext>
            </a:extLst>
          </p:cNvPr>
          <p:cNvSpPr/>
          <p:nvPr/>
        </p:nvSpPr>
        <p:spPr>
          <a:xfrm>
            <a:off x="4258597" y="5699247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Control</a:t>
            </a:r>
          </a:p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unit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9899F61-F6B5-4D33-A478-3B9D48E4F16A}"/>
              </a:ext>
            </a:extLst>
          </p:cNvPr>
          <p:cNvCxnSpPr>
            <a:cxnSpLocks/>
          </p:cNvCxnSpPr>
          <p:nvPr/>
        </p:nvCxnSpPr>
        <p:spPr>
          <a:xfrm>
            <a:off x="1641576" y="1677928"/>
            <a:ext cx="2610570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58750DAB-344D-4D4A-A75A-1CC8F929B09C}"/>
              </a:ext>
            </a:extLst>
          </p:cNvPr>
          <p:cNvCxnSpPr>
            <a:cxnSpLocks/>
          </p:cNvCxnSpPr>
          <p:nvPr/>
        </p:nvCxnSpPr>
        <p:spPr>
          <a:xfrm>
            <a:off x="5567194" y="6124665"/>
            <a:ext cx="777659" cy="0"/>
          </a:xfrm>
          <a:prstGeom prst="straightConnector1">
            <a:avLst/>
          </a:prstGeom>
          <a:ln w="508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94BE47C0-8C49-4296-A75F-A6F9F8BA8AC0}"/>
              </a:ext>
            </a:extLst>
          </p:cNvPr>
          <p:cNvSpPr/>
          <p:nvPr/>
        </p:nvSpPr>
        <p:spPr>
          <a:xfrm>
            <a:off x="5653233" y="5850070"/>
            <a:ext cx="62068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Control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570F366-D62A-4F86-BE23-37B6DC9DCAAA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600" b="1" dirty="0">
                <a:solidFill>
                  <a:schemeClr val="tx1"/>
                </a:solidFill>
              </a:rPr>
              <a:t>Arithmetic logic unit (ALU):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Arithmetic operations on fixed and floating-point numbers: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sz="1600" dirty="0">
                <a:solidFill>
                  <a:schemeClr val="tx1"/>
                </a:solidFill>
              </a:rPr>
              <a:t>ADD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sz="1600" dirty="0">
                <a:solidFill>
                  <a:schemeClr val="tx1"/>
                </a:solidFill>
              </a:rPr>
              <a:t>SUBTRACT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sz="1600" dirty="0">
                <a:solidFill>
                  <a:schemeClr val="tx1"/>
                </a:solidFill>
              </a:rPr>
              <a:t>MULTIPLY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sz="1600" dirty="0">
                <a:solidFill>
                  <a:schemeClr val="tx1"/>
                </a:solidFill>
              </a:rPr>
              <a:t>DIVIDE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Right and left bitwise shift operations.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Boolean logic operations: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sz="1600" dirty="0">
                <a:solidFill>
                  <a:schemeClr val="tx1"/>
                </a:solidFill>
              </a:rPr>
              <a:t>Comparison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sz="1600" dirty="0">
                <a:solidFill>
                  <a:schemeClr val="tx1"/>
                </a:solidFill>
              </a:rPr>
              <a:t>AND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sz="1600" dirty="0">
                <a:solidFill>
                  <a:schemeClr val="tx1"/>
                </a:solidFill>
              </a:rPr>
              <a:t>OR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sz="1600" dirty="0">
                <a:solidFill>
                  <a:schemeClr val="tx1"/>
                </a:solidFill>
              </a:rPr>
              <a:t>NOT 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sz="1600" dirty="0">
                <a:solidFill>
                  <a:schemeClr val="tx1"/>
                </a:solidFill>
              </a:rPr>
              <a:t>XOR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4F58DC-48AB-43F7-B53A-152A64F6CE1F}"/>
              </a:ext>
            </a:extLst>
          </p:cNvPr>
          <p:cNvSpPr/>
          <p:nvPr/>
        </p:nvSpPr>
        <p:spPr>
          <a:xfrm>
            <a:off x="4258496" y="1461652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Memory address register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EABF939-E454-4BDF-89CC-29A052A86CAE}"/>
              </a:ext>
            </a:extLst>
          </p:cNvPr>
          <p:cNvCxnSpPr>
            <a:cxnSpLocks/>
          </p:cNvCxnSpPr>
          <p:nvPr/>
        </p:nvCxnSpPr>
        <p:spPr>
          <a:xfrm>
            <a:off x="5564217" y="1876048"/>
            <a:ext cx="777659" cy="0"/>
          </a:xfrm>
          <a:prstGeom prst="straightConnector1">
            <a:avLst/>
          </a:prstGeom>
          <a:ln w="508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ED49E43E-8857-4BB0-819F-E48DE12D3D7C}"/>
              </a:ext>
            </a:extLst>
          </p:cNvPr>
          <p:cNvSpPr/>
          <p:nvPr/>
        </p:nvSpPr>
        <p:spPr>
          <a:xfrm>
            <a:off x="5598559" y="1601453"/>
            <a:ext cx="65274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3D13D17-9C96-4DCC-BC43-EE06BB305469}"/>
              </a:ext>
            </a:extLst>
          </p:cNvPr>
          <p:cNvGrpSpPr/>
          <p:nvPr/>
        </p:nvGrpSpPr>
        <p:grpSpPr>
          <a:xfrm>
            <a:off x="1641576" y="1973102"/>
            <a:ext cx="305278" cy="418928"/>
            <a:chOff x="1641576" y="1973102"/>
            <a:chExt cx="305278" cy="418928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1BB1B16F-1478-4C93-A04D-8598C5D07CB8}"/>
                </a:ext>
              </a:extLst>
            </p:cNvPr>
            <p:cNvCxnSpPr/>
            <p:nvPr/>
          </p:nvCxnSpPr>
          <p:spPr>
            <a:xfrm flipV="1">
              <a:off x="1932566" y="1980723"/>
              <a:ext cx="0" cy="411307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06EDE58F-B045-47BC-A3CA-E013EF6F08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1576" y="1973102"/>
              <a:ext cx="305278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F59F967-E543-4EAD-8F35-60D35189BEA2}"/>
              </a:ext>
            </a:extLst>
          </p:cNvPr>
          <p:cNvGrpSpPr/>
          <p:nvPr/>
        </p:nvGrpSpPr>
        <p:grpSpPr>
          <a:xfrm>
            <a:off x="2175453" y="1973102"/>
            <a:ext cx="2076693" cy="418928"/>
            <a:chOff x="2175453" y="1973102"/>
            <a:chExt cx="2076693" cy="418928"/>
          </a:xfrm>
        </p:grpSpPr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4E9F1217-FF1B-4B44-95DD-DBAD1762F92E}"/>
                </a:ext>
              </a:extLst>
            </p:cNvPr>
            <p:cNvCxnSpPr/>
            <p:nvPr/>
          </p:nvCxnSpPr>
          <p:spPr>
            <a:xfrm flipV="1">
              <a:off x="2189740" y="1980723"/>
              <a:ext cx="0" cy="411307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F42CB918-132B-44DF-801C-2BBA9BDCE972}"/>
                </a:ext>
              </a:extLst>
            </p:cNvPr>
            <p:cNvCxnSpPr>
              <a:cxnSpLocks/>
            </p:cNvCxnSpPr>
            <p:nvPr/>
          </p:nvCxnSpPr>
          <p:spPr>
            <a:xfrm>
              <a:off x="2175453" y="1973102"/>
              <a:ext cx="2076693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D78C84F5-D12E-4371-BCFE-2877A8B8F259}"/>
              </a:ext>
            </a:extLst>
          </p:cNvPr>
          <p:cNvSpPr/>
          <p:nvPr/>
        </p:nvSpPr>
        <p:spPr>
          <a:xfrm>
            <a:off x="329506" y="1461652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Program counter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1A8197E-27FB-4575-97FF-1DE6476B9099}"/>
              </a:ext>
            </a:extLst>
          </p:cNvPr>
          <p:cNvCxnSpPr>
            <a:cxnSpLocks/>
          </p:cNvCxnSpPr>
          <p:nvPr/>
        </p:nvCxnSpPr>
        <p:spPr>
          <a:xfrm>
            <a:off x="5564217" y="3973782"/>
            <a:ext cx="777659" cy="0"/>
          </a:xfrm>
          <a:prstGeom prst="straightConnector1">
            <a:avLst/>
          </a:prstGeom>
          <a:ln w="508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855E34F6-F464-48E3-AED0-65E5331B9DBA}"/>
              </a:ext>
            </a:extLst>
          </p:cNvPr>
          <p:cNvSpPr/>
          <p:nvPr/>
        </p:nvSpPr>
        <p:spPr>
          <a:xfrm>
            <a:off x="5721835" y="3688865"/>
            <a:ext cx="46038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B813873-A0EC-4F1B-A57E-0EA2083C60DB}"/>
              </a:ext>
            </a:extLst>
          </p:cNvPr>
          <p:cNvGrpSpPr/>
          <p:nvPr/>
        </p:nvGrpSpPr>
        <p:grpSpPr>
          <a:xfrm>
            <a:off x="3806502" y="2770122"/>
            <a:ext cx="1127180" cy="780826"/>
            <a:chOff x="3806502" y="2770122"/>
            <a:chExt cx="1127180" cy="780826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4580E28-0931-462A-9B46-0CEC070140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0982" y="2770122"/>
              <a:ext cx="0" cy="780826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C9E98404-D365-4FBD-AD99-1F1BE18FBB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06502" y="2770122"/>
              <a:ext cx="1127180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EC348920-0E3A-435B-8F7E-7A9283267380}"/>
              </a:ext>
            </a:extLst>
          </p:cNvPr>
          <p:cNvSpPr/>
          <p:nvPr/>
        </p:nvSpPr>
        <p:spPr>
          <a:xfrm>
            <a:off x="2491086" y="4708604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Current instruction register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537B242-2DD1-4F2B-A11C-D32A05B15618}"/>
              </a:ext>
            </a:extLst>
          </p:cNvPr>
          <p:cNvSpPr/>
          <p:nvPr/>
        </p:nvSpPr>
        <p:spPr>
          <a:xfrm>
            <a:off x="4258496" y="3554121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Memory data register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0211C80-F9A8-4943-957A-58314345A921}"/>
              </a:ext>
            </a:extLst>
          </p:cNvPr>
          <p:cNvGrpSpPr/>
          <p:nvPr/>
        </p:nvGrpSpPr>
        <p:grpSpPr>
          <a:xfrm>
            <a:off x="3810525" y="4382913"/>
            <a:ext cx="1123157" cy="741531"/>
            <a:chOff x="3863234" y="4382913"/>
            <a:chExt cx="1202425" cy="1144394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A2938334-23FD-41BE-B49A-B604448B18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25019931-7559-4750-91DB-952BA8132A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629603DE-77B4-4E2B-8E46-378D6194D572}"/>
              </a:ext>
            </a:extLst>
          </p:cNvPr>
          <p:cNvGrpSpPr/>
          <p:nvPr/>
        </p:nvGrpSpPr>
        <p:grpSpPr>
          <a:xfrm rot="5400000">
            <a:off x="1448476" y="4082207"/>
            <a:ext cx="423320" cy="1661159"/>
            <a:chOff x="3863234" y="4382913"/>
            <a:chExt cx="1202425" cy="1144394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D714D58-C143-4A46-8760-3829A2D86E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8BFCDBD-F596-4C74-8765-D5446EDCBB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76810945-2C6A-4E63-B0A8-452167729214}"/>
              </a:ext>
            </a:extLst>
          </p:cNvPr>
          <p:cNvSpPr/>
          <p:nvPr/>
        </p:nvSpPr>
        <p:spPr>
          <a:xfrm>
            <a:off x="2492502" y="2398380"/>
            <a:ext cx="1314000" cy="82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Accumulator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2A300BA0-EC42-41E8-9F8E-E7ADAD5FA284}"/>
              </a:ext>
            </a:extLst>
          </p:cNvPr>
          <p:cNvSpPr/>
          <p:nvPr/>
        </p:nvSpPr>
        <p:spPr>
          <a:xfrm>
            <a:off x="2494433" y="3553492"/>
            <a:ext cx="1312069" cy="82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Arithmetic logic unit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E6D2CD2E-2E32-49BE-8E8F-808EB312EB9A}"/>
              </a:ext>
            </a:extLst>
          </p:cNvPr>
          <p:cNvCxnSpPr>
            <a:cxnSpLocks/>
            <a:stCxn id="94" idx="0"/>
          </p:cNvCxnSpPr>
          <p:nvPr/>
        </p:nvCxnSpPr>
        <p:spPr>
          <a:xfrm flipH="1" flipV="1">
            <a:off x="3142042" y="3232336"/>
            <a:ext cx="8426" cy="321156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BB2F418-E698-445D-9E6E-E0B4479E3435}"/>
              </a:ext>
            </a:extLst>
          </p:cNvPr>
          <p:cNvSpPr/>
          <p:nvPr/>
        </p:nvSpPr>
        <p:spPr>
          <a:xfrm>
            <a:off x="6355872" y="1076892"/>
            <a:ext cx="2005703" cy="56322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bg1">
                    <a:lumMod val="50000"/>
                  </a:schemeClr>
                </a:solidFill>
              </a:rPr>
              <a:t>Main memory (RAM)</a:t>
            </a:r>
          </a:p>
        </p:txBody>
      </p:sp>
      <p:graphicFrame>
        <p:nvGraphicFramePr>
          <p:cNvPr id="14" name="Table 32">
            <a:extLst>
              <a:ext uri="{FF2B5EF4-FFF2-40B4-BE49-F238E27FC236}">
                <a16:creationId xmlns:a16="http://schemas.microsoft.com/office/drawing/2014/main" id="{9133E1E6-7AED-4B48-B91D-ED6B706176D6}"/>
              </a:ext>
            </a:extLst>
          </p:cNvPr>
          <p:cNvGraphicFramePr>
            <a:graphicFrameLocks noGrp="1"/>
          </p:cNvGraphicFramePr>
          <p:nvPr/>
        </p:nvGraphicFramePr>
        <p:xfrm>
          <a:off x="6458233" y="1427933"/>
          <a:ext cx="1823192" cy="508116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70746">
                  <a:extLst>
                    <a:ext uri="{9D8B030D-6E8A-4147-A177-3AD203B41FA5}">
                      <a16:colId xmlns:a16="http://schemas.microsoft.com/office/drawing/2014/main" val="3614015831"/>
                    </a:ext>
                  </a:extLst>
                </a:gridCol>
                <a:gridCol w="952446">
                  <a:extLst>
                    <a:ext uri="{9D8B030D-6E8A-4147-A177-3AD203B41FA5}">
                      <a16:colId xmlns:a16="http://schemas.microsoft.com/office/drawing/2014/main" val="3794086153"/>
                    </a:ext>
                  </a:extLst>
                </a:gridCol>
              </a:tblGrid>
              <a:tr h="187507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Address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Data</a:t>
                      </a:r>
                    </a:p>
                  </a:txBody>
                  <a:tcPr marL="36000" marR="36000"/>
                </a:tc>
                <a:extLst>
                  <a:ext uri="{0D108BD9-81ED-4DB2-BD59-A6C34878D82A}">
                    <a16:rowId xmlns:a16="http://schemas.microsoft.com/office/drawing/2014/main" val="1704211108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0101 0101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7417878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0001 0110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752188674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0011 0111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843260329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1001 0010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402726722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0100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887340781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0101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0011 0000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380887073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0000 0001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932443288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0111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105824555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1000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73624416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1001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403576455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311386007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1011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812985182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1100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71990943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1101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578198533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43496377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1111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311878757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0A9890B5-35A6-474D-9257-69414E95636D}"/>
              </a:ext>
            </a:extLst>
          </p:cNvPr>
          <p:cNvSpPr/>
          <p:nvPr/>
        </p:nvSpPr>
        <p:spPr>
          <a:xfrm>
            <a:off x="176565" y="523174"/>
            <a:ext cx="377128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F2652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Internal structure of the CPU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5AC271C-3566-8111-8088-4BC41600A9EE}"/>
              </a:ext>
            </a:extLst>
          </p:cNvPr>
          <p:cNvGrpSpPr/>
          <p:nvPr/>
        </p:nvGrpSpPr>
        <p:grpSpPr>
          <a:xfrm>
            <a:off x="319130" y="2400565"/>
            <a:ext cx="2108069" cy="2303453"/>
            <a:chOff x="319130" y="2400565"/>
            <a:chExt cx="2108069" cy="2303453"/>
          </a:xfrm>
          <a:solidFill>
            <a:srgbClr val="D9D9D9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4E2C42D3-6CC8-B4D7-6960-A27CF5CC93E1}"/>
                </a:ext>
              </a:extLst>
            </p:cNvPr>
            <p:cNvSpPr/>
            <p:nvPr/>
          </p:nvSpPr>
          <p:spPr>
            <a:xfrm>
              <a:off x="319130" y="2400565"/>
              <a:ext cx="2108069" cy="2303453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sz="1100" b="1" dirty="0">
                  <a:solidFill>
                    <a:schemeClr val="bg1">
                      <a:lumMod val="50000"/>
                    </a:schemeClr>
                  </a:solidFill>
                </a:rPr>
                <a:t>Decode unit</a:t>
              </a:r>
            </a:p>
            <a:p>
              <a:pPr algn="ctr"/>
              <a:endParaRPr lang="en-GB" sz="1100" b="1" dirty="0">
                <a:solidFill>
                  <a:schemeClr val="tx1"/>
                </a:solidFill>
              </a:endParaRPr>
            </a:p>
          </p:txBody>
        </p:sp>
        <p:pic>
          <p:nvPicPr>
            <p:cNvPr id="87" name="Graphic 86" descr="Gears with solid fill">
              <a:extLst>
                <a:ext uri="{FF2B5EF4-FFF2-40B4-BE49-F238E27FC236}">
                  <a16:creationId xmlns:a16="http://schemas.microsoft.com/office/drawing/2014/main" id="{9107A6D0-AF2D-910B-941D-91724A2AE6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35490" y="2702448"/>
              <a:ext cx="1639963" cy="16399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52984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5B355E1-549A-4594-8FEA-A0CA781F2760}"/>
              </a:ext>
            </a:extLst>
          </p:cNvPr>
          <p:cNvSpPr/>
          <p:nvPr/>
        </p:nvSpPr>
        <p:spPr>
          <a:xfrm>
            <a:off x="144573" y="1076892"/>
            <a:ext cx="5425625" cy="563229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72000" tIns="1260000" rtlCol="0" anchor="t" anchorCtr="0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55D8CD-D8EF-4205-82AD-300AD2BB5329}"/>
              </a:ext>
            </a:extLst>
          </p:cNvPr>
          <p:cNvSpPr/>
          <p:nvPr/>
        </p:nvSpPr>
        <p:spPr>
          <a:xfrm>
            <a:off x="235668" y="1158753"/>
            <a:ext cx="5229018" cy="5464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Central processing unit (CPU)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49E10F79-511E-4EC4-AAE7-1E022E464105}"/>
              </a:ext>
            </a:extLst>
          </p:cNvPr>
          <p:cNvGrpSpPr/>
          <p:nvPr/>
        </p:nvGrpSpPr>
        <p:grpSpPr>
          <a:xfrm>
            <a:off x="1641577" y="2169083"/>
            <a:ext cx="3500410" cy="4333994"/>
            <a:chOff x="1773554" y="2169083"/>
            <a:chExt cx="3500410" cy="4333994"/>
          </a:xfrm>
        </p:grpSpPr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57888D9B-63CC-4AFF-8DBD-0809DA7704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1904" y="6503077"/>
              <a:ext cx="191165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77DA5366-36A4-475D-80F3-FCFA2BBF28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45226" y="6389225"/>
              <a:ext cx="183833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875504A7-D1EF-4CC0-B21B-97723B8703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4019" y="6281065"/>
              <a:ext cx="110954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E61048D-FA7A-450B-9057-1B71AF9CF5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2638" y="6178598"/>
              <a:ext cx="300926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1D04FA21-AA72-4833-9A58-FA3142351A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65188" y="6070440"/>
              <a:ext cx="218375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9DB82770-4BBA-4268-974D-D070F70CB5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47434" y="5956589"/>
              <a:ext cx="13612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A52308F8-4A31-4510-BAE3-99871709F0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3" y="5848429"/>
              <a:ext cx="5941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A6F29D5-82AB-4E5E-8D98-7818D5DEB4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0064" y="5542644"/>
              <a:ext cx="0" cy="738421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C47FA203-A773-425C-9E14-DDCB084AF9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0893" y="4701128"/>
              <a:ext cx="0" cy="21377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F5A2EFA0-5A33-49CE-80AF-085E74F169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4544" y="4914900"/>
              <a:ext cx="48068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CB6A3E1B-243B-4D67-9E51-A465C1F557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5226" y="4910139"/>
              <a:ext cx="0" cy="1479086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6D3CB495-CDE1-472D-971B-2637811B79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3964" y="4381492"/>
              <a:ext cx="0" cy="1317756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F7DB7E6F-644E-4468-A5ED-ACBF2F3CC9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153" y="2169083"/>
              <a:ext cx="0" cy="3679347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D98872B6-7248-41DB-A180-E0EF590867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7434" y="2230993"/>
              <a:ext cx="0" cy="3725597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62277DB8-B20F-48C4-80A9-CE0268CED7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5188" y="3054908"/>
              <a:ext cx="0" cy="301553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87C4F4E2-88CF-48DF-B66A-EB6A3F623C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2638" y="3966927"/>
              <a:ext cx="0" cy="2211671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3D1895AC-8354-4DF1-8C93-38A4515EB8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2" y="3971689"/>
              <a:ext cx="13612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F35D0887-9845-4D5E-A243-13BEC393B6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3" y="3054908"/>
              <a:ext cx="222685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BECAA9B0-DB0B-47DE-91A2-842DF82A9F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4" y="2173845"/>
              <a:ext cx="6631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A15AAD2E-4F60-4D04-828B-4DB4212A01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3554" y="2233374"/>
              <a:ext cx="247388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2109BE97-9B90-4417-8D03-D0AFF857C56F}"/>
              </a:ext>
            </a:extLst>
          </p:cNvPr>
          <p:cNvSpPr/>
          <p:nvPr/>
        </p:nvSpPr>
        <p:spPr>
          <a:xfrm>
            <a:off x="329506" y="5279014"/>
            <a:ext cx="2010421" cy="12418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Cache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955642C-8431-4E2A-89CC-8357C1EF8B5E}"/>
              </a:ext>
            </a:extLst>
          </p:cNvPr>
          <p:cNvSpPr/>
          <p:nvPr/>
        </p:nvSpPr>
        <p:spPr>
          <a:xfrm>
            <a:off x="4258597" y="5699247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Control</a:t>
            </a:r>
          </a:p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unit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9899F61-F6B5-4D33-A478-3B9D48E4F16A}"/>
              </a:ext>
            </a:extLst>
          </p:cNvPr>
          <p:cNvCxnSpPr>
            <a:cxnSpLocks/>
          </p:cNvCxnSpPr>
          <p:nvPr/>
        </p:nvCxnSpPr>
        <p:spPr>
          <a:xfrm>
            <a:off x="1641576" y="1677928"/>
            <a:ext cx="2610570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58750DAB-344D-4D4A-A75A-1CC8F929B09C}"/>
              </a:ext>
            </a:extLst>
          </p:cNvPr>
          <p:cNvCxnSpPr>
            <a:cxnSpLocks/>
          </p:cNvCxnSpPr>
          <p:nvPr/>
        </p:nvCxnSpPr>
        <p:spPr>
          <a:xfrm>
            <a:off x="5567194" y="6124665"/>
            <a:ext cx="777659" cy="0"/>
          </a:xfrm>
          <a:prstGeom prst="straightConnector1">
            <a:avLst/>
          </a:prstGeom>
          <a:ln w="508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94BE47C0-8C49-4296-A75F-A6F9F8BA8AC0}"/>
              </a:ext>
            </a:extLst>
          </p:cNvPr>
          <p:cNvSpPr/>
          <p:nvPr/>
        </p:nvSpPr>
        <p:spPr>
          <a:xfrm>
            <a:off x="5653233" y="5850070"/>
            <a:ext cx="62068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Control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570F366-D62A-4F86-BE23-37B6DC9DCAAA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600" b="1" dirty="0">
                <a:solidFill>
                  <a:schemeClr val="tx1"/>
                </a:solidFill>
              </a:rPr>
              <a:t>Accumulator (ACC):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One of several general-purpose registers in modern CPUs.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Often stores data or control information.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The results of calculations carried out by the ALU can be temporarily stored here.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4F58DC-48AB-43F7-B53A-152A64F6CE1F}"/>
              </a:ext>
            </a:extLst>
          </p:cNvPr>
          <p:cNvSpPr/>
          <p:nvPr/>
        </p:nvSpPr>
        <p:spPr>
          <a:xfrm>
            <a:off x="4258496" y="1461652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Memory address register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EABF939-E454-4BDF-89CC-29A052A86CAE}"/>
              </a:ext>
            </a:extLst>
          </p:cNvPr>
          <p:cNvCxnSpPr>
            <a:cxnSpLocks/>
          </p:cNvCxnSpPr>
          <p:nvPr/>
        </p:nvCxnSpPr>
        <p:spPr>
          <a:xfrm>
            <a:off x="5564217" y="1876048"/>
            <a:ext cx="777659" cy="0"/>
          </a:xfrm>
          <a:prstGeom prst="straightConnector1">
            <a:avLst/>
          </a:prstGeom>
          <a:ln w="508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ED49E43E-8857-4BB0-819F-E48DE12D3D7C}"/>
              </a:ext>
            </a:extLst>
          </p:cNvPr>
          <p:cNvSpPr/>
          <p:nvPr/>
        </p:nvSpPr>
        <p:spPr>
          <a:xfrm>
            <a:off x="5598559" y="1601453"/>
            <a:ext cx="65274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3D13D17-9C96-4DCC-BC43-EE06BB305469}"/>
              </a:ext>
            </a:extLst>
          </p:cNvPr>
          <p:cNvGrpSpPr/>
          <p:nvPr/>
        </p:nvGrpSpPr>
        <p:grpSpPr>
          <a:xfrm>
            <a:off x="1641576" y="1973102"/>
            <a:ext cx="305278" cy="418928"/>
            <a:chOff x="1641576" y="1973102"/>
            <a:chExt cx="305278" cy="418928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1BB1B16F-1478-4C93-A04D-8598C5D07CB8}"/>
                </a:ext>
              </a:extLst>
            </p:cNvPr>
            <p:cNvCxnSpPr/>
            <p:nvPr/>
          </p:nvCxnSpPr>
          <p:spPr>
            <a:xfrm flipV="1">
              <a:off x="1932566" y="1980723"/>
              <a:ext cx="0" cy="411307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06EDE58F-B045-47BC-A3CA-E013EF6F08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1576" y="1973102"/>
              <a:ext cx="305278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F59F967-E543-4EAD-8F35-60D35189BEA2}"/>
              </a:ext>
            </a:extLst>
          </p:cNvPr>
          <p:cNvGrpSpPr/>
          <p:nvPr/>
        </p:nvGrpSpPr>
        <p:grpSpPr>
          <a:xfrm>
            <a:off x="2175453" y="1973102"/>
            <a:ext cx="2076693" cy="418928"/>
            <a:chOff x="2175453" y="1973102"/>
            <a:chExt cx="2076693" cy="418928"/>
          </a:xfrm>
        </p:grpSpPr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4E9F1217-FF1B-4B44-95DD-DBAD1762F92E}"/>
                </a:ext>
              </a:extLst>
            </p:cNvPr>
            <p:cNvCxnSpPr/>
            <p:nvPr/>
          </p:nvCxnSpPr>
          <p:spPr>
            <a:xfrm flipV="1">
              <a:off x="2189740" y="1980723"/>
              <a:ext cx="0" cy="411307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F42CB918-132B-44DF-801C-2BBA9BDCE972}"/>
                </a:ext>
              </a:extLst>
            </p:cNvPr>
            <p:cNvCxnSpPr>
              <a:cxnSpLocks/>
            </p:cNvCxnSpPr>
            <p:nvPr/>
          </p:nvCxnSpPr>
          <p:spPr>
            <a:xfrm>
              <a:off x="2175453" y="1973102"/>
              <a:ext cx="2076693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D78C84F5-D12E-4371-BCFE-2877A8B8F259}"/>
              </a:ext>
            </a:extLst>
          </p:cNvPr>
          <p:cNvSpPr/>
          <p:nvPr/>
        </p:nvSpPr>
        <p:spPr>
          <a:xfrm>
            <a:off x="329506" y="1461652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Program counter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1A8197E-27FB-4575-97FF-1DE6476B9099}"/>
              </a:ext>
            </a:extLst>
          </p:cNvPr>
          <p:cNvCxnSpPr>
            <a:cxnSpLocks/>
          </p:cNvCxnSpPr>
          <p:nvPr/>
        </p:nvCxnSpPr>
        <p:spPr>
          <a:xfrm>
            <a:off x="5564217" y="3973782"/>
            <a:ext cx="777659" cy="0"/>
          </a:xfrm>
          <a:prstGeom prst="straightConnector1">
            <a:avLst/>
          </a:prstGeom>
          <a:ln w="508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855E34F6-F464-48E3-AED0-65E5331B9DBA}"/>
              </a:ext>
            </a:extLst>
          </p:cNvPr>
          <p:cNvSpPr/>
          <p:nvPr/>
        </p:nvSpPr>
        <p:spPr>
          <a:xfrm>
            <a:off x="5721835" y="3688865"/>
            <a:ext cx="46038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B813873-A0EC-4F1B-A57E-0EA2083C60DB}"/>
              </a:ext>
            </a:extLst>
          </p:cNvPr>
          <p:cNvGrpSpPr/>
          <p:nvPr/>
        </p:nvGrpSpPr>
        <p:grpSpPr>
          <a:xfrm>
            <a:off x="3806502" y="2770122"/>
            <a:ext cx="1127180" cy="780826"/>
            <a:chOff x="3806502" y="2770122"/>
            <a:chExt cx="1127180" cy="780826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4580E28-0931-462A-9B46-0CEC070140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0982" y="2770122"/>
              <a:ext cx="0" cy="780826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C9E98404-D365-4FBD-AD99-1F1BE18FBB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06502" y="2770122"/>
              <a:ext cx="1127180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EC348920-0E3A-435B-8F7E-7A9283267380}"/>
              </a:ext>
            </a:extLst>
          </p:cNvPr>
          <p:cNvSpPr/>
          <p:nvPr/>
        </p:nvSpPr>
        <p:spPr>
          <a:xfrm>
            <a:off x="2491086" y="4708604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Current instruction register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537B242-2DD1-4F2B-A11C-D32A05B15618}"/>
              </a:ext>
            </a:extLst>
          </p:cNvPr>
          <p:cNvSpPr/>
          <p:nvPr/>
        </p:nvSpPr>
        <p:spPr>
          <a:xfrm>
            <a:off x="4258496" y="3554121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Memory data register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0211C80-F9A8-4943-957A-58314345A921}"/>
              </a:ext>
            </a:extLst>
          </p:cNvPr>
          <p:cNvGrpSpPr/>
          <p:nvPr/>
        </p:nvGrpSpPr>
        <p:grpSpPr>
          <a:xfrm>
            <a:off x="3810525" y="4382913"/>
            <a:ext cx="1123157" cy="741531"/>
            <a:chOff x="3863234" y="4382913"/>
            <a:chExt cx="1202425" cy="1144394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A2938334-23FD-41BE-B49A-B604448B18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25019931-7559-4750-91DB-952BA8132A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629603DE-77B4-4E2B-8E46-378D6194D572}"/>
              </a:ext>
            </a:extLst>
          </p:cNvPr>
          <p:cNvGrpSpPr/>
          <p:nvPr/>
        </p:nvGrpSpPr>
        <p:grpSpPr>
          <a:xfrm rot="5400000">
            <a:off x="1448476" y="4082207"/>
            <a:ext cx="423320" cy="1661159"/>
            <a:chOff x="3863234" y="4382913"/>
            <a:chExt cx="1202425" cy="1144394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D714D58-C143-4A46-8760-3829A2D86E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8BFCDBD-F596-4C74-8765-D5446EDCBB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Rectangle 93">
            <a:extLst>
              <a:ext uri="{FF2B5EF4-FFF2-40B4-BE49-F238E27FC236}">
                <a16:creationId xmlns:a16="http://schemas.microsoft.com/office/drawing/2014/main" id="{2A300BA0-EC42-41E8-9F8E-E7ADAD5FA284}"/>
              </a:ext>
            </a:extLst>
          </p:cNvPr>
          <p:cNvSpPr/>
          <p:nvPr/>
        </p:nvSpPr>
        <p:spPr>
          <a:xfrm>
            <a:off x="2494433" y="3553492"/>
            <a:ext cx="1312069" cy="82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Arithmetic logic unit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E6D2CD2E-2E32-49BE-8E8F-808EB312EB9A}"/>
              </a:ext>
            </a:extLst>
          </p:cNvPr>
          <p:cNvCxnSpPr>
            <a:cxnSpLocks/>
            <a:stCxn id="94" idx="0"/>
          </p:cNvCxnSpPr>
          <p:nvPr/>
        </p:nvCxnSpPr>
        <p:spPr>
          <a:xfrm flipH="1" flipV="1">
            <a:off x="3142042" y="3232336"/>
            <a:ext cx="8426" cy="321156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BB2F418-E698-445D-9E6E-E0B4479E3435}"/>
              </a:ext>
            </a:extLst>
          </p:cNvPr>
          <p:cNvSpPr/>
          <p:nvPr/>
        </p:nvSpPr>
        <p:spPr>
          <a:xfrm>
            <a:off x="6355872" y="1076892"/>
            <a:ext cx="2005703" cy="56322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bg1">
                    <a:lumMod val="50000"/>
                  </a:schemeClr>
                </a:solidFill>
              </a:rPr>
              <a:t>Main memory (RAM)</a:t>
            </a:r>
          </a:p>
        </p:txBody>
      </p:sp>
      <p:graphicFrame>
        <p:nvGraphicFramePr>
          <p:cNvPr id="14" name="Table 32">
            <a:extLst>
              <a:ext uri="{FF2B5EF4-FFF2-40B4-BE49-F238E27FC236}">
                <a16:creationId xmlns:a16="http://schemas.microsoft.com/office/drawing/2014/main" id="{9133E1E6-7AED-4B48-B91D-ED6B706176D6}"/>
              </a:ext>
            </a:extLst>
          </p:cNvPr>
          <p:cNvGraphicFramePr>
            <a:graphicFrameLocks noGrp="1"/>
          </p:cNvGraphicFramePr>
          <p:nvPr/>
        </p:nvGraphicFramePr>
        <p:xfrm>
          <a:off x="6458233" y="1427933"/>
          <a:ext cx="1823192" cy="508116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70746">
                  <a:extLst>
                    <a:ext uri="{9D8B030D-6E8A-4147-A177-3AD203B41FA5}">
                      <a16:colId xmlns:a16="http://schemas.microsoft.com/office/drawing/2014/main" val="3614015831"/>
                    </a:ext>
                  </a:extLst>
                </a:gridCol>
                <a:gridCol w="952446">
                  <a:extLst>
                    <a:ext uri="{9D8B030D-6E8A-4147-A177-3AD203B41FA5}">
                      <a16:colId xmlns:a16="http://schemas.microsoft.com/office/drawing/2014/main" val="3794086153"/>
                    </a:ext>
                  </a:extLst>
                </a:gridCol>
              </a:tblGrid>
              <a:tr h="187507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Address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Data</a:t>
                      </a:r>
                    </a:p>
                  </a:txBody>
                  <a:tcPr marL="36000" marR="36000"/>
                </a:tc>
                <a:extLst>
                  <a:ext uri="{0D108BD9-81ED-4DB2-BD59-A6C34878D82A}">
                    <a16:rowId xmlns:a16="http://schemas.microsoft.com/office/drawing/2014/main" val="1704211108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0101 0101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7417878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0001 0110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752188674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0011 0111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843260329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1001 0010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402726722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0100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887340781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0101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0011 0000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380887073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0000 0001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932443288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0111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105824555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1000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73624416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1001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403576455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311386007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1011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812985182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1100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71990943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1101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578198533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43496377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1111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311878757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C5232ADC-7DCE-412E-9A50-F329A1B5DA77}"/>
              </a:ext>
            </a:extLst>
          </p:cNvPr>
          <p:cNvSpPr/>
          <p:nvPr/>
        </p:nvSpPr>
        <p:spPr>
          <a:xfrm>
            <a:off x="2492502" y="2398380"/>
            <a:ext cx="1314000" cy="82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Accumulator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7346A4-1009-41BC-80ED-EEC24BAEAB3C}"/>
              </a:ext>
            </a:extLst>
          </p:cNvPr>
          <p:cNvSpPr/>
          <p:nvPr/>
        </p:nvSpPr>
        <p:spPr>
          <a:xfrm>
            <a:off x="176565" y="523174"/>
            <a:ext cx="377128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F2652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Internal structure of the CPU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F99B773-2642-4546-64DE-C66F6FA0DA00}"/>
              </a:ext>
            </a:extLst>
          </p:cNvPr>
          <p:cNvGrpSpPr/>
          <p:nvPr/>
        </p:nvGrpSpPr>
        <p:grpSpPr>
          <a:xfrm>
            <a:off x="319130" y="2400565"/>
            <a:ext cx="2108069" cy="2303453"/>
            <a:chOff x="319130" y="2400565"/>
            <a:chExt cx="2108069" cy="2303453"/>
          </a:xfrm>
          <a:solidFill>
            <a:srgbClr val="D9D9D9"/>
          </a:solidFill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DD2BCC2A-E047-519A-1237-08B3B845560D}"/>
                </a:ext>
              </a:extLst>
            </p:cNvPr>
            <p:cNvSpPr/>
            <p:nvPr/>
          </p:nvSpPr>
          <p:spPr>
            <a:xfrm>
              <a:off x="319130" y="2400565"/>
              <a:ext cx="2108069" cy="2303453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sz="1100" b="1" dirty="0">
                  <a:solidFill>
                    <a:schemeClr val="bg1">
                      <a:lumMod val="50000"/>
                    </a:schemeClr>
                  </a:solidFill>
                </a:rPr>
                <a:t>Decode unit</a:t>
              </a:r>
            </a:p>
            <a:p>
              <a:pPr algn="ctr"/>
              <a:endParaRPr lang="en-GB" sz="1100" b="1" dirty="0">
                <a:solidFill>
                  <a:schemeClr val="tx1"/>
                </a:solidFill>
              </a:endParaRPr>
            </a:p>
          </p:txBody>
        </p:sp>
        <p:pic>
          <p:nvPicPr>
            <p:cNvPr id="81" name="Graphic 80" descr="Gears with solid fill">
              <a:extLst>
                <a:ext uri="{FF2B5EF4-FFF2-40B4-BE49-F238E27FC236}">
                  <a16:creationId xmlns:a16="http://schemas.microsoft.com/office/drawing/2014/main" id="{15E07733-8258-F8C4-7331-8A3CC2FC67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35490" y="2702448"/>
              <a:ext cx="1639963" cy="16399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17313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5B355E1-549A-4594-8FEA-A0CA781F2760}"/>
              </a:ext>
            </a:extLst>
          </p:cNvPr>
          <p:cNvSpPr/>
          <p:nvPr/>
        </p:nvSpPr>
        <p:spPr>
          <a:xfrm>
            <a:off x="144573" y="1076892"/>
            <a:ext cx="5425625" cy="563229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72000" tIns="1260000" rtlCol="0" anchor="t" anchorCtr="0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55D8CD-D8EF-4205-82AD-300AD2BB5329}"/>
              </a:ext>
            </a:extLst>
          </p:cNvPr>
          <p:cNvSpPr/>
          <p:nvPr/>
        </p:nvSpPr>
        <p:spPr>
          <a:xfrm>
            <a:off x="235668" y="1158753"/>
            <a:ext cx="5229018" cy="5464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Central processing unit (CPU)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49E10F79-511E-4EC4-AAE7-1E022E464105}"/>
              </a:ext>
            </a:extLst>
          </p:cNvPr>
          <p:cNvGrpSpPr/>
          <p:nvPr/>
        </p:nvGrpSpPr>
        <p:grpSpPr>
          <a:xfrm>
            <a:off x="1641577" y="2169083"/>
            <a:ext cx="3500410" cy="4333994"/>
            <a:chOff x="1773554" y="2169083"/>
            <a:chExt cx="3500410" cy="4333994"/>
          </a:xfrm>
        </p:grpSpPr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57888D9B-63CC-4AFF-8DBD-0809DA7704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1904" y="6503077"/>
              <a:ext cx="191165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77DA5366-36A4-475D-80F3-FCFA2BBF28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45226" y="6389225"/>
              <a:ext cx="183833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875504A7-D1EF-4CC0-B21B-97723B8703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4019" y="6281065"/>
              <a:ext cx="110954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E61048D-FA7A-450B-9057-1B71AF9CF5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2638" y="6178598"/>
              <a:ext cx="300926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1D04FA21-AA72-4833-9A58-FA3142351A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65188" y="6070440"/>
              <a:ext cx="218375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9DB82770-4BBA-4268-974D-D070F70CB5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47434" y="5956589"/>
              <a:ext cx="13612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A52308F8-4A31-4510-BAE3-99871709F0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3" y="5848429"/>
              <a:ext cx="5941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A6F29D5-82AB-4E5E-8D98-7818D5DEB4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0064" y="5542644"/>
              <a:ext cx="0" cy="738421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C47FA203-A773-425C-9E14-DDCB084AF9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0893" y="4701128"/>
              <a:ext cx="0" cy="21377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F5A2EFA0-5A33-49CE-80AF-085E74F169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4544" y="4914900"/>
              <a:ext cx="48068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CB6A3E1B-243B-4D67-9E51-A465C1F557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5226" y="4910139"/>
              <a:ext cx="0" cy="1479086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6D3CB495-CDE1-472D-971B-2637811B79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3964" y="4381492"/>
              <a:ext cx="0" cy="1317756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F7DB7E6F-644E-4468-A5ED-ACBF2F3CC9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153" y="2169083"/>
              <a:ext cx="0" cy="3679347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D98872B6-7248-41DB-A180-E0EF590867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7434" y="2230993"/>
              <a:ext cx="0" cy="3725597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62277DB8-B20F-48C4-80A9-CE0268CED7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5188" y="3054908"/>
              <a:ext cx="0" cy="301553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87C4F4E2-88CF-48DF-B66A-EB6A3F623C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2638" y="3966927"/>
              <a:ext cx="0" cy="2211671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3D1895AC-8354-4DF1-8C93-38A4515EB8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2" y="3971689"/>
              <a:ext cx="13612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F35D0887-9845-4D5E-A243-13BEC393B6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3" y="3054908"/>
              <a:ext cx="222685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BECAA9B0-DB0B-47DE-91A2-842DF82A9F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4" y="2173845"/>
              <a:ext cx="6631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A15AAD2E-4F60-4D04-828B-4DB4212A01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3554" y="2233374"/>
              <a:ext cx="247388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2109BE97-9B90-4417-8D03-D0AFF857C56F}"/>
              </a:ext>
            </a:extLst>
          </p:cNvPr>
          <p:cNvSpPr/>
          <p:nvPr/>
        </p:nvSpPr>
        <p:spPr>
          <a:xfrm>
            <a:off x="329506" y="5279014"/>
            <a:ext cx="2010421" cy="12418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Cache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3360B80-E436-4445-AF6B-DCC7370F14F2}"/>
              </a:ext>
            </a:extLst>
          </p:cNvPr>
          <p:cNvSpPr/>
          <p:nvPr/>
        </p:nvSpPr>
        <p:spPr>
          <a:xfrm>
            <a:off x="2494433" y="3553492"/>
            <a:ext cx="1312069" cy="82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Arithmetic logic unit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955642C-8431-4E2A-89CC-8357C1EF8B5E}"/>
              </a:ext>
            </a:extLst>
          </p:cNvPr>
          <p:cNvSpPr/>
          <p:nvPr/>
        </p:nvSpPr>
        <p:spPr>
          <a:xfrm>
            <a:off x="4258597" y="5699247"/>
            <a:ext cx="1312070" cy="8287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1B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Control</a:t>
            </a:r>
          </a:p>
          <a:p>
            <a:pPr algn="ctr"/>
            <a:r>
              <a:rPr lang="en-GB" sz="1100" b="1" dirty="0">
                <a:solidFill>
                  <a:schemeClr val="tx1"/>
                </a:solidFill>
              </a:rPr>
              <a:t>unit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9899F61-F6B5-4D33-A478-3B9D48E4F16A}"/>
              </a:ext>
            </a:extLst>
          </p:cNvPr>
          <p:cNvCxnSpPr>
            <a:cxnSpLocks/>
          </p:cNvCxnSpPr>
          <p:nvPr/>
        </p:nvCxnSpPr>
        <p:spPr>
          <a:xfrm>
            <a:off x="1641576" y="1677928"/>
            <a:ext cx="2610570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AA287EB-E571-42D1-AEDC-912F0CE3949C}"/>
              </a:ext>
            </a:extLst>
          </p:cNvPr>
          <p:cNvCxnSpPr>
            <a:cxnSpLocks/>
            <a:stCxn id="51" idx="0"/>
          </p:cNvCxnSpPr>
          <p:nvPr/>
        </p:nvCxnSpPr>
        <p:spPr>
          <a:xfrm flipH="1" flipV="1">
            <a:off x="3142042" y="3232336"/>
            <a:ext cx="8426" cy="32115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B8D6E0D-6A9D-466A-9A91-439CBD80D4A8}"/>
              </a:ext>
            </a:extLst>
          </p:cNvPr>
          <p:cNvCxnSpPr>
            <a:cxnSpLocks/>
          </p:cNvCxnSpPr>
          <p:nvPr/>
        </p:nvCxnSpPr>
        <p:spPr>
          <a:xfrm>
            <a:off x="5564217" y="3973782"/>
            <a:ext cx="777659" cy="0"/>
          </a:xfrm>
          <a:prstGeom prst="straightConnector1">
            <a:avLst/>
          </a:prstGeom>
          <a:ln w="50800">
            <a:solidFill>
              <a:srgbClr val="C01B14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58750DAB-344D-4D4A-A75A-1CC8F929B09C}"/>
              </a:ext>
            </a:extLst>
          </p:cNvPr>
          <p:cNvCxnSpPr>
            <a:cxnSpLocks/>
          </p:cNvCxnSpPr>
          <p:nvPr/>
        </p:nvCxnSpPr>
        <p:spPr>
          <a:xfrm>
            <a:off x="5567194" y="6124665"/>
            <a:ext cx="777659" cy="0"/>
          </a:xfrm>
          <a:prstGeom prst="straightConnector1">
            <a:avLst/>
          </a:prstGeom>
          <a:ln w="50800">
            <a:solidFill>
              <a:srgbClr val="C01B14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70F3A455-65B2-4DA2-8DA7-90D115E402E9}"/>
              </a:ext>
            </a:extLst>
          </p:cNvPr>
          <p:cNvSpPr/>
          <p:nvPr/>
        </p:nvSpPr>
        <p:spPr>
          <a:xfrm>
            <a:off x="5721835" y="3688865"/>
            <a:ext cx="46038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4BE47C0-8C49-4296-A75F-A6F9F8BA8AC0}"/>
              </a:ext>
            </a:extLst>
          </p:cNvPr>
          <p:cNvSpPr/>
          <p:nvPr/>
        </p:nvSpPr>
        <p:spPr>
          <a:xfrm>
            <a:off x="5653233" y="5850070"/>
            <a:ext cx="62068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Control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570F366-D62A-4F86-BE23-37B6DC9DCAAA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600" b="1" dirty="0">
                <a:solidFill>
                  <a:schemeClr val="tx1"/>
                </a:solidFill>
              </a:rPr>
              <a:t>Buses: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1"/>
                </a:solidFill>
              </a:rPr>
              <a:t>Address bus: </a:t>
            </a:r>
            <a:r>
              <a:rPr lang="en-GB" sz="1600" dirty="0">
                <a:solidFill>
                  <a:schemeClr val="tx1"/>
                </a:solidFill>
              </a:rPr>
              <a:t>Carries memory addresses that identify where data is being read from or written to.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1"/>
                </a:solidFill>
              </a:rPr>
              <a:t>Data bus: </a:t>
            </a:r>
            <a:r>
              <a:rPr lang="en-GB" sz="1600" dirty="0">
                <a:solidFill>
                  <a:schemeClr val="tx1"/>
                </a:solidFill>
              </a:rPr>
              <a:t>Carries the binary 1s and 0s that make up the actual information being transmitted around the CPU/computer.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1"/>
                </a:solidFill>
              </a:rPr>
              <a:t>Control bus: </a:t>
            </a:r>
            <a:r>
              <a:rPr lang="en-GB" sz="1600" dirty="0">
                <a:solidFill>
                  <a:schemeClr val="tx1"/>
                </a:solidFill>
              </a:rPr>
              <a:t>Carries command and control signals to and from every other component of the CPU/computer.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930DF4-A101-4AFE-9809-0FC4FEA8BA80}"/>
              </a:ext>
            </a:extLst>
          </p:cNvPr>
          <p:cNvSpPr/>
          <p:nvPr/>
        </p:nvSpPr>
        <p:spPr>
          <a:xfrm>
            <a:off x="6355872" y="1076892"/>
            <a:ext cx="2005703" cy="5632279"/>
          </a:xfrm>
          <a:prstGeom prst="rect">
            <a:avLst/>
          </a:prstGeom>
          <a:solidFill>
            <a:srgbClr val="FFB3B3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Main memory (RAM)</a:t>
            </a:r>
          </a:p>
        </p:txBody>
      </p:sp>
      <p:graphicFrame>
        <p:nvGraphicFramePr>
          <p:cNvPr id="6" name="Table 32">
            <a:extLst>
              <a:ext uri="{FF2B5EF4-FFF2-40B4-BE49-F238E27FC236}">
                <a16:creationId xmlns:a16="http://schemas.microsoft.com/office/drawing/2014/main" id="{489A3572-44C6-416C-AB84-770215A6A5C8}"/>
              </a:ext>
            </a:extLst>
          </p:cNvPr>
          <p:cNvGraphicFramePr>
            <a:graphicFrameLocks noGrp="1"/>
          </p:cNvGraphicFramePr>
          <p:nvPr/>
        </p:nvGraphicFramePr>
        <p:xfrm>
          <a:off x="6458233" y="1427933"/>
          <a:ext cx="1823192" cy="5081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746">
                  <a:extLst>
                    <a:ext uri="{9D8B030D-6E8A-4147-A177-3AD203B41FA5}">
                      <a16:colId xmlns:a16="http://schemas.microsoft.com/office/drawing/2014/main" val="3614015831"/>
                    </a:ext>
                  </a:extLst>
                </a:gridCol>
                <a:gridCol w="952446">
                  <a:extLst>
                    <a:ext uri="{9D8B030D-6E8A-4147-A177-3AD203B41FA5}">
                      <a16:colId xmlns:a16="http://schemas.microsoft.com/office/drawing/2014/main" val="3794086153"/>
                    </a:ext>
                  </a:extLst>
                </a:gridCol>
              </a:tblGrid>
              <a:tr h="187507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Address</a:t>
                      </a:r>
                    </a:p>
                  </a:txBody>
                  <a:tcPr marL="36000" marR="360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Data</a:t>
                      </a:r>
                    </a:p>
                  </a:txBody>
                  <a:tcPr marL="36000" marR="36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211108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0101 0101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7878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0001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0001 0110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188674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0010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0011 0111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260329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0011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1001 0010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26722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0100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340781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0101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0011 0000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87073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0110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0000 0001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443288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0111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824555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24416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1001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76455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1010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386007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1011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985182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1100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90943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1101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198533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1110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96377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1111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878757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EC4F58DC-48AB-43F7-B53A-152A64F6CE1F}"/>
              </a:ext>
            </a:extLst>
          </p:cNvPr>
          <p:cNvSpPr/>
          <p:nvPr/>
        </p:nvSpPr>
        <p:spPr>
          <a:xfrm>
            <a:off x="4258496" y="1461652"/>
            <a:ext cx="1312070" cy="8287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1B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address register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6DD3F-2A64-4E66-9851-3762DC377CD6}"/>
              </a:ext>
            </a:extLst>
          </p:cNvPr>
          <p:cNvSpPr/>
          <p:nvPr/>
        </p:nvSpPr>
        <p:spPr>
          <a:xfrm>
            <a:off x="4258496" y="3554121"/>
            <a:ext cx="1312070" cy="8287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1B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data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EABF939-E454-4BDF-89CC-29A052A86CAE}"/>
              </a:ext>
            </a:extLst>
          </p:cNvPr>
          <p:cNvCxnSpPr>
            <a:cxnSpLocks/>
          </p:cNvCxnSpPr>
          <p:nvPr/>
        </p:nvCxnSpPr>
        <p:spPr>
          <a:xfrm>
            <a:off x="5564217" y="1876048"/>
            <a:ext cx="777659" cy="0"/>
          </a:xfrm>
          <a:prstGeom prst="straightConnector1">
            <a:avLst/>
          </a:prstGeom>
          <a:ln w="50800">
            <a:solidFill>
              <a:srgbClr val="C01B1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ED49E43E-8857-4BB0-819F-E48DE12D3D7C}"/>
              </a:ext>
            </a:extLst>
          </p:cNvPr>
          <p:cNvSpPr/>
          <p:nvPr/>
        </p:nvSpPr>
        <p:spPr>
          <a:xfrm>
            <a:off x="5598559" y="1601453"/>
            <a:ext cx="65274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3D13D17-9C96-4DCC-BC43-EE06BB305469}"/>
              </a:ext>
            </a:extLst>
          </p:cNvPr>
          <p:cNvGrpSpPr/>
          <p:nvPr/>
        </p:nvGrpSpPr>
        <p:grpSpPr>
          <a:xfrm>
            <a:off x="1641576" y="1973102"/>
            <a:ext cx="305278" cy="418928"/>
            <a:chOff x="1641576" y="1973102"/>
            <a:chExt cx="305278" cy="418928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1BB1B16F-1478-4C93-A04D-8598C5D07CB8}"/>
                </a:ext>
              </a:extLst>
            </p:cNvPr>
            <p:cNvCxnSpPr/>
            <p:nvPr/>
          </p:nvCxnSpPr>
          <p:spPr>
            <a:xfrm flipV="1">
              <a:off x="1932566" y="1980723"/>
              <a:ext cx="0" cy="411307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06EDE58F-B045-47BC-A3CA-E013EF6F08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1576" y="1973102"/>
              <a:ext cx="305278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F59F967-E543-4EAD-8F35-60D35189BEA2}"/>
              </a:ext>
            </a:extLst>
          </p:cNvPr>
          <p:cNvGrpSpPr/>
          <p:nvPr/>
        </p:nvGrpSpPr>
        <p:grpSpPr>
          <a:xfrm>
            <a:off x="2175453" y="1973102"/>
            <a:ext cx="2076693" cy="418928"/>
            <a:chOff x="2175453" y="1973102"/>
            <a:chExt cx="2076693" cy="418928"/>
          </a:xfrm>
        </p:grpSpPr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4E9F1217-FF1B-4B44-95DD-DBAD1762F92E}"/>
                </a:ext>
              </a:extLst>
            </p:cNvPr>
            <p:cNvCxnSpPr/>
            <p:nvPr/>
          </p:nvCxnSpPr>
          <p:spPr>
            <a:xfrm flipV="1">
              <a:off x="2189740" y="1980723"/>
              <a:ext cx="0" cy="411307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F42CB918-132B-44DF-801C-2BBA9BDCE972}"/>
                </a:ext>
              </a:extLst>
            </p:cNvPr>
            <p:cNvCxnSpPr>
              <a:cxnSpLocks/>
            </p:cNvCxnSpPr>
            <p:nvPr/>
          </p:nvCxnSpPr>
          <p:spPr>
            <a:xfrm>
              <a:off x="2175453" y="1973102"/>
              <a:ext cx="2076693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D78C84F5-D12E-4371-BCFE-2877A8B8F259}"/>
              </a:ext>
            </a:extLst>
          </p:cNvPr>
          <p:cNvSpPr/>
          <p:nvPr/>
        </p:nvSpPr>
        <p:spPr>
          <a:xfrm>
            <a:off x="329506" y="1461652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Program counter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B10A0C-2CE2-4511-84A0-C2F03E11B6C2}"/>
              </a:ext>
            </a:extLst>
          </p:cNvPr>
          <p:cNvSpPr/>
          <p:nvPr/>
        </p:nvSpPr>
        <p:spPr>
          <a:xfrm>
            <a:off x="2491086" y="4708604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Current instruction register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9A40F9-57E4-42E6-B021-BD4B27CA0928}"/>
              </a:ext>
            </a:extLst>
          </p:cNvPr>
          <p:cNvSpPr/>
          <p:nvPr/>
        </p:nvSpPr>
        <p:spPr>
          <a:xfrm>
            <a:off x="2492502" y="2398380"/>
            <a:ext cx="1314000" cy="82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Accumulator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69D797C-AE28-489B-BEAB-BFB2A5257307}"/>
              </a:ext>
            </a:extLst>
          </p:cNvPr>
          <p:cNvGrpSpPr/>
          <p:nvPr/>
        </p:nvGrpSpPr>
        <p:grpSpPr>
          <a:xfrm>
            <a:off x="3806502" y="2770122"/>
            <a:ext cx="1127180" cy="780826"/>
            <a:chOff x="3806502" y="2770122"/>
            <a:chExt cx="1127180" cy="780826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A2F88BC-B2A3-4D24-BAC1-9836BD5647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0982" y="2770122"/>
              <a:ext cx="0" cy="780826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3CF1BEB7-D2A1-4065-9B03-010ED68F98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06502" y="2770122"/>
              <a:ext cx="1127180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201615A-4410-43B8-92E2-7D0DC3C12850}"/>
              </a:ext>
            </a:extLst>
          </p:cNvPr>
          <p:cNvGrpSpPr/>
          <p:nvPr/>
        </p:nvGrpSpPr>
        <p:grpSpPr>
          <a:xfrm>
            <a:off x="3810525" y="4382913"/>
            <a:ext cx="1123157" cy="741531"/>
            <a:chOff x="3863234" y="4382913"/>
            <a:chExt cx="1202425" cy="1144394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837D57E4-AC41-4F63-B8C3-09FAA97752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BDA3F0F-DD04-4853-9E9C-64BDC86676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8D3F34D-923F-4954-89D4-D9713275C2D2}"/>
              </a:ext>
            </a:extLst>
          </p:cNvPr>
          <p:cNvGrpSpPr/>
          <p:nvPr/>
        </p:nvGrpSpPr>
        <p:grpSpPr>
          <a:xfrm rot="5400000">
            <a:off x="1448476" y="4082207"/>
            <a:ext cx="423320" cy="1661159"/>
            <a:chOff x="3863234" y="4382913"/>
            <a:chExt cx="1202425" cy="1144394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1D61AC02-B819-4624-9FA7-18E95D3E59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A9272AEA-8F48-43C1-8410-14F31176B3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5D3A0093-7A1F-43FD-BA77-BE73C8C13A26}"/>
              </a:ext>
            </a:extLst>
          </p:cNvPr>
          <p:cNvSpPr/>
          <p:nvPr/>
        </p:nvSpPr>
        <p:spPr>
          <a:xfrm>
            <a:off x="176565" y="523174"/>
            <a:ext cx="377128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F2652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Internal structure of the CPU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448C628-A7D0-A9F4-679B-15F47549C4D0}"/>
              </a:ext>
            </a:extLst>
          </p:cNvPr>
          <p:cNvGrpSpPr/>
          <p:nvPr/>
        </p:nvGrpSpPr>
        <p:grpSpPr>
          <a:xfrm>
            <a:off x="319130" y="2400565"/>
            <a:ext cx="2108069" cy="2303453"/>
            <a:chOff x="319130" y="2400565"/>
            <a:chExt cx="2108069" cy="2303453"/>
          </a:xfrm>
          <a:solidFill>
            <a:srgbClr val="D9D9D9"/>
          </a:solidFill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FB9DB2D7-96F5-95D8-EC6F-16654DFC9185}"/>
                </a:ext>
              </a:extLst>
            </p:cNvPr>
            <p:cNvSpPr/>
            <p:nvPr/>
          </p:nvSpPr>
          <p:spPr>
            <a:xfrm>
              <a:off x="319130" y="2400565"/>
              <a:ext cx="2108069" cy="2303453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sz="1100" b="1" dirty="0">
                  <a:solidFill>
                    <a:schemeClr val="bg1">
                      <a:lumMod val="50000"/>
                    </a:schemeClr>
                  </a:solidFill>
                </a:rPr>
                <a:t>Decode unit</a:t>
              </a:r>
            </a:p>
            <a:p>
              <a:pPr algn="ctr"/>
              <a:endParaRPr lang="en-GB" sz="1100" b="1" dirty="0">
                <a:solidFill>
                  <a:schemeClr val="tx1"/>
                </a:solidFill>
              </a:endParaRPr>
            </a:p>
          </p:txBody>
        </p:sp>
        <p:pic>
          <p:nvPicPr>
            <p:cNvPr id="80" name="Graphic 79" descr="Gears with solid fill">
              <a:extLst>
                <a:ext uri="{FF2B5EF4-FFF2-40B4-BE49-F238E27FC236}">
                  <a16:creationId xmlns:a16="http://schemas.microsoft.com/office/drawing/2014/main" id="{53098E05-0DBA-ECD5-AFCB-C04882592F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35490" y="2702448"/>
              <a:ext cx="1639963" cy="16399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44811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54906" y="1887113"/>
            <a:ext cx="1152145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CPU consists of the following components: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Arithmetic logic unit (ALU):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Performs calculations and logical decisions.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Control unit (CU):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Sends signals to control how data moves around the CPU.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Buses: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collection of wires through which data and instructions are transmitted from one component to another.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Address bus: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Unidirectional – carries the addresses that data needs to be written to or read from.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bus: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Bidirectional – carries actual data or instructions.</a:t>
            </a:r>
          </a:p>
          <a:p>
            <a:pPr marL="1200150" lvl="2" indent="-28575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Control bus: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Bidirectional – carries command and control signals telling components when they should be receiving reads, writes,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Registers: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Tiny, super-fast pieces of onboard memory inside the CPU, each with a very specific purpose.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 counter (PC):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Holds the address of the next instruction to be executed.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Memory address register (MAR):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Holds the address of the memory location that data or an instruction is to be fetched from or written to.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Memory data register (MDR):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Used to temporarily store data that is read from or written to memory.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Current instruction register (CIR):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Holds the current instruction being executed.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Accumulator (ACC):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 of several general-purpose registers. The results of calculations carried out by the ALU can be temporarily stored here.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Components of the CPU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76101F8C-320D-4AC4-9E62-AEB36579E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151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Going beyond the </a:t>
            </a:r>
            <a:br>
              <a:rPr lang="en-GB" sz="40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IGCSE specification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FAC069AA-4085-44FE-AD96-0399346A387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290" y="2685345"/>
            <a:ext cx="1381140" cy="13811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981B8E-B917-6329-F9EC-B34820CA3867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3.1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598831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5B355E1-549A-4594-8FEA-A0CA781F2760}"/>
              </a:ext>
            </a:extLst>
          </p:cNvPr>
          <p:cNvSpPr/>
          <p:nvPr/>
        </p:nvSpPr>
        <p:spPr>
          <a:xfrm>
            <a:off x="144573" y="1076892"/>
            <a:ext cx="5425625" cy="563229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72000" tIns="1260000" rtlCol="0" anchor="t" anchorCtr="0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55D8CD-D8EF-4205-82AD-300AD2BB5329}"/>
              </a:ext>
            </a:extLst>
          </p:cNvPr>
          <p:cNvSpPr/>
          <p:nvPr/>
        </p:nvSpPr>
        <p:spPr>
          <a:xfrm>
            <a:off x="235668" y="1158753"/>
            <a:ext cx="5229018" cy="5464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Central processing unit (CPU)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49E10F79-511E-4EC4-AAE7-1E022E464105}"/>
              </a:ext>
            </a:extLst>
          </p:cNvPr>
          <p:cNvGrpSpPr/>
          <p:nvPr/>
        </p:nvGrpSpPr>
        <p:grpSpPr>
          <a:xfrm>
            <a:off x="1641577" y="2169083"/>
            <a:ext cx="3500410" cy="4333994"/>
            <a:chOff x="1773554" y="2169083"/>
            <a:chExt cx="3500410" cy="4333994"/>
          </a:xfrm>
        </p:grpSpPr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57888D9B-63CC-4AFF-8DBD-0809DA7704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1904" y="6503077"/>
              <a:ext cx="191165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77DA5366-36A4-475D-80F3-FCFA2BBF28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45226" y="6389225"/>
              <a:ext cx="183833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875504A7-D1EF-4CC0-B21B-97723B8703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4019" y="6281065"/>
              <a:ext cx="110954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E61048D-FA7A-450B-9057-1B71AF9CF5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2638" y="6178598"/>
              <a:ext cx="300926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1D04FA21-AA72-4833-9A58-FA3142351A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65188" y="6070440"/>
              <a:ext cx="218375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9DB82770-4BBA-4268-974D-D070F70CB5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47434" y="5956589"/>
              <a:ext cx="13612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A52308F8-4A31-4510-BAE3-99871709F0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3" y="5848429"/>
              <a:ext cx="5941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A6F29D5-82AB-4E5E-8D98-7818D5DEB4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0064" y="5542644"/>
              <a:ext cx="0" cy="738421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C47FA203-A773-425C-9E14-DDCB084AF9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0893" y="4701128"/>
              <a:ext cx="0" cy="21377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F5A2EFA0-5A33-49CE-80AF-085E74F169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4544" y="4914900"/>
              <a:ext cx="48068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CB6A3E1B-243B-4D67-9E51-A465C1F557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5226" y="4910139"/>
              <a:ext cx="0" cy="1479086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6D3CB495-CDE1-472D-971B-2637811B79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3964" y="4381492"/>
              <a:ext cx="0" cy="1317756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F7DB7E6F-644E-4468-A5ED-ACBF2F3CC9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153" y="2169083"/>
              <a:ext cx="0" cy="3679347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D98872B6-7248-41DB-A180-E0EF590867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7434" y="2230993"/>
              <a:ext cx="0" cy="3725597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62277DB8-B20F-48C4-80A9-CE0268CED7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5188" y="3054908"/>
              <a:ext cx="0" cy="301553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87C4F4E2-88CF-48DF-B66A-EB6A3F623C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2638" y="3966927"/>
              <a:ext cx="0" cy="2211671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3D1895AC-8354-4DF1-8C93-38A4515EB8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2" y="3971689"/>
              <a:ext cx="13612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F35D0887-9845-4D5E-A243-13BEC393B6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3" y="3054908"/>
              <a:ext cx="222685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BECAA9B0-DB0B-47DE-91A2-842DF82A9F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4" y="2173845"/>
              <a:ext cx="6631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A15AAD2E-4F60-4D04-828B-4DB4212A01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3554" y="2233374"/>
              <a:ext cx="247388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4D1D5CDF-1A51-486F-A79D-EDC4E208B261}"/>
              </a:ext>
            </a:extLst>
          </p:cNvPr>
          <p:cNvSpPr/>
          <p:nvPr/>
        </p:nvSpPr>
        <p:spPr>
          <a:xfrm>
            <a:off x="2491086" y="4708604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Current instruction register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44EA3CA-B2AE-4A07-A327-AC253DF3EC0C}"/>
              </a:ext>
            </a:extLst>
          </p:cNvPr>
          <p:cNvSpPr/>
          <p:nvPr/>
        </p:nvSpPr>
        <p:spPr>
          <a:xfrm>
            <a:off x="329506" y="1461652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Program counter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844966C-9D33-4FB4-91E9-FC5819D4BA3B}"/>
              </a:ext>
            </a:extLst>
          </p:cNvPr>
          <p:cNvSpPr/>
          <p:nvPr/>
        </p:nvSpPr>
        <p:spPr>
          <a:xfrm>
            <a:off x="2492502" y="2398380"/>
            <a:ext cx="1314000" cy="82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Accumulator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3360B80-E436-4445-AF6B-DCC7370F14F2}"/>
              </a:ext>
            </a:extLst>
          </p:cNvPr>
          <p:cNvSpPr/>
          <p:nvPr/>
        </p:nvSpPr>
        <p:spPr>
          <a:xfrm>
            <a:off x="2494433" y="3553492"/>
            <a:ext cx="1312069" cy="82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Arithmetic logic unit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0C88483-223A-43FF-B0CD-C28747578C03}"/>
              </a:ext>
            </a:extLst>
          </p:cNvPr>
          <p:cNvSpPr/>
          <p:nvPr/>
        </p:nvSpPr>
        <p:spPr>
          <a:xfrm>
            <a:off x="4258496" y="1461652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Memory address register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F22CAA4-0A4F-4F5B-ABD8-6EF614C8140D}"/>
              </a:ext>
            </a:extLst>
          </p:cNvPr>
          <p:cNvSpPr/>
          <p:nvPr/>
        </p:nvSpPr>
        <p:spPr>
          <a:xfrm>
            <a:off x="4258496" y="3554121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Memory data register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9899F61-F6B5-4D33-A478-3B9D48E4F16A}"/>
              </a:ext>
            </a:extLst>
          </p:cNvPr>
          <p:cNvCxnSpPr>
            <a:cxnSpLocks/>
          </p:cNvCxnSpPr>
          <p:nvPr/>
        </p:nvCxnSpPr>
        <p:spPr>
          <a:xfrm>
            <a:off x="1641576" y="1677928"/>
            <a:ext cx="2610570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4074AF43-D19A-4254-B032-01E6439ED7BA}"/>
              </a:ext>
            </a:extLst>
          </p:cNvPr>
          <p:cNvGrpSpPr/>
          <p:nvPr/>
        </p:nvGrpSpPr>
        <p:grpSpPr>
          <a:xfrm>
            <a:off x="1641576" y="1973102"/>
            <a:ext cx="305278" cy="418928"/>
            <a:chOff x="1641576" y="1973102"/>
            <a:chExt cx="305278" cy="418928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51A98C67-6EFD-482B-AD9D-6E06220D71A3}"/>
                </a:ext>
              </a:extLst>
            </p:cNvPr>
            <p:cNvCxnSpPr/>
            <p:nvPr/>
          </p:nvCxnSpPr>
          <p:spPr>
            <a:xfrm flipV="1">
              <a:off x="1932566" y="1980723"/>
              <a:ext cx="0" cy="411307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D44E5C96-B86A-44AF-95E3-C2EE30FE02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1576" y="1973102"/>
              <a:ext cx="305278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42E282C-6271-40B0-B009-A65033A4C886}"/>
              </a:ext>
            </a:extLst>
          </p:cNvPr>
          <p:cNvGrpSpPr/>
          <p:nvPr/>
        </p:nvGrpSpPr>
        <p:grpSpPr>
          <a:xfrm>
            <a:off x="2175453" y="1973102"/>
            <a:ext cx="2076693" cy="418928"/>
            <a:chOff x="2175453" y="1973102"/>
            <a:chExt cx="2076693" cy="418928"/>
          </a:xfrm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6706EBCA-A953-4750-B67F-9E2C340BA05F}"/>
                </a:ext>
              </a:extLst>
            </p:cNvPr>
            <p:cNvCxnSpPr/>
            <p:nvPr/>
          </p:nvCxnSpPr>
          <p:spPr>
            <a:xfrm flipV="1">
              <a:off x="2189740" y="1980723"/>
              <a:ext cx="0" cy="411307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50F0D26-AC86-451E-A7B8-329F2863D8DD}"/>
                </a:ext>
              </a:extLst>
            </p:cNvPr>
            <p:cNvCxnSpPr>
              <a:cxnSpLocks/>
            </p:cNvCxnSpPr>
            <p:nvPr/>
          </p:nvCxnSpPr>
          <p:spPr>
            <a:xfrm>
              <a:off x="2175453" y="1973102"/>
              <a:ext cx="2076693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AA287EB-E571-42D1-AEDC-912F0CE3949C}"/>
              </a:ext>
            </a:extLst>
          </p:cNvPr>
          <p:cNvCxnSpPr>
            <a:cxnSpLocks/>
            <a:stCxn id="51" idx="0"/>
          </p:cNvCxnSpPr>
          <p:nvPr/>
        </p:nvCxnSpPr>
        <p:spPr>
          <a:xfrm flipH="1" flipV="1">
            <a:off x="3142042" y="3232336"/>
            <a:ext cx="8426" cy="32115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D90980DA-0C3A-4731-89F6-89E7F99D5FC3}"/>
              </a:ext>
            </a:extLst>
          </p:cNvPr>
          <p:cNvGrpSpPr/>
          <p:nvPr/>
        </p:nvGrpSpPr>
        <p:grpSpPr>
          <a:xfrm>
            <a:off x="3806502" y="2770122"/>
            <a:ext cx="1127180" cy="780826"/>
            <a:chOff x="3806502" y="2770122"/>
            <a:chExt cx="1127180" cy="780826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3E1640E-C787-4FD8-935B-912FDC5A2C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0982" y="2770122"/>
              <a:ext cx="0" cy="780826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B13FE9B8-92F9-42F9-844F-021624B0D8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06502" y="2770122"/>
              <a:ext cx="1127180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024632E5-0DCF-4BCE-9306-692F2A1A4528}"/>
              </a:ext>
            </a:extLst>
          </p:cNvPr>
          <p:cNvGrpSpPr/>
          <p:nvPr/>
        </p:nvGrpSpPr>
        <p:grpSpPr>
          <a:xfrm>
            <a:off x="3810525" y="4382913"/>
            <a:ext cx="1123157" cy="741531"/>
            <a:chOff x="3863234" y="4382913"/>
            <a:chExt cx="1202425" cy="1144394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94BF27E-4F7B-48A0-BB1D-7924C13036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A7FECD1-4257-4FAF-BD1D-4D809BED52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AECE537-6ACB-44D0-A092-63AB541186E4}"/>
              </a:ext>
            </a:extLst>
          </p:cNvPr>
          <p:cNvGrpSpPr/>
          <p:nvPr/>
        </p:nvGrpSpPr>
        <p:grpSpPr>
          <a:xfrm rot="5400000">
            <a:off x="1448476" y="4082207"/>
            <a:ext cx="423320" cy="1661159"/>
            <a:chOff x="3863234" y="4382913"/>
            <a:chExt cx="1202425" cy="1144394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5FDB3E7B-2157-4842-9E9E-73DE437B28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25A27C00-C803-4B21-A77E-7D5983355A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B8D6E0D-6A9D-466A-9A91-439CBD80D4A8}"/>
              </a:ext>
            </a:extLst>
          </p:cNvPr>
          <p:cNvCxnSpPr>
            <a:cxnSpLocks/>
          </p:cNvCxnSpPr>
          <p:nvPr/>
        </p:nvCxnSpPr>
        <p:spPr>
          <a:xfrm>
            <a:off x="5564217" y="3973782"/>
            <a:ext cx="777659" cy="0"/>
          </a:xfrm>
          <a:prstGeom prst="straightConnector1">
            <a:avLst/>
          </a:prstGeom>
          <a:ln w="508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F94A383-09A8-4898-924A-CEDDCC36EDD2}"/>
              </a:ext>
            </a:extLst>
          </p:cNvPr>
          <p:cNvCxnSpPr>
            <a:cxnSpLocks/>
          </p:cNvCxnSpPr>
          <p:nvPr/>
        </p:nvCxnSpPr>
        <p:spPr>
          <a:xfrm>
            <a:off x="5564217" y="1876048"/>
            <a:ext cx="777659" cy="0"/>
          </a:xfrm>
          <a:prstGeom prst="straightConnector1">
            <a:avLst/>
          </a:prstGeom>
          <a:ln w="508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58750DAB-344D-4D4A-A75A-1CC8F929B09C}"/>
              </a:ext>
            </a:extLst>
          </p:cNvPr>
          <p:cNvCxnSpPr>
            <a:cxnSpLocks/>
          </p:cNvCxnSpPr>
          <p:nvPr/>
        </p:nvCxnSpPr>
        <p:spPr>
          <a:xfrm>
            <a:off x="5567194" y="6124665"/>
            <a:ext cx="777659" cy="0"/>
          </a:xfrm>
          <a:prstGeom prst="straightConnector1">
            <a:avLst/>
          </a:prstGeom>
          <a:ln w="508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92C179DA-AE6B-4EAA-991B-2B528B232486}"/>
              </a:ext>
            </a:extLst>
          </p:cNvPr>
          <p:cNvSpPr/>
          <p:nvPr/>
        </p:nvSpPr>
        <p:spPr>
          <a:xfrm>
            <a:off x="5598559" y="1601453"/>
            <a:ext cx="65274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0F3A455-65B2-4DA2-8DA7-90D115E402E9}"/>
              </a:ext>
            </a:extLst>
          </p:cNvPr>
          <p:cNvSpPr/>
          <p:nvPr/>
        </p:nvSpPr>
        <p:spPr>
          <a:xfrm>
            <a:off x="5721835" y="3688865"/>
            <a:ext cx="46038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4BE47C0-8C49-4296-A75F-A6F9F8BA8AC0}"/>
              </a:ext>
            </a:extLst>
          </p:cNvPr>
          <p:cNvSpPr/>
          <p:nvPr/>
        </p:nvSpPr>
        <p:spPr>
          <a:xfrm>
            <a:off x="5653233" y="5850070"/>
            <a:ext cx="62068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Control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570F366-D62A-4F86-BE23-37B6DC9DCAAA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600" b="1" dirty="0">
                <a:solidFill>
                  <a:schemeClr val="tx1"/>
                </a:solidFill>
              </a:rPr>
              <a:t>Other important components: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Decode unit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Cache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Status register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Interrupt register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Clock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BCB7E4-5075-46E9-BCE1-AAF72C77399B}"/>
              </a:ext>
            </a:extLst>
          </p:cNvPr>
          <p:cNvSpPr/>
          <p:nvPr/>
        </p:nvSpPr>
        <p:spPr>
          <a:xfrm>
            <a:off x="6355872" y="1076892"/>
            <a:ext cx="2005703" cy="56322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bg1">
                    <a:lumMod val="50000"/>
                  </a:schemeClr>
                </a:solidFill>
              </a:rPr>
              <a:t>Main memory (RAM)</a:t>
            </a:r>
          </a:p>
        </p:txBody>
      </p:sp>
      <p:graphicFrame>
        <p:nvGraphicFramePr>
          <p:cNvPr id="6" name="Table 32">
            <a:extLst>
              <a:ext uri="{FF2B5EF4-FFF2-40B4-BE49-F238E27FC236}">
                <a16:creationId xmlns:a16="http://schemas.microsoft.com/office/drawing/2014/main" id="{131EA568-BEED-4C3C-A756-626576097FCD}"/>
              </a:ext>
            </a:extLst>
          </p:cNvPr>
          <p:cNvGraphicFramePr>
            <a:graphicFrameLocks noGrp="1"/>
          </p:cNvGraphicFramePr>
          <p:nvPr/>
        </p:nvGraphicFramePr>
        <p:xfrm>
          <a:off x="6458233" y="1427933"/>
          <a:ext cx="1823192" cy="508116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70746">
                  <a:extLst>
                    <a:ext uri="{9D8B030D-6E8A-4147-A177-3AD203B41FA5}">
                      <a16:colId xmlns:a16="http://schemas.microsoft.com/office/drawing/2014/main" val="3614015831"/>
                    </a:ext>
                  </a:extLst>
                </a:gridCol>
                <a:gridCol w="952446">
                  <a:extLst>
                    <a:ext uri="{9D8B030D-6E8A-4147-A177-3AD203B41FA5}">
                      <a16:colId xmlns:a16="http://schemas.microsoft.com/office/drawing/2014/main" val="3794086153"/>
                    </a:ext>
                  </a:extLst>
                </a:gridCol>
              </a:tblGrid>
              <a:tr h="187507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Address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Data</a:t>
                      </a:r>
                    </a:p>
                  </a:txBody>
                  <a:tcPr marL="36000" marR="36000"/>
                </a:tc>
                <a:extLst>
                  <a:ext uri="{0D108BD9-81ED-4DB2-BD59-A6C34878D82A}">
                    <a16:rowId xmlns:a16="http://schemas.microsoft.com/office/drawing/2014/main" val="1704211108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0101 0101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7417878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0001 0110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752188674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0011 0111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843260329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1001 0010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402726722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0100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887340781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0101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0011 0000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380887073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0000 0001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932443288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0111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105824555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1000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73624416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1001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403576455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311386007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1011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812985182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1100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71990943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1101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578198533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43496377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1111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311878757"/>
                  </a:ext>
                </a:extLst>
              </a:tr>
            </a:tbl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BB91E9BD-CE0F-40A7-9610-035383423164}"/>
              </a:ext>
            </a:extLst>
          </p:cNvPr>
          <p:cNvSpPr/>
          <p:nvPr/>
        </p:nvSpPr>
        <p:spPr>
          <a:xfrm>
            <a:off x="2494433" y="5705750"/>
            <a:ext cx="1308722" cy="3694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Status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60C0E1E-2E60-4A3A-AE94-5B8771FFB031}"/>
              </a:ext>
            </a:extLst>
          </p:cNvPr>
          <p:cNvCxnSpPr>
            <a:cxnSpLocks/>
          </p:cNvCxnSpPr>
          <p:nvPr/>
        </p:nvCxnSpPr>
        <p:spPr>
          <a:xfrm>
            <a:off x="3804383" y="5878589"/>
            <a:ext cx="453747" cy="0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ED1AC48-BB1E-4637-9B96-AC06B2C8EB2A}"/>
              </a:ext>
            </a:extLst>
          </p:cNvPr>
          <p:cNvSpPr/>
          <p:nvPr/>
        </p:nvSpPr>
        <p:spPr>
          <a:xfrm>
            <a:off x="4258597" y="5699247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Control</a:t>
            </a:r>
          </a:p>
          <a:p>
            <a:pPr algn="ctr"/>
            <a:r>
              <a:rPr lang="en-GB" sz="1100" b="1" dirty="0">
                <a:solidFill>
                  <a:schemeClr val="tx1"/>
                </a:solidFill>
              </a:rPr>
              <a:t>unit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A98E260-9877-4DF2-8F48-C4B12B1DB4DD}"/>
              </a:ext>
            </a:extLst>
          </p:cNvPr>
          <p:cNvGrpSpPr/>
          <p:nvPr/>
        </p:nvGrpSpPr>
        <p:grpSpPr>
          <a:xfrm>
            <a:off x="4274133" y="4593357"/>
            <a:ext cx="828000" cy="828792"/>
            <a:chOff x="4274133" y="4593357"/>
            <a:chExt cx="828000" cy="828792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46DF33B8-29C8-4FF6-AEBB-64DC513E76E9}"/>
                </a:ext>
              </a:extLst>
            </p:cNvPr>
            <p:cNvSpPr/>
            <p:nvPr/>
          </p:nvSpPr>
          <p:spPr>
            <a:xfrm>
              <a:off x="4274133" y="4593357"/>
              <a:ext cx="828000" cy="8287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GB" sz="1100" b="1" dirty="0">
                <a:solidFill>
                  <a:schemeClr val="tx1"/>
                </a:solidFill>
              </a:endParaRPr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1A307FA-B248-4F17-B49D-B7200E608F5E}"/>
                </a:ext>
              </a:extLst>
            </p:cNvPr>
            <p:cNvGrpSpPr/>
            <p:nvPr/>
          </p:nvGrpSpPr>
          <p:grpSpPr>
            <a:xfrm>
              <a:off x="4292939" y="4609663"/>
              <a:ext cx="781105" cy="777131"/>
              <a:chOff x="4364100" y="4688521"/>
              <a:chExt cx="641729" cy="638464"/>
            </a:xfrm>
          </p:grpSpPr>
          <p:pic>
            <p:nvPicPr>
              <p:cNvPr id="91" name="Picture 90">
                <a:extLst>
                  <a:ext uri="{FF2B5EF4-FFF2-40B4-BE49-F238E27FC236}">
                    <a16:creationId xmlns:a16="http://schemas.microsoft.com/office/drawing/2014/main" id="{DFEC6D2B-8719-41C8-91A2-004C64D88E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364100" y="4688521"/>
                <a:ext cx="641729" cy="638464"/>
              </a:xfrm>
              <a:prstGeom prst="rect">
                <a:avLst/>
              </a:prstGeom>
            </p:spPr>
          </p:pic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2CC81502-15A9-41B0-B012-6CD89A6466D0}"/>
                  </a:ext>
                </a:extLst>
              </p:cNvPr>
              <p:cNvSpPr/>
              <p:nvPr/>
            </p:nvSpPr>
            <p:spPr>
              <a:xfrm>
                <a:off x="4641057" y="4957763"/>
                <a:ext cx="113004" cy="97630"/>
              </a:xfrm>
              <a:prstGeom prst="rect">
                <a:avLst/>
              </a:prstGeom>
              <a:solidFill>
                <a:srgbClr val="F4B18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30D8A609-D343-4864-B8B3-13857082D718}"/>
                </a:ext>
              </a:extLst>
            </p:cNvPr>
            <p:cNvSpPr txBox="1"/>
            <p:nvPr/>
          </p:nvSpPr>
          <p:spPr>
            <a:xfrm>
              <a:off x="4450195" y="4905828"/>
              <a:ext cx="49725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100" b="1" dirty="0"/>
                <a:t>Clock</a:t>
              </a:r>
              <a:endParaRPr lang="en-GB" b="1" dirty="0"/>
            </a:p>
          </p:txBody>
        </p:sp>
      </p:grp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B7AF9A9D-21EF-4AE4-AB1C-F20D4FBB2240}"/>
              </a:ext>
            </a:extLst>
          </p:cNvPr>
          <p:cNvCxnSpPr>
            <a:cxnSpLocks/>
          </p:cNvCxnSpPr>
          <p:nvPr/>
        </p:nvCxnSpPr>
        <p:spPr>
          <a:xfrm flipV="1">
            <a:off x="4688407" y="5424375"/>
            <a:ext cx="0" cy="271801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DDFC5E3-2927-4253-96AE-73E60379AB08}"/>
              </a:ext>
            </a:extLst>
          </p:cNvPr>
          <p:cNvSpPr/>
          <p:nvPr/>
        </p:nvSpPr>
        <p:spPr>
          <a:xfrm>
            <a:off x="329506" y="5279014"/>
            <a:ext cx="2010421" cy="124189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Cache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99BEC66F-36C4-4ECD-82DB-84E65C7BE6AE}"/>
              </a:ext>
            </a:extLst>
          </p:cNvPr>
          <p:cNvSpPr/>
          <p:nvPr/>
        </p:nvSpPr>
        <p:spPr>
          <a:xfrm>
            <a:off x="2494433" y="6160869"/>
            <a:ext cx="1308722" cy="3694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Interrupt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9E3C7066-43F1-4FB4-9DE6-3E21388DF1E7}"/>
              </a:ext>
            </a:extLst>
          </p:cNvPr>
          <p:cNvCxnSpPr>
            <a:cxnSpLocks/>
          </p:cNvCxnSpPr>
          <p:nvPr/>
        </p:nvCxnSpPr>
        <p:spPr>
          <a:xfrm>
            <a:off x="3804383" y="6345595"/>
            <a:ext cx="453747" cy="0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76A7BB4-64C8-44B9-AF5E-E613DB123E7E}"/>
              </a:ext>
            </a:extLst>
          </p:cNvPr>
          <p:cNvSpPr/>
          <p:nvPr/>
        </p:nvSpPr>
        <p:spPr>
          <a:xfrm>
            <a:off x="176565" y="523174"/>
            <a:ext cx="377128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F2652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Internal structure of the CPU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CF0141E0-B307-8342-24AC-194CFA3F108B}"/>
              </a:ext>
            </a:extLst>
          </p:cNvPr>
          <p:cNvGrpSpPr/>
          <p:nvPr/>
        </p:nvGrpSpPr>
        <p:grpSpPr>
          <a:xfrm>
            <a:off x="319130" y="2400565"/>
            <a:ext cx="2108069" cy="2303453"/>
            <a:chOff x="319130" y="2400565"/>
            <a:chExt cx="2108069" cy="2303453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44250FD-472E-0F4E-1682-655089DA926C}"/>
                </a:ext>
              </a:extLst>
            </p:cNvPr>
            <p:cNvSpPr/>
            <p:nvPr/>
          </p:nvSpPr>
          <p:spPr>
            <a:xfrm>
              <a:off x="319130" y="2400565"/>
              <a:ext cx="2108069" cy="230345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sz="1100" b="1" dirty="0">
                  <a:solidFill>
                    <a:schemeClr val="tx1"/>
                  </a:solidFill>
                </a:rPr>
                <a:t>Decode unit</a:t>
              </a:r>
            </a:p>
            <a:p>
              <a:pPr algn="ctr"/>
              <a:endParaRPr lang="en-GB" sz="1100" b="1" dirty="0">
                <a:solidFill>
                  <a:schemeClr val="tx1"/>
                </a:solidFill>
              </a:endParaRPr>
            </a:p>
          </p:txBody>
        </p:sp>
        <p:pic>
          <p:nvPicPr>
            <p:cNvPr id="96" name="Graphic 95" descr="Gears with solid fill">
              <a:extLst>
                <a:ext uri="{FF2B5EF4-FFF2-40B4-BE49-F238E27FC236}">
                  <a16:creationId xmlns:a16="http://schemas.microsoft.com/office/drawing/2014/main" id="{1CD99197-B412-20BF-D037-A98779C7DA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35490" y="2702448"/>
              <a:ext cx="1639963" cy="16399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19998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5B355E1-549A-4594-8FEA-A0CA781F2760}"/>
              </a:ext>
            </a:extLst>
          </p:cNvPr>
          <p:cNvSpPr/>
          <p:nvPr/>
        </p:nvSpPr>
        <p:spPr>
          <a:xfrm>
            <a:off x="144573" y="1076892"/>
            <a:ext cx="5425625" cy="563229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72000" tIns="1260000" rtlCol="0" anchor="t" anchorCtr="0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55D8CD-D8EF-4205-82AD-300AD2BB5329}"/>
              </a:ext>
            </a:extLst>
          </p:cNvPr>
          <p:cNvSpPr/>
          <p:nvPr/>
        </p:nvSpPr>
        <p:spPr>
          <a:xfrm>
            <a:off x="235668" y="1158753"/>
            <a:ext cx="5229018" cy="5464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Central processing unit (CPU)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49E10F79-511E-4EC4-AAE7-1E022E464105}"/>
              </a:ext>
            </a:extLst>
          </p:cNvPr>
          <p:cNvGrpSpPr/>
          <p:nvPr/>
        </p:nvGrpSpPr>
        <p:grpSpPr>
          <a:xfrm>
            <a:off x="1641577" y="2169083"/>
            <a:ext cx="3500410" cy="4333994"/>
            <a:chOff x="1773554" y="2169083"/>
            <a:chExt cx="3500410" cy="4333994"/>
          </a:xfrm>
        </p:grpSpPr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57888D9B-63CC-4AFF-8DBD-0809DA7704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1904" y="6503077"/>
              <a:ext cx="191165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77DA5366-36A4-475D-80F3-FCFA2BBF28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45226" y="6389225"/>
              <a:ext cx="183833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875504A7-D1EF-4CC0-B21B-97723B8703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4019" y="6281065"/>
              <a:ext cx="110954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E61048D-FA7A-450B-9057-1B71AF9CF5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2638" y="6178598"/>
              <a:ext cx="300926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1D04FA21-AA72-4833-9A58-FA3142351A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65188" y="6070440"/>
              <a:ext cx="218375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9DB82770-4BBA-4268-974D-D070F70CB5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47434" y="5956589"/>
              <a:ext cx="13612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A52308F8-4A31-4510-BAE3-99871709F0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3" y="5848429"/>
              <a:ext cx="5941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A6F29D5-82AB-4E5E-8D98-7818D5DEB4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0064" y="5542644"/>
              <a:ext cx="0" cy="738421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C47FA203-A773-425C-9E14-DDCB084AF9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0893" y="4701128"/>
              <a:ext cx="0" cy="21377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F5A2EFA0-5A33-49CE-80AF-085E74F169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4544" y="4914900"/>
              <a:ext cx="48068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CB6A3E1B-243B-4D67-9E51-A465C1F557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5226" y="4910139"/>
              <a:ext cx="0" cy="1479086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6D3CB495-CDE1-472D-971B-2637811B79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3964" y="4381492"/>
              <a:ext cx="0" cy="1317756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F7DB7E6F-644E-4468-A5ED-ACBF2F3CC9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153" y="2169083"/>
              <a:ext cx="0" cy="3679347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D98872B6-7248-41DB-A180-E0EF590867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7434" y="2230993"/>
              <a:ext cx="0" cy="3725597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62277DB8-B20F-48C4-80A9-CE0268CED7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5188" y="3054908"/>
              <a:ext cx="0" cy="301553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87C4F4E2-88CF-48DF-B66A-EB6A3F623C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2638" y="3966927"/>
              <a:ext cx="0" cy="2211671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3D1895AC-8354-4DF1-8C93-38A4515EB8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2" y="3971689"/>
              <a:ext cx="13612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F35D0887-9845-4D5E-A243-13BEC393B6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3" y="3054908"/>
              <a:ext cx="222685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BECAA9B0-DB0B-47DE-91A2-842DF82A9F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4" y="2173845"/>
              <a:ext cx="6631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A15AAD2E-4F60-4D04-828B-4DB4212A01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3554" y="2233374"/>
              <a:ext cx="247388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4D1D5CDF-1A51-486F-A79D-EDC4E208B261}"/>
              </a:ext>
            </a:extLst>
          </p:cNvPr>
          <p:cNvSpPr/>
          <p:nvPr/>
        </p:nvSpPr>
        <p:spPr>
          <a:xfrm>
            <a:off x="2491086" y="4708604"/>
            <a:ext cx="1312070" cy="8287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Current instruction register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44EA3CA-B2AE-4A07-A327-AC253DF3EC0C}"/>
              </a:ext>
            </a:extLst>
          </p:cNvPr>
          <p:cNvSpPr/>
          <p:nvPr/>
        </p:nvSpPr>
        <p:spPr>
          <a:xfrm>
            <a:off x="329506" y="1461652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Program counter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844966C-9D33-4FB4-91E9-FC5819D4BA3B}"/>
              </a:ext>
            </a:extLst>
          </p:cNvPr>
          <p:cNvSpPr/>
          <p:nvPr/>
        </p:nvSpPr>
        <p:spPr>
          <a:xfrm>
            <a:off x="2492502" y="2398380"/>
            <a:ext cx="1314000" cy="82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Accumulator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3360B80-E436-4445-AF6B-DCC7370F14F2}"/>
              </a:ext>
            </a:extLst>
          </p:cNvPr>
          <p:cNvSpPr/>
          <p:nvPr/>
        </p:nvSpPr>
        <p:spPr>
          <a:xfrm>
            <a:off x="2494433" y="3553492"/>
            <a:ext cx="1312069" cy="82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Arithmetic logic unit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0C88483-223A-43FF-B0CD-C28747578C03}"/>
              </a:ext>
            </a:extLst>
          </p:cNvPr>
          <p:cNvSpPr/>
          <p:nvPr/>
        </p:nvSpPr>
        <p:spPr>
          <a:xfrm>
            <a:off x="4258496" y="1461652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Memory address register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F22CAA4-0A4F-4F5B-ABD8-6EF614C8140D}"/>
              </a:ext>
            </a:extLst>
          </p:cNvPr>
          <p:cNvSpPr/>
          <p:nvPr/>
        </p:nvSpPr>
        <p:spPr>
          <a:xfrm>
            <a:off x="4258496" y="3554121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Memory data register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9899F61-F6B5-4D33-A478-3B9D48E4F16A}"/>
              </a:ext>
            </a:extLst>
          </p:cNvPr>
          <p:cNvCxnSpPr>
            <a:cxnSpLocks/>
          </p:cNvCxnSpPr>
          <p:nvPr/>
        </p:nvCxnSpPr>
        <p:spPr>
          <a:xfrm>
            <a:off x="1641576" y="1677928"/>
            <a:ext cx="2610570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4074AF43-D19A-4254-B032-01E6439ED7BA}"/>
              </a:ext>
            </a:extLst>
          </p:cNvPr>
          <p:cNvGrpSpPr/>
          <p:nvPr/>
        </p:nvGrpSpPr>
        <p:grpSpPr>
          <a:xfrm>
            <a:off x="1641576" y="1973102"/>
            <a:ext cx="305278" cy="418928"/>
            <a:chOff x="1641576" y="1973102"/>
            <a:chExt cx="305278" cy="418928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51A98C67-6EFD-482B-AD9D-6E06220D71A3}"/>
                </a:ext>
              </a:extLst>
            </p:cNvPr>
            <p:cNvCxnSpPr/>
            <p:nvPr/>
          </p:nvCxnSpPr>
          <p:spPr>
            <a:xfrm flipV="1">
              <a:off x="1932566" y="1980723"/>
              <a:ext cx="0" cy="411307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D44E5C96-B86A-44AF-95E3-C2EE30FE02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1576" y="1973102"/>
              <a:ext cx="305278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42E282C-6271-40B0-B009-A65033A4C886}"/>
              </a:ext>
            </a:extLst>
          </p:cNvPr>
          <p:cNvGrpSpPr/>
          <p:nvPr/>
        </p:nvGrpSpPr>
        <p:grpSpPr>
          <a:xfrm>
            <a:off x="2175453" y="1973102"/>
            <a:ext cx="2076693" cy="418928"/>
            <a:chOff x="2175453" y="1973102"/>
            <a:chExt cx="2076693" cy="418928"/>
          </a:xfrm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6706EBCA-A953-4750-B67F-9E2C340BA05F}"/>
                </a:ext>
              </a:extLst>
            </p:cNvPr>
            <p:cNvCxnSpPr/>
            <p:nvPr/>
          </p:nvCxnSpPr>
          <p:spPr>
            <a:xfrm flipV="1">
              <a:off x="2189740" y="1980723"/>
              <a:ext cx="0" cy="411307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50F0D26-AC86-451E-A7B8-329F2863D8DD}"/>
                </a:ext>
              </a:extLst>
            </p:cNvPr>
            <p:cNvCxnSpPr>
              <a:cxnSpLocks/>
            </p:cNvCxnSpPr>
            <p:nvPr/>
          </p:nvCxnSpPr>
          <p:spPr>
            <a:xfrm>
              <a:off x="2175453" y="1973102"/>
              <a:ext cx="2076693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AA287EB-E571-42D1-AEDC-912F0CE3949C}"/>
              </a:ext>
            </a:extLst>
          </p:cNvPr>
          <p:cNvCxnSpPr>
            <a:cxnSpLocks/>
            <a:stCxn id="51" idx="0"/>
          </p:cNvCxnSpPr>
          <p:nvPr/>
        </p:nvCxnSpPr>
        <p:spPr>
          <a:xfrm flipH="1" flipV="1">
            <a:off x="3142042" y="3232336"/>
            <a:ext cx="8426" cy="32115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D90980DA-0C3A-4731-89F6-89E7F99D5FC3}"/>
              </a:ext>
            </a:extLst>
          </p:cNvPr>
          <p:cNvGrpSpPr/>
          <p:nvPr/>
        </p:nvGrpSpPr>
        <p:grpSpPr>
          <a:xfrm>
            <a:off x="3806502" y="2770122"/>
            <a:ext cx="1127180" cy="780826"/>
            <a:chOff x="3806502" y="2770122"/>
            <a:chExt cx="1127180" cy="780826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3E1640E-C787-4FD8-935B-912FDC5A2C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0982" y="2770122"/>
              <a:ext cx="0" cy="780826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B13FE9B8-92F9-42F9-844F-021624B0D8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06502" y="2770122"/>
              <a:ext cx="1127180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024632E5-0DCF-4BCE-9306-692F2A1A4528}"/>
              </a:ext>
            </a:extLst>
          </p:cNvPr>
          <p:cNvGrpSpPr/>
          <p:nvPr/>
        </p:nvGrpSpPr>
        <p:grpSpPr>
          <a:xfrm>
            <a:off x="3810525" y="4382913"/>
            <a:ext cx="1123157" cy="741531"/>
            <a:chOff x="3863234" y="4382913"/>
            <a:chExt cx="1202425" cy="1144394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94BF27E-4F7B-48A0-BB1D-7924C13036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A7FECD1-4257-4FAF-BD1D-4D809BED52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AECE537-6ACB-44D0-A092-63AB541186E4}"/>
              </a:ext>
            </a:extLst>
          </p:cNvPr>
          <p:cNvGrpSpPr/>
          <p:nvPr/>
        </p:nvGrpSpPr>
        <p:grpSpPr>
          <a:xfrm rot="5400000">
            <a:off x="1448476" y="4082207"/>
            <a:ext cx="423320" cy="1661159"/>
            <a:chOff x="3863234" y="4382913"/>
            <a:chExt cx="1202425" cy="1144394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5FDB3E7B-2157-4842-9E9E-73DE437B28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25A27C00-C803-4B21-A77E-7D5983355A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B8D6E0D-6A9D-466A-9A91-439CBD80D4A8}"/>
              </a:ext>
            </a:extLst>
          </p:cNvPr>
          <p:cNvCxnSpPr>
            <a:cxnSpLocks/>
          </p:cNvCxnSpPr>
          <p:nvPr/>
        </p:nvCxnSpPr>
        <p:spPr>
          <a:xfrm>
            <a:off x="5564217" y="3973782"/>
            <a:ext cx="777659" cy="0"/>
          </a:xfrm>
          <a:prstGeom prst="straightConnector1">
            <a:avLst/>
          </a:prstGeom>
          <a:ln w="508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F94A383-09A8-4898-924A-CEDDCC36EDD2}"/>
              </a:ext>
            </a:extLst>
          </p:cNvPr>
          <p:cNvCxnSpPr>
            <a:cxnSpLocks/>
          </p:cNvCxnSpPr>
          <p:nvPr/>
        </p:nvCxnSpPr>
        <p:spPr>
          <a:xfrm>
            <a:off x="5564217" y="1876048"/>
            <a:ext cx="777659" cy="0"/>
          </a:xfrm>
          <a:prstGeom prst="straightConnector1">
            <a:avLst/>
          </a:prstGeom>
          <a:ln w="508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58750DAB-344D-4D4A-A75A-1CC8F929B09C}"/>
              </a:ext>
            </a:extLst>
          </p:cNvPr>
          <p:cNvCxnSpPr>
            <a:cxnSpLocks/>
          </p:cNvCxnSpPr>
          <p:nvPr/>
        </p:nvCxnSpPr>
        <p:spPr>
          <a:xfrm>
            <a:off x="5567194" y="6124665"/>
            <a:ext cx="777659" cy="0"/>
          </a:xfrm>
          <a:prstGeom prst="straightConnector1">
            <a:avLst/>
          </a:prstGeom>
          <a:ln w="508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92C179DA-AE6B-4EAA-991B-2B528B232486}"/>
              </a:ext>
            </a:extLst>
          </p:cNvPr>
          <p:cNvSpPr/>
          <p:nvPr/>
        </p:nvSpPr>
        <p:spPr>
          <a:xfrm>
            <a:off x="5598559" y="1601453"/>
            <a:ext cx="65274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0F3A455-65B2-4DA2-8DA7-90D115E402E9}"/>
              </a:ext>
            </a:extLst>
          </p:cNvPr>
          <p:cNvSpPr/>
          <p:nvPr/>
        </p:nvSpPr>
        <p:spPr>
          <a:xfrm>
            <a:off x="5721835" y="3688865"/>
            <a:ext cx="46038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4BE47C0-8C49-4296-A75F-A6F9F8BA8AC0}"/>
              </a:ext>
            </a:extLst>
          </p:cNvPr>
          <p:cNvSpPr/>
          <p:nvPr/>
        </p:nvSpPr>
        <p:spPr>
          <a:xfrm>
            <a:off x="5653233" y="5850070"/>
            <a:ext cx="62068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Control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570F366-D62A-4F86-BE23-37B6DC9DCAAA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600" b="1" dirty="0">
                <a:solidFill>
                  <a:schemeClr val="tx1"/>
                </a:solidFill>
              </a:rPr>
              <a:t>Decode unit: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In essence, a piece of logic that is presented with a sequence of bits that have been fetched from memory.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In an abstract way, you can think of it as a lookup table.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Prepares the execution of an instruction by looking up the relevant binary code in a table so the CPU knows what to do.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Commands available in the decode unit will be specific to the instruction-set architecture of the processor.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BCB7E4-5075-46E9-BCE1-AAF72C77399B}"/>
              </a:ext>
            </a:extLst>
          </p:cNvPr>
          <p:cNvSpPr/>
          <p:nvPr/>
        </p:nvSpPr>
        <p:spPr>
          <a:xfrm>
            <a:off x="6355872" y="1076892"/>
            <a:ext cx="2005703" cy="56322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bg1">
                    <a:lumMod val="50000"/>
                  </a:schemeClr>
                </a:solidFill>
              </a:rPr>
              <a:t>Main memory (RAM)</a:t>
            </a:r>
          </a:p>
        </p:txBody>
      </p:sp>
      <p:graphicFrame>
        <p:nvGraphicFramePr>
          <p:cNvPr id="6" name="Table 32">
            <a:extLst>
              <a:ext uri="{FF2B5EF4-FFF2-40B4-BE49-F238E27FC236}">
                <a16:creationId xmlns:a16="http://schemas.microsoft.com/office/drawing/2014/main" id="{131EA568-BEED-4C3C-A756-626576097FCD}"/>
              </a:ext>
            </a:extLst>
          </p:cNvPr>
          <p:cNvGraphicFramePr>
            <a:graphicFrameLocks noGrp="1"/>
          </p:cNvGraphicFramePr>
          <p:nvPr/>
        </p:nvGraphicFramePr>
        <p:xfrm>
          <a:off x="6458233" y="1427933"/>
          <a:ext cx="1823192" cy="508116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70746">
                  <a:extLst>
                    <a:ext uri="{9D8B030D-6E8A-4147-A177-3AD203B41FA5}">
                      <a16:colId xmlns:a16="http://schemas.microsoft.com/office/drawing/2014/main" val="3614015831"/>
                    </a:ext>
                  </a:extLst>
                </a:gridCol>
                <a:gridCol w="952446">
                  <a:extLst>
                    <a:ext uri="{9D8B030D-6E8A-4147-A177-3AD203B41FA5}">
                      <a16:colId xmlns:a16="http://schemas.microsoft.com/office/drawing/2014/main" val="3794086153"/>
                    </a:ext>
                  </a:extLst>
                </a:gridCol>
              </a:tblGrid>
              <a:tr h="187507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Address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Data</a:t>
                      </a:r>
                    </a:p>
                  </a:txBody>
                  <a:tcPr marL="36000" marR="36000"/>
                </a:tc>
                <a:extLst>
                  <a:ext uri="{0D108BD9-81ED-4DB2-BD59-A6C34878D82A}">
                    <a16:rowId xmlns:a16="http://schemas.microsoft.com/office/drawing/2014/main" val="1704211108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0101 0101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7417878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0001 0110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752188674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0011 0111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843260329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1001 0010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402726722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0100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887340781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0101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0011 0000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380887073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0000 0001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932443288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0111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105824555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1000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73624416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1001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403576455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311386007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1011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812985182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1100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71990943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1101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578198533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43496377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1111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311878757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06CB8B17-2D92-4F98-A0BC-3EC53E8B635B}"/>
              </a:ext>
            </a:extLst>
          </p:cNvPr>
          <p:cNvSpPr/>
          <p:nvPr/>
        </p:nvSpPr>
        <p:spPr>
          <a:xfrm>
            <a:off x="4274133" y="4593357"/>
            <a:ext cx="828000" cy="828792"/>
          </a:xfrm>
          <a:prstGeom prst="rect">
            <a:avLst/>
          </a:prstGeom>
          <a:solidFill>
            <a:srgbClr val="D9D9D9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E248AA1-36B9-4BB0-BE2D-DB4D5F13992D}"/>
              </a:ext>
            </a:extLst>
          </p:cNvPr>
          <p:cNvGrpSpPr/>
          <p:nvPr/>
        </p:nvGrpSpPr>
        <p:grpSpPr>
          <a:xfrm>
            <a:off x="4292939" y="4609663"/>
            <a:ext cx="781105" cy="777131"/>
            <a:chOff x="4364100" y="4688521"/>
            <a:chExt cx="641729" cy="63846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F629AE3-D7AD-42B8-BB13-47BF4F3A6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64100" y="4688521"/>
              <a:ext cx="641729" cy="6384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82C57C4-9AC1-41B5-A364-78DDF76E3A80}"/>
                </a:ext>
              </a:extLst>
            </p:cNvPr>
            <p:cNvSpPr/>
            <p:nvPr/>
          </p:nvSpPr>
          <p:spPr>
            <a:xfrm>
              <a:off x="4641057" y="4957763"/>
              <a:ext cx="113004" cy="9763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9A32FD2-2924-4E8F-A590-3EDE259793B6}"/>
              </a:ext>
            </a:extLst>
          </p:cNvPr>
          <p:cNvSpPr txBox="1"/>
          <p:nvPr/>
        </p:nvSpPr>
        <p:spPr>
          <a:xfrm>
            <a:off x="4450195" y="4910590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/>
              <a:t>Clock</a:t>
            </a:r>
            <a:endParaRPr lang="en-GB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91E9BD-CE0F-40A7-9610-035383423164}"/>
              </a:ext>
            </a:extLst>
          </p:cNvPr>
          <p:cNvSpPr/>
          <p:nvPr/>
        </p:nvSpPr>
        <p:spPr>
          <a:xfrm>
            <a:off x="2494433" y="5705750"/>
            <a:ext cx="1308722" cy="369452"/>
          </a:xfrm>
          <a:prstGeom prst="rect">
            <a:avLst/>
          </a:prstGeom>
          <a:solidFill>
            <a:srgbClr val="D9D9D9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Status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1B9735-80D0-4949-8CD7-5439B2395A68}"/>
              </a:ext>
            </a:extLst>
          </p:cNvPr>
          <p:cNvSpPr/>
          <p:nvPr/>
        </p:nvSpPr>
        <p:spPr>
          <a:xfrm>
            <a:off x="2494433" y="6160869"/>
            <a:ext cx="1308722" cy="369452"/>
          </a:xfrm>
          <a:prstGeom prst="rect">
            <a:avLst/>
          </a:prstGeom>
          <a:solidFill>
            <a:srgbClr val="D9D9D9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Interrupt register</a:t>
            </a:r>
          </a:p>
          <a:p>
            <a:pPr algn="ctr"/>
            <a:endParaRPr lang="en-GB" sz="11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BED387-F9F6-474C-BDF4-C08C3238E184}"/>
              </a:ext>
            </a:extLst>
          </p:cNvPr>
          <p:cNvSpPr/>
          <p:nvPr/>
        </p:nvSpPr>
        <p:spPr>
          <a:xfrm>
            <a:off x="329506" y="5279014"/>
            <a:ext cx="2010421" cy="1241897"/>
          </a:xfrm>
          <a:prstGeom prst="rect">
            <a:avLst/>
          </a:prstGeom>
          <a:solidFill>
            <a:srgbClr val="D9D9D9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Cache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7424AB8-A287-4F56-B21B-80ADFA77643F}"/>
              </a:ext>
            </a:extLst>
          </p:cNvPr>
          <p:cNvCxnSpPr>
            <a:cxnSpLocks/>
          </p:cNvCxnSpPr>
          <p:nvPr/>
        </p:nvCxnSpPr>
        <p:spPr>
          <a:xfrm flipV="1">
            <a:off x="4688407" y="5424375"/>
            <a:ext cx="0" cy="271801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A7A77262-8A6E-4CF5-8000-EC5D4F0809D3}"/>
              </a:ext>
            </a:extLst>
          </p:cNvPr>
          <p:cNvCxnSpPr>
            <a:cxnSpLocks/>
          </p:cNvCxnSpPr>
          <p:nvPr/>
        </p:nvCxnSpPr>
        <p:spPr>
          <a:xfrm>
            <a:off x="3804383" y="6345595"/>
            <a:ext cx="45374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50BB125-28FA-441C-9994-D2EB911CA7EA}"/>
              </a:ext>
            </a:extLst>
          </p:cNvPr>
          <p:cNvSpPr/>
          <p:nvPr/>
        </p:nvSpPr>
        <p:spPr>
          <a:xfrm>
            <a:off x="176565" y="523174"/>
            <a:ext cx="377128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F2652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Internal structure of the CPU</a:t>
            </a:r>
          </a:p>
        </p:txBody>
      </p:sp>
      <p:graphicFrame>
        <p:nvGraphicFramePr>
          <p:cNvPr id="7" name="Table 32">
            <a:extLst>
              <a:ext uri="{FF2B5EF4-FFF2-40B4-BE49-F238E27FC236}">
                <a16:creationId xmlns:a16="http://schemas.microsoft.com/office/drawing/2014/main" id="{99C4DCF4-2A9F-4E9B-B2AE-1ED6A8E68B43}"/>
              </a:ext>
            </a:extLst>
          </p:cNvPr>
          <p:cNvGraphicFramePr>
            <a:graphicFrameLocks noGrp="1"/>
          </p:cNvGraphicFramePr>
          <p:nvPr/>
        </p:nvGraphicFramePr>
        <p:xfrm>
          <a:off x="321886" y="2384887"/>
          <a:ext cx="2091363" cy="231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2450">
                  <a:extLst>
                    <a:ext uri="{9D8B030D-6E8A-4147-A177-3AD203B41FA5}">
                      <a16:colId xmlns:a16="http://schemas.microsoft.com/office/drawing/2014/main" val="3614015831"/>
                    </a:ext>
                  </a:extLst>
                </a:gridCol>
                <a:gridCol w="958913">
                  <a:extLst>
                    <a:ext uri="{9D8B030D-6E8A-4147-A177-3AD203B41FA5}">
                      <a16:colId xmlns:a16="http://schemas.microsoft.com/office/drawing/2014/main" val="3794086153"/>
                    </a:ext>
                  </a:extLst>
                </a:gridCol>
              </a:tblGrid>
              <a:tr h="144131">
                <a:tc gridSpan="2">
                  <a:txBody>
                    <a:bodyPr/>
                    <a:lstStyle/>
                    <a:p>
                      <a:pPr algn="ctr"/>
                      <a:r>
                        <a:rPr lang="en-GB" sz="1000" b="1" dirty="0"/>
                        <a:t>DECODE UNIT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b="0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211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b="1" dirty="0"/>
                        <a:t>OPCODE  OPERAND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1" dirty="0"/>
                        <a:t>INSTRUCTION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78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0000        0000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end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188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0001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add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260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0010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subtract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267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0011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store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340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0101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load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87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0110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branch always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443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0111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branch if ACC=0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824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1000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branch if ACC&gt;=0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244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1001        0001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input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183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1001        0010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764556"/>
                  </a:ext>
                </a:extLst>
              </a:tr>
            </a:tbl>
          </a:graphicData>
        </a:graphic>
      </p:graphicFrame>
      <p:sp>
        <p:nvSpPr>
          <p:cNvPr id="75" name="Rectangle 74">
            <a:extLst>
              <a:ext uri="{FF2B5EF4-FFF2-40B4-BE49-F238E27FC236}">
                <a16:creationId xmlns:a16="http://schemas.microsoft.com/office/drawing/2014/main" id="{2A82AC14-C17B-45B7-B3F5-7D242D458ECE}"/>
              </a:ext>
            </a:extLst>
          </p:cNvPr>
          <p:cNvSpPr/>
          <p:nvPr/>
        </p:nvSpPr>
        <p:spPr>
          <a:xfrm>
            <a:off x="4258597" y="5699247"/>
            <a:ext cx="1312070" cy="828792"/>
          </a:xfrm>
          <a:prstGeom prst="rect">
            <a:avLst/>
          </a:prstGeom>
          <a:solidFill>
            <a:srgbClr val="D9D9D9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Control</a:t>
            </a:r>
          </a:p>
          <a:p>
            <a:pPr algn="ctr"/>
            <a:r>
              <a:rPr lang="en-GB" sz="1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unit</a:t>
            </a:r>
          </a:p>
          <a:p>
            <a:pPr algn="ctr"/>
            <a:endParaRPr lang="en-GB" sz="11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8E481BD-62C0-4A4C-A934-BD0B06552964}"/>
              </a:ext>
            </a:extLst>
          </p:cNvPr>
          <p:cNvCxnSpPr>
            <a:cxnSpLocks/>
          </p:cNvCxnSpPr>
          <p:nvPr/>
        </p:nvCxnSpPr>
        <p:spPr>
          <a:xfrm>
            <a:off x="3804383" y="5878589"/>
            <a:ext cx="45374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0664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5B355E1-549A-4594-8FEA-A0CA781F2760}"/>
              </a:ext>
            </a:extLst>
          </p:cNvPr>
          <p:cNvSpPr/>
          <p:nvPr/>
        </p:nvSpPr>
        <p:spPr>
          <a:xfrm>
            <a:off x="144573" y="1076892"/>
            <a:ext cx="5425625" cy="563229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72000" tIns="1260000" rtlCol="0" anchor="t" anchorCtr="0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55D8CD-D8EF-4205-82AD-300AD2BB5329}"/>
              </a:ext>
            </a:extLst>
          </p:cNvPr>
          <p:cNvSpPr/>
          <p:nvPr/>
        </p:nvSpPr>
        <p:spPr>
          <a:xfrm>
            <a:off x="235668" y="1158753"/>
            <a:ext cx="5229018" cy="5464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Central processing unit (CPU)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49E10F79-511E-4EC4-AAE7-1E022E464105}"/>
              </a:ext>
            </a:extLst>
          </p:cNvPr>
          <p:cNvGrpSpPr/>
          <p:nvPr/>
        </p:nvGrpSpPr>
        <p:grpSpPr>
          <a:xfrm>
            <a:off x="1641577" y="2169083"/>
            <a:ext cx="3500410" cy="4333994"/>
            <a:chOff x="1773554" y="2169083"/>
            <a:chExt cx="3500410" cy="4333994"/>
          </a:xfrm>
        </p:grpSpPr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57888D9B-63CC-4AFF-8DBD-0809DA7704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1904" y="6503077"/>
              <a:ext cx="191165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77DA5366-36A4-475D-80F3-FCFA2BBF28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45226" y="6389225"/>
              <a:ext cx="183833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875504A7-D1EF-4CC0-B21B-97723B8703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4019" y="6281065"/>
              <a:ext cx="110954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E61048D-FA7A-450B-9057-1B71AF9CF5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2638" y="6178598"/>
              <a:ext cx="300926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1D04FA21-AA72-4833-9A58-FA3142351A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65188" y="6070440"/>
              <a:ext cx="218375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9DB82770-4BBA-4268-974D-D070F70CB5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47434" y="5956589"/>
              <a:ext cx="13612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A52308F8-4A31-4510-BAE3-99871709F0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3" y="5848429"/>
              <a:ext cx="5941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A6F29D5-82AB-4E5E-8D98-7818D5DEB4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0064" y="5542644"/>
              <a:ext cx="0" cy="738421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C47FA203-A773-425C-9E14-DDCB084AF9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0893" y="4701128"/>
              <a:ext cx="0" cy="21377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F5A2EFA0-5A33-49CE-80AF-085E74F169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4544" y="4914900"/>
              <a:ext cx="48068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CB6A3E1B-243B-4D67-9E51-A465C1F557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5226" y="4910139"/>
              <a:ext cx="0" cy="1479086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6D3CB495-CDE1-472D-971B-2637811B79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3964" y="4381492"/>
              <a:ext cx="0" cy="1317756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F7DB7E6F-644E-4468-A5ED-ACBF2F3CC9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153" y="2169083"/>
              <a:ext cx="0" cy="3679347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D98872B6-7248-41DB-A180-E0EF590867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7434" y="2230993"/>
              <a:ext cx="0" cy="3725597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62277DB8-B20F-48C4-80A9-CE0268CED7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5188" y="3054908"/>
              <a:ext cx="0" cy="301553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87C4F4E2-88CF-48DF-B66A-EB6A3F623C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2638" y="3966927"/>
              <a:ext cx="0" cy="2211671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3D1895AC-8354-4DF1-8C93-38A4515EB8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2" y="3971689"/>
              <a:ext cx="13612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F35D0887-9845-4D5E-A243-13BEC393B6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3" y="3054908"/>
              <a:ext cx="222685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BECAA9B0-DB0B-47DE-91A2-842DF82A9F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4" y="2173845"/>
              <a:ext cx="6631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A15AAD2E-4F60-4D04-828B-4DB4212A01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3554" y="2233374"/>
              <a:ext cx="247388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4D1D5CDF-1A51-486F-A79D-EDC4E208B261}"/>
              </a:ext>
            </a:extLst>
          </p:cNvPr>
          <p:cNvSpPr/>
          <p:nvPr/>
        </p:nvSpPr>
        <p:spPr>
          <a:xfrm>
            <a:off x="2491086" y="4708604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Current instruction register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44EA3CA-B2AE-4A07-A327-AC253DF3EC0C}"/>
              </a:ext>
            </a:extLst>
          </p:cNvPr>
          <p:cNvSpPr/>
          <p:nvPr/>
        </p:nvSpPr>
        <p:spPr>
          <a:xfrm>
            <a:off x="329506" y="1461652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Program counter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844966C-9D33-4FB4-91E9-FC5819D4BA3B}"/>
              </a:ext>
            </a:extLst>
          </p:cNvPr>
          <p:cNvSpPr/>
          <p:nvPr/>
        </p:nvSpPr>
        <p:spPr>
          <a:xfrm>
            <a:off x="2492502" y="2398380"/>
            <a:ext cx="1314000" cy="82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Accumulator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3360B80-E436-4445-AF6B-DCC7370F14F2}"/>
              </a:ext>
            </a:extLst>
          </p:cNvPr>
          <p:cNvSpPr/>
          <p:nvPr/>
        </p:nvSpPr>
        <p:spPr>
          <a:xfrm>
            <a:off x="2494433" y="3553492"/>
            <a:ext cx="1312069" cy="82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Arithmetic logic unit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0C88483-223A-43FF-B0CD-C28747578C03}"/>
              </a:ext>
            </a:extLst>
          </p:cNvPr>
          <p:cNvSpPr/>
          <p:nvPr/>
        </p:nvSpPr>
        <p:spPr>
          <a:xfrm>
            <a:off x="4258496" y="1461652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Memory address register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F22CAA4-0A4F-4F5B-ABD8-6EF614C8140D}"/>
              </a:ext>
            </a:extLst>
          </p:cNvPr>
          <p:cNvSpPr/>
          <p:nvPr/>
        </p:nvSpPr>
        <p:spPr>
          <a:xfrm>
            <a:off x="4258496" y="3554121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Memory data register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955642C-8431-4E2A-89CC-8357C1EF8B5E}"/>
              </a:ext>
            </a:extLst>
          </p:cNvPr>
          <p:cNvSpPr/>
          <p:nvPr/>
        </p:nvSpPr>
        <p:spPr>
          <a:xfrm>
            <a:off x="4258597" y="5699247"/>
            <a:ext cx="1312070" cy="8287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Control</a:t>
            </a:r>
          </a:p>
          <a:p>
            <a:pPr algn="ctr"/>
            <a:r>
              <a:rPr lang="en-GB" sz="1100" b="1" dirty="0">
                <a:solidFill>
                  <a:schemeClr val="tx1"/>
                </a:solidFill>
              </a:rPr>
              <a:t>unit</a:t>
            </a:r>
          </a:p>
          <a:p>
            <a:pPr algn="ctr"/>
            <a:endParaRPr lang="en-GB" sz="11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9899F61-F6B5-4D33-A478-3B9D48E4F16A}"/>
              </a:ext>
            </a:extLst>
          </p:cNvPr>
          <p:cNvCxnSpPr>
            <a:cxnSpLocks/>
          </p:cNvCxnSpPr>
          <p:nvPr/>
        </p:nvCxnSpPr>
        <p:spPr>
          <a:xfrm>
            <a:off x="1641576" y="1677928"/>
            <a:ext cx="2610570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4074AF43-D19A-4254-B032-01E6439ED7BA}"/>
              </a:ext>
            </a:extLst>
          </p:cNvPr>
          <p:cNvGrpSpPr/>
          <p:nvPr/>
        </p:nvGrpSpPr>
        <p:grpSpPr>
          <a:xfrm>
            <a:off x="1641576" y="1973102"/>
            <a:ext cx="305278" cy="418928"/>
            <a:chOff x="1641576" y="1973102"/>
            <a:chExt cx="305278" cy="418928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51A98C67-6EFD-482B-AD9D-6E06220D71A3}"/>
                </a:ext>
              </a:extLst>
            </p:cNvPr>
            <p:cNvCxnSpPr/>
            <p:nvPr/>
          </p:nvCxnSpPr>
          <p:spPr>
            <a:xfrm flipV="1">
              <a:off x="1932566" y="1980723"/>
              <a:ext cx="0" cy="411307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D44E5C96-B86A-44AF-95E3-C2EE30FE02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1576" y="1973102"/>
              <a:ext cx="305278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42E282C-6271-40B0-B009-A65033A4C886}"/>
              </a:ext>
            </a:extLst>
          </p:cNvPr>
          <p:cNvGrpSpPr/>
          <p:nvPr/>
        </p:nvGrpSpPr>
        <p:grpSpPr>
          <a:xfrm>
            <a:off x="2175453" y="1973102"/>
            <a:ext cx="2076693" cy="418928"/>
            <a:chOff x="2175453" y="1973102"/>
            <a:chExt cx="2076693" cy="418928"/>
          </a:xfrm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6706EBCA-A953-4750-B67F-9E2C340BA05F}"/>
                </a:ext>
              </a:extLst>
            </p:cNvPr>
            <p:cNvCxnSpPr/>
            <p:nvPr/>
          </p:nvCxnSpPr>
          <p:spPr>
            <a:xfrm flipV="1">
              <a:off x="2189740" y="1980723"/>
              <a:ext cx="0" cy="411307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50F0D26-AC86-451E-A7B8-329F2863D8DD}"/>
                </a:ext>
              </a:extLst>
            </p:cNvPr>
            <p:cNvCxnSpPr>
              <a:cxnSpLocks/>
            </p:cNvCxnSpPr>
            <p:nvPr/>
          </p:nvCxnSpPr>
          <p:spPr>
            <a:xfrm>
              <a:off x="2175453" y="1973102"/>
              <a:ext cx="2076693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AA287EB-E571-42D1-AEDC-912F0CE3949C}"/>
              </a:ext>
            </a:extLst>
          </p:cNvPr>
          <p:cNvCxnSpPr>
            <a:cxnSpLocks/>
            <a:stCxn id="51" idx="0"/>
          </p:cNvCxnSpPr>
          <p:nvPr/>
        </p:nvCxnSpPr>
        <p:spPr>
          <a:xfrm flipH="1" flipV="1">
            <a:off x="3142042" y="3232336"/>
            <a:ext cx="8426" cy="32115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D90980DA-0C3A-4731-89F6-89E7F99D5FC3}"/>
              </a:ext>
            </a:extLst>
          </p:cNvPr>
          <p:cNvGrpSpPr/>
          <p:nvPr/>
        </p:nvGrpSpPr>
        <p:grpSpPr>
          <a:xfrm>
            <a:off x="3806502" y="2770122"/>
            <a:ext cx="1127180" cy="780826"/>
            <a:chOff x="3806502" y="2770122"/>
            <a:chExt cx="1127180" cy="780826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3E1640E-C787-4FD8-935B-912FDC5A2C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0982" y="2770122"/>
              <a:ext cx="0" cy="780826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B13FE9B8-92F9-42F9-844F-021624B0D8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06502" y="2770122"/>
              <a:ext cx="1127180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024632E5-0DCF-4BCE-9306-692F2A1A4528}"/>
              </a:ext>
            </a:extLst>
          </p:cNvPr>
          <p:cNvGrpSpPr/>
          <p:nvPr/>
        </p:nvGrpSpPr>
        <p:grpSpPr>
          <a:xfrm>
            <a:off x="3810525" y="4382913"/>
            <a:ext cx="1123157" cy="741531"/>
            <a:chOff x="3863234" y="4382913"/>
            <a:chExt cx="1202425" cy="1144394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94BF27E-4F7B-48A0-BB1D-7924C13036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A7FECD1-4257-4FAF-BD1D-4D809BED52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AECE537-6ACB-44D0-A092-63AB541186E4}"/>
              </a:ext>
            </a:extLst>
          </p:cNvPr>
          <p:cNvGrpSpPr/>
          <p:nvPr/>
        </p:nvGrpSpPr>
        <p:grpSpPr>
          <a:xfrm rot="5400000">
            <a:off x="1448476" y="4082207"/>
            <a:ext cx="423320" cy="1661159"/>
            <a:chOff x="3863234" y="4382913"/>
            <a:chExt cx="1202425" cy="1144394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5FDB3E7B-2157-4842-9E9E-73DE437B28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25A27C00-C803-4B21-A77E-7D5983355A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B8D6E0D-6A9D-466A-9A91-439CBD80D4A8}"/>
              </a:ext>
            </a:extLst>
          </p:cNvPr>
          <p:cNvCxnSpPr>
            <a:cxnSpLocks/>
          </p:cNvCxnSpPr>
          <p:nvPr/>
        </p:nvCxnSpPr>
        <p:spPr>
          <a:xfrm>
            <a:off x="5564217" y="3973782"/>
            <a:ext cx="777659" cy="0"/>
          </a:xfrm>
          <a:prstGeom prst="straightConnector1">
            <a:avLst/>
          </a:prstGeom>
          <a:ln w="508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F94A383-09A8-4898-924A-CEDDCC36EDD2}"/>
              </a:ext>
            </a:extLst>
          </p:cNvPr>
          <p:cNvCxnSpPr>
            <a:cxnSpLocks/>
          </p:cNvCxnSpPr>
          <p:nvPr/>
        </p:nvCxnSpPr>
        <p:spPr>
          <a:xfrm>
            <a:off x="5564217" y="1876048"/>
            <a:ext cx="777659" cy="0"/>
          </a:xfrm>
          <a:prstGeom prst="straightConnector1">
            <a:avLst/>
          </a:prstGeom>
          <a:ln w="508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58750DAB-344D-4D4A-A75A-1CC8F929B09C}"/>
              </a:ext>
            </a:extLst>
          </p:cNvPr>
          <p:cNvCxnSpPr>
            <a:cxnSpLocks/>
          </p:cNvCxnSpPr>
          <p:nvPr/>
        </p:nvCxnSpPr>
        <p:spPr>
          <a:xfrm>
            <a:off x="5567194" y="6124665"/>
            <a:ext cx="777659" cy="0"/>
          </a:xfrm>
          <a:prstGeom prst="straightConnector1">
            <a:avLst/>
          </a:prstGeom>
          <a:ln w="508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92C179DA-AE6B-4EAA-991B-2B528B232486}"/>
              </a:ext>
            </a:extLst>
          </p:cNvPr>
          <p:cNvSpPr/>
          <p:nvPr/>
        </p:nvSpPr>
        <p:spPr>
          <a:xfrm>
            <a:off x="5598559" y="1601453"/>
            <a:ext cx="65274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0F3A455-65B2-4DA2-8DA7-90D115E402E9}"/>
              </a:ext>
            </a:extLst>
          </p:cNvPr>
          <p:cNvSpPr/>
          <p:nvPr/>
        </p:nvSpPr>
        <p:spPr>
          <a:xfrm>
            <a:off x="5721835" y="3688865"/>
            <a:ext cx="46038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4BE47C0-8C49-4296-A75F-A6F9F8BA8AC0}"/>
              </a:ext>
            </a:extLst>
          </p:cNvPr>
          <p:cNvSpPr/>
          <p:nvPr/>
        </p:nvSpPr>
        <p:spPr>
          <a:xfrm>
            <a:off x="5653233" y="5850070"/>
            <a:ext cx="62068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Control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570F366-D62A-4F86-BE23-37B6DC9DCAAA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600" b="1" dirty="0">
                <a:solidFill>
                  <a:schemeClr val="tx1"/>
                </a:solidFill>
              </a:rPr>
              <a:t>Status register: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Contains information about the state of the processor.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BCB7E4-5075-46E9-BCE1-AAF72C77399B}"/>
              </a:ext>
            </a:extLst>
          </p:cNvPr>
          <p:cNvSpPr/>
          <p:nvPr/>
        </p:nvSpPr>
        <p:spPr>
          <a:xfrm>
            <a:off x="6355872" y="1076892"/>
            <a:ext cx="2005703" cy="56322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bg1">
                    <a:lumMod val="50000"/>
                  </a:schemeClr>
                </a:solidFill>
              </a:rPr>
              <a:t>Main memory (RAM)</a:t>
            </a:r>
          </a:p>
        </p:txBody>
      </p:sp>
      <p:graphicFrame>
        <p:nvGraphicFramePr>
          <p:cNvPr id="6" name="Table 32">
            <a:extLst>
              <a:ext uri="{FF2B5EF4-FFF2-40B4-BE49-F238E27FC236}">
                <a16:creationId xmlns:a16="http://schemas.microsoft.com/office/drawing/2014/main" id="{131EA568-BEED-4C3C-A756-626576097FCD}"/>
              </a:ext>
            </a:extLst>
          </p:cNvPr>
          <p:cNvGraphicFramePr>
            <a:graphicFrameLocks noGrp="1"/>
          </p:cNvGraphicFramePr>
          <p:nvPr/>
        </p:nvGraphicFramePr>
        <p:xfrm>
          <a:off x="6458233" y="1427933"/>
          <a:ext cx="1823192" cy="508116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70746">
                  <a:extLst>
                    <a:ext uri="{9D8B030D-6E8A-4147-A177-3AD203B41FA5}">
                      <a16:colId xmlns:a16="http://schemas.microsoft.com/office/drawing/2014/main" val="3614015831"/>
                    </a:ext>
                  </a:extLst>
                </a:gridCol>
                <a:gridCol w="952446">
                  <a:extLst>
                    <a:ext uri="{9D8B030D-6E8A-4147-A177-3AD203B41FA5}">
                      <a16:colId xmlns:a16="http://schemas.microsoft.com/office/drawing/2014/main" val="3794086153"/>
                    </a:ext>
                  </a:extLst>
                </a:gridCol>
              </a:tblGrid>
              <a:tr h="187507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Address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Data</a:t>
                      </a:r>
                    </a:p>
                  </a:txBody>
                  <a:tcPr marL="36000" marR="36000"/>
                </a:tc>
                <a:extLst>
                  <a:ext uri="{0D108BD9-81ED-4DB2-BD59-A6C34878D82A}">
                    <a16:rowId xmlns:a16="http://schemas.microsoft.com/office/drawing/2014/main" val="1704211108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0101 0101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7417878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0001 0110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752188674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0011 0111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843260329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1001 0010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402726722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0100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887340781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0101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0011 0000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380887073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0000 0001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932443288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0111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105824555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1000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73624416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1001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403576455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311386007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1011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812985182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1100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71990943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1101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578198533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43496377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1111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311878757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06CB8B17-2D92-4F98-A0BC-3EC53E8B635B}"/>
              </a:ext>
            </a:extLst>
          </p:cNvPr>
          <p:cNvSpPr/>
          <p:nvPr/>
        </p:nvSpPr>
        <p:spPr>
          <a:xfrm>
            <a:off x="4274133" y="4593357"/>
            <a:ext cx="828000" cy="828792"/>
          </a:xfrm>
          <a:prstGeom prst="rect">
            <a:avLst/>
          </a:prstGeom>
          <a:solidFill>
            <a:srgbClr val="D9D9D9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E248AA1-36B9-4BB0-BE2D-DB4D5F13992D}"/>
              </a:ext>
            </a:extLst>
          </p:cNvPr>
          <p:cNvGrpSpPr/>
          <p:nvPr/>
        </p:nvGrpSpPr>
        <p:grpSpPr>
          <a:xfrm>
            <a:off x="4292939" y="4609663"/>
            <a:ext cx="781105" cy="777131"/>
            <a:chOff x="4364100" y="4688521"/>
            <a:chExt cx="641729" cy="63846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F629AE3-D7AD-42B8-BB13-47BF4F3A6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64100" y="4688521"/>
              <a:ext cx="641729" cy="6384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82C57C4-9AC1-41B5-A364-78DDF76E3A80}"/>
                </a:ext>
              </a:extLst>
            </p:cNvPr>
            <p:cNvSpPr/>
            <p:nvPr/>
          </p:nvSpPr>
          <p:spPr>
            <a:xfrm>
              <a:off x="4641057" y="4957763"/>
              <a:ext cx="113004" cy="9763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9A32FD2-2924-4E8F-A590-3EDE259793B6}"/>
              </a:ext>
            </a:extLst>
          </p:cNvPr>
          <p:cNvSpPr txBox="1"/>
          <p:nvPr/>
        </p:nvSpPr>
        <p:spPr>
          <a:xfrm>
            <a:off x="4450195" y="4910590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/>
              <a:t>Clock</a:t>
            </a:r>
            <a:endParaRPr lang="en-GB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91E9BD-CE0F-40A7-9610-035383423164}"/>
              </a:ext>
            </a:extLst>
          </p:cNvPr>
          <p:cNvSpPr/>
          <p:nvPr/>
        </p:nvSpPr>
        <p:spPr>
          <a:xfrm>
            <a:off x="2494433" y="5705750"/>
            <a:ext cx="1308722" cy="3694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Status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1B9735-80D0-4949-8CD7-5439B2395A68}"/>
              </a:ext>
            </a:extLst>
          </p:cNvPr>
          <p:cNvSpPr/>
          <p:nvPr/>
        </p:nvSpPr>
        <p:spPr>
          <a:xfrm>
            <a:off x="2494433" y="6160869"/>
            <a:ext cx="1308722" cy="369452"/>
          </a:xfrm>
          <a:prstGeom prst="rect">
            <a:avLst/>
          </a:prstGeom>
          <a:solidFill>
            <a:srgbClr val="D9D9D9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Interrupt register</a:t>
            </a:r>
          </a:p>
          <a:p>
            <a:pPr algn="ctr"/>
            <a:endParaRPr lang="en-GB" sz="11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BED387-F9F6-474C-BDF4-C08C3238E184}"/>
              </a:ext>
            </a:extLst>
          </p:cNvPr>
          <p:cNvSpPr/>
          <p:nvPr/>
        </p:nvSpPr>
        <p:spPr>
          <a:xfrm>
            <a:off x="329506" y="5279014"/>
            <a:ext cx="2010421" cy="1241897"/>
          </a:xfrm>
          <a:prstGeom prst="rect">
            <a:avLst/>
          </a:prstGeom>
          <a:solidFill>
            <a:srgbClr val="D9D9D9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Cache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7424AB8-A287-4F56-B21B-80ADFA77643F}"/>
              </a:ext>
            </a:extLst>
          </p:cNvPr>
          <p:cNvCxnSpPr>
            <a:cxnSpLocks/>
          </p:cNvCxnSpPr>
          <p:nvPr/>
        </p:nvCxnSpPr>
        <p:spPr>
          <a:xfrm flipV="1">
            <a:off x="4688407" y="5424375"/>
            <a:ext cx="0" cy="271801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60C0E1E-2E60-4A3A-AE94-5B8771FFB031}"/>
              </a:ext>
            </a:extLst>
          </p:cNvPr>
          <p:cNvCxnSpPr>
            <a:cxnSpLocks/>
          </p:cNvCxnSpPr>
          <p:nvPr/>
        </p:nvCxnSpPr>
        <p:spPr>
          <a:xfrm>
            <a:off x="3804383" y="5878589"/>
            <a:ext cx="453747" cy="0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A7A77262-8A6E-4CF5-8000-EC5D4F0809D3}"/>
              </a:ext>
            </a:extLst>
          </p:cNvPr>
          <p:cNvCxnSpPr>
            <a:cxnSpLocks/>
          </p:cNvCxnSpPr>
          <p:nvPr/>
        </p:nvCxnSpPr>
        <p:spPr>
          <a:xfrm>
            <a:off x="3804383" y="6345595"/>
            <a:ext cx="45374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50BB125-28FA-441C-9994-D2EB911CA7EA}"/>
              </a:ext>
            </a:extLst>
          </p:cNvPr>
          <p:cNvSpPr/>
          <p:nvPr/>
        </p:nvSpPr>
        <p:spPr>
          <a:xfrm>
            <a:off x="176565" y="523174"/>
            <a:ext cx="377128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F2652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Internal structure of the CPU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DCE57CD-091C-D550-AF81-1A960CA9F95D}"/>
              </a:ext>
            </a:extLst>
          </p:cNvPr>
          <p:cNvGrpSpPr/>
          <p:nvPr/>
        </p:nvGrpSpPr>
        <p:grpSpPr>
          <a:xfrm>
            <a:off x="319130" y="2400565"/>
            <a:ext cx="2108069" cy="2303453"/>
            <a:chOff x="319130" y="2400565"/>
            <a:chExt cx="2108069" cy="2303453"/>
          </a:xfrm>
          <a:solidFill>
            <a:srgbClr val="D9D9D9"/>
          </a:solidFill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D2E177E-EA7B-2A92-E935-7790E9817667}"/>
                </a:ext>
              </a:extLst>
            </p:cNvPr>
            <p:cNvSpPr/>
            <p:nvPr/>
          </p:nvSpPr>
          <p:spPr>
            <a:xfrm>
              <a:off x="319130" y="2400565"/>
              <a:ext cx="2108069" cy="2303453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sz="1100" b="1" dirty="0">
                  <a:solidFill>
                    <a:schemeClr val="bg1">
                      <a:lumMod val="50000"/>
                    </a:schemeClr>
                  </a:solidFill>
                </a:rPr>
                <a:t>Decode unit</a:t>
              </a:r>
            </a:p>
            <a:p>
              <a:pPr algn="ctr"/>
              <a:endParaRPr lang="en-GB" sz="1100" b="1" dirty="0">
                <a:solidFill>
                  <a:schemeClr val="tx1"/>
                </a:solidFill>
              </a:endParaRPr>
            </a:p>
          </p:txBody>
        </p:sp>
        <p:pic>
          <p:nvPicPr>
            <p:cNvPr id="79" name="Graphic 78" descr="Gears with solid fill">
              <a:extLst>
                <a:ext uri="{FF2B5EF4-FFF2-40B4-BE49-F238E27FC236}">
                  <a16:creationId xmlns:a16="http://schemas.microsoft.com/office/drawing/2014/main" id="{FF6735F9-0120-1824-3C3B-7C549E4FB5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35490" y="2702448"/>
              <a:ext cx="1639963" cy="16399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94670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5B355E1-549A-4594-8FEA-A0CA781F2760}"/>
              </a:ext>
            </a:extLst>
          </p:cNvPr>
          <p:cNvSpPr/>
          <p:nvPr/>
        </p:nvSpPr>
        <p:spPr>
          <a:xfrm>
            <a:off x="144573" y="1076892"/>
            <a:ext cx="5425625" cy="563229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72000" tIns="1260000" rtlCol="0" anchor="t" anchorCtr="0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55D8CD-D8EF-4205-82AD-300AD2BB5329}"/>
              </a:ext>
            </a:extLst>
          </p:cNvPr>
          <p:cNvSpPr/>
          <p:nvPr/>
        </p:nvSpPr>
        <p:spPr>
          <a:xfrm>
            <a:off x="235668" y="1158753"/>
            <a:ext cx="5229018" cy="5464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Central processing unit (CPU)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49E10F79-511E-4EC4-AAE7-1E022E464105}"/>
              </a:ext>
            </a:extLst>
          </p:cNvPr>
          <p:cNvGrpSpPr/>
          <p:nvPr/>
        </p:nvGrpSpPr>
        <p:grpSpPr>
          <a:xfrm>
            <a:off x="1641577" y="2169083"/>
            <a:ext cx="3500410" cy="4333994"/>
            <a:chOff x="1773554" y="2169083"/>
            <a:chExt cx="3500410" cy="4333994"/>
          </a:xfrm>
        </p:grpSpPr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57888D9B-63CC-4AFF-8DBD-0809DA7704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1904" y="6503077"/>
              <a:ext cx="191165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77DA5366-36A4-475D-80F3-FCFA2BBF28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45226" y="6389225"/>
              <a:ext cx="183833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875504A7-D1EF-4CC0-B21B-97723B8703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4019" y="6281065"/>
              <a:ext cx="110954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E61048D-FA7A-450B-9057-1B71AF9CF5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2638" y="6178598"/>
              <a:ext cx="300926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1D04FA21-AA72-4833-9A58-FA3142351A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65188" y="6070440"/>
              <a:ext cx="218375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9DB82770-4BBA-4268-974D-D070F70CB5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47434" y="5956589"/>
              <a:ext cx="13612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A52308F8-4A31-4510-BAE3-99871709F0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3" y="5848429"/>
              <a:ext cx="5941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A6F29D5-82AB-4E5E-8D98-7818D5DEB4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0064" y="5542644"/>
              <a:ext cx="0" cy="738421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C47FA203-A773-425C-9E14-DDCB084AF9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0893" y="4701128"/>
              <a:ext cx="0" cy="21377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F5A2EFA0-5A33-49CE-80AF-085E74F169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4544" y="4914900"/>
              <a:ext cx="48068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CB6A3E1B-243B-4D67-9E51-A465C1F557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5226" y="4910139"/>
              <a:ext cx="0" cy="1479086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6D3CB495-CDE1-472D-971B-2637811B79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3964" y="4381492"/>
              <a:ext cx="0" cy="1317756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F7DB7E6F-644E-4468-A5ED-ACBF2F3CC9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153" y="2169083"/>
              <a:ext cx="0" cy="3679347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D98872B6-7248-41DB-A180-E0EF590867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7434" y="2230993"/>
              <a:ext cx="0" cy="3725597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62277DB8-B20F-48C4-80A9-CE0268CED7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5188" y="3054908"/>
              <a:ext cx="0" cy="301553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87C4F4E2-88CF-48DF-B66A-EB6A3F623C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2638" y="3966927"/>
              <a:ext cx="0" cy="2211671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3D1895AC-8354-4DF1-8C93-38A4515EB8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2" y="3971689"/>
              <a:ext cx="13612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F35D0887-9845-4D5E-A243-13BEC393B6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3" y="3054908"/>
              <a:ext cx="222685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BECAA9B0-DB0B-47DE-91A2-842DF82A9F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4" y="2173845"/>
              <a:ext cx="6631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A15AAD2E-4F60-4D04-828B-4DB4212A01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3554" y="2233374"/>
              <a:ext cx="247388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4D1D5CDF-1A51-486F-A79D-EDC4E208B261}"/>
              </a:ext>
            </a:extLst>
          </p:cNvPr>
          <p:cNvSpPr/>
          <p:nvPr/>
        </p:nvSpPr>
        <p:spPr>
          <a:xfrm>
            <a:off x="2491086" y="4708604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Current instruction register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44EA3CA-B2AE-4A07-A327-AC253DF3EC0C}"/>
              </a:ext>
            </a:extLst>
          </p:cNvPr>
          <p:cNvSpPr/>
          <p:nvPr/>
        </p:nvSpPr>
        <p:spPr>
          <a:xfrm>
            <a:off x="329506" y="1461652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Program counter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844966C-9D33-4FB4-91E9-FC5819D4BA3B}"/>
              </a:ext>
            </a:extLst>
          </p:cNvPr>
          <p:cNvSpPr/>
          <p:nvPr/>
        </p:nvSpPr>
        <p:spPr>
          <a:xfrm>
            <a:off x="2492502" y="2398380"/>
            <a:ext cx="1314000" cy="82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Accumulator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3360B80-E436-4445-AF6B-DCC7370F14F2}"/>
              </a:ext>
            </a:extLst>
          </p:cNvPr>
          <p:cNvSpPr/>
          <p:nvPr/>
        </p:nvSpPr>
        <p:spPr>
          <a:xfrm>
            <a:off x="2494433" y="3553492"/>
            <a:ext cx="1312069" cy="82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Arithmetic logic unit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0C88483-223A-43FF-B0CD-C28747578C03}"/>
              </a:ext>
            </a:extLst>
          </p:cNvPr>
          <p:cNvSpPr/>
          <p:nvPr/>
        </p:nvSpPr>
        <p:spPr>
          <a:xfrm>
            <a:off x="4258496" y="1461652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Memory address register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F22CAA4-0A4F-4F5B-ABD8-6EF614C8140D}"/>
              </a:ext>
            </a:extLst>
          </p:cNvPr>
          <p:cNvSpPr/>
          <p:nvPr/>
        </p:nvSpPr>
        <p:spPr>
          <a:xfrm>
            <a:off x="4258496" y="3554121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Memory data register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955642C-8431-4E2A-89CC-8357C1EF8B5E}"/>
              </a:ext>
            </a:extLst>
          </p:cNvPr>
          <p:cNvSpPr/>
          <p:nvPr/>
        </p:nvSpPr>
        <p:spPr>
          <a:xfrm>
            <a:off x="4258597" y="5699247"/>
            <a:ext cx="1312070" cy="8287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Control</a:t>
            </a:r>
          </a:p>
          <a:p>
            <a:pPr algn="ctr"/>
            <a:r>
              <a:rPr lang="en-GB" sz="1100" b="1" dirty="0">
                <a:solidFill>
                  <a:schemeClr val="tx1"/>
                </a:solidFill>
              </a:rPr>
              <a:t>unit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9899F61-F6B5-4D33-A478-3B9D48E4F16A}"/>
              </a:ext>
            </a:extLst>
          </p:cNvPr>
          <p:cNvCxnSpPr>
            <a:cxnSpLocks/>
          </p:cNvCxnSpPr>
          <p:nvPr/>
        </p:nvCxnSpPr>
        <p:spPr>
          <a:xfrm>
            <a:off x="1641576" y="1677928"/>
            <a:ext cx="2610570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4074AF43-D19A-4254-B032-01E6439ED7BA}"/>
              </a:ext>
            </a:extLst>
          </p:cNvPr>
          <p:cNvGrpSpPr/>
          <p:nvPr/>
        </p:nvGrpSpPr>
        <p:grpSpPr>
          <a:xfrm>
            <a:off x="1641576" y="1973102"/>
            <a:ext cx="305278" cy="418928"/>
            <a:chOff x="1641576" y="1973102"/>
            <a:chExt cx="305278" cy="418928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51A98C67-6EFD-482B-AD9D-6E06220D71A3}"/>
                </a:ext>
              </a:extLst>
            </p:cNvPr>
            <p:cNvCxnSpPr/>
            <p:nvPr/>
          </p:nvCxnSpPr>
          <p:spPr>
            <a:xfrm flipV="1">
              <a:off x="1932566" y="1980723"/>
              <a:ext cx="0" cy="411307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D44E5C96-B86A-44AF-95E3-C2EE30FE02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1576" y="1973102"/>
              <a:ext cx="305278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42E282C-6271-40B0-B009-A65033A4C886}"/>
              </a:ext>
            </a:extLst>
          </p:cNvPr>
          <p:cNvGrpSpPr/>
          <p:nvPr/>
        </p:nvGrpSpPr>
        <p:grpSpPr>
          <a:xfrm>
            <a:off x="2175453" y="1973102"/>
            <a:ext cx="2076693" cy="418928"/>
            <a:chOff x="2175453" y="1973102"/>
            <a:chExt cx="2076693" cy="418928"/>
          </a:xfrm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6706EBCA-A953-4750-B67F-9E2C340BA05F}"/>
                </a:ext>
              </a:extLst>
            </p:cNvPr>
            <p:cNvCxnSpPr/>
            <p:nvPr/>
          </p:nvCxnSpPr>
          <p:spPr>
            <a:xfrm flipV="1">
              <a:off x="2189740" y="1980723"/>
              <a:ext cx="0" cy="411307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50F0D26-AC86-451E-A7B8-329F2863D8DD}"/>
                </a:ext>
              </a:extLst>
            </p:cNvPr>
            <p:cNvCxnSpPr>
              <a:cxnSpLocks/>
            </p:cNvCxnSpPr>
            <p:nvPr/>
          </p:nvCxnSpPr>
          <p:spPr>
            <a:xfrm>
              <a:off x="2175453" y="1973102"/>
              <a:ext cx="2076693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AA287EB-E571-42D1-AEDC-912F0CE3949C}"/>
              </a:ext>
            </a:extLst>
          </p:cNvPr>
          <p:cNvCxnSpPr>
            <a:cxnSpLocks/>
            <a:stCxn id="51" idx="0"/>
          </p:cNvCxnSpPr>
          <p:nvPr/>
        </p:nvCxnSpPr>
        <p:spPr>
          <a:xfrm flipH="1" flipV="1">
            <a:off x="3142042" y="3232336"/>
            <a:ext cx="8426" cy="32115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D90980DA-0C3A-4731-89F6-89E7F99D5FC3}"/>
              </a:ext>
            </a:extLst>
          </p:cNvPr>
          <p:cNvGrpSpPr/>
          <p:nvPr/>
        </p:nvGrpSpPr>
        <p:grpSpPr>
          <a:xfrm>
            <a:off x="3806502" y="2770122"/>
            <a:ext cx="1127180" cy="780826"/>
            <a:chOff x="3806502" y="2770122"/>
            <a:chExt cx="1127180" cy="780826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3E1640E-C787-4FD8-935B-912FDC5A2C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0982" y="2770122"/>
              <a:ext cx="0" cy="780826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B13FE9B8-92F9-42F9-844F-021624B0D8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06502" y="2770122"/>
              <a:ext cx="1127180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024632E5-0DCF-4BCE-9306-692F2A1A4528}"/>
              </a:ext>
            </a:extLst>
          </p:cNvPr>
          <p:cNvGrpSpPr/>
          <p:nvPr/>
        </p:nvGrpSpPr>
        <p:grpSpPr>
          <a:xfrm>
            <a:off x="3810525" y="4382913"/>
            <a:ext cx="1123157" cy="741531"/>
            <a:chOff x="3863234" y="4382913"/>
            <a:chExt cx="1202425" cy="1144394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94BF27E-4F7B-48A0-BB1D-7924C13036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A7FECD1-4257-4FAF-BD1D-4D809BED52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AECE537-6ACB-44D0-A092-63AB541186E4}"/>
              </a:ext>
            </a:extLst>
          </p:cNvPr>
          <p:cNvGrpSpPr/>
          <p:nvPr/>
        </p:nvGrpSpPr>
        <p:grpSpPr>
          <a:xfrm rot="5400000">
            <a:off x="1448476" y="4082207"/>
            <a:ext cx="423320" cy="1661159"/>
            <a:chOff x="3863234" y="4382913"/>
            <a:chExt cx="1202425" cy="1144394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5FDB3E7B-2157-4842-9E9E-73DE437B28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25A27C00-C803-4B21-A77E-7D5983355A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B8D6E0D-6A9D-466A-9A91-439CBD80D4A8}"/>
              </a:ext>
            </a:extLst>
          </p:cNvPr>
          <p:cNvCxnSpPr>
            <a:cxnSpLocks/>
          </p:cNvCxnSpPr>
          <p:nvPr/>
        </p:nvCxnSpPr>
        <p:spPr>
          <a:xfrm>
            <a:off x="5564217" y="3973782"/>
            <a:ext cx="777659" cy="0"/>
          </a:xfrm>
          <a:prstGeom prst="straightConnector1">
            <a:avLst/>
          </a:prstGeom>
          <a:ln w="508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F94A383-09A8-4898-924A-CEDDCC36EDD2}"/>
              </a:ext>
            </a:extLst>
          </p:cNvPr>
          <p:cNvCxnSpPr>
            <a:cxnSpLocks/>
          </p:cNvCxnSpPr>
          <p:nvPr/>
        </p:nvCxnSpPr>
        <p:spPr>
          <a:xfrm>
            <a:off x="5564217" y="1876048"/>
            <a:ext cx="777659" cy="0"/>
          </a:xfrm>
          <a:prstGeom prst="straightConnector1">
            <a:avLst/>
          </a:prstGeom>
          <a:ln w="508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58750DAB-344D-4D4A-A75A-1CC8F929B09C}"/>
              </a:ext>
            </a:extLst>
          </p:cNvPr>
          <p:cNvCxnSpPr>
            <a:cxnSpLocks/>
          </p:cNvCxnSpPr>
          <p:nvPr/>
        </p:nvCxnSpPr>
        <p:spPr>
          <a:xfrm>
            <a:off x="5567194" y="6124665"/>
            <a:ext cx="777659" cy="0"/>
          </a:xfrm>
          <a:prstGeom prst="straightConnector1">
            <a:avLst/>
          </a:prstGeom>
          <a:ln w="508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92C179DA-AE6B-4EAA-991B-2B528B232486}"/>
              </a:ext>
            </a:extLst>
          </p:cNvPr>
          <p:cNvSpPr/>
          <p:nvPr/>
        </p:nvSpPr>
        <p:spPr>
          <a:xfrm>
            <a:off x="5598559" y="1601453"/>
            <a:ext cx="65274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0F3A455-65B2-4DA2-8DA7-90D115E402E9}"/>
              </a:ext>
            </a:extLst>
          </p:cNvPr>
          <p:cNvSpPr/>
          <p:nvPr/>
        </p:nvSpPr>
        <p:spPr>
          <a:xfrm>
            <a:off x="5721835" y="3688865"/>
            <a:ext cx="46038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4BE47C0-8C49-4296-A75F-A6F9F8BA8AC0}"/>
              </a:ext>
            </a:extLst>
          </p:cNvPr>
          <p:cNvSpPr/>
          <p:nvPr/>
        </p:nvSpPr>
        <p:spPr>
          <a:xfrm>
            <a:off x="5653233" y="5850070"/>
            <a:ext cx="62068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Control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570F366-D62A-4F86-BE23-37B6DC9DCAAA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600" b="1" dirty="0">
                <a:solidFill>
                  <a:schemeClr val="tx1"/>
                </a:solidFill>
              </a:rPr>
              <a:t>Clock: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Electronic unit that synchronises related components by generating pulses at a constant rate.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Clock speed is the frequency at which the internal clock generates pulses.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BCB7E4-5075-46E9-BCE1-AAF72C77399B}"/>
              </a:ext>
            </a:extLst>
          </p:cNvPr>
          <p:cNvSpPr/>
          <p:nvPr/>
        </p:nvSpPr>
        <p:spPr>
          <a:xfrm>
            <a:off x="6355872" y="1076892"/>
            <a:ext cx="2005703" cy="56322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bg1">
                    <a:lumMod val="50000"/>
                  </a:schemeClr>
                </a:solidFill>
              </a:rPr>
              <a:t>Main memory (RAM)</a:t>
            </a:r>
          </a:p>
        </p:txBody>
      </p:sp>
      <p:graphicFrame>
        <p:nvGraphicFramePr>
          <p:cNvPr id="6" name="Table 32">
            <a:extLst>
              <a:ext uri="{FF2B5EF4-FFF2-40B4-BE49-F238E27FC236}">
                <a16:creationId xmlns:a16="http://schemas.microsoft.com/office/drawing/2014/main" id="{131EA568-BEED-4C3C-A756-626576097FCD}"/>
              </a:ext>
            </a:extLst>
          </p:cNvPr>
          <p:cNvGraphicFramePr>
            <a:graphicFrameLocks noGrp="1"/>
          </p:cNvGraphicFramePr>
          <p:nvPr/>
        </p:nvGraphicFramePr>
        <p:xfrm>
          <a:off x="6458233" y="1427933"/>
          <a:ext cx="1823192" cy="508116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70746">
                  <a:extLst>
                    <a:ext uri="{9D8B030D-6E8A-4147-A177-3AD203B41FA5}">
                      <a16:colId xmlns:a16="http://schemas.microsoft.com/office/drawing/2014/main" val="3614015831"/>
                    </a:ext>
                  </a:extLst>
                </a:gridCol>
                <a:gridCol w="952446">
                  <a:extLst>
                    <a:ext uri="{9D8B030D-6E8A-4147-A177-3AD203B41FA5}">
                      <a16:colId xmlns:a16="http://schemas.microsoft.com/office/drawing/2014/main" val="3794086153"/>
                    </a:ext>
                  </a:extLst>
                </a:gridCol>
              </a:tblGrid>
              <a:tr h="187507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Address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Data</a:t>
                      </a:r>
                    </a:p>
                  </a:txBody>
                  <a:tcPr marL="36000" marR="36000"/>
                </a:tc>
                <a:extLst>
                  <a:ext uri="{0D108BD9-81ED-4DB2-BD59-A6C34878D82A}">
                    <a16:rowId xmlns:a16="http://schemas.microsoft.com/office/drawing/2014/main" val="1704211108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0101 0101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7417878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0001 0110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752188674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0011 0111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843260329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1001 0010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402726722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0100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887340781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0101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0011 0000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380887073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0000 0001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932443288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0111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105824555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1000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73624416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1001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403576455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311386007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1011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812985182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1100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71990943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1101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578198533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43496377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1111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311878757"/>
                  </a:ext>
                </a:extLst>
              </a:tr>
            </a:tbl>
          </a:graphicData>
        </a:graphic>
      </p:graphicFrame>
      <p:grpSp>
        <p:nvGrpSpPr>
          <p:cNvPr id="17" name="Group 16">
            <a:extLst>
              <a:ext uri="{FF2B5EF4-FFF2-40B4-BE49-F238E27FC236}">
                <a16:creationId xmlns:a16="http://schemas.microsoft.com/office/drawing/2014/main" id="{661B873C-E206-458D-8898-35F435B5B835}"/>
              </a:ext>
            </a:extLst>
          </p:cNvPr>
          <p:cNvGrpSpPr/>
          <p:nvPr/>
        </p:nvGrpSpPr>
        <p:grpSpPr>
          <a:xfrm>
            <a:off x="4274133" y="4593357"/>
            <a:ext cx="828000" cy="828792"/>
            <a:chOff x="4274133" y="4593357"/>
            <a:chExt cx="828000" cy="82879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6CB8B17-2D92-4F98-A0BC-3EC53E8B635B}"/>
                </a:ext>
              </a:extLst>
            </p:cNvPr>
            <p:cNvSpPr/>
            <p:nvPr/>
          </p:nvSpPr>
          <p:spPr>
            <a:xfrm>
              <a:off x="4274133" y="4593357"/>
              <a:ext cx="828000" cy="8287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GB" sz="1100" b="1" dirty="0">
                <a:solidFill>
                  <a:schemeClr val="tx1"/>
                </a:solidFill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E248AA1-36B9-4BB0-BE2D-DB4D5F13992D}"/>
                </a:ext>
              </a:extLst>
            </p:cNvPr>
            <p:cNvGrpSpPr/>
            <p:nvPr/>
          </p:nvGrpSpPr>
          <p:grpSpPr>
            <a:xfrm>
              <a:off x="4292939" y="4609663"/>
              <a:ext cx="781105" cy="777131"/>
              <a:chOff x="4364100" y="4688521"/>
              <a:chExt cx="641729" cy="63846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7F629AE3-D7AD-42B8-BB13-47BF4F3A6C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364100" y="4688521"/>
                <a:ext cx="641729" cy="638464"/>
              </a:xfrm>
              <a:prstGeom prst="rect">
                <a:avLst/>
              </a:prstGeom>
            </p:spPr>
          </p:pic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82C57C4-9AC1-41B5-A364-78DDF76E3A80}"/>
                  </a:ext>
                </a:extLst>
              </p:cNvPr>
              <p:cNvSpPr/>
              <p:nvPr/>
            </p:nvSpPr>
            <p:spPr>
              <a:xfrm>
                <a:off x="4641057" y="4957763"/>
                <a:ext cx="113004" cy="97630"/>
              </a:xfrm>
              <a:prstGeom prst="rect">
                <a:avLst/>
              </a:prstGeom>
              <a:solidFill>
                <a:srgbClr val="F4B18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9A32FD2-2924-4E8F-A590-3EDE259793B6}"/>
                </a:ext>
              </a:extLst>
            </p:cNvPr>
            <p:cNvSpPr txBox="1"/>
            <p:nvPr/>
          </p:nvSpPr>
          <p:spPr>
            <a:xfrm>
              <a:off x="4450195" y="4905828"/>
              <a:ext cx="49725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100" b="1" dirty="0"/>
                <a:t>Clock</a:t>
              </a:r>
              <a:endParaRPr lang="en-GB" b="1" dirty="0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BB91E9BD-CE0F-40A7-9610-035383423164}"/>
              </a:ext>
            </a:extLst>
          </p:cNvPr>
          <p:cNvSpPr/>
          <p:nvPr/>
        </p:nvSpPr>
        <p:spPr>
          <a:xfrm>
            <a:off x="2494433" y="5705750"/>
            <a:ext cx="1308722" cy="369452"/>
          </a:xfrm>
          <a:prstGeom prst="rect">
            <a:avLst/>
          </a:prstGeom>
          <a:solidFill>
            <a:srgbClr val="D9D9D9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Status register</a:t>
            </a:r>
          </a:p>
          <a:p>
            <a:pPr algn="ctr"/>
            <a:endParaRPr lang="en-GB" sz="11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1B9735-80D0-4949-8CD7-5439B2395A68}"/>
              </a:ext>
            </a:extLst>
          </p:cNvPr>
          <p:cNvSpPr/>
          <p:nvPr/>
        </p:nvSpPr>
        <p:spPr>
          <a:xfrm>
            <a:off x="2494433" y="6160869"/>
            <a:ext cx="1308722" cy="369452"/>
          </a:xfrm>
          <a:prstGeom prst="rect">
            <a:avLst/>
          </a:prstGeom>
          <a:solidFill>
            <a:srgbClr val="D9D9D9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Interrupt register</a:t>
            </a:r>
          </a:p>
          <a:p>
            <a:pPr algn="ctr"/>
            <a:endParaRPr lang="en-GB" sz="11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BED387-F9F6-474C-BDF4-C08C3238E184}"/>
              </a:ext>
            </a:extLst>
          </p:cNvPr>
          <p:cNvSpPr/>
          <p:nvPr/>
        </p:nvSpPr>
        <p:spPr>
          <a:xfrm>
            <a:off x="329506" y="5279014"/>
            <a:ext cx="2010421" cy="1241897"/>
          </a:xfrm>
          <a:prstGeom prst="rect">
            <a:avLst/>
          </a:prstGeom>
          <a:solidFill>
            <a:srgbClr val="D9D9D9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Cache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7424AB8-A287-4F56-B21B-80ADFA77643F}"/>
              </a:ext>
            </a:extLst>
          </p:cNvPr>
          <p:cNvCxnSpPr>
            <a:cxnSpLocks/>
          </p:cNvCxnSpPr>
          <p:nvPr/>
        </p:nvCxnSpPr>
        <p:spPr>
          <a:xfrm flipV="1">
            <a:off x="4688407" y="5424375"/>
            <a:ext cx="0" cy="271801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60C0E1E-2E60-4A3A-AE94-5B8771FFB031}"/>
              </a:ext>
            </a:extLst>
          </p:cNvPr>
          <p:cNvCxnSpPr>
            <a:cxnSpLocks/>
          </p:cNvCxnSpPr>
          <p:nvPr/>
        </p:nvCxnSpPr>
        <p:spPr>
          <a:xfrm>
            <a:off x="3804383" y="5878589"/>
            <a:ext cx="45374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A7A77262-8A6E-4CF5-8000-EC5D4F0809D3}"/>
              </a:ext>
            </a:extLst>
          </p:cNvPr>
          <p:cNvCxnSpPr>
            <a:cxnSpLocks/>
          </p:cNvCxnSpPr>
          <p:nvPr/>
        </p:nvCxnSpPr>
        <p:spPr>
          <a:xfrm>
            <a:off x="3804383" y="6345595"/>
            <a:ext cx="45374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F6FD55A-EF89-4815-BFD2-EE13C0188484}"/>
              </a:ext>
            </a:extLst>
          </p:cNvPr>
          <p:cNvSpPr/>
          <p:nvPr/>
        </p:nvSpPr>
        <p:spPr>
          <a:xfrm>
            <a:off x="176565" y="523174"/>
            <a:ext cx="377128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F2652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Internal structure of the CPU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BC50FA86-CD6A-5AF0-C061-ADB65A480008}"/>
              </a:ext>
            </a:extLst>
          </p:cNvPr>
          <p:cNvGrpSpPr/>
          <p:nvPr/>
        </p:nvGrpSpPr>
        <p:grpSpPr>
          <a:xfrm>
            <a:off x="319130" y="2400565"/>
            <a:ext cx="2108069" cy="2303453"/>
            <a:chOff x="319130" y="2400565"/>
            <a:chExt cx="2108069" cy="2303453"/>
          </a:xfrm>
          <a:solidFill>
            <a:srgbClr val="D9D9D9"/>
          </a:solidFill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E4EC0E8-37C0-77B5-F03C-91A16891D42D}"/>
                </a:ext>
              </a:extLst>
            </p:cNvPr>
            <p:cNvSpPr/>
            <p:nvPr/>
          </p:nvSpPr>
          <p:spPr>
            <a:xfrm>
              <a:off x="319130" y="2400565"/>
              <a:ext cx="2108069" cy="2303453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sz="1100" b="1" dirty="0">
                  <a:solidFill>
                    <a:schemeClr val="bg1">
                      <a:lumMod val="50000"/>
                    </a:schemeClr>
                  </a:solidFill>
                </a:rPr>
                <a:t>Decode unit</a:t>
              </a:r>
            </a:p>
            <a:p>
              <a:pPr algn="ctr"/>
              <a:endParaRPr lang="en-GB" sz="1100" b="1" dirty="0">
                <a:solidFill>
                  <a:schemeClr val="tx1"/>
                </a:solidFill>
              </a:endParaRPr>
            </a:p>
          </p:txBody>
        </p:sp>
        <p:pic>
          <p:nvPicPr>
            <p:cNvPr id="79" name="Graphic 78" descr="Gears with solid fill">
              <a:extLst>
                <a:ext uri="{FF2B5EF4-FFF2-40B4-BE49-F238E27FC236}">
                  <a16:creationId xmlns:a16="http://schemas.microsoft.com/office/drawing/2014/main" id="{F47BDF3C-E902-3CCA-6A76-6335A59A3C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35490" y="2702448"/>
              <a:ext cx="1639963" cy="16399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60447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5B355E1-549A-4594-8FEA-A0CA781F2760}"/>
              </a:ext>
            </a:extLst>
          </p:cNvPr>
          <p:cNvSpPr/>
          <p:nvPr/>
        </p:nvSpPr>
        <p:spPr>
          <a:xfrm>
            <a:off x="144573" y="1076892"/>
            <a:ext cx="5425625" cy="563229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72000" tIns="1260000" rtlCol="0" anchor="t" anchorCtr="0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55D8CD-D8EF-4205-82AD-300AD2BB5329}"/>
              </a:ext>
            </a:extLst>
          </p:cNvPr>
          <p:cNvSpPr/>
          <p:nvPr/>
        </p:nvSpPr>
        <p:spPr>
          <a:xfrm>
            <a:off x="235668" y="1158753"/>
            <a:ext cx="5229018" cy="5464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Central processing unit (CPU)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49E10F79-511E-4EC4-AAE7-1E022E464105}"/>
              </a:ext>
            </a:extLst>
          </p:cNvPr>
          <p:cNvGrpSpPr/>
          <p:nvPr/>
        </p:nvGrpSpPr>
        <p:grpSpPr>
          <a:xfrm>
            <a:off x="1641577" y="2169083"/>
            <a:ext cx="3500410" cy="4333994"/>
            <a:chOff x="1773554" y="2169083"/>
            <a:chExt cx="3500410" cy="4333994"/>
          </a:xfrm>
        </p:grpSpPr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57888D9B-63CC-4AFF-8DBD-0809DA7704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1904" y="6503077"/>
              <a:ext cx="191165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77DA5366-36A4-475D-80F3-FCFA2BBF28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45226" y="6389225"/>
              <a:ext cx="183833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875504A7-D1EF-4CC0-B21B-97723B8703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4019" y="6281065"/>
              <a:ext cx="110954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E61048D-FA7A-450B-9057-1B71AF9CF5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2638" y="6178598"/>
              <a:ext cx="300926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1D04FA21-AA72-4833-9A58-FA3142351A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65188" y="6070440"/>
              <a:ext cx="218375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9DB82770-4BBA-4268-974D-D070F70CB5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47434" y="5956589"/>
              <a:ext cx="13612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A52308F8-4A31-4510-BAE3-99871709F0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3" y="5848429"/>
              <a:ext cx="5941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A6F29D5-82AB-4E5E-8D98-7818D5DEB4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0064" y="5542644"/>
              <a:ext cx="0" cy="738421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C47FA203-A773-425C-9E14-DDCB084AF9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0893" y="4701128"/>
              <a:ext cx="0" cy="21377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F5A2EFA0-5A33-49CE-80AF-085E74F169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4544" y="4914900"/>
              <a:ext cx="48068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CB6A3E1B-243B-4D67-9E51-A465C1F557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5226" y="4910139"/>
              <a:ext cx="0" cy="1479086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6D3CB495-CDE1-472D-971B-2637811B79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3964" y="4381492"/>
              <a:ext cx="0" cy="1317756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F7DB7E6F-644E-4468-A5ED-ACBF2F3CC9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153" y="2169083"/>
              <a:ext cx="0" cy="3679347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D98872B6-7248-41DB-A180-E0EF590867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7434" y="2230993"/>
              <a:ext cx="0" cy="3725597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62277DB8-B20F-48C4-80A9-CE0268CED7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5188" y="3054908"/>
              <a:ext cx="0" cy="301553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87C4F4E2-88CF-48DF-B66A-EB6A3F623C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2638" y="3966927"/>
              <a:ext cx="0" cy="2211671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3D1895AC-8354-4DF1-8C93-38A4515EB8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2" y="3971689"/>
              <a:ext cx="13612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F35D0887-9845-4D5E-A243-13BEC393B6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3" y="3054908"/>
              <a:ext cx="222685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BECAA9B0-DB0B-47DE-91A2-842DF82A9F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4" y="2173845"/>
              <a:ext cx="6631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A15AAD2E-4F60-4D04-828B-4DB4212A01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3554" y="2233374"/>
              <a:ext cx="247388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4D1D5CDF-1A51-486F-A79D-EDC4E208B261}"/>
              </a:ext>
            </a:extLst>
          </p:cNvPr>
          <p:cNvSpPr/>
          <p:nvPr/>
        </p:nvSpPr>
        <p:spPr>
          <a:xfrm>
            <a:off x="2491086" y="4708604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Current instruction register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44EA3CA-B2AE-4A07-A327-AC253DF3EC0C}"/>
              </a:ext>
            </a:extLst>
          </p:cNvPr>
          <p:cNvSpPr/>
          <p:nvPr/>
        </p:nvSpPr>
        <p:spPr>
          <a:xfrm>
            <a:off x="329506" y="1461652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Program counter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844966C-9D33-4FB4-91E9-FC5819D4BA3B}"/>
              </a:ext>
            </a:extLst>
          </p:cNvPr>
          <p:cNvSpPr/>
          <p:nvPr/>
        </p:nvSpPr>
        <p:spPr>
          <a:xfrm>
            <a:off x="2492502" y="2398380"/>
            <a:ext cx="1314000" cy="82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Accumulator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3360B80-E436-4445-AF6B-DCC7370F14F2}"/>
              </a:ext>
            </a:extLst>
          </p:cNvPr>
          <p:cNvSpPr/>
          <p:nvPr/>
        </p:nvSpPr>
        <p:spPr>
          <a:xfrm>
            <a:off x="2494433" y="3553492"/>
            <a:ext cx="1312069" cy="82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Arithmetic logic unit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0C88483-223A-43FF-B0CD-C28747578C03}"/>
              </a:ext>
            </a:extLst>
          </p:cNvPr>
          <p:cNvSpPr/>
          <p:nvPr/>
        </p:nvSpPr>
        <p:spPr>
          <a:xfrm>
            <a:off x="4258496" y="1461652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Memory address register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F22CAA4-0A4F-4F5B-ABD8-6EF614C8140D}"/>
              </a:ext>
            </a:extLst>
          </p:cNvPr>
          <p:cNvSpPr/>
          <p:nvPr/>
        </p:nvSpPr>
        <p:spPr>
          <a:xfrm>
            <a:off x="4258496" y="3554121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Memory data register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955642C-8431-4E2A-89CC-8357C1EF8B5E}"/>
              </a:ext>
            </a:extLst>
          </p:cNvPr>
          <p:cNvSpPr/>
          <p:nvPr/>
        </p:nvSpPr>
        <p:spPr>
          <a:xfrm>
            <a:off x="4258597" y="5699247"/>
            <a:ext cx="1312070" cy="8287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Control</a:t>
            </a:r>
          </a:p>
          <a:p>
            <a:pPr algn="ctr"/>
            <a:r>
              <a:rPr lang="en-GB" sz="1100" b="1" dirty="0">
                <a:solidFill>
                  <a:schemeClr val="tx1"/>
                </a:solidFill>
              </a:rPr>
              <a:t>unit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9899F61-F6B5-4D33-A478-3B9D48E4F16A}"/>
              </a:ext>
            </a:extLst>
          </p:cNvPr>
          <p:cNvCxnSpPr>
            <a:cxnSpLocks/>
          </p:cNvCxnSpPr>
          <p:nvPr/>
        </p:nvCxnSpPr>
        <p:spPr>
          <a:xfrm>
            <a:off x="1641576" y="1677928"/>
            <a:ext cx="2610570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4074AF43-D19A-4254-B032-01E6439ED7BA}"/>
              </a:ext>
            </a:extLst>
          </p:cNvPr>
          <p:cNvGrpSpPr/>
          <p:nvPr/>
        </p:nvGrpSpPr>
        <p:grpSpPr>
          <a:xfrm>
            <a:off x="1641576" y="1973102"/>
            <a:ext cx="305278" cy="418928"/>
            <a:chOff x="1641576" y="1973102"/>
            <a:chExt cx="305278" cy="418928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51A98C67-6EFD-482B-AD9D-6E06220D71A3}"/>
                </a:ext>
              </a:extLst>
            </p:cNvPr>
            <p:cNvCxnSpPr/>
            <p:nvPr/>
          </p:nvCxnSpPr>
          <p:spPr>
            <a:xfrm flipV="1">
              <a:off x="1932566" y="1980723"/>
              <a:ext cx="0" cy="411307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D44E5C96-B86A-44AF-95E3-C2EE30FE02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1576" y="1973102"/>
              <a:ext cx="305278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42E282C-6271-40B0-B009-A65033A4C886}"/>
              </a:ext>
            </a:extLst>
          </p:cNvPr>
          <p:cNvGrpSpPr/>
          <p:nvPr/>
        </p:nvGrpSpPr>
        <p:grpSpPr>
          <a:xfrm>
            <a:off x="2175453" y="1973102"/>
            <a:ext cx="2076693" cy="418928"/>
            <a:chOff x="2175453" y="1973102"/>
            <a:chExt cx="2076693" cy="418928"/>
          </a:xfrm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6706EBCA-A953-4750-B67F-9E2C340BA05F}"/>
                </a:ext>
              </a:extLst>
            </p:cNvPr>
            <p:cNvCxnSpPr/>
            <p:nvPr/>
          </p:nvCxnSpPr>
          <p:spPr>
            <a:xfrm flipV="1">
              <a:off x="2189740" y="1980723"/>
              <a:ext cx="0" cy="411307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50F0D26-AC86-451E-A7B8-329F2863D8DD}"/>
                </a:ext>
              </a:extLst>
            </p:cNvPr>
            <p:cNvCxnSpPr>
              <a:cxnSpLocks/>
            </p:cNvCxnSpPr>
            <p:nvPr/>
          </p:nvCxnSpPr>
          <p:spPr>
            <a:xfrm>
              <a:off x="2175453" y="1973102"/>
              <a:ext cx="2076693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AA287EB-E571-42D1-AEDC-912F0CE3949C}"/>
              </a:ext>
            </a:extLst>
          </p:cNvPr>
          <p:cNvCxnSpPr>
            <a:cxnSpLocks/>
            <a:stCxn id="51" idx="0"/>
          </p:cNvCxnSpPr>
          <p:nvPr/>
        </p:nvCxnSpPr>
        <p:spPr>
          <a:xfrm flipH="1" flipV="1">
            <a:off x="3142042" y="3232336"/>
            <a:ext cx="8426" cy="32115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D90980DA-0C3A-4731-89F6-89E7F99D5FC3}"/>
              </a:ext>
            </a:extLst>
          </p:cNvPr>
          <p:cNvGrpSpPr/>
          <p:nvPr/>
        </p:nvGrpSpPr>
        <p:grpSpPr>
          <a:xfrm>
            <a:off x="3806502" y="2770122"/>
            <a:ext cx="1127180" cy="780826"/>
            <a:chOff x="3806502" y="2770122"/>
            <a:chExt cx="1127180" cy="780826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3E1640E-C787-4FD8-935B-912FDC5A2C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0982" y="2770122"/>
              <a:ext cx="0" cy="780826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B13FE9B8-92F9-42F9-844F-021624B0D8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06502" y="2770122"/>
              <a:ext cx="1127180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024632E5-0DCF-4BCE-9306-692F2A1A4528}"/>
              </a:ext>
            </a:extLst>
          </p:cNvPr>
          <p:cNvGrpSpPr/>
          <p:nvPr/>
        </p:nvGrpSpPr>
        <p:grpSpPr>
          <a:xfrm>
            <a:off x="3810525" y="4382913"/>
            <a:ext cx="1123157" cy="741531"/>
            <a:chOff x="3863234" y="4382913"/>
            <a:chExt cx="1202425" cy="1144394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94BF27E-4F7B-48A0-BB1D-7924C13036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A7FECD1-4257-4FAF-BD1D-4D809BED52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AECE537-6ACB-44D0-A092-63AB541186E4}"/>
              </a:ext>
            </a:extLst>
          </p:cNvPr>
          <p:cNvGrpSpPr/>
          <p:nvPr/>
        </p:nvGrpSpPr>
        <p:grpSpPr>
          <a:xfrm rot="5400000">
            <a:off x="1448476" y="4082207"/>
            <a:ext cx="423320" cy="1661159"/>
            <a:chOff x="3863234" y="4382913"/>
            <a:chExt cx="1202425" cy="1144394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5FDB3E7B-2157-4842-9E9E-73DE437B28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25A27C00-C803-4B21-A77E-7D5983355A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B8D6E0D-6A9D-466A-9A91-439CBD80D4A8}"/>
              </a:ext>
            </a:extLst>
          </p:cNvPr>
          <p:cNvCxnSpPr>
            <a:cxnSpLocks/>
          </p:cNvCxnSpPr>
          <p:nvPr/>
        </p:nvCxnSpPr>
        <p:spPr>
          <a:xfrm>
            <a:off x="5564217" y="3973782"/>
            <a:ext cx="777659" cy="0"/>
          </a:xfrm>
          <a:prstGeom prst="straightConnector1">
            <a:avLst/>
          </a:prstGeom>
          <a:ln w="508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F94A383-09A8-4898-924A-CEDDCC36EDD2}"/>
              </a:ext>
            </a:extLst>
          </p:cNvPr>
          <p:cNvCxnSpPr>
            <a:cxnSpLocks/>
          </p:cNvCxnSpPr>
          <p:nvPr/>
        </p:nvCxnSpPr>
        <p:spPr>
          <a:xfrm>
            <a:off x="5564217" y="1876048"/>
            <a:ext cx="777659" cy="0"/>
          </a:xfrm>
          <a:prstGeom prst="straightConnector1">
            <a:avLst/>
          </a:prstGeom>
          <a:ln w="508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58750DAB-344D-4D4A-A75A-1CC8F929B09C}"/>
              </a:ext>
            </a:extLst>
          </p:cNvPr>
          <p:cNvCxnSpPr>
            <a:cxnSpLocks/>
          </p:cNvCxnSpPr>
          <p:nvPr/>
        </p:nvCxnSpPr>
        <p:spPr>
          <a:xfrm>
            <a:off x="5567194" y="6124665"/>
            <a:ext cx="777659" cy="0"/>
          </a:xfrm>
          <a:prstGeom prst="straightConnector1">
            <a:avLst/>
          </a:prstGeom>
          <a:ln w="508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92C179DA-AE6B-4EAA-991B-2B528B232486}"/>
              </a:ext>
            </a:extLst>
          </p:cNvPr>
          <p:cNvSpPr/>
          <p:nvPr/>
        </p:nvSpPr>
        <p:spPr>
          <a:xfrm>
            <a:off x="5598559" y="1601453"/>
            <a:ext cx="65274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0F3A455-65B2-4DA2-8DA7-90D115E402E9}"/>
              </a:ext>
            </a:extLst>
          </p:cNvPr>
          <p:cNvSpPr/>
          <p:nvPr/>
        </p:nvSpPr>
        <p:spPr>
          <a:xfrm>
            <a:off x="5721835" y="3688865"/>
            <a:ext cx="46038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4BE47C0-8C49-4296-A75F-A6F9F8BA8AC0}"/>
              </a:ext>
            </a:extLst>
          </p:cNvPr>
          <p:cNvSpPr/>
          <p:nvPr/>
        </p:nvSpPr>
        <p:spPr>
          <a:xfrm>
            <a:off x="5653233" y="5850070"/>
            <a:ext cx="62068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Control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570F366-D62A-4F86-BE23-37B6DC9DCAAA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600" b="1" dirty="0">
                <a:solidFill>
                  <a:schemeClr val="tx1"/>
                </a:solidFill>
              </a:rPr>
              <a:t>Interrupt register (IR):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Checked by the CPU to see if an interrupt is waiting to be processed.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If it is, a software process known as the interrupt service routine (ISR) interrupts the current active process.</a:t>
            </a:r>
          </a:p>
          <a:p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BCB7E4-5075-46E9-BCE1-AAF72C77399B}"/>
              </a:ext>
            </a:extLst>
          </p:cNvPr>
          <p:cNvSpPr/>
          <p:nvPr/>
        </p:nvSpPr>
        <p:spPr>
          <a:xfrm>
            <a:off x="6355872" y="1076892"/>
            <a:ext cx="2005703" cy="56322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bg1">
                    <a:lumMod val="50000"/>
                  </a:schemeClr>
                </a:solidFill>
              </a:rPr>
              <a:t>Main memory (RAM)</a:t>
            </a:r>
          </a:p>
        </p:txBody>
      </p:sp>
      <p:graphicFrame>
        <p:nvGraphicFramePr>
          <p:cNvPr id="6" name="Table 32">
            <a:extLst>
              <a:ext uri="{FF2B5EF4-FFF2-40B4-BE49-F238E27FC236}">
                <a16:creationId xmlns:a16="http://schemas.microsoft.com/office/drawing/2014/main" id="{131EA568-BEED-4C3C-A756-626576097FCD}"/>
              </a:ext>
            </a:extLst>
          </p:cNvPr>
          <p:cNvGraphicFramePr>
            <a:graphicFrameLocks noGrp="1"/>
          </p:cNvGraphicFramePr>
          <p:nvPr/>
        </p:nvGraphicFramePr>
        <p:xfrm>
          <a:off x="6458233" y="1427933"/>
          <a:ext cx="1823192" cy="508116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70746">
                  <a:extLst>
                    <a:ext uri="{9D8B030D-6E8A-4147-A177-3AD203B41FA5}">
                      <a16:colId xmlns:a16="http://schemas.microsoft.com/office/drawing/2014/main" val="3614015831"/>
                    </a:ext>
                  </a:extLst>
                </a:gridCol>
                <a:gridCol w="952446">
                  <a:extLst>
                    <a:ext uri="{9D8B030D-6E8A-4147-A177-3AD203B41FA5}">
                      <a16:colId xmlns:a16="http://schemas.microsoft.com/office/drawing/2014/main" val="3794086153"/>
                    </a:ext>
                  </a:extLst>
                </a:gridCol>
              </a:tblGrid>
              <a:tr h="187507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Address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Data</a:t>
                      </a:r>
                    </a:p>
                  </a:txBody>
                  <a:tcPr marL="36000" marR="36000"/>
                </a:tc>
                <a:extLst>
                  <a:ext uri="{0D108BD9-81ED-4DB2-BD59-A6C34878D82A}">
                    <a16:rowId xmlns:a16="http://schemas.microsoft.com/office/drawing/2014/main" val="1704211108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0101 0101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7417878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0001 0110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752188674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0011 0111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843260329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1001 0010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402726722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0100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887340781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0101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0011 0000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380887073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0000 0001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932443288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0111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105824555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1000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73624416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1001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403576455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311386007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1011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812985182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1100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71990943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1101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578198533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43496377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1111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311878757"/>
                  </a:ext>
                </a:extLst>
              </a:tr>
            </a:tbl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0B1B9735-80D0-4949-8CD7-5439B2395A68}"/>
              </a:ext>
            </a:extLst>
          </p:cNvPr>
          <p:cNvSpPr/>
          <p:nvPr/>
        </p:nvSpPr>
        <p:spPr>
          <a:xfrm>
            <a:off x="2494433" y="6160869"/>
            <a:ext cx="1308722" cy="3694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Interrupt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ED2DD7D-E9D7-49C3-8300-4FD92280C976}"/>
              </a:ext>
            </a:extLst>
          </p:cNvPr>
          <p:cNvGrpSpPr/>
          <p:nvPr/>
        </p:nvGrpSpPr>
        <p:grpSpPr>
          <a:xfrm>
            <a:off x="4274133" y="4593357"/>
            <a:ext cx="828000" cy="828792"/>
            <a:chOff x="4274133" y="4593357"/>
            <a:chExt cx="828000" cy="828792"/>
          </a:xfrm>
          <a:solidFill>
            <a:srgbClr val="D9D9D9"/>
          </a:solidFill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EF46221A-BFC6-47DF-969A-D8C4BE51E253}"/>
                </a:ext>
              </a:extLst>
            </p:cNvPr>
            <p:cNvSpPr/>
            <p:nvPr/>
          </p:nvSpPr>
          <p:spPr>
            <a:xfrm>
              <a:off x="4274133" y="4593357"/>
              <a:ext cx="828000" cy="828792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GB" sz="1100" b="1" dirty="0">
                <a:solidFill>
                  <a:schemeClr val="tx1"/>
                </a:solidFill>
              </a:endParaRPr>
            </a:p>
          </p:txBody>
        </p: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6BAAF0E8-11F1-48D3-89FF-DF9BC899EFDD}"/>
                </a:ext>
              </a:extLst>
            </p:cNvPr>
            <p:cNvGrpSpPr/>
            <p:nvPr/>
          </p:nvGrpSpPr>
          <p:grpSpPr>
            <a:xfrm>
              <a:off x="4292939" y="4609663"/>
              <a:ext cx="781105" cy="777131"/>
              <a:chOff x="4364100" y="4688521"/>
              <a:chExt cx="641729" cy="638464"/>
            </a:xfrm>
            <a:grpFill/>
          </p:grpSpPr>
          <p:pic>
            <p:nvPicPr>
              <p:cNvPr id="115" name="Picture 114">
                <a:extLst>
                  <a:ext uri="{FF2B5EF4-FFF2-40B4-BE49-F238E27FC236}">
                    <a16:creationId xmlns:a16="http://schemas.microsoft.com/office/drawing/2014/main" id="{5084C6FE-15D8-4E13-96C9-C5341E0986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364100" y="4688521"/>
                <a:ext cx="641729" cy="638464"/>
              </a:xfrm>
              <a:prstGeom prst="rect">
                <a:avLst/>
              </a:prstGeom>
              <a:grpFill/>
            </p:spPr>
          </p:pic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09298617-F525-4818-AE78-3C0E728B6279}"/>
                  </a:ext>
                </a:extLst>
              </p:cNvPr>
              <p:cNvSpPr/>
              <p:nvPr/>
            </p:nvSpPr>
            <p:spPr>
              <a:xfrm>
                <a:off x="4641057" y="4957763"/>
                <a:ext cx="113004" cy="976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AB9D7A46-429B-4D0D-B460-286D57CF2D90}"/>
                </a:ext>
              </a:extLst>
            </p:cNvPr>
            <p:cNvSpPr txBox="1"/>
            <p:nvPr/>
          </p:nvSpPr>
          <p:spPr>
            <a:xfrm>
              <a:off x="4450195" y="4905828"/>
              <a:ext cx="49725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100" b="1" dirty="0"/>
                <a:t>Clock</a:t>
              </a:r>
              <a:endParaRPr lang="en-GB" b="1" dirty="0"/>
            </a:p>
          </p:txBody>
        </p:sp>
      </p:grpSp>
      <p:sp>
        <p:nvSpPr>
          <p:cNvPr id="118" name="Rectangle 117">
            <a:extLst>
              <a:ext uri="{FF2B5EF4-FFF2-40B4-BE49-F238E27FC236}">
                <a16:creationId xmlns:a16="http://schemas.microsoft.com/office/drawing/2014/main" id="{BFC3BFB5-1DF8-4349-9587-C6271D1DFF6E}"/>
              </a:ext>
            </a:extLst>
          </p:cNvPr>
          <p:cNvSpPr/>
          <p:nvPr/>
        </p:nvSpPr>
        <p:spPr>
          <a:xfrm>
            <a:off x="2494433" y="5705750"/>
            <a:ext cx="1308722" cy="369452"/>
          </a:xfrm>
          <a:prstGeom prst="rect">
            <a:avLst/>
          </a:prstGeom>
          <a:solidFill>
            <a:srgbClr val="D9D9D9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Status register</a:t>
            </a:r>
          </a:p>
          <a:p>
            <a:pPr algn="ctr"/>
            <a:endParaRPr lang="en-GB" sz="11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6DD1ED1C-C30D-4234-89E5-E0EABC0269A4}"/>
              </a:ext>
            </a:extLst>
          </p:cNvPr>
          <p:cNvCxnSpPr>
            <a:cxnSpLocks/>
          </p:cNvCxnSpPr>
          <p:nvPr/>
        </p:nvCxnSpPr>
        <p:spPr>
          <a:xfrm flipV="1">
            <a:off x="4688407" y="5424375"/>
            <a:ext cx="0" cy="271801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5C6C1A34-56CE-4837-AFCC-A370BF40BD81}"/>
              </a:ext>
            </a:extLst>
          </p:cNvPr>
          <p:cNvCxnSpPr>
            <a:cxnSpLocks/>
          </p:cNvCxnSpPr>
          <p:nvPr/>
        </p:nvCxnSpPr>
        <p:spPr>
          <a:xfrm>
            <a:off x="3804383" y="5878589"/>
            <a:ext cx="45374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482661B6-57C3-48A6-83DF-FFC9A1173C48}"/>
              </a:ext>
            </a:extLst>
          </p:cNvPr>
          <p:cNvCxnSpPr>
            <a:cxnSpLocks/>
          </p:cNvCxnSpPr>
          <p:nvPr/>
        </p:nvCxnSpPr>
        <p:spPr>
          <a:xfrm>
            <a:off x="3804383" y="6345595"/>
            <a:ext cx="453747" cy="0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56C14BC-850B-4951-B521-0227D72BA717}"/>
              </a:ext>
            </a:extLst>
          </p:cNvPr>
          <p:cNvSpPr/>
          <p:nvPr/>
        </p:nvSpPr>
        <p:spPr>
          <a:xfrm>
            <a:off x="329506" y="5279014"/>
            <a:ext cx="2010421" cy="12418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Cache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5C9CDF4-5900-451F-B8CD-1A01631D737D}"/>
              </a:ext>
            </a:extLst>
          </p:cNvPr>
          <p:cNvSpPr/>
          <p:nvPr/>
        </p:nvSpPr>
        <p:spPr>
          <a:xfrm>
            <a:off x="176565" y="523174"/>
            <a:ext cx="377128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F2652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Internal structure of the CPU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7B9E8CE-ACFD-20E7-F3F7-6FA11AC0F784}"/>
              </a:ext>
            </a:extLst>
          </p:cNvPr>
          <p:cNvGrpSpPr/>
          <p:nvPr/>
        </p:nvGrpSpPr>
        <p:grpSpPr>
          <a:xfrm>
            <a:off x="319130" y="2400565"/>
            <a:ext cx="2108069" cy="2303453"/>
            <a:chOff x="319130" y="2400565"/>
            <a:chExt cx="2108069" cy="2303453"/>
          </a:xfrm>
          <a:solidFill>
            <a:srgbClr val="D9D9D9"/>
          </a:solidFill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7A52609-CAD6-A304-43E5-0E8FBBA99646}"/>
                </a:ext>
              </a:extLst>
            </p:cNvPr>
            <p:cNvSpPr/>
            <p:nvPr/>
          </p:nvSpPr>
          <p:spPr>
            <a:xfrm>
              <a:off x="319130" y="2400565"/>
              <a:ext cx="2108069" cy="2303453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sz="1100" b="1" dirty="0">
                  <a:solidFill>
                    <a:schemeClr val="bg1">
                      <a:lumMod val="50000"/>
                    </a:schemeClr>
                  </a:solidFill>
                </a:rPr>
                <a:t>Decode unit</a:t>
              </a:r>
            </a:p>
            <a:p>
              <a:pPr algn="ctr"/>
              <a:endParaRPr lang="en-GB" sz="1100" b="1" dirty="0">
                <a:solidFill>
                  <a:schemeClr val="tx1"/>
                </a:solidFill>
              </a:endParaRPr>
            </a:p>
          </p:txBody>
        </p:sp>
        <p:pic>
          <p:nvPicPr>
            <p:cNvPr id="79" name="Graphic 78" descr="Gears with solid fill">
              <a:extLst>
                <a:ext uri="{FF2B5EF4-FFF2-40B4-BE49-F238E27FC236}">
                  <a16:creationId xmlns:a16="http://schemas.microsoft.com/office/drawing/2014/main" id="{8E983C1A-AB21-E44B-311C-643782D87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35490" y="2702448"/>
              <a:ext cx="1639963" cy="16399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831085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5B355E1-549A-4594-8FEA-A0CA781F2760}"/>
              </a:ext>
            </a:extLst>
          </p:cNvPr>
          <p:cNvSpPr/>
          <p:nvPr/>
        </p:nvSpPr>
        <p:spPr>
          <a:xfrm>
            <a:off x="144573" y="1076892"/>
            <a:ext cx="5425625" cy="563229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72000" tIns="1260000" rtlCol="0" anchor="t" anchorCtr="0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55D8CD-D8EF-4205-82AD-300AD2BB5329}"/>
              </a:ext>
            </a:extLst>
          </p:cNvPr>
          <p:cNvSpPr/>
          <p:nvPr/>
        </p:nvSpPr>
        <p:spPr>
          <a:xfrm>
            <a:off x="235668" y="1158753"/>
            <a:ext cx="5229018" cy="5464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Central processing unit (CPU)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49E10F79-511E-4EC4-AAE7-1E022E464105}"/>
              </a:ext>
            </a:extLst>
          </p:cNvPr>
          <p:cNvGrpSpPr/>
          <p:nvPr/>
        </p:nvGrpSpPr>
        <p:grpSpPr>
          <a:xfrm>
            <a:off x="1641577" y="2169083"/>
            <a:ext cx="3500410" cy="4333994"/>
            <a:chOff x="1773554" y="2169083"/>
            <a:chExt cx="3500410" cy="4333994"/>
          </a:xfrm>
        </p:grpSpPr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57888D9B-63CC-4AFF-8DBD-0809DA7704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1904" y="6503077"/>
              <a:ext cx="191165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77DA5366-36A4-475D-80F3-FCFA2BBF28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45226" y="6389225"/>
              <a:ext cx="183833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875504A7-D1EF-4CC0-B21B-97723B8703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4019" y="6281065"/>
              <a:ext cx="110954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E61048D-FA7A-450B-9057-1B71AF9CF5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2638" y="6178598"/>
              <a:ext cx="300926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1D04FA21-AA72-4833-9A58-FA3142351A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65188" y="6070440"/>
              <a:ext cx="218375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9DB82770-4BBA-4268-974D-D070F70CB5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47434" y="5956589"/>
              <a:ext cx="13612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A52308F8-4A31-4510-BAE3-99871709F0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3" y="5848429"/>
              <a:ext cx="5941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A6F29D5-82AB-4E5E-8D98-7818D5DEB4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0064" y="5542644"/>
              <a:ext cx="0" cy="738421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C47FA203-A773-425C-9E14-DDCB084AF9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0893" y="4701128"/>
              <a:ext cx="0" cy="21377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F5A2EFA0-5A33-49CE-80AF-085E74F169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4544" y="4914900"/>
              <a:ext cx="48068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CB6A3E1B-243B-4D67-9E51-A465C1F557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5226" y="4910139"/>
              <a:ext cx="0" cy="1479086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6D3CB495-CDE1-472D-971B-2637811B79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3964" y="4381492"/>
              <a:ext cx="0" cy="1317756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F7DB7E6F-644E-4468-A5ED-ACBF2F3CC9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153" y="2169083"/>
              <a:ext cx="0" cy="3679347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D98872B6-7248-41DB-A180-E0EF590867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7434" y="2230993"/>
              <a:ext cx="0" cy="3725597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62277DB8-B20F-48C4-80A9-CE0268CED7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5188" y="3054908"/>
              <a:ext cx="0" cy="301553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87C4F4E2-88CF-48DF-B66A-EB6A3F623C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2638" y="3966927"/>
              <a:ext cx="0" cy="2211671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3D1895AC-8354-4DF1-8C93-38A4515EB8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2" y="3971689"/>
              <a:ext cx="13612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F35D0887-9845-4D5E-A243-13BEC393B6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3" y="3054908"/>
              <a:ext cx="222685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BECAA9B0-DB0B-47DE-91A2-842DF82A9F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4" y="2173845"/>
              <a:ext cx="6631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A15AAD2E-4F60-4D04-828B-4DB4212A01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3554" y="2233374"/>
              <a:ext cx="247388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4D1D5CDF-1A51-486F-A79D-EDC4E208B261}"/>
              </a:ext>
            </a:extLst>
          </p:cNvPr>
          <p:cNvSpPr/>
          <p:nvPr/>
        </p:nvSpPr>
        <p:spPr>
          <a:xfrm>
            <a:off x="2491086" y="4708604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Current instruction register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44EA3CA-B2AE-4A07-A327-AC253DF3EC0C}"/>
              </a:ext>
            </a:extLst>
          </p:cNvPr>
          <p:cNvSpPr/>
          <p:nvPr/>
        </p:nvSpPr>
        <p:spPr>
          <a:xfrm>
            <a:off x="329506" y="1461652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Program counter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844966C-9D33-4FB4-91E9-FC5819D4BA3B}"/>
              </a:ext>
            </a:extLst>
          </p:cNvPr>
          <p:cNvSpPr/>
          <p:nvPr/>
        </p:nvSpPr>
        <p:spPr>
          <a:xfrm>
            <a:off x="2492502" y="2398380"/>
            <a:ext cx="1314000" cy="82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Accumulator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3360B80-E436-4445-AF6B-DCC7370F14F2}"/>
              </a:ext>
            </a:extLst>
          </p:cNvPr>
          <p:cNvSpPr/>
          <p:nvPr/>
        </p:nvSpPr>
        <p:spPr>
          <a:xfrm>
            <a:off x="2494433" y="3553492"/>
            <a:ext cx="1312069" cy="82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Arithmetic logic unit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0C88483-223A-43FF-B0CD-C28747578C03}"/>
              </a:ext>
            </a:extLst>
          </p:cNvPr>
          <p:cNvSpPr/>
          <p:nvPr/>
        </p:nvSpPr>
        <p:spPr>
          <a:xfrm>
            <a:off x="4258496" y="1461652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Memory address register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F22CAA4-0A4F-4F5B-ABD8-6EF614C8140D}"/>
              </a:ext>
            </a:extLst>
          </p:cNvPr>
          <p:cNvSpPr/>
          <p:nvPr/>
        </p:nvSpPr>
        <p:spPr>
          <a:xfrm>
            <a:off x="4258496" y="3554121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Memory data register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955642C-8431-4E2A-89CC-8357C1EF8B5E}"/>
              </a:ext>
            </a:extLst>
          </p:cNvPr>
          <p:cNvSpPr/>
          <p:nvPr/>
        </p:nvSpPr>
        <p:spPr>
          <a:xfrm>
            <a:off x="4258597" y="5699247"/>
            <a:ext cx="1312070" cy="828792"/>
          </a:xfrm>
          <a:prstGeom prst="rect">
            <a:avLst/>
          </a:prstGeom>
          <a:solidFill>
            <a:srgbClr val="D9D9D9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Control</a:t>
            </a:r>
          </a:p>
          <a:p>
            <a:pPr algn="ctr"/>
            <a:r>
              <a:rPr lang="en-GB" sz="1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unit</a:t>
            </a:r>
          </a:p>
          <a:p>
            <a:pPr algn="ctr"/>
            <a:endParaRPr lang="en-GB" sz="11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9899F61-F6B5-4D33-A478-3B9D48E4F16A}"/>
              </a:ext>
            </a:extLst>
          </p:cNvPr>
          <p:cNvCxnSpPr>
            <a:cxnSpLocks/>
          </p:cNvCxnSpPr>
          <p:nvPr/>
        </p:nvCxnSpPr>
        <p:spPr>
          <a:xfrm>
            <a:off x="1641576" y="1677928"/>
            <a:ext cx="2610570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4074AF43-D19A-4254-B032-01E6439ED7BA}"/>
              </a:ext>
            </a:extLst>
          </p:cNvPr>
          <p:cNvGrpSpPr/>
          <p:nvPr/>
        </p:nvGrpSpPr>
        <p:grpSpPr>
          <a:xfrm>
            <a:off x="1641576" y="1973102"/>
            <a:ext cx="305278" cy="418928"/>
            <a:chOff x="1641576" y="1973102"/>
            <a:chExt cx="305278" cy="418928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51A98C67-6EFD-482B-AD9D-6E06220D71A3}"/>
                </a:ext>
              </a:extLst>
            </p:cNvPr>
            <p:cNvCxnSpPr/>
            <p:nvPr/>
          </p:nvCxnSpPr>
          <p:spPr>
            <a:xfrm flipV="1">
              <a:off x="1932566" y="1980723"/>
              <a:ext cx="0" cy="411307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D44E5C96-B86A-44AF-95E3-C2EE30FE02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1576" y="1973102"/>
              <a:ext cx="305278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42E282C-6271-40B0-B009-A65033A4C886}"/>
              </a:ext>
            </a:extLst>
          </p:cNvPr>
          <p:cNvGrpSpPr/>
          <p:nvPr/>
        </p:nvGrpSpPr>
        <p:grpSpPr>
          <a:xfrm>
            <a:off x="2175453" y="1973102"/>
            <a:ext cx="2076693" cy="418928"/>
            <a:chOff x="2175453" y="1973102"/>
            <a:chExt cx="2076693" cy="418928"/>
          </a:xfrm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6706EBCA-A953-4750-B67F-9E2C340BA05F}"/>
                </a:ext>
              </a:extLst>
            </p:cNvPr>
            <p:cNvCxnSpPr/>
            <p:nvPr/>
          </p:nvCxnSpPr>
          <p:spPr>
            <a:xfrm flipV="1">
              <a:off x="2189740" y="1980723"/>
              <a:ext cx="0" cy="411307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50F0D26-AC86-451E-A7B8-329F2863D8DD}"/>
                </a:ext>
              </a:extLst>
            </p:cNvPr>
            <p:cNvCxnSpPr>
              <a:cxnSpLocks/>
            </p:cNvCxnSpPr>
            <p:nvPr/>
          </p:nvCxnSpPr>
          <p:spPr>
            <a:xfrm>
              <a:off x="2175453" y="1973102"/>
              <a:ext cx="2076693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AA287EB-E571-42D1-AEDC-912F0CE3949C}"/>
              </a:ext>
            </a:extLst>
          </p:cNvPr>
          <p:cNvCxnSpPr>
            <a:cxnSpLocks/>
            <a:stCxn id="51" idx="0"/>
          </p:cNvCxnSpPr>
          <p:nvPr/>
        </p:nvCxnSpPr>
        <p:spPr>
          <a:xfrm flipH="1" flipV="1">
            <a:off x="3142042" y="3232336"/>
            <a:ext cx="8426" cy="32115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D90980DA-0C3A-4731-89F6-89E7F99D5FC3}"/>
              </a:ext>
            </a:extLst>
          </p:cNvPr>
          <p:cNvGrpSpPr/>
          <p:nvPr/>
        </p:nvGrpSpPr>
        <p:grpSpPr>
          <a:xfrm>
            <a:off x="3806502" y="2770122"/>
            <a:ext cx="1127180" cy="780826"/>
            <a:chOff x="3806502" y="2770122"/>
            <a:chExt cx="1127180" cy="780826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3E1640E-C787-4FD8-935B-912FDC5A2C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0982" y="2770122"/>
              <a:ext cx="0" cy="780826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B13FE9B8-92F9-42F9-844F-021624B0D8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06502" y="2770122"/>
              <a:ext cx="1127180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024632E5-0DCF-4BCE-9306-692F2A1A4528}"/>
              </a:ext>
            </a:extLst>
          </p:cNvPr>
          <p:cNvGrpSpPr/>
          <p:nvPr/>
        </p:nvGrpSpPr>
        <p:grpSpPr>
          <a:xfrm>
            <a:off x="3810525" y="4382913"/>
            <a:ext cx="1123157" cy="741531"/>
            <a:chOff x="3863234" y="4382913"/>
            <a:chExt cx="1202425" cy="1144394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94BF27E-4F7B-48A0-BB1D-7924C13036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A7FECD1-4257-4FAF-BD1D-4D809BED52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AECE537-6ACB-44D0-A092-63AB541186E4}"/>
              </a:ext>
            </a:extLst>
          </p:cNvPr>
          <p:cNvGrpSpPr/>
          <p:nvPr/>
        </p:nvGrpSpPr>
        <p:grpSpPr>
          <a:xfrm rot="5400000">
            <a:off x="1448476" y="4082207"/>
            <a:ext cx="423320" cy="1661159"/>
            <a:chOff x="3863234" y="4382913"/>
            <a:chExt cx="1202425" cy="1144394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5FDB3E7B-2157-4842-9E9E-73DE437B28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25A27C00-C803-4B21-A77E-7D5983355A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B8D6E0D-6A9D-466A-9A91-439CBD80D4A8}"/>
              </a:ext>
            </a:extLst>
          </p:cNvPr>
          <p:cNvCxnSpPr>
            <a:cxnSpLocks/>
          </p:cNvCxnSpPr>
          <p:nvPr/>
        </p:nvCxnSpPr>
        <p:spPr>
          <a:xfrm>
            <a:off x="5564217" y="3973782"/>
            <a:ext cx="777659" cy="0"/>
          </a:xfrm>
          <a:prstGeom prst="straightConnector1">
            <a:avLst/>
          </a:prstGeom>
          <a:ln w="508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F94A383-09A8-4898-924A-CEDDCC36EDD2}"/>
              </a:ext>
            </a:extLst>
          </p:cNvPr>
          <p:cNvCxnSpPr>
            <a:cxnSpLocks/>
          </p:cNvCxnSpPr>
          <p:nvPr/>
        </p:nvCxnSpPr>
        <p:spPr>
          <a:xfrm>
            <a:off x="5564217" y="1876048"/>
            <a:ext cx="777659" cy="0"/>
          </a:xfrm>
          <a:prstGeom prst="straightConnector1">
            <a:avLst/>
          </a:prstGeom>
          <a:ln w="508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58750DAB-344D-4D4A-A75A-1CC8F929B09C}"/>
              </a:ext>
            </a:extLst>
          </p:cNvPr>
          <p:cNvCxnSpPr>
            <a:cxnSpLocks/>
          </p:cNvCxnSpPr>
          <p:nvPr/>
        </p:nvCxnSpPr>
        <p:spPr>
          <a:xfrm>
            <a:off x="5567194" y="6124665"/>
            <a:ext cx="777659" cy="0"/>
          </a:xfrm>
          <a:prstGeom prst="straightConnector1">
            <a:avLst/>
          </a:prstGeom>
          <a:ln w="508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92C179DA-AE6B-4EAA-991B-2B528B232486}"/>
              </a:ext>
            </a:extLst>
          </p:cNvPr>
          <p:cNvSpPr/>
          <p:nvPr/>
        </p:nvSpPr>
        <p:spPr>
          <a:xfrm>
            <a:off x="5598559" y="1601453"/>
            <a:ext cx="65274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0F3A455-65B2-4DA2-8DA7-90D115E402E9}"/>
              </a:ext>
            </a:extLst>
          </p:cNvPr>
          <p:cNvSpPr/>
          <p:nvPr/>
        </p:nvSpPr>
        <p:spPr>
          <a:xfrm>
            <a:off x="5721835" y="3688865"/>
            <a:ext cx="46038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4BE47C0-8C49-4296-A75F-A6F9F8BA8AC0}"/>
              </a:ext>
            </a:extLst>
          </p:cNvPr>
          <p:cNvSpPr/>
          <p:nvPr/>
        </p:nvSpPr>
        <p:spPr>
          <a:xfrm>
            <a:off x="5653233" y="5850070"/>
            <a:ext cx="620683" cy="5491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Control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570F366-D62A-4F86-BE23-37B6DC9DCAAA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600" b="1" dirty="0">
                <a:solidFill>
                  <a:schemeClr val="tx1"/>
                </a:solidFill>
              </a:rPr>
              <a:t>Cache: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A small area of memory, often located on or near the CPU, that provides fast access to frequently used instructions and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Physically closer to the CPU than RAM and faster to access but has a smaller capacity.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BCB7E4-5075-46E9-BCE1-AAF72C77399B}"/>
              </a:ext>
            </a:extLst>
          </p:cNvPr>
          <p:cNvSpPr/>
          <p:nvPr/>
        </p:nvSpPr>
        <p:spPr>
          <a:xfrm>
            <a:off x="6355872" y="1076892"/>
            <a:ext cx="2005703" cy="56322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bg1">
                    <a:lumMod val="50000"/>
                  </a:schemeClr>
                </a:solidFill>
              </a:rPr>
              <a:t>Main memory (RAM)</a:t>
            </a:r>
          </a:p>
        </p:txBody>
      </p:sp>
      <p:graphicFrame>
        <p:nvGraphicFramePr>
          <p:cNvPr id="6" name="Table 32">
            <a:extLst>
              <a:ext uri="{FF2B5EF4-FFF2-40B4-BE49-F238E27FC236}">
                <a16:creationId xmlns:a16="http://schemas.microsoft.com/office/drawing/2014/main" id="{131EA568-BEED-4C3C-A756-626576097FCD}"/>
              </a:ext>
            </a:extLst>
          </p:cNvPr>
          <p:cNvGraphicFramePr>
            <a:graphicFrameLocks noGrp="1"/>
          </p:cNvGraphicFramePr>
          <p:nvPr/>
        </p:nvGraphicFramePr>
        <p:xfrm>
          <a:off x="6458233" y="1427933"/>
          <a:ext cx="1823192" cy="508116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70746">
                  <a:extLst>
                    <a:ext uri="{9D8B030D-6E8A-4147-A177-3AD203B41FA5}">
                      <a16:colId xmlns:a16="http://schemas.microsoft.com/office/drawing/2014/main" val="3614015831"/>
                    </a:ext>
                  </a:extLst>
                </a:gridCol>
                <a:gridCol w="952446">
                  <a:extLst>
                    <a:ext uri="{9D8B030D-6E8A-4147-A177-3AD203B41FA5}">
                      <a16:colId xmlns:a16="http://schemas.microsoft.com/office/drawing/2014/main" val="3794086153"/>
                    </a:ext>
                  </a:extLst>
                </a:gridCol>
              </a:tblGrid>
              <a:tr h="187507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Address</a:t>
                      </a: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Data</a:t>
                      </a:r>
                    </a:p>
                  </a:txBody>
                  <a:tcPr marL="36000" marR="36000"/>
                </a:tc>
                <a:extLst>
                  <a:ext uri="{0D108BD9-81ED-4DB2-BD59-A6C34878D82A}">
                    <a16:rowId xmlns:a16="http://schemas.microsoft.com/office/drawing/2014/main" val="1704211108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0101 0101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7417878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0001 0110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752188674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0011 0111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843260329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1001 0010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402726722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0100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887340781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0101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0011 0000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380887073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0000 0001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932443288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0111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105824555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1000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736244160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1001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403576455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311386007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1011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812985182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1100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71990943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1101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578198533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434963776"/>
                  </a:ext>
                </a:extLst>
              </a:tr>
              <a:tr h="29471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1111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0000 0000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311878757"/>
                  </a:ext>
                </a:extLst>
              </a:tr>
            </a:tbl>
          </a:graphicData>
        </a:graphic>
      </p:graphicFrame>
      <p:grpSp>
        <p:nvGrpSpPr>
          <p:cNvPr id="17" name="Group 16">
            <a:extLst>
              <a:ext uri="{FF2B5EF4-FFF2-40B4-BE49-F238E27FC236}">
                <a16:creationId xmlns:a16="http://schemas.microsoft.com/office/drawing/2014/main" id="{661B873C-E206-458D-8898-35F435B5B835}"/>
              </a:ext>
            </a:extLst>
          </p:cNvPr>
          <p:cNvGrpSpPr/>
          <p:nvPr/>
        </p:nvGrpSpPr>
        <p:grpSpPr>
          <a:xfrm>
            <a:off x="4274133" y="4593357"/>
            <a:ext cx="828000" cy="828792"/>
            <a:chOff x="4274133" y="4593357"/>
            <a:chExt cx="828000" cy="828792"/>
          </a:xfrm>
          <a:solidFill>
            <a:srgbClr val="D9D9D9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6CB8B17-2D92-4F98-A0BC-3EC53E8B635B}"/>
                </a:ext>
              </a:extLst>
            </p:cNvPr>
            <p:cNvSpPr/>
            <p:nvPr/>
          </p:nvSpPr>
          <p:spPr>
            <a:xfrm>
              <a:off x="4274133" y="4593357"/>
              <a:ext cx="828000" cy="828792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GB" sz="1100" b="1" dirty="0">
                <a:solidFill>
                  <a:schemeClr val="tx1"/>
                </a:solidFill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E248AA1-36B9-4BB0-BE2D-DB4D5F13992D}"/>
                </a:ext>
              </a:extLst>
            </p:cNvPr>
            <p:cNvGrpSpPr/>
            <p:nvPr/>
          </p:nvGrpSpPr>
          <p:grpSpPr>
            <a:xfrm>
              <a:off x="4292939" y="4609663"/>
              <a:ext cx="781105" cy="777131"/>
              <a:chOff x="4364100" y="4688521"/>
              <a:chExt cx="641729" cy="638464"/>
            </a:xfrm>
            <a:grpFill/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7F629AE3-D7AD-42B8-BB13-47BF4F3A6C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364100" y="4688521"/>
                <a:ext cx="641729" cy="638464"/>
              </a:xfrm>
              <a:prstGeom prst="rect">
                <a:avLst/>
              </a:prstGeom>
              <a:grpFill/>
            </p:spPr>
          </p:pic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82C57C4-9AC1-41B5-A364-78DDF76E3A80}"/>
                  </a:ext>
                </a:extLst>
              </p:cNvPr>
              <p:cNvSpPr/>
              <p:nvPr/>
            </p:nvSpPr>
            <p:spPr>
              <a:xfrm>
                <a:off x="4641057" y="4957763"/>
                <a:ext cx="113004" cy="976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9A32FD2-2924-4E8F-A590-3EDE259793B6}"/>
                </a:ext>
              </a:extLst>
            </p:cNvPr>
            <p:cNvSpPr txBox="1"/>
            <p:nvPr/>
          </p:nvSpPr>
          <p:spPr>
            <a:xfrm>
              <a:off x="4450195" y="4905828"/>
              <a:ext cx="49725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100" b="1" dirty="0"/>
                <a:t>Clock</a:t>
              </a:r>
              <a:endParaRPr lang="en-GB" b="1" dirty="0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BB91E9BD-CE0F-40A7-9610-035383423164}"/>
              </a:ext>
            </a:extLst>
          </p:cNvPr>
          <p:cNvSpPr/>
          <p:nvPr/>
        </p:nvSpPr>
        <p:spPr>
          <a:xfrm>
            <a:off x="2494433" y="5705750"/>
            <a:ext cx="1308722" cy="369452"/>
          </a:xfrm>
          <a:prstGeom prst="rect">
            <a:avLst/>
          </a:prstGeom>
          <a:solidFill>
            <a:srgbClr val="D9D9D9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Status register</a:t>
            </a:r>
          </a:p>
          <a:p>
            <a:pPr algn="ctr"/>
            <a:endParaRPr lang="en-GB" sz="11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1B9735-80D0-4949-8CD7-5439B2395A68}"/>
              </a:ext>
            </a:extLst>
          </p:cNvPr>
          <p:cNvSpPr/>
          <p:nvPr/>
        </p:nvSpPr>
        <p:spPr>
          <a:xfrm>
            <a:off x="2494433" y="6160869"/>
            <a:ext cx="1308722" cy="369452"/>
          </a:xfrm>
          <a:prstGeom prst="rect">
            <a:avLst/>
          </a:prstGeom>
          <a:solidFill>
            <a:srgbClr val="D9D9D9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Interrupt register</a:t>
            </a:r>
          </a:p>
          <a:p>
            <a:pPr algn="ctr"/>
            <a:endParaRPr lang="en-GB" sz="11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BED387-F9F6-474C-BDF4-C08C3238E184}"/>
              </a:ext>
            </a:extLst>
          </p:cNvPr>
          <p:cNvSpPr/>
          <p:nvPr/>
        </p:nvSpPr>
        <p:spPr>
          <a:xfrm>
            <a:off x="329506" y="5279014"/>
            <a:ext cx="2010421" cy="124189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Cache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7424AB8-A287-4F56-B21B-80ADFA77643F}"/>
              </a:ext>
            </a:extLst>
          </p:cNvPr>
          <p:cNvCxnSpPr>
            <a:cxnSpLocks/>
          </p:cNvCxnSpPr>
          <p:nvPr/>
        </p:nvCxnSpPr>
        <p:spPr>
          <a:xfrm flipV="1">
            <a:off x="4688407" y="5424375"/>
            <a:ext cx="0" cy="271801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60C0E1E-2E60-4A3A-AE94-5B8771FFB031}"/>
              </a:ext>
            </a:extLst>
          </p:cNvPr>
          <p:cNvCxnSpPr>
            <a:cxnSpLocks/>
          </p:cNvCxnSpPr>
          <p:nvPr/>
        </p:nvCxnSpPr>
        <p:spPr>
          <a:xfrm>
            <a:off x="3804383" y="5878589"/>
            <a:ext cx="45374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A7A77262-8A6E-4CF5-8000-EC5D4F0809D3}"/>
              </a:ext>
            </a:extLst>
          </p:cNvPr>
          <p:cNvCxnSpPr>
            <a:cxnSpLocks/>
          </p:cNvCxnSpPr>
          <p:nvPr/>
        </p:nvCxnSpPr>
        <p:spPr>
          <a:xfrm>
            <a:off x="3804383" y="6345595"/>
            <a:ext cx="45374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59575FF-4EE5-4164-AEC9-3D647BCC242C}"/>
              </a:ext>
            </a:extLst>
          </p:cNvPr>
          <p:cNvSpPr/>
          <p:nvPr/>
        </p:nvSpPr>
        <p:spPr>
          <a:xfrm>
            <a:off x="176565" y="523174"/>
            <a:ext cx="377128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F2652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Internal structure of the CPU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E4EA603-0F81-F918-2D79-69764DD66AA7}"/>
              </a:ext>
            </a:extLst>
          </p:cNvPr>
          <p:cNvGrpSpPr/>
          <p:nvPr/>
        </p:nvGrpSpPr>
        <p:grpSpPr>
          <a:xfrm>
            <a:off x="319130" y="2400565"/>
            <a:ext cx="2108069" cy="2303453"/>
            <a:chOff x="319130" y="2400565"/>
            <a:chExt cx="2108069" cy="2303453"/>
          </a:xfrm>
          <a:solidFill>
            <a:srgbClr val="D9D9D9"/>
          </a:solidFill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5C30D96-27C4-FA71-3685-F4946785F153}"/>
                </a:ext>
              </a:extLst>
            </p:cNvPr>
            <p:cNvSpPr/>
            <p:nvPr/>
          </p:nvSpPr>
          <p:spPr>
            <a:xfrm>
              <a:off x="319130" y="2400565"/>
              <a:ext cx="2108069" cy="2303453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sz="1100" b="1" dirty="0">
                  <a:solidFill>
                    <a:schemeClr val="bg1">
                      <a:lumMod val="50000"/>
                    </a:schemeClr>
                  </a:solidFill>
                </a:rPr>
                <a:t>Decode unit</a:t>
              </a:r>
            </a:p>
            <a:p>
              <a:pPr algn="ctr"/>
              <a:endParaRPr lang="en-GB" sz="1100" b="1" dirty="0">
                <a:solidFill>
                  <a:schemeClr val="tx1"/>
                </a:solidFill>
              </a:endParaRPr>
            </a:p>
          </p:txBody>
        </p:sp>
        <p:pic>
          <p:nvPicPr>
            <p:cNvPr id="79" name="Graphic 78" descr="Gears with solid fill">
              <a:extLst>
                <a:ext uri="{FF2B5EF4-FFF2-40B4-BE49-F238E27FC236}">
                  <a16:creationId xmlns:a16="http://schemas.microsoft.com/office/drawing/2014/main" id="{E36B8079-E0D8-BCCC-AD23-83E354637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35490" y="2702448"/>
              <a:ext cx="1639963" cy="16399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499717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</TotalTime>
  <Words>2269</Words>
  <Application>Microsoft Office PowerPoint</Application>
  <PresentationFormat>Widescreen</PresentationFormat>
  <Paragraphs>917</Paragraphs>
  <Slides>20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Century Gothic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92</cp:revision>
  <dcterms:created xsi:type="dcterms:W3CDTF">2019-10-14T15:21:06Z</dcterms:created>
  <dcterms:modified xsi:type="dcterms:W3CDTF">2022-05-23T09:30:57Z</dcterms:modified>
</cp:coreProperties>
</file>