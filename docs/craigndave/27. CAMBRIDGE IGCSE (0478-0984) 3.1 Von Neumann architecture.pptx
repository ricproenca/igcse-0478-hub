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8"/>
  </p:notesMasterIdLst>
  <p:handoutMasterIdLst>
    <p:handoutMasterId r:id="rId19"/>
  </p:handoutMasterIdLst>
  <p:sldIdLst>
    <p:sldId id="257" r:id="rId2"/>
    <p:sldId id="261" r:id="rId3"/>
    <p:sldId id="319" r:id="rId4"/>
    <p:sldId id="271" r:id="rId5"/>
    <p:sldId id="320" r:id="rId6"/>
    <p:sldId id="264" r:id="rId7"/>
    <p:sldId id="321" r:id="rId8"/>
    <p:sldId id="266" r:id="rId9"/>
    <p:sldId id="267" r:id="rId10"/>
    <p:sldId id="322" r:id="rId11"/>
    <p:sldId id="268" r:id="rId12"/>
    <p:sldId id="269" r:id="rId13"/>
    <p:sldId id="262" r:id="rId14"/>
    <p:sldId id="263" r:id="rId15"/>
    <p:sldId id="260" r:id="rId16"/>
    <p:sldId id="291"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26521"/>
    <a:srgbClr val="FFFFFF"/>
    <a:srgbClr val="0087B1"/>
    <a:srgbClr val="000956"/>
    <a:srgbClr val="99E265"/>
    <a:srgbClr val="008C8C"/>
    <a:srgbClr val="00B2B2"/>
    <a:srgbClr val="26C9FF"/>
    <a:srgbClr val="7CD0DA"/>
    <a:srgbClr val="197DD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0165" autoAdjust="0"/>
    <p:restoredTop sz="94660"/>
  </p:normalViewPr>
  <p:slideViewPr>
    <p:cSldViewPr snapToGrid="0">
      <p:cViewPr varScale="1">
        <p:scale>
          <a:sx n="103" d="100"/>
          <a:sy n="103" d="100"/>
        </p:scale>
        <p:origin x="654" y="108"/>
      </p:cViewPr>
      <p:guideLst>
        <p:guide orient="horz" pos="2160"/>
        <p:guide pos="3840"/>
      </p:guideLst>
    </p:cSldViewPr>
  </p:slideViewPr>
  <p:notesTextViewPr>
    <p:cViewPr>
      <p:scale>
        <a:sx n="1" d="1"/>
        <a:sy n="1" d="1"/>
      </p:scale>
      <p:origin x="0" y="0"/>
    </p:cViewPr>
  </p:notesTextViewPr>
  <p:sorterViewPr>
    <p:cViewPr varScale="1">
      <p:scale>
        <a:sx n="100" d="100"/>
        <a:sy n="100" d="100"/>
      </p:scale>
      <p:origin x="0" y="0"/>
    </p:cViewPr>
  </p:sorterViewPr>
  <p:notesViewPr>
    <p:cSldViewPr snapToGrid="0">
      <p:cViewPr varScale="1">
        <p:scale>
          <a:sx n="86" d="100"/>
          <a:sy n="86" d="100"/>
        </p:scale>
        <p:origin x="3408" y="84"/>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68A9BFE-ABCA-48CD-8813-9FF553341774}" type="doc">
      <dgm:prSet loTypeId="urn:microsoft.com/office/officeart/2005/8/layout/cycle1" loCatId="cycle" qsTypeId="urn:microsoft.com/office/officeart/2005/8/quickstyle/simple5" qsCatId="simple" csTypeId="urn:microsoft.com/office/officeart/2005/8/colors/colorful1" csCatId="colorful" phldr="1"/>
      <dgm:spPr/>
      <dgm:t>
        <a:bodyPr/>
        <a:lstStyle/>
        <a:p>
          <a:endParaRPr lang="en-GB"/>
        </a:p>
      </dgm:t>
    </dgm:pt>
    <dgm:pt modelId="{6842DA50-CEE8-47B5-B931-7A9393136184}">
      <dgm:prSet phldrT="[Text]"/>
      <dgm:spPr/>
      <dgm:t>
        <a:bodyPr/>
        <a:lstStyle/>
        <a:p>
          <a:r>
            <a:rPr lang="en-GB" dirty="0">
              <a:effectLst>
                <a:glow rad="228600">
                  <a:srgbClr val="F26521">
                    <a:alpha val="40000"/>
                  </a:srgbClr>
                </a:glow>
              </a:effectLst>
            </a:rPr>
            <a:t>Fetch</a:t>
          </a:r>
        </a:p>
      </dgm:t>
    </dgm:pt>
    <dgm:pt modelId="{12477C33-A3F3-4DDB-9F3C-FE5C58E1F1D5}" type="parTrans" cxnId="{6D4501A0-5EEB-40A9-B0A4-8C715F299173}">
      <dgm:prSet/>
      <dgm:spPr/>
      <dgm:t>
        <a:bodyPr/>
        <a:lstStyle/>
        <a:p>
          <a:endParaRPr lang="en-GB"/>
        </a:p>
      </dgm:t>
    </dgm:pt>
    <dgm:pt modelId="{B8AA122B-A3F6-4DFE-A1E3-9BFCE7A87C39}" type="sibTrans" cxnId="{6D4501A0-5EEB-40A9-B0A4-8C715F299173}">
      <dgm:prSet/>
      <dgm:spPr/>
      <dgm:t>
        <a:bodyPr/>
        <a:lstStyle/>
        <a:p>
          <a:endParaRPr lang="en-GB"/>
        </a:p>
      </dgm:t>
    </dgm:pt>
    <dgm:pt modelId="{BE36BA5D-9AEC-46F0-9263-5B32A2D05211}">
      <dgm:prSet phldrT="[Text]"/>
      <dgm:spPr/>
      <dgm:t>
        <a:bodyPr/>
        <a:lstStyle/>
        <a:p>
          <a:r>
            <a:rPr lang="en-GB" dirty="0"/>
            <a:t>Decode</a:t>
          </a:r>
        </a:p>
      </dgm:t>
    </dgm:pt>
    <dgm:pt modelId="{BA9EE12F-930B-4B2B-94F6-EE37FEB216F4}" type="parTrans" cxnId="{5B5E18A9-B41C-4EDA-89E4-A734E163C4EF}">
      <dgm:prSet/>
      <dgm:spPr/>
      <dgm:t>
        <a:bodyPr/>
        <a:lstStyle/>
        <a:p>
          <a:endParaRPr lang="en-GB"/>
        </a:p>
      </dgm:t>
    </dgm:pt>
    <dgm:pt modelId="{C85AEC76-63E3-476B-A692-C8F6A25AD157}" type="sibTrans" cxnId="{5B5E18A9-B41C-4EDA-89E4-A734E163C4EF}">
      <dgm:prSet/>
      <dgm:spPr/>
      <dgm:t>
        <a:bodyPr/>
        <a:lstStyle/>
        <a:p>
          <a:endParaRPr lang="en-GB"/>
        </a:p>
      </dgm:t>
    </dgm:pt>
    <dgm:pt modelId="{A770D5D2-7337-4D98-8B0F-2C2793FB4DB9}">
      <dgm:prSet phldrT="[Text]"/>
      <dgm:spPr/>
      <dgm:t>
        <a:bodyPr/>
        <a:lstStyle/>
        <a:p>
          <a:r>
            <a:rPr lang="en-GB" dirty="0"/>
            <a:t>Execute</a:t>
          </a:r>
        </a:p>
      </dgm:t>
    </dgm:pt>
    <dgm:pt modelId="{D2705AFC-BFBF-43A9-8C4C-161618814E83}" type="parTrans" cxnId="{205330DE-97AB-481C-97B0-03F777D5DEE9}">
      <dgm:prSet/>
      <dgm:spPr/>
      <dgm:t>
        <a:bodyPr/>
        <a:lstStyle/>
        <a:p>
          <a:endParaRPr lang="en-GB"/>
        </a:p>
      </dgm:t>
    </dgm:pt>
    <dgm:pt modelId="{6AAE54C8-AE29-4956-A449-E3FA667B8A5B}" type="sibTrans" cxnId="{205330DE-97AB-481C-97B0-03F777D5DEE9}">
      <dgm:prSet/>
      <dgm:spPr/>
      <dgm:t>
        <a:bodyPr/>
        <a:lstStyle/>
        <a:p>
          <a:endParaRPr lang="en-GB"/>
        </a:p>
      </dgm:t>
    </dgm:pt>
    <dgm:pt modelId="{7A1C98A6-2B1F-4DFA-9489-58E38EADB9B3}" type="pres">
      <dgm:prSet presAssocID="{168A9BFE-ABCA-48CD-8813-9FF553341774}" presName="cycle" presStyleCnt="0">
        <dgm:presLayoutVars>
          <dgm:dir/>
          <dgm:resizeHandles val="exact"/>
        </dgm:presLayoutVars>
      </dgm:prSet>
      <dgm:spPr/>
    </dgm:pt>
    <dgm:pt modelId="{E22742FA-E403-4B11-9B5C-CE7E6BB98FD5}" type="pres">
      <dgm:prSet presAssocID="{6842DA50-CEE8-47B5-B931-7A9393136184}" presName="dummy" presStyleCnt="0"/>
      <dgm:spPr/>
    </dgm:pt>
    <dgm:pt modelId="{CB292671-4C80-404E-8B72-59D887C6BBAE}" type="pres">
      <dgm:prSet presAssocID="{6842DA50-CEE8-47B5-B931-7A9393136184}" presName="node" presStyleLbl="revTx" presStyleIdx="0" presStyleCnt="3">
        <dgm:presLayoutVars>
          <dgm:bulletEnabled val="1"/>
        </dgm:presLayoutVars>
      </dgm:prSet>
      <dgm:spPr/>
    </dgm:pt>
    <dgm:pt modelId="{C1AED320-1753-4C0D-842F-2519B09C6001}" type="pres">
      <dgm:prSet presAssocID="{B8AA122B-A3F6-4DFE-A1E3-9BFCE7A87C39}" presName="sibTrans" presStyleLbl="node1" presStyleIdx="0" presStyleCnt="3"/>
      <dgm:spPr/>
    </dgm:pt>
    <dgm:pt modelId="{16DE466F-B06F-4EF2-B443-28569848D041}" type="pres">
      <dgm:prSet presAssocID="{BE36BA5D-9AEC-46F0-9263-5B32A2D05211}" presName="dummy" presStyleCnt="0"/>
      <dgm:spPr/>
    </dgm:pt>
    <dgm:pt modelId="{8BA9E797-AE85-4DB0-97ED-DD2F469D835D}" type="pres">
      <dgm:prSet presAssocID="{BE36BA5D-9AEC-46F0-9263-5B32A2D05211}" presName="node" presStyleLbl="revTx" presStyleIdx="1" presStyleCnt="3">
        <dgm:presLayoutVars>
          <dgm:bulletEnabled val="1"/>
        </dgm:presLayoutVars>
      </dgm:prSet>
      <dgm:spPr/>
    </dgm:pt>
    <dgm:pt modelId="{B58D9F07-3E86-4426-AC66-AA8FB1EA7B68}" type="pres">
      <dgm:prSet presAssocID="{C85AEC76-63E3-476B-A692-C8F6A25AD157}" presName="sibTrans" presStyleLbl="node1" presStyleIdx="1" presStyleCnt="3"/>
      <dgm:spPr/>
    </dgm:pt>
    <dgm:pt modelId="{62D1857F-0C84-44E7-AB84-DAFEB677ED3D}" type="pres">
      <dgm:prSet presAssocID="{A770D5D2-7337-4D98-8B0F-2C2793FB4DB9}" presName="dummy" presStyleCnt="0"/>
      <dgm:spPr/>
    </dgm:pt>
    <dgm:pt modelId="{910C47DD-1A2D-43CB-B8F6-2C86C7C954AC}" type="pres">
      <dgm:prSet presAssocID="{A770D5D2-7337-4D98-8B0F-2C2793FB4DB9}" presName="node" presStyleLbl="revTx" presStyleIdx="2" presStyleCnt="3">
        <dgm:presLayoutVars>
          <dgm:bulletEnabled val="1"/>
        </dgm:presLayoutVars>
      </dgm:prSet>
      <dgm:spPr/>
    </dgm:pt>
    <dgm:pt modelId="{482C25EE-16B8-4C69-BE50-2A045E73C4FF}" type="pres">
      <dgm:prSet presAssocID="{6AAE54C8-AE29-4956-A449-E3FA667B8A5B}" presName="sibTrans" presStyleLbl="node1" presStyleIdx="2" presStyleCnt="3"/>
      <dgm:spPr/>
    </dgm:pt>
  </dgm:ptLst>
  <dgm:cxnLst>
    <dgm:cxn modelId="{7DDDB71B-EE09-4768-9BB0-B41D5234495C}" type="presOf" srcId="{168A9BFE-ABCA-48CD-8813-9FF553341774}" destId="{7A1C98A6-2B1F-4DFA-9489-58E38EADB9B3}" srcOrd="0" destOrd="0" presId="urn:microsoft.com/office/officeart/2005/8/layout/cycle1"/>
    <dgm:cxn modelId="{77E6A060-A62E-474E-A78D-4321D35F4086}" type="presOf" srcId="{6AAE54C8-AE29-4956-A449-E3FA667B8A5B}" destId="{482C25EE-16B8-4C69-BE50-2A045E73C4FF}" srcOrd="0" destOrd="0" presId="urn:microsoft.com/office/officeart/2005/8/layout/cycle1"/>
    <dgm:cxn modelId="{B406557B-E5F0-4A45-B026-75F4F71F09BF}" type="presOf" srcId="{B8AA122B-A3F6-4DFE-A1E3-9BFCE7A87C39}" destId="{C1AED320-1753-4C0D-842F-2519B09C6001}" srcOrd="0" destOrd="0" presId="urn:microsoft.com/office/officeart/2005/8/layout/cycle1"/>
    <dgm:cxn modelId="{D73E317E-353E-4014-ABB6-4CC3BD9AF526}" type="presOf" srcId="{C85AEC76-63E3-476B-A692-C8F6A25AD157}" destId="{B58D9F07-3E86-4426-AC66-AA8FB1EA7B68}" srcOrd="0" destOrd="0" presId="urn:microsoft.com/office/officeart/2005/8/layout/cycle1"/>
    <dgm:cxn modelId="{F1CA2290-D789-4886-9527-7E04DF5F4EE7}" type="presOf" srcId="{BE36BA5D-9AEC-46F0-9263-5B32A2D05211}" destId="{8BA9E797-AE85-4DB0-97ED-DD2F469D835D}" srcOrd="0" destOrd="0" presId="urn:microsoft.com/office/officeart/2005/8/layout/cycle1"/>
    <dgm:cxn modelId="{6D4501A0-5EEB-40A9-B0A4-8C715F299173}" srcId="{168A9BFE-ABCA-48CD-8813-9FF553341774}" destId="{6842DA50-CEE8-47B5-B931-7A9393136184}" srcOrd="0" destOrd="0" parTransId="{12477C33-A3F3-4DDB-9F3C-FE5C58E1F1D5}" sibTransId="{B8AA122B-A3F6-4DFE-A1E3-9BFCE7A87C39}"/>
    <dgm:cxn modelId="{5B5E18A9-B41C-4EDA-89E4-A734E163C4EF}" srcId="{168A9BFE-ABCA-48CD-8813-9FF553341774}" destId="{BE36BA5D-9AEC-46F0-9263-5B32A2D05211}" srcOrd="1" destOrd="0" parTransId="{BA9EE12F-930B-4B2B-94F6-EE37FEB216F4}" sibTransId="{C85AEC76-63E3-476B-A692-C8F6A25AD157}"/>
    <dgm:cxn modelId="{CEFD9DB0-86EA-4485-96C8-40B3008FF674}" type="presOf" srcId="{6842DA50-CEE8-47B5-B931-7A9393136184}" destId="{CB292671-4C80-404E-8B72-59D887C6BBAE}" srcOrd="0" destOrd="0" presId="urn:microsoft.com/office/officeart/2005/8/layout/cycle1"/>
    <dgm:cxn modelId="{205330DE-97AB-481C-97B0-03F777D5DEE9}" srcId="{168A9BFE-ABCA-48CD-8813-9FF553341774}" destId="{A770D5D2-7337-4D98-8B0F-2C2793FB4DB9}" srcOrd="2" destOrd="0" parTransId="{D2705AFC-BFBF-43A9-8C4C-161618814E83}" sibTransId="{6AAE54C8-AE29-4956-A449-E3FA667B8A5B}"/>
    <dgm:cxn modelId="{6001A7F2-2E69-4A5C-BA8D-C68EA8101432}" type="presOf" srcId="{A770D5D2-7337-4D98-8B0F-2C2793FB4DB9}" destId="{910C47DD-1A2D-43CB-B8F6-2C86C7C954AC}" srcOrd="0" destOrd="0" presId="urn:microsoft.com/office/officeart/2005/8/layout/cycle1"/>
    <dgm:cxn modelId="{F609313E-A46B-474E-94D3-F61298D1A5C0}" type="presParOf" srcId="{7A1C98A6-2B1F-4DFA-9489-58E38EADB9B3}" destId="{E22742FA-E403-4B11-9B5C-CE7E6BB98FD5}" srcOrd="0" destOrd="0" presId="urn:microsoft.com/office/officeart/2005/8/layout/cycle1"/>
    <dgm:cxn modelId="{050DB78F-50C8-48F4-8C4C-4B1BAB759462}" type="presParOf" srcId="{7A1C98A6-2B1F-4DFA-9489-58E38EADB9B3}" destId="{CB292671-4C80-404E-8B72-59D887C6BBAE}" srcOrd="1" destOrd="0" presId="urn:microsoft.com/office/officeart/2005/8/layout/cycle1"/>
    <dgm:cxn modelId="{BF501004-5329-4FE3-ADDB-648CD9FEAC73}" type="presParOf" srcId="{7A1C98A6-2B1F-4DFA-9489-58E38EADB9B3}" destId="{C1AED320-1753-4C0D-842F-2519B09C6001}" srcOrd="2" destOrd="0" presId="urn:microsoft.com/office/officeart/2005/8/layout/cycle1"/>
    <dgm:cxn modelId="{48A92789-60E7-4E96-A89B-77668C45F249}" type="presParOf" srcId="{7A1C98A6-2B1F-4DFA-9489-58E38EADB9B3}" destId="{16DE466F-B06F-4EF2-B443-28569848D041}" srcOrd="3" destOrd="0" presId="urn:microsoft.com/office/officeart/2005/8/layout/cycle1"/>
    <dgm:cxn modelId="{CAB52800-044F-43E8-90A8-F31F84B7D487}" type="presParOf" srcId="{7A1C98A6-2B1F-4DFA-9489-58E38EADB9B3}" destId="{8BA9E797-AE85-4DB0-97ED-DD2F469D835D}" srcOrd="4" destOrd="0" presId="urn:microsoft.com/office/officeart/2005/8/layout/cycle1"/>
    <dgm:cxn modelId="{32E147CF-83CB-4B11-A3DC-034AAAD4FA5C}" type="presParOf" srcId="{7A1C98A6-2B1F-4DFA-9489-58E38EADB9B3}" destId="{B58D9F07-3E86-4426-AC66-AA8FB1EA7B68}" srcOrd="5" destOrd="0" presId="urn:microsoft.com/office/officeart/2005/8/layout/cycle1"/>
    <dgm:cxn modelId="{183D90BA-87A1-42DC-B19F-09A131845296}" type="presParOf" srcId="{7A1C98A6-2B1F-4DFA-9489-58E38EADB9B3}" destId="{62D1857F-0C84-44E7-AB84-DAFEB677ED3D}" srcOrd="6" destOrd="0" presId="urn:microsoft.com/office/officeart/2005/8/layout/cycle1"/>
    <dgm:cxn modelId="{003BB5B3-221A-4526-8BD2-28C0229F6B87}" type="presParOf" srcId="{7A1C98A6-2B1F-4DFA-9489-58E38EADB9B3}" destId="{910C47DD-1A2D-43CB-B8F6-2C86C7C954AC}" srcOrd="7" destOrd="0" presId="urn:microsoft.com/office/officeart/2005/8/layout/cycle1"/>
    <dgm:cxn modelId="{057D068E-5248-44F3-B38C-336B16169FD5}" type="presParOf" srcId="{7A1C98A6-2B1F-4DFA-9489-58E38EADB9B3}" destId="{482C25EE-16B8-4C69-BE50-2A045E73C4FF}" srcOrd="8" destOrd="0" presId="urn:microsoft.com/office/officeart/2005/8/layout/cycle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168A9BFE-ABCA-48CD-8813-9FF553341774}" type="doc">
      <dgm:prSet loTypeId="urn:microsoft.com/office/officeart/2005/8/layout/cycle1" loCatId="cycle" qsTypeId="urn:microsoft.com/office/officeart/2005/8/quickstyle/simple5" qsCatId="simple" csTypeId="urn:microsoft.com/office/officeart/2005/8/colors/colorful1" csCatId="colorful" phldr="1"/>
      <dgm:spPr/>
      <dgm:t>
        <a:bodyPr/>
        <a:lstStyle/>
        <a:p>
          <a:endParaRPr lang="en-GB"/>
        </a:p>
      </dgm:t>
    </dgm:pt>
    <dgm:pt modelId="{6842DA50-CEE8-47B5-B931-7A9393136184}">
      <dgm:prSet phldrT="[Text]"/>
      <dgm:spPr/>
      <dgm:t>
        <a:bodyPr/>
        <a:lstStyle/>
        <a:p>
          <a:r>
            <a:rPr lang="en-GB" dirty="0">
              <a:effectLst>
                <a:glow rad="228600">
                  <a:srgbClr val="F26521">
                    <a:alpha val="40000"/>
                  </a:srgbClr>
                </a:glow>
              </a:effectLst>
            </a:rPr>
            <a:t>Fetch</a:t>
          </a:r>
        </a:p>
      </dgm:t>
    </dgm:pt>
    <dgm:pt modelId="{12477C33-A3F3-4DDB-9F3C-FE5C58E1F1D5}" type="parTrans" cxnId="{6D4501A0-5EEB-40A9-B0A4-8C715F299173}">
      <dgm:prSet/>
      <dgm:spPr/>
      <dgm:t>
        <a:bodyPr/>
        <a:lstStyle/>
        <a:p>
          <a:endParaRPr lang="en-GB"/>
        </a:p>
      </dgm:t>
    </dgm:pt>
    <dgm:pt modelId="{B8AA122B-A3F6-4DFE-A1E3-9BFCE7A87C39}" type="sibTrans" cxnId="{6D4501A0-5EEB-40A9-B0A4-8C715F299173}">
      <dgm:prSet/>
      <dgm:spPr/>
      <dgm:t>
        <a:bodyPr/>
        <a:lstStyle/>
        <a:p>
          <a:endParaRPr lang="en-GB"/>
        </a:p>
      </dgm:t>
    </dgm:pt>
    <dgm:pt modelId="{BE36BA5D-9AEC-46F0-9263-5B32A2D05211}">
      <dgm:prSet phldrT="[Text]"/>
      <dgm:spPr/>
      <dgm:t>
        <a:bodyPr/>
        <a:lstStyle/>
        <a:p>
          <a:r>
            <a:rPr lang="en-GB" dirty="0"/>
            <a:t>Decode</a:t>
          </a:r>
        </a:p>
      </dgm:t>
    </dgm:pt>
    <dgm:pt modelId="{BA9EE12F-930B-4B2B-94F6-EE37FEB216F4}" type="parTrans" cxnId="{5B5E18A9-B41C-4EDA-89E4-A734E163C4EF}">
      <dgm:prSet/>
      <dgm:spPr/>
      <dgm:t>
        <a:bodyPr/>
        <a:lstStyle/>
        <a:p>
          <a:endParaRPr lang="en-GB"/>
        </a:p>
      </dgm:t>
    </dgm:pt>
    <dgm:pt modelId="{C85AEC76-63E3-476B-A692-C8F6A25AD157}" type="sibTrans" cxnId="{5B5E18A9-B41C-4EDA-89E4-A734E163C4EF}">
      <dgm:prSet/>
      <dgm:spPr/>
      <dgm:t>
        <a:bodyPr/>
        <a:lstStyle/>
        <a:p>
          <a:endParaRPr lang="en-GB"/>
        </a:p>
      </dgm:t>
    </dgm:pt>
    <dgm:pt modelId="{A770D5D2-7337-4D98-8B0F-2C2793FB4DB9}">
      <dgm:prSet phldrT="[Text]"/>
      <dgm:spPr/>
      <dgm:t>
        <a:bodyPr/>
        <a:lstStyle/>
        <a:p>
          <a:r>
            <a:rPr lang="en-GB" dirty="0"/>
            <a:t>Execute</a:t>
          </a:r>
        </a:p>
      </dgm:t>
    </dgm:pt>
    <dgm:pt modelId="{D2705AFC-BFBF-43A9-8C4C-161618814E83}" type="parTrans" cxnId="{205330DE-97AB-481C-97B0-03F777D5DEE9}">
      <dgm:prSet/>
      <dgm:spPr/>
      <dgm:t>
        <a:bodyPr/>
        <a:lstStyle/>
        <a:p>
          <a:endParaRPr lang="en-GB"/>
        </a:p>
      </dgm:t>
    </dgm:pt>
    <dgm:pt modelId="{6AAE54C8-AE29-4956-A449-E3FA667B8A5B}" type="sibTrans" cxnId="{205330DE-97AB-481C-97B0-03F777D5DEE9}">
      <dgm:prSet/>
      <dgm:spPr/>
      <dgm:t>
        <a:bodyPr/>
        <a:lstStyle/>
        <a:p>
          <a:endParaRPr lang="en-GB"/>
        </a:p>
      </dgm:t>
    </dgm:pt>
    <dgm:pt modelId="{7A1C98A6-2B1F-4DFA-9489-58E38EADB9B3}" type="pres">
      <dgm:prSet presAssocID="{168A9BFE-ABCA-48CD-8813-9FF553341774}" presName="cycle" presStyleCnt="0">
        <dgm:presLayoutVars>
          <dgm:dir/>
          <dgm:resizeHandles val="exact"/>
        </dgm:presLayoutVars>
      </dgm:prSet>
      <dgm:spPr/>
    </dgm:pt>
    <dgm:pt modelId="{E22742FA-E403-4B11-9B5C-CE7E6BB98FD5}" type="pres">
      <dgm:prSet presAssocID="{6842DA50-CEE8-47B5-B931-7A9393136184}" presName="dummy" presStyleCnt="0"/>
      <dgm:spPr/>
    </dgm:pt>
    <dgm:pt modelId="{CB292671-4C80-404E-8B72-59D887C6BBAE}" type="pres">
      <dgm:prSet presAssocID="{6842DA50-CEE8-47B5-B931-7A9393136184}" presName="node" presStyleLbl="revTx" presStyleIdx="0" presStyleCnt="3">
        <dgm:presLayoutVars>
          <dgm:bulletEnabled val="1"/>
        </dgm:presLayoutVars>
      </dgm:prSet>
      <dgm:spPr/>
    </dgm:pt>
    <dgm:pt modelId="{C1AED320-1753-4C0D-842F-2519B09C6001}" type="pres">
      <dgm:prSet presAssocID="{B8AA122B-A3F6-4DFE-A1E3-9BFCE7A87C39}" presName="sibTrans" presStyleLbl="node1" presStyleIdx="0" presStyleCnt="3"/>
      <dgm:spPr/>
    </dgm:pt>
    <dgm:pt modelId="{16DE466F-B06F-4EF2-B443-28569848D041}" type="pres">
      <dgm:prSet presAssocID="{BE36BA5D-9AEC-46F0-9263-5B32A2D05211}" presName="dummy" presStyleCnt="0"/>
      <dgm:spPr/>
    </dgm:pt>
    <dgm:pt modelId="{8BA9E797-AE85-4DB0-97ED-DD2F469D835D}" type="pres">
      <dgm:prSet presAssocID="{BE36BA5D-9AEC-46F0-9263-5B32A2D05211}" presName="node" presStyleLbl="revTx" presStyleIdx="1" presStyleCnt="3">
        <dgm:presLayoutVars>
          <dgm:bulletEnabled val="1"/>
        </dgm:presLayoutVars>
      </dgm:prSet>
      <dgm:spPr/>
    </dgm:pt>
    <dgm:pt modelId="{B58D9F07-3E86-4426-AC66-AA8FB1EA7B68}" type="pres">
      <dgm:prSet presAssocID="{C85AEC76-63E3-476B-A692-C8F6A25AD157}" presName="sibTrans" presStyleLbl="node1" presStyleIdx="1" presStyleCnt="3"/>
      <dgm:spPr/>
    </dgm:pt>
    <dgm:pt modelId="{62D1857F-0C84-44E7-AB84-DAFEB677ED3D}" type="pres">
      <dgm:prSet presAssocID="{A770D5D2-7337-4D98-8B0F-2C2793FB4DB9}" presName="dummy" presStyleCnt="0"/>
      <dgm:spPr/>
    </dgm:pt>
    <dgm:pt modelId="{910C47DD-1A2D-43CB-B8F6-2C86C7C954AC}" type="pres">
      <dgm:prSet presAssocID="{A770D5D2-7337-4D98-8B0F-2C2793FB4DB9}" presName="node" presStyleLbl="revTx" presStyleIdx="2" presStyleCnt="3">
        <dgm:presLayoutVars>
          <dgm:bulletEnabled val="1"/>
        </dgm:presLayoutVars>
      </dgm:prSet>
      <dgm:spPr/>
    </dgm:pt>
    <dgm:pt modelId="{482C25EE-16B8-4C69-BE50-2A045E73C4FF}" type="pres">
      <dgm:prSet presAssocID="{6AAE54C8-AE29-4956-A449-E3FA667B8A5B}" presName="sibTrans" presStyleLbl="node1" presStyleIdx="2" presStyleCnt="3"/>
      <dgm:spPr/>
    </dgm:pt>
  </dgm:ptLst>
  <dgm:cxnLst>
    <dgm:cxn modelId="{7DDDB71B-EE09-4768-9BB0-B41D5234495C}" type="presOf" srcId="{168A9BFE-ABCA-48CD-8813-9FF553341774}" destId="{7A1C98A6-2B1F-4DFA-9489-58E38EADB9B3}" srcOrd="0" destOrd="0" presId="urn:microsoft.com/office/officeart/2005/8/layout/cycle1"/>
    <dgm:cxn modelId="{77E6A060-A62E-474E-A78D-4321D35F4086}" type="presOf" srcId="{6AAE54C8-AE29-4956-A449-E3FA667B8A5B}" destId="{482C25EE-16B8-4C69-BE50-2A045E73C4FF}" srcOrd="0" destOrd="0" presId="urn:microsoft.com/office/officeart/2005/8/layout/cycle1"/>
    <dgm:cxn modelId="{B406557B-E5F0-4A45-B026-75F4F71F09BF}" type="presOf" srcId="{B8AA122B-A3F6-4DFE-A1E3-9BFCE7A87C39}" destId="{C1AED320-1753-4C0D-842F-2519B09C6001}" srcOrd="0" destOrd="0" presId="urn:microsoft.com/office/officeart/2005/8/layout/cycle1"/>
    <dgm:cxn modelId="{D73E317E-353E-4014-ABB6-4CC3BD9AF526}" type="presOf" srcId="{C85AEC76-63E3-476B-A692-C8F6A25AD157}" destId="{B58D9F07-3E86-4426-AC66-AA8FB1EA7B68}" srcOrd="0" destOrd="0" presId="urn:microsoft.com/office/officeart/2005/8/layout/cycle1"/>
    <dgm:cxn modelId="{F1CA2290-D789-4886-9527-7E04DF5F4EE7}" type="presOf" srcId="{BE36BA5D-9AEC-46F0-9263-5B32A2D05211}" destId="{8BA9E797-AE85-4DB0-97ED-DD2F469D835D}" srcOrd="0" destOrd="0" presId="urn:microsoft.com/office/officeart/2005/8/layout/cycle1"/>
    <dgm:cxn modelId="{6D4501A0-5EEB-40A9-B0A4-8C715F299173}" srcId="{168A9BFE-ABCA-48CD-8813-9FF553341774}" destId="{6842DA50-CEE8-47B5-B931-7A9393136184}" srcOrd="0" destOrd="0" parTransId="{12477C33-A3F3-4DDB-9F3C-FE5C58E1F1D5}" sibTransId="{B8AA122B-A3F6-4DFE-A1E3-9BFCE7A87C39}"/>
    <dgm:cxn modelId="{5B5E18A9-B41C-4EDA-89E4-A734E163C4EF}" srcId="{168A9BFE-ABCA-48CD-8813-9FF553341774}" destId="{BE36BA5D-9AEC-46F0-9263-5B32A2D05211}" srcOrd="1" destOrd="0" parTransId="{BA9EE12F-930B-4B2B-94F6-EE37FEB216F4}" sibTransId="{C85AEC76-63E3-476B-A692-C8F6A25AD157}"/>
    <dgm:cxn modelId="{CEFD9DB0-86EA-4485-96C8-40B3008FF674}" type="presOf" srcId="{6842DA50-CEE8-47B5-B931-7A9393136184}" destId="{CB292671-4C80-404E-8B72-59D887C6BBAE}" srcOrd="0" destOrd="0" presId="urn:microsoft.com/office/officeart/2005/8/layout/cycle1"/>
    <dgm:cxn modelId="{205330DE-97AB-481C-97B0-03F777D5DEE9}" srcId="{168A9BFE-ABCA-48CD-8813-9FF553341774}" destId="{A770D5D2-7337-4D98-8B0F-2C2793FB4DB9}" srcOrd="2" destOrd="0" parTransId="{D2705AFC-BFBF-43A9-8C4C-161618814E83}" sibTransId="{6AAE54C8-AE29-4956-A449-E3FA667B8A5B}"/>
    <dgm:cxn modelId="{6001A7F2-2E69-4A5C-BA8D-C68EA8101432}" type="presOf" srcId="{A770D5D2-7337-4D98-8B0F-2C2793FB4DB9}" destId="{910C47DD-1A2D-43CB-B8F6-2C86C7C954AC}" srcOrd="0" destOrd="0" presId="urn:microsoft.com/office/officeart/2005/8/layout/cycle1"/>
    <dgm:cxn modelId="{F609313E-A46B-474E-94D3-F61298D1A5C0}" type="presParOf" srcId="{7A1C98A6-2B1F-4DFA-9489-58E38EADB9B3}" destId="{E22742FA-E403-4B11-9B5C-CE7E6BB98FD5}" srcOrd="0" destOrd="0" presId="urn:microsoft.com/office/officeart/2005/8/layout/cycle1"/>
    <dgm:cxn modelId="{050DB78F-50C8-48F4-8C4C-4B1BAB759462}" type="presParOf" srcId="{7A1C98A6-2B1F-4DFA-9489-58E38EADB9B3}" destId="{CB292671-4C80-404E-8B72-59D887C6BBAE}" srcOrd="1" destOrd="0" presId="urn:microsoft.com/office/officeart/2005/8/layout/cycle1"/>
    <dgm:cxn modelId="{BF501004-5329-4FE3-ADDB-648CD9FEAC73}" type="presParOf" srcId="{7A1C98A6-2B1F-4DFA-9489-58E38EADB9B3}" destId="{C1AED320-1753-4C0D-842F-2519B09C6001}" srcOrd="2" destOrd="0" presId="urn:microsoft.com/office/officeart/2005/8/layout/cycle1"/>
    <dgm:cxn modelId="{48A92789-60E7-4E96-A89B-77668C45F249}" type="presParOf" srcId="{7A1C98A6-2B1F-4DFA-9489-58E38EADB9B3}" destId="{16DE466F-B06F-4EF2-B443-28569848D041}" srcOrd="3" destOrd="0" presId="urn:microsoft.com/office/officeart/2005/8/layout/cycle1"/>
    <dgm:cxn modelId="{CAB52800-044F-43E8-90A8-F31F84B7D487}" type="presParOf" srcId="{7A1C98A6-2B1F-4DFA-9489-58E38EADB9B3}" destId="{8BA9E797-AE85-4DB0-97ED-DD2F469D835D}" srcOrd="4" destOrd="0" presId="urn:microsoft.com/office/officeart/2005/8/layout/cycle1"/>
    <dgm:cxn modelId="{32E147CF-83CB-4B11-A3DC-034AAAD4FA5C}" type="presParOf" srcId="{7A1C98A6-2B1F-4DFA-9489-58E38EADB9B3}" destId="{B58D9F07-3E86-4426-AC66-AA8FB1EA7B68}" srcOrd="5" destOrd="0" presId="urn:microsoft.com/office/officeart/2005/8/layout/cycle1"/>
    <dgm:cxn modelId="{183D90BA-87A1-42DC-B19F-09A131845296}" type="presParOf" srcId="{7A1C98A6-2B1F-4DFA-9489-58E38EADB9B3}" destId="{62D1857F-0C84-44E7-AB84-DAFEB677ED3D}" srcOrd="6" destOrd="0" presId="urn:microsoft.com/office/officeart/2005/8/layout/cycle1"/>
    <dgm:cxn modelId="{003BB5B3-221A-4526-8BD2-28C0229F6B87}" type="presParOf" srcId="{7A1C98A6-2B1F-4DFA-9489-58E38EADB9B3}" destId="{910C47DD-1A2D-43CB-B8F6-2C86C7C954AC}" srcOrd="7" destOrd="0" presId="urn:microsoft.com/office/officeart/2005/8/layout/cycle1"/>
    <dgm:cxn modelId="{057D068E-5248-44F3-B38C-336B16169FD5}" type="presParOf" srcId="{7A1C98A6-2B1F-4DFA-9489-58E38EADB9B3}" destId="{482C25EE-16B8-4C69-BE50-2A045E73C4FF}" srcOrd="8" destOrd="0" presId="urn:microsoft.com/office/officeart/2005/8/layout/cycle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168A9BFE-ABCA-48CD-8813-9FF553341774}" type="doc">
      <dgm:prSet loTypeId="urn:microsoft.com/office/officeart/2005/8/layout/cycle1" loCatId="cycle" qsTypeId="urn:microsoft.com/office/officeart/2005/8/quickstyle/simple5" qsCatId="simple" csTypeId="urn:microsoft.com/office/officeart/2005/8/colors/colorful1" csCatId="colorful" phldr="1"/>
      <dgm:spPr/>
      <dgm:t>
        <a:bodyPr/>
        <a:lstStyle/>
        <a:p>
          <a:endParaRPr lang="en-GB"/>
        </a:p>
      </dgm:t>
    </dgm:pt>
    <dgm:pt modelId="{6842DA50-CEE8-47B5-B931-7A9393136184}">
      <dgm:prSet phldrT="[Text]"/>
      <dgm:spPr/>
      <dgm:t>
        <a:bodyPr/>
        <a:lstStyle/>
        <a:p>
          <a:r>
            <a:rPr lang="en-GB" dirty="0">
              <a:effectLst>
                <a:glow rad="228600">
                  <a:srgbClr val="F26521">
                    <a:alpha val="40000"/>
                  </a:srgbClr>
                </a:glow>
              </a:effectLst>
            </a:rPr>
            <a:t>Fetch</a:t>
          </a:r>
        </a:p>
      </dgm:t>
    </dgm:pt>
    <dgm:pt modelId="{12477C33-A3F3-4DDB-9F3C-FE5C58E1F1D5}" type="parTrans" cxnId="{6D4501A0-5EEB-40A9-B0A4-8C715F299173}">
      <dgm:prSet/>
      <dgm:spPr/>
      <dgm:t>
        <a:bodyPr/>
        <a:lstStyle/>
        <a:p>
          <a:endParaRPr lang="en-GB"/>
        </a:p>
      </dgm:t>
    </dgm:pt>
    <dgm:pt modelId="{B8AA122B-A3F6-4DFE-A1E3-9BFCE7A87C39}" type="sibTrans" cxnId="{6D4501A0-5EEB-40A9-B0A4-8C715F299173}">
      <dgm:prSet/>
      <dgm:spPr/>
      <dgm:t>
        <a:bodyPr/>
        <a:lstStyle/>
        <a:p>
          <a:endParaRPr lang="en-GB"/>
        </a:p>
      </dgm:t>
    </dgm:pt>
    <dgm:pt modelId="{BE36BA5D-9AEC-46F0-9263-5B32A2D05211}">
      <dgm:prSet phldrT="[Text]"/>
      <dgm:spPr/>
      <dgm:t>
        <a:bodyPr/>
        <a:lstStyle/>
        <a:p>
          <a:r>
            <a:rPr lang="en-GB" dirty="0"/>
            <a:t>Decode</a:t>
          </a:r>
        </a:p>
      </dgm:t>
    </dgm:pt>
    <dgm:pt modelId="{BA9EE12F-930B-4B2B-94F6-EE37FEB216F4}" type="parTrans" cxnId="{5B5E18A9-B41C-4EDA-89E4-A734E163C4EF}">
      <dgm:prSet/>
      <dgm:spPr/>
      <dgm:t>
        <a:bodyPr/>
        <a:lstStyle/>
        <a:p>
          <a:endParaRPr lang="en-GB"/>
        </a:p>
      </dgm:t>
    </dgm:pt>
    <dgm:pt modelId="{C85AEC76-63E3-476B-A692-C8F6A25AD157}" type="sibTrans" cxnId="{5B5E18A9-B41C-4EDA-89E4-A734E163C4EF}">
      <dgm:prSet/>
      <dgm:spPr/>
      <dgm:t>
        <a:bodyPr/>
        <a:lstStyle/>
        <a:p>
          <a:endParaRPr lang="en-GB"/>
        </a:p>
      </dgm:t>
    </dgm:pt>
    <dgm:pt modelId="{A770D5D2-7337-4D98-8B0F-2C2793FB4DB9}">
      <dgm:prSet phldrT="[Text]"/>
      <dgm:spPr/>
      <dgm:t>
        <a:bodyPr/>
        <a:lstStyle/>
        <a:p>
          <a:r>
            <a:rPr lang="en-GB" dirty="0"/>
            <a:t>Execute</a:t>
          </a:r>
        </a:p>
      </dgm:t>
    </dgm:pt>
    <dgm:pt modelId="{D2705AFC-BFBF-43A9-8C4C-161618814E83}" type="parTrans" cxnId="{205330DE-97AB-481C-97B0-03F777D5DEE9}">
      <dgm:prSet/>
      <dgm:spPr/>
      <dgm:t>
        <a:bodyPr/>
        <a:lstStyle/>
        <a:p>
          <a:endParaRPr lang="en-GB"/>
        </a:p>
      </dgm:t>
    </dgm:pt>
    <dgm:pt modelId="{6AAE54C8-AE29-4956-A449-E3FA667B8A5B}" type="sibTrans" cxnId="{205330DE-97AB-481C-97B0-03F777D5DEE9}">
      <dgm:prSet/>
      <dgm:spPr/>
      <dgm:t>
        <a:bodyPr/>
        <a:lstStyle/>
        <a:p>
          <a:endParaRPr lang="en-GB"/>
        </a:p>
      </dgm:t>
    </dgm:pt>
    <dgm:pt modelId="{7A1C98A6-2B1F-4DFA-9489-58E38EADB9B3}" type="pres">
      <dgm:prSet presAssocID="{168A9BFE-ABCA-48CD-8813-9FF553341774}" presName="cycle" presStyleCnt="0">
        <dgm:presLayoutVars>
          <dgm:dir/>
          <dgm:resizeHandles val="exact"/>
        </dgm:presLayoutVars>
      </dgm:prSet>
      <dgm:spPr/>
    </dgm:pt>
    <dgm:pt modelId="{E22742FA-E403-4B11-9B5C-CE7E6BB98FD5}" type="pres">
      <dgm:prSet presAssocID="{6842DA50-CEE8-47B5-B931-7A9393136184}" presName="dummy" presStyleCnt="0"/>
      <dgm:spPr/>
    </dgm:pt>
    <dgm:pt modelId="{CB292671-4C80-404E-8B72-59D887C6BBAE}" type="pres">
      <dgm:prSet presAssocID="{6842DA50-CEE8-47B5-B931-7A9393136184}" presName="node" presStyleLbl="revTx" presStyleIdx="0" presStyleCnt="3">
        <dgm:presLayoutVars>
          <dgm:bulletEnabled val="1"/>
        </dgm:presLayoutVars>
      </dgm:prSet>
      <dgm:spPr/>
    </dgm:pt>
    <dgm:pt modelId="{C1AED320-1753-4C0D-842F-2519B09C6001}" type="pres">
      <dgm:prSet presAssocID="{B8AA122B-A3F6-4DFE-A1E3-9BFCE7A87C39}" presName="sibTrans" presStyleLbl="node1" presStyleIdx="0" presStyleCnt="3"/>
      <dgm:spPr/>
    </dgm:pt>
    <dgm:pt modelId="{16DE466F-B06F-4EF2-B443-28569848D041}" type="pres">
      <dgm:prSet presAssocID="{BE36BA5D-9AEC-46F0-9263-5B32A2D05211}" presName="dummy" presStyleCnt="0"/>
      <dgm:spPr/>
    </dgm:pt>
    <dgm:pt modelId="{8BA9E797-AE85-4DB0-97ED-DD2F469D835D}" type="pres">
      <dgm:prSet presAssocID="{BE36BA5D-9AEC-46F0-9263-5B32A2D05211}" presName="node" presStyleLbl="revTx" presStyleIdx="1" presStyleCnt="3">
        <dgm:presLayoutVars>
          <dgm:bulletEnabled val="1"/>
        </dgm:presLayoutVars>
      </dgm:prSet>
      <dgm:spPr/>
    </dgm:pt>
    <dgm:pt modelId="{B58D9F07-3E86-4426-AC66-AA8FB1EA7B68}" type="pres">
      <dgm:prSet presAssocID="{C85AEC76-63E3-476B-A692-C8F6A25AD157}" presName="sibTrans" presStyleLbl="node1" presStyleIdx="1" presStyleCnt="3"/>
      <dgm:spPr/>
    </dgm:pt>
    <dgm:pt modelId="{62D1857F-0C84-44E7-AB84-DAFEB677ED3D}" type="pres">
      <dgm:prSet presAssocID="{A770D5D2-7337-4D98-8B0F-2C2793FB4DB9}" presName="dummy" presStyleCnt="0"/>
      <dgm:spPr/>
    </dgm:pt>
    <dgm:pt modelId="{910C47DD-1A2D-43CB-B8F6-2C86C7C954AC}" type="pres">
      <dgm:prSet presAssocID="{A770D5D2-7337-4D98-8B0F-2C2793FB4DB9}" presName="node" presStyleLbl="revTx" presStyleIdx="2" presStyleCnt="3">
        <dgm:presLayoutVars>
          <dgm:bulletEnabled val="1"/>
        </dgm:presLayoutVars>
      </dgm:prSet>
      <dgm:spPr/>
    </dgm:pt>
    <dgm:pt modelId="{482C25EE-16B8-4C69-BE50-2A045E73C4FF}" type="pres">
      <dgm:prSet presAssocID="{6AAE54C8-AE29-4956-A449-E3FA667B8A5B}" presName="sibTrans" presStyleLbl="node1" presStyleIdx="2" presStyleCnt="3"/>
      <dgm:spPr/>
    </dgm:pt>
  </dgm:ptLst>
  <dgm:cxnLst>
    <dgm:cxn modelId="{7DDDB71B-EE09-4768-9BB0-B41D5234495C}" type="presOf" srcId="{168A9BFE-ABCA-48CD-8813-9FF553341774}" destId="{7A1C98A6-2B1F-4DFA-9489-58E38EADB9B3}" srcOrd="0" destOrd="0" presId="urn:microsoft.com/office/officeart/2005/8/layout/cycle1"/>
    <dgm:cxn modelId="{77E6A060-A62E-474E-A78D-4321D35F4086}" type="presOf" srcId="{6AAE54C8-AE29-4956-A449-E3FA667B8A5B}" destId="{482C25EE-16B8-4C69-BE50-2A045E73C4FF}" srcOrd="0" destOrd="0" presId="urn:microsoft.com/office/officeart/2005/8/layout/cycle1"/>
    <dgm:cxn modelId="{B406557B-E5F0-4A45-B026-75F4F71F09BF}" type="presOf" srcId="{B8AA122B-A3F6-4DFE-A1E3-9BFCE7A87C39}" destId="{C1AED320-1753-4C0D-842F-2519B09C6001}" srcOrd="0" destOrd="0" presId="urn:microsoft.com/office/officeart/2005/8/layout/cycle1"/>
    <dgm:cxn modelId="{D73E317E-353E-4014-ABB6-4CC3BD9AF526}" type="presOf" srcId="{C85AEC76-63E3-476B-A692-C8F6A25AD157}" destId="{B58D9F07-3E86-4426-AC66-AA8FB1EA7B68}" srcOrd="0" destOrd="0" presId="urn:microsoft.com/office/officeart/2005/8/layout/cycle1"/>
    <dgm:cxn modelId="{F1CA2290-D789-4886-9527-7E04DF5F4EE7}" type="presOf" srcId="{BE36BA5D-9AEC-46F0-9263-5B32A2D05211}" destId="{8BA9E797-AE85-4DB0-97ED-DD2F469D835D}" srcOrd="0" destOrd="0" presId="urn:microsoft.com/office/officeart/2005/8/layout/cycle1"/>
    <dgm:cxn modelId="{6D4501A0-5EEB-40A9-B0A4-8C715F299173}" srcId="{168A9BFE-ABCA-48CD-8813-9FF553341774}" destId="{6842DA50-CEE8-47B5-B931-7A9393136184}" srcOrd="0" destOrd="0" parTransId="{12477C33-A3F3-4DDB-9F3C-FE5C58E1F1D5}" sibTransId="{B8AA122B-A3F6-4DFE-A1E3-9BFCE7A87C39}"/>
    <dgm:cxn modelId="{5B5E18A9-B41C-4EDA-89E4-A734E163C4EF}" srcId="{168A9BFE-ABCA-48CD-8813-9FF553341774}" destId="{BE36BA5D-9AEC-46F0-9263-5B32A2D05211}" srcOrd="1" destOrd="0" parTransId="{BA9EE12F-930B-4B2B-94F6-EE37FEB216F4}" sibTransId="{C85AEC76-63E3-476B-A692-C8F6A25AD157}"/>
    <dgm:cxn modelId="{CEFD9DB0-86EA-4485-96C8-40B3008FF674}" type="presOf" srcId="{6842DA50-CEE8-47B5-B931-7A9393136184}" destId="{CB292671-4C80-404E-8B72-59D887C6BBAE}" srcOrd="0" destOrd="0" presId="urn:microsoft.com/office/officeart/2005/8/layout/cycle1"/>
    <dgm:cxn modelId="{205330DE-97AB-481C-97B0-03F777D5DEE9}" srcId="{168A9BFE-ABCA-48CD-8813-9FF553341774}" destId="{A770D5D2-7337-4D98-8B0F-2C2793FB4DB9}" srcOrd="2" destOrd="0" parTransId="{D2705AFC-BFBF-43A9-8C4C-161618814E83}" sibTransId="{6AAE54C8-AE29-4956-A449-E3FA667B8A5B}"/>
    <dgm:cxn modelId="{6001A7F2-2E69-4A5C-BA8D-C68EA8101432}" type="presOf" srcId="{A770D5D2-7337-4D98-8B0F-2C2793FB4DB9}" destId="{910C47DD-1A2D-43CB-B8F6-2C86C7C954AC}" srcOrd="0" destOrd="0" presId="urn:microsoft.com/office/officeart/2005/8/layout/cycle1"/>
    <dgm:cxn modelId="{F609313E-A46B-474E-94D3-F61298D1A5C0}" type="presParOf" srcId="{7A1C98A6-2B1F-4DFA-9489-58E38EADB9B3}" destId="{E22742FA-E403-4B11-9B5C-CE7E6BB98FD5}" srcOrd="0" destOrd="0" presId="urn:microsoft.com/office/officeart/2005/8/layout/cycle1"/>
    <dgm:cxn modelId="{050DB78F-50C8-48F4-8C4C-4B1BAB759462}" type="presParOf" srcId="{7A1C98A6-2B1F-4DFA-9489-58E38EADB9B3}" destId="{CB292671-4C80-404E-8B72-59D887C6BBAE}" srcOrd="1" destOrd="0" presId="urn:microsoft.com/office/officeart/2005/8/layout/cycle1"/>
    <dgm:cxn modelId="{BF501004-5329-4FE3-ADDB-648CD9FEAC73}" type="presParOf" srcId="{7A1C98A6-2B1F-4DFA-9489-58E38EADB9B3}" destId="{C1AED320-1753-4C0D-842F-2519B09C6001}" srcOrd="2" destOrd="0" presId="urn:microsoft.com/office/officeart/2005/8/layout/cycle1"/>
    <dgm:cxn modelId="{48A92789-60E7-4E96-A89B-77668C45F249}" type="presParOf" srcId="{7A1C98A6-2B1F-4DFA-9489-58E38EADB9B3}" destId="{16DE466F-B06F-4EF2-B443-28569848D041}" srcOrd="3" destOrd="0" presId="urn:microsoft.com/office/officeart/2005/8/layout/cycle1"/>
    <dgm:cxn modelId="{CAB52800-044F-43E8-90A8-F31F84B7D487}" type="presParOf" srcId="{7A1C98A6-2B1F-4DFA-9489-58E38EADB9B3}" destId="{8BA9E797-AE85-4DB0-97ED-DD2F469D835D}" srcOrd="4" destOrd="0" presId="urn:microsoft.com/office/officeart/2005/8/layout/cycle1"/>
    <dgm:cxn modelId="{32E147CF-83CB-4B11-A3DC-034AAAD4FA5C}" type="presParOf" srcId="{7A1C98A6-2B1F-4DFA-9489-58E38EADB9B3}" destId="{B58D9F07-3E86-4426-AC66-AA8FB1EA7B68}" srcOrd="5" destOrd="0" presId="urn:microsoft.com/office/officeart/2005/8/layout/cycle1"/>
    <dgm:cxn modelId="{183D90BA-87A1-42DC-B19F-09A131845296}" type="presParOf" srcId="{7A1C98A6-2B1F-4DFA-9489-58E38EADB9B3}" destId="{62D1857F-0C84-44E7-AB84-DAFEB677ED3D}" srcOrd="6" destOrd="0" presId="urn:microsoft.com/office/officeart/2005/8/layout/cycle1"/>
    <dgm:cxn modelId="{003BB5B3-221A-4526-8BD2-28C0229F6B87}" type="presParOf" srcId="{7A1C98A6-2B1F-4DFA-9489-58E38EADB9B3}" destId="{910C47DD-1A2D-43CB-B8F6-2C86C7C954AC}" srcOrd="7" destOrd="0" presId="urn:microsoft.com/office/officeart/2005/8/layout/cycle1"/>
    <dgm:cxn modelId="{057D068E-5248-44F3-B38C-336B16169FD5}" type="presParOf" srcId="{7A1C98A6-2B1F-4DFA-9489-58E38EADB9B3}" destId="{482C25EE-16B8-4C69-BE50-2A045E73C4FF}" srcOrd="8" destOrd="0" presId="urn:microsoft.com/office/officeart/2005/8/layout/cycle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168A9BFE-ABCA-48CD-8813-9FF553341774}" type="doc">
      <dgm:prSet loTypeId="urn:microsoft.com/office/officeart/2005/8/layout/cycle1" loCatId="cycle" qsTypeId="urn:microsoft.com/office/officeart/2005/8/quickstyle/simple5" qsCatId="simple" csTypeId="urn:microsoft.com/office/officeart/2005/8/colors/colorful1" csCatId="colorful" phldr="1"/>
      <dgm:spPr/>
      <dgm:t>
        <a:bodyPr/>
        <a:lstStyle/>
        <a:p>
          <a:endParaRPr lang="en-GB"/>
        </a:p>
      </dgm:t>
    </dgm:pt>
    <dgm:pt modelId="{6842DA50-CEE8-47B5-B931-7A9393136184}">
      <dgm:prSet phldrT="[Text]"/>
      <dgm:spPr/>
      <dgm:t>
        <a:bodyPr/>
        <a:lstStyle/>
        <a:p>
          <a:r>
            <a:rPr lang="en-GB" dirty="0"/>
            <a:t>Fetch</a:t>
          </a:r>
        </a:p>
      </dgm:t>
    </dgm:pt>
    <dgm:pt modelId="{12477C33-A3F3-4DDB-9F3C-FE5C58E1F1D5}" type="parTrans" cxnId="{6D4501A0-5EEB-40A9-B0A4-8C715F299173}">
      <dgm:prSet/>
      <dgm:spPr/>
      <dgm:t>
        <a:bodyPr/>
        <a:lstStyle/>
        <a:p>
          <a:endParaRPr lang="en-GB"/>
        </a:p>
      </dgm:t>
    </dgm:pt>
    <dgm:pt modelId="{B8AA122B-A3F6-4DFE-A1E3-9BFCE7A87C39}" type="sibTrans" cxnId="{6D4501A0-5EEB-40A9-B0A4-8C715F299173}">
      <dgm:prSet/>
      <dgm:spPr/>
      <dgm:t>
        <a:bodyPr/>
        <a:lstStyle/>
        <a:p>
          <a:endParaRPr lang="en-GB"/>
        </a:p>
      </dgm:t>
    </dgm:pt>
    <dgm:pt modelId="{BE36BA5D-9AEC-46F0-9263-5B32A2D05211}">
      <dgm:prSet phldrT="[Text]"/>
      <dgm:spPr/>
      <dgm:t>
        <a:bodyPr/>
        <a:lstStyle/>
        <a:p>
          <a:r>
            <a:rPr lang="en-GB" dirty="0">
              <a:effectLst>
                <a:glow rad="228600">
                  <a:srgbClr val="F26521">
                    <a:alpha val="40000"/>
                  </a:srgbClr>
                </a:glow>
              </a:effectLst>
            </a:rPr>
            <a:t>Decode</a:t>
          </a:r>
        </a:p>
      </dgm:t>
    </dgm:pt>
    <dgm:pt modelId="{BA9EE12F-930B-4B2B-94F6-EE37FEB216F4}" type="parTrans" cxnId="{5B5E18A9-B41C-4EDA-89E4-A734E163C4EF}">
      <dgm:prSet/>
      <dgm:spPr/>
      <dgm:t>
        <a:bodyPr/>
        <a:lstStyle/>
        <a:p>
          <a:endParaRPr lang="en-GB"/>
        </a:p>
      </dgm:t>
    </dgm:pt>
    <dgm:pt modelId="{C85AEC76-63E3-476B-A692-C8F6A25AD157}" type="sibTrans" cxnId="{5B5E18A9-B41C-4EDA-89E4-A734E163C4EF}">
      <dgm:prSet/>
      <dgm:spPr/>
      <dgm:t>
        <a:bodyPr/>
        <a:lstStyle/>
        <a:p>
          <a:endParaRPr lang="en-GB"/>
        </a:p>
      </dgm:t>
    </dgm:pt>
    <dgm:pt modelId="{A770D5D2-7337-4D98-8B0F-2C2793FB4DB9}">
      <dgm:prSet phldrT="[Text]"/>
      <dgm:spPr/>
      <dgm:t>
        <a:bodyPr/>
        <a:lstStyle/>
        <a:p>
          <a:r>
            <a:rPr lang="en-GB" dirty="0"/>
            <a:t>Execute</a:t>
          </a:r>
        </a:p>
      </dgm:t>
    </dgm:pt>
    <dgm:pt modelId="{D2705AFC-BFBF-43A9-8C4C-161618814E83}" type="parTrans" cxnId="{205330DE-97AB-481C-97B0-03F777D5DEE9}">
      <dgm:prSet/>
      <dgm:spPr/>
      <dgm:t>
        <a:bodyPr/>
        <a:lstStyle/>
        <a:p>
          <a:endParaRPr lang="en-GB"/>
        </a:p>
      </dgm:t>
    </dgm:pt>
    <dgm:pt modelId="{6AAE54C8-AE29-4956-A449-E3FA667B8A5B}" type="sibTrans" cxnId="{205330DE-97AB-481C-97B0-03F777D5DEE9}">
      <dgm:prSet/>
      <dgm:spPr/>
      <dgm:t>
        <a:bodyPr/>
        <a:lstStyle/>
        <a:p>
          <a:endParaRPr lang="en-GB"/>
        </a:p>
      </dgm:t>
    </dgm:pt>
    <dgm:pt modelId="{7A1C98A6-2B1F-4DFA-9489-58E38EADB9B3}" type="pres">
      <dgm:prSet presAssocID="{168A9BFE-ABCA-48CD-8813-9FF553341774}" presName="cycle" presStyleCnt="0">
        <dgm:presLayoutVars>
          <dgm:dir/>
          <dgm:resizeHandles val="exact"/>
        </dgm:presLayoutVars>
      </dgm:prSet>
      <dgm:spPr/>
    </dgm:pt>
    <dgm:pt modelId="{E22742FA-E403-4B11-9B5C-CE7E6BB98FD5}" type="pres">
      <dgm:prSet presAssocID="{6842DA50-CEE8-47B5-B931-7A9393136184}" presName="dummy" presStyleCnt="0"/>
      <dgm:spPr/>
    </dgm:pt>
    <dgm:pt modelId="{CB292671-4C80-404E-8B72-59D887C6BBAE}" type="pres">
      <dgm:prSet presAssocID="{6842DA50-CEE8-47B5-B931-7A9393136184}" presName="node" presStyleLbl="revTx" presStyleIdx="0" presStyleCnt="3">
        <dgm:presLayoutVars>
          <dgm:bulletEnabled val="1"/>
        </dgm:presLayoutVars>
      </dgm:prSet>
      <dgm:spPr/>
    </dgm:pt>
    <dgm:pt modelId="{C1AED320-1753-4C0D-842F-2519B09C6001}" type="pres">
      <dgm:prSet presAssocID="{B8AA122B-A3F6-4DFE-A1E3-9BFCE7A87C39}" presName="sibTrans" presStyleLbl="node1" presStyleIdx="0" presStyleCnt="3"/>
      <dgm:spPr/>
    </dgm:pt>
    <dgm:pt modelId="{16DE466F-B06F-4EF2-B443-28569848D041}" type="pres">
      <dgm:prSet presAssocID="{BE36BA5D-9AEC-46F0-9263-5B32A2D05211}" presName="dummy" presStyleCnt="0"/>
      <dgm:spPr/>
    </dgm:pt>
    <dgm:pt modelId="{8BA9E797-AE85-4DB0-97ED-DD2F469D835D}" type="pres">
      <dgm:prSet presAssocID="{BE36BA5D-9AEC-46F0-9263-5B32A2D05211}" presName="node" presStyleLbl="revTx" presStyleIdx="1" presStyleCnt="3">
        <dgm:presLayoutVars>
          <dgm:bulletEnabled val="1"/>
        </dgm:presLayoutVars>
      </dgm:prSet>
      <dgm:spPr/>
    </dgm:pt>
    <dgm:pt modelId="{B58D9F07-3E86-4426-AC66-AA8FB1EA7B68}" type="pres">
      <dgm:prSet presAssocID="{C85AEC76-63E3-476B-A692-C8F6A25AD157}" presName="sibTrans" presStyleLbl="node1" presStyleIdx="1" presStyleCnt="3"/>
      <dgm:spPr/>
    </dgm:pt>
    <dgm:pt modelId="{62D1857F-0C84-44E7-AB84-DAFEB677ED3D}" type="pres">
      <dgm:prSet presAssocID="{A770D5D2-7337-4D98-8B0F-2C2793FB4DB9}" presName="dummy" presStyleCnt="0"/>
      <dgm:spPr/>
    </dgm:pt>
    <dgm:pt modelId="{910C47DD-1A2D-43CB-B8F6-2C86C7C954AC}" type="pres">
      <dgm:prSet presAssocID="{A770D5D2-7337-4D98-8B0F-2C2793FB4DB9}" presName="node" presStyleLbl="revTx" presStyleIdx="2" presStyleCnt="3">
        <dgm:presLayoutVars>
          <dgm:bulletEnabled val="1"/>
        </dgm:presLayoutVars>
      </dgm:prSet>
      <dgm:spPr/>
    </dgm:pt>
    <dgm:pt modelId="{482C25EE-16B8-4C69-BE50-2A045E73C4FF}" type="pres">
      <dgm:prSet presAssocID="{6AAE54C8-AE29-4956-A449-E3FA667B8A5B}" presName="sibTrans" presStyleLbl="node1" presStyleIdx="2" presStyleCnt="3"/>
      <dgm:spPr/>
    </dgm:pt>
  </dgm:ptLst>
  <dgm:cxnLst>
    <dgm:cxn modelId="{7DDDB71B-EE09-4768-9BB0-B41D5234495C}" type="presOf" srcId="{168A9BFE-ABCA-48CD-8813-9FF553341774}" destId="{7A1C98A6-2B1F-4DFA-9489-58E38EADB9B3}" srcOrd="0" destOrd="0" presId="urn:microsoft.com/office/officeart/2005/8/layout/cycle1"/>
    <dgm:cxn modelId="{77E6A060-A62E-474E-A78D-4321D35F4086}" type="presOf" srcId="{6AAE54C8-AE29-4956-A449-E3FA667B8A5B}" destId="{482C25EE-16B8-4C69-BE50-2A045E73C4FF}" srcOrd="0" destOrd="0" presId="urn:microsoft.com/office/officeart/2005/8/layout/cycle1"/>
    <dgm:cxn modelId="{B406557B-E5F0-4A45-B026-75F4F71F09BF}" type="presOf" srcId="{B8AA122B-A3F6-4DFE-A1E3-9BFCE7A87C39}" destId="{C1AED320-1753-4C0D-842F-2519B09C6001}" srcOrd="0" destOrd="0" presId="urn:microsoft.com/office/officeart/2005/8/layout/cycle1"/>
    <dgm:cxn modelId="{D73E317E-353E-4014-ABB6-4CC3BD9AF526}" type="presOf" srcId="{C85AEC76-63E3-476B-A692-C8F6A25AD157}" destId="{B58D9F07-3E86-4426-AC66-AA8FB1EA7B68}" srcOrd="0" destOrd="0" presId="urn:microsoft.com/office/officeart/2005/8/layout/cycle1"/>
    <dgm:cxn modelId="{F1CA2290-D789-4886-9527-7E04DF5F4EE7}" type="presOf" srcId="{BE36BA5D-9AEC-46F0-9263-5B32A2D05211}" destId="{8BA9E797-AE85-4DB0-97ED-DD2F469D835D}" srcOrd="0" destOrd="0" presId="urn:microsoft.com/office/officeart/2005/8/layout/cycle1"/>
    <dgm:cxn modelId="{6D4501A0-5EEB-40A9-B0A4-8C715F299173}" srcId="{168A9BFE-ABCA-48CD-8813-9FF553341774}" destId="{6842DA50-CEE8-47B5-B931-7A9393136184}" srcOrd="0" destOrd="0" parTransId="{12477C33-A3F3-4DDB-9F3C-FE5C58E1F1D5}" sibTransId="{B8AA122B-A3F6-4DFE-A1E3-9BFCE7A87C39}"/>
    <dgm:cxn modelId="{5B5E18A9-B41C-4EDA-89E4-A734E163C4EF}" srcId="{168A9BFE-ABCA-48CD-8813-9FF553341774}" destId="{BE36BA5D-9AEC-46F0-9263-5B32A2D05211}" srcOrd="1" destOrd="0" parTransId="{BA9EE12F-930B-4B2B-94F6-EE37FEB216F4}" sibTransId="{C85AEC76-63E3-476B-A692-C8F6A25AD157}"/>
    <dgm:cxn modelId="{CEFD9DB0-86EA-4485-96C8-40B3008FF674}" type="presOf" srcId="{6842DA50-CEE8-47B5-B931-7A9393136184}" destId="{CB292671-4C80-404E-8B72-59D887C6BBAE}" srcOrd="0" destOrd="0" presId="urn:microsoft.com/office/officeart/2005/8/layout/cycle1"/>
    <dgm:cxn modelId="{205330DE-97AB-481C-97B0-03F777D5DEE9}" srcId="{168A9BFE-ABCA-48CD-8813-9FF553341774}" destId="{A770D5D2-7337-4D98-8B0F-2C2793FB4DB9}" srcOrd="2" destOrd="0" parTransId="{D2705AFC-BFBF-43A9-8C4C-161618814E83}" sibTransId="{6AAE54C8-AE29-4956-A449-E3FA667B8A5B}"/>
    <dgm:cxn modelId="{6001A7F2-2E69-4A5C-BA8D-C68EA8101432}" type="presOf" srcId="{A770D5D2-7337-4D98-8B0F-2C2793FB4DB9}" destId="{910C47DD-1A2D-43CB-B8F6-2C86C7C954AC}" srcOrd="0" destOrd="0" presId="urn:microsoft.com/office/officeart/2005/8/layout/cycle1"/>
    <dgm:cxn modelId="{F609313E-A46B-474E-94D3-F61298D1A5C0}" type="presParOf" srcId="{7A1C98A6-2B1F-4DFA-9489-58E38EADB9B3}" destId="{E22742FA-E403-4B11-9B5C-CE7E6BB98FD5}" srcOrd="0" destOrd="0" presId="urn:microsoft.com/office/officeart/2005/8/layout/cycle1"/>
    <dgm:cxn modelId="{050DB78F-50C8-48F4-8C4C-4B1BAB759462}" type="presParOf" srcId="{7A1C98A6-2B1F-4DFA-9489-58E38EADB9B3}" destId="{CB292671-4C80-404E-8B72-59D887C6BBAE}" srcOrd="1" destOrd="0" presId="urn:microsoft.com/office/officeart/2005/8/layout/cycle1"/>
    <dgm:cxn modelId="{BF501004-5329-4FE3-ADDB-648CD9FEAC73}" type="presParOf" srcId="{7A1C98A6-2B1F-4DFA-9489-58E38EADB9B3}" destId="{C1AED320-1753-4C0D-842F-2519B09C6001}" srcOrd="2" destOrd="0" presId="urn:microsoft.com/office/officeart/2005/8/layout/cycle1"/>
    <dgm:cxn modelId="{48A92789-60E7-4E96-A89B-77668C45F249}" type="presParOf" srcId="{7A1C98A6-2B1F-4DFA-9489-58E38EADB9B3}" destId="{16DE466F-B06F-4EF2-B443-28569848D041}" srcOrd="3" destOrd="0" presId="urn:microsoft.com/office/officeart/2005/8/layout/cycle1"/>
    <dgm:cxn modelId="{CAB52800-044F-43E8-90A8-F31F84B7D487}" type="presParOf" srcId="{7A1C98A6-2B1F-4DFA-9489-58E38EADB9B3}" destId="{8BA9E797-AE85-4DB0-97ED-DD2F469D835D}" srcOrd="4" destOrd="0" presId="urn:microsoft.com/office/officeart/2005/8/layout/cycle1"/>
    <dgm:cxn modelId="{32E147CF-83CB-4B11-A3DC-034AAAD4FA5C}" type="presParOf" srcId="{7A1C98A6-2B1F-4DFA-9489-58E38EADB9B3}" destId="{B58D9F07-3E86-4426-AC66-AA8FB1EA7B68}" srcOrd="5" destOrd="0" presId="urn:microsoft.com/office/officeart/2005/8/layout/cycle1"/>
    <dgm:cxn modelId="{183D90BA-87A1-42DC-B19F-09A131845296}" type="presParOf" srcId="{7A1C98A6-2B1F-4DFA-9489-58E38EADB9B3}" destId="{62D1857F-0C84-44E7-AB84-DAFEB677ED3D}" srcOrd="6" destOrd="0" presId="urn:microsoft.com/office/officeart/2005/8/layout/cycle1"/>
    <dgm:cxn modelId="{003BB5B3-221A-4526-8BD2-28C0229F6B87}" type="presParOf" srcId="{7A1C98A6-2B1F-4DFA-9489-58E38EADB9B3}" destId="{910C47DD-1A2D-43CB-B8F6-2C86C7C954AC}" srcOrd="7" destOrd="0" presId="urn:microsoft.com/office/officeart/2005/8/layout/cycle1"/>
    <dgm:cxn modelId="{057D068E-5248-44F3-B38C-336B16169FD5}" type="presParOf" srcId="{7A1C98A6-2B1F-4DFA-9489-58E38EADB9B3}" destId="{482C25EE-16B8-4C69-BE50-2A045E73C4FF}" srcOrd="8" destOrd="0" presId="urn:microsoft.com/office/officeart/2005/8/layout/cycle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168A9BFE-ABCA-48CD-8813-9FF553341774}" type="doc">
      <dgm:prSet loTypeId="urn:microsoft.com/office/officeart/2005/8/layout/cycle1" loCatId="cycle" qsTypeId="urn:microsoft.com/office/officeart/2005/8/quickstyle/simple5" qsCatId="simple" csTypeId="urn:microsoft.com/office/officeart/2005/8/colors/colorful1" csCatId="colorful" phldr="1"/>
      <dgm:spPr/>
      <dgm:t>
        <a:bodyPr/>
        <a:lstStyle/>
        <a:p>
          <a:endParaRPr lang="en-GB"/>
        </a:p>
      </dgm:t>
    </dgm:pt>
    <dgm:pt modelId="{6842DA50-CEE8-47B5-B931-7A9393136184}">
      <dgm:prSet phldrT="[Text]"/>
      <dgm:spPr/>
      <dgm:t>
        <a:bodyPr/>
        <a:lstStyle/>
        <a:p>
          <a:r>
            <a:rPr lang="en-GB" dirty="0"/>
            <a:t>Fetch</a:t>
          </a:r>
        </a:p>
      </dgm:t>
    </dgm:pt>
    <dgm:pt modelId="{12477C33-A3F3-4DDB-9F3C-FE5C58E1F1D5}" type="parTrans" cxnId="{6D4501A0-5EEB-40A9-B0A4-8C715F299173}">
      <dgm:prSet/>
      <dgm:spPr/>
      <dgm:t>
        <a:bodyPr/>
        <a:lstStyle/>
        <a:p>
          <a:endParaRPr lang="en-GB"/>
        </a:p>
      </dgm:t>
    </dgm:pt>
    <dgm:pt modelId="{B8AA122B-A3F6-4DFE-A1E3-9BFCE7A87C39}" type="sibTrans" cxnId="{6D4501A0-5EEB-40A9-B0A4-8C715F299173}">
      <dgm:prSet/>
      <dgm:spPr/>
      <dgm:t>
        <a:bodyPr/>
        <a:lstStyle/>
        <a:p>
          <a:endParaRPr lang="en-GB"/>
        </a:p>
      </dgm:t>
    </dgm:pt>
    <dgm:pt modelId="{BE36BA5D-9AEC-46F0-9263-5B32A2D05211}">
      <dgm:prSet phldrT="[Text]"/>
      <dgm:spPr/>
      <dgm:t>
        <a:bodyPr/>
        <a:lstStyle/>
        <a:p>
          <a:r>
            <a:rPr lang="en-GB" dirty="0"/>
            <a:t>Decode</a:t>
          </a:r>
        </a:p>
      </dgm:t>
    </dgm:pt>
    <dgm:pt modelId="{BA9EE12F-930B-4B2B-94F6-EE37FEB216F4}" type="parTrans" cxnId="{5B5E18A9-B41C-4EDA-89E4-A734E163C4EF}">
      <dgm:prSet/>
      <dgm:spPr/>
      <dgm:t>
        <a:bodyPr/>
        <a:lstStyle/>
        <a:p>
          <a:endParaRPr lang="en-GB"/>
        </a:p>
      </dgm:t>
    </dgm:pt>
    <dgm:pt modelId="{C85AEC76-63E3-476B-A692-C8F6A25AD157}" type="sibTrans" cxnId="{5B5E18A9-B41C-4EDA-89E4-A734E163C4EF}">
      <dgm:prSet/>
      <dgm:spPr/>
      <dgm:t>
        <a:bodyPr/>
        <a:lstStyle/>
        <a:p>
          <a:endParaRPr lang="en-GB"/>
        </a:p>
      </dgm:t>
    </dgm:pt>
    <dgm:pt modelId="{A770D5D2-7337-4D98-8B0F-2C2793FB4DB9}">
      <dgm:prSet phldrT="[Text]"/>
      <dgm:spPr>
        <a:effectLst>
          <a:glow rad="228600">
            <a:schemeClr val="accent2">
              <a:satMod val="175000"/>
              <a:alpha val="40000"/>
            </a:schemeClr>
          </a:glow>
        </a:effectLst>
      </dgm:spPr>
      <dgm:t>
        <a:bodyPr/>
        <a:lstStyle/>
        <a:p>
          <a:r>
            <a:rPr lang="en-GB" dirty="0">
              <a:effectLst>
                <a:glow rad="228600">
                  <a:srgbClr val="F26521">
                    <a:alpha val="40000"/>
                  </a:srgbClr>
                </a:glow>
              </a:effectLst>
            </a:rPr>
            <a:t>Execute</a:t>
          </a:r>
        </a:p>
      </dgm:t>
    </dgm:pt>
    <dgm:pt modelId="{D2705AFC-BFBF-43A9-8C4C-161618814E83}" type="parTrans" cxnId="{205330DE-97AB-481C-97B0-03F777D5DEE9}">
      <dgm:prSet/>
      <dgm:spPr/>
      <dgm:t>
        <a:bodyPr/>
        <a:lstStyle/>
        <a:p>
          <a:endParaRPr lang="en-GB"/>
        </a:p>
      </dgm:t>
    </dgm:pt>
    <dgm:pt modelId="{6AAE54C8-AE29-4956-A449-E3FA667B8A5B}" type="sibTrans" cxnId="{205330DE-97AB-481C-97B0-03F777D5DEE9}">
      <dgm:prSet/>
      <dgm:spPr/>
      <dgm:t>
        <a:bodyPr/>
        <a:lstStyle/>
        <a:p>
          <a:endParaRPr lang="en-GB"/>
        </a:p>
      </dgm:t>
    </dgm:pt>
    <dgm:pt modelId="{7A1C98A6-2B1F-4DFA-9489-58E38EADB9B3}" type="pres">
      <dgm:prSet presAssocID="{168A9BFE-ABCA-48CD-8813-9FF553341774}" presName="cycle" presStyleCnt="0">
        <dgm:presLayoutVars>
          <dgm:dir/>
          <dgm:resizeHandles val="exact"/>
        </dgm:presLayoutVars>
      </dgm:prSet>
      <dgm:spPr/>
    </dgm:pt>
    <dgm:pt modelId="{E22742FA-E403-4B11-9B5C-CE7E6BB98FD5}" type="pres">
      <dgm:prSet presAssocID="{6842DA50-CEE8-47B5-B931-7A9393136184}" presName="dummy" presStyleCnt="0"/>
      <dgm:spPr/>
    </dgm:pt>
    <dgm:pt modelId="{CB292671-4C80-404E-8B72-59D887C6BBAE}" type="pres">
      <dgm:prSet presAssocID="{6842DA50-CEE8-47B5-B931-7A9393136184}" presName="node" presStyleLbl="revTx" presStyleIdx="0" presStyleCnt="3">
        <dgm:presLayoutVars>
          <dgm:bulletEnabled val="1"/>
        </dgm:presLayoutVars>
      </dgm:prSet>
      <dgm:spPr/>
    </dgm:pt>
    <dgm:pt modelId="{C1AED320-1753-4C0D-842F-2519B09C6001}" type="pres">
      <dgm:prSet presAssocID="{B8AA122B-A3F6-4DFE-A1E3-9BFCE7A87C39}" presName="sibTrans" presStyleLbl="node1" presStyleIdx="0" presStyleCnt="3"/>
      <dgm:spPr/>
    </dgm:pt>
    <dgm:pt modelId="{16DE466F-B06F-4EF2-B443-28569848D041}" type="pres">
      <dgm:prSet presAssocID="{BE36BA5D-9AEC-46F0-9263-5B32A2D05211}" presName="dummy" presStyleCnt="0"/>
      <dgm:spPr/>
    </dgm:pt>
    <dgm:pt modelId="{8BA9E797-AE85-4DB0-97ED-DD2F469D835D}" type="pres">
      <dgm:prSet presAssocID="{BE36BA5D-9AEC-46F0-9263-5B32A2D05211}" presName="node" presStyleLbl="revTx" presStyleIdx="1" presStyleCnt="3">
        <dgm:presLayoutVars>
          <dgm:bulletEnabled val="1"/>
        </dgm:presLayoutVars>
      </dgm:prSet>
      <dgm:spPr/>
    </dgm:pt>
    <dgm:pt modelId="{B58D9F07-3E86-4426-AC66-AA8FB1EA7B68}" type="pres">
      <dgm:prSet presAssocID="{C85AEC76-63E3-476B-A692-C8F6A25AD157}" presName="sibTrans" presStyleLbl="node1" presStyleIdx="1" presStyleCnt="3"/>
      <dgm:spPr/>
    </dgm:pt>
    <dgm:pt modelId="{62D1857F-0C84-44E7-AB84-DAFEB677ED3D}" type="pres">
      <dgm:prSet presAssocID="{A770D5D2-7337-4D98-8B0F-2C2793FB4DB9}" presName="dummy" presStyleCnt="0"/>
      <dgm:spPr/>
    </dgm:pt>
    <dgm:pt modelId="{910C47DD-1A2D-43CB-B8F6-2C86C7C954AC}" type="pres">
      <dgm:prSet presAssocID="{A770D5D2-7337-4D98-8B0F-2C2793FB4DB9}" presName="node" presStyleLbl="revTx" presStyleIdx="2" presStyleCnt="3">
        <dgm:presLayoutVars>
          <dgm:bulletEnabled val="1"/>
        </dgm:presLayoutVars>
      </dgm:prSet>
      <dgm:spPr/>
    </dgm:pt>
    <dgm:pt modelId="{482C25EE-16B8-4C69-BE50-2A045E73C4FF}" type="pres">
      <dgm:prSet presAssocID="{6AAE54C8-AE29-4956-A449-E3FA667B8A5B}" presName="sibTrans" presStyleLbl="node1" presStyleIdx="2" presStyleCnt="3"/>
      <dgm:spPr/>
    </dgm:pt>
  </dgm:ptLst>
  <dgm:cxnLst>
    <dgm:cxn modelId="{7DDDB71B-EE09-4768-9BB0-B41D5234495C}" type="presOf" srcId="{168A9BFE-ABCA-48CD-8813-9FF553341774}" destId="{7A1C98A6-2B1F-4DFA-9489-58E38EADB9B3}" srcOrd="0" destOrd="0" presId="urn:microsoft.com/office/officeart/2005/8/layout/cycle1"/>
    <dgm:cxn modelId="{77E6A060-A62E-474E-A78D-4321D35F4086}" type="presOf" srcId="{6AAE54C8-AE29-4956-A449-E3FA667B8A5B}" destId="{482C25EE-16B8-4C69-BE50-2A045E73C4FF}" srcOrd="0" destOrd="0" presId="urn:microsoft.com/office/officeart/2005/8/layout/cycle1"/>
    <dgm:cxn modelId="{B406557B-E5F0-4A45-B026-75F4F71F09BF}" type="presOf" srcId="{B8AA122B-A3F6-4DFE-A1E3-9BFCE7A87C39}" destId="{C1AED320-1753-4C0D-842F-2519B09C6001}" srcOrd="0" destOrd="0" presId="urn:microsoft.com/office/officeart/2005/8/layout/cycle1"/>
    <dgm:cxn modelId="{D73E317E-353E-4014-ABB6-4CC3BD9AF526}" type="presOf" srcId="{C85AEC76-63E3-476B-A692-C8F6A25AD157}" destId="{B58D9F07-3E86-4426-AC66-AA8FB1EA7B68}" srcOrd="0" destOrd="0" presId="urn:microsoft.com/office/officeart/2005/8/layout/cycle1"/>
    <dgm:cxn modelId="{F1CA2290-D789-4886-9527-7E04DF5F4EE7}" type="presOf" srcId="{BE36BA5D-9AEC-46F0-9263-5B32A2D05211}" destId="{8BA9E797-AE85-4DB0-97ED-DD2F469D835D}" srcOrd="0" destOrd="0" presId="urn:microsoft.com/office/officeart/2005/8/layout/cycle1"/>
    <dgm:cxn modelId="{6D4501A0-5EEB-40A9-B0A4-8C715F299173}" srcId="{168A9BFE-ABCA-48CD-8813-9FF553341774}" destId="{6842DA50-CEE8-47B5-B931-7A9393136184}" srcOrd="0" destOrd="0" parTransId="{12477C33-A3F3-4DDB-9F3C-FE5C58E1F1D5}" sibTransId="{B8AA122B-A3F6-4DFE-A1E3-9BFCE7A87C39}"/>
    <dgm:cxn modelId="{5B5E18A9-B41C-4EDA-89E4-A734E163C4EF}" srcId="{168A9BFE-ABCA-48CD-8813-9FF553341774}" destId="{BE36BA5D-9AEC-46F0-9263-5B32A2D05211}" srcOrd="1" destOrd="0" parTransId="{BA9EE12F-930B-4B2B-94F6-EE37FEB216F4}" sibTransId="{C85AEC76-63E3-476B-A692-C8F6A25AD157}"/>
    <dgm:cxn modelId="{CEFD9DB0-86EA-4485-96C8-40B3008FF674}" type="presOf" srcId="{6842DA50-CEE8-47B5-B931-7A9393136184}" destId="{CB292671-4C80-404E-8B72-59D887C6BBAE}" srcOrd="0" destOrd="0" presId="urn:microsoft.com/office/officeart/2005/8/layout/cycle1"/>
    <dgm:cxn modelId="{205330DE-97AB-481C-97B0-03F777D5DEE9}" srcId="{168A9BFE-ABCA-48CD-8813-9FF553341774}" destId="{A770D5D2-7337-4D98-8B0F-2C2793FB4DB9}" srcOrd="2" destOrd="0" parTransId="{D2705AFC-BFBF-43A9-8C4C-161618814E83}" sibTransId="{6AAE54C8-AE29-4956-A449-E3FA667B8A5B}"/>
    <dgm:cxn modelId="{6001A7F2-2E69-4A5C-BA8D-C68EA8101432}" type="presOf" srcId="{A770D5D2-7337-4D98-8B0F-2C2793FB4DB9}" destId="{910C47DD-1A2D-43CB-B8F6-2C86C7C954AC}" srcOrd="0" destOrd="0" presId="urn:microsoft.com/office/officeart/2005/8/layout/cycle1"/>
    <dgm:cxn modelId="{F609313E-A46B-474E-94D3-F61298D1A5C0}" type="presParOf" srcId="{7A1C98A6-2B1F-4DFA-9489-58E38EADB9B3}" destId="{E22742FA-E403-4B11-9B5C-CE7E6BB98FD5}" srcOrd="0" destOrd="0" presId="urn:microsoft.com/office/officeart/2005/8/layout/cycle1"/>
    <dgm:cxn modelId="{050DB78F-50C8-48F4-8C4C-4B1BAB759462}" type="presParOf" srcId="{7A1C98A6-2B1F-4DFA-9489-58E38EADB9B3}" destId="{CB292671-4C80-404E-8B72-59D887C6BBAE}" srcOrd="1" destOrd="0" presId="urn:microsoft.com/office/officeart/2005/8/layout/cycle1"/>
    <dgm:cxn modelId="{BF501004-5329-4FE3-ADDB-648CD9FEAC73}" type="presParOf" srcId="{7A1C98A6-2B1F-4DFA-9489-58E38EADB9B3}" destId="{C1AED320-1753-4C0D-842F-2519B09C6001}" srcOrd="2" destOrd="0" presId="urn:microsoft.com/office/officeart/2005/8/layout/cycle1"/>
    <dgm:cxn modelId="{48A92789-60E7-4E96-A89B-77668C45F249}" type="presParOf" srcId="{7A1C98A6-2B1F-4DFA-9489-58E38EADB9B3}" destId="{16DE466F-B06F-4EF2-B443-28569848D041}" srcOrd="3" destOrd="0" presId="urn:microsoft.com/office/officeart/2005/8/layout/cycle1"/>
    <dgm:cxn modelId="{CAB52800-044F-43E8-90A8-F31F84B7D487}" type="presParOf" srcId="{7A1C98A6-2B1F-4DFA-9489-58E38EADB9B3}" destId="{8BA9E797-AE85-4DB0-97ED-DD2F469D835D}" srcOrd="4" destOrd="0" presId="urn:microsoft.com/office/officeart/2005/8/layout/cycle1"/>
    <dgm:cxn modelId="{32E147CF-83CB-4B11-A3DC-034AAAD4FA5C}" type="presParOf" srcId="{7A1C98A6-2B1F-4DFA-9489-58E38EADB9B3}" destId="{B58D9F07-3E86-4426-AC66-AA8FB1EA7B68}" srcOrd="5" destOrd="0" presId="urn:microsoft.com/office/officeart/2005/8/layout/cycle1"/>
    <dgm:cxn modelId="{183D90BA-87A1-42DC-B19F-09A131845296}" type="presParOf" srcId="{7A1C98A6-2B1F-4DFA-9489-58E38EADB9B3}" destId="{62D1857F-0C84-44E7-AB84-DAFEB677ED3D}" srcOrd="6" destOrd="0" presId="urn:microsoft.com/office/officeart/2005/8/layout/cycle1"/>
    <dgm:cxn modelId="{003BB5B3-221A-4526-8BD2-28C0229F6B87}" type="presParOf" srcId="{7A1C98A6-2B1F-4DFA-9489-58E38EADB9B3}" destId="{910C47DD-1A2D-43CB-B8F6-2C86C7C954AC}" srcOrd="7" destOrd="0" presId="urn:microsoft.com/office/officeart/2005/8/layout/cycle1"/>
    <dgm:cxn modelId="{057D068E-5248-44F3-B38C-336B16169FD5}" type="presParOf" srcId="{7A1C98A6-2B1F-4DFA-9489-58E38EADB9B3}" destId="{482C25EE-16B8-4C69-BE50-2A045E73C4FF}" srcOrd="8" destOrd="0" presId="urn:microsoft.com/office/officeart/2005/8/layout/cycle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B292671-4C80-404E-8B72-59D887C6BBAE}">
      <dsp:nvSpPr>
        <dsp:cNvPr id="0" name=""/>
        <dsp:cNvSpPr/>
      </dsp:nvSpPr>
      <dsp:spPr>
        <a:xfrm>
          <a:off x="2658158" y="242332"/>
          <a:ext cx="1234335" cy="12343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5560" tIns="35560" rIns="35560" bIns="35560" numCol="1" spcCol="1270" anchor="ctr" anchorCtr="0">
          <a:noAutofit/>
        </a:bodyPr>
        <a:lstStyle/>
        <a:p>
          <a:pPr marL="0" lvl="0" indent="0" algn="ctr" defTabSz="1244600">
            <a:lnSpc>
              <a:spcPct val="90000"/>
            </a:lnSpc>
            <a:spcBef>
              <a:spcPct val="0"/>
            </a:spcBef>
            <a:spcAft>
              <a:spcPct val="35000"/>
            </a:spcAft>
            <a:buNone/>
          </a:pPr>
          <a:r>
            <a:rPr lang="en-GB" sz="2800" kern="1200" dirty="0">
              <a:effectLst>
                <a:glow rad="228600">
                  <a:srgbClr val="F26521">
                    <a:alpha val="40000"/>
                  </a:srgbClr>
                </a:glow>
              </a:effectLst>
            </a:rPr>
            <a:t>Fetch</a:t>
          </a:r>
        </a:p>
      </dsp:txBody>
      <dsp:txXfrm>
        <a:off x="2658158" y="242332"/>
        <a:ext cx="1234335" cy="1234335"/>
      </dsp:txXfrm>
    </dsp:sp>
    <dsp:sp modelId="{C1AED320-1753-4C0D-842F-2519B09C6001}">
      <dsp:nvSpPr>
        <dsp:cNvPr id="0" name=""/>
        <dsp:cNvSpPr/>
      </dsp:nvSpPr>
      <dsp:spPr>
        <a:xfrm>
          <a:off x="777500" y="-675"/>
          <a:ext cx="2919193" cy="2919193"/>
        </a:xfrm>
        <a:prstGeom prst="circularArrow">
          <a:avLst>
            <a:gd name="adj1" fmla="val 8245"/>
            <a:gd name="adj2" fmla="val 575845"/>
            <a:gd name="adj3" fmla="val 2965098"/>
            <a:gd name="adj4" fmla="val 50890"/>
            <a:gd name="adj5" fmla="val 9619"/>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sp>
    <dsp:sp modelId="{8BA9E797-AE85-4DB0-97ED-DD2F469D835D}">
      <dsp:nvSpPr>
        <dsp:cNvPr id="0" name=""/>
        <dsp:cNvSpPr/>
      </dsp:nvSpPr>
      <dsp:spPr>
        <a:xfrm>
          <a:off x="1619929" y="2040597"/>
          <a:ext cx="1234335" cy="12343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5560" tIns="35560" rIns="35560" bIns="35560" numCol="1" spcCol="1270" anchor="ctr" anchorCtr="0">
          <a:noAutofit/>
        </a:bodyPr>
        <a:lstStyle/>
        <a:p>
          <a:pPr marL="0" lvl="0" indent="0" algn="ctr" defTabSz="1244600">
            <a:lnSpc>
              <a:spcPct val="90000"/>
            </a:lnSpc>
            <a:spcBef>
              <a:spcPct val="0"/>
            </a:spcBef>
            <a:spcAft>
              <a:spcPct val="35000"/>
            </a:spcAft>
            <a:buNone/>
          </a:pPr>
          <a:r>
            <a:rPr lang="en-GB" sz="2800" kern="1200" dirty="0"/>
            <a:t>Decode</a:t>
          </a:r>
        </a:p>
      </dsp:txBody>
      <dsp:txXfrm>
        <a:off x="1619929" y="2040597"/>
        <a:ext cx="1234335" cy="1234335"/>
      </dsp:txXfrm>
    </dsp:sp>
    <dsp:sp modelId="{B58D9F07-3E86-4426-AC66-AA8FB1EA7B68}">
      <dsp:nvSpPr>
        <dsp:cNvPr id="0" name=""/>
        <dsp:cNvSpPr/>
      </dsp:nvSpPr>
      <dsp:spPr>
        <a:xfrm>
          <a:off x="777500" y="-675"/>
          <a:ext cx="2919193" cy="2919193"/>
        </a:xfrm>
        <a:prstGeom prst="circularArrow">
          <a:avLst>
            <a:gd name="adj1" fmla="val 8245"/>
            <a:gd name="adj2" fmla="val 575845"/>
            <a:gd name="adj3" fmla="val 10173265"/>
            <a:gd name="adj4" fmla="val 7259056"/>
            <a:gd name="adj5" fmla="val 9619"/>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sp>
    <dsp:sp modelId="{910C47DD-1A2D-43CB-B8F6-2C86C7C954AC}">
      <dsp:nvSpPr>
        <dsp:cNvPr id="0" name=""/>
        <dsp:cNvSpPr/>
      </dsp:nvSpPr>
      <dsp:spPr>
        <a:xfrm>
          <a:off x="581700" y="242332"/>
          <a:ext cx="1234335" cy="12343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5560" tIns="35560" rIns="35560" bIns="35560" numCol="1" spcCol="1270" anchor="ctr" anchorCtr="0">
          <a:noAutofit/>
        </a:bodyPr>
        <a:lstStyle/>
        <a:p>
          <a:pPr marL="0" lvl="0" indent="0" algn="ctr" defTabSz="1244600">
            <a:lnSpc>
              <a:spcPct val="90000"/>
            </a:lnSpc>
            <a:spcBef>
              <a:spcPct val="0"/>
            </a:spcBef>
            <a:spcAft>
              <a:spcPct val="35000"/>
            </a:spcAft>
            <a:buNone/>
          </a:pPr>
          <a:r>
            <a:rPr lang="en-GB" sz="2800" kern="1200" dirty="0"/>
            <a:t>Execute</a:t>
          </a:r>
        </a:p>
      </dsp:txBody>
      <dsp:txXfrm>
        <a:off x="581700" y="242332"/>
        <a:ext cx="1234335" cy="1234335"/>
      </dsp:txXfrm>
    </dsp:sp>
    <dsp:sp modelId="{482C25EE-16B8-4C69-BE50-2A045E73C4FF}">
      <dsp:nvSpPr>
        <dsp:cNvPr id="0" name=""/>
        <dsp:cNvSpPr/>
      </dsp:nvSpPr>
      <dsp:spPr>
        <a:xfrm>
          <a:off x="777500" y="-675"/>
          <a:ext cx="2919193" cy="2919193"/>
        </a:xfrm>
        <a:prstGeom prst="circularArrow">
          <a:avLst>
            <a:gd name="adj1" fmla="val 8245"/>
            <a:gd name="adj2" fmla="val 575845"/>
            <a:gd name="adj3" fmla="val 16857882"/>
            <a:gd name="adj4" fmla="val 14966273"/>
            <a:gd name="adj5" fmla="val 9619"/>
          </a:avLst>
        </a:prstGeom>
        <a:gradFill rotWithShape="0">
          <a:gsLst>
            <a:gs pos="0">
              <a:schemeClr val="accent4">
                <a:hueOff val="0"/>
                <a:satOff val="0"/>
                <a:lumOff val="0"/>
                <a:alphaOff val="0"/>
                <a:satMod val="103000"/>
                <a:lumMod val="102000"/>
                <a:tint val="94000"/>
              </a:schemeClr>
            </a:gs>
            <a:gs pos="50000">
              <a:schemeClr val="accent4">
                <a:hueOff val="0"/>
                <a:satOff val="0"/>
                <a:lumOff val="0"/>
                <a:alphaOff val="0"/>
                <a:satMod val="110000"/>
                <a:lumMod val="100000"/>
                <a:shade val="100000"/>
              </a:schemeClr>
            </a:gs>
            <a:gs pos="100000">
              <a:schemeClr val="accent4">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B292671-4C80-404E-8B72-59D887C6BBAE}">
      <dsp:nvSpPr>
        <dsp:cNvPr id="0" name=""/>
        <dsp:cNvSpPr/>
      </dsp:nvSpPr>
      <dsp:spPr>
        <a:xfrm>
          <a:off x="2658158" y="242332"/>
          <a:ext cx="1234335" cy="12343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5560" tIns="35560" rIns="35560" bIns="35560" numCol="1" spcCol="1270" anchor="ctr" anchorCtr="0">
          <a:noAutofit/>
        </a:bodyPr>
        <a:lstStyle/>
        <a:p>
          <a:pPr marL="0" lvl="0" indent="0" algn="ctr" defTabSz="1244600">
            <a:lnSpc>
              <a:spcPct val="90000"/>
            </a:lnSpc>
            <a:spcBef>
              <a:spcPct val="0"/>
            </a:spcBef>
            <a:spcAft>
              <a:spcPct val="35000"/>
            </a:spcAft>
            <a:buNone/>
          </a:pPr>
          <a:r>
            <a:rPr lang="en-GB" sz="2800" kern="1200" dirty="0">
              <a:effectLst>
                <a:glow rad="228600">
                  <a:srgbClr val="F26521">
                    <a:alpha val="40000"/>
                  </a:srgbClr>
                </a:glow>
              </a:effectLst>
            </a:rPr>
            <a:t>Fetch</a:t>
          </a:r>
        </a:p>
      </dsp:txBody>
      <dsp:txXfrm>
        <a:off x="2658158" y="242332"/>
        <a:ext cx="1234335" cy="1234335"/>
      </dsp:txXfrm>
    </dsp:sp>
    <dsp:sp modelId="{C1AED320-1753-4C0D-842F-2519B09C6001}">
      <dsp:nvSpPr>
        <dsp:cNvPr id="0" name=""/>
        <dsp:cNvSpPr/>
      </dsp:nvSpPr>
      <dsp:spPr>
        <a:xfrm>
          <a:off x="777500" y="-675"/>
          <a:ext cx="2919193" cy="2919193"/>
        </a:xfrm>
        <a:prstGeom prst="circularArrow">
          <a:avLst>
            <a:gd name="adj1" fmla="val 8245"/>
            <a:gd name="adj2" fmla="val 575845"/>
            <a:gd name="adj3" fmla="val 2965098"/>
            <a:gd name="adj4" fmla="val 50890"/>
            <a:gd name="adj5" fmla="val 9619"/>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sp>
    <dsp:sp modelId="{8BA9E797-AE85-4DB0-97ED-DD2F469D835D}">
      <dsp:nvSpPr>
        <dsp:cNvPr id="0" name=""/>
        <dsp:cNvSpPr/>
      </dsp:nvSpPr>
      <dsp:spPr>
        <a:xfrm>
          <a:off x="1619929" y="2040597"/>
          <a:ext cx="1234335" cy="12343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5560" tIns="35560" rIns="35560" bIns="35560" numCol="1" spcCol="1270" anchor="ctr" anchorCtr="0">
          <a:noAutofit/>
        </a:bodyPr>
        <a:lstStyle/>
        <a:p>
          <a:pPr marL="0" lvl="0" indent="0" algn="ctr" defTabSz="1244600">
            <a:lnSpc>
              <a:spcPct val="90000"/>
            </a:lnSpc>
            <a:spcBef>
              <a:spcPct val="0"/>
            </a:spcBef>
            <a:spcAft>
              <a:spcPct val="35000"/>
            </a:spcAft>
            <a:buNone/>
          </a:pPr>
          <a:r>
            <a:rPr lang="en-GB" sz="2800" kern="1200" dirty="0"/>
            <a:t>Decode</a:t>
          </a:r>
        </a:p>
      </dsp:txBody>
      <dsp:txXfrm>
        <a:off x="1619929" y="2040597"/>
        <a:ext cx="1234335" cy="1234335"/>
      </dsp:txXfrm>
    </dsp:sp>
    <dsp:sp modelId="{B58D9F07-3E86-4426-AC66-AA8FB1EA7B68}">
      <dsp:nvSpPr>
        <dsp:cNvPr id="0" name=""/>
        <dsp:cNvSpPr/>
      </dsp:nvSpPr>
      <dsp:spPr>
        <a:xfrm>
          <a:off x="777500" y="-675"/>
          <a:ext cx="2919193" cy="2919193"/>
        </a:xfrm>
        <a:prstGeom prst="circularArrow">
          <a:avLst>
            <a:gd name="adj1" fmla="val 8245"/>
            <a:gd name="adj2" fmla="val 575845"/>
            <a:gd name="adj3" fmla="val 10173265"/>
            <a:gd name="adj4" fmla="val 7259056"/>
            <a:gd name="adj5" fmla="val 9619"/>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sp>
    <dsp:sp modelId="{910C47DD-1A2D-43CB-B8F6-2C86C7C954AC}">
      <dsp:nvSpPr>
        <dsp:cNvPr id="0" name=""/>
        <dsp:cNvSpPr/>
      </dsp:nvSpPr>
      <dsp:spPr>
        <a:xfrm>
          <a:off x="581700" y="242332"/>
          <a:ext cx="1234335" cy="12343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5560" tIns="35560" rIns="35560" bIns="35560" numCol="1" spcCol="1270" anchor="ctr" anchorCtr="0">
          <a:noAutofit/>
        </a:bodyPr>
        <a:lstStyle/>
        <a:p>
          <a:pPr marL="0" lvl="0" indent="0" algn="ctr" defTabSz="1244600">
            <a:lnSpc>
              <a:spcPct val="90000"/>
            </a:lnSpc>
            <a:spcBef>
              <a:spcPct val="0"/>
            </a:spcBef>
            <a:spcAft>
              <a:spcPct val="35000"/>
            </a:spcAft>
            <a:buNone/>
          </a:pPr>
          <a:r>
            <a:rPr lang="en-GB" sz="2800" kern="1200" dirty="0"/>
            <a:t>Execute</a:t>
          </a:r>
        </a:p>
      </dsp:txBody>
      <dsp:txXfrm>
        <a:off x="581700" y="242332"/>
        <a:ext cx="1234335" cy="1234335"/>
      </dsp:txXfrm>
    </dsp:sp>
    <dsp:sp modelId="{482C25EE-16B8-4C69-BE50-2A045E73C4FF}">
      <dsp:nvSpPr>
        <dsp:cNvPr id="0" name=""/>
        <dsp:cNvSpPr/>
      </dsp:nvSpPr>
      <dsp:spPr>
        <a:xfrm>
          <a:off x="777500" y="-675"/>
          <a:ext cx="2919193" cy="2919193"/>
        </a:xfrm>
        <a:prstGeom prst="circularArrow">
          <a:avLst>
            <a:gd name="adj1" fmla="val 8245"/>
            <a:gd name="adj2" fmla="val 575845"/>
            <a:gd name="adj3" fmla="val 16857882"/>
            <a:gd name="adj4" fmla="val 14966273"/>
            <a:gd name="adj5" fmla="val 9619"/>
          </a:avLst>
        </a:prstGeom>
        <a:gradFill rotWithShape="0">
          <a:gsLst>
            <a:gs pos="0">
              <a:schemeClr val="accent4">
                <a:hueOff val="0"/>
                <a:satOff val="0"/>
                <a:lumOff val="0"/>
                <a:alphaOff val="0"/>
                <a:satMod val="103000"/>
                <a:lumMod val="102000"/>
                <a:tint val="94000"/>
              </a:schemeClr>
            </a:gs>
            <a:gs pos="50000">
              <a:schemeClr val="accent4">
                <a:hueOff val="0"/>
                <a:satOff val="0"/>
                <a:lumOff val="0"/>
                <a:alphaOff val="0"/>
                <a:satMod val="110000"/>
                <a:lumMod val="100000"/>
                <a:shade val="100000"/>
              </a:schemeClr>
            </a:gs>
            <a:gs pos="100000">
              <a:schemeClr val="accent4">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B292671-4C80-404E-8B72-59D887C6BBAE}">
      <dsp:nvSpPr>
        <dsp:cNvPr id="0" name=""/>
        <dsp:cNvSpPr/>
      </dsp:nvSpPr>
      <dsp:spPr>
        <a:xfrm>
          <a:off x="2658158" y="242332"/>
          <a:ext cx="1234335" cy="12343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5560" tIns="35560" rIns="35560" bIns="35560" numCol="1" spcCol="1270" anchor="ctr" anchorCtr="0">
          <a:noAutofit/>
        </a:bodyPr>
        <a:lstStyle/>
        <a:p>
          <a:pPr marL="0" lvl="0" indent="0" algn="ctr" defTabSz="1244600">
            <a:lnSpc>
              <a:spcPct val="90000"/>
            </a:lnSpc>
            <a:spcBef>
              <a:spcPct val="0"/>
            </a:spcBef>
            <a:spcAft>
              <a:spcPct val="35000"/>
            </a:spcAft>
            <a:buNone/>
          </a:pPr>
          <a:r>
            <a:rPr lang="en-GB" sz="2800" kern="1200" dirty="0">
              <a:effectLst>
                <a:glow rad="228600">
                  <a:srgbClr val="F26521">
                    <a:alpha val="40000"/>
                  </a:srgbClr>
                </a:glow>
              </a:effectLst>
            </a:rPr>
            <a:t>Fetch</a:t>
          </a:r>
        </a:p>
      </dsp:txBody>
      <dsp:txXfrm>
        <a:off x="2658158" y="242332"/>
        <a:ext cx="1234335" cy="1234335"/>
      </dsp:txXfrm>
    </dsp:sp>
    <dsp:sp modelId="{C1AED320-1753-4C0D-842F-2519B09C6001}">
      <dsp:nvSpPr>
        <dsp:cNvPr id="0" name=""/>
        <dsp:cNvSpPr/>
      </dsp:nvSpPr>
      <dsp:spPr>
        <a:xfrm>
          <a:off x="777500" y="-675"/>
          <a:ext cx="2919193" cy="2919193"/>
        </a:xfrm>
        <a:prstGeom prst="circularArrow">
          <a:avLst>
            <a:gd name="adj1" fmla="val 8245"/>
            <a:gd name="adj2" fmla="val 575845"/>
            <a:gd name="adj3" fmla="val 2965098"/>
            <a:gd name="adj4" fmla="val 50890"/>
            <a:gd name="adj5" fmla="val 9619"/>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sp>
    <dsp:sp modelId="{8BA9E797-AE85-4DB0-97ED-DD2F469D835D}">
      <dsp:nvSpPr>
        <dsp:cNvPr id="0" name=""/>
        <dsp:cNvSpPr/>
      </dsp:nvSpPr>
      <dsp:spPr>
        <a:xfrm>
          <a:off x="1619929" y="2040597"/>
          <a:ext cx="1234335" cy="12343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5560" tIns="35560" rIns="35560" bIns="35560" numCol="1" spcCol="1270" anchor="ctr" anchorCtr="0">
          <a:noAutofit/>
        </a:bodyPr>
        <a:lstStyle/>
        <a:p>
          <a:pPr marL="0" lvl="0" indent="0" algn="ctr" defTabSz="1244600">
            <a:lnSpc>
              <a:spcPct val="90000"/>
            </a:lnSpc>
            <a:spcBef>
              <a:spcPct val="0"/>
            </a:spcBef>
            <a:spcAft>
              <a:spcPct val="35000"/>
            </a:spcAft>
            <a:buNone/>
          </a:pPr>
          <a:r>
            <a:rPr lang="en-GB" sz="2800" kern="1200" dirty="0"/>
            <a:t>Decode</a:t>
          </a:r>
        </a:p>
      </dsp:txBody>
      <dsp:txXfrm>
        <a:off x="1619929" y="2040597"/>
        <a:ext cx="1234335" cy="1234335"/>
      </dsp:txXfrm>
    </dsp:sp>
    <dsp:sp modelId="{B58D9F07-3E86-4426-AC66-AA8FB1EA7B68}">
      <dsp:nvSpPr>
        <dsp:cNvPr id="0" name=""/>
        <dsp:cNvSpPr/>
      </dsp:nvSpPr>
      <dsp:spPr>
        <a:xfrm>
          <a:off x="777500" y="-675"/>
          <a:ext cx="2919193" cy="2919193"/>
        </a:xfrm>
        <a:prstGeom prst="circularArrow">
          <a:avLst>
            <a:gd name="adj1" fmla="val 8245"/>
            <a:gd name="adj2" fmla="val 575845"/>
            <a:gd name="adj3" fmla="val 10173265"/>
            <a:gd name="adj4" fmla="val 7259056"/>
            <a:gd name="adj5" fmla="val 9619"/>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sp>
    <dsp:sp modelId="{910C47DD-1A2D-43CB-B8F6-2C86C7C954AC}">
      <dsp:nvSpPr>
        <dsp:cNvPr id="0" name=""/>
        <dsp:cNvSpPr/>
      </dsp:nvSpPr>
      <dsp:spPr>
        <a:xfrm>
          <a:off x="581700" y="242332"/>
          <a:ext cx="1234335" cy="12343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5560" tIns="35560" rIns="35560" bIns="35560" numCol="1" spcCol="1270" anchor="ctr" anchorCtr="0">
          <a:noAutofit/>
        </a:bodyPr>
        <a:lstStyle/>
        <a:p>
          <a:pPr marL="0" lvl="0" indent="0" algn="ctr" defTabSz="1244600">
            <a:lnSpc>
              <a:spcPct val="90000"/>
            </a:lnSpc>
            <a:spcBef>
              <a:spcPct val="0"/>
            </a:spcBef>
            <a:spcAft>
              <a:spcPct val="35000"/>
            </a:spcAft>
            <a:buNone/>
          </a:pPr>
          <a:r>
            <a:rPr lang="en-GB" sz="2800" kern="1200" dirty="0"/>
            <a:t>Execute</a:t>
          </a:r>
        </a:p>
      </dsp:txBody>
      <dsp:txXfrm>
        <a:off x="581700" y="242332"/>
        <a:ext cx="1234335" cy="1234335"/>
      </dsp:txXfrm>
    </dsp:sp>
    <dsp:sp modelId="{482C25EE-16B8-4C69-BE50-2A045E73C4FF}">
      <dsp:nvSpPr>
        <dsp:cNvPr id="0" name=""/>
        <dsp:cNvSpPr/>
      </dsp:nvSpPr>
      <dsp:spPr>
        <a:xfrm>
          <a:off x="777500" y="-675"/>
          <a:ext cx="2919193" cy="2919193"/>
        </a:xfrm>
        <a:prstGeom prst="circularArrow">
          <a:avLst>
            <a:gd name="adj1" fmla="val 8245"/>
            <a:gd name="adj2" fmla="val 575845"/>
            <a:gd name="adj3" fmla="val 16857882"/>
            <a:gd name="adj4" fmla="val 14966273"/>
            <a:gd name="adj5" fmla="val 9619"/>
          </a:avLst>
        </a:prstGeom>
        <a:gradFill rotWithShape="0">
          <a:gsLst>
            <a:gs pos="0">
              <a:schemeClr val="accent4">
                <a:hueOff val="0"/>
                <a:satOff val="0"/>
                <a:lumOff val="0"/>
                <a:alphaOff val="0"/>
                <a:satMod val="103000"/>
                <a:lumMod val="102000"/>
                <a:tint val="94000"/>
              </a:schemeClr>
            </a:gs>
            <a:gs pos="50000">
              <a:schemeClr val="accent4">
                <a:hueOff val="0"/>
                <a:satOff val="0"/>
                <a:lumOff val="0"/>
                <a:alphaOff val="0"/>
                <a:satMod val="110000"/>
                <a:lumMod val="100000"/>
                <a:shade val="100000"/>
              </a:schemeClr>
            </a:gs>
            <a:gs pos="100000">
              <a:schemeClr val="accent4">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B292671-4C80-404E-8B72-59D887C6BBAE}">
      <dsp:nvSpPr>
        <dsp:cNvPr id="0" name=""/>
        <dsp:cNvSpPr/>
      </dsp:nvSpPr>
      <dsp:spPr>
        <a:xfrm>
          <a:off x="2658158" y="242332"/>
          <a:ext cx="1234335" cy="12343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5560" tIns="35560" rIns="35560" bIns="35560" numCol="1" spcCol="1270" anchor="ctr" anchorCtr="0">
          <a:noAutofit/>
        </a:bodyPr>
        <a:lstStyle/>
        <a:p>
          <a:pPr marL="0" lvl="0" indent="0" algn="ctr" defTabSz="1244600">
            <a:lnSpc>
              <a:spcPct val="90000"/>
            </a:lnSpc>
            <a:spcBef>
              <a:spcPct val="0"/>
            </a:spcBef>
            <a:spcAft>
              <a:spcPct val="35000"/>
            </a:spcAft>
            <a:buNone/>
          </a:pPr>
          <a:r>
            <a:rPr lang="en-GB" sz="2800" kern="1200" dirty="0"/>
            <a:t>Fetch</a:t>
          </a:r>
        </a:p>
      </dsp:txBody>
      <dsp:txXfrm>
        <a:off x="2658158" y="242332"/>
        <a:ext cx="1234335" cy="1234335"/>
      </dsp:txXfrm>
    </dsp:sp>
    <dsp:sp modelId="{C1AED320-1753-4C0D-842F-2519B09C6001}">
      <dsp:nvSpPr>
        <dsp:cNvPr id="0" name=""/>
        <dsp:cNvSpPr/>
      </dsp:nvSpPr>
      <dsp:spPr>
        <a:xfrm>
          <a:off x="777500" y="-675"/>
          <a:ext cx="2919193" cy="2919193"/>
        </a:xfrm>
        <a:prstGeom prst="circularArrow">
          <a:avLst>
            <a:gd name="adj1" fmla="val 8245"/>
            <a:gd name="adj2" fmla="val 575845"/>
            <a:gd name="adj3" fmla="val 2965098"/>
            <a:gd name="adj4" fmla="val 50890"/>
            <a:gd name="adj5" fmla="val 9619"/>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sp>
    <dsp:sp modelId="{8BA9E797-AE85-4DB0-97ED-DD2F469D835D}">
      <dsp:nvSpPr>
        <dsp:cNvPr id="0" name=""/>
        <dsp:cNvSpPr/>
      </dsp:nvSpPr>
      <dsp:spPr>
        <a:xfrm>
          <a:off x="1619929" y="2040597"/>
          <a:ext cx="1234335" cy="12343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5560" tIns="35560" rIns="35560" bIns="35560" numCol="1" spcCol="1270" anchor="ctr" anchorCtr="0">
          <a:noAutofit/>
        </a:bodyPr>
        <a:lstStyle/>
        <a:p>
          <a:pPr marL="0" lvl="0" indent="0" algn="ctr" defTabSz="1244600">
            <a:lnSpc>
              <a:spcPct val="90000"/>
            </a:lnSpc>
            <a:spcBef>
              <a:spcPct val="0"/>
            </a:spcBef>
            <a:spcAft>
              <a:spcPct val="35000"/>
            </a:spcAft>
            <a:buNone/>
          </a:pPr>
          <a:r>
            <a:rPr lang="en-GB" sz="2800" kern="1200" dirty="0">
              <a:effectLst>
                <a:glow rad="228600">
                  <a:srgbClr val="F26521">
                    <a:alpha val="40000"/>
                  </a:srgbClr>
                </a:glow>
              </a:effectLst>
            </a:rPr>
            <a:t>Decode</a:t>
          </a:r>
        </a:p>
      </dsp:txBody>
      <dsp:txXfrm>
        <a:off x="1619929" y="2040597"/>
        <a:ext cx="1234335" cy="1234335"/>
      </dsp:txXfrm>
    </dsp:sp>
    <dsp:sp modelId="{B58D9F07-3E86-4426-AC66-AA8FB1EA7B68}">
      <dsp:nvSpPr>
        <dsp:cNvPr id="0" name=""/>
        <dsp:cNvSpPr/>
      </dsp:nvSpPr>
      <dsp:spPr>
        <a:xfrm>
          <a:off x="777500" y="-675"/>
          <a:ext cx="2919193" cy="2919193"/>
        </a:xfrm>
        <a:prstGeom prst="circularArrow">
          <a:avLst>
            <a:gd name="adj1" fmla="val 8245"/>
            <a:gd name="adj2" fmla="val 575845"/>
            <a:gd name="adj3" fmla="val 10173265"/>
            <a:gd name="adj4" fmla="val 7259056"/>
            <a:gd name="adj5" fmla="val 9619"/>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sp>
    <dsp:sp modelId="{910C47DD-1A2D-43CB-B8F6-2C86C7C954AC}">
      <dsp:nvSpPr>
        <dsp:cNvPr id="0" name=""/>
        <dsp:cNvSpPr/>
      </dsp:nvSpPr>
      <dsp:spPr>
        <a:xfrm>
          <a:off x="581700" y="242332"/>
          <a:ext cx="1234335" cy="12343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5560" tIns="35560" rIns="35560" bIns="35560" numCol="1" spcCol="1270" anchor="ctr" anchorCtr="0">
          <a:noAutofit/>
        </a:bodyPr>
        <a:lstStyle/>
        <a:p>
          <a:pPr marL="0" lvl="0" indent="0" algn="ctr" defTabSz="1244600">
            <a:lnSpc>
              <a:spcPct val="90000"/>
            </a:lnSpc>
            <a:spcBef>
              <a:spcPct val="0"/>
            </a:spcBef>
            <a:spcAft>
              <a:spcPct val="35000"/>
            </a:spcAft>
            <a:buNone/>
          </a:pPr>
          <a:r>
            <a:rPr lang="en-GB" sz="2800" kern="1200" dirty="0"/>
            <a:t>Execute</a:t>
          </a:r>
        </a:p>
      </dsp:txBody>
      <dsp:txXfrm>
        <a:off x="581700" y="242332"/>
        <a:ext cx="1234335" cy="1234335"/>
      </dsp:txXfrm>
    </dsp:sp>
    <dsp:sp modelId="{482C25EE-16B8-4C69-BE50-2A045E73C4FF}">
      <dsp:nvSpPr>
        <dsp:cNvPr id="0" name=""/>
        <dsp:cNvSpPr/>
      </dsp:nvSpPr>
      <dsp:spPr>
        <a:xfrm>
          <a:off x="777500" y="-675"/>
          <a:ext cx="2919193" cy="2919193"/>
        </a:xfrm>
        <a:prstGeom prst="circularArrow">
          <a:avLst>
            <a:gd name="adj1" fmla="val 8245"/>
            <a:gd name="adj2" fmla="val 575845"/>
            <a:gd name="adj3" fmla="val 16857882"/>
            <a:gd name="adj4" fmla="val 14966273"/>
            <a:gd name="adj5" fmla="val 9619"/>
          </a:avLst>
        </a:prstGeom>
        <a:gradFill rotWithShape="0">
          <a:gsLst>
            <a:gs pos="0">
              <a:schemeClr val="accent4">
                <a:hueOff val="0"/>
                <a:satOff val="0"/>
                <a:lumOff val="0"/>
                <a:alphaOff val="0"/>
                <a:satMod val="103000"/>
                <a:lumMod val="102000"/>
                <a:tint val="94000"/>
              </a:schemeClr>
            </a:gs>
            <a:gs pos="50000">
              <a:schemeClr val="accent4">
                <a:hueOff val="0"/>
                <a:satOff val="0"/>
                <a:lumOff val="0"/>
                <a:alphaOff val="0"/>
                <a:satMod val="110000"/>
                <a:lumMod val="100000"/>
                <a:shade val="100000"/>
              </a:schemeClr>
            </a:gs>
            <a:gs pos="100000">
              <a:schemeClr val="accent4">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B292671-4C80-404E-8B72-59D887C6BBAE}">
      <dsp:nvSpPr>
        <dsp:cNvPr id="0" name=""/>
        <dsp:cNvSpPr/>
      </dsp:nvSpPr>
      <dsp:spPr>
        <a:xfrm>
          <a:off x="2658158" y="242332"/>
          <a:ext cx="1234335" cy="12343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5560" tIns="35560" rIns="35560" bIns="35560" numCol="1" spcCol="1270" anchor="ctr" anchorCtr="0">
          <a:noAutofit/>
        </a:bodyPr>
        <a:lstStyle/>
        <a:p>
          <a:pPr marL="0" lvl="0" indent="0" algn="ctr" defTabSz="1244600">
            <a:lnSpc>
              <a:spcPct val="90000"/>
            </a:lnSpc>
            <a:spcBef>
              <a:spcPct val="0"/>
            </a:spcBef>
            <a:spcAft>
              <a:spcPct val="35000"/>
            </a:spcAft>
            <a:buNone/>
          </a:pPr>
          <a:r>
            <a:rPr lang="en-GB" sz="2800" kern="1200" dirty="0"/>
            <a:t>Fetch</a:t>
          </a:r>
        </a:p>
      </dsp:txBody>
      <dsp:txXfrm>
        <a:off x="2658158" y="242332"/>
        <a:ext cx="1234335" cy="1234335"/>
      </dsp:txXfrm>
    </dsp:sp>
    <dsp:sp modelId="{C1AED320-1753-4C0D-842F-2519B09C6001}">
      <dsp:nvSpPr>
        <dsp:cNvPr id="0" name=""/>
        <dsp:cNvSpPr/>
      </dsp:nvSpPr>
      <dsp:spPr>
        <a:xfrm>
          <a:off x="777500" y="-675"/>
          <a:ext cx="2919193" cy="2919193"/>
        </a:xfrm>
        <a:prstGeom prst="circularArrow">
          <a:avLst>
            <a:gd name="adj1" fmla="val 8245"/>
            <a:gd name="adj2" fmla="val 575845"/>
            <a:gd name="adj3" fmla="val 2965098"/>
            <a:gd name="adj4" fmla="val 50890"/>
            <a:gd name="adj5" fmla="val 9619"/>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sp>
    <dsp:sp modelId="{8BA9E797-AE85-4DB0-97ED-DD2F469D835D}">
      <dsp:nvSpPr>
        <dsp:cNvPr id="0" name=""/>
        <dsp:cNvSpPr/>
      </dsp:nvSpPr>
      <dsp:spPr>
        <a:xfrm>
          <a:off x="1619929" y="2040597"/>
          <a:ext cx="1234335" cy="12343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5560" tIns="35560" rIns="35560" bIns="35560" numCol="1" spcCol="1270" anchor="ctr" anchorCtr="0">
          <a:noAutofit/>
        </a:bodyPr>
        <a:lstStyle/>
        <a:p>
          <a:pPr marL="0" lvl="0" indent="0" algn="ctr" defTabSz="1244600">
            <a:lnSpc>
              <a:spcPct val="90000"/>
            </a:lnSpc>
            <a:spcBef>
              <a:spcPct val="0"/>
            </a:spcBef>
            <a:spcAft>
              <a:spcPct val="35000"/>
            </a:spcAft>
            <a:buNone/>
          </a:pPr>
          <a:r>
            <a:rPr lang="en-GB" sz="2800" kern="1200" dirty="0"/>
            <a:t>Decode</a:t>
          </a:r>
        </a:p>
      </dsp:txBody>
      <dsp:txXfrm>
        <a:off x="1619929" y="2040597"/>
        <a:ext cx="1234335" cy="1234335"/>
      </dsp:txXfrm>
    </dsp:sp>
    <dsp:sp modelId="{B58D9F07-3E86-4426-AC66-AA8FB1EA7B68}">
      <dsp:nvSpPr>
        <dsp:cNvPr id="0" name=""/>
        <dsp:cNvSpPr/>
      </dsp:nvSpPr>
      <dsp:spPr>
        <a:xfrm>
          <a:off x="777500" y="-675"/>
          <a:ext cx="2919193" cy="2919193"/>
        </a:xfrm>
        <a:prstGeom prst="circularArrow">
          <a:avLst>
            <a:gd name="adj1" fmla="val 8245"/>
            <a:gd name="adj2" fmla="val 575845"/>
            <a:gd name="adj3" fmla="val 10173265"/>
            <a:gd name="adj4" fmla="val 7259056"/>
            <a:gd name="adj5" fmla="val 9619"/>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sp>
    <dsp:sp modelId="{910C47DD-1A2D-43CB-B8F6-2C86C7C954AC}">
      <dsp:nvSpPr>
        <dsp:cNvPr id="0" name=""/>
        <dsp:cNvSpPr/>
      </dsp:nvSpPr>
      <dsp:spPr>
        <a:xfrm>
          <a:off x="581700" y="242332"/>
          <a:ext cx="1234335" cy="1234335"/>
        </a:xfrm>
        <a:prstGeom prst="rect">
          <a:avLst/>
        </a:prstGeom>
        <a:noFill/>
        <a:ln>
          <a:noFill/>
        </a:ln>
        <a:effectLst>
          <a:glow rad="228600">
            <a:schemeClr val="accent2">
              <a:satMod val="175000"/>
              <a:alpha val="40000"/>
            </a:schemeClr>
          </a:glow>
        </a:effectLst>
      </dsp:spPr>
      <dsp:style>
        <a:lnRef idx="0">
          <a:scrgbClr r="0" g="0" b="0"/>
        </a:lnRef>
        <a:fillRef idx="0">
          <a:scrgbClr r="0" g="0" b="0"/>
        </a:fillRef>
        <a:effectRef idx="0">
          <a:scrgbClr r="0" g="0" b="0"/>
        </a:effectRef>
        <a:fontRef idx="minor"/>
      </dsp:style>
      <dsp:txBody>
        <a:bodyPr spcFirstLastPara="0" vert="horz" wrap="square" lIns="35560" tIns="35560" rIns="35560" bIns="35560" numCol="1" spcCol="1270" anchor="ctr" anchorCtr="0">
          <a:noAutofit/>
        </a:bodyPr>
        <a:lstStyle/>
        <a:p>
          <a:pPr marL="0" lvl="0" indent="0" algn="ctr" defTabSz="1244600">
            <a:lnSpc>
              <a:spcPct val="90000"/>
            </a:lnSpc>
            <a:spcBef>
              <a:spcPct val="0"/>
            </a:spcBef>
            <a:spcAft>
              <a:spcPct val="35000"/>
            </a:spcAft>
            <a:buNone/>
          </a:pPr>
          <a:r>
            <a:rPr lang="en-GB" sz="2800" kern="1200" dirty="0">
              <a:effectLst>
                <a:glow rad="228600">
                  <a:srgbClr val="F26521">
                    <a:alpha val="40000"/>
                  </a:srgbClr>
                </a:glow>
              </a:effectLst>
            </a:rPr>
            <a:t>Execute</a:t>
          </a:r>
        </a:p>
      </dsp:txBody>
      <dsp:txXfrm>
        <a:off x="581700" y="242332"/>
        <a:ext cx="1234335" cy="1234335"/>
      </dsp:txXfrm>
    </dsp:sp>
    <dsp:sp modelId="{482C25EE-16B8-4C69-BE50-2A045E73C4FF}">
      <dsp:nvSpPr>
        <dsp:cNvPr id="0" name=""/>
        <dsp:cNvSpPr/>
      </dsp:nvSpPr>
      <dsp:spPr>
        <a:xfrm>
          <a:off x="777500" y="-675"/>
          <a:ext cx="2919193" cy="2919193"/>
        </a:xfrm>
        <a:prstGeom prst="circularArrow">
          <a:avLst>
            <a:gd name="adj1" fmla="val 8245"/>
            <a:gd name="adj2" fmla="val 575845"/>
            <a:gd name="adj3" fmla="val 16857882"/>
            <a:gd name="adj4" fmla="val 14966273"/>
            <a:gd name="adj5" fmla="val 9619"/>
          </a:avLst>
        </a:prstGeom>
        <a:gradFill rotWithShape="0">
          <a:gsLst>
            <a:gs pos="0">
              <a:schemeClr val="accent4">
                <a:hueOff val="0"/>
                <a:satOff val="0"/>
                <a:lumOff val="0"/>
                <a:alphaOff val="0"/>
                <a:satMod val="103000"/>
                <a:lumMod val="102000"/>
                <a:tint val="94000"/>
              </a:schemeClr>
            </a:gs>
            <a:gs pos="50000">
              <a:schemeClr val="accent4">
                <a:hueOff val="0"/>
                <a:satOff val="0"/>
                <a:lumOff val="0"/>
                <a:alphaOff val="0"/>
                <a:satMod val="110000"/>
                <a:lumMod val="100000"/>
                <a:shade val="100000"/>
              </a:schemeClr>
            </a:gs>
            <a:gs pos="100000">
              <a:schemeClr val="accent4">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sp>
  </dsp:spTree>
</dsp:drawing>
</file>

<file path=ppt/diagrams/layout1.xml><?xml version="1.0" encoding="utf-8"?>
<dgm:layoutDef xmlns:dgm="http://schemas.openxmlformats.org/drawingml/2006/diagram" xmlns:a="http://schemas.openxmlformats.org/drawingml/2006/main" uniqueId="urn:microsoft.com/office/officeart/2005/8/layout/cycle1">
  <dgm:title val=""/>
  <dgm:desc val=""/>
  <dgm:catLst>
    <dgm:cat type="cycle" pri="2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alg type="cycle">
          <dgm:param type="stAng" val="0"/>
          <dgm:param type="spanAng" val="360"/>
        </dgm:alg>
      </dgm:if>
      <dgm:else name="Name2">
        <dgm:alg type="cycle">
          <dgm:param type="stAng" val="0"/>
          <dgm:param type="spanAng" val="-360"/>
        </dgm:alg>
      </dgm:else>
    </dgm:choose>
    <dgm:shape xmlns:r="http://schemas.openxmlformats.org/officeDocument/2006/relationships" r:blip="">
      <dgm:adjLst/>
    </dgm:shape>
    <dgm:presOf/>
    <dgm:choose name="Name3">
      <dgm:if name="Name4" func="var" arg="dir" op="equ" val="norm">
        <dgm:constrLst>
          <dgm:constr type="diam" val="1"/>
          <dgm:constr type="w" for="ch" forName="node" refType="w"/>
          <dgm:constr type="w" for="ch" ptType="sibTrans" refType="w" refFor="ch" refForName="node" fact="0.5"/>
          <dgm:constr type="h" for="ch" ptType="sibTrans" op="equ"/>
          <dgm:constr type="diam" for="ch" ptType="sibTrans" refType="diam" op="equ"/>
          <dgm:constr type="sibSp" refType="w" refFor="ch" refForName="node" fact="0.15"/>
          <dgm:constr type="w" for="ch" forName="dummy" refType="sibSp" fact="2.8"/>
          <dgm:constr type="primFontSz" for="ch" forName="node" op="equ" val="65"/>
        </dgm:constrLst>
      </dgm:if>
      <dgm:else name="Name5">
        <dgm:constrLst>
          <dgm:constr type="diam" val="1"/>
          <dgm:constr type="w" for="ch" forName="node" refType="w"/>
          <dgm:constr type="w" for="ch" ptType="sibTrans" refType="w" refFor="ch" refForName="node" fact="0.5"/>
          <dgm:constr type="h" for="ch" ptType="sibTrans" op="equ"/>
          <dgm:constr type="diam" for="ch" ptType="sibTrans" refType="diam" op="equ" fact="-1"/>
          <dgm:constr type="sibSp" refType="w" refFor="ch" refForName="node" fact="0.15"/>
          <dgm:constr type="w" for="ch" forName="dummy" refType="sibSp" fact="2.8"/>
          <dgm:constr type="primFontSz" for="ch" forName="node" op="equ" val="65"/>
        </dgm:constrLst>
      </dgm:else>
    </dgm:choose>
    <dgm:ruleLst>
      <dgm:rule type="diam" val="INF" fact="NaN" max="NaN"/>
    </dgm:ruleLst>
    <dgm:forEach name="nodesForEach" axis="ch" ptType="node">
      <dgm:choose name="Name6">
        <dgm:if name="Name7" axis="par ch" ptType="doc node" func="cnt" op="gt" val="1">
          <dgm:layoutNode name="dummy">
            <dgm:alg type="sp"/>
            <dgm:shape xmlns:r="http://schemas.openxmlformats.org/officeDocument/2006/relationships" r:blip="">
              <dgm:adjLst/>
            </dgm:shape>
            <dgm:presOf/>
            <dgm:constrLst>
              <dgm:constr type="h" refType="w"/>
            </dgm:constrLst>
            <dgm:ruleLst/>
          </dgm:layoutNode>
        </dgm:if>
        <dgm:else name="Name8"/>
      </dgm:choose>
      <dgm:layoutNode name="node" styleLbl="revTx">
        <dgm:varLst>
          <dgm:bulletEnabled val="1"/>
        </dgm:varLst>
        <dgm:alg type="tx">
          <dgm:param type="txAnchorVertCh" val="mid"/>
        </dgm:alg>
        <dgm:shape xmlns:r="http://schemas.openxmlformats.org/officeDocument/2006/relationships" type="rect" r:blip="">
          <dgm:adjLst/>
        </dgm:shape>
        <dgm:presOf axis="desOrSelf" ptType="node"/>
        <dgm:constrLst>
          <dgm:constr type="h" refType="w"/>
          <dgm:constr type="lMarg" refType="primFontSz" fact="0.1"/>
          <dgm:constr type="rMarg" refType="primFontSz" fact="0.1"/>
          <dgm:constr type="tMarg" refType="primFontSz" fact="0.1"/>
          <dgm:constr type="bMarg" refType="primFontSz" fact="0.1"/>
        </dgm:constrLst>
        <dgm:ruleLst>
          <dgm:rule type="primFontSz" val="5" fact="NaN" max="NaN"/>
        </dgm:ruleLst>
      </dgm:layoutNode>
      <dgm:choose name="Name9">
        <dgm:if name="Name10" axis="par ch" ptType="doc node" func="cnt" op="gt" val="1">
          <dgm:forEach name="Name11" axis="followSib" ptType="sibTrans" hideLastTrans="0" cnt="1">
            <dgm:layoutNode name="sibTrans" styleLbl="node1">
              <dgm:alg type="conn">
                <dgm:param type="connRout" val="curve"/>
                <dgm:param type="begPts" val="radial"/>
                <dgm:param type="endPts" val="radial"/>
              </dgm:alg>
              <dgm:shape xmlns:r="http://schemas.openxmlformats.org/officeDocument/2006/relationships" type="conn" r:blip="">
                <dgm:adjLst/>
              </dgm:shape>
              <dgm:presOf axis="self"/>
              <dgm:constrLst>
                <dgm:constr type="h" refType="w" fact="0.65"/>
                <dgm:constr type="begPad"/>
                <dgm:constr type="endPad"/>
              </dgm:constrLst>
              <dgm:ruleLst/>
            </dgm:layoutNode>
          </dgm:forEach>
        </dgm:if>
        <dgm:else name="Name12"/>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cycle1">
  <dgm:title val=""/>
  <dgm:desc val=""/>
  <dgm:catLst>
    <dgm:cat type="cycle" pri="2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alg type="cycle">
          <dgm:param type="stAng" val="0"/>
          <dgm:param type="spanAng" val="360"/>
        </dgm:alg>
      </dgm:if>
      <dgm:else name="Name2">
        <dgm:alg type="cycle">
          <dgm:param type="stAng" val="0"/>
          <dgm:param type="spanAng" val="-360"/>
        </dgm:alg>
      </dgm:else>
    </dgm:choose>
    <dgm:shape xmlns:r="http://schemas.openxmlformats.org/officeDocument/2006/relationships" r:blip="">
      <dgm:adjLst/>
    </dgm:shape>
    <dgm:presOf/>
    <dgm:choose name="Name3">
      <dgm:if name="Name4" func="var" arg="dir" op="equ" val="norm">
        <dgm:constrLst>
          <dgm:constr type="diam" val="1"/>
          <dgm:constr type="w" for="ch" forName="node" refType="w"/>
          <dgm:constr type="w" for="ch" ptType="sibTrans" refType="w" refFor="ch" refForName="node" fact="0.5"/>
          <dgm:constr type="h" for="ch" ptType="sibTrans" op="equ"/>
          <dgm:constr type="diam" for="ch" ptType="sibTrans" refType="diam" op="equ"/>
          <dgm:constr type="sibSp" refType="w" refFor="ch" refForName="node" fact="0.15"/>
          <dgm:constr type="w" for="ch" forName="dummy" refType="sibSp" fact="2.8"/>
          <dgm:constr type="primFontSz" for="ch" forName="node" op="equ" val="65"/>
        </dgm:constrLst>
      </dgm:if>
      <dgm:else name="Name5">
        <dgm:constrLst>
          <dgm:constr type="diam" val="1"/>
          <dgm:constr type="w" for="ch" forName="node" refType="w"/>
          <dgm:constr type="w" for="ch" ptType="sibTrans" refType="w" refFor="ch" refForName="node" fact="0.5"/>
          <dgm:constr type="h" for="ch" ptType="sibTrans" op="equ"/>
          <dgm:constr type="diam" for="ch" ptType="sibTrans" refType="diam" op="equ" fact="-1"/>
          <dgm:constr type="sibSp" refType="w" refFor="ch" refForName="node" fact="0.15"/>
          <dgm:constr type="w" for="ch" forName="dummy" refType="sibSp" fact="2.8"/>
          <dgm:constr type="primFontSz" for="ch" forName="node" op="equ" val="65"/>
        </dgm:constrLst>
      </dgm:else>
    </dgm:choose>
    <dgm:ruleLst>
      <dgm:rule type="diam" val="INF" fact="NaN" max="NaN"/>
    </dgm:ruleLst>
    <dgm:forEach name="nodesForEach" axis="ch" ptType="node">
      <dgm:choose name="Name6">
        <dgm:if name="Name7" axis="par ch" ptType="doc node" func="cnt" op="gt" val="1">
          <dgm:layoutNode name="dummy">
            <dgm:alg type="sp"/>
            <dgm:shape xmlns:r="http://schemas.openxmlformats.org/officeDocument/2006/relationships" r:blip="">
              <dgm:adjLst/>
            </dgm:shape>
            <dgm:presOf/>
            <dgm:constrLst>
              <dgm:constr type="h" refType="w"/>
            </dgm:constrLst>
            <dgm:ruleLst/>
          </dgm:layoutNode>
        </dgm:if>
        <dgm:else name="Name8"/>
      </dgm:choose>
      <dgm:layoutNode name="node" styleLbl="revTx">
        <dgm:varLst>
          <dgm:bulletEnabled val="1"/>
        </dgm:varLst>
        <dgm:alg type="tx">
          <dgm:param type="txAnchorVertCh" val="mid"/>
        </dgm:alg>
        <dgm:shape xmlns:r="http://schemas.openxmlformats.org/officeDocument/2006/relationships" type="rect" r:blip="">
          <dgm:adjLst/>
        </dgm:shape>
        <dgm:presOf axis="desOrSelf" ptType="node"/>
        <dgm:constrLst>
          <dgm:constr type="h" refType="w"/>
          <dgm:constr type="lMarg" refType="primFontSz" fact="0.1"/>
          <dgm:constr type="rMarg" refType="primFontSz" fact="0.1"/>
          <dgm:constr type="tMarg" refType="primFontSz" fact="0.1"/>
          <dgm:constr type="bMarg" refType="primFontSz" fact="0.1"/>
        </dgm:constrLst>
        <dgm:ruleLst>
          <dgm:rule type="primFontSz" val="5" fact="NaN" max="NaN"/>
        </dgm:ruleLst>
      </dgm:layoutNode>
      <dgm:choose name="Name9">
        <dgm:if name="Name10" axis="par ch" ptType="doc node" func="cnt" op="gt" val="1">
          <dgm:forEach name="Name11" axis="followSib" ptType="sibTrans" hideLastTrans="0" cnt="1">
            <dgm:layoutNode name="sibTrans" styleLbl="node1">
              <dgm:alg type="conn">
                <dgm:param type="connRout" val="curve"/>
                <dgm:param type="begPts" val="radial"/>
                <dgm:param type="endPts" val="radial"/>
              </dgm:alg>
              <dgm:shape xmlns:r="http://schemas.openxmlformats.org/officeDocument/2006/relationships" type="conn" r:blip="">
                <dgm:adjLst/>
              </dgm:shape>
              <dgm:presOf axis="self"/>
              <dgm:constrLst>
                <dgm:constr type="h" refType="w" fact="0.65"/>
                <dgm:constr type="begPad"/>
                <dgm:constr type="endPad"/>
              </dgm:constrLst>
              <dgm:ruleLst/>
            </dgm:layoutNode>
          </dgm:forEach>
        </dgm:if>
        <dgm:else name="Name12"/>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cycle1">
  <dgm:title val=""/>
  <dgm:desc val=""/>
  <dgm:catLst>
    <dgm:cat type="cycle" pri="2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alg type="cycle">
          <dgm:param type="stAng" val="0"/>
          <dgm:param type="spanAng" val="360"/>
        </dgm:alg>
      </dgm:if>
      <dgm:else name="Name2">
        <dgm:alg type="cycle">
          <dgm:param type="stAng" val="0"/>
          <dgm:param type="spanAng" val="-360"/>
        </dgm:alg>
      </dgm:else>
    </dgm:choose>
    <dgm:shape xmlns:r="http://schemas.openxmlformats.org/officeDocument/2006/relationships" r:blip="">
      <dgm:adjLst/>
    </dgm:shape>
    <dgm:presOf/>
    <dgm:choose name="Name3">
      <dgm:if name="Name4" func="var" arg="dir" op="equ" val="norm">
        <dgm:constrLst>
          <dgm:constr type="diam" val="1"/>
          <dgm:constr type="w" for="ch" forName="node" refType="w"/>
          <dgm:constr type="w" for="ch" ptType="sibTrans" refType="w" refFor="ch" refForName="node" fact="0.5"/>
          <dgm:constr type="h" for="ch" ptType="sibTrans" op="equ"/>
          <dgm:constr type="diam" for="ch" ptType="sibTrans" refType="diam" op="equ"/>
          <dgm:constr type="sibSp" refType="w" refFor="ch" refForName="node" fact="0.15"/>
          <dgm:constr type="w" for="ch" forName="dummy" refType="sibSp" fact="2.8"/>
          <dgm:constr type="primFontSz" for="ch" forName="node" op="equ" val="65"/>
        </dgm:constrLst>
      </dgm:if>
      <dgm:else name="Name5">
        <dgm:constrLst>
          <dgm:constr type="diam" val="1"/>
          <dgm:constr type="w" for="ch" forName="node" refType="w"/>
          <dgm:constr type="w" for="ch" ptType="sibTrans" refType="w" refFor="ch" refForName="node" fact="0.5"/>
          <dgm:constr type="h" for="ch" ptType="sibTrans" op="equ"/>
          <dgm:constr type="diam" for="ch" ptType="sibTrans" refType="diam" op="equ" fact="-1"/>
          <dgm:constr type="sibSp" refType="w" refFor="ch" refForName="node" fact="0.15"/>
          <dgm:constr type="w" for="ch" forName="dummy" refType="sibSp" fact="2.8"/>
          <dgm:constr type="primFontSz" for="ch" forName="node" op="equ" val="65"/>
        </dgm:constrLst>
      </dgm:else>
    </dgm:choose>
    <dgm:ruleLst>
      <dgm:rule type="diam" val="INF" fact="NaN" max="NaN"/>
    </dgm:ruleLst>
    <dgm:forEach name="nodesForEach" axis="ch" ptType="node">
      <dgm:choose name="Name6">
        <dgm:if name="Name7" axis="par ch" ptType="doc node" func="cnt" op="gt" val="1">
          <dgm:layoutNode name="dummy">
            <dgm:alg type="sp"/>
            <dgm:shape xmlns:r="http://schemas.openxmlformats.org/officeDocument/2006/relationships" r:blip="">
              <dgm:adjLst/>
            </dgm:shape>
            <dgm:presOf/>
            <dgm:constrLst>
              <dgm:constr type="h" refType="w"/>
            </dgm:constrLst>
            <dgm:ruleLst/>
          </dgm:layoutNode>
        </dgm:if>
        <dgm:else name="Name8"/>
      </dgm:choose>
      <dgm:layoutNode name="node" styleLbl="revTx">
        <dgm:varLst>
          <dgm:bulletEnabled val="1"/>
        </dgm:varLst>
        <dgm:alg type="tx">
          <dgm:param type="txAnchorVertCh" val="mid"/>
        </dgm:alg>
        <dgm:shape xmlns:r="http://schemas.openxmlformats.org/officeDocument/2006/relationships" type="rect" r:blip="">
          <dgm:adjLst/>
        </dgm:shape>
        <dgm:presOf axis="desOrSelf" ptType="node"/>
        <dgm:constrLst>
          <dgm:constr type="h" refType="w"/>
          <dgm:constr type="lMarg" refType="primFontSz" fact="0.1"/>
          <dgm:constr type="rMarg" refType="primFontSz" fact="0.1"/>
          <dgm:constr type="tMarg" refType="primFontSz" fact="0.1"/>
          <dgm:constr type="bMarg" refType="primFontSz" fact="0.1"/>
        </dgm:constrLst>
        <dgm:ruleLst>
          <dgm:rule type="primFontSz" val="5" fact="NaN" max="NaN"/>
        </dgm:ruleLst>
      </dgm:layoutNode>
      <dgm:choose name="Name9">
        <dgm:if name="Name10" axis="par ch" ptType="doc node" func="cnt" op="gt" val="1">
          <dgm:forEach name="Name11" axis="followSib" ptType="sibTrans" hideLastTrans="0" cnt="1">
            <dgm:layoutNode name="sibTrans" styleLbl="node1">
              <dgm:alg type="conn">
                <dgm:param type="connRout" val="curve"/>
                <dgm:param type="begPts" val="radial"/>
                <dgm:param type="endPts" val="radial"/>
              </dgm:alg>
              <dgm:shape xmlns:r="http://schemas.openxmlformats.org/officeDocument/2006/relationships" type="conn" r:blip="">
                <dgm:adjLst/>
              </dgm:shape>
              <dgm:presOf axis="self"/>
              <dgm:constrLst>
                <dgm:constr type="h" refType="w" fact="0.65"/>
                <dgm:constr type="begPad"/>
                <dgm:constr type="endPad"/>
              </dgm:constrLst>
              <dgm:ruleLst/>
            </dgm:layoutNode>
          </dgm:forEach>
        </dgm:if>
        <dgm:else name="Name12"/>
      </dgm:choose>
    </dgm:forEach>
  </dgm:layoutNode>
</dgm:layoutDef>
</file>

<file path=ppt/diagrams/layout4.xml><?xml version="1.0" encoding="utf-8"?>
<dgm:layoutDef xmlns:dgm="http://schemas.openxmlformats.org/drawingml/2006/diagram" xmlns:a="http://schemas.openxmlformats.org/drawingml/2006/main" uniqueId="urn:microsoft.com/office/officeart/2005/8/layout/cycle1">
  <dgm:title val=""/>
  <dgm:desc val=""/>
  <dgm:catLst>
    <dgm:cat type="cycle" pri="2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alg type="cycle">
          <dgm:param type="stAng" val="0"/>
          <dgm:param type="spanAng" val="360"/>
        </dgm:alg>
      </dgm:if>
      <dgm:else name="Name2">
        <dgm:alg type="cycle">
          <dgm:param type="stAng" val="0"/>
          <dgm:param type="spanAng" val="-360"/>
        </dgm:alg>
      </dgm:else>
    </dgm:choose>
    <dgm:shape xmlns:r="http://schemas.openxmlformats.org/officeDocument/2006/relationships" r:blip="">
      <dgm:adjLst/>
    </dgm:shape>
    <dgm:presOf/>
    <dgm:choose name="Name3">
      <dgm:if name="Name4" func="var" arg="dir" op="equ" val="norm">
        <dgm:constrLst>
          <dgm:constr type="diam" val="1"/>
          <dgm:constr type="w" for="ch" forName="node" refType="w"/>
          <dgm:constr type="w" for="ch" ptType="sibTrans" refType="w" refFor="ch" refForName="node" fact="0.5"/>
          <dgm:constr type="h" for="ch" ptType="sibTrans" op="equ"/>
          <dgm:constr type="diam" for="ch" ptType="sibTrans" refType="diam" op="equ"/>
          <dgm:constr type="sibSp" refType="w" refFor="ch" refForName="node" fact="0.15"/>
          <dgm:constr type="w" for="ch" forName="dummy" refType="sibSp" fact="2.8"/>
          <dgm:constr type="primFontSz" for="ch" forName="node" op="equ" val="65"/>
        </dgm:constrLst>
      </dgm:if>
      <dgm:else name="Name5">
        <dgm:constrLst>
          <dgm:constr type="diam" val="1"/>
          <dgm:constr type="w" for="ch" forName="node" refType="w"/>
          <dgm:constr type="w" for="ch" ptType="sibTrans" refType="w" refFor="ch" refForName="node" fact="0.5"/>
          <dgm:constr type="h" for="ch" ptType="sibTrans" op="equ"/>
          <dgm:constr type="diam" for="ch" ptType="sibTrans" refType="diam" op="equ" fact="-1"/>
          <dgm:constr type="sibSp" refType="w" refFor="ch" refForName="node" fact="0.15"/>
          <dgm:constr type="w" for="ch" forName="dummy" refType="sibSp" fact="2.8"/>
          <dgm:constr type="primFontSz" for="ch" forName="node" op="equ" val="65"/>
        </dgm:constrLst>
      </dgm:else>
    </dgm:choose>
    <dgm:ruleLst>
      <dgm:rule type="diam" val="INF" fact="NaN" max="NaN"/>
    </dgm:ruleLst>
    <dgm:forEach name="nodesForEach" axis="ch" ptType="node">
      <dgm:choose name="Name6">
        <dgm:if name="Name7" axis="par ch" ptType="doc node" func="cnt" op="gt" val="1">
          <dgm:layoutNode name="dummy">
            <dgm:alg type="sp"/>
            <dgm:shape xmlns:r="http://schemas.openxmlformats.org/officeDocument/2006/relationships" r:blip="">
              <dgm:adjLst/>
            </dgm:shape>
            <dgm:presOf/>
            <dgm:constrLst>
              <dgm:constr type="h" refType="w"/>
            </dgm:constrLst>
            <dgm:ruleLst/>
          </dgm:layoutNode>
        </dgm:if>
        <dgm:else name="Name8"/>
      </dgm:choose>
      <dgm:layoutNode name="node" styleLbl="revTx">
        <dgm:varLst>
          <dgm:bulletEnabled val="1"/>
        </dgm:varLst>
        <dgm:alg type="tx">
          <dgm:param type="txAnchorVertCh" val="mid"/>
        </dgm:alg>
        <dgm:shape xmlns:r="http://schemas.openxmlformats.org/officeDocument/2006/relationships" type="rect" r:blip="">
          <dgm:adjLst/>
        </dgm:shape>
        <dgm:presOf axis="desOrSelf" ptType="node"/>
        <dgm:constrLst>
          <dgm:constr type="h" refType="w"/>
          <dgm:constr type="lMarg" refType="primFontSz" fact="0.1"/>
          <dgm:constr type="rMarg" refType="primFontSz" fact="0.1"/>
          <dgm:constr type="tMarg" refType="primFontSz" fact="0.1"/>
          <dgm:constr type="bMarg" refType="primFontSz" fact="0.1"/>
        </dgm:constrLst>
        <dgm:ruleLst>
          <dgm:rule type="primFontSz" val="5" fact="NaN" max="NaN"/>
        </dgm:ruleLst>
      </dgm:layoutNode>
      <dgm:choose name="Name9">
        <dgm:if name="Name10" axis="par ch" ptType="doc node" func="cnt" op="gt" val="1">
          <dgm:forEach name="Name11" axis="followSib" ptType="sibTrans" hideLastTrans="0" cnt="1">
            <dgm:layoutNode name="sibTrans" styleLbl="node1">
              <dgm:alg type="conn">
                <dgm:param type="connRout" val="curve"/>
                <dgm:param type="begPts" val="radial"/>
                <dgm:param type="endPts" val="radial"/>
              </dgm:alg>
              <dgm:shape xmlns:r="http://schemas.openxmlformats.org/officeDocument/2006/relationships" type="conn" r:blip="">
                <dgm:adjLst/>
              </dgm:shape>
              <dgm:presOf axis="self"/>
              <dgm:constrLst>
                <dgm:constr type="h" refType="w" fact="0.65"/>
                <dgm:constr type="begPad"/>
                <dgm:constr type="endPad"/>
              </dgm:constrLst>
              <dgm:ruleLst/>
            </dgm:layoutNode>
          </dgm:forEach>
        </dgm:if>
        <dgm:else name="Name12"/>
      </dgm:choose>
    </dgm:forEach>
  </dgm:layoutNode>
</dgm:layoutDef>
</file>

<file path=ppt/diagrams/layout5.xml><?xml version="1.0" encoding="utf-8"?>
<dgm:layoutDef xmlns:dgm="http://schemas.openxmlformats.org/drawingml/2006/diagram" xmlns:a="http://schemas.openxmlformats.org/drawingml/2006/main" uniqueId="urn:microsoft.com/office/officeart/2005/8/layout/cycle1">
  <dgm:title val=""/>
  <dgm:desc val=""/>
  <dgm:catLst>
    <dgm:cat type="cycle" pri="2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alg type="cycle">
          <dgm:param type="stAng" val="0"/>
          <dgm:param type="spanAng" val="360"/>
        </dgm:alg>
      </dgm:if>
      <dgm:else name="Name2">
        <dgm:alg type="cycle">
          <dgm:param type="stAng" val="0"/>
          <dgm:param type="spanAng" val="-360"/>
        </dgm:alg>
      </dgm:else>
    </dgm:choose>
    <dgm:shape xmlns:r="http://schemas.openxmlformats.org/officeDocument/2006/relationships" r:blip="">
      <dgm:adjLst/>
    </dgm:shape>
    <dgm:presOf/>
    <dgm:choose name="Name3">
      <dgm:if name="Name4" func="var" arg="dir" op="equ" val="norm">
        <dgm:constrLst>
          <dgm:constr type="diam" val="1"/>
          <dgm:constr type="w" for="ch" forName="node" refType="w"/>
          <dgm:constr type="w" for="ch" ptType="sibTrans" refType="w" refFor="ch" refForName="node" fact="0.5"/>
          <dgm:constr type="h" for="ch" ptType="sibTrans" op="equ"/>
          <dgm:constr type="diam" for="ch" ptType="sibTrans" refType="diam" op="equ"/>
          <dgm:constr type="sibSp" refType="w" refFor="ch" refForName="node" fact="0.15"/>
          <dgm:constr type="w" for="ch" forName="dummy" refType="sibSp" fact="2.8"/>
          <dgm:constr type="primFontSz" for="ch" forName="node" op="equ" val="65"/>
        </dgm:constrLst>
      </dgm:if>
      <dgm:else name="Name5">
        <dgm:constrLst>
          <dgm:constr type="diam" val="1"/>
          <dgm:constr type="w" for="ch" forName="node" refType="w"/>
          <dgm:constr type="w" for="ch" ptType="sibTrans" refType="w" refFor="ch" refForName="node" fact="0.5"/>
          <dgm:constr type="h" for="ch" ptType="sibTrans" op="equ"/>
          <dgm:constr type="diam" for="ch" ptType="sibTrans" refType="diam" op="equ" fact="-1"/>
          <dgm:constr type="sibSp" refType="w" refFor="ch" refForName="node" fact="0.15"/>
          <dgm:constr type="w" for="ch" forName="dummy" refType="sibSp" fact="2.8"/>
          <dgm:constr type="primFontSz" for="ch" forName="node" op="equ" val="65"/>
        </dgm:constrLst>
      </dgm:else>
    </dgm:choose>
    <dgm:ruleLst>
      <dgm:rule type="diam" val="INF" fact="NaN" max="NaN"/>
    </dgm:ruleLst>
    <dgm:forEach name="nodesForEach" axis="ch" ptType="node">
      <dgm:choose name="Name6">
        <dgm:if name="Name7" axis="par ch" ptType="doc node" func="cnt" op="gt" val="1">
          <dgm:layoutNode name="dummy">
            <dgm:alg type="sp"/>
            <dgm:shape xmlns:r="http://schemas.openxmlformats.org/officeDocument/2006/relationships" r:blip="">
              <dgm:adjLst/>
            </dgm:shape>
            <dgm:presOf/>
            <dgm:constrLst>
              <dgm:constr type="h" refType="w"/>
            </dgm:constrLst>
            <dgm:ruleLst/>
          </dgm:layoutNode>
        </dgm:if>
        <dgm:else name="Name8"/>
      </dgm:choose>
      <dgm:layoutNode name="node" styleLbl="revTx">
        <dgm:varLst>
          <dgm:bulletEnabled val="1"/>
        </dgm:varLst>
        <dgm:alg type="tx">
          <dgm:param type="txAnchorVertCh" val="mid"/>
        </dgm:alg>
        <dgm:shape xmlns:r="http://schemas.openxmlformats.org/officeDocument/2006/relationships" type="rect" r:blip="">
          <dgm:adjLst/>
        </dgm:shape>
        <dgm:presOf axis="desOrSelf" ptType="node"/>
        <dgm:constrLst>
          <dgm:constr type="h" refType="w"/>
          <dgm:constr type="lMarg" refType="primFontSz" fact="0.1"/>
          <dgm:constr type="rMarg" refType="primFontSz" fact="0.1"/>
          <dgm:constr type="tMarg" refType="primFontSz" fact="0.1"/>
          <dgm:constr type="bMarg" refType="primFontSz" fact="0.1"/>
        </dgm:constrLst>
        <dgm:ruleLst>
          <dgm:rule type="primFontSz" val="5" fact="NaN" max="NaN"/>
        </dgm:ruleLst>
      </dgm:layoutNode>
      <dgm:choose name="Name9">
        <dgm:if name="Name10" axis="par ch" ptType="doc node" func="cnt" op="gt" val="1">
          <dgm:forEach name="Name11" axis="followSib" ptType="sibTrans" hideLastTrans="0" cnt="1">
            <dgm:layoutNode name="sibTrans" styleLbl="node1">
              <dgm:alg type="conn">
                <dgm:param type="connRout" val="curve"/>
                <dgm:param type="begPts" val="radial"/>
                <dgm:param type="endPts" val="radial"/>
              </dgm:alg>
              <dgm:shape xmlns:r="http://schemas.openxmlformats.org/officeDocument/2006/relationships" type="conn" r:blip="">
                <dgm:adjLst/>
              </dgm:shape>
              <dgm:presOf axis="self"/>
              <dgm:constrLst>
                <dgm:constr type="h" refType="w" fact="0.65"/>
                <dgm:constr type="begPad"/>
                <dgm:constr type="endPad"/>
              </dgm:constrLst>
              <dgm:ruleLst/>
            </dgm:layoutNode>
          </dgm:forEach>
        </dgm:if>
        <dgm:else name="Name12"/>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3EA54553-2A3F-4C94-AA62-ABFC40E07E5C}"/>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a:extLst>
              <a:ext uri="{FF2B5EF4-FFF2-40B4-BE49-F238E27FC236}">
                <a16:creationId xmlns:a16="http://schemas.microsoft.com/office/drawing/2014/main" id="{B0996737-DD0F-4016-9F43-1C3C1167168C}"/>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EE11316-EC54-4B9D-B716-15D72C7F09B1}" type="datetimeFigureOut">
              <a:rPr lang="en-GB" smtClean="0"/>
              <a:t>23/05/2022</a:t>
            </a:fld>
            <a:endParaRPr lang="en-GB"/>
          </a:p>
        </p:txBody>
      </p:sp>
      <p:sp>
        <p:nvSpPr>
          <p:cNvPr id="4" name="Footer Placeholder 3">
            <a:extLst>
              <a:ext uri="{FF2B5EF4-FFF2-40B4-BE49-F238E27FC236}">
                <a16:creationId xmlns:a16="http://schemas.microsoft.com/office/drawing/2014/main" id="{147A745F-1972-497D-8174-B5868433DF0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5" name="Slide Number Placeholder 4">
            <a:extLst>
              <a:ext uri="{FF2B5EF4-FFF2-40B4-BE49-F238E27FC236}">
                <a16:creationId xmlns:a16="http://schemas.microsoft.com/office/drawing/2014/main" id="{A8CE6AC0-619C-486F-A045-23AE3DF3E3C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93CFB52-3982-4249-B609-86D9E8883619}" type="slidenum">
              <a:rPr lang="en-GB" smtClean="0"/>
              <a:t>‹#›</a:t>
            </a:fld>
            <a:endParaRPr lang="en-GB"/>
          </a:p>
        </p:txBody>
      </p:sp>
    </p:spTree>
    <p:extLst>
      <p:ext uri="{BB962C8B-B14F-4D97-AF65-F5344CB8AC3E}">
        <p14:creationId xmlns:p14="http://schemas.microsoft.com/office/powerpoint/2010/main" val="79516366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4001D13-C50D-4862-A50B-4E5D0E7CA144}" type="datetimeFigureOut">
              <a:rPr lang="en-GB" smtClean="0"/>
              <a:t>23/05/2022</a:t>
            </a:fld>
            <a:endParaRPr lang="en-GB"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80E031B-FEB2-4221-8849-89831B3F1108}" type="slidenum">
              <a:rPr lang="en-GB" smtClean="0"/>
              <a:t>‹#›</a:t>
            </a:fld>
            <a:endParaRPr lang="en-GB" dirty="0"/>
          </a:p>
        </p:txBody>
      </p:sp>
    </p:spTree>
    <p:extLst>
      <p:ext uri="{BB962C8B-B14F-4D97-AF65-F5344CB8AC3E}">
        <p14:creationId xmlns:p14="http://schemas.microsoft.com/office/powerpoint/2010/main" val="369764429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767369-A355-4D19-AEEC-9D0100EF3C3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87924699-1673-40E6-9241-180D7794217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19CBE935-35F7-402A-9F4D-C68B29248BA9}"/>
              </a:ext>
            </a:extLst>
          </p:cNvPr>
          <p:cNvSpPr>
            <a:spLocks noGrp="1"/>
          </p:cNvSpPr>
          <p:nvPr>
            <p:ph type="dt" sz="half" idx="10"/>
          </p:nvPr>
        </p:nvSpPr>
        <p:spPr/>
        <p:txBody>
          <a:bodyPr/>
          <a:lstStyle/>
          <a:p>
            <a:fld id="{83EBD5A5-95A5-4ED6-B746-12AF9CEAF3AB}" type="datetimeFigureOut">
              <a:rPr lang="en-GB" smtClean="0"/>
              <a:t>23/05/2022</a:t>
            </a:fld>
            <a:endParaRPr lang="en-GB" dirty="0"/>
          </a:p>
        </p:txBody>
      </p:sp>
      <p:sp>
        <p:nvSpPr>
          <p:cNvPr id="5" name="Footer Placeholder 4">
            <a:extLst>
              <a:ext uri="{FF2B5EF4-FFF2-40B4-BE49-F238E27FC236}">
                <a16:creationId xmlns:a16="http://schemas.microsoft.com/office/drawing/2014/main" id="{004D7A12-EBDB-45B0-9FF5-F17A7EF6715B}"/>
              </a:ext>
            </a:extLst>
          </p:cNvPr>
          <p:cNvSpPr>
            <a:spLocks noGrp="1"/>
          </p:cNvSpPr>
          <p:nvPr>
            <p:ph type="ftr" sz="quarter" idx="11"/>
          </p:nvPr>
        </p:nvSpPr>
        <p:spPr/>
        <p:txBody>
          <a:bodyPr/>
          <a:lstStyle/>
          <a:p>
            <a:endParaRPr lang="en-GB" dirty="0"/>
          </a:p>
        </p:txBody>
      </p:sp>
      <p:sp>
        <p:nvSpPr>
          <p:cNvPr id="6" name="Slide Number Placeholder 5">
            <a:extLst>
              <a:ext uri="{FF2B5EF4-FFF2-40B4-BE49-F238E27FC236}">
                <a16:creationId xmlns:a16="http://schemas.microsoft.com/office/drawing/2014/main" id="{037C7090-3E02-4EBA-95BB-2F3FF45C1E86}"/>
              </a:ext>
            </a:extLst>
          </p:cNvPr>
          <p:cNvSpPr>
            <a:spLocks noGrp="1"/>
          </p:cNvSpPr>
          <p:nvPr>
            <p:ph type="sldNum" sz="quarter" idx="12"/>
          </p:nvPr>
        </p:nvSpPr>
        <p:spPr/>
        <p:txBody>
          <a:bodyPr/>
          <a:lstStyle/>
          <a:p>
            <a:fld id="{CFC6102D-FACC-46D2-982F-C509AB4FB7F4}" type="slidenum">
              <a:rPr lang="en-GB" smtClean="0"/>
              <a:t>‹#›</a:t>
            </a:fld>
            <a:endParaRPr lang="en-GB" dirty="0"/>
          </a:p>
        </p:txBody>
      </p:sp>
    </p:spTree>
    <p:extLst>
      <p:ext uri="{BB962C8B-B14F-4D97-AF65-F5344CB8AC3E}">
        <p14:creationId xmlns:p14="http://schemas.microsoft.com/office/powerpoint/2010/main" val="40184295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977CF4-093B-4C66-A107-491AFAE190E4}"/>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A87249AB-C9F4-4A3F-A472-C5FDCF3AAF39}"/>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606A491B-E55E-4F96-A0A2-08ABE85381B5}"/>
              </a:ext>
            </a:extLst>
          </p:cNvPr>
          <p:cNvSpPr>
            <a:spLocks noGrp="1"/>
          </p:cNvSpPr>
          <p:nvPr>
            <p:ph type="dt" sz="half" idx="10"/>
          </p:nvPr>
        </p:nvSpPr>
        <p:spPr/>
        <p:txBody>
          <a:bodyPr/>
          <a:lstStyle/>
          <a:p>
            <a:fld id="{83EBD5A5-95A5-4ED6-B746-12AF9CEAF3AB}" type="datetimeFigureOut">
              <a:rPr lang="en-GB" smtClean="0"/>
              <a:t>23/05/2022</a:t>
            </a:fld>
            <a:endParaRPr lang="en-GB" dirty="0"/>
          </a:p>
        </p:txBody>
      </p:sp>
      <p:sp>
        <p:nvSpPr>
          <p:cNvPr id="5" name="Footer Placeholder 4">
            <a:extLst>
              <a:ext uri="{FF2B5EF4-FFF2-40B4-BE49-F238E27FC236}">
                <a16:creationId xmlns:a16="http://schemas.microsoft.com/office/drawing/2014/main" id="{5D5EE9C3-3BD7-499C-9C8F-E914AF0CCD4C}"/>
              </a:ext>
            </a:extLst>
          </p:cNvPr>
          <p:cNvSpPr>
            <a:spLocks noGrp="1"/>
          </p:cNvSpPr>
          <p:nvPr>
            <p:ph type="ftr" sz="quarter" idx="11"/>
          </p:nvPr>
        </p:nvSpPr>
        <p:spPr/>
        <p:txBody>
          <a:bodyPr/>
          <a:lstStyle/>
          <a:p>
            <a:endParaRPr lang="en-GB" dirty="0"/>
          </a:p>
        </p:txBody>
      </p:sp>
      <p:sp>
        <p:nvSpPr>
          <p:cNvPr id="6" name="Slide Number Placeholder 5">
            <a:extLst>
              <a:ext uri="{FF2B5EF4-FFF2-40B4-BE49-F238E27FC236}">
                <a16:creationId xmlns:a16="http://schemas.microsoft.com/office/drawing/2014/main" id="{B8CA0F2C-BB77-4D20-BD01-009748E06A21}"/>
              </a:ext>
            </a:extLst>
          </p:cNvPr>
          <p:cNvSpPr>
            <a:spLocks noGrp="1"/>
          </p:cNvSpPr>
          <p:nvPr>
            <p:ph type="sldNum" sz="quarter" idx="12"/>
          </p:nvPr>
        </p:nvSpPr>
        <p:spPr/>
        <p:txBody>
          <a:bodyPr/>
          <a:lstStyle/>
          <a:p>
            <a:fld id="{CFC6102D-FACC-46D2-982F-C509AB4FB7F4}" type="slidenum">
              <a:rPr lang="en-GB" smtClean="0"/>
              <a:t>‹#›</a:t>
            </a:fld>
            <a:endParaRPr lang="en-GB" dirty="0"/>
          </a:p>
        </p:txBody>
      </p:sp>
    </p:spTree>
    <p:extLst>
      <p:ext uri="{BB962C8B-B14F-4D97-AF65-F5344CB8AC3E}">
        <p14:creationId xmlns:p14="http://schemas.microsoft.com/office/powerpoint/2010/main" val="24430069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CEAB41-C5F4-4F77-8A5C-14CA38A3E78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AFC5B807-A41F-4934-B9B5-F06B7FECFD6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D1BA9AEC-9ECF-4105-84CF-CCC301ADB0FE}"/>
              </a:ext>
            </a:extLst>
          </p:cNvPr>
          <p:cNvSpPr>
            <a:spLocks noGrp="1"/>
          </p:cNvSpPr>
          <p:nvPr>
            <p:ph type="dt" sz="half" idx="10"/>
          </p:nvPr>
        </p:nvSpPr>
        <p:spPr/>
        <p:txBody>
          <a:bodyPr/>
          <a:lstStyle/>
          <a:p>
            <a:fld id="{83EBD5A5-95A5-4ED6-B746-12AF9CEAF3AB}" type="datetimeFigureOut">
              <a:rPr lang="en-GB" smtClean="0"/>
              <a:t>23/05/2022</a:t>
            </a:fld>
            <a:endParaRPr lang="en-GB" dirty="0"/>
          </a:p>
        </p:txBody>
      </p:sp>
      <p:sp>
        <p:nvSpPr>
          <p:cNvPr id="5" name="Footer Placeholder 4">
            <a:extLst>
              <a:ext uri="{FF2B5EF4-FFF2-40B4-BE49-F238E27FC236}">
                <a16:creationId xmlns:a16="http://schemas.microsoft.com/office/drawing/2014/main" id="{199A81FA-05E8-4A50-9FC5-A94F3634CB56}"/>
              </a:ext>
            </a:extLst>
          </p:cNvPr>
          <p:cNvSpPr>
            <a:spLocks noGrp="1"/>
          </p:cNvSpPr>
          <p:nvPr>
            <p:ph type="ftr" sz="quarter" idx="11"/>
          </p:nvPr>
        </p:nvSpPr>
        <p:spPr/>
        <p:txBody>
          <a:bodyPr/>
          <a:lstStyle/>
          <a:p>
            <a:endParaRPr lang="en-GB" dirty="0"/>
          </a:p>
        </p:txBody>
      </p:sp>
      <p:sp>
        <p:nvSpPr>
          <p:cNvPr id="6" name="Slide Number Placeholder 5">
            <a:extLst>
              <a:ext uri="{FF2B5EF4-FFF2-40B4-BE49-F238E27FC236}">
                <a16:creationId xmlns:a16="http://schemas.microsoft.com/office/drawing/2014/main" id="{8EB13BE1-EE3A-45AF-BF76-41B86D070B05}"/>
              </a:ext>
            </a:extLst>
          </p:cNvPr>
          <p:cNvSpPr>
            <a:spLocks noGrp="1"/>
          </p:cNvSpPr>
          <p:nvPr>
            <p:ph type="sldNum" sz="quarter" idx="12"/>
          </p:nvPr>
        </p:nvSpPr>
        <p:spPr/>
        <p:txBody>
          <a:bodyPr/>
          <a:lstStyle/>
          <a:p>
            <a:fld id="{CFC6102D-FACC-46D2-982F-C509AB4FB7F4}" type="slidenum">
              <a:rPr lang="en-GB" smtClean="0"/>
              <a:t>‹#›</a:t>
            </a:fld>
            <a:endParaRPr lang="en-GB" dirty="0"/>
          </a:p>
        </p:txBody>
      </p:sp>
    </p:spTree>
    <p:extLst>
      <p:ext uri="{BB962C8B-B14F-4D97-AF65-F5344CB8AC3E}">
        <p14:creationId xmlns:p14="http://schemas.microsoft.com/office/powerpoint/2010/main" val="173073534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601685-8ECA-46F3-BC78-B8E4D43D8A8E}"/>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F4A252D3-EA14-47C6-8BDF-B549E97DE48C}"/>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A89FA317-5ECF-4693-88DD-BCA7EC3919DD}"/>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BCCCA0AA-2226-49B9-8142-4F45D8CE683F}"/>
              </a:ext>
            </a:extLst>
          </p:cNvPr>
          <p:cNvSpPr>
            <a:spLocks noGrp="1"/>
          </p:cNvSpPr>
          <p:nvPr>
            <p:ph type="dt" sz="half" idx="10"/>
          </p:nvPr>
        </p:nvSpPr>
        <p:spPr/>
        <p:txBody>
          <a:bodyPr/>
          <a:lstStyle/>
          <a:p>
            <a:fld id="{83EBD5A5-95A5-4ED6-B746-12AF9CEAF3AB}" type="datetimeFigureOut">
              <a:rPr lang="en-GB" smtClean="0"/>
              <a:t>23/05/2022</a:t>
            </a:fld>
            <a:endParaRPr lang="en-GB" dirty="0"/>
          </a:p>
        </p:txBody>
      </p:sp>
      <p:sp>
        <p:nvSpPr>
          <p:cNvPr id="6" name="Footer Placeholder 5">
            <a:extLst>
              <a:ext uri="{FF2B5EF4-FFF2-40B4-BE49-F238E27FC236}">
                <a16:creationId xmlns:a16="http://schemas.microsoft.com/office/drawing/2014/main" id="{197F340D-9456-43F7-A764-CBD130EF6886}"/>
              </a:ext>
            </a:extLst>
          </p:cNvPr>
          <p:cNvSpPr>
            <a:spLocks noGrp="1"/>
          </p:cNvSpPr>
          <p:nvPr>
            <p:ph type="ftr" sz="quarter" idx="11"/>
          </p:nvPr>
        </p:nvSpPr>
        <p:spPr/>
        <p:txBody>
          <a:bodyPr/>
          <a:lstStyle/>
          <a:p>
            <a:endParaRPr lang="en-GB" dirty="0"/>
          </a:p>
        </p:txBody>
      </p:sp>
      <p:sp>
        <p:nvSpPr>
          <p:cNvPr id="7" name="Slide Number Placeholder 6">
            <a:extLst>
              <a:ext uri="{FF2B5EF4-FFF2-40B4-BE49-F238E27FC236}">
                <a16:creationId xmlns:a16="http://schemas.microsoft.com/office/drawing/2014/main" id="{EF72910B-6BBA-4043-8CD2-7AE056F14AA9}"/>
              </a:ext>
            </a:extLst>
          </p:cNvPr>
          <p:cNvSpPr>
            <a:spLocks noGrp="1"/>
          </p:cNvSpPr>
          <p:nvPr>
            <p:ph type="sldNum" sz="quarter" idx="12"/>
          </p:nvPr>
        </p:nvSpPr>
        <p:spPr/>
        <p:txBody>
          <a:bodyPr/>
          <a:lstStyle/>
          <a:p>
            <a:fld id="{CFC6102D-FACC-46D2-982F-C509AB4FB7F4}" type="slidenum">
              <a:rPr lang="en-GB" smtClean="0"/>
              <a:t>‹#›</a:t>
            </a:fld>
            <a:endParaRPr lang="en-GB" dirty="0"/>
          </a:p>
        </p:txBody>
      </p:sp>
    </p:spTree>
    <p:extLst>
      <p:ext uri="{BB962C8B-B14F-4D97-AF65-F5344CB8AC3E}">
        <p14:creationId xmlns:p14="http://schemas.microsoft.com/office/powerpoint/2010/main" val="336060417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F960B3-16E7-4811-A5F8-83614659ACE9}"/>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F4DB62EE-BCB8-429D-BB6F-89DF9F3EA1F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C934AD67-4C0E-484D-B7FF-FB976A1710FF}"/>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34D7660E-8B38-43A5-A48D-A4523AA03AB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CE7EFE82-A3BC-42B8-9F71-5C3C1ADD41B7}"/>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4BBD8DB3-F688-4AB2-AAFC-0E5E7F2EB1DC}"/>
              </a:ext>
            </a:extLst>
          </p:cNvPr>
          <p:cNvSpPr>
            <a:spLocks noGrp="1"/>
          </p:cNvSpPr>
          <p:nvPr>
            <p:ph type="dt" sz="half" idx="10"/>
          </p:nvPr>
        </p:nvSpPr>
        <p:spPr/>
        <p:txBody>
          <a:bodyPr/>
          <a:lstStyle/>
          <a:p>
            <a:fld id="{83EBD5A5-95A5-4ED6-B746-12AF9CEAF3AB}" type="datetimeFigureOut">
              <a:rPr lang="en-GB" smtClean="0"/>
              <a:t>23/05/2022</a:t>
            </a:fld>
            <a:endParaRPr lang="en-GB" dirty="0"/>
          </a:p>
        </p:txBody>
      </p:sp>
      <p:sp>
        <p:nvSpPr>
          <p:cNvPr id="8" name="Footer Placeholder 7">
            <a:extLst>
              <a:ext uri="{FF2B5EF4-FFF2-40B4-BE49-F238E27FC236}">
                <a16:creationId xmlns:a16="http://schemas.microsoft.com/office/drawing/2014/main" id="{848F70DA-1B40-4425-B025-A8D06411AA42}"/>
              </a:ext>
            </a:extLst>
          </p:cNvPr>
          <p:cNvSpPr>
            <a:spLocks noGrp="1"/>
          </p:cNvSpPr>
          <p:nvPr>
            <p:ph type="ftr" sz="quarter" idx="11"/>
          </p:nvPr>
        </p:nvSpPr>
        <p:spPr/>
        <p:txBody>
          <a:bodyPr/>
          <a:lstStyle/>
          <a:p>
            <a:endParaRPr lang="en-GB" dirty="0"/>
          </a:p>
        </p:txBody>
      </p:sp>
      <p:sp>
        <p:nvSpPr>
          <p:cNvPr id="9" name="Slide Number Placeholder 8">
            <a:extLst>
              <a:ext uri="{FF2B5EF4-FFF2-40B4-BE49-F238E27FC236}">
                <a16:creationId xmlns:a16="http://schemas.microsoft.com/office/drawing/2014/main" id="{0A95CE6D-8A51-4013-A622-D11EFBB72DAA}"/>
              </a:ext>
            </a:extLst>
          </p:cNvPr>
          <p:cNvSpPr>
            <a:spLocks noGrp="1"/>
          </p:cNvSpPr>
          <p:nvPr>
            <p:ph type="sldNum" sz="quarter" idx="12"/>
          </p:nvPr>
        </p:nvSpPr>
        <p:spPr/>
        <p:txBody>
          <a:bodyPr/>
          <a:lstStyle/>
          <a:p>
            <a:fld id="{CFC6102D-FACC-46D2-982F-C509AB4FB7F4}" type="slidenum">
              <a:rPr lang="en-GB" smtClean="0"/>
              <a:t>‹#›</a:t>
            </a:fld>
            <a:endParaRPr lang="en-GB" dirty="0"/>
          </a:p>
        </p:txBody>
      </p:sp>
    </p:spTree>
    <p:extLst>
      <p:ext uri="{BB962C8B-B14F-4D97-AF65-F5344CB8AC3E}">
        <p14:creationId xmlns:p14="http://schemas.microsoft.com/office/powerpoint/2010/main" val="380522743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4E232E-9E69-481F-BDD8-74F4219ED32E}"/>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8BAD69E5-4081-437F-98E4-2CAF4F5CCAA8}"/>
              </a:ext>
            </a:extLst>
          </p:cNvPr>
          <p:cNvSpPr>
            <a:spLocks noGrp="1"/>
          </p:cNvSpPr>
          <p:nvPr>
            <p:ph type="dt" sz="half" idx="10"/>
          </p:nvPr>
        </p:nvSpPr>
        <p:spPr/>
        <p:txBody>
          <a:bodyPr/>
          <a:lstStyle/>
          <a:p>
            <a:fld id="{83EBD5A5-95A5-4ED6-B746-12AF9CEAF3AB}" type="datetimeFigureOut">
              <a:rPr lang="en-GB" smtClean="0"/>
              <a:t>23/05/2022</a:t>
            </a:fld>
            <a:endParaRPr lang="en-GB" dirty="0"/>
          </a:p>
        </p:txBody>
      </p:sp>
      <p:sp>
        <p:nvSpPr>
          <p:cNvPr id="4" name="Footer Placeholder 3">
            <a:extLst>
              <a:ext uri="{FF2B5EF4-FFF2-40B4-BE49-F238E27FC236}">
                <a16:creationId xmlns:a16="http://schemas.microsoft.com/office/drawing/2014/main" id="{E1B30953-0189-477F-ABF4-CE4D2ED1E480}"/>
              </a:ext>
            </a:extLst>
          </p:cNvPr>
          <p:cNvSpPr>
            <a:spLocks noGrp="1"/>
          </p:cNvSpPr>
          <p:nvPr>
            <p:ph type="ftr" sz="quarter" idx="11"/>
          </p:nvPr>
        </p:nvSpPr>
        <p:spPr/>
        <p:txBody>
          <a:bodyPr/>
          <a:lstStyle/>
          <a:p>
            <a:endParaRPr lang="en-GB" dirty="0"/>
          </a:p>
        </p:txBody>
      </p:sp>
      <p:sp>
        <p:nvSpPr>
          <p:cNvPr id="5" name="Slide Number Placeholder 4">
            <a:extLst>
              <a:ext uri="{FF2B5EF4-FFF2-40B4-BE49-F238E27FC236}">
                <a16:creationId xmlns:a16="http://schemas.microsoft.com/office/drawing/2014/main" id="{5BCC43C7-506A-468F-96CB-96E8683CF1B7}"/>
              </a:ext>
            </a:extLst>
          </p:cNvPr>
          <p:cNvSpPr>
            <a:spLocks noGrp="1"/>
          </p:cNvSpPr>
          <p:nvPr>
            <p:ph type="sldNum" sz="quarter" idx="12"/>
          </p:nvPr>
        </p:nvSpPr>
        <p:spPr/>
        <p:txBody>
          <a:bodyPr/>
          <a:lstStyle/>
          <a:p>
            <a:fld id="{CFC6102D-FACC-46D2-982F-C509AB4FB7F4}" type="slidenum">
              <a:rPr lang="en-GB" smtClean="0"/>
              <a:t>‹#›</a:t>
            </a:fld>
            <a:endParaRPr lang="en-GB" dirty="0"/>
          </a:p>
        </p:txBody>
      </p:sp>
    </p:spTree>
    <p:extLst>
      <p:ext uri="{BB962C8B-B14F-4D97-AF65-F5344CB8AC3E}">
        <p14:creationId xmlns:p14="http://schemas.microsoft.com/office/powerpoint/2010/main" val="239981419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o Title slid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EB0CC6F3-15F4-4749-9242-EDD4FF8C5DBF}"/>
              </a:ext>
            </a:extLst>
          </p:cNvPr>
          <p:cNvSpPr/>
          <p:nvPr userDrawn="1"/>
        </p:nvSpPr>
        <p:spPr>
          <a:xfrm>
            <a:off x="10088880" y="0"/>
            <a:ext cx="2103120" cy="6858000"/>
          </a:xfrm>
          <a:prstGeom prst="rect">
            <a:avLst/>
          </a:prstGeom>
          <a:solidFill>
            <a:srgbClr val="F26521"/>
          </a:solidFill>
          <a:ln>
            <a:noFill/>
          </a:ln>
        </p:spPr>
        <p:style>
          <a:lnRef idx="2">
            <a:schemeClr val="accent1">
              <a:shade val="50000"/>
            </a:schemeClr>
          </a:lnRef>
          <a:fillRef idx="1">
            <a:schemeClr val="accent1"/>
          </a:fillRef>
          <a:effectRef idx="0">
            <a:schemeClr val="accent1"/>
          </a:effectRef>
          <a:fontRef idx="minor">
            <a:schemeClr val="lt1"/>
          </a:fontRef>
        </p:style>
        <p:txBody>
          <a:bodyPr tIns="180000" rtlCol="0" anchor="t"/>
          <a:lstStyle/>
          <a:p>
            <a:pPr algn="ctr"/>
            <a:r>
              <a:rPr lang="en-GB" sz="2400" b="1" dirty="0">
                <a:solidFill>
                  <a:schemeClr val="bg1"/>
                </a:solidFill>
                <a:latin typeface="Century Gothic" panose="020B0502020202020204" pitchFamily="34" charset="0"/>
              </a:rPr>
              <a:t>CAMBRIDGE IGCSE</a:t>
            </a:r>
          </a:p>
          <a:p>
            <a:pPr algn="ctr"/>
            <a:r>
              <a:rPr lang="en-GB" sz="2400" b="1" dirty="0">
                <a:solidFill>
                  <a:schemeClr val="bg1"/>
                </a:solidFill>
                <a:latin typeface="Century Gothic" panose="020B0502020202020204" pitchFamily="34" charset="0"/>
              </a:rPr>
              <a:t>(0478/0984)</a:t>
            </a:r>
          </a:p>
          <a:p>
            <a:pPr algn="ctr"/>
            <a:endParaRPr lang="en-GB" sz="2400" b="1" dirty="0">
              <a:solidFill>
                <a:schemeClr val="bg1"/>
              </a:solidFill>
              <a:latin typeface="Century Gothic" panose="020B0502020202020204" pitchFamily="34" charset="0"/>
            </a:endParaRPr>
          </a:p>
          <a:p>
            <a:pPr algn="ctr"/>
            <a:endParaRPr lang="en-GB" sz="2800" b="1" dirty="0">
              <a:solidFill>
                <a:schemeClr val="bg1"/>
              </a:solidFill>
            </a:endParaRPr>
          </a:p>
          <a:p>
            <a:pPr algn="ctr"/>
            <a:endParaRPr lang="en-GB" sz="2800" b="1" dirty="0">
              <a:solidFill>
                <a:schemeClr val="bg1"/>
              </a:solidFill>
            </a:endParaRPr>
          </a:p>
          <a:p>
            <a:pPr algn="ctr"/>
            <a:endParaRPr lang="en-GB" sz="2800" b="1" dirty="0">
              <a:solidFill>
                <a:schemeClr val="bg1"/>
              </a:solidFill>
            </a:endParaRPr>
          </a:p>
          <a:p>
            <a:pPr algn="ctr"/>
            <a:endParaRPr lang="en-GB" sz="2800" b="1" dirty="0">
              <a:solidFill>
                <a:schemeClr val="bg1"/>
              </a:solidFill>
            </a:endParaRPr>
          </a:p>
          <a:p>
            <a:pPr algn="ctr"/>
            <a:endParaRPr lang="en-GB" sz="2800" b="1" dirty="0">
              <a:solidFill>
                <a:schemeClr val="bg1"/>
              </a:solidFill>
            </a:endParaRPr>
          </a:p>
          <a:p>
            <a:pPr algn="ctr"/>
            <a:endParaRPr lang="en-GB" sz="2800" b="1" dirty="0">
              <a:solidFill>
                <a:schemeClr val="bg1"/>
              </a:solidFill>
            </a:endParaRPr>
          </a:p>
          <a:p>
            <a:pPr algn="ctr"/>
            <a:endParaRPr lang="en-GB" sz="2800" b="1" dirty="0">
              <a:solidFill>
                <a:schemeClr val="bg1"/>
              </a:solidFill>
            </a:endParaRPr>
          </a:p>
          <a:p>
            <a:pPr algn="ctr"/>
            <a:endParaRPr lang="en-GB" sz="2800" b="1" dirty="0">
              <a:solidFill>
                <a:schemeClr val="bg1"/>
              </a:solidFill>
            </a:endParaRPr>
          </a:p>
          <a:p>
            <a:pPr algn="ctr"/>
            <a:endParaRPr lang="en-GB" sz="1600" dirty="0">
              <a:solidFill>
                <a:schemeClr val="bg1">
                  <a:lumMod val="85000"/>
                </a:schemeClr>
              </a:solidFill>
            </a:endParaRPr>
          </a:p>
        </p:txBody>
      </p:sp>
      <p:sp>
        <p:nvSpPr>
          <p:cNvPr id="6" name="Oval 5">
            <a:extLst>
              <a:ext uri="{FF2B5EF4-FFF2-40B4-BE49-F238E27FC236}">
                <a16:creationId xmlns:a16="http://schemas.microsoft.com/office/drawing/2014/main" id="{8B2C14A7-E460-4357-90EB-FC2CBD74FCA1}"/>
              </a:ext>
            </a:extLst>
          </p:cNvPr>
          <p:cNvSpPr/>
          <p:nvPr userDrawn="1"/>
        </p:nvSpPr>
        <p:spPr>
          <a:xfrm>
            <a:off x="8915400" y="2354373"/>
            <a:ext cx="2140171" cy="2140171"/>
          </a:xfrm>
          <a:prstGeom prst="ellipse">
            <a:avLst/>
          </a:prstGeom>
          <a:solidFill>
            <a:schemeClr val="bg1"/>
          </a:solidFill>
          <a:ln w="28575">
            <a:solidFill>
              <a:srgbClr val="F2652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7" name="Picture 6" descr="A picture containing brush&#10;&#10;Description automatically generated">
            <a:extLst>
              <a:ext uri="{FF2B5EF4-FFF2-40B4-BE49-F238E27FC236}">
                <a16:creationId xmlns:a16="http://schemas.microsoft.com/office/drawing/2014/main" id="{802D9E8A-D873-49FF-AED9-2CD228DFF517}"/>
              </a:ext>
            </a:extLst>
          </p:cNvPr>
          <p:cNvPicPr>
            <a:picLocks noChangeAspect="1"/>
          </p:cNvPicPr>
          <p:nvPr userDrawn="1"/>
        </p:nvPicPr>
        <p:blipFill rotWithShape="1">
          <a:blip r:embed="rId2">
            <a:alphaModFix/>
            <a:extLst>
              <a:ext uri="{28A0092B-C50C-407E-A947-70E740481C1C}">
                <a14:useLocalDpi xmlns:a14="http://schemas.microsoft.com/office/drawing/2010/main" val="0"/>
              </a:ext>
            </a:extLst>
          </a:blip>
          <a:srcRect t="161" r="-3" b="-3"/>
          <a:stretch/>
        </p:blipFill>
        <p:spPr>
          <a:xfrm>
            <a:off x="9029206" y="2474254"/>
            <a:ext cx="1912560" cy="1909489"/>
          </a:xfrm>
          <a:custGeom>
            <a:avLst/>
            <a:gdLst>
              <a:gd name="connsiteX0" fmla="*/ 3028805 w 6057610"/>
              <a:gd name="connsiteY0" fmla="*/ 0 h 6057610"/>
              <a:gd name="connsiteX1" fmla="*/ 6057610 w 6057610"/>
              <a:gd name="connsiteY1" fmla="*/ 3028805 h 6057610"/>
              <a:gd name="connsiteX2" fmla="*/ 3028805 w 6057610"/>
              <a:gd name="connsiteY2" fmla="*/ 6057610 h 6057610"/>
              <a:gd name="connsiteX3" fmla="*/ 0 w 6057610"/>
              <a:gd name="connsiteY3" fmla="*/ 3028805 h 6057610"/>
              <a:gd name="connsiteX4" fmla="*/ 3028805 w 6057610"/>
              <a:gd name="connsiteY4" fmla="*/ 0 h 60576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57610" h="6057610">
                <a:moveTo>
                  <a:pt x="3028805" y="0"/>
                </a:moveTo>
                <a:cubicBezTo>
                  <a:pt x="4701568" y="0"/>
                  <a:pt x="6057610" y="1356042"/>
                  <a:pt x="6057610" y="3028805"/>
                </a:cubicBezTo>
                <a:cubicBezTo>
                  <a:pt x="6057610" y="4701568"/>
                  <a:pt x="4701568" y="6057610"/>
                  <a:pt x="3028805" y="6057610"/>
                </a:cubicBezTo>
                <a:cubicBezTo>
                  <a:pt x="1356042" y="6057610"/>
                  <a:pt x="0" y="4701568"/>
                  <a:pt x="0" y="3028805"/>
                </a:cubicBezTo>
                <a:cubicBezTo>
                  <a:pt x="0" y="1356042"/>
                  <a:pt x="1356042" y="0"/>
                  <a:pt x="3028805" y="0"/>
                </a:cubicBezTo>
                <a:close/>
              </a:path>
            </a:pathLst>
          </a:custGeom>
          <a:effectLst>
            <a:softEdge rad="0"/>
          </a:effectLst>
        </p:spPr>
      </p:pic>
      <p:sp>
        <p:nvSpPr>
          <p:cNvPr id="10" name="Rectangle 9">
            <a:extLst>
              <a:ext uri="{FF2B5EF4-FFF2-40B4-BE49-F238E27FC236}">
                <a16:creationId xmlns:a16="http://schemas.microsoft.com/office/drawing/2014/main" id="{1FE3659E-7B75-43EA-B2D2-F180CB40635B}"/>
              </a:ext>
            </a:extLst>
          </p:cNvPr>
          <p:cNvSpPr/>
          <p:nvPr userDrawn="1"/>
        </p:nvSpPr>
        <p:spPr>
          <a:xfrm>
            <a:off x="0" y="6451184"/>
            <a:ext cx="10088879" cy="338554"/>
          </a:xfrm>
          <a:prstGeom prst="rect">
            <a:avLst/>
          </a:prstGeom>
        </p:spPr>
        <p:txBody>
          <a:bodyPr wrap="square">
            <a:spAutoFit/>
          </a:bodyPr>
          <a:lstStyle/>
          <a:p>
            <a:pPr algn="ctr"/>
            <a:r>
              <a:rPr lang="en-GB" sz="1600" b="1" dirty="0">
                <a:solidFill>
                  <a:schemeClr val="bg1">
                    <a:lumMod val="50000"/>
                  </a:schemeClr>
                </a:solidFill>
              </a:rPr>
              <a:t>Teacher site: </a:t>
            </a:r>
            <a:r>
              <a:rPr lang="en-GB" sz="1600" dirty="0">
                <a:solidFill>
                  <a:schemeClr val="bg1">
                    <a:lumMod val="50000"/>
                  </a:schemeClr>
                </a:solidFill>
              </a:rPr>
              <a:t>craigndave.org  |  </a:t>
            </a:r>
            <a:r>
              <a:rPr lang="en-GB" sz="1600" b="1" dirty="0">
                <a:solidFill>
                  <a:schemeClr val="bg1">
                    <a:lumMod val="50000"/>
                  </a:schemeClr>
                </a:solidFill>
              </a:rPr>
              <a:t>Student site: </a:t>
            </a:r>
            <a:r>
              <a:rPr lang="en-GB" sz="1600" dirty="0">
                <a:solidFill>
                  <a:schemeClr val="bg1">
                    <a:lumMod val="50000"/>
                  </a:schemeClr>
                </a:solidFill>
              </a:rPr>
              <a:t>student.craigndave.org  |  </a:t>
            </a:r>
            <a:r>
              <a:rPr lang="en-GB" sz="1600" b="1" dirty="0">
                <a:solidFill>
                  <a:schemeClr val="bg1">
                    <a:lumMod val="50000"/>
                  </a:schemeClr>
                </a:solidFill>
              </a:rPr>
              <a:t>Smart revise: </a:t>
            </a:r>
            <a:r>
              <a:rPr lang="en-GB" sz="1600" dirty="0">
                <a:solidFill>
                  <a:schemeClr val="bg1">
                    <a:lumMod val="50000"/>
                  </a:schemeClr>
                </a:solidFill>
              </a:rPr>
              <a:t>smartrevise.co.uk </a:t>
            </a:r>
          </a:p>
        </p:txBody>
      </p:sp>
    </p:spTree>
    <p:extLst>
      <p:ext uri="{BB962C8B-B14F-4D97-AF65-F5344CB8AC3E}">
        <p14:creationId xmlns:p14="http://schemas.microsoft.com/office/powerpoint/2010/main" val="409001539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Video content slide">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FF19224-2084-4C89-AEFB-59035B0F8D1F}"/>
              </a:ext>
            </a:extLst>
          </p:cNvPr>
          <p:cNvSpPr>
            <a:spLocks noGrp="1"/>
          </p:cNvSpPr>
          <p:nvPr>
            <p:ph type="dt" sz="half" idx="10"/>
          </p:nvPr>
        </p:nvSpPr>
        <p:spPr/>
        <p:txBody>
          <a:bodyPr/>
          <a:lstStyle/>
          <a:p>
            <a:fld id="{83EBD5A5-95A5-4ED6-B746-12AF9CEAF3AB}" type="datetimeFigureOut">
              <a:rPr lang="en-GB" smtClean="0"/>
              <a:t>23/05/2022</a:t>
            </a:fld>
            <a:endParaRPr lang="en-GB" dirty="0"/>
          </a:p>
        </p:txBody>
      </p:sp>
      <p:sp>
        <p:nvSpPr>
          <p:cNvPr id="3" name="Footer Placeholder 2">
            <a:extLst>
              <a:ext uri="{FF2B5EF4-FFF2-40B4-BE49-F238E27FC236}">
                <a16:creationId xmlns:a16="http://schemas.microsoft.com/office/drawing/2014/main" id="{2B8E9D01-9A95-4DC3-AD5E-0657203E7B20}"/>
              </a:ext>
            </a:extLst>
          </p:cNvPr>
          <p:cNvSpPr>
            <a:spLocks noGrp="1"/>
          </p:cNvSpPr>
          <p:nvPr>
            <p:ph type="ftr" sz="quarter" idx="11"/>
          </p:nvPr>
        </p:nvSpPr>
        <p:spPr/>
        <p:txBody>
          <a:bodyPr/>
          <a:lstStyle/>
          <a:p>
            <a:endParaRPr lang="en-GB" dirty="0"/>
          </a:p>
        </p:txBody>
      </p:sp>
      <p:sp>
        <p:nvSpPr>
          <p:cNvPr id="4" name="Slide Number Placeholder 3">
            <a:extLst>
              <a:ext uri="{FF2B5EF4-FFF2-40B4-BE49-F238E27FC236}">
                <a16:creationId xmlns:a16="http://schemas.microsoft.com/office/drawing/2014/main" id="{30DB0936-CF61-444A-88C9-B1BE2B016644}"/>
              </a:ext>
            </a:extLst>
          </p:cNvPr>
          <p:cNvSpPr>
            <a:spLocks noGrp="1"/>
          </p:cNvSpPr>
          <p:nvPr>
            <p:ph type="sldNum" sz="quarter" idx="12"/>
          </p:nvPr>
        </p:nvSpPr>
        <p:spPr/>
        <p:txBody>
          <a:bodyPr/>
          <a:lstStyle/>
          <a:p>
            <a:fld id="{CFC6102D-FACC-46D2-982F-C509AB4FB7F4}" type="slidenum">
              <a:rPr lang="en-GB" smtClean="0"/>
              <a:t>‹#›</a:t>
            </a:fld>
            <a:endParaRPr lang="en-GB" dirty="0"/>
          </a:p>
        </p:txBody>
      </p:sp>
      <p:grpSp>
        <p:nvGrpSpPr>
          <p:cNvPr id="13" name="Group 12">
            <a:extLst>
              <a:ext uri="{FF2B5EF4-FFF2-40B4-BE49-F238E27FC236}">
                <a16:creationId xmlns:a16="http://schemas.microsoft.com/office/drawing/2014/main" id="{87AACC54-1682-4874-BD09-D8CF92EDAE43}"/>
              </a:ext>
            </a:extLst>
          </p:cNvPr>
          <p:cNvGrpSpPr/>
          <p:nvPr userDrawn="1"/>
        </p:nvGrpSpPr>
        <p:grpSpPr>
          <a:xfrm>
            <a:off x="-1" y="0"/>
            <a:ext cx="12192001" cy="419100"/>
            <a:chOff x="-1" y="0"/>
            <a:chExt cx="12192001" cy="533400"/>
          </a:xfrm>
        </p:grpSpPr>
        <p:sp>
          <p:nvSpPr>
            <p:cNvPr id="15" name="Rectangle 14">
              <a:extLst>
                <a:ext uri="{FF2B5EF4-FFF2-40B4-BE49-F238E27FC236}">
                  <a16:creationId xmlns:a16="http://schemas.microsoft.com/office/drawing/2014/main" id="{A3B4ABA0-791C-4EF4-91E1-0A7F5B882D36}"/>
                </a:ext>
              </a:extLst>
            </p:cNvPr>
            <p:cNvSpPr/>
            <p:nvPr userDrawn="1"/>
          </p:nvSpPr>
          <p:spPr>
            <a:xfrm>
              <a:off x="-1" y="0"/>
              <a:ext cx="10095723" cy="533400"/>
            </a:xfrm>
            <a:prstGeom prst="rect">
              <a:avLst/>
            </a:prstGeom>
            <a:solidFill>
              <a:srgbClr val="F2652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GB" b="1" dirty="0">
                  <a:solidFill>
                    <a:schemeClr val="bg1"/>
                  </a:solidFill>
                </a:rPr>
                <a:t>3.1 Computer architecture | Von Neumann architecture</a:t>
              </a:r>
            </a:p>
          </p:txBody>
        </p:sp>
        <p:sp>
          <p:nvSpPr>
            <p:cNvPr id="14" name="Rectangle 13">
              <a:extLst>
                <a:ext uri="{FF2B5EF4-FFF2-40B4-BE49-F238E27FC236}">
                  <a16:creationId xmlns:a16="http://schemas.microsoft.com/office/drawing/2014/main" id="{7E5FF8B6-F953-41A2-8CA9-2F6F841BDD32}"/>
                </a:ext>
              </a:extLst>
            </p:cNvPr>
            <p:cNvSpPr/>
            <p:nvPr/>
          </p:nvSpPr>
          <p:spPr>
            <a:xfrm>
              <a:off x="8992998" y="0"/>
              <a:ext cx="3199002" cy="533400"/>
            </a:xfrm>
            <a:prstGeom prst="rect">
              <a:avLst/>
            </a:prstGeom>
            <a:solidFill>
              <a:srgbClr val="F2652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r"/>
              <a:r>
                <a:rPr lang="en-GB" b="1" dirty="0">
                  <a:solidFill>
                    <a:schemeClr val="bg1"/>
                  </a:solidFill>
                </a:rPr>
                <a:t>CAMBRIDGE IGCSE (0478/0984)</a:t>
              </a:r>
            </a:p>
          </p:txBody>
        </p:sp>
      </p:grpSp>
    </p:spTree>
    <p:extLst>
      <p:ext uri="{BB962C8B-B14F-4D97-AF65-F5344CB8AC3E}">
        <p14:creationId xmlns:p14="http://schemas.microsoft.com/office/powerpoint/2010/main" val="9209100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4E615E-FCEC-48A2-8A58-855AC17510C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DCA6C2E3-EFFC-4E46-8E3B-353E3410C71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EA8F8DFF-FB25-4FDB-AE01-189095807A4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E575E6D8-83E5-4A1F-91A5-3CC7778FDD15}"/>
              </a:ext>
            </a:extLst>
          </p:cNvPr>
          <p:cNvSpPr>
            <a:spLocks noGrp="1"/>
          </p:cNvSpPr>
          <p:nvPr>
            <p:ph type="dt" sz="half" idx="10"/>
          </p:nvPr>
        </p:nvSpPr>
        <p:spPr/>
        <p:txBody>
          <a:bodyPr/>
          <a:lstStyle/>
          <a:p>
            <a:fld id="{83EBD5A5-95A5-4ED6-B746-12AF9CEAF3AB}" type="datetimeFigureOut">
              <a:rPr lang="en-GB" smtClean="0"/>
              <a:t>23/05/2022</a:t>
            </a:fld>
            <a:endParaRPr lang="en-GB" dirty="0"/>
          </a:p>
        </p:txBody>
      </p:sp>
      <p:sp>
        <p:nvSpPr>
          <p:cNvPr id="6" name="Footer Placeholder 5">
            <a:extLst>
              <a:ext uri="{FF2B5EF4-FFF2-40B4-BE49-F238E27FC236}">
                <a16:creationId xmlns:a16="http://schemas.microsoft.com/office/drawing/2014/main" id="{2962ED67-D636-4841-A380-71A8E2C2234C}"/>
              </a:ext>
            </a:extLst>
          </p:cNvPr>
          <p:cNvSpPr>
            <a:spLocks noGrp="1"/>
          </p:cNvSpPr>
          <p:nvPr>
            <p:ph type="ftr" sz="quarter" idx="11"/>
          </p:nvPr>
        </p:nvSpPr>
        <p:spPr/>
        <p:txBody>
          <a:bodyPr/>
          <a:lstStyle/>
          <a:p>
            <a:endParaRPr lang="en-GB" dirty="0"/>
          </a:p>
        </p:txBody>
      </p:sp>
      <p:sp>
        <p:nvSpPr>
          <p:cNvPr id="7" name="Slide Number Placeholder 6">
            <a:extLst>
              <a:ext uri="{FF2B5EF4-FFF2-40B4-BE49-F238E27FC236}">
                <a16:creationId xmlns:a16="http://schemas.microsoft.com/office/drawing/2014/main" id="{E1ECBE11-BFFB-4E5F-95F9-EF6A83AD83A2}"/>
              </a:ext>
            </a:extLst>
          </p:cNvPr>
          <p:cNvSpPr>
            <a:spLocks noGrp="1"/>
          </p:cNvSpPr>
          <p:nvPr>
            <p:ph type="sldNum" sz="quarter" idx="12"/>
          </p:nvPr>
        </p:nvSpPr>
        <p:spPr/>
        <p:txBody>
          <a:bodyPr/>
          <a:lstStyle/>
          <a:p>
            <a:fld id="{CFC6102D-FACC-46D2-982F-C509AB4FB7F4}" type="slidenum">
              <a:rPr lang="en-GB" smtClean="0"/>
              <a:t>‹#›</a:t>
            </a:fld>
            <a:endParaRPr lang="en-GB" dirty="0"/>
          </a:p>
        </p:txBody>
      </p:sp>
    </p:spTree>
    <p:extLst>
      <p:ext uri="{BB962C8B-B14F-4D97-AF65-F5344CB8AC3E}">
        <p14:creationId xmlns:p14="http://schemas.microsoft.com/office/powerpoint/2010/main" val="39418179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D13C68-F937-4619-AC2A-808BB5FBCDF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664D0E72-F13A-47A1-9749-F939C5B6148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dirty="0"/>
          </a:p>
        </p:txBody>
      </p:sp>
      <p:sp>
        <p:nvSpPr>
          <p:cNvPr id="4" name="Text Placeholder 3">
            <a:extLst>
              <a:ext uri="{FF2B5EF4-FFF2-40B4-BE49-F238E27FC236}">
                <a16:creationId xmlns:a16="http://schemas.microsoft.com/office/drawing/2014/main" id="{FDACE7D0-DEEB-4789-9725-4826AE9B0A5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9B252C0A-0BB5-4C36-AC67-AFCF2DC0A65F}"/>
              </a:ext>
            </a:extLst>
          </p:cNvPr>
          <p:cNvSpPr>
            <a:spLocks noGrp="1"/>
          </p:cNvSpPr>
          <p:nvPr>
            <p:ph type="dt" sz="half" idx="10"/>
          </p:nvPr>
        </p:nvSpPr>
        <p:spPr/>
        <p:txBody>
          <a:bodyPr/>
          <a:lstStyle/>
          <a:p>
            <a:fld id="{83EBD5A5-95A5-4ED6-B746-12AF9CEAF3AB}" type="datetimeFigureOut">
              <a:rPr lang="en-GB" smtClean="0"/>
              <a:t>23/05/2022</a:t>
            </a:fld>
            <a:endParaRPr lang="en-GB" dirty="0"/>
          </a:p>
        </p:txBody>
      </p:sp>
      <p:sp>
        <p:nvSpPr>
          <p:cNvPr id="6" name="Footer Placeholder 5">
            <a:extLst>
              <a:ext uri="{FF2B5EF4-FFF2-40B4-BE49-F238E27FC236}">
                <a16:creationId xmlns:a16="http://schemas.microsoft.com/office/drawing/2014/main" id="{B01906B4-69CB-471E-B443-A6DD59556082}"/>
              </a:ext>
            </a:extLst>
          </p:cNvPr>
          <p:cNvSpPr>
            <a:spLocks noGrp="1"/>
          </p:cNvSpPr>
          <p:nvPr>
            <p:ph type="ftr" sz="quarter" idx="11"/>
          </p:nvPr>
        </p:nvSpPr>
        <p:spPr/>
        <p:txBody>
          <a:bodyPr/>
          <a:lstStyle/>
          <a:p>
            <a:endParaRPr lang="en-GB" dirty="0"/>
          </a:p>
        </p:txBody>
      </p:sp>
      <p:sp>
        <p:nvSpPr>
          <p:cNvPr id="7" name="Slide Number Placeholder 6">
            <a:extLst>
              <a:ext uri="{FF2B5EF4-FFF2-40B4-BE49-F238E27FC236}">
                <a16:creationId xmlns:a16="http://schemas.microsoft.com/office/drawing/2014/main" id="{5AC21424-3B0E-4EEC-875D-327603D191FC}"/>
              </a:ext>
            </a:extLst>
          </p:cNvPr>
          <p:cNvSpPr>
            <a:spLocks noGrp="1"/>
          </p:cNvSpPr>
          <p:nvPr>
            <p:ph type="sldNum" sz="quarter" idx="12"/>
          </p:nvPr>
        </p:nvSpPr>
        <p:spPr/>
        <p:txBody>
          <a:bodyPr/>
          <a:lstStyle/>
          <a:p>
            <a:fld id="{CFC6102D-FACC-46D2-982F-C509AB4FB7F4}" type="slidenum">
              <a:rPr lang="en-GB" smtClean="0"/>
              <a:t>‹#›</a:t>
            </a:fld>
            <a:endParaRPr lang="en-GB" dirty="0"/>
          </a:p>
        </p:txBody>
      </p:sp>
    </p:spTree>
    <p:extLst>
      <p:ext uri="{BB962C8B-B14F-4D97-AF65-F5344CB8AC3E}">
        <p14:creationId xmlns:p14="http://schemas.microsoft.com/office/powerpoint/2010/main" val="482049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F6F412-1941-41D2-AC46-E8C20860A8DB}"/>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9B2A1B5D-15E6-4D4B-B6F5-E46A1A7234B7}"/>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7E418167-751F-4B50-84DD-7F7377E43E1D}"/>
              </a:ext>
            </a:extLst>
          </p:cNvPr>
          <p:cNvSpPr>
            <a:spLocks noGrp="1"/>
          </p:cNvSpPr>
          <p:nvPr>
            <p:ph type="dt" sz="half" idx="10"/>
          </p:nvPr>
        </p:nvSpPr>
        <p:spPr/>
        <p:txBody>
          <a:bodyPr/>
          <a:lstStyle/>
          <a:p>
            <a:fld id="{83EBD5A5-95A5-4ED6-B746-12AF9CEAF3AB}" type="datetimeFigureOut">
              <a:rPr lang="en-GB" smtClean="0"/>
              <a:t>23/05/2022</a:t>
            </a:fld>
            <a:endParaRPr lang="en-GB" dirty="0"/>
          </a:p>
        </p:txBody>
      </p:sp>
      <p:sp>
        <p:nvSpPr>
          <p:cNvPr id="5" name="Footer Placeholder 4">
            <a:extLst>
              <a:ext uri="{FF2B5EF4-FFF2-40B4-BE49-F238E27FC236}">
                <a16:creationId xmlns:a16="http://schemas.microsoft.com/office/drawing/2014/main" id="{8AA10E4B-ECAF-4B58-9633-F0D2214AE38E}"/>
              </a:ext>
            </a:extLst>
          </p:cNvPr>
          <p:cNvSpPr>
            <a:spLocks noGrp="1"/>
          </p:cNvSpPr>
          <p:nvPr>
            <p:ph type="ftr" sz="quarter" idx="11"/>
          </p:nvPr>
        </p:nvSpPr>
        <p:spPr/>
        <p:txBody>
          <a:bodyPr/>
          <a:lstStyle/>
          <a:p>
            <a:endParaRPr lang="en-GB" dirty="0"/>
          </a:p>
        </p:txBody>
      </p:sp>
      <p:sp>
        <p:nvSpPr>
          <p:cNvPr id="6" name="Slide Number Placeholder 5">
            <a:extLst>
              <a:ext uri="{FF2B5EF4-FFF2-40B4-BE49-F238E27FC236}">
                <a16:creationId xmlns:a16="http://schemas.microsoft.com/office/drawing/2014/main" id="{F6D0936C-E069-45AA-8B1E-8B295D2AAB7A}"/>
              </a:ext>
            </a:extLst>
          </p:cNvPr>
          <p:cNvSpPr>
            <a:spLocks noGrp="1"/>
          </p:cNvSpPr>
          <p:nvPr>
            <p:ph type="sldNum" sz="quarter" idx="12"/>
          </p:nvPr>
        </p:nvSpPr>
        <p:spPr/>
        <p:txBody>
          <a:bodyPr/>
          <a:lstStyle/>
          <a:p>
            <a:fld id="{CFC6102D-FACC-46D2-982F-C509AB4FB7F4}" type="slidenum">
              <a:rPr lang="en-GB" smtClean="0"/>
              <a:t>‹#›</a:t>
            </a:fld>
            <a:endParaRPr lang="en-GB" dirty="0"/>
          </a:p>
        </p:txBody>
      </p:sp>
    </p:spTree>
    <p:extLst>
      <p:ext uri="{BB962C8B-B14F-4D97-AF65-F5344CB8AC3E}">
        <p14:creationId xmlns:p14="http://schemas.microsoft.com/office/powerpoint/2010/main" val="42373719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50BBC43-F9FB-4DC0-9192-4C6BBC0BBF61}"/>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0665541F-6124-45F5-9E33-C88771523324}"/>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DB28D7AD-9B6B-4D71-A044-0A8CD107B0C3}"/>
              </a:ext>
            </a:extLst>
          </p:cNvPr>
          <p:cNvSpPr>
            <a:spLocks noGrp="1"/>
          </p:cNvSpPr>
          <p:nvPr>
            <p:ph type="dt" sz="half" idx="10"/>
          </p:nvPr>
        </p:nvSpPr>
        <p:spPr/>
        <p:txBody>
          <a:bodyPr/>
          <a:lstStyle/>
          <a:p>
            <a:fld id="{83EBD5A5-95A5-4ED6-B746-12AF9CEAF3AB}" type="datetimeFigureOut">
              <a:rPr lang="en-GB" smtClean="0"/>
              <a:t>23/05/2022</a:t>
            </a:fld>
            <a:endParaRPr lang="en-GB" dirty="0"/>
          </a:p>
        </p:txBody>
      </p:sp>
      <p:sp>
        <p:nvSpPr>
          <p:cNvPr id="5" name="Footer Placeholder 4">
            <a:extLst>
              <a:ext uri="{FF2B5EF4-FFF2-40B4-BE49-F238E27FC236}">
                <a16:creationId xmlns:a16="http://schemas.microsoft.com/office/drawing/2014/main" id="{FB6F19E0-2B2A-44A5-95AA-5794953B827E}"/>
              </a:ext>
            </a:extLst>
          </p:cNvPr>
          <p:cNvSpPr>
            <a:spLocks noGrp="1"/>
          </p:cNvSpPr>
          <p:nvPr>
            <p:ph type="ftr" sz="quarter" idx="11"/>
          </p:nvPr>
        </p:nvSpPr>
        <p:spPr/>
        <p:txBody>
          <a:bodyPr/>
          <a:lstStyle/>
          <a:p>
            <a:endParaRPr lang="en-GB" dirty="0"/>
          </a:p>
        </p:txBody>
      </p:sp>
      <p:sp>
        <p:nvSpPr>
          <p:cNvPr id="6" name="Slide Number Placeholder 5">
            <a:extLst>
              <a:ext uri="{FF2B5EF4-FFF2-40B4-BE49-F238E27FC236}">
                <a16:creationId xmlns:a16="http://schemas.microsoft.com/office/drawing/2014/main" id="{5E8AE265-1899-40B9-ABCC-0F0FA6B45232}"/>
              </a:ext>
            </a:extLst>
          </p:cNvPr>
          <p:cNvSpPr>
            <a:spLocks noGrp="1"/>
          </p:cNvSpPr>
          <p:nvPr>
            <p:ph type="sldNum" sz="quarter" idx="12"/>
          </p:nvPr>
        </p:nvSpPr>
        <p:spPr/>
        <p:txBody>
          <a:bodyPr/>
          <a:lstStyle/>
          <a:p>
            <a:fld id="{CFC6102D-FACC-46D2-982F-C509AB4FB7F4}" type="slidenum">
              <a:rPr lang="en-GB" smtClean="0"/>
              <a:t>‹#›</a:t>
            </a:fld>
            <a:endParaRPr lang="en-GB" dirty="0"/>
          </a:p>
        </p:txBody>
      </p:sp>
    </p:spTree>
    <p:extLst>
      <p:ext uri="{BB962C8B-B14F-4D97-AF65-F5344CB8AC3E}">
        <p14:creationId xmlns:p14="http://schemas.microsoft.com/office/powerpoint/2010/main" val="21093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D768667-8C97-4EFE-84F3-BDAFCA0DEE9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BDA6806C-F4A6-4145-8586-E1BA0D6AA70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B1A371F7-F0FF-4998-A335-671F6745CC7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3EBD5A5-95A5-4ED6-B746-12AF9CEAF3AB}" type="datetimeFigureOut">
              <a:rPr lang="en-GB" smtClean="0"/>
              <a:t>23/05/2022</a:t>
            </a:fld>
            <a:endParaRPr lang="en-GB" dirty="0"/>
          </a:p>
        </p:txBody>
      </p:sp>
      <p:sp>
        <p:nvSpPr>
          <p:cNvPr id="5" name="Footer Placeholder 4">
            <a:extLst>
              <a:ext uri="{FF2B5EF4-FFF2-40B4-BE49-F238E27FC236}">
                <a16:creationId xmlns:a16="http://schemas.microsoft.com/office/drawing/2014/main" id="{3E11381F-CB31-4B37-8E8C-1B4AD2A089C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dirty="0"/>
          </a:p>
        </p:txBody>
      </p:sp>
      <p:sp>
        <p:nvSpPr>
          <p:cNvPr id="6" name="Slide Number Placeholder 5">
            <a:extLst>
              <a:ext uri="{FF2B5EF4-FFF2-40B4-BE49-F238E27FC236}">
                <a16:creationId xmlns:a16="http://schemas.microsoft.com/office/drawing/2014/main" id="{04B29192-27C3-435C-AA4E-0FF49DC56D6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FC6102D-FACC-46D2-982F-C509AB4FB7F4}" type="slidenum">
              <a:rPr lang="en-GB" smtClean="0"/>
              <a:t>‹#›</a:t>
            </a:fld>
            <a:endParaRPr lang="en-GB" dirty="0"/>
          </a:p>
        </p:txBody>
      </p:sp>
    </p:spTree>
    <p:extLst>
      <p:ext uri="{BB962C8B-B14F-4D97-AF65-F5344CB8AC3E}">
        <p14:creationId xmlns:p14="http://schemas.microsoft.com/office/powerpoint/2010/main" val="340701389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60" r:id="rId8"/>
    <p:sldLayoutId id="2147483656" r:id="rId9"/>
    <p:sldLayoutId id="2147483657" r:id="rId10"/>
    <p:sldLayoutId id="2147483658" r:id="rId11"/>
    <p:sldLayoutId id="2147483659"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pg"/><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6.png"/><Relationship Id="rId1" Type="http://schemas.openxmlformats.org/officeDocument/2006/relationships/slideLayout" Target="../slideLayouts/slideLayout8.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1.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image" Target="../media/image6.png"/><Relationship Id="rId1" Type="http://schemas.openxmlformats.org/officeDocument/2006/relationships/slideLayout" Target="../slideLayouts/slideLayout8.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12.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image" Target="../media/image6.png"/><Relationship Id="rId1" Type="http://schemas.openxmlformats.org/officeDocument/2006/relationships/slideLayout" Target="../slideLayouts/slideLayout8.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13.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image" Target="../media/image6.png"/><Relationship Id="rId1" Type="http://schemas.openxmlformats.org/officeDocument/2006/relationships/slideLayout" Target="../slideLayouts/slideLayout8.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14.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image" Target="../media/image6.png"/><Relationship Id="rId1" Type="http://schemas.openxmlformats.org/officeDocument/2006/relationships/slideLayout" Target="../slideLayouts/slideLayout8.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1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7.png"/><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F1342EC1-2AFD-4406-9F14-4D674F90CAE8}"/>
              </a:ext>
            </a:extLst>
          </p:cNvPr>
          <p:cNvSpPr txBox="1"/>
          <p:nvPr/>
        </p:nvSpPr>
        <p:spPr>
          <a:xfrm>
            <a:off x="304800" y="92954"/>
            <a:ext cx="9879279" cy="1325563"/>
          </a:xfrm>
          <a:prstGeom prst="rect">
            <a:avLst/>
          </a:prstGeom>
        </p:spPr>
        <p:txBody>
          <a:bodyPr vert="horz" lIns="91440" tIns="45720" rIns="91440" bIns="45720" rtlCol="0" anchor="ctr">
            <a:normAutofit/>
          </a:bodyPr>
          <a:lstStyle/>
          <a:p>
            <a:pPr>
              <a:lnSpc>
                <a:spcPct val="90000"/>
              </a:lnSpc>
              <a:spcBef>
                <a:spcPct val="0"/>
              </a:spcBef>
              <a:spcAft>
                <a:spcPts val="600"/>
              </a:spcAft>
            </a:pPr>
            <a:r>
              <a:rPr lang="en-US" sz="4400" b="1" dirty="0">
                <a:solidFill>
                  <a:schemeClr val="accent2">
                    <a:lumMod val="75000"/>
                  </a:schemeClr>
                </a:solidFill>
                <a:latin typeface="Century Gothic" panose="020B0502020202020204" pitchFamily="34" charset="0"/>
                <a:ea typeface="+mj-ea"/>
                <a:cs typeface="+mj-cs"/>
              </a:rPr>
              <a:t>3.1 Computer architecture</a:t>
            </a:r>
          </a:p>
        </p:txBody>
      </p:sp>
      <p:sp>
        <p:nvSpPr>
          <p:cNvPr id="6" name="TextBox 5">
            <a:extLst>
              <a:ext uri="{FF2B5EF4-FFF2-40B4-BE49-F238E27FC236}">
                <a16:creationId xmlns:a16="http://schemas.microsoft.com/office/drawing/2014/main" id="{5FABF442-A178-4CA8-8D0A-DF0A8E18C046}"/>
              </a:ext>
            </a:extLst>
          </p:cNvPr>
          <p:cNvSpPr txBox="1"/>
          <p:nvPr/>
        </p:nvSpPr>
        <p:spPr>
          <a:xfrm>
            <a:off x="927652" y="1650609"/>
            <a:ext cx="6997148" cy="3450613"/>
          </a:xfrm>
          <a:prstGeom prst="rect">
            <a:avLst/>
          </a:prstGeom>
        </p:spPr>
        <p:txBody>
          <a:bodyPr vert="horz" lIns="91440" tIns="45720" rIns="91440" bIns="45720" rtlCol="0" anchor="ctr">
            <a:normAutofit/>
          </a:bodyPr>
          <a:lstStyle/>
          <a:p>
            <a:pPr algn="ctr">
              <a:lnSpc>
                <a:spcPct val="90000"/>
              </a:lnSpc>
              <a:spcAft>
                <a:spcPts val="1200"/>
              </a:spcAft>
            </a:pPr>
            <a:r>
              <a:rPr lang="en-GB" sz="4000" dirty="0">
                <a:solidFill>
                  <a:schemeClr val="accent2">
                    <a:lumMod val="75000"/>
                  </a:schemeClr>
                </a:solidFill>
              </a:rPr>
              <a:t>Von Neumann architecture</a:t>
            </a:r>
            <a:endParaRPr lang="en-US" sz="4000" dirty="0">
              <a:solidFill>
                <a:schemeClr val="accent2">
                  <a:lumMod val="75000"/>
                </a:schemeClr>
              </a:solidFill>
            </a:endParaRPr>
          </a:p>
        </p:txBody>
      </p:sp>
    </p:spTree>
    <p:extLst>
      <p:ext uri="{BB962C8B-B14F-4D97-AF65-F5344CB8AC3E}">
        <p14:creationId xmlns:p14="http://schemas.microsoft.com/office/powerpoint/2010/main" val="13837712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EF34D69E-F284-4EF1-8ABC-9556CC80091B}"/>
              </a:ext>
            </a:extLst>
          </p:cNvPr>
          <p:cNvSpPr/>
          <p:nvPr/>
        </p:nvSpPr>
        <p:spPr>
          <a:xfrm>
            <a:off x="1057467" y="5201902"/>
            <a:ext cx="4779514" cy="671915"/>
          </a:xfrm>
          <a:prstGeom prst="rect">
            <a:avLst/>
          </a:prstGeom>
        </p:spPr>
        <p:txBody>
          <a:bodyPr wrap="square">
            <a:spAutoFit/>
          </a:bodyPr>
          <a:lstStyle/>
          <a:p>
            <a:pPr algn="ctr">
              <a:lnSpc>
                <a:spcPct val="107000"/>
              </a:lnSpc>
              <a:spcAft>
                <a:spcPts val="800"/>
              </a:spcAft>
            </a:pPr>
            <a:r>
              <a:rPr lang="en-GB" dirty="0">
                <a:latin typeface="Calibri" panose="020F0502020204030204" pitchFamily="34" charset="0"/>
                <a:ea typeface="Calibri" panose="020F0502020204030204" pitchFamily="34" charset="0"/>
                <a:cs typeface="Times New Roman" panose="02020603050405020304" pitchFamily="18" charset="0"/>
              </a:rPr>
              <a:t>Calculators are examples of computers – they take inputs, process them and output a result.</a:t>
            </a:r>
          </a:p>
        </p:txBody>
      </p:sp>
      <p:sp>
        <p:nvSpPr>
          <p:cNvPr id="8" name="Rectangle 7">
            <a:extLst>
              <a:ext uri="{FF2B5EF4-FFF2-40B4-BE49-F238E27FC236}">
                <a16:creationId xmlns:a16="http://schemas.microsoft.com/office/drawing/2014/main" id="{E0D6999A-F7D8-44E0-B2A2-0056A8973ECB}"/>
              </a:ext>
            </a:extLst>
          </p:cNvPr>
          <p:cNvSpPr/>
          <p:nvPr/>
        </p:nvSpPr>
        <p:spPr>
          <a:xfrm>
            <a:off x="176565" y="523174"/>
            <a:ext cx="4874091" cy="470000"/>
          </a:xfrm>
          <a:prstGeom prst="rect">
            <a:avLst/>
          </a:prstGeom>
        </p:spPr>
        <p:txBody>
          <a:bodyPr wrap="none">
            <a:spAutoFit/>
          </a:bodyPr>
          <a:lstStyle/>
          <a:p>
            <a:pPr>
              <a:lnSpc>
                <a:spcPct val="107000"/>
              </a:lnSpc>
              <a:spcAft>
                <a:spcPts val="800"/>
              </a:spcAft>
            </a:pPr>
            <a:r>
              <a:rPr lang="en-GB" sz="2400" dirty="0">
                <a:solidFill>
                  <a:schemeClr val="accent2">
                    <a:lumMod val="75000"/>
                  </a:schemeClr>
                </a:solidFill>
                <a:latin typeface="Calibri" panose="020F0502020204030204" pitchFamily="34" charset="0"/>
                <a:ea typeface="Calibri" panose="020F0502020204030204" pitchFamily="34" charset="0"/>
                <a:cs typeface="Times New Roman" panose="02020603050405020304" pitchFamily="18" charset="0"/>
              </a:rPr>
              <a:t>Fixed- and stored-program computers</a:t>
            </a:r>
            <a:endParaRPr lang="en-GB" sz="1200" dirty="0">
              <a:solidFill>
                <a:schemeClr val="accent2">
                  <a:lumMod val="75000"/>
                </a:schemeClr>
              </a:solidFill>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9" name="Picture 8" descr="A remote control&#10;&#10;Description automatically generated">
            <a:extLst>
              <a:ext uri="{FF2B5EF4-FFF2-40B4-BE49-F238E27FC236}">
                <a16:creationId xmlns:a16="http://schemas.microsoft.com/office/drawing/2014/main" id="{DD7D200E-44F6-43A9-97E5-73281C7218C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57467" y="1757457"/>
            <a:ext cx="4779513" cy="3186342"/>
          </a:xfrm>
          <a:prstGeom prst="rect">
            <a:avLst/>
          </a:prstGeom>
        </p:spPr>
      </p:pic>
      <p:pic>
        <p:nvPicPr>
          <p:cNvPr id="11" name="Picture 10" descr="A person wearing a suit and tie&#10;&#10;Description automatically generated">
            <a:extLst>
              <a:ext uri="{FF2B5EF4-FFF2-40B4-BE49-F238E27FC236}">
                <a16:creationId xmlns:a16="http://schemas.microsoft.com/office/drawing/2014/main" id="{136E2F4B-4047-43E9-A782-BE4B92DE92F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691849" y="1757456"/>
            <a:ext cx="2540113" cy="3186343"/>
          </a:xfrm>
          <a:prstGeom prst="rect">
            <a:avLst/>
          </a:prstGeom>
        </p:spPr>
      </p:pic>
      <p:sp>
        <p:nvSpPr>
          <p:cNvPr id="13" name="Rectangle 12">
            <a:extLst>
              <a:ext uri="{FF2B5EF4-FFF2-40B4-BE49-F238E27FC236}">
                <a16:creationId xmlns:a16="http://schemas.microsoft.com/office/drawing/2014/main" id="{FA345FFA-DDA2-47EE-BA7B-0E07340CF48F}"/>
              </a:ext>
            </a:extLst>
          </p:cNvPr>
          <p:cNvSpPr/>
          <p:nvPr/>
        </p:nvSpPr>
        <p:spPr>
          <a:xfrm>
            <a:off x="7133105" y="5201902"/>
            <a:ext cx="3657600" cy="671915"/>
          </a:xfrm>
          <a:prstGeom prst="rect">
            <a:avLst/>
          </a:prstGeom>
        </p:spPr>
        <p:txBody>
          <a:bodyPr wrap="square">
            <a:spAutoFit/>
          </a:bodyPr>
          <a:lstStyle/>
          <a:p>
            <a:pPr algn="ctr">
              <a:lnSpc>
                <a:spcPct val="107000"/>
              </a:lnSpc>
              <a:spcAft>
                <a:spcPts val="800"/>
              </a:spcAft>
            </a:pPr>
            <a:r>
              <a:rPr lang="en-GB" dirty="0">
                <a:latin typeface="Calibri" panose="020F0502020204030204" pitchFamily="34" charset="0"/>
                <a:ea typeface="Calibri" panose="020F0502020204030204" pitchFamily="34" charset="0"/>
                <a:cs typeface="Times New Roman" panose="02020603050405020304" pitchFamily="18" charset="0"/>
              </a:rPr>
              <a:t>John von Neumann designed computers with stored programs.</a:t>
            </a:r>
          </a:p>
        </p:txBody>
      </p:sp>
    </p:spTree>
    <p:extLst>
      <p:ext uri="{BB962C8B-B14F-4D97-AF65-F5344CB8AC3E}">
        <p14:creationId xmlns:p14="http://schemas.microsoft.com/office/powerpoint/2010/main" val="67547685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97F5328-60A8-4150-89ED-2AED3C67E0EE}"/>
              </a:ext>
            </a:extLst>
          </p:cNvPr>
          <p:cNvSpPr/>
          <p:nvPr/>
        </p:nvSpPr>
        <p:spPr>
          <a:xfrm>
            <a:off x="176565" y="523174"/>
            <a:ext cx="3556615" cy="470000"/>
          </a:xfrm>
          <a:prstGeom prst="rect">
            <a:avLst/>
          </a:prstGeom>
        </p:spPr>
        <p:txBody>
          <a:bodyPr wrap="none">
            <a:spAutoFit/>
          </a:bodyPr>
          <a:lstStyle/>
          <a:p>
            <a:pPr>
              <a:lnSpc>
                <a:spcPct val="107000"/>
              </a:lnSpc>
              <a:spcAft>
                <a:spcPts val="800"/>
              </a:spcAft>
            </a:pPr>
            <a:r>
              <a:rPr lang="en-GB" sz="2400" dirty="0">
                <a:solidFill>
                  <a:schemeClr val="accent2">
                    <a:lumMod val="75000"/>
                  </a:schemeClr>
                </a:solidFill>
                <a:latin typeface="Calibri" panose="020F0502020204030204" pitchFamily="34" charset="0"/>
                <a:ea typeface="Calibri" panose="020F0502020204030204" pitchFamily="34" charset="0"/>
                <a:cs typeface="Times New Roman" panose="02020603050405020304" pitchFamily="18" charset="0"/>
              </a:rPr>
              <a:t>Von Neumann architecture</a:t>
            </a:r>
            <a:endParaRPr lang="en-GB" sz="1200" dirty="0">
              <a:solidFill>
                <a:schemeClr val="accent2">
                  <a:lumMod val="75000"/>
                </a:schemeClr>
              </a:solidFill>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0" name="Rectangle 9">
            <a:extLst>
              <a:ext uri="{FF2B5EF4-FFF2-40B4-BE49-F238E27FC236}">
                <a16:creationId xmlns:a16="http://schemas.microsoft.com/office/drawing/2014/main" id="{14E1E4FB-B01B-4CAE-9EFC-8635BEFA9DEB}"/>
              </a:ext>
            </a:extLst>
          </p:cNvPr>
          <p:cNvSpPr/>
          <p:nvPr/>
        </p:nvSpPr>
        <p:spPr>
          <a:xfrm>
            <a:off x="276550" y="1187335"/>
            <a:ext cx="3237538" cy="4483337"/>
          </a:xfrm>
          <a:prstGeom prst="rect">
            <a:avLst/>
          </a:prstGeom>
          <a:solidFill>
            <a:schemeClr val="accent4">
              <a:lumMod val="20000"/>
              <a:lumOff val="80000"/>
            </a:schemeClr>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1872000" tIns="1260000" rtlCol="0" anchor="t" anchorCtr="0"/>
          <a:lstStyle/>
          <a:p>
            <a:pPr algn="ctr"/>
            <a:endParaRPr lang="en-GB" dirty="0">
              <a:solidFill>
                <a:schemeClr val="tx1"/>
              </a:solidFill>
            </a:endParaRPr>
          </a:p>
        </p:txBody>
      </p:sp>
      <p:sp>
        <p:nvSpPr>
          <p:cNvPr id="12" name="Rectangle 11">
            <a:extLst>
              <a:ext uri="{FF2B5EF4-FFF2-40B4-BE49-F238E27FC236}">
                <a16:creationId xmlns:a16="http://schemas.microsoft.com/office/drawing/2014/main" id="{A3C8042A-1D6E-4D8E-9615-EAD11E9612BE}"/>
              </a:ext>
            </a:extLst>
          </p:cNvPr>
          <p:cNvSpPr/>
          <p:nvPr/>
        </p:nvSpPr>
        <p:spPr>
          <a:xfrm>
            <a:off x="475549" y="1265904"/>
            <a:ext cx="2879050" cy="4338771"/>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GB" sz="1100" b="1" dirty="0">
                <a:solidFill>
                  <a:schemeClr val="tx1"/>
                </a:solidFill>
              </a:rPr>
              <a:t>Central processing unit (CPU)</a:t>
            </a:r>
          </a:p>
        </p:txBody>
      </p:sp>
      <p:sp>
        <p:nvSpPr>
          <p:cNvPr id="17" name="Rectangle 16">
            <a:extLst>
              <a:ext uri="{FF2B5EF4-FFF2-40B4-BE49-F238E27FC236}">
                <a16:creationId xmlns:a16="http://schemas.microsoft.com/office/drawing/2014/main" id="{9DC6B7E0-027D-4EF6-AD4D-DC5D9B452BE9}"/>
              </a:ext>
            </a:extLst>
          </p:cNvPr>
          <p:cNvSpPr/>
          <p:nvPr/>
        </p:nvSpPr>
        <p:spPr>
          <a:xfrm>
            <a:off x="666934" y="1507626"/>
            <a:ext cx="1081825" cy="708338"/>
          </a:xfrm>
          <a:prstGeom prst="rect">
            <a:avLst/>
          </a:prstGeom>
          <a:solidFill>
            <a:schemeClr val="bg1"/>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100" dirty="0">
                <a:solidFill>
                  <a:schemeClr val="tx1"/>
                </a:solidFill>
              </a:rPr>
              <a:t>Control</a:t>
            </a:r>
          </a:p>
          <a:p>
            <a:pPr algn="ctr"/>
            <a:r>
              <a:rPr lang="en-GB" sz="1100" dirty="0">
                <a:solidFill>
                  <a:schemeClr val="tx1"/>
                </a:solidFill>
              </a:rPr>
              <a:t>unit (CU)</a:t>
            </a:r>
          </a:p>
        </p:txBody>
      </p:sp>
      <p:sp>
        <p:nvSpPr>
          <p:cNvPr id="18" name="Rectangle 17">
            <a:extLst>
              <a:ext uri="{FF2B5EF4-FFF2-40B4-BE49-F238E27FC236}">
                <a16:creationId xmlns:a16="http://schemas.microsoft.com/office/drawing/2014/main" id="{038595A0-9F1C-45FA-AD5B-9A2F795EC7C6}"/>
              </a:ext>
            </a:extLst>
          </p:cNvPr>
          <p:cNvSpPr/>
          <p:nvPr/>
        </p:nvSpPr>
        <p:spPr>
          <a:xfrm>
            <a:off x="2102652" y="1507626"/>
            <a:ext cx="1081825" cy="708338"/>
          </a:xfrm>
          <a:prstGeom prst="rect">
            <a:avLst/>
          </a:prstGeom>
          <a:solidFill>
            <a:schemeClr val="bg1"/>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100" dirty="0">
                <a:solidFill>
                  <a:schemeClr val="tx1"/>
                </a:solidFill>
              </a:rPr>
              <a:t>Arithmetic logic unit (ALU)</a:t>
            </a:r>
          </a:p>
        </p:txBody>
      </p:sp>
      <p:sp>
        <p:nvSpPr>
          <p:cNvPr id="19" name="Rectangle 18">
            <a:extLst>
              <a:ext uri="{FF2B5EF4-FFF2-40B4-BE49-F238E27FC236}">
                <a16:creationId xmlns:a16="http://schemas.microsoft.com/office/drawing/2014/main" id="{EF42D0C0-056E-48A9-8169-6B9FEB54F46C}"/>
              </a:ext>
            </a:extLst>
          </p:cNvPr>
          <p:cNvSpPr/>
          <p:nvPr/>
        </p:nvSpPr>
        <p:spPr>
          <a:xfrm>
            <a:off x="666934" y="2560734"/>
            <a:ext cx="2517543" cy="1935087"/>
          </a:xfrm>
          <a:prstGeom prst="rect">
            <a:avLst/>
          </a:prstGeom>
          <a:solidFill>
            <a:schemeClr val="accent2">
              <a:lumMod val="40000"/>
              <a:lumOff val="60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GB" sz="1100" b="1">
                <a:solidFill>
                  <a:schemeClr val="tx1"/>
                </a:solidFill>
              </a:rPr>
              <a:t>Register</a:t>
            </a:r>
            <a:endParaRPr lang="en-GB" sz="1100" b="1" dirty="0">
              <a:solidFill>
                <a:schemeClr val="tx1"/>
              </a:solidFill>
            </a:endParaRPr>
          </a:p>
        </p:txBody>
      </p:sp>
      <p:grpSp>
        <p:nvGrpSpPr>
          <p:cNvPr id="4" name="Group 3">
            <a:extLst>
              <a:ext uri="{FF2B5EF4-FFF2-40B4-BE49-F238E27FC236}">
                <a16:creationId xmlns:a16="http://schemas.microsoft.com/office/drawing/2014/main" id="{C6C3C63B-9717-4EC5-85CE-7877BAD09A5F}"/>
              </a:ext>
            </a:extLst>
          </p:cNvPr>
          <p:cNvGrpSpPr/>
          <p:nvPr/>
        </p:nvGrpSpPr>
        <p:grpSpPr>
          <a:xfrm>
            <a:off x="1202957" y="1844052"/>
            <a:ext cx="1449572" cy="721707"/>
            <a:chOff x="1202957" y="1844052"/>
            <a:chExt cx="1449572" cy="721707"/>
          </a:xfrm>
        </p:grpSpPr>
        <p:cxnSp>
          <p:nvCxnSpPr>
            <p:cNvPr id="28" name="Straight Arrow Connector 27">
              <a:extLst>
                <a:ext uri="{FF2B5EF4-FFF2-40B4-BE49-F238E27FC236}">
                  <a16:creationId xmlns:a16="http://schemas.microsoft.com/office/drawing/2014/main" id="{7AF01822-F7B6-4209-91EC-176D1A2ECB12}"/>
                </a:ext>
              </a:extLst>
            </p:cNvPr>
            <p:cNvCxnSpPr>
              <a:cxnSpLocks/>
            </p:cNvCxnSpPr>
            <p:nvPr/>
          </p:nvCxnSpPr>
          <p:spPr>
            <a:xfrm flipV="1">
              <a:off x="1202957" y="2211632"/>
              <a:ext cx="0" cy="354127"/>
            </a:xfrm>
            <a:prstGeom prst="straightConnector1">
              <a:avLst/>
            </a:prstGeom>
            <a:ln w="50800">
              <a:solidFill>
                <a:srgbClr val="C00000"/>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905747BB-A70B-42B6-9A40-AC791675AB51}"/>
                </a:ext>
              </a:extLst>
            </p:cNvPr>
            <p:cNvCxnSpPr>
              <a:cxnSpLocks/>
            </p:cNvCxnSpPr>
            <p:nvPr/>
          </p:nvCxnSpPr>
          <p:spPr>
            <a:xfrm flipV="1">
              <a:off x="2652529" y="2211632"/>
              <a:ext cx="0" cy="354127"/>
            </a:xfrm>
            <a:prstGeom prst="straightConnector1">
              <a:avLst/>
            </a:prstGeom>
            <a:ln w="50800">
              <a:solidFill>
                <a:srgbClr val="C00000"/>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67D85183-321A-44C3-82FA-78C29445E88C}"/>
                </a:ext>
              </a:extLst>
            </p:cNvPr>
            <p:cNvCxnSpPr>
              <a:cxnSpLocks/>
            </p:cNvCxnSpPr>
            <p:nvPr/>
          </p:nvCxnSpPr>
          <p:spPr>
            <a:xfrm rot="5400000" flipV="1">
              <a:off x="1926477" y="1666988"/>
              <a:ext cx="0" cy="354127"/>
            </a:xfrm>
            <a:prstGeom prst="straightConnector1">
              <a:avLst/>
            </a:prstGeom>
            <a:ln w="50800">
              <a:solidFill>
                <a:srgbClr val="C00000"/>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grpSp>
      <p:sp>
        <p:nvSpPr>
          <p:cNvPr id="34" name="Rectangle 33">
            <a:extLst>
              <a:ext uri="{FF2B5EF4-FFF2-40B4-BE49-F238E27FC236}">
                <a16:creationId xmlns:a16="http://schemas.microsoft.com/office/drawing/2014/main" id="{0545FFC8-9493-4EB4-A6FB-F3C980EBC5A5}"/>
              </a:ext>
            </a:extLst>
          </p:cNvPr>
          <p:cNvSpPr/>
          <p:nvPr/>
        </p:nvSpPr>
        <p:spPr>
          <a:xfrm>
            <a:off x="4557319" y="1187335"/>
            <a:ext cx="3237538" cy="4483329"/>
          </a:xfrm>
          <a:prstGeom prst="rect">
            <a:avLst/>
          </a:prstGeom>
          <a:solidFill>
            <a:schemeClr val="accent4">
              <a:lumMod val="20000"/>
              <a:lumOff val="80000"/>
            </a:schemeClr>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GB" dirty="0">
                <a:solidFill>
                  <a:schemeClr val="tx1"/>
                </a:solidFill>
              </a:rPr>
              <a:t>Main memory (RAM)</a:t>
            </a:r>
          </a:p>
        </p:txBody>
      </p:sp>
      <p:graphicFrame>
        <p:nvGraphicFramePr>
          <p:cNvPr id="2" name="Table 32">
            <a:extLst>
              <a:ext uri="{FF2B5EF4-FFF2-40B4-BE49-F238E27FC236}">
                <a16:creationId xmlns:a16="http://schemas.microsoft.com/office/drawing/2014/main" id="{8E9FC54D-B26B-406A-BF90-1A835E0701E6}"/>
              </a:ext>
            </a:extLst>
          </p:cNvPr>
          <p:cNvGraphicFramePr>
            <a:graphicFrameLocks noGrp="1"/>
          </p:cNvGraphicFramePr>
          <p:nvPr>
            <p:extLst>
              <p:ext uri="{D42A27DB-BD31-4B8C-83A1-F6EECF244321}">
                <p14:modId xmlns:p14="http://schemas.microsoft.com/office/powerpoint/2010/main" val="3905541237"/>
              </p:ext>
            </p:extLst>
          </p:nvPr>
        </p:nvGraphicFramePr>
        <p:xfrm>
          <a:off x="4825649" y="1658897"/>
          <a:ext cx="2239767" cy="3774440"/>
        </p:xfrm>
        <a:graphic>
          <a:graphicData uri="http://schemas.openxmlformats.org/drawingml/2006/table">
            <a:tbl>
              <a:tblPr firstRow="1" bandRow="1">
                <a:tableStyleId>{21E4AEA4-8DFA-4A89-87EB-49C32662AFE0}</a:tableStyleId>
              </a:tblPr>
              <a:tblGrid>
                <a:gridCol w="1037691">
                  <a:extLst>
                    <a:ext uri="{9D8B030D-6E8A-4147-A177-3AD203B41FA5}">
                      <a16:colId xmlns:a16="http://schemas.microsoft.com/office/drawing/2014/main" val="3614015831"/>
                    </a:ext>
                  </a:extLst>
                </a:gridCol>
                <a:gridCol w="1202076">
                  <a:extLst>
                    <a:ext uri="{9D8B030D-6E8A-4147-A177-3AD203B41FA5}">
                      <a16:colId xmlns:a16="http://schemas.microsoft.com/office/drawing/2014/main" val="3794086153"/>
                    </a:ext>
                  </a:extLst>
                </a:gridCol>
              </a:tblGrid>
              <a:tr h="370840">
                <a:tc>
                  <a:txBody>
                    <a:bodyPr/>
                    <a:lstStyle/>
                    <a:p>
                      <a:pPr algn="ctr"/>
                      <a:r>
                        <a:rPr lang="en-GB" dirty="0"/>
                        <a:t>Address</a:t>
                      </a:r>
                    </a:p>
                  </a:txBody>
                  <a:tcPr/>
                </a:tc>
                <a:tc>
                  <a:txBody>
                    <a:bodyPr/>
                    <a:lstStyle/>
                    <a:p>
                      <a:pPr algn="ctr"/>
                      <a:r>
                        <a:rPr lang="en-GB" dirty="0"/>
                        <a:t>Data</a:t>
                      </a:r>
                    </a:p>
                  </a:txBody>
                  <a:tcPr/>
                </a:tc>
                <a:extLst>
                  <a:ext uri="{0D108BD9-81ED-4DB2-BD59-A6C34878D82A}">
                    <a16:rowId xmlns:a16="http://schemas.microsoft.com/office/drawing/2014/main" val="1704211108"/>
                  </a:ext>
                </a:extLst>
              </a:tr>
              <a:tr h="370840">
                <a:tc>
                  <a:txBody>
                    <a:bodyPr/>
                    <a:lstStyle/>
                    <a:p>
                      <a:pPr algn="ctr"/>
                      <a:r>
                        <a:rPr lang="en-GB" dirty="0"/>
                        <a:t>1</a:t>
                      </a:r>
                    </a:p>
                  </a:txBody>
                  <a:tcPr/>
                </a:tc>
                <a:tc>
                  <a:txBody>
                    <a:bodyPr/>
                    <a:lstStyle/>
                    <a:p>
                      <a:pPr algn="ctr"/>
                      <a:r>
                        <a:rPr lang="en-GB" dirty="0"/>
                        <a:t>Load address 5</a:t>
                      </a:r>
                    </a:p>
                  </a:txBody>
                  <a:tcPr/>
                </a:tc>
                <a:extLst>
                  <a:ext uri="{0D108BD9-81ED-4DB2-BD59-A6C34878D82A}">
                    <a16:rowId xmlns:a16="http://schemas.microsoft.com/office/drawing/2014/main" val="74178786"/>
                  </a:ext>
                </a:extLst>
              </a:tr>
              <a:tr h="370840">
                <a:tc>
                  <a:txBody>
                    <a:bodyPr/>
                    <a:lstStyle/>
                    <a:p>
                      <a:pPr algn="ctr"/>
                      <a:r>
                        <a:rPr lang="en-GB" dirty="0"/>
                        <a:t>2</a:t>
                      </a:r>
                    </a:p>
                  </a:txBody>
                  <a:tcPr/>
                </a:tc>
                <a:tc>
                  <a:txBody>
                    <a:bodyPr/>
                    <a:lstStyle/>
                    <a:p>
                      <a:pPr algn="ctr"/>
                      <a:r>
                        <a:rPr lang="en-GB" dirty="0"/>
                        <a:t>Add address 6</a:t>
                      </a:r>
                    </a:p>
                  </a:txBody>
                  <a:tcPr/>
                </a:tc>
                <a:extLst>
                  <a:ext uri="{0D108BD9-81ED-4DB2-BD59-A6C34878D82A}">
                    <a16:rowId xmlns:a16="http://schemas.microsoft.com/office/drawing/2014/main" val="1752188674"/>
                  </a:ext>
                </a:extLst>
              </a:tr>
              <a:tr h="370840">
                <a:tc>
                  <a:txBody>
                    <a:bodyPr/>
                    <a:lstStyle/>
                    <a:p>
                      <a:pPr algn="ctr"/>
                      <a:r>
                        <a:rPr lang="en-GB" dirty="0"/>
                        <a:t>3</a:t>
                      </a:r>
                    </a:p>
                  </a:txBody>
                  <a:tcPr/>
                </a:tc>
                <a:tc>
                  <a:txBody>
                    <a:bodyPr/>
                    <a:lstStyle/>
                    <a:p>
                      <a:pPr algn="ctr"/>
                      <a:r>
                        <a:rPr lang="en-GB" dirty="0"/>
                        <a:t>Store in address 6</a:t>
                      </a:r>
                    </a:p>
                  </a:txBody>
                  <a:tcPr/>
                </a:tc>
                <a:extLst>
                  <a:ext uri="{0D108BD9-81ED-4DB2-BD59-A6C34878D82A}">
                    <a16:rowId xmlns:a16="http://schemas.microsoft.com/office/drawing/2014/main" val="2843260329"/>
                  </a:ext>
                </a:extLst>
              </a:tr>
              <a:tr h="370840">
                <a:tc>
                  <a:txBody>
                    <a:bodyPr/>
                    <a:lstStyle/>
                    <a:p>
                      <a:pPr algn="ctr"/>
                      <a:r>
                        <a:rPr lang="en-GB" dirty="0"/>
                        <a:t>4</a:t>
                      </a:r>
                    </a:p>
                  </a:txBody>
                  <a:tcPr/>
                </a:tc>
                <a:tc>
                  <a:txBody>
                    <a:bodyPr/>
                    <a:lstStyle/>
                    <a:p>
                      <a:pPr algn="ctr"/>
                      <a:r>
                        <a:rPr lang="en-GB" dirty="0"/>
                        <a:t>End</a:t>
                      </a:r>
                    </a:p>
                  </a:txBody>
                  <a:tcPr/>
                </a:tc>
                <a:extLst>
                  <a:ext uri="{0D108BD9-81ED-4DB2-BD59-A6C34878D82A}">
                    <a16:rowId xmlns:a16="http://schemas.microsoft.com/office/drawing/2014/main" val="4027267220"/>
                  </a:ext>
                </a:extLst>
              </a:tr>
              <a:tr h="370840">
                <a:tc>
                  <a:txBody>
                    <a:bodyPr/>
                    <a:lstStyle/>
                    <a:p>
                      <a:pPr algn="ctr"/>
                      <a:r>
                        <a:rPr lang="en-GB" dirty="0"/>
                        <a:t>5</a:t>
                      </a:r>
                    </a:p>
                  </a:txBody>
                  <a:tcPr/>
                </a:tc>
                <a:tc>
                  <a:txBody>
                    <a:bodyPr/>
                    <a:lstStyle/>
                    <a:p>
                      <a:pPr algn="ctr"/>
                      <a:r>
                        <a:rPr lang="en-GB" dirty="0"/>
                        <a:t>23</a:t>
                      </a:r>
                    </a:p>
                  </a:txBody>
                  <a:tcPr/>
                </a:tc>
                <a:extLst>
                  <a:ext uri="{0D108BD9-81ED-4DB2-BD59-A6C34878D82A}">
                    <a16:rowId xmlns:a16="http://schemas.microsoft.com/office/drawing/2014/main" val="2887340781"/>
                  </a:ext>
                </a:extLst>
              </a:tr>
              <a:tr h="370840">
                <a:tc>
                  <a:txBody>
                    <a:bodyPr/>
                    <a:lstStyle/>
                    <a:p>
                      <a:pPr algn="ctr"/>
                      <a:r>
                        <a:rPr lang="en-GB" dirty="0"/>
                        <a:t>6</a:t>
                      </a:r>
                    </a:p>
                  </a:txBody>
                  <a:tcPr/>
                </a:tc>
                <a:tc>
                  <a:txBody>
                    <a:bodyPr/>
                    <a:lstStyle/>
                    <a:p>
                      <a:pPr algn="ctr"/>
                      <a:r>
                        <a:rPr lang="en-GB" dirty="0"/>
                        <a:t>12</a:t>
                      </a:r>
                    </a:p>
                  </a:txBody>
                  <a:tcPr/>
                </a:tc>
                <a:extLst>
                  <a:ext uri="{0D108BD9-81ED-4DB2-BD59-A6C34878D82A}">
                    <a16:rowId xmlns:a16="http://schemas.microsoft.com/office/drawing/2014/main" val="3808870730"/>
                  </a:ext>
                </a:extLst>
              </a:tr>
              <a:tr h="370840">
                <a:tc gridSpan="2">
                  <a:txBody>
                    <a:bodyPr/>
                    <a:lstStyle/>
                    <a:p>
                      <a:endParaRPr lang="en-GB" dirty="0"/>
                    </a:p>
                  </a:txBody>
                  <a:tcPr>
                    <a:solidFill>
                      <a:schemeClr val="accent2"/>
                    </a:solidFill>
                  </a:tcPr>
                </a:tc>
                <a:tc hMerge="1">
                  <a:txBody>
                    <a:bodyPr/>
                    <a:lstStyle/>
                    <a:p>
                      <a:endParaRPr lang="en-GB" dirty="0"/>
                    </a:p>
                  </a:txBody>
                  <a:tcPr/>
                </a:tc>
                <a:extLst>
                  <a:ext uri="{0D108BD9-81ED-4DB2-BD59-A6C34878D82A}">
                    <a16:rowId xmlns:a16="http://schemas.microsoft.com/office/drawing/2014/main" val="453354336"/>
                  </a:ext>
                </a:extLst>
              </a:tr>
            </a:tbl>
          </a:graphicData>
        </a:graphic>
      </p:graphicFrame>
      <p:grpSp>
        <p:nvGrpSpPr>
          <p:cNvPr id="40" name="Group 39">
            <a:extLst>
              <a:ext uri="{FF2B5EF4-FFF2-40B4-BE49-F238E27FC236}">
                <a16:creationId xmlns:a16="http://schemas.microsoft.com/office/drawing/2014/main" id="{47E1A734-AE40-47F7-852D-7A031D45B524}"/>
              </a:ext>
            </a:extLst>
          </p:cNvPr>
          <p:cNvGrpSpPr/>
          <p:nvPr/>
        </p:nvGrpSpPr>
        <p:grpSpPr>
          <a:xfrm>
            <a:off x="3183595" y="3200784"/>
            <a:ext cx="1373724" cy="809946"/>
            <a:chOff x="5089451" y="3108977"/>
            <a:chExt cx="2714502" cy="809946"/>
          </a:xfrm>
        </p:grpSpPr>
        <p:cxnSp>
          <p:nvCxnSpPr>
            <p:cNvPr id="37" name="Straight Arrow Connector 36">
              <a:extLst>
                <a:ext uri="{FF2B5EF4-FFF2-40B4-BE49-F238E27FC236}">
                  <a16:creationId xmlns:a16="http://schemas.microsoft.com/office/drawing/2014/main" id="{C6AEA4D1-72B5-4D9F-BB16-A0F6FA61BE1E}"/>
                </a:ext>
              </a:extLst>
            </p:cNvPr>
            <p:cNvCxnSpPr>
              <a:cxnSpLocks/>
            </p:cNvCxnSpPr>
            <p:nvPr/>
          </p:nvCxnSpPr>
          <p:spPr>
            <a:xfrm>
              <a:off x="5089451" y="3108977"/>
              <a:ext cx="2714502" cy="0"/>
            </a:xfrm>
            <a:prstGeom prst="straightConnector1">
              <a:avLst/>
            </a:prstGeom>
            <a:ln w="5080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39" name="Straight Arrow Connector 38">
              <a:extLst>
                <a:ext uri="{FF2B5EF4-FFF2-40B4-BE49-F238E27FC236}">
                  <a16:creationId xmlns:a16="http://schemas.microsoft.com/office/drawing/2014/main" id="{D6D8C3F4-936D-45F6-A054-B9BEF87A8BFB}"/>
                </a:ext>
              </a:extLst>
            </p:cNvPr>
            <p:cNvCxnSpPr>
              <a:cxnSpLocks/>
            </p:cNvCxnSpPr>
            <p:nvPr/>
          </p:nvCxnSpPr>
          <p:spPr>
            <a:xfrm>
              <a:off x="5089451" y="3918923"/>
              <a:ext cx="2714502" cy="0"/>
            </a:xfrm>
            <a:prstGeom prst="straightConnector1">
              <a:avLst/>
            </a:prstGeom>
            <a:ln w="50800">
              <a:solidFill>
                <a:srgbClr val="C00000"/>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grpSp>
      <p:sp>
        <p:nvSpPr>
          <p:cNvPr id="26" name="Rectangle 25">
            <a:extLst>
              <a:ext uri="{FF2B5EF4-FFF2-40B4-BE49-F238E27FC236}">
                <a16:creationId xmlns:a16="http://schemas.microsoft.com/office/drawing/2014/main" id="{C46D9FF2-5779-40E2-9E69-4B7460F992D7}"/>
              </a:ext>
            </a:extLst>
          </p:cNvPr>
          <p:cNvSpPr/>
          <p:nvPr/>
        </p:nvSpPr>
        <p:spPr>
          <a:xfrm>
            <a:off x="8063188" y="1131152"/>
            <a:ext cx="3998674" cy="1857368"/>
          </a:xfrm>
          <a:prstGeom prst="rect">
            <a:avLst/>
          </a:prstGeom>
        </p:spPr>
        <p:txBody>
          <a:bodyPr wrap="square">
            <a:spAutoFit/>
          </a:bodyPr>
          <a:lstStyle/>
          <a:p>
            <a:pPr>
              <a:lnSpc>
                <a:spcPct val="107000"/>
              </a:lnSpc>
            </a:pPr>
            <a:r>
              <a:rPr lang="en-GB" b="1" dirty="0">
                <a:latin typeface="Calibri" panose="020F0502020204030204" pitchFamily="34" charset="0"/>
                <a:ea typeface="Calibri" panose="020F0502020204030204" pitchFamily="34" charset="0"/>
                <a:cs typeface="Times New Roman" panose="02020603050405020304" pitchFamily="18" charset="0"/>
              </a:rPr>
              <a:t>Key characteristics</a:t>
            </a:r>
          </a:p>
          <a:p>
            <a:pPr marL="800100" lvl="1" indent="-342900">
              <a:lnSpc>
                <a:spcPct val="107000"/>
              </a:lnSpc>
              <a:buFont typeface="Arial" panose="020B0604020202020204" pitchFamily="34" charset="0"/>
              <a:buChar char="•"/>
            </a:pPr>
            <a:r>
              <a:rPr lang="en-GB" dirty="0">
                <a:latin typeface="Calibri" panose="020F0502020204030204" pitchFamily="34" charset="0"/>
                <a:ea typeface="Calibri" panose="020F0502020204030204" pitchFamily="34" charset="0"/>
                <a:cs typeface="Times New Roman" panose="02020603050405020304" pitchFamily="18" charset="0"/>
              </a:rPr>
              <a:t>Central processing unit (CPU)</a:t>
            </a:r>
          </a:p>
          <a:p>
            <a:pPr marL="800100" lvl="1" indent="-342900">
              <a:lnSpc>
                <a:spcPct val="107000"/>
              </a:lnSpc>
              <a:buFont typeface="Arial" panose="020B0604020202020204" pitchFamily="34" charset="0"/>
              <a:buChar char="•"/>
            </a:pPr>
            <a:r>
              <a:rPr lang="en-GB" dirty="0">
                <a:latin typeface="Calibri" panose="020F0502020204030204" pitchFamily="34" charset="0"/>
                <a:ea typeface="Calibri" panose="020F0502020204030204" pitchFamily="34" charset="0"/>
                <a:cs typeface="Times New Roman" panose="02020603050405020304" pitchFamily="18" charset="0"/>
              </a:rPr>
              <a:t>Control unit (CU)</a:t>
            </a:r>
          </a:p>
          <a:p>
            <a:pPr marL="800100" lvl="1" indent="-342900">
              <a:lnSpc>
                <a:spcPct val="107000"/>
              </a:lnSpc>
              <a:buFont typeface="Arial" panose="020B0604020202020204" pitchFamily="34" charset="0"/>
              <a:buChar char="•"/>
            </a:pPr>
            <a:r>
              <a:rPr lang="en-GB" dirty="0">
                <a:latin typeface="Calibri" panose="020F0502020204030204" pitchFamily="34" charset="0"/>
                <a:ea typeface="Calibri" panose="020F0502020204030204" pitchFamily="34" charset="0"/>
                <a:cs typeface="Times New Roman" panose="02020603050405020304" pitchFamily="18" charset="0"/>
              </a:rPr>
              <a:t>Arithmetic logic unit (ALU)</a:t>
            </a:r>
          </a:p>
          <a:p>
            <a:pPr marL="800100" lvl="1" indent="-342900">
              <a:lnSpc>
                <a:spcPct val="107000"/>
              </a:lnSpc>
              <a:buFont typeface="Arial" panose="020B0604020202020204" pitchFamily="34" charset="0"/>
              <a:buChar char="•"/>
            </a:pPr>
            <a:r>
              <a:rPr lang="en-GB" dirty="0">
                <a:latin typeface="Calibri" panose="020F0502020204030204" pitchFamily="34" charset="0"/>
                <a:ea typeface="Calibri" panose="020F0502020204030204" pitchFamily="34" charset="0"/>
                <a:cs typeface="Times New Roman" panose="02020603050405020304" pitchFamily="18" charset="0"/>
              </a:rPr>
              <a:t>Cache</a:t>
            </a:r>
          </a:p>
          <a:p>
            <a:pPr marL="800100" lvl="1" indent="-342900">
              <a:lnSpc>
                <a:spcPct val="107000"/>
              </a:lnSpc>
              <a:buFont typeface="Arial" panose="020B0604020202020204" pitchFamily="34" charset="0"/>
              <a:buChar char="•"/>
            </a:pPr>
            <a:r>
              <a:rPr lang="en-GB" dirty="0">
                <a:latin typeface="Calibri" panose="020F0502020204030204" pitchFamily="34" charset="0"/>
                <a:ea typeface="Calibri" panose="020F0502020204030204" pitchFamily="34" charset="0"/>
                <a:cs typeface="Times New Roman" panose="02020603050405020304" pitchFamily="18" charset="0"/>
              </a:rPr>
              <a:t>Clock</a:t>
            </a:r>
          </a:p>
        </p:txBody>
      </p:sp>
      <p:sp>
        <p:nvSpPr>
          <p:cNvPr id="31" name="Rectangle 30">
            <a:extLst>
              <a:ext uri="{FF2B5EF4-FFF2-40B4-BE49-F238E27FC236}">
                <a16:creationId xmlns:a16="http://schemas.microsoft.com/office/drawing/2014/main" id="{3C0A4F7B-C1ED-421C-890F-F2F32318AED1}"/>
              </a:ext>
            </a:extLst>
          </p:cNvPr>
          <p:cNvSpPr/>
          <p:nvPr/>
        </p:nvSpPr>
        <p:spPr>
          <a:xfrm>
            <a:off x="666052" y="4843426"/>
            <a:ext cx="1087357" cy="638464"/>
          </a:xfrm>
          <a:prstGeom prst="rect">
            <a:avLst/>
          </a:prstGeom>
          <a:solidFill>
            <a:schemeClr val="bg1"/>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100" b="1" dirty="0">
                <a:solidFill>
                  <a:schemeClr val="tx1"/>
                </a:solidFill>
              </a:rPr>
              <a:t>Cache</a:t>
            </a:r>
          </a:p>
        </p:txBody>
      </p:sp>
      <p:pic>
        <p:nvPicPr>
          <p:cNvPr id="32" name="Picture 31">
            <a:extLst>
              <a:ext uri="{FF2B5EF4-FFF2-40B4-BE49-F238E27FC236}">
                <a16:creationId xmlns:a16="http://schemas.microsoft.com/office/drawing/2014/main" id="{CBB706C6-4FC4-411B-AF44-32328B01C4BC}"/>
              </a:ext>
            </a:extLst>
          </p:cNvPr>
          <p:cNvPicPr>
            <a:picLocks noChangeAspect="1"/>
          </p:cNvPicPr>
          <p:nvPr/>
        </p:nvPicPr>
        <p:blipFill>
          <a:blip r:embed="rId2"/>
          <a:stretch>
            <a:fillRect/>
          </a:stretch>
        </p:blipFill>
        <p:spPr>
          <a:xfrm>
            <a:off x="2301155" y="4826252"/>
            <a:ext cx="641729" cy="638464"/>
          </a:xfrm>
          <a:prstGeom prst="rect">
            <a:avLst/>
          </a:prstGeom>
        </p:spPr>
      </p:pic>
      <p:sp>
        <p:nvSpPr>
          <p:cNvPr id="33" name="Rectangle 32">
            <a:extLst>
              <a:ext uri="{FF2B5EF4-FFF2-40B4-BE49-F238E27FC236}">
                <a16:creationId xmlns:a16="http://schemas.microsoft.com/office/drawing/2014/main" id="{53FF2CB3-3EDF-4474-9205-C89ACB8BF485}"/>
              </a:ext>
            </a:extLst>
          </p:cNvPr>
          <p:cNvSpPr/>
          <p:nvPr/>
        </p:nvSpPr>
        <p:spPr>
          <a:xfrm>
            <a:off x="2109112" y="4843426"/>
            <a:ext cx="1074483" cy="638464"/>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100" b="1" dirty="0">
                <a:solidFill>
                  <a:schemeClr val="tx1"/>
                </a:solidFill>
              </a:rPr>
              <a:t>Clock</a:t>
            </a:r>
          </a:p>
        </p:txBody>
      </p:sp>
      <p:grpSp>
        <p:nvGrpSpPr>
          <p:cNvPr id="35" name="Group 34">
            <a:extLst>
              <a:ext uri="{FF2B5EF4-FFF2-40B4-BE49-F238E27FC236}">
                <a16:creationId xmlns:a16="http://schemas.microsoft.com/office/drawing/2014/main" id="{B150DF1D-FF68-4017-A762-E98390311F6D}"/>
              </a:ext>
            </a:extLst>
          </p:cNvPr>
          <p:cNvGrpSpPr/>
          <p:nvPr/>
        </p:nvGrpSpPr>
        <p:grpSpPr>
          <a:xfrm flipV="1">
            <a:off x="1230797" y="4490796"/>
            <a:ext cx="1449572" cy="683607"/>
            <a:chOff x="1202957" y="1882152"/>
            <a:chExt cx="1449572" cy="683607"/>
          </a:xfrm>
        </p:grpSpPr>
        <p:cxnSp>
          <p:nvCxnSpPr>
            <p:cNvPr id="36" name="Straight Arrow Connector 35">
              <a:extLst>
                <a:ext uri="{FF2B5EF4-FFF2-40B4-BE49-F238E27FC236}">
                  <a16:creationId xmlns:a16="http://schemas.microsoft.com/office/drawing/2014/main" id="{1C0DA847-C5ED-492F-A0A0-8E3484742468}"/>
                </a:ext>
              </a:extLst>
            </p:cNvPr>
            <p:cNvCxnSpPr>
              <a:cxnSpLocks/>
            </p:cNvCxnSpPr>
            <p:nvPr/>
          </p:nvCxnSpPr>
          <p:spPr>
            <a:xfrm flipV="1">
              <a:off x="1202957" y="2211632"/>
              <a:ext cx="0" cy="354127"/>
            </a:xfrm>
            <a:prstGeom prst="straightConnector1">
              <a:avLst/>
            </a:prstGeom>
            <a:ln w="50800">
              <a:solidFill>
                <a:srgbClr val="C00000"/>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8" name="Straight Arrow Connector 37">
              <a:extLst>
                <a:ext uri="{FF2B5EF4-FFF2-40B4-BE49-F238E27FC236}">
                  <a16:creationId xmlns:a16="http://schemas.microsoft.com/office/drawing/2014/main" id="{BA53401F-DD36-4D81-A292-EB25F8BC6203}"/>
                </a:ext>
              </a:extLst>
            </p:cNvPr>
            <p:cNvCxnSpPr>
              <a:cxnSpLocks/>
            </p:cNvCxnSpPr>
            <p:nvPr/>
          </p:nvCxnSpPr>
          <p:spPr>
            <a:xfrm flipV="1">
              <a:off x="2652529" y="2211632"/>
              <a:ext cx="0" cy="354127"/>
            </a:xfrm>
            <a:prstGeom prst="straightConnector1">
              <a:avLst/>
            </a:prstGeom>
            <a:ln w="50800">
              <a:solidFill>
                <a:srgbClr val="C00000"/>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41" name="Straight Arrow Connector 40">
              <a:extLst>
                <a:ext uri="{FF2B5EF4-FFF2-40B4-BE49-F238E27FC236}">
                  <a16:creationId xmlns:a16="http://schemas.microsoft.com/office/drawing/2014/main" id="{1DD294A2-89A6-4D0F-A4A9-975E1CC9CA64}"/>
                </a:ext>
              </a:extLst>
            </p:cNvPr>
            <p:cNvCxnSpPr>
              <a:cxnSpLocks/>
            </p:cNvCxnSpPr>
            <p:nvPr/>
          </p:nvCxnSpPr>
          <p:spPr>
            <a:xfrm rot="5400000" flipV="1">
              <a:off x="1897902" y="1705088"/>
              <a:ext cx="0" cy="354127"/>
            </a:xfrm>
            <a:prstGeom prst="straightConnector1">
              <a:avLst/>
            </a:prstGeom>
            <a:ln w="50800">
              <a:solidFill>
                <a:srgbClr val="C00000"/>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grpSp>
      <p:grpSp>
        <p:nvGrpSpPr>
          <p:cNvPr id="43" name="Group 42">
            <a:extLst>
              <a:ext uri="{FF2B5EF4-FFF2-40B4-BE49-F238E27FC236}">
                <a16:creationId xmlns:a16="http://schemas.microsoft.com/office/drawing/2014/main" id="{94AC49BA-8E63-48CD-8156-92D93CE3FDE5}"/>
              </a:ext>
            </a:extLst>
          </p:cNvPr>
          <p:cNvGrpSpPr/>
          <p:nvPr/>
        </p:nvGrpSpPr>
        <p:grpSpPr>
          <a:xfrm>
            <a:off x="847302" y="2947577"/>
            <a:ext cx="2234102" cy="427603"/>
            <a:chOff x="6657882" y="3206182"/>
            <a:chExt cx="2234102" cy="427603"/>
          </a:xfrm>
        </p:grpSpPr>
        <p:pic>
          <p:nvPicPr>
            <p:cNvPr id="44" name="Picture 43" descr="A close up of a logo&#10;&#10;Description automatically generated">
              <a:extLst>
                <a:ext uri="{FF2B5EF4-FFF2-40B4-BE49-F238E27FC236}">
                  <a16:creationId xmlns:a16="http://schemas.microsoft.com/office/drawing/2014/main" id="{C89E698C-B77F-4948-9344-D3D0BFB626D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657882" y="3209018"/>
              <a:ext cx="424767" cy="424767"/>
            </a:xfrm>
            <a:prstGeom prst="rect">
              <a:avLst/>
            </a:prstGeom>
          </p:spPr>
        </p:pic>
        <p:pic>
          <p:nvPicPr>
            <p:cNvPr id="45" name="Picture 44" descr="A close up of a logo&#10;&#10;Description automatically generated">
              <a:extLst>
                <a:ext uri="{FF2B5EF4-FFF2-40B4-BE49-F238E27FC236}">
                  <a16:creationId xmlns:a16="http://schemas.microsoft.com/office/drawing/2014/main" id="{246710E0-AF18-4753-9D16-819C050285A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246627" y="3209018"/>
              <a:ext cx="424767" cy="424767"/>
            </a:xfrm>
            <a:prstGeom prst="rect">
              <a:avLst/>
            </a:prstGeom>
          </p:spPr>
        </p:pic>
        <p:pic>
          <p:nvPicPr>
            <p:cNvPr id="46" name="Picture 45" descr="A close up of a logo&#10;&#10;Description automatically generated">
              <a:extLst>
                <a:ext uri="{FF2B5EF4-FFF2-40B4-BE49-F238E27FC236}">
                  <a16:creationId xmlns:a16="http://schemas.microsoft.com/office/drawing/2014/main" id="{98C298AD-8382-4B53-BCA0-18803258573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835372" y="3209018"/>
              <a:ext cx="424767" cy="424767"/>
            </a:xfrm>
            <a:prstGeom prst="rect">
              <a:avLst/>
            </a:prstGeom>
          </p:spPr>
        </p:pic>
        <p:pic>
          <p:nvPicPr>
            <p:cNvPr id="47" name="Picture 46" descr="A close up of a logo&#10;&#10;Description automatically generated">
              <a:extLst>
                <a:ext uri="{FF2B5EF4-FFF2-40B4-BE49-F238E27FC236}">
                  <a16:creationId xmlns:a16="http://schemas.microsoft.com/office/drawing/2014/main" id="{B3AC685B-0346-4BB3-B81B-D0160D2D69A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467217" y="3206182"/>
              <a:ext cx="424767" cy="424767"/>
            </a:xfrm>
            <a:prstGeom prst="rect">
              <a:avLst/>
            </a:prstGeom>
          </p:spPr>
        </p:pic>
      </p:grpSp>
      <p:grpSp>
        <p:nvGrpSpPr>
          <p:cNvPr id="48" name="Group 47">
            <a:extLst>
              <a:ext uri="{FF2B5EF4-FFF2-40B4-BE49-F238E27FC236}">
                <a16:creationId xmlns:a16="http://schemas.microsoft.com/office/drawing/2014/main" id="{6DA7B931-A5AF-4E70-8C27-A92B52518B5F}"/>
              </a:ext>
            </a:extLst>
          </p:cNvPr>
          <p:cNvGrpSpPr/>
          <p:nvPr/>
        </p:nvGrpSpPr>
        <p:grpSpPr>
          <a:xfrm>
            <a:off x="850373" y="3715588"/>
            <a:ext cx="2234102" cy="427603"/>
            <a:chOff x="6657882" y="3206182"/>
            <a:chExt cx="2234102" cy="427603"/>
          </a:xfrm>
        </p:grpSpPr>
        <p:pic>
          <p:nvPicPr>
            <p:cNvPr id="49" name="Picture 48" descr="A close up of a logo&#10;&#10;Description automatically generated">
              <a:extLst>
                <a:ext uri="{FF2B5EF4-FFF2-40B4-BE49-F238E27FC236}">
                  <a16:creationId xmlns:a16="http://schemas.microsoft.com/office/drawing/2014/main" id="{3263CB79-D937-446B-B915-41B9BDF59CD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657882" y="3209018"/>
              <a:ext cx="424767" cy="424767"/>
            </a:xfrm>
            <a:prstGeom prst="rect">
              <a:avLst/>
            </a:prstGeom>
          </p:spPr>
        </p:pic>
        <p:pic>
          <p:nvPicPr>
            <p:cNvPr id="50" name="Picture 49" descr="A close up of a logo&#10;&#10;Description automatically generated">
              <a:extLst>
                <a:ext uri="{FF2B5EF4-FFF2-40B4-BE49-F238E27FC236}">
                  <a16:creationId xmlns:a16="http://schemas.microsoft.com/office/drawing/2014/main" id="{E31310D2-0F8C-42B0-9F71-74CDB8CC14C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246627" y="3209018"/>
              <a:ext cx="424767" cy="424767"/>
            </a:xfrm>
            <a:prstGeom prst="rect">
              <a:avLst/>
            </a:prstGeom>
          </p:spPr>
        </p:pic>
        <p:pic>
          <p:nvPicPr>
            <p:cNvPr id="51" name="Picture 50" descr="A close up of a logo&#10;&#10;Description automatically generated">
              <a:extLst>
                <a:ext uri="{FF2B5EF4-FFF2-40B4-BE49-F238E27FC236}">
                  <a16:creationId xmlns:a16="http://schemas.microsoft.com/office/drawing/2014/main" id="{0257E30D-2B70-415B-9159-FC1A8852139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835372" y="3209018"/>
              <a:ext cx="424767" cy="424767"/>
            </a:xfrm>
            <a:prstGeom prst="rect">
              <a:avLst/>
            </a:prstGeom>
          </p:spPr>
        </p:pic>
        <p:pic>
          <p:nvPicPr>
            <p:cNvPr id="52" name="Picture 51" descr="A close up of a logo&#10;&#10;Description automatically generated">
              <a:extLst>
                <a:ext uri="{FF2B5EF4-FFF2-40B4-BE49-F238E27FC236}">
                  <a16:creationId xmlns:a16="http://schemas.microsoft.com/office/drawing/2014/main" id="{74855688-4D9E-4D8E-B598-273765131B3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467217" y="3206182"/>
              <a:ext cx="424767" cy="424767"/>
            </a:xfrm>
            <a:prstGeom prst="rect">
              <a:avLst/>
            </a:prstGeom>
          </p:spPr>
        </p:pic>
      </p:grpSp>
    </p:spTree>
    <p:extLst>
      <p:ext uri="{BB962C8B-B14F-4D97-AF65-F5344CB8AC3E}">
        <p14:creationId xmlns:p14="http://schemas.microsoft.com/office/powerpoint/2010/main" val="247096210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97F5328-60A8-4150-89ED-2AED3C67E0EE}"/>
              </a:ext>
            </a:extLst>
          </p:cNvPr>
          <p:cNvSpPr/>
          <p:nvPr/>
        </p:nvSpPr>
        <p:spPr>
          <a:xfrm>
            <a:off x="176565" y="523174"/>
            <a:ext cx="3556615" cy="470000"/>
          </a:xfrm>
          <a:prstGeom prst="rect">
            <a:avLst/>
          </a:prstGeom>
        </p:spPr>
        <p:txBody>
          <a:bodyPr wrap="none">
            <a:spAutoFit/>
          </a:bodyPr>
          <a:lstStyle/>
          <a:p>
            <a:pPr>
              <a:lnSpc>
                <a:spcPct val="107000"/>
              </a:lnSpc>
              <a:spcAft>
                <a:spcPts val="800"/>
              </a:spcAft>
            </a:pPr>
            <a:r>
              <a:rPr lang="en-GB" sz="2400" dirty="0">
                <a:solidFill>
                  <a:schemeClr val="accent2">
                    <a:lumMod val="75000"/>
                  </a:schemeClr>
                </a:solidFill>
                <a:latin typeface="Calibri" panose="020F0502020204030204" pitchFamily="34" charset="0"/>
                <a:ea typeface="Calibri" panose="020F0502020204030204" pitchFamily="34" charset="0"/>
                <a:cs typeface="Times New Roman" panose="02020603050405020304" pitchFamily="18" charset="0"/>
              </a:rPr>
              <a:t>Von Neumann architecture</a:t>
            </a:r>
            <a:endParaRPr lang="en-GB" sz="1200" dirty="0">
              <a:solidFill>
                <a:schemeClr val="accent2">
                  <a:lumMod val="75000"/>
                </a:schemeClr>
              </a:solidFill>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0" name="Rectangle 9">
            <a:extLst>
              <a:ext uri="{FF2B5EF4-FFF2-40B4-BE49-F238E27FC236}">
                <a16:creationId xmlns:a16="http://schemas.microsoft.com/office/drawing/2014/main" id="{14E1E4FB-B01B-4CAE-9EFC-8635BEFA9DEB}"/>
              </a:ext>
            </a:extLst>
          </p:cNvPr>
          <p:cNvSpPr/>
          <p:nvPr/>
        </p:nvSpPr>
        <p:spPr>
          <a:xfrm>
            <a:off x="276550" y="1187335"/>
            <a:ext cx="3237538" cy="4483337"/>
          </a:xfrm>
          <a:prstGeom prst="rect">
            <a:avLst/>
          </a:prstGeom>
          <a:solidFill>
            <a:schemeClr val="accent4">
              <a:lumMod val="20000"/>
              <a:lumOff val="80000"/>
            </a:schemeClr>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1872000" tIns="1260000" rtlCol="0" anchor="t" anchorCtr="0"/>
          <a:lstStyle/>
          <a:p>
            <a:pPr algn="ctr"/>
            <a:endParaRPr lang="en-GB" dirty="0">
              <a:solidFill>
                <a:schemeClr val="tx1"/>
              </a:solidFill>
            </a:endParaRPr>
          </a:p>
        </p:txBody>
      </p:sp>
      <p:sp>
        <p:nvSpPr>
          <p:cNvPr id="12" name="Rectangle 11">
            <a:extLst>
              <a:ext uri="{FF2B5EF4-FFF2-40B4-BE49-F238E27FC236}">
                <a16:creationId xmlns:a16="http://schemas.microsoft.com/office/drawing/2014/main" id="{A3C8042A-1D6E-4D8E-9615-EAD11E9612BE}"/>
              </a:ext>
            </a:extLst>
          </p:cNvPr>
          <p:cNvSpPr/>
          <p:nvPr/>
        </p:nvSpPr>
        <p:spPr>
          <a:xfrm>
            <a:off x="475549" y="1265904"/>
            <a:ext cx="2879050" cy="4338771"/>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GB" sz="1100" b="1" dirty="0">
                <a:solidFill>
                  <a:schemeClr val="tx1"/>
                </a:solidFill>
              </a:rPr>
              <a:t>Central processing unit (CPU)</a:t>
            </a:r>
          </a:p>
        </p:txBody>
      </p:sp>
      <p:sp>
        <p:nvSpPr>
          <p:cNvPr id="17" name="Rectangle 16">
            <a:extLst>
              <a:ext uri="{FF2B5EF4-FFF2-40B4-BE49-F238E27FC236}">
                <a16:creationId xmlns:a16="http://schemas.microsoft.com/office/drawing/2014/main" id="{9DC6B7E0-027D-4EF6-AD4D-DC5D9B452BE9}"/>
              </a:ext>
            </a:extLst>
          </p:cNvPr>
          <p:cNvSpPr/>
          <p:nvPr/>
        </p:nvSpPr>
        <p:spPr>
          <a:xfrm>
            <a:off x="666934" y="1507626"/>
            <a:ext cx="1081825" cy="708338"/>
          </a:xfrm>
          <a:prstGeom prst="rect">
            <a:avLst/>
          </a:prstGeom>
          <a:solidFill>
            <a:schemeClr val="bg1"/>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100" dirty="0">
                <a:solidFill>
                  <a:schemeClr val="tx1"/>
                </a:solidFill>
              </a:rPr>
              <a:t>Control</a:t>
            </a:r>
          </a:p>
          <a:p>
            <a:pPr algn="ctr"/>
            <a:r>
              <a:rPr lang="en-GB" sz="1100" dirty="0">
                <a:solidFill>
                  <a:schemeClr val="tx1"/>
                </a:solidFill>
              </a:rPr>
              <a:t>unit (CU)</a:t>
            </a:r>
          </a:p>
        </p:txBody>
      </p:sp>
      <p:sp>
        <p:nvSpPr>
          <p:cNvPr id="18" name="Rectangle 17">
            <a:extLst>
              <a:ext uri="{FF2B5EF4-FFF2-40B4-BE49-F238E27FC236}">
                <a16:creationId xmlns:a16="http://schemas.microsoft.com/office/drawing/2014/main" id="{038595A0-9F1C-45FA-AD5B-9A2F795EC7C6}"/>
              </a:ext>
            </a:extLst>
          </p:cNvPr>
          <p:cNvSpPr/>
          <p:nvPr/>
        </p:nvSpPr>
        <p:spPr>
          <a:xfrm>
            <a:off x="2102652" y="1507626"/>
            <a:ext cx="1081825" cy="708338"/>
          </a:xfrm>
          <a:prstGeom prst="rect">
            <a:avLst/>
          </a:prstGeom>
          <a:solidFill>
            <a:schemeClr val="bg1"/>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100" dirty="0">
                <a:solidFill>
                  <a:schemeClr val="tx1"/>
                </a:solidFill>
              </a:rPr>
              <a:t>Arithmetic logic unit (ALU)</a:t>
            </a:r>
          </a:p>
        </p:txBody>
      </p:sp>
      <p:sp>
        <p:nvSpPr>
          <p:cNvPr id="19" name="Rectangle 18">
            <a:extLst>
              <a:ext uri="{FF2B5EF4-FFF2-40B4-BE49-F238E27FC236}">
                <a16:creationId xmlns:a16="http://schemas.microsoft.com/office/drawing/2014/main" id="{EF42D0C0-056E-48A9-8169-6B9FEB54F46C}"/>
              </a:ext>
            </a:extLst>
          </p:cNvPr>
          <p:cNvSpPr/>
          <p:nvPr/>
        </p:nvSpPr>
        <p:spPr>
          <a:xfrm>
            <a:off x="666934" y="2560734"/>
            <a:ext cx="2517543" cy="1935087"/>
          </a:xfrm>
          <a:prstGeom prst="rect">
            <a:avLst/>
          </a:prstGeom>
          <a:solidFill>
            <a:schemeClr val="accent2">
              <a:lumMod val="40000"/>
              <a:lumOff val="60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GB" sz="1100" b="1">
                <a:solidFill>
                  <a:schemeClr val="tx1"/>
                </a:solidFill>
              </a:rPr>
              <a:t>Register</a:t>
            </a:r>
            <a:endParaRPr lang="en-GB" sz="1100" b="1" dirty="0">
              <a:solidFill>
                <a:schemeClr val="tx1"/>
              </a:solidFill>
            </a:endParaRPr>
          </a:p>
        </p:txBody>
      </p:sp>
      <p:sp>
        <p:nvSpPr>
          <p:cNvPr id="20" name="Rectangle 19">
            <a:extLst>
              <a:ext uri="{FF2B5EF4-FFF2-40B4-BE49-F238E27FC236}">
                <a16:creationId xmlns:a16="http://schemas.microsoft.com/office/drawing/2014/main" id="{D5772A53-90DA-4E8B-B6E6-310B2E9375C5}"/>
              </a:ext>
            </a:extLst>
          </p:cNvPr>
          <p:cNvSpPr/>
          <p:nvPr/>
        </p:nvSpPr>
        <p:spPr>
          <a:xfrm>
            <a:off x="1996349" y="2840551"/>
            <a:ext cx="1081825" cy="708338"/>
          </a:xfrm>
          <a:prstGeom prst="rect">
            <a:avLst/>
          </a:prstGeom>
          <a:solidFill>
            <a:schemeClr val="bg1"/>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100">
                <a:solidFill>
                  <a:schemeClr val="tx1"/>
                </a:solidFill>
              </a:rPr>
              <a:t>Memory address register </a:t>
            </a:r>
            <a:r>
              <a:rPr lang="en-GB" sz="1100" dirty="0">
                <a:solidFill>
                  <a:schemeClr val="tx1"/>
                </a:solidFill>
              </a:rPr>
              <a:t>(MAR)</a:t>
            </a:r>
          </a:p>
        </p:txBody>
      </p:sp>
      <p:sp>
        <p:nvSpPr>
          <p:cNvPr id="21" name="Rectangle 20">
            <a:extLst>
              <a:ext uri="{FF2B5EF4-FFF2-40B4-BE49-F238E27FC236}">
                <a16:creationId xmlns:a16="http://schemas.microsoft.com/office/drawing/2014/main" id="{E40AA452-ABF6-4935-80C2-C940C436FB9D}"/>
              </a:ext>
            </a:extLst>
          </p:cNvPr>
          <p:cNvSpPr/>
          <p:nvPr/>
        </p:nvSpPr>
        <p:spPr>
          <a:xfrm>
            <a:off x="1993887" y="3617025"/>
            <a:ext cx="1081825" cy="708338"/>
          </a:xfrm>
          <a:prstGeom prst="rect">
            <a:avLst/>
          </a:prstGeom>
          <a:solidFill>
            <a:schemeClr val="bg1"/>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100" dirty="0">
                <a:solidFill>
                  <a:schemeClr val="tx1"/>
                </a:solidFill>
              </a:rPr>
              <a:t>Memory data register (MDR)</a:t>
            </a:r>
          </a:p>
        </p:txBody>
      </p:sp>
      <p:sp>
        <p:nvSpPr>
          <p:cNvPr id="22" name="Rectangle 21">
            <a:extLst>
              <a:ext uri="{FF2B5EF4-FFF2-40B4-BE49-F238E27FC236}">
                <a16:creationId xmlns:a16="http://schemas.microsoft.com/office/drawing/2014/main" id="{934BCE69-9910-4FFF-A932-3435BDF3A78C}"/>
              </a:ext>
            </a:extLst>
          </p:cNvPr>
          <p:cNvSpPr/>
          <p:nvPr/>
        </p:nvSpPr>
        <p:spPr>
          <a:xfrm>
            <a:off x="755539" y="3623242"/>
            <a:ext cx="1081825" cy="708338"/>
          </a:xfrm>
          <a:prstGeom prst="rect">
            <a:avLst/>
          </a:prstGeom>
          <a:solidFill>
            <a:schemeClr val="bg1"/>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100" dirty="0">
                <a:solidFill>
                  <a:schemeClr val="tx1"/>
                </a:solidFill>
              </a:rPr>
              <a:t>Program counter (PC)</a:t>
            </a:r>
          </a:p>
        </p:txBody>
      </p:sp>
      <p:sp>
        <p:nvSpPr>
          <p:cNvPr id="23" name="Rectangle 22">
            <a:extLst>
              <a:ext uri="{FF2B5EF4-FFF2-40B4-BE49-F238E27FC236}">
                <a16:creationId xmlns:a16="http://schemas.microsoft.com/office/drawing/2014/main" id="{FF6508EE-D7B4-4EDB-97C9-EE5EC2A39807}"/>
              </a:ext>
            </a:extLst>
          </p:cNvPr>
          <p:cNvSpPr/>
          <p:nvPr/>
        </p:nvSpPr>
        <p:spPr>
          <a:xfrm>
            <a:off x="755539" y="2837779"/>
            <a:ext cx="1081825" cy="708338"/>
          </a:xfrm>
          <a:prstGeom prst="rect">
            <a:avLst/>
          </a:prstGeom>
          <a:solidFill>
            <a:schemeClr val="bg1"/>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100" dirty="0">
                <a:solidFill>
                  <a:schemeClr val="tx1"/>
                </a:solidFill>
              </a:rPr>
              <a:t>Accumulator</a:t>
            </a:r>
          </a:p>
        </p:txBody>
      </p:sp>
      <p:cxnSp>
        <p:nvCxnSpPr>
          <p:cNvPr id="28" name="Straight Arrow Connector 27">
            <a:extLst>
              <a:ext uri="{FF2B5EF4-FFF2-40B4-BE49-F238E27FC236}">
                <a16:creationId xmlns:a16="http://schemas.microsoft.com/office/drawing/2014/main" id="{7AF01822-F7B6-4209-91EC-176D1A2ECB12}"/>
              </a:ext>
            </a:extLst>
          </p:cNvPr>
          <p:cNvCxnSpPr>
            <a:cxnSpLocks/>
          </p:cNvCxnSpPr>
          <p:nvPr/>
        </p:nvCxnSpPr>
        <p:spPr>
          <a:xfrm flipV="1">
            <a:off x="1202957" y="2211632"/>
            <a:ext cx="0" cy="354127"/>
          </a:xfrm>
          <a:prstGeom prst="straightConnector1">
            <a:avLst/>
          </a:prstGeom>
          <a:ln w="50800">
            <a:solidFill>
              <a:srgbClr val="C00000"/>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905747BB-A70B-42B6-9A40-AC791675AB51}"/>
              </a:ext>
            </a:extLst>
          </p:cNvPr>
          <p:cNvCxnSpPr>
            <a:cxnSpLocks/>
          </p:cNvCxnSpPr>
          <p:nvPr/>
        </p:nvCxnSpPr>
        <p:spPr>
          <a:xfrm flipV="1">
            <a:off x="2652529" y="2211632"/>
            <a:ext cx="0" cy="354127"/>
          </a:xfrm>
          <a:prstGeom prst="straightConnector1">
            <a:avLst/>
          </a:prstGeom>
          <a:ln w="50800">
            <a:solidFill>
              <a:srgbClr val="C00000"/>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67D85183-321A-44C3-82FA-78C29445E88C}"/>
              </a:ext>
            </a:extLst>
          </p:cNvPr>
          <p:cNvCxnSpPr>
            <a:cxnSpLocks/>
          </p:cNvCxnSpPr>
          <p:nvPr/>
        </p:nvCxnSpPr>
        <p:spPr>
          <a:xfrm rot="5400000" flipV="1">
            <a:off x="1926477" y="1666988"/>
            <a:ext cx="0" cy="354127"/>
          </a:xfrm>
          <a:prstGeom prst="straightConnector1">
            <a:avLst/>
          </a:prstGeom>
          <a:ln w="50800">
            <a:solidFill>
              <a:srgbClr val="C00000"/>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34" name="Rectangle 33">
            <a:extLst>
              <a:ext uri="{FF2B5EF4-FFF2-40B4-BE49-F238E27FC236}">
                <a16:creationId xmlns:a16="http://schemas.microsoft.com/office/drawing/2014/main" id="{0545FFC8-9493-4EB4-A6FB-F3C980EBC5A5}"/>
              </a:ext>
            </a:extLst>
          </p:cNvPr>
          <p:cNvSpPr/>
          <p:nvPr/>
        </p:nvSpPr>
        <p:spPr>
          <a:xfrm>
            <a:off x="4557319" y="1187335"/>
            <a:ext cx="3237538" cy="4483329"/>
          </a:xfrm>
          <a:prstGeom prst="rect">
            <a:avLst/>
          </a:prstGeom>
          <a:solidFill>
            <a:schemeClr val="accent4">
              <a:lumMod val="20000"/>
              <a:lumOff val="80000"/>
            </a:schemeClr>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GB" dirty="0">
                <a:solidFill>
                  <a:schemeClr val="tx1"/>
                </a:solidFill>
              </a:rPr>
              <a:t>Main memory (RAM)</a:t>
            </a:r>
          </a:p>
        </p:txBody>
      </p:sp>
      <p:graphicFrame>
        <p:nvGraphicFramePr>
          <p:cNvPr id="2" name="Table 32">
            <a:extLst>
              <a:ext uri="{FF2B5EF4-FFF2-40B4-BE49-F238E27FC236}">
                <a16:creationId xmlns:a16="http://schemas.microsoft.com/office/drawing/2014/main" id="{8E9FC54D-B26B-406A-BF90-1A835E0701E6}"/>
              </a:ext>
            </a:extLst>
          </p:cNvPr>
          <p:cNvGraphicFramePr>
            <a:graphicFrameLocks noGrp="1"/>
          </p:cNvGraphicFramePr>
          <p:nvPr>
            <p:extLst>
              <p:ext uri="{D42A27DB-BD31-4B8C-83A1-F6EECF244321}">
                <p14:modId xmlns:p14="http://schemas.microsoft.com/office/powerpoint/2010/main" val="3389323013"/>
              </p:ext>
            </p:extLst>
          </p:nvPr>
        </p:nvGraphicFramePr>
        <p:xfrm>
          <a:off x="4825649" y="1658897"/>
          <a:ext cx="2239767" cy="3774440"/>
        </p:xfrm>
        <a:graphic>
          <a:graphicData uri="http://schemas.openxmlformats.org/drawingml/2006/table">
            <a:tbl>
              <a:tblPr firstRow="1" bandRow="1">
                <a:tableStyleId>{21E4AEA4-8DFA-4A89-87EB-49C32662AFE0}</a:tableStyleId>
              </a:tblPr>
              <a:tblGrid>
                <a:gridCol w="1037691">
                  <a:extLst>
                    <a:ext uri="{9D8B030D-6E8A-4147-A177-3AD203B41FA5}">
                      <a16:colId xmlns:a16="http://schemas.microsoft.com/office/drawing/2014/main" val="3614015831"/>
                    </a:ext>
                  </a:extLst>
                </a:gridCol>
                <a:gridCol w="1202076">
                  <a:extLst>
                    <a:ext uri="{9D8B030D-6E8A-4147-A177-3AD203B41FA5}">
                      <a16:colId xmlns:a16="http://schemas.microsoft.com/office/drawing/2014/main" val="3794086153"/>
                    </a:ext>
                  </a:extLst>
                </a:gridCol>
              </a:tblGrid>
              <a:tr h="370840">
                <a:tc>
                  <a:txBody>
                    <a:bodyPr/>
                    <a:lstStyle/>
                    <a:p>
                      <a:pPr algn="ctr"/>
                      <a:r>
                        <a:rPr lang="en-GB" dirty="0"/>
                        <a:t>Address</a:t>
                      </a:r>
                    </a:p>
                  </a:txBody>
                  <a:tcPr/>
                </a:tc>
                <a:tc>
                  <a:txBody>
                    <a:bodyPr/>
                    <a:lstStyle/>
                    <a:p>
                      <a:pPr algn="ctr"/>
                      <a:r>
                        <a:rPr lang="en-GB" dirty="0"/>
                        <a:t>Data</a:t>
                      </a:r>
                    </a:p>
                  </a:txBody>
                  <a:tcPr/>
                </a:tc>
                <a:extLst>
                  <a:ext uri="{0D108BD9-81ED-4DB2-BD59-A6C34878D82A}">
                    <a16:rowId xmlns:a16="http://schemas.microsoft.com/office/drawing/2014/main" val="1704211108"/>
                  </a:ext>
                </a:extLst>
              </a:tr>
              <a:tr h="370840">
                <a:tc>
                  <a:txBody>
                    <a:bodyPr/>
                    <a:lstStyle/>
                    <a:p>
                      <a:pPr algn="ctr"/>
                      <a:r>
                        <a:rPr lang="en-GB" dirty="0"/>
                        <a:t>1</a:t>
                      </a:r>
                    </a:p>
                  </a:txBody>
                  <a:tcPr/>
                </a:tc>
                <a:tc>
                  <a:txBody>
                    <a:bodyPr/>
                    <a:lstStyle/>
                    <a:p>
                      <a:pPr algn="ctr"/>
                      <a:r>
                        <a:rPr lang="en-GB" dirty="0"/>
                        <a:t>Load address 5</a:t>
                      </a:r>
                    </a:p>
                  </a:txBody>
                  <a:tcPr>
                    <a:solidFill>
                      <a:schemeClr val="accent4"/>
                    </a:solidFill>
                  </a:tcPr>
                </a:tc>
                <a:extLst>
                  <a:ext uri="{0D108BD9-81ED-4DB2-BD59-A6C34878D82A}">
                    <a16:rowId xmlns:a16="http://schemas.microsoft.com/office/drawing/2014/main" val="74178786"/>
                  </a:ext>
                </a:extLst>
              </a:tr>
              <a:tr h="370840">
                <a:tc>
                  <a:txBody>
                    <a:bodyPr/>
                    <a:lstStyle/>
                    <a:p>
                      <a:pPr algn="ctr"/>
                      <a:r>
                        <a:rPr lang="en-GB" dirty="0"/>
                        <a:t>2</a:t>
                      </a:r>
                    </a:p>
                  </a:txBody>
                  <a:tcPr/>
                </a:tc>
                <a:tc>
                  <a:txBody>
                    <a:bodyPr/>
                    <a:lstStyle/>
                    <a:p>
                      <a:pPr algn="ctr"/>
                      <a:r>
                        <a:rPr lang="en-GB" dirty="0"/>
                        <a:t>Add address 6</a:t>
                      </a:r>
                    </a:p>
                  </a:txBody>
                  <a:tcPr>
                    <a:solidFill>
                      <a:schemeClr val="accent4"/>
                    </a:solidFill>
                  </a:tcPr>
                </a:tc>
                <a:extLst>
                  <a:ext uri="{0D108BD9-81ED-4DB2-BD59-A6C34878D82A}">
                    <a16:rowId xmlns:a16="http://schemas.microsoft.com/office/drawing/2014/main" val="1752188674"/>
                  </a:ext>
                </a:extLst>
              </a:tr>
              <a:tr h="370840">
                <a:tc>
                  <a:txBody>
                    <a:bodyPr/>
                    <a:lstStyle/>
                    <a:p>
                      <a:pPr algn="ctr"/>
                      <a:r>
                        <a:rPr lang="en-GB" dirty="0"/>
                        <a:t>3</a:t>
                      </a:r>
                    </a:p>
                  </a:txBody>
                  <a:tcPr/>
                </a:tc>
                <a:tc>
                  <a:txBody>
                    <a:bodyPr/>
                    <a:lstStyle/>
                    <a:p>
                      <a:pPr algn="ctr"/>
                      <a:r>
                        <a:rPr lang="en-GB" dirty="0"/>
                        <a:t>Store in address 6</a:t>
                      </a:r>
                    </a:p>
                  </a:txBody>
                  <a:tcPr>
                    <a:solidFill>
                      <a:schemeClr val="accent4"/>
                    </a:solidFill>
                  </a:tcPr>
                </a:tc>
                <a:extLst>
                  <a:ext uri="{0D108BD9-81ED-4DB2-BD59-A6C34878D82A}">
                    <a16:rowId xmlns:a16="http://schemas.microsoft.com/office/drawing/2014/main" val="2843260329"/>
                  </a:ext>
                </a:extLst>
              </a:tr>
              <a:tr h="370840">
                <a:tc>
                  <a:txBody>
                    <a:bodyPr/>
                    <a:lstStyle/>
                    <a:p>
                      <a:pPr algn="ctr"/>
                      <a:r>
                        <a:rPr lang="en-GB" dirty="0"/>
                        <a:t>4</a:t>
                      </a:r>
                    </a:p>
                  </a:txBody>
                  <a:tcPr/>
                </a:tc>
                <a:tc>
                  <a:txBody>
                    <a:bodyPr/>
                    <a:lstStyle/>
                    <a:p>
                      <a:pPr algn="ctr"/>
                      <a:r>
                        <a:rPr lang="en-GB" dirty="0"/>
                        <a:t>End</a:t>
                      </a:r>
                    </a:p>
                  </a:txBody>
                  <a:tcPr>
                    <a:solidFill>
                      <a:schemeClr val="accent4"/>
                    </a:solidFill>
                  </a:tcPr>
                </a:tc>
                <a:extLst>
                  <a:ext uri="{0D108BD9-81ED-4DB2-BD59-A6C34878D82A}">
                    <a16:rowId xmlns:a16="http://schemas.microsoft.com/office/drawing/2014/main" val="4027267220"/>
                  </a:ext>
                </a:extLst>
              </a:tr>
              <a:tr h="370840">
                <a:tc>
                  <a:txBody>
                    <a:bodyPr/>
                    <a:lstStyle/>
                    <a:p>
                      <a:pPr algn="ctr"/>
                      <a:r>
                        <a:rPr lang="en-GB" dirty="0"/>
                        <a:t>5</a:t>
                      </a:r>
                    </a:p>
                  </a:txBody>
                  <a:tcPr/>
                </a:tc>
                <a:tc>
                  <a:txBody>
                    <a:bodyPr/>
                    <a:lstStyle/>
                    <a:p>
                      <a:pPr algn="ctr"/>
                      <a:r>
                        <a:rPr lang="en-GB" dirty="0"/>
                        <a:t>23</a:t>
                      </a:r>
                    </a:p>
                  </a:txBody>
                  <a:tcPr>
                    <a:solidFill>
                      <a:schemeClr val="accent4"/>
                    </a:solidFill>
                  </a:tcPr>
                </a:tc>
                <a:extLst>
                  <a:ext uri="{0D108BD9-81ED-4DB2-BD59-A6C34878D82A}">
                    <a16:rowId xmlns:a16="http://schemas.microsoft.com/office/drawing/2014/main" val="2887340781"/>
                  </a:ext>
                </a:extLst>
              </a:tr>
              <a:tr h="370840">
                <a:tc>
                  <a:txBody>
                    <a:bodyPr/>
                    <a:lstStyle/>
                    <a:p>
                      <a:pPr algn="ctr"/>
                      <a:r>
                        <a:rPr lang="en-GB" dirty="0"/>
                        <a:t>6</a:t>
                      </a:r>
                    </a:p>
                  </a:txBody>
                  <a:tcPr/>
                </a:tc>
                <a:tc>
                  <a:txBody>
                    <a:bodyPr/>
                    <a:lstStyle/>
                    <a:p>
                      <a:pPr algn="ctr"/>
                      <a:r>
                        <a:rPr lang="en-GB" dirty="0"/>
                        <a:t>12</a:t>
                      </a:r>
                    </a:p>
                  </a:txBody>
                  <a:tcPr>
                    <a:solidFill>
                      <a:schemeClr val="accent4"/>
                    </a:solidFill>
                  </a:tcPr>
                </a:tc>
                <a:extLst>
                  <a:ext uri="{0D108BD9-81ED-4DB2-BD59-A6C34878D82A}">
                    <a16:rowId xmlns:a16="http://schemas.microsoft.com/office/drawing/2014/main" val="3808870730"/>
                  </a:ext>
                </a:extLst>
              </a:tr>
              <a:tr h="370840">
                <a:tc gridSpan="2">
                  <a:txBody>
                    <a:bodyPr/>
                    <a:lstStyle/>
                    <a:p>
                      <a:endParaRPr lang="en-GB" dirty="0"/>
                    </a:p>
                  </a:txBody>
                  <a:tcPr>
                    <a:solidFill>
                      <a:schemeClr val="accent2"/>
                    </a:solidFill>
                  </a:tcPr>
                </a:tc>
                <a:tc hMerge="1">
                  <a:txBody>
                    <a:bodyPr/>
                    <a:lstStyle/>
                    <a:p>
                      <a:endParaRPr lang="en-GB" dirty="0"/>
                    </a:p>
                  </a:txBody>
                  <a:tcPr/>
                </a:tc>
                <a:extLst>
                  <a:ext uri="{0D108BD9-81ED-4DB2-BD59-A6C34878D82A}">
                    <a16:rowId xmlns:a16="http://schemas.microsoft.com/office/drawing/2014/main" val="453354336"/>
                  </a:ext>
                </a:extLst>
              </a:tr>
            </a:tbl>
          </a:graphicData>
        </a:graphic>
      </p:graphicFrame>
      <p:grpSp>
        <p:nvGrpSpPr>
          <p:cNvPr id="40" name="Group 39">
            <a:extLst>
              <a:ext uri="{FF2B5EF4-FFF2-40B4-BE49-F238E27FC236}">
                <a16:creationId xmlns:a16="http://schemas.microsoft.com/office/drawing/2014/main" id="{47E1A734-AE40-47F7-852D-7A031D45B524}"/>
              </a:ext>
            </a:extLst>
          </p:cNvPr>
          <p:cNvGrpSpPr/>
          <p:nvPr/>
        </p:nvGrpSpPr>
        <p:grpSpPr>
          <a:xfrm>
            <a:off x="3084475" y="3200784"/>
            <a:ext cx="1472844" cy="809946"/>
            <a:chOff x="5089451" y="3108977"/>
            <a:chExt cx="2714502" cy="809946"/>
          </a:xfrm>
        </p:grpSpPr>
        <p:cxnSp>
          <p:nvCxnSpPr>
            <p:cNvPr id="37" name="Straight Arrow Connector 36">
              <a:extLst>
                <a:ext uri="{FF2B5EF4-FFF2-40B4-BE49-F238E27FC236}">
                  <a16:creationId xmlns:a16="http://schemas.microsoft.com/office/drawing/2014/main" id="{C6AEA4D1-72B5-4D9F-BB16-A0F6FA61BE1E}"/>
                </a:ext>
              </a:extLst>
            </p:cNvPr>
            <p:cNvCxnSpPr>
              <a:cxnSpLocks/>
            </p:cNvCxnSpPr>
            <p:nvPr/>
          </p:nvCxnSpPr>
          <p:spPr>
            <a:xfrm>
              <a:off x="5089451" y="3108977"/>
              <a:ext cx="2714502" cy="0"/>
            </a:xfrm>
            <a:prstGeom prst="straightConnector1">
              <a:avLst/>
            </a:prstGeom>
            <a:ln w="5080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39" name="Straight Arrow Connector 38">
              <a:extLst>
                <a:ext uri="{FF2B5EF4-FFF2-40B4-BE49-F238E27FC236}">
                  <a16:creationId xmlns:a16="http://schemas.microsoft.com/office/drawing/2014/main" id="{D6D8C3F4-936D-45F6-A054-B9BEF87A8BFB}"/>
                </a:ext>
              </a:extLst>
            </p:cNvPr>
            <p:cNvCxnSpPr>
              <a:cxnSpLocks/>
            </p:cNvCxnSpPr>
            <p:nvPr/>
          </p:nvCxnSpPr>
          <p:spPr>
            <a:xfrm>
              <a:off x="5089451" y="3918923"/>
              <a:ext cx="2714502" cy="0"/>
            </a:xfrm>
            <a:prstGeom prst="straightConnector1">
              <a:avLst/>
            </a:prstGeom>
            <a:ln w="50800">
              <a:solidFill>
                <a:srgbClr val="C00000"/>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grpSp>
      <p:sp>
        <p:nvSpPr>
          <p:cNvPr id="26" name="Rectangle 25">
            <a:extLst>
              <a:ext uri="{FF2B5EF4-FFF2-40B4-BE49-F238E27FC236}">
                <a16:creationId xmlns:a16="http://schemas.microsoft.com/office/drawing/2014/main" id="{C46D9FF2-5779-40E2-9E69-4B7460F992D7}"/>
              </a:ext>
            </a:extLst>
          </p:cNvPr>
          <p:cNvSpPr/>
          <p:nvPr/>
        </p:nvSpPr>
        <p:spPr>
          <a:xfrm>
            <a:off x="8063188" y="1131152"/>
            <a:ext cx="3998674" cy="968278"/>
          </a:xfrm>
          <a:prstGeom prst="rect">
            <a:avLst/>
          </a:prstGeom>
        </p:spPr>
        <p:txBody>
          <a:bodyPr wrap="square">
            <a:spAutoFit/>
          </a:bodyPr>
          <a:lstStyle/>
          <a:p>
            <a:pPr>
              <a:lnSpc>
                <a:spcPct val="107000"/>
              </a:lnSpc>
              <a:spcAft>
                <a:spcPts val="800"/>
              </a:spcAft>
            </a:pPr>
            <a:r>
              <a:rPr lang="en-GB" dirty="0">
                <a:latin typeface="Calibri" panose="020F0502020204030204" pitchFamily="34" charset="0"/>
                <a:ea typeface="Calibri" panose="020F0502020204030204" pitchFamily="34" charset="0"/>
                <a:cs typeface="Times New Roman" panose="02020603050405020304" pitchFamily="18" charset="0"/>
              </a:rPr>
              <a:t>Notice how both instruction data </a:t>
            </a:r>
            <a:r>
              <a:rPr lang="en-GB" i="1" dirty="0">
                <a:latin typeface="Calibri" panose="020F0502020204030204" pitchFamily="34" charset="0"/>
                <a:ea typeface="Calibri" panose="020F0502020204030204" pitchFamily="34" charset="0"/>
                <a:cs typeface="Times New Roman" panose="02020603050405020304" pitchFamily="18" charset="0"/>
              </a:rPr>
              <a:t>and</a:t>
            </a:r>
            <a:r>
              <a:rPr lang="en-GB" dirty="0">
                <a:latin typeface="Calibri" panose="020F0502020204030204" pitchFamily="34" charset="0"/>
                <a:ea typeface="Calibri" panose="020F0502020204030204" pitchFamily="34" charset="0"/>
                <a:cs typeface="Times New Roman" panose="02020603050405020304" pitchFamily="18" charset="0"/>
              </a:rPr>
              <a:t> program data are stored in the same memory in binary form.</a:t>
            </a:r>
          </a:p>
        </p:txBody>
      </p:sp>
      <p:sp>
        <p:nvSpPr>
          <p:cNvPr id="38" name="Rectangle 37">
            <a:extLst>
              <a:ext uri="{FF2B5EF4-FFF2-40B4-BE49-F238E27FC236}">
                <a16:creationId xmlns:a16="http://schemas.microsoft.com/office/drawing/2014/main" id="{9695A5C3-BE3C-414D-8807-CBCE81EE9804}"/>
              </a:ext>
            </a:extLst>
          </p:cNvPr>
          <p:cNvSpPr/>
          <p:nvPr/>
        </p:nvSpPr>
        <p:spPr>
          <a:xfrm>
            <a:off x="666052" y="4843426"/>
            <a:ext cx="1087357" cy="638464"/>
          </a:xfrm>
          <a:prstGeom prst="rect">
            <a:avLst/>
          </a:prstGeom>
          <a:solidFill>
            <a:schemeClr val="bg1"/>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100" b="1" dirty="0">
                <a:solidFill>
                  <a:schemeClr val="tx1"/>
                </a:solidFill>
              </a:rPr>
              <a:t>Cache</a:t>
            </a:r>
          </a:p>
        </p:txBody>
      </p:sp>
      <p:pic>
        <p:nvPicPr>
          <p:cNvPr id="41" name="Picture 40">
            <a:extLst>
              <a:ext uri="{FF2B5EF4-FFF2-40B4-BE49-F238E27FC236}">
                <a16:creationId xmlns:a16="http://schemas.microsoft.com/office/drawing/2014/main" id="{E8FD5D50-6CD7-4202-B337-930781923172}"/>
              </a:ext>
            </a:extLst>
          </p:cNvPr>
          <p:cNvPicPr>
            <a:picLocks noChangeAspect="1"/>
          </p:cNvPicPr>
          <p:nvPr/>
        </p:nvPicPr>
        <p:blipFill>
          <a:blip r:embed="rId2"/>
          <a:stretch>
            <a:fillRect/>
          </a:stretch>
        </p:blipFill>
        <p:spPr>
          <a:xfrm>
            <a:off x="2301155" y="4826252"/>
            <a:ext cx="641729" cy="638464"/>
          </a:xfrm>
          <a:prstGeom prst="rect">
            <a:avLst/>
          </a:prstGeom>
        </p:spPr>
      </p:pic>
      <p:sp>
        <p:nvSpPr>
          <p:cNvPr id="42" name="Rectangle 41">
            <a:extLst>
              <a:ext uri="{FF2B5EF4-FFF2-40B4-BE49-F238E27FC236}">
                <a16:creationId xmlns:a16="http://schemas.microsoft.com/office/drawing/2014/main" id="{56621BA8-4F36-4A84-8AA2-6FCB2B1F86C5}"/>
              </a:ext>
            </a:extLst>
          </p:cNvPr>
          <p:cNvSpPr/>
          <p:nvPr/>
        </p:nvSpPr>
        <p:spPr>
          <a:xfrm>
            <a:off x="2109112" y="4843426"/>
            <a:ext cx="1074483" cy="638464"/>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100" b="1" dirty="0">
                <a:solidFill>
                  <a:schemeClr val="tx1"/>
                </a:solidFill>
              </a:rPr>
              <a:t>Clock</a:t>
            </a:r>
          </a:p>
        </p:txBody>
      </p:sp>
      <p:grpSp>
        <p:nvGrpSpPr>
          <p:cNvPr id="32" name="Group 31">
            <a:extLst>
              <a:ext uri="{FF2B5EF4-FFF2-40B4-BE49-F238E27FC236}">
                <a16:creationId xmlns:a16="http://schemas.microsoft.com/office/drawing/2014/main" id="{2374701D-336E-41DA-A283-DBFD7F96FEFB}"/>
              </a:ext>
            </a:extLst>
          </p:cNvPr>
          <p:cNvGrpSpPr/>
          <p:nvPr/>
        </p:nvGrpSpPr>
        <p:grpSpPr>
          <a:xfrm flipV="1">
            <a:off x="1230797" y="4490796"/>
            <a:ext cx="1449572" cy="683607"/>
            <a:chOff x="1202957" y="1882152"/>
            <a:chExt cx="1449572" cy="683607"/>
          </a:xfrm>
        </p:grpSpPr>
        <p:cxnSp>
          <p:nvCxnSpPr>
            <p:cNvPr id="33" name="Straight Arrow Connector 32">
              <a:extLst>
                <a:ext uri="{FF2B5EF4-FFF2-40B4-BE49-F238E27FC236}">
                  <a16:creationId xmlns:a16="http://schemas.microsoft.com/office/drawing/2014/main" id="{49D4DFD9-AB43-4AFF-9904-AFE1A5A60480}"/>
                </a:ext>
              </a:extLst>
            </p:cNvPr>
            <p:cNvCxnSpPr>
              <a:cxnSpLocks/>
            </p:cNvCxnSpPr>
            <p:nvPr/>
          </p:nvCxnSpPr>
          <p:spPr>
            <a:xfrm flipV="1">
              <a:off x="1202957" y="2211632"/>
              <a:ext cx="0" cy="354127"/>
            </a:xfrm>
            <a:prstGeom prst="straightConnector1">
              <a:avLst/>
            </a:prstGeom>
            <a:ln w="50800">
              <a:solidFill>
                <a:srgbClr val="C00000"/>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5" name="Straight Arrow Connector 34">
              <a:extLst>
                <a:ext uri="{FF2B5EF4-FFF2-40B4-BE49-F238E27FC236}">
                  <a16:creationId xmlns:a16="http://schemas.microsoft.com/office/drawing/2014/main" id="{3336DA7D-9A9C-4D55-95DA-962776C7CAEC}"/>
                </a:ext>
              </a:extLst>
            </p:cNvPr>
            <p:cNvCxnSpPr>
              <a:cxnSpLocks/>
            </p:cNvCxnSpPr>
            <p:nvPr/>
          </p:nvCxnSpPr>
          <p:spPr>
            <a:xfrm flipV="1">
              <a:off x="2652529" y="2211632"/>
              <a:ext cx="0" cy="354127"/>
            </a:xfrm>
            <a:prstGeom prst="straightConnector1">
              <a:avLst/>
            </a:prstGeom>
            <a:ln w="50800">
              <a:solidFill>
                <a:srgbClr val="C00000"/>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183CB61E-8BE4-4E78-A268-3618F89B46E5}"/>
                </a:ext>
              </a:extLst>
            </p:cNvPr>
            <p:cNvCxnSpPr>
              <a:cxnSpLocks/>
            </p:cNvCxnSpPr>
            <p:nvPr/>
          </p:nvCxnSpPr>
          <p:spPr>
            <a:xfrm rot="5400000" flipV="1">
              <a:off x="1897902" y="1705088"/>
              <a:ext cx="0" cy="354127"/>
            </a:xfrm>
            <a:prstGeom prst="straightConnector1">
              <a:avLst/>
            </a:prstGeom>
            <a:ln w="50800">
              <a:solidFill>
                <a:srgbClr val="C00000"/>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74817075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97F5328-60A8-4150-89ED-2AED3C67E0EE}"/>
              </a:ext>
            </a:extLst>
          </p:cNvPr>
          <p:cNvSpPr/>
          <p:nvPr/>
        </p:nvSpPr>
        <p:spPr>
          <a:xfrm>
            <a:off x="176565" y="523174"/>
            <a:ext cx="3556615" cy="470000"/>
          </a:xfrm>
          <a:prstGeom prst="rect">
            <a:avLst/>
          </a:prstGeom>
        </p:spPr>
        <p:txBody>
          <a:bodyPr wrap="none">
            <a:spAutoFit/>
          </a:bodyPr>
          <a:lstStyle/>
          <a:p>
            <a:pPr>
              <a:lnSpc>
                <a:spcPct val="107000"/>
              </a:lnSpc>
              <a:spcAft>
                <a:spcPts val="800"/>
              </a:spcAft>
            </a:pPr>
            <a:r>
              <a:rPr lang="en-GB" sz="2400" dirty="0">
                <a:solidFill>
                  <a:schemeClr val="accent2">
                    <a:lumMod val="75000"/>
                  </a:schemeClr>
                </a:solidFill>
                <a:latin typeface="Calibri" panose="020F0502020204030204" pitchFamily="34" charset="0"/>
                <a:ea typeface="Calibri" panose="020F0502020204030204" pitchFamily="34" charset="0"/>
                <a:cs typeface="Times New Roman" panose="02020603050405020304" pitchFamily="18" charset="0"/>
              </a:rPr>
              <a:t>Von Neumann architecture</a:t>
            </a:r>
            <a:endParaRPr lang="en-GB" sz="1200" dirty="0">
              <a:solidFill>
                <a:schemeClr val="accent2">
                  <a:lumMod val="75000"/>
                </a:schemeClr>
              </a:solidFill>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0" name="Rectangle 9">
            <a:extLst>
              <a:ext uri="{FF2B5EF4-FFF2-40B4-BE49-F238E27FC236}">
                <a16:creationId xmlns:a16="http://schemas.microsoft.com/office/drawing/2014/main" id="{14E1E4FB-B01B-4CAE-9EFC-8635BEFA9DEB}"/>
              </a:ext>
            </a:extLst>
          </p:cNvPr>
          <p:cNvSpPr/>
          <p:nvPr/>
        </p:nvSpPr>
        <p:spPr>
          <a:xfrm>
            <a:off x="276550" y="1187335"/>
            <a:ext cx="3237538" cy="4483337"/>
          </a:xfrm>
          <a:prstGeom prst="rect">
            <a:avLst/>
          </a:prstGeom>
          <a:solidFill>
            <a:schemeClr val="accent4">
              <a:lumMod val="20000"/>
              <a:lumOff val="80000"/>
            </a:schemeClr>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1872000" tIns="1260000" rtlCol="0" anchor="t" anchorCtr="0"/>
          <a:lstStyle/>
          <a:p>
            <a:pPr algn="ctr"/>
            <a:endParaRPr lang="en-GB" dirty="0">
              <a:solidFill>
                <a:schemeClr val="tx1"/>
              </a:solidFill>
            </a:endParaRPr>
          </a:p>
        </p:txBody>
      </p:sp>
      <p:sp>
        <p:nvSpPr>
          <p:cNvPr id="12" name="Rectangle 11">
            <a:extLst>
              <a:ext uri="{FF2B5EF4-FFF2-40B4-BE49-F238E27FC236}">
                <a16:creationId xmlns:a16="http://schemas.microsoft.com/office/drawing/2014/main" id="{A3C8042A-1D6E-4D8E-9615-EAD11E9612BE}"/>
              </a:ext>
            </a:extLst>
          </p:cNvPr>
          <p:cNvSpPr/>
          <p:nvPr/>
        </p:nvSpPr>
        <p:spPr>
          <a:xfrm>
            <a:off x="475549" y="1265904"/>
            <a:ext cx="2879050" cy="4338771"/>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GB" sz="1100" b="1" dirty="0">
                <a:solidFill>
                  <a:schemeClr val="tx1"/>
                </a:solidFill>
              </a:rPr>
              <a:t>Central processing unit (CPU)</a:t>
            </a:r>
          </a:p>
        </p:txBody>
      </p:sp>
      <p:sp>
        <p:nvSpPr>
          <p:cNvPr id="17" name="Rectangle 16">
            <a:extLst>
              <a:ext uri="{FF2B5EF4-FFF2-40B4-BE49-F238E27FC236}">
                <a16:creationId xmlns:a16="http://schemas.microsoft.com/office/drawing/2014/main" id="{9DC6B7E0-027D-4EF6-AD4D-DC5D9B452BE9}"/>
              </a:ext>
            </a:extLst>
          </p:cNvPr>
          <p:cNvSpPr/>
          <p:nvPr/>
        </p:nvSpPr>
        <p:spPr>
          <a:xfrm>
            <a:off x="666934" y="1507626"/>
            <a:ext cx="1081825" cy="708338"/>
          </a:xfrm>
          <a:prstGeom prst="rect">
            <a:avLst/>
          </a:prstGeom>
          <a:solidFill>
            <a:schemeClr val="bg1"/>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100" dirty="0">
                <a:solidFill>
                  <a:schemeClr val="tx1"/>
                </a:solidFill>
              </a:rPr>
              <a:t>Control</a:t>
            </a:r>
          </a:p>
          <a:p>
            <a:pPr algn="ctr"/>
            <a:r>
              <a:rPr lang="en-GB" sz="1100" dirty="0">
                <a:solidFill>
                  <a:schemeClr val="tx1"/>
                </a:solidFill>
              </a:rPr>
              <a:t>unit (CU)</a:t>
            </a:r>
          </a:p>
        </p:txBody>
      </p:sp>
      <p:sp>
        <p:nvSpPr>
          <p:cNvPr id="18" name="Rectangle 17">
            <a:extLst>
              <a:ext uri="{FF2B5EF4-FFF2-40B4-BE49-F238E27FC236}">
                <a16:creationId xmlns:a16="http://schemas.microsoft.com/office/drawing/2014/main" id="{038595A0-9F1C-45FA-AD5B-9A2F795EC7C6}"/>
              </a:ext>
            </a:extLst>
          </p:cNvPr>
          <p:cNvSpPr/>
          <p:nvPr/>
        </p:nvSpPr>
        <p:spPr>
          <a:xfrm>
            <a:off x="2102652" y="1507626"/>
            <a:ext cx="1081825" cy="708338"/>
          </a:xfrm>
          <a:prstGeom prst="rect">
            <a:avLst/>
          </a:prstGeom>
          <a:solidFill>
            <a:schemeClr val="bg1"/>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100" dirty="0">
                <a:solidFill>
                  <a:schemeClr val="tx1"/>
                </a:solidFill>
              </a:rPr>
              <a:t>Arithmetic logic unit (ALU)</a:t>
            </a:r>
          </a:p>
        </p:txBody>
      </p:sp>
      <p:sp>
        <p:nvSpPr>
          <p:cNvPr id="19" name="Rectangle 18">
            <a:extLst>
              <a:ext uri="{FF2B5EF4-FFF2-40B4-BE49-F238E27FC236}">
                <a16:creationId xmlns:a16="http://schemas.microsoft.com/office/drawing/2014/main" id="{EF42D0C0-056E-48A9-8169-6B9FEB54F46C}"/>
              </a:ext>
            </a:extLst>
          </p:cNvPr>
          <p:cNvSpPr/>
          <p:nvPr/>
        </p:nvSpPr>
        <p:spPr>
          <a:xfrm>
            <a:off x="666934" y="2560734"/>
            <a:ext cx="2517543" cy="1935087"/>
          </a:xfrm>
          <a:prstGeom prst="rect">
            <a:avLst/>
          </a:prstGeom>
          <a:solidFill>
            <a:schemeClr val="accent2">
              <a:lumMod val="40000"/>
              <a:lumOff val="60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GB" sz="1100" b="1">
                <a:solidFill>
                  <a:schemeClr val="tx1"/>
                </a:solidFill>
              </a:rPr>
              <a:t>Register</a:t>
            </a:r>
            <a:endParaRPr lang="en-GB" sz="1100" b="1" dirty="0">
              <a:solidFill>
                <a:schemeClr val="tx1"/>
              </a:solidFill>
            </a:endParaRPr>
          </a:p>
        </p:txBody>
      </p:sp>
      <p:sp>
        <p:nvSpPr>
          <p:cNvPr id="20" name="Rectangle 19">
            <a:extLst>
              <a:ext uri="{FF2B5EF4-FFF2-40B4-BE49-F238E27FC236}">
                <a16:creationId xmlns:a16="http://schemas.microsoft.com/office/drawing/2014/main" id="{D5772A53-90DA-4E8B-B6E6-310B2E9375C5}"/>
              </a:ext>
            </a:extLst>
          </p:cNvPr>
          <p:cNvSpPr/>
          <p:nvPr/>
        </p:nvSpPr>
        <p:spPr>
          <a:xfrm>
            <a:off x="1996349" y="2840551"/>
            <a:ext cx="1081825" cy="708338"/>
          </a:xfrm>
          <a:prstGeom prst="rect">
            <a:avLst/>
          </a:prstGeom>
          <a:solidFill>
            <a:schemeClr val="bg1"/>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100">
                <a:solidFill>
                  <a:schemeClr val="tx1"/>
                </a:solidFill>
              </a:rPr>
              <a:t>Memory address register </a:t>
            </a:r>
            <a:r>
              <a:rPr lang="en-GB" sz="1100" dirty="0">
                <a:solidFill>
                  <a:schemeClr val="tx1"/>
                </a:solidFill>
              </a:rPr>
              <a:t>(MAR)</a:t>
            </a:r>
          </a:p>
        </p:txBody>
      </p:sp>
      <p:sp>
        <p:nvSpPr>
          <p:cNvPr id="21" name="Rectangle 20">
            <a:extLst>
              <a:ext uri="{FF2B5EF4-FFF2-40B4-BE49-F238E27FC236}">
                <a16:creationId xmlns:a16="http://schemas.microsoft.com/office/drawing/2014/main" id="{E40AA452-ABF6-4935-80C2-C940C436FB9D}"/>
              </a:ext>
            </a:extLst>
          </p:cNvPr>
          <p:cNvSpPr/>
          <p:nvPr/>
        </p:nvSpPr>
        <p:spPr>
          <a:xfrm>
            <a:off x="1993887" y="3617025"/>
            <a:ext cx="1081825" cy="708338"/>
          </a:xfrm>
          <a:prstGeom prst="rect">
            <a:avLst/>
          </a:prstGeom>
          <a:solidFill>
            <a:schemeClr val="bg1"/>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100" dirty="0">
                <a:solidFill>
                  <a:schemeClr val="tx1"/>
                </a:solidFill>
              </a:rPr>
              <a:t>Memory data register (MDR)</a:t>
            </a:r>
          </a:p>
        </p:txBody>
      </p:sp>
      <p:sp>
        <p:nvSpPr>
          <p:cNvPr id="22" name="Rectangle 21">
            <a:extLst>
              <a:ext uri="{FF2B5EF4-FFF2-40B4-BE49-F238E27FC236}">
                <a16:creationId xmlns:a16="http://schemas.microsoft.com/office/drawing/2014/main" id="{934BCE69-9910-4FFF-A932-3435BDF3A78C}"/>
              </a:ext>
            </a:extLst>
          </p:cNvPr>
          <p:cNvSpPr/>
          <p:nvPr/>
        </p:nvSpPr>
        <p:spPr>
          <a:xfrm>
            <a:off x="755539" y="3623242"/>
            <a:ext cx="1081825" cy="708338"/>
          </a:xfrm>
          <a:prstGeom prst="rect">
            <a:avLst/>
          </a:prstGeom>
          <a:solidFill>
            <a:schemeClr val="bg1"/>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100" dirty="0">
                <a:solidFill>
                  <a:schemeClr val="tx1"/>
                </a:solidFill>
              </a:rPr>
              <a:t>Program counter (PC)</a:t>
            </a:r>
          </a:p>
        </p:txBody>
      </p:sp>
      <p:sp>
        <p:nvSpPr>
          <p:cNvPr id="23" name="Rectangle 22">
            <a:extLst>
              <a:ext uri="{FF2B5EF4-FFF2-40B4-BE49-F238E27FC236}">
                <a16:creationId xmlns:a16="http://schemas.microsoft.com/office/drawing/2014/main" id="{FF6508EE-D7B4-4EDB-97C9-EE5EC2A39807}"/>
              </a:ext>
            </a:extLst>
          </p:cNvPr>
          <p:cNvSpPr/>
          <p:nvPr/>
        </p:nvSpPr>
        <p:spPr>
          <a:xfrm>
            <a:off x="755539" y="2837779"/>
            <a:ext cx="1081825" cy="708338"/>
          </a:xfrm>
          <a:prstGeom prst="rect">
            <a:avLst/>
          </a:prstGeom>
          <a:solidFill>
            <a:schemeClr val="bg1"/>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100" dirty="0">
                <a:solidFill>
                  <a:schemeClr val="tx1"/>
                </a:solidFill>
              </a:rPr>
              <a:t>Accumulator</a:t>
            </a:r>
          </a:p>
        </p:txBody>
      </p:sp>
      <p:cxnSp>
        <p:nvCxnSpPr>
          <p:cNvPr id="28" name="Straight Arrow Connector 27">
            <a:extLst>
              <a:ext uri="{FF2B5EF4-FFF2-40B4-BE49-F238E27FC236}">
                <a16:creationId xmlns:a16="http://schemas.microsoft.com/office/drawing/2014/main" id="{7AF01822-F7B6-4209-91EC-176D1A2ECB12}"/>
              </a:ext>
            </a:extLst>
          </p:cNvPr>
          <p:cNvCxnSpPr>
            <a:cxnSpLocks/>
          </p:cNvCxnSpPr>
          <p:nvPr/>
        </p:nvCxnSpPr>
        <p:spPr>
          <a:xfrm flipV="1">
            <a:off x="1202957" y="2211632"/>
            <a:ext cx="0" cy="354127"/>
          </a:xfrm>
          <a:prstGeom prst="straightConnector1">
            <a:avLst/>
          </a:prstGeom>
          <a:ln w="50800">
            <a:solidFill>
              <a:srgbClr val="C00000"/>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905747BB-A70B-42B6-9A40-AC791675AB51}"/>
              </a:ext>
            </a:extLst>
          </p:cNvPr>
          <p:cNvCxnSpPr>
            <a:cxnSpLocks/>
          </p:cNvCxnSpPr>
          <p:nvPr/>
        </p:nvCxnSpPr>
        <p:spPr>
          <a:xfrm flipV="1">
            <a:off x="2652529" y="2211632"/>
            <a:ext cx="0" cy="354127"/>
          </a:xfrm>
          <a:prstGeom prst="straightConnector1">
            <a:avLst/>
          </a:prstGeom>
          <a:ln w="50800">
            <a:solidFill>
              <a:srgbClr val="C00000"/>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67D85183-321A-44C3-82FA-78C29445E88C}"/>
              </a:ext>
            </a:extLst>
          </p:cNvPr>
          <p:cNvCxnSpPr>
            <a:cxnSpLocks/>
          </p:cNvCxnSpPr>
          <p:nvPr/>
        </p:nvCxnSpPr>
        <p:spPr>
          <a:xfrm rot="5400000" flipV="1">
            <a:off x="1926477" y="1666988"/>
            <a:ext cx="0" cy="354127"/>
          </a:xfrm>
          <a:prstGeom prst="straightConnector1">
            <a:avLst/>
          </a:prstGeom>
          <a:ln w="50800">
            <a:solidFill>
              <a:srgbClr val="C00000"/>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34" name="Rectangle 33">
            <a:extLst>
              <a:ext uri="{FF2B5EF4-FFF2-40B4-BE49-F238E27FC236}">
                <a16:creationId xmlns:a16="http://schemas.microsoft.com/office/drawing/2014/main" id="{0545FFC8-9493-4EB4-A6FB-F3C980EBC5A5}"/>
              </a:ext>
            </a:extLst>
          </p:cNvPr>
          <p:cNvSpPr/>
          <p:nvPr/>
        </p:nvSpPr>
        <p:spPr>
          <a:xfrm>
            <a:off x="4557319" y="1187335"/>
            <a:ext cx="3237538" cy="4483329"/>
          </a:xfrm>
          <a:prstGeom prst="rect">
            <a:avLst/>
          </a:prstGeom>
          <a:solidFill>
            <a:schemeClr val="accent4">
              <a:lumMod val="20000"/>
              <a:lumOff val="80000"/>
            </a:schemeClr>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GB" dirty="0">
                <a:solidFill>
                  <a:schemeClr val="tx1"/>
                </a:solidFill>
              </a:rPr>
              <a:t>Main memory (RAM)</a:t>
            </a:r>
          </a:p>
        </p:txBody>
      </p:sp>
      <p:graphicFrame>
        <p:nvGraphicFramePr>
          <p:cNvPr id="2" name="Table 32">
            <a:extLst>
              <a:ext uri="{FF2B5EF4-FFF2-40B4-BE49-F238E27FC236}">
                <a16:creationId xmlns:a16="http://schemas.microsoft.com/office/drawing/2014/main" id="{8E9FC54D-B26B-406A-BF90-1A835E0701E6}"/>
              </a:ext>
            </a:extLst>
          </p:cNvPr>
          <p:cNvGraphicFramePr>
            <a:graphicFrameLocks noGrp="1"/>
          </p:cNvGraphicFramePr>
          <p:nvPr>
            <p:extLst>
              <p:ext uri="{D42A27DB-BD31-4B8C-83A1-F6EECF244321}">
                <p14:modId xmlns:p14="http://schemas.microsoft.com/office/powerpoint/2010/main" val="2578645062"/>
              </p:ext>
            </p:extLst>
          </p:nvPr>
        </p:nvGraphicFramePr>
        <p:xfrm>
          <a:off x="4825649" y="1658897"/>
          <a:ext cx="2239767" cy="3774440"/>
        </p:xfrm>
        <a:graphic>
          <a:graphicData uri="http://schemas.openxmlformats.org/drawingml/2006/table">
            <a:tbl>
              <a:tblPr firstRow="1" bandRow="1">
                <a:tableStyleId>{21E4AEA4-8DFA-4A89-87EB-49C32662AFE0}</a:tableStyleId>
              </a:tblPr>
              <a:tblGrid>
                <a:gridCol w="1037691">
                  <a:extLst>
                    <a:ext uri="{9D8B030D-6E8A-4147-A177-3AD203B41FA5}">
                      <a16:colId xmlns:a16="http://schemas.microsoft.com/office/drawing/2014/main" val="3614015831"/>
                    </a:ext>
                  </a:extLst>
                </a:gridCol>
                <a:gridCol w="1202076">
                  <a:extLst>
                    <a:ext uri="{9D8B030D-6E8A-4147-A177-3AD203B41FA5}">
                      <a16:colId xmlns:a16="http://schemas.microsoft.com/office/drawing/2014/main" val="3794086153"/>
                    </a:ext>
                  </a:extLst>
                </a:gridCol>
              </a:tblGrid>
              <a:tr h="370840">
                <a:tc>
                  <a:txBody>
                    <a:bodyPr/>
                    <a:lstStyle/>
                    <a:p>
                      <a:pPr algn="ctr"/>
                      <a:r>
                        <a:rPr lang="en-GB" dirty="0"/>
                        <a:t>Address</a:t>
                      </a:r>
                    </a:p>
                  </a:txBody>
                  <a:tcPr/>
                </a:tc>
                <a:tc>
                  <a:txBody>
                    <a:bodyPr/>
                    <a:lstStyle/>
                    <a:p>
                      <a:pPr algn="ctr"/>
                      <a:r>
                        <a:rPr lang="en-GB" dirty="0"/>
                        <a:t>Data</a:t>
                      </a:r>
                    </a:p>
                  </a:txBody>
                  <a:tcPr/>
                </a:tc>
                <a:extLst>
                  <a:ext uri="{0D108BD9-81ED-4DB2-BD59-A6C34878D82A}">
                    <a16:rowId xmlns:a16="http://schemas.microsoft.com/office/drawing/2014/main" val="1704211108"/>
                  </a:ext>
                </a:extLst>
              </a:tr>
              <a:tr h="370840">
                <a:tc>
                  <a:txBody>
                    <a:bodyPr/>
                    <a:lstStyle/>
                    <a:p>
                      <a:pPr algn="ctr"/>
                      <a:r>
                        <a:rPr lang="en-GB" dirty="0"/>
                        <a:t>1</a:t>
                      </a:r>
                    </a:p>
                  </a:txBody>
                  <a:tcPr/>
                </a:tc>
                <a:tc>
                  <a:txBody>
                    <a:bodyPr/>
                    <a:lstStyle/>
                    <a:p>
                      <a:pPr algn="ctr"/>
                      <a:r>
                        <a:rPr lang="en-GB" dirty="0"/>
                        <a:t>Load address 5</a:t>
                      </a:r>
                    </a:p>
                  </a:txBody>
                  <a:tcPr>
                    <a:solidFill>
                      <a:schemeClr val="accent4"/>
                    </a:solidFill>
                  </a:tcPr>
                </a:tc>
                <a:extLst>
                  <a:ext uri="{0D108BD9-81ED-4DB2-BD59-A6C34878D82A}">
                    <a16:rowId xmlns:a16="http://schemas.microsoft.com/office/drawing/2014/main" val="74178786"/>
                  </a:ext>
                </a:extLst>
              </a:tr>
              <a:tr h="370840">
                <a:tc>
                  <a:txBody>
                    <a:bodyPr/>
                    <a:lstStyle/>
                    <a:p>
                      <a:pPr algn="ctr"/>
                      <a:r>
                        <a:rPr lang="en-GB" dirty="0"/>
                        <a:t>2</a:t>
                      </a:r>
                    </a:p>
                  </a:txBody>
                  <a:tcPr/>
                </a:tc>
                <a:tc>
                  <a:txBody>
                    <a:bodyPr/>
                    <a:lstStyle/>
                    <a:p>
                      <a:pPr algn="ctr"/>
                      <a:r>
                        <a:rPr lang="en-GB" dirty="0"/>
                        <a:t>Add address 6</a:t>
                      </a:r>
                    </a:p>
                  </a:txBody>
                  <a:tcPr>
                    <a:solidFill>
                      <a:schemeClr val="accent4"/>
                    </a:solidFill>
                  </a:tcPr>
                </a:tc>
                <a:extLst>
                  <a:ext uri="{0D108BD9-81ED-4DB2-BD59-A6C34878D82A}">
                    <a16:rowId xmlns:a16="http://schemas.microsoft.com/office/drawing/2014/main" val="1752188674"/>
                  </a:ext>
                </a:extLst>
              </a:tr>
              <a:tr h="370840">
                <a:tc>
                  <a:txBody>
                    <a:bodyPr/>
                    <a:lstStyle/>
                    <a:p>
                      <a:pPr algn="ctr"/>
                      <a:r>
                        <a:rPr lang="en-GB" dirty="0"/>
                        <a:t>3</a:t>
                      </a:r>
                    </a:p>
                  </a:txBody>
                  <a:tcPr/>
                </a:tc>
                <a:tc>
                  <a:txBody>
                    <a:bodyPr/>
                    <a:lstStyle/>
                    <a:p>
                      <a:pPr algn="ctr"/>
                      <a:r>
                        <a:rPr lang="en-GB" dirty="0"/>
                        <a:t>Store in address 6</a:t>
                      </a:r>
                    </a:p>
                  </a:txBody>
                  <a:tcPr>
                    <a:solidFill>
                      <a:schemeClr val="accent4"/>
                    </a:solidFill>
                  </a:tcPr>
                </a:tc>
                <a:extLst>
                  <a:ext uri="{0D108BD9-81ED-4DB2-BD59-A6C34878D82A}">
                    <a16:rowId xmlns:a16="http://schemas.microsoft.com/office/drawing/2014/main" val="2843260329"/>
                  </a:ext>
                </a:extLst>
              </a:tr>
              <a:tr h="370840">
                <a:tc>
                  <a:txBody>
                    <a:bodyPr/>
                    <a:lstStyle/>
                    <a:p>
                      <a:pPr algn="ctr"/>
                      <a:r>
                        <a:rPr lang="en-GB" dirty="0"/>
                        <a:t>4</a:t>
                      </a:r>
                    </a:p>
                  </a:txBody>
                  <a:tcPr/>
                </a:tc>
                <a:tc>
                  <a:txBody>
                    <a:bodyPr/>
                    <a:lstStyle/>
                    <a:p>
                      <a:pPr algn="ctr"/>
                      <a:r>
                        <a:rPr lang="en-GB" dirty="0"/>
                        <a:t>End</a:t>
                      </a:r>
                    </a:p>
                  </a:txBody>
                  <a:tcPr>
                    <a:solidFill>
                      <a:schemeClr val="accent4"/>
                    </a:solidFill>
                  </a:tcPr>
                </a:tc>
                <a:extLst>
                  <a:ext uri="{0D108BD9-81ED-4DB2-BD59-A6C34878D82A}">
                    <a16:rowId xmlns:a16="http://schemas.microsoft.com/office/drawing/2014/main" val="4027267220"/>
                  </a:ext>
                </a:extLst>
              </a:tr>
              <a:tr h="370840">
                <a:tc>
                  <a:txBody>
                    <a:bodyPr/>
                    <a:lstStyle/>
                    <a:p>
                      <a:pPr algn="ctr"/>
                      <a:r>
                        <a:rPr lang="en-GB" dirty="0"/>
                        <a:t>5</a:t>
                      </a:r>
                    </a:p>
                  </a:txBody>
                  <a:tcPr/>
                </a:tc>
                <a:tc>
                  <a:txBody>
                    <a:bodyPr/>
                    <a:lstStyle/>
                    <a:p>
                      <a:pPr algn="ctr"/>
                      <a:r>
                        <a:rPr lang="en-GB" dirty="0"/>
                        <a:t>23</a:t>
                      </a:r>
                    </a:p>
                  </a:txBody>
                  <a:tcPr>
                    <a:solidFill>
                      <a:schemeClr val="accent4"/>
                    </a:solidFill>
                  </a:tcPr>
                </a:tc>
                <a:extLst>
                  <a:ext uri="{0D108BD9-81ED-4DB2-BD59-A6C34878D82A}">
                    <a16:rowId xmlns:a16="http://schemas.microsoft.com/office/drawing/2014/main" val="2887340781"/>
                  </a:ext>
                </a:extLst>
              </a:tr>
              <a:tr h="370840">
                <a:tc>
                  <a:txBody>
                    <a:bodyPr/>
                    <a:lstStyle/>
                    <a:p>
                      <a:pPr algn="ctr"/>
                      <a:r>
                        <a:rPr lang="en-GB" dirty="0"/>
                        <a:t>6</a:t>
                      </a:r>
                    </a:p>
                  </a:txBody>
                  <a:tcPr/>
                </a:tc>
                <a:tc>
                  <a:txBody>
                    <a:bodyPr/>
                    <a:lstStyle/>
                    <a:p>
                      <a:pPr algn="ctr"/>
                      <a:r>
                        <a:rPr lang="en-GB" dirty="0"/>
                        <a:t>12</a:t>
                      </a:r>
                    </a:p>
                  </a:txBody>
                  <a:tcPr>
                    <a:solidFill>
                      <a:schemeClr val="accent4"/>
                    </a:solidFill>
                  </a:tcPr>
                </a:tc>
                <a:extLst>
                  <a:ext uri="{0D108BD9-81ED-4DB2-BD59-A6C34878D82A}">
                    <a16:rowId xmlns:a16="http://schemas.microsoft.com/office/drawing/2014/main" val="3808870730"/>
                  </a:ext>
                </a:extLst>
              </a:tr>
              <a:tr h="370840">
                <a:tc gridSpan="2">
                  <a:txBody>
                    <a:bodyPr/>
                    <a:lstStyle/>
                    <a:p>
                      <a:endParaRPr lang="en-GB" dirty="0"/>
                    </a:p>
                  </a:txBody>
                  <a:tcPr>
                    <a:solidFill>
                      <a:schemeClr val="accent2"/>
                    </a:solidFill>
                  </a:tcPr>
                </a:tc>
                <a:tc hMerge="1">
                  <a:txBody>
                    <a:bodyPr/>
                    <a:lstStyle/>
                    <a:p>
                      <a:endParaRPr lang="en-GB" dirty="0"/>
                    </a:p>
                  </a:txBody>
                  <a:tcPr/>
                </a:tc>
                <a:extLst>
                  <a:ext uri="{0D108BD9-81ED-4DB2-BD59-A6C34878D82A}">
                    <a16:rowId xmlns:a16="http://schemas.microsoft.com/office/drawing/2014/main" val="453354336"/>
                  </a:ext>
                </a:extLst>
              </a:tr>
            </a:tbl>
          </a:graphicData>
        </a:graphic>
      </p:graphicFrame>
      <p:grpSp>
        <p:nvGrpSpPr>
          <p:cNvPr id="40" name="Group 39">
            <a:extLst>
              <a:ext uri="{FF2B5EF4-FFF2-40B4-BE49-F238E27FC236}">
                <a16:creationId xmlns:a16="http://schemas.microsoft.com/office/drawing/2014/main" id="{47E1A734-AE40-47F7-852D-7A031D45B524}"/>
              </a:ext>
            </a:extLst>
          </p:cNvPr>
          <p:cNvGrpSpPr/>
          <p:nvPr/>
        </p:nvGrpSpPr>
        <p:grpSpPr>
          <a:xfrm>
            <a:off x="3084475" y="3200784"/>
            <a:ext cx="1472844" cy="809946"/>
            <a:chOff x="5089451" y="3108977"/>
            <a:chExt cx="2714502" cy="809946"/>
          </a:xfrm>
        </p:grpSpPr>
        <p:cxnSp>
          <p:nvCxnSpPr>
            <p:cNvPr id="37" name="Straight Arrow Connector 36">
              <a:extLst>
                <a:ext uri="{FF2B5EF4-FFF2-40B4-BE49-F238E27FC236}">
                  <a16:creationId xmlns:a16="http://schemas.microsoft.com/office/drawing/2014/main" id="{C6AEA4D1-72B5-4D9F-BB16-A0F6FA61BE1E}"/>
                </a:ext>
              </a:extLst>
            </p:cNvPr>
            <p:cNvCxnSpPr>
              <a:cxnSpLocks/>
            </p:cNvCxnSpPr>
            <p:nvPr/>
          </p:nvCxnSpPr>
          <p:spPr>
            <a:xfrm>
              <a:off x="5089451" y="3108977"/>
              <a:ext cx="2714502" cy="0"/>
            </a:xfrm>
            <a:prstGeom prst="straightConnector1">
              <a:avLst/>
            </a:prstGeom>
            <a:ln w="5080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39" name="Straight Arrow Connector 38">
              <a:extLst>
                <a:ext uri="{FF2B5EF4-FFF2-40B4-BE49-F238E27FC236}">
                  <a16:creationId xmlns:a16="http://schemas.microsoft.com/office/drawing/2014/main" id="{D6D8C3F4-936D-45F6-A054-B9BEF87A8BFB}"/>
                </a:ext>
              </a:extLst>
            </p:cNvPr>
            <p:cNvCxnSpPr>
              <a:cxnSpLocks/>
            </p:cNvCxnSpPr>
            <p:nvPr/>
          </p:nvCxnSpPr>
          <p:spPr>
            <a:xfrm>
              <a:off x="5089451" y="3918923"/>
              <a:ext cx="2714502" cy="0"/>
            </a:xfrm>
            <a:prstGeom prst="straightConnector1">
              <a:avLst/>
            </a:prstGeom>
            <a:ln w="50800">
              <a:solidFill>
                <a:srgbClr val="C00000"/>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grpSp>
      <p:sp>
        <p:nvSpPr>
          <p:cNvPr id="26" name="Rectangle 25">
            <a:extLst>
              <a:ext uri="{FF2B5EF4-FFF2-40B4-BE49-F238E27FC236}">
                <a16:creationId xmlns:a16="http://schemas.microsoft.com/office/drawing/2014/main" id="{C46D9FF2-5779-40E2-9E69-4B7460F992D7}"/>
              </a:ext>
            </a:extLst>
          </p:cNvPr>
          <p:cNvSpPr/>
          <p:nvPr/>
        </p:nvSpPr>
        <p:spPr>
          <a:xfrm>
            <a:off x="8063188" y="1131152"/>
            <a:ext cx="3998674" cy="968278"/>
          </a:xfrm>
          <a:prstGeom prst="rect">
            <a:avLst/>
          </a:prstGeom>
        </p:spPr>
        <p:txBody>
          <a:bodyPr wrap="square">
            <a:spAutoFit/>
          </a:bodyPr>
          <a:lstStyle/>
          <a:p>
            <a:pPr>
              <a:lnSpc>
                <a:spcPct val="107000"/>
              </a:lnSpc>
              <a:spcAft>
                <a:spcPts val="800"/>
              </a:spcAft>
            </a:pPr>
            <a:r>
              <a:rPr lang="en-GB" dirty="0">
                <a:latin typeface="Calibri" panose="020F0502020204030204" pitchFamily="34" charset="0"/>
                <a:ea typeface="Calibri" panose="020F0502020204030204" pitchFamily="34" charset="0"/>
                <a:cs typeface="Times New Roman" panose="02020603050405020304" pitchFamily="18" charset="0"/>
              </a:rPr>
              <a:t>Notice how both instruction data </a:t>
            </a:r>
            <a:r>
              <a:rPr lang="en-GB" i="1" dirty="0">
                <a:latin typeface="Calibri" panose="020F0502020204030204" pitchFamily="34" charset="0"/>
                <a:ea typeface="Calibri" panose="020F0502020204030204" pitchFamily="34" charset="0"/>
                <a:cs typeface="Times New Roman" panose="02020603050405020304" pitchFamily="18" charset="0"/>
              </a:rPr>
              <a:t>and</a:t>
            </a:r>
            <a:r>
              <a:rPr lang="en-GB" dirty="0">
                <a:latin typeface="Calibri" panose="020F0502020204030204" pitchFamily="34" charset="0"/>
                <a:ea typeface="Calibri" panose="020F0502020204030204" pitchFamily="34" charset="0"/>
                <a:cs typeface="Times New Roman" panose="02020603050405020304" pitchFamily="18" charset="0"/>
              </a:rPr>
              <a:t> program data are stored in the same memory in binary form.</a:t>
            </a:r>
          </a:p>
        </p:txBody>
      </p:sp>
      <p:sp>
        <p:nvSpPr>
          <p:cNvPr id="3" name="Rectangle 2">
            <a:extLst>
              <a:ext uri="{FF2B5EF4-FFF2-40B4-BE49-F238E27FC236}">
                <a16:creationId xmlns:a16="http://schemas.microsoft.com/office/drawing/2014/main" id="{E71E57D4-EE98-4792-B48E-B636FE699AD3}"/>
              </a:ext>
            </a:extLst>
          </p:cNvPr>
          <p:cNvSpPr/>
          <p:nvPr/>
        </p:nvSpPr>
        <p:spPr>
          <a:xfrm>
            <a:off x="4695825" y="1943100"/>
            <a:ext cx="2505805" cy="809625"/>
          </a:xfrm>
          <a:prstGeom prst="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5" name="Straight Connector 4">
            <a:extLst>
              <a:ext uri="{FF2B5EF4-FFF2-40B4-BE49-F238E27FC236}">
                <a16:creationId xmlns:a16="http://schemas.microsoft.com/office/drawing/2014/main" id="{8E02D079-48FD-49A4-8867-FFF3696F0E21}"/>
              </a:ext>
            </a:extLst>
          </p:cNvPr>
          <p:cNvCxnSpPr>
            <a:cxnSpLocks/>
          </p:cNvCxnSpPr>
          <p:nvPr/>
        </p:nvCxnSpPr>
        <p:spPr>
          <a:xfrm>
            <a:off x="7185021" y="2347913"/>
            <a:ext cx="861557" cy="0"/>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2861B35F-06B5-48BF-8D7A-20F5B0AB9A7F}"/>
              </a:ext>
            </a:extLst>
          </p:cNvPr>
          <p:cNvCxnSpPr/>
          <p:nvPr/>
        </p:nvCxnSpPr>
        <p:spPr>
          <a:xfrm>
            <a:off x="8025087" y="2347913"/>
            <a:ext cx="0" cy="1662817"/>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4B1C4507-4B5A-4FBD-8C55-99B179C6DD4A}"/>
              </a:ext>
            </a:extLst>
          </p:cNvPr>
          <p:cNvCxnSpPr>
            <a:cxnSpLocks/>
          </p:cNvCxnSpPr>
          <p:nvPr/>
        </p:nvCxnSpPr>
        <p:spPr>
          <a:xfrm flipH="1">
            <a:off x="1884553" y="4010730"/>
            <a:ext cx="6172658" cy="0"/>
          </a:xfrm>
          <a:prstGeom prst="line">
            <a:avLst/>
          </a:prstGeom>
          <a:ln w="57150">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41" name="Rectangle 40">
            <a:extLst>
              <a:ext uri="{FF2B5EF4-FFF2-40B4-BE49-F238E27FC236}">
                <a16:creationId xmlns:a16="http://schemas.microsoft.com/office/drawing/2014/main" id="{E11CA19B-0A33-4C6E-8C40-9ADDD5A47281}"/>
              </a:ext>
            </a:extLst>
          </p:cNvPr>
          <p:cNvSpPr/>
          <p:nvPr/>
        </p:nvSpPr>
        <p:spPr>
          <a:xfrm>
            <a:off x="666052" y="4843426"/>
            <a:ext cx="1087357" cy="638464"/>
          </a:xfrm>
          <a:prstGeom prst="rect">
            <a:avLst/>
          </a:prstGeom>
          <a:solidFill>
            <a:schemeClr val="bg1"/>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100" b="1" dirty="0">
                <a:solidFill>
                  <a:schemeClr val="tx1"/>
                </a:solidFill>
              </a:rPr>
              <a:t>Cache</a:t>
            </a:r>
          </a:p>
        </p:txBody>
      </p:sp>
      <p:pic>
        <p:nvPicPr>
          <p:cNvPr id="42" name="Picture 41">
            <a:extLst>
              <a:ext uri="{FF2B5EF4-FFF2-40B4-BE49-F238E27FC236}">
                <a16:creationId xmlns:a16="http://schemas.microsoft.com/office/drawing/2014/main" id="{4BC612C9-B0B1-44AE-8CDD-6153A0CDE168}"/>
              </a:ext>
            </a:extLst>
          </p:cNvPr>
          <p:cNvPicPr>
            <a:picLocks noChangeAspect="1"/>
          </p:cNvPicPr>
          <p:nvPr/>
        </p:nvPicPr>
        <p:blipFill>
          <a:blip r:embed="rId2"/>
          <a:stretch>
            <a:fillRect/>
          </a:stretch>
        </p:blipFill>
        <p:spPr>
          <a:xfrm>
            <a:off x="2301155" y="4826252"/>
            <a:ext cx="641729" cy="638464"/>
          </a:xfrm>
          <a:prstGeom prst="rect">
            <a:avLst/>
          </a:prstGeom>
        </p:spPr>
      </p:pic>
      <p:sp>
        <p:nvSpPr>
          <p:cNvPr id="43" name="Rectangle 42">
            <a:extLst>
              <a:ext uri="{FF2B5EF4-FFF2-40B4-BE49-F238E27FC236}">
                <a16:creationId xmlns:a16="http://schemas.microsoft.com/office/drawing/2014/main" id="{6CD9F65D-A9D6-4FAA-88A5-CBEEF8EBE3FF}"/>
              </a:ext>
            </a:extLst>
          </p:cNvPr>
          <p:cNvSpPr/>
          <p:nvPr/>
        </p:nvSpPr>
        <p:spPr>
          <a:xfrm>
            <a:off x="2109112" y="4843426"/>
            <a:ext cx="1074483" cy="638464"/>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100" b="1" dirty="0">
                <a:solidFill>
                  <a:schemeClr val="tx1"/>
                </a:solidFill>
              </a:rPr>
              <a:t>Clock</a:t>
            </a:r>
          </a:p>
        </p:txBody>
      </p:sp>
      <p:grpSp>
        <p:nvGrpSpPr>
          <p:cNvPr id="33" name="Group 32">
            <a:extLst>
              <a:ext uri="{FF2B5EF4-FFF2-40B4-BE49-F238E27FC236}">
                <a16:creationId xmlns:a16="http://schemas.microsoft.com/office/drawing/2014/main" id="{EE9F6B19-6310-4E53-A012-B4AF7836A83A}"/>
              </a:ext>
            </a:extLst>
          </p:cNvPr>
          <p:cNvGrpSpPr/>
          <p:nvPr/>
        </p:nvGrpSpPr>
        <p:grpSpPr>
          <a:xfrm flipV="1">
            <a:off x="1230797" y="4490796"/>
            <a:ext cx="1449572" cy="683607"/>
            <a:chOff x="1202957" y="1882152"/>
            <a:chExt cx="1449572" cy="683607"/>
          </a:xfrm>
        </p:grpSpPr>
        <p:cxnSp>
          <p:nvCxnSpPr>
            <p:cNvPr id="35" name="Straight Arrow Connector 34">
              <a:extLst>
                <a:ext uri="{FF2B5EF4-FFF2-40B4-BE49-F238E27FC236}">
                  <a16:creationId xmlns:a16="http://schemas.microsoft.com/office/drawing/2014/main" id="{64931FDF-971F-469D-A244-1DB8403F9C92}"/>
                </a:ext>
              </a:extLst>
            </p:cNvPr>
            <p:cNvCxnSpPr>
              <a:cxnSpLocks/>
            </p:cNvCxnSpPr>
            <p:nvPr/>
          </p:nvCxnSpPr>
          <p:spPr>
            <a:xfrm flipV="1">
              <a:off x="1202957" y="2211632"/>
              <a:ext cx="0" cy="354127"/>
            </a:xfrm>
            <a:prstGeom prst="straightConnector1">
              <a:avLst/>
            </a:prstGeom>
            <a:ln w="50800">
              <a:solidFill>
                <a:srgbClr val="C00000"/>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454E634E-6F0F-4205-AEE2-911BC3EE35DE}"/>
                </a:ext>
              </a:extLst>
            </p:cNvPr>
            <p:cNvCxnSpPr>
              <a:cxnSpLocks/>
            </p:cNvCxnSpPr>
            <p:nvPr/>
          </p:nvCxnSpPr>
          <p:spPr>
            <a:xfrm flipV="1">
              <a:off x="2652529" y="2211632"/>
              <a:ext cx="0" cy="354127"/>
            </a:xfrm>
            <a:prstGeom prst="straightConnector1">
              <a:avLst/>
            </a:prstGeom>
            <a:ln w="50800">
              <a:solidFill>
                <a:srgbClr val="C00000"/>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8" name="Straight Arrow Connector 37">
              <a:extLst>
                <a:ext uri="{FF2B5EF4-FFF2-40B4-BE49-F238E27FC236}">
                  <a16:creationId xmlns:a16="http://schemas.microsoft.com/office/drawing/2014/main" id="{4DE46E74-0A54-4923-9102-5559B4DA9F02}"/>
                </a:ext>
              </a:extLst>
            </p:cNvPr>
            <p:cNvCxnSpPr>
              <a:cxnSpLocks/>
            </p:cNvCxnSpPr>
            <p:nvPr/>
          </p:nvCxnSpPr>
          <p:spPr>
            <a:xfrm rot="5400000" flipV="1">
              <a:off x="1897902" y="1705088"/>
              <a:ext cx="0" cy="354127"/>
            </a:xfrm>
            <a:prstGeom prst="straightConnector1">
              <a:avLst/>
            </a:prstGeom>
            <a:ln w="50800">
              <a:solidFill>
                <a:srgbClr val="C00000"/>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754784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97F5328-60A8-4150-89ED-2AED3C67E0EE}"/>
              </a:ext>
            </a:extLst>
          </p:cNvPr>
          <p:cNvSpPr/>
          <p:nvPr/>
        </p:nvSpPr>
        <p:spPr>
          <a:xfrm>
            <a:off x="176565" y="523174"/>
            <a:ext cx="3556615" cy="470000"/>
          </a:xfrm>
          <a:prstGeom prst="rect">
            <a:avLst/>
          </a:prstGeom>
        </p:spPr>
        <p:txBody>
          <a:bodyPr wrap="none">
            <a:spAutoFit/>
          </a:bodyPr>
          <a:lstStyle/>
          <a:p>
            <a:pPr>
              <a:lnSpc>
                <a:spcPct val="107000"/>
              </a:lnSpc>
              <a:spcAft>
                <a:spcPts val="800"/>
              </a:spcAft>
            </a:pPr>
            <a:r>
              <a:rPr lang="en-GB" sz="2400" dirty="0">
                <a:solidFill>
                  <a:schemeClr val="accent2">
                    <a:lumMod val="75000"/>
                  </a:schemeClr>
                </a:solidFill>
                <a:latin typeface="Calibri" panose="020F0502020204030204" pitchFamily="34" charset="0"/>
                <a:ea typeface="Calibri" panose="020F0502020204030204" pitchFamily="34" charset="0"/>
                <a:cs typeface="Times New Roman" panose="02020603050405020304" pitchFamily="18" charset="0"/>
              </a:rPr>
              <a:t>Von Neumann architecture</a:t>
            </a:r>
            <a:endParaRPr lang="en-GB" sz="1200" dirty="0">
              <a:solidFill>
                <a:schemeClr val="accent2">
                  <a:lumMod val="75000"/>
                </a:schemeClr>
              </a:solidFill>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0" name="Rectangle 9">
            <a:extLst>
              <a:ext uri="{FF2B5EF4-FFF2-40B4-BE49-F238E27FC236}">
                <a16:creationId xmlns:a16="http://schemas.microsoft.com/office/drawing/2014/main" id="{14E1E4FB-B01B-4CAE-9EFC-8635BEFA9DEB}"/>
              </a:ext>
            </a:extLst>
          </p:cNvPr>
          <p:cNvSpPr/>
          <p:nvPr/>
        </p:nvSpPr>
        <p:spPr>
          <a:xfrm>
            <a:off x="276550" y="1187335"/>
            <a:ext cx="3237538" cy="4483337"/>
          </a:xfrm>
          <a:prstGeom prst="rect">
            <a:avLst/>
          </a:prstGeom>
          <a:solidFill>
            <a:schemeClr val="accent4">
              <a:lumMod val="20000"/>
              <a:lumOff val="80000"/>
            </a:schemeClr>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1872000" tIns="1260000" rtlCol="0" anchor="t" anchorCtr="0"/>
          <a:lstStyle/>
          <a:p>
            <a:pPr algn="ctr"/>
            <a:endParaRPr lang="en-GB" dirty="0">
              <a:solidFill>
                <a:schemeClr val="tx1"/>
              </a:solidFill>
            </a:endParaRPr>
          </a:p>
        </p:txBody>
      </p:sp>
      <p:sp>
        <p:nvSpPr>
          <p:cNvPr id="12" name="Rectangle 11">
            <a:extLst>
              <a:ext uri="{FF2B5EF4-FFF2-40B4-BE49-F238E27FC236}">
                <a16:creationId xmlns:a16="http://schemas.microsoft.com/office/drawing/2014/main" id="{A3C8042A-1D6E-4D8E-9615-EAD11E9612BE}"/>
              </a:ext>
            </a:extLst>
          </p:cNvPr>
          <p:cNvSpPr/>
          <p:nvPr/>
        </p:nvSpPr>
        <p:spPr>
          <a:xfrm>
            <a:off x="475549" y="1265904"/>
            <a:ext cx="2879050" cy="4338771"/>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GB" sz="1100" b="1" dirty="0">
                <a:solidFill>
                  <a:schemeClr val="tx1"/>
                </a:solidFill>
              </a:rPr>
              <a:t>Central processing unit (CPU)</a:t>
            </a:r>
          </a:p>
        </p:txBody>
      </p:sp>
      <p:sp>
        <p:nvSpPr>
          <p:cNvPr id="17" name="Rectangle 16">
            <a:extLst>
              <a:ext uri="{FF2B5EF4-FFF2-40B4-BE49-F238E27FC236}">
                <a16:creationId xmlns:a16="http://schemas.microsoft.com/office/drawing/2014/main" id="{9DC6B7E0-027D-4EF6-AD4D-DC5D9B452BE9}"/>
              </a:ext>
            </a:extLst>
          </p:cNvPr>
          <p:cNvSpPr/>
          <p:nvPr/>
        </p:nvSpPr>
        <p:spPr>
          <a:xfrm>
            <a:off x="666934" y="1507626"/>
            <a:ext cx="1081825" cy="708338"/>
          </a:xfrm>
          <a:prstGeom prst="rect">
            <a:avLst/>
          </a:prstGeom>
          <a:solidFill>
            <a:schemeClr val="bg1"/>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100" dirty="0">
                <a:solidFill>
                  <a:schemeClr val="tx1"/>
                </a:solidFill>
              </a:rPr>
              <a:t>Control</a:t>
            </a:r>
          </a:p>
          <a:p>
            <a:pPr algn="ctr"/>
            <a:r>
              <a:rPr lang="en-GB" sz="1100" dirty="0">
                <a:solidFill>
                  <a:schemeClr val="tx1"/>
                </a:solidFill>
              </a:rPr>
              <a:t>unit (CU)</a:t>
            </a:r>
          </a:p>
        </p:txBody>
      </p:sp>
      <p:sp>
        <p:nvSpPr>
          <p:cNvPr id="18" name="Rectangle 17">
            <a:extLst>
              <a:ext uri="{FF2B5EF4-FFF2-40B4-BE49-F238E27FC236}">
                <a16:creationId xmlns:a16="http://schemas.microsoft.com/office/drawing/2014/main" id="{038595A0-9F1C-45FA-AD5B-9A2F795EC7C6}"/>
              </a:ext>
            </a:extLst>
          </p:cNvPr>
          <p:cNvSpPr/>
          <p:nvPr/>
        </p:nvSpPr>
        <p:spPr>
          <a:xfrm>
            <a:off x="2102652" y="1507626"/>
            <a:ext cx="1081825" cy="708338"/>
          </a:xfrm>
          <a:prstGeom prst="rect">
            <a:avLst/>
          </a:prstGeom>
          <a:solidFill>
            <a:schemeClr val="bg1"/>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100" dirty="0">
                <a:solidFill>
                  <a:schemeClr val="tx1"/>
                </a:solidFill>
              </a:rPr>
              <a:t>Arithmetic logic unit (ALU)</a:t>
            </a:r>
          </a:p>
        </p:txBody>
      </p:sp>
      <p:sp>
        <p:nvSpPr>
          <p:cNvPr id="19" name="Rectangle 18">
            <a:extLst>
              <a:ext uri="{FF2B5EF4-FFF2-40B4-BE49-F238E27FC236}">
                <a16:creationId xmlns:a16="http://schemas.microsoft.com/office/drawing/2014/main" id="{EF42D0C0-056E-48A9-8169-6B9FEB54F46C}"/>
              </a:ext>
            </a:extLst>
          </p:cNvPr>
          <p:cNvSpPr/>
          <p:nvPr/>
        </p:nvSpPr>
        <p:spPr>
          <a:xfrm>
            <a:off x="666934" y="2560734"/>
            <a:ext cx="2517543" cy="1935087"/>
          </a:xfrm>
          <a:prstGeom prst="rect">
            <a:avLst/>
          </a:prstGeom>
          <a:solidFill>
            <a:schemeClr val="accent2">
              <a:lumMod val="40000"/>
              <a:lumOff val="60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GB" sz="1100" b="1">
                <a:solidFill>
                  <a:schemeClr val="tx1"/>
                </a:solidFill>
              </a:rPr>
              <a:t>Register</a:t>
            </a:r>
            <a:endParaRPr lang="en-GB" sz="1100" b="1" dirty="0">
              <a:solidFill>
                <a:schemeClr val="tx1"/>
              </a:solidFill>
            </a:endParaRPr>
          </a:p>
        </p:txBody>
      </p:sp>
      <p:sp>
        <p:nvSpPr>
          <p:cNvPr id="20" name="Rectangle 19">
            <a:extLst>
              <a:ext uri="{FF2B5EF4-FFF2-40B4-BE49-F238E27FC236}">
                <a16:creationId xmlns:a16="http://schemas.microsoft.com/office/drawing/2014/main" id="{D5772A53-90DA-4E8B-B6E6-310B2E9375C5}"/>
              </a:ext>
            </a:extLst>
          </p:cNvPr>
          <p:cNvSpPr/>
          <p:nvPr/>
        </p:nvSpPr>
        <p:spPr>
          <a:xfrm>
            <a:off x="1996349" y="2840551"/>
            <a:ext cx="1081825" cy="708338"/>
          </a:xfrm>
          <a:prstGeom prst="rect">
            <a:avLst/>
          </a:prstGeom>
          <a:solidFill>
            <a:schemeClr val="bg1"/>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100">
                <a:solidFill>
                  <a:schemeClr val="tx1"/>
                </a:solidFill>
              </a:rPr>
              <a:t>Memory address register </a:t>
            </a:r>
            <a:r>
              <a:rPr lang="en-GB" sz="1100" dirty="0">
                <a:solidFill>
                  <a:schemeClr val="tx1"/>
                </a:solidFill>
              </a:rPr>
              <a:t>(MAR)</a:t>
            </a:r>
          </a:p>
        </p:txBody>
      </p:sp>
      <p:sp>
        <p:nvSpPr>
          <p:cNvPr id="21" name="Rectangle 20">
            <a:extLst>
              <a:ext uri="{FF2B5EF4-FFF2-40B4-BE49-F238E27FC236}">
                <a16:creationId xmlns:a16="http://schemas.microsoft.com/office/drawing/2014/main" id="{E40AA452-ABF6-4935-80C2-C940C436FB9D}"/>
              </a:ext>
            </a:extLst>
          </p:cNvPr>
          <p:cNvSpPr/>
          <p:nvPr/>
        </p:nvSpPr>
        <p:spPr>
          <a:xfrm>
            <a:off x="1993887" y="3617025"/>
            <a:ext cx="1081825" cy="708338"/>
          </a:xfrm>
          <a:prstGeom prst="rect">
            <a:avLst/>
          </a:prstGeom>
          <a:solidFill>
            <a:schemeClr val="bg1"/>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100" dirty="0">
                <a:solidFill>
                  <a:schemeClr val="tx1"/>
                </a:solidFill>
              </a:rPr>
              <a:t>Memory data register (MDR)</a:t>
            </a:r>
          </a:p>
        </p:txBody>
      </p:sp>
      <p:sp>
        <p:nvSpPr>
          <p:cNvPr id="22" name="Rectangle 21">
            <a:extLst>
              <a:ext uri="{FF2B5EF4-FFF2-40B4-BE49-F238E27FC236}">
                <a16:creationId xmlns:a16="http://schemas.microsoft.com/office/drawing/2014/main" id="{934BCE69-9910-4FFF-A932-3435BDF3A78C}"/>
              </a:ext>
            </a:extLst>
          </p:cNvPr>
          <p:cNvSpPr/>
          <p:nvPr/>
        </p:nvSpPr>
        <p:spPr>
          <a:xfrm>
            <a:off x="755539" y="3623242"/>
            <a:ext cx="1081825" cy="708338"/>
          </a:xfrm>
          <a:prstGeom prst="rect">
            <a:avLst/>
          </a:prstGeom>
          <a:solidFill>
            <a:schemeClr val="accent4"/>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100" dirty="0">
                <a:solidFill>
                  <a:schemeClr val="tx1"/>
                </a:solidFill>
              </a:rPr>
              <a:t>Program counter (PC)</a:t>
            </a:r>
          </a:p>
        </p:txBody>
      </p:sp>
      <p:sp>
        <p:nvSpPr>
          <p:cNvPr id="23" name="Rectangle 22">
            <a:extLst>
              <a:ext uri="{FF2B5EF4-FFF2-40B4-BE49-F238E27FC236}">
                <a16:creationId xmlns:a16="http://schemas.microsoft.com/office/drawing/2014/main" id="{FF6508EE-D7B4-4EDB-97C9-EE5EC2A39807}"/>
              </a:ext>
            </a:extLst>
          </p:cNvPr>
          <p:cNvSpPr/>
          <p:nvPr/>
        </p:nvSpPr>
        <p:spPr>
          <a:xfrm>
            <a:off x="755539" y="2837779"/>
            <a:ext cx="1081825" cy="708338"/>
          </a:xfrm>
          <a:prstGeom prst="rect">
            <a:avLst/>
          </a:prstGeom>
          <a:solidFill>
            <a:schemeClr val="bg1"/>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100" dirty="0">
                <a:solidFill>
                  <a:schemeClr val="tx1"/>
                </a:solidFill>
              </a:rPr>
              <a:t>Accumulator</a:t>
            </a:r>
          </a:p>
        </p:txBody>
      </p:sp>
      <p:cxnSp>
        <p:nvCxnSpPr>
          <p:cNvPr id="28" name="Straight Arrow Connector 27">
            <a:extLst>
              <a:ext uri="{FF2B5EF4-FFF2-40B4-BE49-F238E27FC236}">
                <a16:creationId xmlns:a16="http://schemas.microsoft.com/office/drawing/2014/main" id="{7AF01822-F7B6-4209-91EC-176D1A2ECB12}"/>
              </a:ext>
            </a:extLst>
          </p:cNvPr>
          <p:cNvCxnSpPr>
            <a:cxnSpLocks/>
          </p:cNvCxnSpPr>
          <p:nvPr/>
        </p:nvCxnSpPr>
        <p:spPr>
          <a:xfrm flipV="1">
            <a:off x="1202957" y="2211632"/>
            <a:ext cx="0" cy="354127"/>
          </a:xfrm>
          <a:prstGeom prst="straightConnector1">
            <a:avLst/>
          </a:prstGeom>
          <a:ln w="50800">
            <a:solidFill>
              <a:srgbClr val="C00000"/>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905747BB-A70B-42B6-9A40-AC791675AB51}"/>
              </a:ext>
            </a:extLst>
          </p:cNvPr>
          <p:cNvCxnSpPr>
            <a:cxnSpLocks/>
          </p:cNvCxnSpPr>
          <p:nvPr/>
        </p:nvCxnSpPr>
        <p:spPr>
          <a:xfrm flipV="1">
            <a:off x="2652529" y="2211632"/>
            <a:ext cx="0" cy="354127"/>
          </a:xfrm>
          <a:prstGeom prst="straightConnector1">
            <a:avLst/>
          </a:prstGeom>
          <a:ln w="50800">
            <a:solidFill>
              <a:srgbClr val="C00000"/>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67D85183-321A-44C3-82FA-78C29445E88C}"/>
              </a:ext>
            </a:extLst>
          </p:cNvPr>
          <p:cNvCxnSpPr>
            <a:cxnSpLocks/>
          </p:cNvCxnSpPr>
          <p:nvPr/>
        </p:nvCxnSpPr>
        <p:spPr>
          <a:xfrm rot="5400000" flipV="1">
            <a:off x="1926477" y="1666988"/>
            <a:ext cx="0" cy="354127"/>
          </a:xfrm>
          <a:prstGeom prst="straightConnector1">
            <a:avLst/>
          </a:prstGeom>
          <a:ln w="50800">
            <a:solidFill>
              <a:srgbClr val="C00000"/>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34" name="Rectangle 33">
            <a:extLst>
              <a:ext uri="{FF2B5EF4-FFF2-40B4-BE49-F238E27FC236}">
                <a16:creationId xmlns:a16="http://schemas.microsoft.com/office/drawing/2014/main" id="{0545FFC8-9493-4EB4-A6FB-F3C980EBC5A5}"/>
              </a:ext>
            </a:extLst>
          </p:cNvPr>
          <p:cNvSpPr/>
          <p:nvPr/>
        </p:nvSpPr>
        <p:spPr>
          <a:xfrm>
            <a:off x="4557319" y="1187335"/>
            <a:ext cx="3237538" cy="4483329"/>
          </a:xfrm>
          <a:prstGeom prst="rect">
            <a:avLst/>
          </a:prstGeom>
          <a:solidFill>
            <a:schemeClr val="accent4">
              <a:lumMod val="20000"/>
              <a:lumOff val="80000"/>
            </a:schemeClr>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GB" dirty="0">
                <a:solidFill>
                  <a:schemeClr val="tx1"/>
                </a:solidFill>
              </a:rPr>
              <a:t>Main memory (RAM)</a:t>
            </a:r>
          </a:p>
        </p:txBody>
      </p:sp>
      <p:graphicFrame>
        <p:nvGraphicFramePr>
          <p:cNvPr id="2" name="Table 32">
            <a:extLst>
              <a:ext uri="{FF2B5EF4-FFF2-40B4-BE49-F238E27FC236}">
                <a16:creationId xmlns:a16="http://schemas.microsoft.com/office/drawing/2014/main" id="{8E9FC54D-B26B-406A-BF90-1A835E0701E6}"/>
              </a:ext>
            </a:extLst>
          </p:cNvPr>
          <p:cNvGraphicFramePr>
            <a:graphicFrameLocks noGrp="1"/>
          </p:cNvGraphicFramePr>
          <p:nvPr>
            <p:extLst>
              <p:ext uri="{D42A27DB-BD31-4B8C-83A1-F6EECF244321}">
                <p14:modId xmlns:p14="http://schemas.microsoft.com/office/powerpoint/2010/main" val="1548689143"/>
              </p:ext>
            </p:extLst>
          </p:nvPr>
        </p:nvGraphicFramePr>
        <p:xfrm>
          <a:off x="4825649" y="1658897"/>
          <a:ext cx="2239767" cy="3774440"/>
        </p:xfrm>
        <a:graphic>
          <a:graphicData uri="http://schemas.openxmlformats.org/drawingml/2006/table">
            <a:tbl>
              <a:tblPr firstRow="1" bandRow="1">
                <a:tableStyleId>{21E4AEA4-8DFA-4A89-87EB-49C32662AFE0}</a:tableStyleId>
              </a:tblPr>
              <a:tblGrid>
                <a:gridCol w="1037691">
                  <a:extLst>
                    <a:ext uri="{9D8B030D-6E8A-4147-A177-3AD203B41FA5}">
                      <a16:colId xmlns:a16="http://schemas.microsoft.com/office/drawing/2014/main" val="3614015831"/>
                    </a:ext>
                  </a:extLst>
                </a:gridCol>
                <a:gridCol w="1202076">
                  <a:extLst>
                    <a:ext uri="{9D8B030D-6E8A-4147-A177-3AD203B41FA5}">
                      <a16:colId xmlns:a16="http://schemas.microsoft.com/office/drawing/2014/main" val="3794086153"/>
                    </a:ext>
                  </a:extLst>
                </a:gridCol>
              </a:tblGrid>
              <a:tr h="370840">
                <a:tc>
                  <a:txBody>
                    <a:bodyPr/>
                    <a:lstStyle/>
                    <a:p>
                      <a:pPr algn="ctr"/>
                      <a:r>
                        <a:rPr lang="en-GB" dirty="0"/>
                        <a:t>Address</a:t>
                      </a:r>
                    </a:p>
                  </a:txBody>
                  <a:tcPr/>
                </a:tc>
                <a:tc>
                  <a:txBody>
                    <a:bodyPr/>
                    <a:lstStyle/>
                    <a:p>
                      <a:pPr algn="ctr"/>
                      <a:r>
                        <a:rPr lang="en-GB" dirty="0"/>
                        <a:t>Data</a:t>
                      </a:r>
                    </a:p>
                  </a:txBody>
                  <a:tcPr/>
                </a:tc>
                <a:extLst>
                  <a:ext uri="{0D108BD9-81ED-4DB2-BD59-A6C34878D82A}">
                    <a16:rowId xmlns:a16="http://schemas.microsoft.com/office/drawing/2014/main" val="1704211108"/>
                  </a:ext>
                </a:extLst>
              </a:tr>
              <a:tr h="370840">
                <a:tc>
                  <a:txBody>
                    <a:bodyPr/>
                    <a:lstStyle/>
                    <a:p>
                      <a:pPr algn="ctr"/>
                      <a:r>
                        <a:rPr lang="en-GB" dirty="0"/>
                        <a:t>1</a:t>
                      </a:r>
                    </a:p>
                  </a:txBody>
                  <a:tcPr/>
                </a:tc>
                <a:tc>
                  <a:txBody>
                    <a:bodyPr/>
                    <a:lstStyle/>
                    <a:p>
                      <a:pPr algn="ctr"/>
                      <a:r>
                        <a:rPr lang="en-GB" dirty="0"/>
                        <a:t>Load address 5</a:t>
                      </a:r>
                    </a:p>
                  </a:txBody>
                  <a:tcPr/>
                </a:tc>
                <a:extLst>
                  <a:ext uri="{0D108BD9-81ED-4DB2-BD59-A6C34878D82A}">
                    <a16:rowId xmlns:a16="http://schemas.microsoft.com/office/drawing/2014/main" val="74178786"/>
                  </a:ext>
                </a:extLst>
              </a:tr>
              <a:tr h="370840">
                <a:tc>
                  <a:txBody>
                    <a:bodyPr/>
                    <a:lstStyle/>
                    <a:p>
                      <a:pPr algn="ctr"/>
                      <a:r>
                        <a:rPr lang="en-GB" dirty="0"/>
                        <a:t>2</a:t>
                      </a:r>
                    </a:p>
                  </a:txBody>
                  <a:tcPr/>
                </a:tc>
                <a:tc>
                  <a:txBody>
                    <a:bodyPr/>
                    <a:lstStyle/>
                    <a:p>
                      <a:pPr algn="ctr"/>
                      <a:r>
                        <a:rPr lang="en-GB" dirty="0"/>
                        <a:t>Add address 6</a:t>
                      </a:r>
                    </a:p>
                  </a:txBody>
                  <a:tcPr/>
                </a:tc>
                <a:extLst>
                  <a:ext uri="{0D108BD9-81ED-4DB2-BD59-A6C34878D82A}">
                    <a16:rowId xmlns:a16="http://schemas.microsoft.com/office/drawing/2014/main" val="1752188674"/>
                  </a:ext>
                </a:extLst>
              </a:tr>
              <a:tr h="370840">
                <a:tc>
                  <a:txBody>
                    <a:bodyPr/>
                    <a:lstStyle/>
                    <a:p>
                      <a:pPr algn="ctr"/>
                      <a:r>
                        <a:rPr lang="en-GB" dirty="0"/>
                        <a:t>3</a:t>
                      </a:r>
                    </a:p>
                  </a:txBody>
                  <a:tcPr/>
                </a:tc>
                <a:tc>
                  <a:txBody>
                    <a:bodyPr/>
                    <a:lstStyle/>
                    <a:p>
                      <a:pPr algn="ctr"/>
                      <a:r>
                        <a:rPr lang="en-GB" dirty="0"/>
                        <a:t>Store in address 6</a:t>
                      </a:r>
                    </a:p>
                  </a:txBody>
                  <a:tcPr/>
                </a:tc>
                <a:extLst>
                  <a:ext uri="{0D108BD9-81ED-4DB2-BD59-A6C34878D82A}">
                    <a16:rowId xmlns:a16="http://schemas.microsoft.com/office/drawing/2014/main" val="2843260329"/>
                  </a:ext>
                </a:extLst>
              </a:tr>
              <a:tr h="370840">
                <a:tc>
                  <a:txBody>
                    <a:bodyPr/>
                    <a:lstStyle/>
                    <a:p>
                      <a:pPr algn="ctr"/>
                      <a:r>
                        <a:rPr lang="en-GB" dirty="0"/>
                        <a:t>4</a:t>
                      </a:r>
                    </a:p>
                  </a:txBody>
                  <a:tcPr/>
                </a:tc>
                <a:tc>
                  <a:txBody>
                    <a:bodyPr/>
                    <a:lstStyle/>
                    <a:p>
                      <a:pPr algn="ctr"/>
                      <a:r>
                        <a:rPr lang="en-GB" dirty="0"/>
                        <a:t>End</a:t>
                      </a:r>
                    </a:p>
                  </a:txBody>
                  <a:tcPr/>
                </a:tc>
                <a:extLst>
                  <a:ext uri="{0D108BD9-81ED-4DB2-BD59-A6C34878D82A}">
                    <a16:rowId xmlns:a16="http://schemas.microsoft.com/office/drawing/2014/main" val="4027267220"/>
                  </a:ext>
                </a:extLst>
              </a:tr>
              <a:tr h="370840">
                <a:tc>
                  <a:txBody>
                    <a:bodyPr/>
                    <a:lstStyle/>
                    <a:p>
                      <a:pPr algn="ctr"/>
                      <a:r>
                        <a:rPr lang="en-GB" dirty="0"/>
                        <a:t>5</a:t>
                      </a:r>
                    </a:p>
                  </a:txBody>
                  <a:tcPr/>
                </a:tc>
                <a:tc>
                  <a:txBody>
                    <a:bodyPr/>
                    <a:lstStyle/>
                    <a:p>
                      <a:pPr algn="ctr"/>
                      <a:r>
                        <a:rPr lang="en-GB" dirty="0"/>
                        <a:t>23</a:t>
                      </a:r>
                    </a:p>
                  </a:txBody>
                  <a:tcPr/>
                </a:tc>
                <a:extLst>
                  <a:ext uri="{0D108BD9-81ED-4DB2-BD59-A6C34878D82A}">
                    <a16:rowId xmlns:a16="http://schemas.microsoft.com/office/drawing/2014/main" val="2887340781"/>
                  </a:ext>
                </a:extLst>
              </a:tr>
              <a:tr h="370840">
                <a:tc>
                  <a:txBody>
                    <a:bodyPr/>
                    <a:lstStyle/>
                    <a:p>
                      <a:pPr algn="ctr"/>
                      <a:r>
                        <a:rPr lang="en-GB" dirty="0"/>
                        <a:t>6</a:t>
                      </a:r>
                    </a:p>
                  </a:txBody>
                  <a:tcPr/>
                </a:tc>
                <a:tc>
                  <a:txBody>
                    <a:bodyPr/>
                    <a:lstStyle/>
                    <a:p>
                      <a:pPr algn="ctr"/>
                      <a:r>
                        <a:rPr lang="en-GB" dirty="0"/>
                        <a:t>12</a:t>
                      </a:r>
                    </a:p>
                  </a:txBody>
                  <a:tcPr/>
                </a:tc>
                <a:extLst>
                  <a:ext uri="{0D108BD9-81ED-4DB2-BD59-A6C34878D82A}">
                    <a16:rowId xmlns:a16="http://schemas.microsoft.com/office/drawing/2014/main" val="3808870730"/>
                  </a:ext>
                </a:extLst>
              </a:tr>
              <a:tr h="370840">
                <a:tc gridSpan="2">
                  <a:txBody>
                    <a:bodyPr/>
                    <a:lstStyle/>
                    <a:p>
                      <a:endParaRPr lang="en-GB" dirty="0"/>
                    </a:p>
                  </a:txBody>
                  <a:tcPr>
                    <a:solidFill>
                      <a:schemeClr val="accent2"/>
                    </a:solidFill>
                  </a:tcPr>
                </a:tc>
                <a:tc hMerge="1">
                  <a:txBody>
                    <a:bodyPr/>
                    <a:lstStyle/>
                    <a:p>
                      <a:endParaRPr lang="en-GB" dirty="0"/>
                    </a:p>
                  </a:txBody>
                  <a:tcPr/>
                </a:tc>
                <a:extLst>
                  <a:ext uri="{0D108BD9-81ED-4DB2-BD59-A6C34878D82A}">
                    <a16:rowId xmlns:a16="http://schemas.microsoft.com/office/drawing/2014/main" val="453354336"/>
                  </a:ext>
                </a:extLst>
              </a:tr>
            </a:tbl>
          </a:graphicData>
        </a:graphic>
      </p:graphicFrame>
      <p:grpSp>
        <p:nvGrpSpPr>
          <p:cNvPr id="40" name="Group 39">
            <a:extLst>
              <a:ext uri="{FF2B5EF4-FFF2-40B4-BE49-F238E27FC236}">
                <a16:creationId xmlns:a16="http://schemas.microsoft.com/office/drawing/2014/main" id="{47E1A734-AE40-47F7-852D-7A031D45B524}"/>
              </a:ext>
            </a:extLst>
          </p:cNvPr>
          <p:cNvGrpSpPr/>
          <p:nvPr/>
        </p:nvGrpSpPr>
        <p:grpSpPr>
          <a:xfrm>
            <a:off x="3084475" y="3200784"/>
            <a:ext cx="1472844" cy="809946"/>
            <a:chOff x="5089451" y="3108977"/>
            <a:chExt cx="2714502" cy="809946"/>
          </a:xfrm>
        </p:grpSpPr>
        <p:cxnSp>
          <p:nvCxnSpPr>
            <p:cNvPr id="37" name="Straight Arrow Connector 36">
              <a:extLst>
                <a:ext uri="{FF2B5EF4-FFF2-40B4-BE49-F238E27FC236}">
                  <a16:creationId xmlns:a16="http://schemas.microsoft.com/office/drawing/2014/main" id="{C6AEA4D1-72B5-4D9F-BB16-A0F6FA61BE1E}"/>
                </a:ext>
              </a:extLst>
            </p:cNvPr>
            <p:cNvCxnSpPr>
              <a:cxnSpLocks/>
            </p:cNvCxnSpPr>
            <p:nvPr/>
          </p:nvCxnSpPr>
          <p:spPr>
            <a:xfrm>
              <a:off x="5089451" y="3108977"/>
              <a:ext cx="2714502" cy="0"/>
            </a:xfrm>
            <a:prstGeom prst="straightConnector1">
              <a:avLst/>
            </a:prstGeom>
            <a:ln w="5080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39" name="Straight Arrow Connector 38">
              <a:extLst>
                <a:ext uri="{FF2B5EF4-FFF2-40B4-BE49-F238E27FC236}">
                  <a16:creationId xmlns:a16="http://schemas.microsoft.com/office/drawing/2014/main" id="{D6D8C3F4-936D-45F6-A054-B9BEF87A8BFB}"/>
                </a:ext>
              </a:extLst>
            </p:cNvPr>
            <p:cNvCxnSpPr>
              <a:cxnSpLocks/>
            </p:cNvCxnSpPr>
            <p:nvPr/>
          </p:nvCxnSpPr>
          <p:spPr>
            <a:xfrm>
              <a:off x="5089451" y="3918923"/>
              <a:ext cx="2714502" cy="0"/>
            </a:xfrm>
            <a:prstGeom prst="straightConnector1">
              <a:avLst/>
            </a:prstGeom>
            <a:ln w="50800">
              <a:solidFill>
                <a:srgbClr val="C00000"/>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grpSp>
      <p:sp>
        <p:nvSpPr>
          <p:cNvPr id="25" name="Rectangle 24">
            <a:extLst>
              <a:ext uri="{FF2B5EF4-FFF2-40B4-BE49-F238E27FC236}">
                <a16:creationId xmlns:a16="http://schemas.microsoft.com/office/drawing/2014/main" id="{0D3B543E-4DB3-4407-931C-F561879D94FA}"/>
              </a:ext>
            </a:extLst>
          </p:cNvPr>
          <p:cNvSpPr/>
          <p:nvPr/>
        </p:nvSpPr>
        <p:spPr>
          <a:xfrm>
            <a:off x="8063188" y="1131152"/>
            <a:ext cx="3998674" cy="1070871"/>
          </a:xfrm>
          <a:prstGeom prst="rect">
            <a:avLst/>
          </a:prstGeom>
        </p:spPr>
        <p:txBody>
          <a:bodyPr wrap="square">
            <a:spAutoFit/>
          </a:bodyPr>
          <a:lstStyle/>
          <a:p>
            <a:pPr>
              <a:lnSpc>
                <a:spcPct val="107000"/>
              </a:lnSpc>
              <a:spcAft>
                <a:spcPts val="800"/>
              </a:spcAft>
            </a:pPr>
            <a:r>
              <a:rPr lang="en-GB" b="1" dirty="0">
                <a:latin typeface="Calibri" panose="020F0502020204030204" pitchFamily="34" charset="0"/>
                <a:ea typeface="Calibri" panose="020F0502020204030204" pitchFamily="34" charset="0"/>
                <a:cs typeface="Times New Roman" panose="02020603050405020304" pitchFamily="18" charset="0"/>
              </a:rPr>
              <a:t>Program counter (PC)</a:t>
            </a:r>
          </a:p>
          <a:p>
            <a:pPr>
              <a:lnSpc>
                <a:spcPct val="107000"/>
              </a:lnSpc>
              <a:spcAft>
                <a:spcPts val="800"/>
              </a:spcAft>
            </a:pPr>
            <a:r>
              <a:rPr lang="en-GB" dirty="0">
                <a:latin typeface="Calibri" panose="020F0502020204030204" pitchFamily="34" charset="0"/>
                <a:ea typeface="Calibri" panose="020F0502020204030204" pitchFamily="34" charset="0"/>
                <a:cs typeface="Times New Roman" panose="02020603050405020304" pitchFamily="18" charset="0"/>
              </a:rPr>
              <a:t>Holds the address of the next instruction to be executed in memory.</a:t>
            </a:r>
            <a:endParaRPr lang="en-GB" sz="1050" dirty="0">
              <a:latin typeface="Calibri" panose="020F0502020204030204" pitchFamily="34" charset="0"/>
              <a:ea typeface="Calibri" panose="020F0502020204030204" pitchFamily="34" charset="0"/>
              <a:cs typeface="Times New Roman" panose="02020603050405020304" pitchFamily="18" charset="0"/>
            </a:endParaRPr>
          </a:p>
        </p:txBody>
      </p:sp>
      <p:sp>
        <p:nvSpPr>
          <p:cNvPr id="38" name="Rectangle 37">
            <a:extLst>
              <a:ext uri="{FF2B5EF4-FFF2-40B4-BE49-F238E27FC236}">
                <a16:creationId xmlns:a16="http://schemas.microsoft.com/office/drawing/2014/main" id="{2C04769C-8B20-4095-A105-95613DEBD517}"/>
              </a:ext>
            </a:extLst>
          </p:cNvPr>
          <p:cNvSpPr/>
          <p:nvPr/>
        </p:nvSpPr>
        <p:spPr>
          <a:xfrm>
            <a:off x="666052" y="4843426"/>
            <a:ext cx="1087357" cy="638464"/>
          </a:xfrm>
          <a:prstGeom prst="rect">
            <a:avLst/>
          </a:prstGeom>
          <a:solidFill>
            <a:schemeClr val="bg1"/>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100" b="1" dirty="0">
                <a:solidFill>
                  <a:schemeClr val="tx1"/>
                </a:solidFill>
              </a:rPr>
              <a:t>Cache</a:t>
            </a:r>
          </a:p>
        </p:txBody>
      </p:sp>
      <p:pic>
        <p:nvPicPr>
          <p:cNvPr id="41" name="Picture 40">
            <a:extLst>
              <a:ext uri="{FF2B5EF4-FFF2-40B4-BE49-F238E27FC236}">
                <a16:creationId xmlns:a16="http://schemas.microsoft.com/office/drawing/2014/main" id="{3780D80F-5DC1-4363-9963-B6EF1F65736A}"/>
              </a:ext>
            </a:extLst>
          </p:cNvPr>
          <p:cNvPicPr>
            <a:picLocks noChangeAspect="1"/>
          </p:cNvPicPr>
          <p:nvPr/>
        </p:nvPicPr>
        <p:blipFill>
          <a:blip r:embed="rId2"/>
          <a:stretch>
            <a:fillRect/>
          </a:stretch>
        </p:blipFill>
        <p:spPr>
          <a:xfrm>
            <a:off x="2301155" y="4826252"/>
            <a:ext cx="641729" cy="638464"/>
          </a:xfrm>
          <a:prstGeom prst="rect">
            <a:avLst/>
          </a:prstGeom>
        </p:spPr>
      </p:pic>
      <p:sp>
        <p:nvSpPr>
          <p:cNvPr id="42" name="Rectangle 41">
            <a:extLst>
              <a:ext uri="{FF2B5EF4-FFF2-40B4-BE49-F238E27FC236}">
                <a16:creationId xmlns:a16="http://schemas.microsoft.com/office/drawing/2014/main" id="{8697CA03-DDBF-4ED4-8791-ADB0B38B4E33}"/>
              </a:ext>
            </a:extLst>
          </p:cNvPr>
          <p:cNvSpPr/>
          <p:nvPr/>
        </p:nvSpPr>
        <p:spPr>
          <a:xfrm>
            <a:off x="2109112" y="4843426"/>
            <a:ext cx="1074483" cy="638464"/>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100" b="1" dirty="0">
                <a:solidFill>
                  <a:schemeClr val="tx1"/>
                </a:solidFill>
              </a:rPr>
              <a:t>Clock</a:t>
            </a:r>
          </a:p>
        </p:txBody>
      </p:sp>
      <p:grpSp>
        <p:nvGrpSpPr>
          <p:cNvPr id="32" name="Group 31">
            <a:extLst>
              <a:ext uri="{FF2B5EF4-FFF2-40B4-BE49-F238E27FC236}">
                <a16:creationId xmlns:a16="http://schemas.microsoft.com/office/drawing/2014/main" id="{C752E305-39EB-4850-88DD-CFE25BF381AB}"/>
              </a:ext>
            </a:extLst>
          </p:cNvPr>
          <p:cNvGrpSpPr/>
          <p:nvPr/>
        </p:nvGrpSpPr>
        <p:grpSpPr>
          <a:xfrm flipV="1">
            <a:off x="1230797" y="4490796"/>
            <a:ext cx="1449572" cy="683607"/>
            <a:chOff x="1202957" y="1882152"/>
            <a:chExt cx="1449572" cy="683607"/>
          </a:xfrm>
        </p:grpSpPr>
        <p:cxnSp>
          <p:nvCxnSpPr>
            <p:cNvPr id="33" name="Straight Arrow Connector 32">
              <a:extLst>
                <a:ext uri="{FF2B5EF4-FFF2-40B4-BE49-F238E27FC236}">
                  <a16:creationId xmlns:a16="http://schemas.microsoft.com/office/drawing/2014/main" id="{FE470834-AF4B-478D-861A-C9CDDF2ED374}"/>
                </a:ext>
              </a:extLst>
            </p:cNvPr>
            <p:cNvCxnSpPr>
              <a:cxnSpLocks/>
            </p:cNvCxnSpPr>
            <p:nvPr/>
          </p:nvCxnSpPr>
          <p:spPr>
            <a:xfrm flipV="1">
              <a:off x="1202957" y="2211632"/>
              <a:ext cx="0" cy="354127"/>
            </a:xfrm>
            <a:prstGeom prst="straightConnector1">
              <a:avLst/>
            </a:prstGeom>
            <a:ln w="50800">
              <a:solidFill>
                <a:srgbClr val="C00000"/>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5" name="Straight Arrow Connector 34">
              <a:extLst>
                <a:ext uri="{FF2B5EF4-FFF2-40B4-BE49-F238E27FC236}">
                  <a16:creationId xmlns:a16="http://schemas.microsoft.com/office/drawing/2014/main" id="{A4F04C00-D3FA-49CC-9CC5-82972FB656F0}"/>
                </a:ext>
              </a:extLst>
            </p:cNvPr>
            <p:cNvCxnSpPr>
              <a:cxnSpLocks/>
            </p:cNvCxnSpPr>
            <p:nvPr/>
          </p:nvCxnSpPr>
          <p:spPr>
            <a:xfrm flipV="1">
              <a:off x="2652529" y="2211632"/>
              <a:ext cx="0" cy="354127"/>
            </a:xfrm>
            <a:prstGeom prst="straightConnector1">
              <a:avLst/>
            </a:prstGeom>
            <a:ln w="50800">
              <a:solidFill>
                <a:srgbClr val="C00000"/>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6B1DE2FF-43C0-4D06-B95C-F4D0425DDEC0}"/>
                </a:ext>
              </a:extLst>
            </p:cNvPr>
            <p:cNvCxnSpPr>
              <a:cxnSpLocks/>
            </p:cNvCxnSpPr>
            <p:nvPr/>
          </p:nvCxnSpPr>
          <p:spPr>
            <a:xfrm rot="5400000" flipV="1">
              <a:off x="1897902" y="1705088"/>
              <a:ext cx="0" cy="354127"/>
            </a:xfrm>
            <a:prstGeom prst="straightConnector1">
              <a:avLst/>
            </a:prstGeom>
            <a:ln w="50800">
              <a:solidFill>
                <a:srgbClr val="C00000"/>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64563742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97F5328-60A8-4150-89ED-2AED3C67E0EE}"/>
              </a:ext>
            </a:extLst>
          </p:cNvPr>
          <p:cNvSpPr/>
          <p:nvPr/>
        </p:nvSpPr>
        <p:spPr>
          <a:xfrm>
            <a:off x="176565" y="523174"/>
            <a:ext cx="3556615" cy="470000"/>
          </a:xfrm>
          <a:prstGeom prst="rect">
            <a:avLst/>
          </a:prstGeom>
        </p:spPr>
        <p:txBody>
          <a:bodyPr wrap="none">
            <a:spAutoFit/>
          </a:bodyPr>
          <a:lstStyle/>
          <a:p>
            <a:pPr>
              <a:lnSpc>
                <a:spcPct val="107000"/>
              </a:lnSpc>
              <a:spcAft>
                <a:spcPts val="800"/>
              </a:spcAft>
            </a:pPr>
            <a:r>
              <a:rPr lang="en-GB" sz="2400" dirty="0">
                <a:solidFill>
                  <a:schemeClr val="accent2">
                    <a:lumMod val="75000"/>
                  </a:schemeClr>
                </a:solidFill>
                <a:latin typeface="Calibri" panose="020F0502020204030204" pitchFamily="34" charset="0"/>
                <a:ea typeface="Calibri" panose="020F0502020204030204" pitchFamily="34" charset="0"/>
                <a:cs typeface="Times New Roman" panose="02020603050405020304" pitchFamily="18" charset="0"/>
              </a:rPr>
              <a:t>Von Neumann architecture</a:t>
            </a:r>
            <a:endParaRPr lang="en-GB" sz="1200" dirty="0">
              <a:solidFill>
                <a:schemeClr val="accent2">
                  <a:lumMod val="75000"/>
                </a:schemeClr>
              </a:solidFill>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0" name="Rectangle 9">
            <a:extLst>
              <a:ext uri="{FF2B5EF4-FFF2-40B4-BE49-F238E27FC236}">
                <a16:creationId xmlns:a16="http://schemas.microsoft.com/office/drawing/2014/main" id="{14E1E4FB-B01B-4CAE-9EFC-8635BEFA9DEB}"/>
              </a:ext>
            </a:extLst>
          </p:cNvPr>
          <p:cNvSpPr/>
          <p:nvPr/>
        </p:nvSpPr>
        <p:spPr>
          <a:xfrm>
            <a:off x="276550" y="1187335"/>
            <a:ext cx="3237538" cy="4483337"/>
          </a:xfrm>
          <a:prstGeom prst="rect">
            <a:avLst/>
          </a:prstGeom>
          <a:solidFill>
            <a:schemeClr val="accent4">
              <a:lumMod val="20000"/>
              <a:lumOff val="80000"/>
            </a:schemeClr>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1872000" tIns="1260000" rtlCol="0" anchor="t" anchorCtr="0"/>
          <a:lstStyle/>
          <a:p>
            <a:pPr algn="ctr"/>
            <a:endParaRPr lang="en-GB" dirty="0">
              <a:solidFill>
                <a:schemeClr val="tx1"/>
              </a:solidFill>
            </a:endParaRPr>
          </a:p>
        </p:txBody>
      </p:sp>
      <p:sp>
        <p:nvSpPr>
          <p:cNvPr id="12" name="Rectangle 11">
            <a:extLst>
              <a:ext uri="{FF2B5EF4-FFF2-40B4-BE49-F238E27FC236}">
                <a16:creationId xmlns:a16="http://schemas.microsoft.com/office/drawing/2014/main" id="{A3C8042A-1D6E-4D8E-9615-EAD11E9612BE}"/>
              </a:ext>
            </a:extLst>
          </p:cNvPr>
          <p:cNvSpPr/>
          <p:nvPr/>
        </p:nvSpPr>
        <p:spPr>
          <a:xfrm>
            <a:off x="475549" y="1265904"/>
            <a:ext cx="2879050" cy="4338771"/>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GB" sz="1100" b="1" dirty="0">
                <a:solidFill>
                  <a:schemeClr val="tx1"/>
                </a:solidFill>
              </a:rPr>
              <a:t>Central processing unit (CPU)</a:t>
            </a:r>
          </a:p>
        </p:txBody>
      </p:sp>
      <p:sp>
        <p:nvSpPr>
          <p:cNvPr id="17" name="Rectangle 16">
            <a:extLst>
              <a:ext uri="{FF2B5EF4-FFF2-40B4-BE49-F238E27FC236}">
                <a16:creationId xmlns:a16="http://schemas.microsoft.com/office/drawing/2014/main" id="{9DC6B7E0-027D-4EF6-AD4D-DC5D9B452BE9}"/>
              </a:ext>
            </a:extLst>
          </p:cNvPr>
          <p:cNvSpPr/>
          <p:nvPr/>
        </p:nvSpPr>
        <p:spPr>
          <a:xfrm>
            <a:off x="666934" y="1507626"/>
            <a:ext cx="1081825" cy="708338"/>
          </a:xfrm>
          <a:prstGeom prst="rect">
            <a:avLst/>
          </a:prstGeom>
          <a:solidFill>
            <a:schemeClr val="bg1"/>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100" dirty="0">
                <a:solidFill>
                  <a:schemeClr val="tx1"/>
                </a:solidFill>
              </a:rPr>
              <a:t>Control</a:t>
            </a:r>
          </a:p>
          <a:p>
            <a:pPr algn="ctr"/>
            <a:r>
              <a:rPr lang="en-GB" sz="1100" dirty="0">
                <a:solidFill>
                  <a:schemeClr val="tx1"/>
                </a:solidFill>
              </a:rPr>
              <a:t>unit (CU)</a:t>
            </a:r>
          </a:p>
        </p:txBody>
      </p:sp>
      <p:sp>
        <p:nvSpPr>
          <p:cNvPr id="18" name="Rectangle 17">
            <a:extLst>
              <a:ext uri="{FF2B5EF4-FFF2-40B4-BE49-F238E27FC236}">
                <a16:creationId xmlns:a16="http://schemas.microsoft.com/office/drawing/2014/main" id="{038595A0-9F1C-45FA-AD5B-9A2F795EC7C6}"/>
              </a:ext>
            </a:extLst>
          </p:cNvPr>
          <p:cNvSpPr/>
          <p:nvPr/>
        </p:nvSpPr>
        <p:spPr>
          <a:xfrm>
            <a:off x="2102652" y="1507626"/>
            <a:ext cx="1081825" cy="708338"/>
          </a:xfrm>
          <a:prstGeom prst="rect">
            <a:avLst/>
          </a:prstGeom>
          <a:solidFill>
            <a:schemeClr val="bg1"/>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100" dirty="0">
                <a:solidFill>
                  <a:schemeClr val="tx1"/>
                </a:solidFill>
              </a:rPr>
              <a:t>Arithmetic logic unit (ALU)</a:t>
            </a:r>
          </a:p>
        </p:txBody>
      </p:sp>
      <p:sp>
        <p:nvSpPr>
          <p:cNvPr id="19" name="Rectangle 18">
            <a:extLst>
              <a:ext uri="{FF2B5EF4-FFF2-40B4-BE49-F238E27FC236}">
                <a16:creationId xmlns:a16="http://schemas.microsoft.com/office/drawing/2014/main" id="{EF42D0C0-056E-48A9-8169-6B9FEB54F46C}"/>
              </a:ext>
            </a:extLst>
          </p:cNvPr>
          <p:cNvSpPr/>
          <p:nvPr/>
        </p:nvSpPr>
        <p:spPr>
          <a:xfrm>
            <a:off x="666934" y="2560734"/>
            <a:ext cx="2517543" cy="1935087"/>
          </a:xfrm>
          <a:prstGeom prst="rect">
            <a:avLst/>
          </a:prstGeom>
          <a:solidFill>
            <a:schemeClr val="accent2">
              <a:lumMod val="40000"/>
              <a:lumOff val="60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GB" sz="1100" b="1">
                <a:solidFill>
                  <a:schemeClr val="tx1"/>
                </a:solidFill>
              </a:rPr>
              <a:t>Register</a:t>
            </a:r>
            <a:endParaRPr lang="en-GB" sz="1100" b="1" dirty="0">
              <a:solidFill>
                <a:schemeClr val="tx1"/>
              </a:solidFill>
            </a:endParaRPr>
          </a:p>
        </p:txBody>
      </p:sp>
      <p:sp>
        <p:nvSpPr>
          <p:cNvPr id="20" name="Rectangle 19">
            <a:extLst>
              <a:ext uri="{FF2B5EF4-FFF2-40B4-BE49-F238E27FC236}">
                <a16:creationId xmlns:a16="http://schemas.microsoft.com/office/drawing/2014/main" id="{D5772A53-90DA-4E8B-B6E6-310B2E9375C5}"/>
              </a:ext>
            </a:extLst>
          </p:cNvPr>
          <p:cNvSpPr/>
          <p:nvPr/>
        </p:nvSpPr>
        <p:spPr>
          <a:xfrm>
            <a:off x="1996349" y="2840551"/>
            <a:ext cx="1081825" cy="708338"/>
          </a:xfrm>
          <a:prstGeom prst="rect">
            <a:avLst/>
          </a:prstGeom>
          <a:solidFill>
            <a:schemeClr val="accent4"/>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100">
                <a:solidFill>
                  <a:schemeClr val="tx1"/>
                </a:solidFill>
              </a:rPr>
              <a:t>Memory address register </a:t>
            </a:r>
            <a:r>
              <a:rPr lang="en-GB" sz="1100" dirty="0">
                <a:solidFill>
                  <a:schemeClr val="tx1"/>
                </a:solidFill>
              </a:rPr>
              <a:t>(MAR)</a:t>
            </a:r>
          </a:p>
        </p:txBody>
      </p:sp>
      <p:sp>
        <p:nvSpPr>
          <p:cNvPr id="21" name="Rectangle 20">
            <a:extLst>
              <a:ext uri="{FF2B5EF4-FFF2-40B4-BE49-F238E27FC236}">
                <a16:creationId xmlns:a16="http://schemas.microsoft.com/office/drawing/2014/main" id="{E40AA452-ABF6-4935-80C2-C940C436FB9D}"/>
              </a:ext>
            </a:extLst>
          </p:cNvPr>
          <p:cNvSpPr/>
          <p:nvPr/>
        </p:nvSpPr>
        <p:spPr>
          <a:xfrm>
            <a:off x="1993887" y="3617025"/>
            <a:ext cx="1081825" cy="708338"/>
          </a:xfrm>
          <a:prstGeom prst="rect">
            <a:avLst/>
          </a:prstGeom>
          <a:solidFill>
            <a:schemeClr val="bg1"/>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100" dirty="0">
                <a:solidFill>
                  <a:schemeClr val="tx1"/>
                </a:solidFill>
              </a:rPr>
              <a:t>Memory data register (MDR)</a:t>
            </a:r>
          </a:p>
        </p:txBody>
      </p:sp>
      <p:sp>
        <p:nvSpPr>
          <p:cNvPr id="22" name="Rectangle 21">
            <a:extLst>
              <a:ext uri="{FF2B5EF4-FFF2-40B4-BE49-F238E27FC236}">
                <a16:creationId xmlns:a16="http://schemas.microsoft.com/office/drawing/2014/main" id="{934BCE69-9910-4FFF-A932-3435BDF3A78C}"/>
              </a:ext>
            </a:extLst>
          </p:cNvPr>
          <p:cNvSpPr/>
          <p:nvPr/>
        </p:nvSpPr>
        <p:spPr>
          <a:xfrm>
            <a:off x="755539" y="3623242"/>
            <a:ext cx="1081825" cy="708338"/>
          </a:xfrm>
          <a:prstGeom prst="rect">
            <a:avLst/>
          </a:prstGeom>
          <a:solidFill>
            <a:schemeClr val="bg1"/>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100" dirty="0">
                <a:solidFill>
                  <a:schemeClr val="tx1"/>
                </a:solidFill>
              </a:rPr>
              <a:t>Program counter (PC)</a:t>
            </a:r>
          </a:p>
        </p:txBody>
      </p:sp>
      <p:sp>
        <p:nvSpPr>
          <p:cNvPr id="23" name="Rectangle 22">
            <a:extLst>
              <a:ext uri="{FF2B5EF4-FFF2-40B4-BE49-F238E27FC236}">
                <a16:creationId xmlns:a16="http://schemas.microsoft.com/office/drawing/2014/main" id="{FF6508EE-D7B4-4EDB-97C9-EE5EC2A39807}"/>
              </a:ext>
            </a:extLst>
          </p:cNvPr>
          <p:cNvSpPr/>
          <p:nvPr/>
        </p:nvSpPr>
        <p:spPr>
          <a:xfrm>
            <a:off x="755539" y="2837779"/>
            <a:ext cx="1081825" cy="708338"/>
          </a:xfrm>
          <a:prstGeom prst="rect">
            <a:avLst/>
          </a:prstGeom>
          <a:solidFill>
            <a:schemeClr val="bg1"/>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100" dirty="0">
                <a:solidFill>
                  <a:schemeClr val="tx1"/>
                </a:solidFill>
              </a:rPr>
              <a:t>Accumulator</a:t>
            </a:r>
          </a:p>
        </p:txBody>
      </p:sp>
      <p:cxnSp>
        <p:nvCxnSpPr>
          <p:cNvPr id="28" name="Straight Arrow Connector 27">
            <a:extLst>
              <a:ext uri="{FF2B5EF4-FFF2-40B4-BE49-F238E27FC236}">
                <a16:creationId xmlns:a16="http://schemas.microsoft.com/office/drawing/2014/main" id="{7AF01822-F7B6-4209-91EC-176D1A2ECB12}"/>
              </a:ext>
            </a:extLst>
          </p:cNvPr>
          <p:cNvCxnSpPr>
            <a:cxnSpLocks/>
          </p:cNvCxnSpPr>
          <p:nvPr/>
        </p:nvCxnSpPr>
        <p:spPr>
          <a:xfrm flipV="1">
            <a:off x="1202957" y="2211632"/>
            <a:ext cx="0" cy="354127"/>
          </a:xfrm>
          <a:prstGeom prst="straightConnector1">
            <a:avLst/>
          </a:prstGeom>
          <a:ln w="50800">
            <a:solidFill>
              <a:srgbClr val="C00000"/>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905747BB-A70B-42B6-9A40-AC791675AB51}"/>
              </a:ext>
            </a:extLst>
          </p:cNvPr>
          <p:cNvCxnSpPr>
            <a:cxnSpLocks/>
          </p:cNvCxnSpPr>
          <p:nvPr/>
        </p:nvCxnSpPr>
        <p:spPr>
          <a:xfrm flipV="1">
            <a:off x="2652529" y="2211632"/>
            <a:ext cx="0" cy="354127"/>
          </a:xfrm>
          <a:prstGeom prst="straightConnector1">
            <a:avLst/>
          </a:prstGeom>
          <a:ln w="50800">
            <a:solidFill>
              <a:srgbClr val="C00000"/>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67D85183-321A-44C3-82FA-78C29445E88C}"/>
              </a:ext>
            </a:extLst>
          </p:cNvPr>
          <p:cNvCxnSpPr>
            <a:cxnSpLocks/>
          </p:cNvCxnSpPr>
          <p:nvPr/>
        </p:nvCxnSpPr>
        <p:spPr>
          <a:xfrm rot="5400000" flipV="1">
            <a:off x="1926477" y="1666988"/>
            <a:ext cx="0" cy="354127"/>
          </a:xfrm>
          <a:prstGeom prst="straightConnector1">
            <a:avLst/>
          </a:prstGeom>
          <a:ln w="50800">
            <a:solidFill>
              <a:srgbClr val="C00000"/>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34" name="Rectangle 33">
            <a:extLst>
              <a:ext uri="{FF2B5EF4-FFF2-40B4-BE49-F238E27FC236}">
                <a16:creationId xmlns:a16="http://schemas.microsoft.com/office/drawing/2014/main" id="{0545FFC8-9493-4EB4-A6FB-F3C980EBC5A5}"/>
              </a:ext>
            </a:extLst>
          </p:cNvPr>
          <p:cNvSpPr/>
          <p:nvPr/>
        </p:nvSpPr>
        <p:spPr>
          <a:xfrm>
            <a:off x="4557319" y="1187335"/>
            <a:ext cx="3237538" cy="4483329"/>
          </a:xfrm>
          <a:prstGeom prst="rect">
            <a:avLst/>
          </a:prstGeom>
          <a:solidFill>
            <a:schemeClr val="accent4">
              <a:lumMod val="20000"/>
              <a:lumOff val="80000"/>
            </a:schemeClr>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GB" dirty="0">
                <a:solidFill>
                  <a:schemeClr val="tx1"/>
                </a:solidFill>
              </a:rPr>
              <a:t>Main memory (RAM)</a:t>
            </a:r>
          </a:p>
        </p:txBody>
      </p:sp>
      <p:graphicFrame>
        <p:nvGraphicFramePr>
          <p:cNvPr id="2" name="Table 32">
            <a:extLst>
              <a:ext uri="{FF2B5EF4-FFF2-40B4-BE49-F238E27FC236}">
                <a16:creationId xmlns:a16="http://schemas.microsoft.com/office/drawing/2014/main" id="{8E9FC54D-B26B-406A-BF90-1A835E0701E6}"/>
              </a:ext>
            </a:extLst>
          </p:cNvPr>
          <p:cNvGraphicFramePr>
            <a:graphicFrameLocks noGrp="1"/>
          </p:cNvGraphicFramePr>
          <p:nvPr>
            <p:extLst>
              <p:ext uri="{D42A27DB-BD31-4B8C-83A1-F6EECF244321}">
                <p14:modId xmlns:p14="http://schemas.microsoft.com/office/powerpoint/2010/main" val="1620013673"/>
              </p:ext>
            </p:extLst>
          </p:nvPr>
        </p:nvGraphicFramePr>
        <p:xfrm>
          <a:off x="4825649" y="1658897"/>
          <a:ext cx="2239767" cy="3774440"/>
        </p:xfrm>
        <a:graphic>
          <a:graphicData uri="http://schemas.openxmlformats.org/drawingml/2006/table">
            <a:tbl>
              <a:tblPr firstRow="1" bandRow="1">
                <a:tableStyleId>{21E4AEA4-8DFA-4A89-87EB-49C32662AFE0}</a:tableStyleId>
              </a:tblPr>
              <a:tblGrid>
                <a:gridCol w="1037691">
                  <a:extLst>
                    <a:ext uri="{9D8B030D-6E8A-4147-A177-3AD203B41FA5}">
                      <a16:colId xmlns:a16="http://schemas.microsoft.com/office/drawing/2014/main" val="3614015831"/>
                    </a:ext>
                  </a:extLst>
                </a:gridCol>
                <a:gridCol w="1202076">
                  <a:extLst>
                    <a:ext uri="{9D8B030D-6E8A-4147-A177-3AD203B41FA5}">
                      <a16:colId xmlns:a16="http://schemas.microsoft.com/office/drawing/2014/main" val="3794086153"/>
                    </a:ext>
                  </a:extLst>
                </a:gridCol>
              </a:tblGrid>
              <a:tr h="370840">
                <a:tc>
                  <a:txBody>
                    <a:bodyPr/>
                    <a:lstStyle/>
                    <a:p>
                      <a:pPr algn="ctr"/>
                      <a:r>
                        <a:rPr lang="en-GB" dirty="0"/>
                        <a:t>Address</a:t>
                      </a:r>
                    </a:p>
                  </a:txBody>
                  <a:tcPr/>
                </a:tc>
                <a:tc>
                  <a:txBody>
                    <a:bodyPr/>
                    <a:lstStyle/>
                    <a:p>
                      <a:pPr algn="ctr"/>
                      <a:r>
                        <a:rPr lang="en-GB" dirty="0"/>
                        <a:t>Data</a:t>
                      </a:r>
                    </a:p>
                  </a:txBody>
                  <a:tcPr/>
                </a:tc>
                <a:extLst>
                  <a:ext uri="{0D108BD9-81ED-4DB2-BD59-A6C34878D82A}">
                    <a16:rowId xmlns:a16="http://schemas.microsoft.com/office/drawing/2014/main" val="1704211108"/>
                  </a:ext>
                </a:extLst>
              </a:tr>
              <a:tr h="370840">
                <a:tc>
                  <a:txBody>
                    <a:bodyPr/>
                    <a:lstStyle/>
                    <a:p>
                      <a:pPr algn="ctr"/>
                      <a:r>
                        <a:rPr lang="en-GB" dirty="0"/>
                        <a:t>1</a:t>
                      </a:r>
                    </a:p>
                  </a:txBody>
                  <a:tcPr/>
                </a:tc>
                <a:tc>
                  <a:txBody>
                    <a:bodyPr/>
                    <a:lstStyle/>
                    <a:p>
                      <a:pPr algn="ctr"/>
                      <a:r>
                        <a:rPr lang="en-GB" dirty="0"/>
                        <a:t>Load address 5</a:t>
                      </a:r>
                    </a:p>
                  </a:txBody>
                  <a:tcPr/>
                </a:tc>
                <a:extLst>
                  <a:ext uri="{0D108BD9-81ED-4DB2-BD59-A6C34878D82A}">
                    <a16:rowId xmlns:a16="http://schemas.microsoft.com/office/drawing/2014/main" val="74178786"/>
                  </a:ext>
                </a:extLst>
              </a:tr>
              <a:tr h="370840">
                <a:tc>
                  <a:txBody>
                    <a:bodyPr/>
                    <a:lstStyle/>
                    <a:p>
                      <a:pPr algn="ctr"/>
                      <a:r>
                        <a:rPr lang="en-GB" dirty="0"/>
                        <a:t>2</a:t>
                      </a:r>
                    </a:p>
                  </a:txBody>
                  <a:tcPr/>
                </a:tc>
                <a:tc>
                  <a:txBody>
                    <a:bodyPr/>
                    <a:lstStyle/>
                    <a:p>
                      <a:pPr algn="ctr"/>
                      <a:r>
                        <a:rPr lang="en-GB" dirty="0"/>
                        <a:t>Add address 6</a:t>
                      </a:r>
                    </a:p>
                  </a:txBody>
                  <a:tcPr/>
                </a:tc>
                <a:extLst>
                  <a:ext uri="{0D108BD9-81ED-4DB2-BD59-A6C34878D82A}">
                    <a16:rowId xmlns:a16="http://schemas.microsoft.com/office/drawing/2014/main" val="1752188674"/>
                  </a:ext>
                </a:extLst>
              </a:tr>
              <a:tr h="370840">
                <a:tc>
                  <a:txBody>
                    <a:bodyPr/>
                    <a:lstStyle/>
                    <a:p>
                      <a:pPr algn="ctr"/>
                      <a:r>
                        <a:rPr lang="en-GB" dirty="0"/>
                        <a:t>3</a:t>
                      </a:r>
                    </a:p>
                  </a:txBody>
                  <a:tcPr/>
                </a:tc>
                <a:tc>
                  <a:txBody>
                    <a:bodyPr/>
                    <a:lstStyle/>
                    <a:p>
                      <a:pPr algn="ctr"/>
                      <a:r>
                        <a:rPr lang="en-GB" dirty="0"/>
                        <a:t>Store in address 6</a:t>
                      </a:r>
                    </a:p>
                  </a:txBody>
                  <a:tcPr/>
                </a:tc>
                <a:extLst>
                  <a:ext uri="{0D108BD9-81ED-4DB2-BD59-A6C34878D82A}">
                    <a16:rowId xmlns:a16="http://schemas.microsoft.com/office/drawing/2014/main" val="2843260329"/>
                  </a:ext>
                </a:extLst>
              </a:tr>
              <a:tr h="370840">
                <a:tc>
                  <a:txBody>
                    <a:bodyPr/>
                    <a:lstStyle/>
                    <a:p>
                      <a:pPr algn="ctr"/>
                      <a:r>
                        <a:rPr lang="en-GB" dirty="0"/>
                        <a:t>4</a:t>
                      </a:r>
                    </a:p>
                  </a:txBody>
                  <a:tcPr/>
                </a:tc>
                <a:tc>
                  <a:txBody>
                    <a:bodyPr/>
                    <a:lstStyle/>
                    <a:p>
                      <a:pPr algn="ctr"/>
                      <a:r>
                        <a:rPr lang="en-GB" dirty="0"/>
                        <a:t>End</a:t>
                      </a:r>
                    </a:p>
                  </a:txBody>
                  <a:tcPr/>
                </a:tc>
                <a:extLst>
                  <a:ext uri="{0D108BD9-81ED-4DB2-BD59-A6C34878D82A}">
                    <a16:rowId xmlns:a16="http://schemas.microsoft.com/office/drawing/2014/main" val="4027267220"/>
                  </a:ext>
                </a:extLst>
              </a:tr>
              <a:tr h="370840">
                <a:tc>
                  <a:txBody>
                    <a:bodyPr/>
                    <a:lstStyle/>
                    <a:p>
                      <a:pPr algn="ctr"/>
                      <a:r>
                        <a:rPr lang="en-GB" dirty="0"/>
                        <a:t>5</a:t>
                      </a:r>
                    </a:p>
                  </a:txBody>
                  <a:tcPr/>
                </a:tc>
                <a:tc>
                  <a:txBody>
                    <a:bodyPr/>
                    <a:lstStyle/>
                    <a:p>
                      <a:pPr algn="ctr"/>
                      <a:r>
                        <a:rPr lang="en-GB" dirty="0"/>
                        <a:t>23</a:t>
                      </a:r>
                    </a:p>
                  </a:txBody>
                  <a:tcPr/>
                </a:tc>
                <a:extLst>
                  <a:ext uri="{0D108BD9-81ED-4DB2-BD59-A6C34878D82A}">
                    <a16:rowId xmlns:a16="http://schemas.microsoft.com/office/drawing/2014/main" val="2887340781"/>
                  </a:ext>
                </a:extLst>
              </a:tr>
              <a:tr h="370840">
                <a:tc>
                  <a:txBody>
                    <a:bodyPr/>
                    <a:lstStyle/>
                    <a:p>
                      <a:pPr algn="ctr"/>
                      <a:r>
                        <a:rPr lang="en-GB" dirty="0"/>
                        <a:t>6</a:t>
                      </a:r>
                    </a:p>
                  </a:txBody>
                  <a:tcPr/>
                </a:tc>
                <a:tc>
                  <a:txBody>
                    <a:bodyPr/>
                    <a:lstStyle/>
                    <a:p>
                      <a:pPr algn="ctr"/>
                      <a:r>
                        <a:rPr lang="en-GB" dirty="0"/>
                        <a:t>12</a:t>
                      </a:r>
                    </a:p>
                  </a:txBody>
                  <a:tcPr/>
                </a:tc>
                <a:extLst>
                  <a:ext uri="{0D108BD9-81ED-4DB2-BD59-A6C34878D82A}">
                    <a16:rowId xmlns:a16="http://schemas.microsoft.com/office/drawing/2014/main" val="3808870730"/>
                  </a:ext>
                </a:extLst>
              </a:tr>
              <a:tr h="370840">
                <a:tc gridSpan="2">
                  <a:txBody>
                    <a:bodyPr/>
                    <a:lstStyle/>
                    <a:p>
                      <a:endParaRPr lang="en-GB" dirty="0"/>
                    </a:p>
                  </a:txBody>
                  <a:tcPr>
                    <a:solidFill>
                      <a:schemeClr val="accent2"/>
                    </a:solidFill>
                  </a:tcPr>
                </a:tc>
                <a:tc hMerge="1">
                  <a:txBody>
                    <a:bodyPr/>
                    <a:lstStyle/>
                    <a:p>
                      <a:endParaRPr lang="en-GB" dirty="0"/>
                    </a:p>
                  </a:txBody>
                  <a:tcPr/>
                </a:tc>
                <a:extLst>
                  <a:ext uri="{0D108BD9-81ED-4DB2-BD59-A6C34878D82A}">
                    <a16:rowId xmlns:a16="http://schemas.microsoft.com/office/drawing/2014/main" val="453354336"/>
                  </a:ext>
                </a:extLst>
              </a:tr>
            </a:tbl>
          </a:graphicData>
        </a:graphic>
      </p:graphicFrame>
      <p:grpSp>
        <p:nvGrpSpPr>
          <p:cNvPr id="40" name="Group 39">
            <a:extLst>
              <a:ext uri="{FF2B5EF4-FFF2-40B4-BE49-F238E27FC236}">
                <a16:creationId xmlns:a16="http://schemas.microsoft.com/office/drawing/2014/main" id="{47E1A734-AE40-47F7-852D-7A031D45B524}"/>
              </a:ext>
            </a:extLst>
          </p:cNvPr>
          <p:cNvGrpSpPr/>
          <p:nvPr/>
        </p:nvGrpSpPr>
        <p:grpSpPr>
          <a:xfrm>
            <a:off x="3084475" y="3200784"/>
            <a:ext cx="1472844" cy="809946"/>
            <a:chOff x="5089451" y="3108977"/>
            <a:chExt cx="2714502" cy="809946"/>
          </a:xfrm>
        </p:grpSpPr>
        <p:cxnSp>
          <p:nvCxnSpPr>
            <p:cNvPr id="37" name="Straight Arrow Connector 36">
              <a:extLst>
                <a:ext uri="{FF2B5EF4-FFF2-40B4-BE49-F238E27FC236}">
                  <a16:creationId xmlns:a16="http://schemas.microsoft.com/office/drawing/2014/main" id="{C6AEA4D1-72B5-4D9F-BB16-A0F6FA61BE1E}"/>
                </a:ext>
              </a:extLst>
            </p:cNvPr>
            <p:cNvCxnSpPr>
              <a:cxnSpLocks/>
            </p:cNvCxnSpPr>
            <p:nvPr/>
          </p:nvCxnSpPr>
          <p:spPr>
            <a:xfrm>
              <a:off x="5089451" y="3108977"/>
              <a:ext cx="2714502" cy="0"/>
            </a:xfrm>
            <a:prstGeom prst="straightConnector1">
              <a:avLst/>
            </a:prstGeom>
            <a:ln w="5080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39" name="Straight Arrow Connector 38">
              <a:extLst>
                <a:ext uri="{FF2B5EF4-FFF2-40B4-BE49-F238E27FC236}">
                  <a16:creationId xmlns:a16="http://schemas.microsoft.com/office/drawing/2014/main" id="{D6D8C3F4-936D-45F6-A054-B9BEF87A8BFB}"/>
                </a:ext>
              </a:extLst>
            </p:cNvPr>
            <p:cNvCxnSpPr>
              <a:cxnSpLocks/>
            </p:cNvCxnSpPr>
            <p:nvPr/>
          </p:nvCxnSpPr>
          <p:spPr>
            <a:xfrm>
              <a:off x="5089451" y="3918923"/>
              <a:ext cx="2714502" cy="0"/>
            </a:xfrm>
            <a:prstGeom prst="straightConnector1">
              <a:avLst/>
            </a:prstGeom>
            <a:ln w="50800">
              <a:solidFill>
                <a:srgbClr val="C00000"/>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grpSp>
      <p:sp>
        <p:nvSpPr>
          <p:cNvPr id="25" name="Rectangle 24">
            <a:extLst>
              <a:ext uri="{FF2B5EF4-FFF2-40B4-BE49-F238E27FC236}">
                <a16:creationId xmlns:a16="http://schemas.microsoft.com/office/drawing/2014/main" id="{0D3B543E-4DB3-4407-931C-F561879D94FA}"/>
              </a:ext>
            </a:extLst>
          </p:cNvPr>
          <p:cNvSpPr/>
          <p:nvPr/>
        </p:nvSpPr>
        <p:spPr>
          <a:xfrm>
            <a:off x="8063188" y="1131152"/>
            <a:ext cx="3998674" cy="1070871"/>
          </a:xfrm>
          <a:prstGeom prst="rect">
            <a:avLst/>
          </a:prstGeom>
        </p:spPr>
        <p:txBody>
          <a:bodyPr wrap="square">
            <a:spAutoFit/>
          </a:bodyPr>
          <a:lstStyle/>
          <a:p>
            <a:pPr>
              <a:lnSpc>
                <a:spcPct val="107000"/>
              </a:lnSpc>
              <a:spcAft>
                <a:spcPts val="800"/>
              </a:spcAft>
            </a:pPr>
            <a:r>
              <a:rPr lang="en-GB" b="1" dirty="0">
                <a:latin typeface="Calibri" panose="020F0502020204030204" pitchFamily="34" charset="0"/>
                <a:ea typeface="Calibri" panose="020F0502020204030204" pitchFamily="34" charset="0"/>
                <a:cs typeface="Times New Roman" panose="02020603050405020304" pitchFamily="18" charset="0"/>
              </a:rPr>
              <a:t>Memory address register (MAR)</a:t>
            </a:r>
          </a:p>
          <a:p>
            <a:pPr>
              <a:lnSpc>
                <a:spcPct val="107000"/>
              </a:lnSpc>
              <a:spcAft>
                <a:spcPts val="800"/>
              </a:spcAft>
            </a:pPr>
            <a:r>
              <a:rPr lang="en-GB" dirty="0">
                <a:latin typeface="Calibri" panose="020F0502020204030204" pitchFamily="34" charset="0"/>
                <a:ea typeface="Calibri" panose="020F0502020204030204" pitchFamily="34" charset="0"/>
                <a:cs typeface="Times New Roman" panose="02020603050405020304" pitchFamily="18" charset="0"/>
              </a:rPr>
              <a:t>Holds the memory address where data is to be fetched from or written to.</a:t>
            </a:r>
            <a:endParaRPr lang="en-GB" sz="1050" dirty="0">
              <a:latin typeface="Calibri" panose="020F0502020204030204" pitchFamily="34" charset="0"/>
              <a:ea typeface="Calibri" panose="020F0502020204030204" pitchFamily="34" charset="0"/>
              <a:cs typeface="Times New Roman" panose="02020603050405020304" pitchFamily="18" charset="0"/>
            </a:endParaRPr>
          </a:p>
        </p:txBody>
      </p:sp>
      <p:sp>
        <p:nvSpPr>
          <p:cNvPr id="38" name="Rectangle 37">
            <a:extLst>
              <a:ext uri="{FF2B5EF4-FFF2-40B4-BE49-F238E27FC236}">
                <a16:creationId xmlns:a16="http://schemas.microsoft.com/office/drawing/2014/main" id="{C5366EFB-3C25-4F39-B2FE-1F970BF8C922}"/>
              </a:ext>
            </a:extLst>
          </p:cNvPr>
          <p:cNvSpPr/>
          <p:nvPr/>
        </p:nvSpPr>
        <p:spPr>
          <a:xfrm>
            <a:off x="666052" y="4843426"/>
            <a:ext cx="1087357" cy="638464"/>
          </a:xfrm>
          <a:prstGeom prst="rect">
            <a:avLst/>
          </a:prstGeom>
          <a:solidFill>
            <a:schemeClr val="bg1"/>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100" b="1" dirty="0">
                <a:solidFill>
                  <a:schemeClr val="tx1"/>
                </a:solidFill>
              </a:rPr>
              <a:t>Cache</a:t>
            </a:r>
          </a:p>
        </p:txBody>
      </p:sp>
      <p:pic>
        <p:nvPicPr>
          <p:cNvPr id="41" name="Picture 40">
            <a:extLst>
              <a:ext uri="{FF2B5EF4-FFF2-40B4-BE49-F238E27FC236}">
                <a16:creationId xmlns:a16="http://schemas.microsoft.com/office/drawing/2014/main" id="{009AE30D-5854-4ECB-A88F-F47F390E8B5F}"/>
              </a:ext>
            </a:extLst>
          </p:cNvPr>
          <p:cNvPicPr>
            <a:picLocks noChangeAspect="1"/>
          </p:cNvPicPr>
          <p:nvPr/>
        </p:nvPicPr>
        <p:blipFill>
          <a:blip r:embed="rId2"/>
          <a:stretch>
            <a:fillRect/>
          </a:stretch>
        </p:blipFill>
        <p:spPr>
          <a:xfrm>
            <a:off x="2301155" y="4826252"/>
            <a:ext cx="641729" cy="638464"/>
          </a:xfrm>
          <a:prstGeom prst="rect">
            <a:avLst/>
          </a:prstGeom>
        </p:spPr>
      </p:pic>
      <p:sp>
        <p:nvSpPr>
          <p:cNvPr id="42" name="Rectangle 41">
            <a:extLst>
              <a:ext uri="{FF2B5EF4-FFF2-40B4-BE49-F238E27FC236}">
                <a16:creationId xmlns:a16="http://schemas.microsoft.com/office/drawing/2014/main" id="{D7407573-FE79-4FD1-99B5-D63118788872}"/>
              </a:ext>
            </a:extLst>
          </p:cNvPr>
          <p:cNvSpPr/>
          <p:nvPr/>
        </p:nvSpPr>
        <p:spPr>
          <a:xfrm>
            <a:off x="2109112" y="4843426"/>
            <a:ext cx="1074483" cy="638464"/>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100" b="1" dirty="0">
                <a:solidFill>
                  <a:schemeClr val="tx1"/>
                </a:solidFill>
              </a:rPr>
              <a:t>Clock</a:t>
            </a:r>
          </a:p>
        </p:txBody>
      </p:sp>
      <p:grpSp>
        <p:nvGrpSpPr>
          <p:cNvPr id="32" name="Group 31">
            <a:extLst>
              <a:ext uri="{FF2B5EF4-FFF2-40B4-BE49-F238E27FC236}">
                <a16:creationId xmlns:a16="http://schemas.microsoft.com/office/drawing/2014/main" id="{8DBC9BDD-3932-4E2A-94CB-7957185CAC07}"/>
              </a:ext>
            </a:extLst>
          </p:cNvPr>
          <p:cNvGrpSpPr/>
          <p:nvPr/>
        </p:nvGrpSpPr>
        <p:grpSpPr>
          <a:xfrm flipV="1">
            <a:off x="1230797" y="4490796"/>
            <a:ext cx="1449572" cy="683607"/>
            <a:chOff x="1202957" y="1882152"/>
            <a:chExt cx="1449572" cy="683607"/>
          </a:xfrm>
        </p:grpSpPr>
        <p:cxnSp>
          <p:nvCxnSpPr>
            <p:cNvPr id="33" name="Straight Arrow Connector 32">
              <a:extLst>
                <a:ext uri="{FF2B5EF4-FFF2-40B4-BE49-F238E27FC236}">
                  <a16:creationId xmlns:a16="http://schemas.microsoft.com/office/drawing/2014/main" id="{6B31A1D7-268A-45AB-8BD0-954594AE0039}"/>
                </a:ext>
              </a:extLst>
            </p:cNvPr>
            <p:cNvCxnSpPr>
              <a:cxnSpLocks/>
            </p:cNvCxnSpPr>
            <p:nvPr/>
          </p:nvCxnSpPr>
          <p:spPr>
            <a:xfrm flipV="1">
              <a:off x="1202957" y="2211632"/>
              <a:ext cx="0" cy="354127"/>
            </a:xfrm>
            <a:prstGeom prst="straightConnector1">
              <a:avLst/>
            </a:prstGeom>
            <a:ln w="50800">
              <a:solidFill>
                <a:srgbClr val="C00000"/>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5" name="Straight Arrow Connector 34">
              <a:extLst>
                <a:ext uri="{FF2B5EF4-FFF2-40B4-BE49-F238E27FC236}">
                  <a16:creationId xmlns:a16="http://schemas.microsoft.com/office/drawing/2014/main" id="{085B56D5-4AEB-486D-96DD-1E4A37969D9C}"/>
                </a:ext>
              </a:extLst>
            </p:cNvPr>
            <p:cNvCxnSpPr>
              <a:cxnSpLocks/>
            </p:cNvCxnSpPr>
            <p:nvPr/>
          </p:nvCxnSpPr>
          <p:spPr>
            <a:xfrm flipV="1">
              <a:off x="2652529" y="2211632"/>
              <a:ext cx="0" cy="354127"/>
            </a:xfrm>
            <a:prstGeom prst="straightConnector1">
              <a:avLst/>
            </a:prstGeom>
            <a:ln w="50800">
              <a:solidFill>
                <a:srgbClr val="C00000"/>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C62E65C3-1615-4093-8C05-318AE3B27C9A}"/>
                </a:ext>
              </a:extLst>
            </p:cNvPr>
            <p:cNvCxnSpPr>
              <a:cxnSpLocks/>
            </p:cNvCxnSpPr>
            <p:nvPr/>
          </p:nvCxnSpPr>
          <p:spPr>
            <a:xfrm rot="5400000" flipV="1">
              <a:off x="1897902" y="1705088"/>
              <a:ext cx="0" cy="354127"/>
            </a:xfrm>
            <a:prstGeom prst="straightConnector1">
              <a:avLst/>
            </a:prstGeom>
            <a:ln w="50800">
              <a:solidFill>
                <a:srgbClr val="C00000"/>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64528178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97F5328-60A8-4150-89ED-2AED3C67E0EE}"/>
              </a:ext>
            </a:extLst>
          </p:cNvPr>
          <p:cNvSpPr/>
          <p:nvPr/>
        </p:nvSpPr>
        <p:spPr>
          <a:xfrm>
            <a:off x="176565" y="523174"/>
            <a:ext cx="3556615" cy="470000"/>
          </a:xfrm>
          <a:prstGeom prst="rect">
            <a:avLst/>
          </a:prstGeom>
        </p:spPr>
        <p:txBody>
          <a:bodyPr wrap="none">
            <a:spAutoFit/>
          </a:bodyPr>
          <a:lstStyle/>
          <a:p>
            <a:pPr>
              <a:lnSpc>
                <a:spcPct val="107000"/>
              </a:lnSpc>
              <a:spcAft>
                <a:spcPts val="800"/>
              </a:spcAft>
            </a:pPr>
            <a:r>
              <a:rPr lang="en-GB" sz="2400" dirty="0">
                <a:solidFill>
                  <a:schemeClr val="accent2">
                    <a:lumMod val="75000"/>
                  </a:schemeClr>
                </a:solidFill>
                <a:latin typeface="Calibri" panose="020F0502020204030204" pitchFamily="34" charset="0"/>
                <a:ea typeface="Calibri" panose="020F0502020204030204" pitchFamily="34" charset="0"/>
                <a:cs typeface="Times New Roman" panose="02020603050405020304" pitchFamily="18" charset="0"/>
              </a:rPr>
              <a:t>Von Neumann architecture</a:t>
            </a:r>
            <a:endParaRPr lang="en-GB" sz="1200" dirty="0">
              <a:solidFill>
                <a:schemeClr val="accent2">
                  <a:lumMod val="75000"/>
                </a:schemeClr>
              </a:solidFill>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0" name="Rectangle 9">
            <a:extLst>
              <a:ext uri="{FF2B5EF4-FFF2-40B4-BE49-F238E27FC236}">
                <a16:creationId xmlns:a16="http://schemas.microsoft.com/office/drawing/2014/main" id="{14E1E4FB-B01B-4CAE-9EFC-8635BEFA9DEB}"/>
              </a:ext>
            </a:extLst>
          </p:cNvPr>
          <p:cNvSpPr/>
          <p:nvPr/>
        </p:nvSpPr>
        <p:spPr>
          <a:xfrm>
            <a:off x="276550" y="1187335"/>
            <a:ext cx="3237538" cy="4483337"/>
          </a:xfrm>
          <a:prstGeom prst="rect">
            <a:avLst/>
          </a:prstGeom>
          <a:solidFill>
            <a:schemeClr val="accent4">
              <a:lumMod val="20000"/>
              <a:lumOff val="80000"/>
            </a:schemeClr>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1872000" tIns="1260000" rtlCol="0" anchor="t" anchorCtr="0"/>
          <a:lstStyle/>
          <a:p>
            <a:pPr algn="ctr"/>
            <a:endParaRPr lang="en-GB" dirty="0">
              <a:solidFill>
                <a:schemeClr val="tx1"/>
              </a:solidFill>
            </a:endParaRPr>
          </a:p>
        </p:txBody>
      </p:sp>
      <p:sp>
        <p:nvSpPr>
          <p:cNvPr id="12" name="Rectangle 11">
            <a:extLst>
              <a:ext uri="{FF2B5EF4-FFF2-40B4-BE49-F238E27FC236}">
                <a16:creationId xmlns:a16="http://schemas.microsoft.com/office/drawing/2014/main" id="{A3C8042A-1D6E-4D8E-9615-EAD11E9612BE}"/>
              </a:ext>
            </a:extLst>
          </p:cNvPr>
          <p:cNvSpPr/>
          <p:nvPr/>
        </p:nvSpPr>
        <p:spPr>
          <a:xfrm>
            <a:off x="475549" y="1265904"/>
            <a:ext cx="2879050" cy="4338771"/>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GB" sz="1100" b="1" dirty="0">
                <a:solidFill>
                  <a:schemeClr val="tx1"/>
                </a:solidFill>
              </a:rPr>
              <a:t>Central processing unit (CPU)</a:t>
            </a:r>
          </a:p>
        </p:txBody>
      </p:sp>
      <p:sp>
        <p:nvSpPr>
          <p:cNvPr id="17" name="Rectangle 16">
            <a:extLst>
              <a:ext uri="{FF2B5EF4-FFF2-40B4-BE49-F238E27FC236}">
                <a16:creationId xmlns:a16="http://schemas.microsoft.com/office/drawing/2014/main" id="{9DC6B7E0-027D-4EF6-AD4D-DC5D9B452BE9}"/>
              </a:ext>
            </a:extLst>
          </p:cNvPr>
          <p:cNvSpPr/>
          <p:nvPr/>
        </p:nvSpPr>
        <p:spPr>
          <a:xfrm>
            <a:off x="666934" y="1507626"/>
            <a:ext cx="1081825" cy="708338"/>
          </a:xfrm>
          <a:prstGeom prst="rect">
            <a:avLst/>
          </a:prstGeom>
          <a:solidFill>
            <a:schemeClr val="bg1"/>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100" dirty="0">
                <a:solidFill>
                  <a:schemeClr val="tx1"/>
                </a:solidFill>
              </a:rPr>
              <a:t>Control</a:t>
            </a:r>
          </a:p>
          <a:p>
            <a:pPr algn="ctr"/>
            <a:r>
              <a:rPr lang="en-GB" sz="1100" dirty="0">
                <a:solidFill>
                  <a:schemeClr val="tx1"/>
                </a:solidFill>
              </a:rPr>
              <a:t>unit (CU)</a:t>
            </a:r>
          </a:p>
        </p:txBody>
      </p:sp>
      <p:sp>
        <p:nvSpPr>
          <p:cNvPr id="18" name="Rectangle 17">
            <a:extLst>
              <a:ext uri="{FF2B5EF4-FFF2-40B4-BE49-F238E27FC236}">
                <a16:creationId xmlns:a16="http://schemas.microsoft.com/office/drawing/2014/main" id="{038595A0-9F1C-45FA-AD5B-9A2F795EC7C6}"/>
              </a:ext>
            </a:extLst>
          </p:cNvPr>
          <p:cNvSpPr/>
          <p:nvPr/>
        </p:nvSpPr>
        <p:spPr>
          <a:xfrm>
            <a:off x="2102652" y="1507626"/>
            <a:ext cx="1081825" cy="708338"/>
          </a:xfrm>
          <a:prstGeom prst="rect">
            <a:avLst/>
          </a:prstGeom>
          <a:solidFill>
            <a:schemeClr val="bg1"/>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100" dirty="0">
                <a:solidFill>
                  <a:schemeClr val="tx1"/>
                </a:solidFill>
              </a:rPr>
              <a:t>Arithmetic logic unit (ALU)</a:t>
            </a:r>
          </a:p>
        </p:txBody>
      </p:sp>
      <p:sp>
        <p:nvSpPr>
          <p:cNvPr id="19" name="Rectangle 18">
            <a:extLst>
              <a:ext uri="{FF2B5EF4-FFF2-40B4-BE49-F238E27FC236}">
                <a16:creationId xmlns:a16="http://schemas.microsoft.com/office/drawing/2014/main" id="{EF42D0C0-056E-48A9-8169-6B9FEB54F46C}"/>
              </a:ext>
            </a:extLst>
          </p:cNvPr>
          <p:cNvSpPr/>
          <p:nvPr/>
        </p:nvSpPr>
        <p:spPr>
          <a:xfrm>
            <a:off x="666934" y="2560734"/>
            <a:ext cx="2517543" cy="1935087"/>
          </a:xfrm>
          <a:prstGeom prst="rect">
            <a:avLst/>
          </a:prstGeom>
          <a:solidFill>
            <a:schemeClr val="accent2">
              <a:lumMod val="40000"/>
              <a:lumOff val="60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GB" sz="1100" b="1">
                <a:solidFill>
                  <a:schemeClr val="tx1"/>
                </a:solidFill>
              </a:rPr>
              <a:t>Register</a:t>
            </a:r>
            <a:endParaRPr lang="en-GB" sz="1100" b="1" dirty="0">
              <a:solidFill>
                <a:schemeClr val="tx1"/>
              </a:solidFill>
            </a:endParaRPr>
          </a:p>
        </p:txBody>
      </p:sp>
      <p:sp>
        <p:nvSpPr>
          <p:cNvPr id="20" name="Rectangle 19">
            <a:extLst>
              <a:ext uri="{FF2B5EF4-FFF2-40B4-BE49-F238E27FC236}">
                <a16:creationId xmlns:a16="http://schemas.microsoft.com/office/drawing/2014/main" id="{D5772A53-90DA-4E8B-B6E6-310B2E9375C5}"/>
              </a:ext>
            </a:extLst>
          </p:cNvPr>
          <p:cNvSpPr/>
          <p:nvPr/>
        </p:nvSpPr>
        <p:spPr>
          <a:xfrm>
            <a:off x="1996349" y="2840551"/>
            <a:ext cx="1081825" cy="708338"/>
          </a:xfrm>
          <a:prstGeom prst="rect">
            <a:avLst/>
          </a:prstGeom>
          <a:solidFill>
            <a:schemeClr val="bg1"/>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100">
                <a:solidFill>
                  <a:schemeClr val="tx1"/>
                </a:solidFill>
              </a:rPr>
              <a:t>Memory address register </a:t>
            </a:r>
            <a:r>
              <a:rPr lang="en-GB" sz="1100" dirty="0">
                <a:solidFill>
                  <a:schemeClr val="tx1"/>
                </a:solidFill>
              </a:rPr>
              <a:t>(MAR)</a:t>
            </a:r>
          </a:p>
        </p:txBody>
      </p:sp>
      <p:sp>
        <p:nvSpPr>
          <p:cNvPr id="21" name="Rectangle 20">
            <a:extLst>
              <a:ext uri="{FF2B5EF4-FFF2-40B4-BE49-F238E27FC236}">
                <a16:creationId xmlns:a16="http://schemas.microsoft.com/office/drawing/2014/main" id="{E40AA452-ABF6-4935-80C2-C940C436FB9D}"/>
              </a:ext>
            </a:extLst>
          </p:cNvPr>
          <p:cNvSpPr/>
          <p:nvPr/>
        </p:nvSpPr>
        <p:spPr>
          <a:xfrm>
            <a:off x="1993887" y="3617025"/>
            <a:ext cx="1081825" cy="708338"/>
          </a:xfrm>
          <a:prstGeom prst="rect">
            <a:avLst/>
          </a:prstGeom>
          <a:solidFill>
            <a:schemeClr val="accent4"/>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100" dirty="0">
                <a:solidFill>
                  <a:schemeClr val="tx1"/>
                </a:solidFill>
              </a:rPr>
              <a:t>Memory data register (MDR)</a:t>
            </a:r>
          </a:p>
        </p:txBody>
      </p:sp>
      <p:sp>
        <p:nvSpPr>
          <p:cNvPr id="22" name="Rectangle 21">
            <a:extLst>
              <a:ext uri="{FF2B5EF4-FFF2-40B4-BE49-F238E27FC236}">
                <a16:creationId xmlns:a16="http://schemas.microsoft.com/office/drawing/2014/main" id="{934BCE69-9910-4FFF-A932-3435BDF3A78C}"/>
              </a:ext>
            </a:extLst>
          </p:cNvPr>
          <p:cNvSpPr/>
          <p:nvPr/>
        </p:nvSpPr>
        <p:spPr>
          <a:xfrm>
            <a:off x="755539" y="3623242"/>
            <a:ext cx="1081825" cy="708338"/>
          </a:xfrm>
          <a:prstGeom prst="rect">
            <a:avLst/>
          </a:prstGeom>
          <a:solidFill>
            <a:schemeClr val="bg1"/>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100" dirty="0">
                <a:solidFill>
                  <a:schemeClr val="tx1"/>
                </a:solidFill>
              </a:rPr>
              <a:t>Program counter (PC)</a:t>
            </a:r>
          </a:p>
        </p:txBody>
      </p:sp>
      <p:sp>
        <p:nvSpPr>
          <p:cNvPr id="23" name="Rectangle 22">
            <a:extLst>
              <a:ext uri="{FF2B5EF4-FFF2-40B4-BE49-F238E27FC236}">
                <a16:creationId xmlns:a16="http://schemas.microsoft.com/office/drawing/2014/main" id="{FF6508EE-D7B4-4EDB-97C9-EE5EC2A39807}"/>
              </a:ext>
            </a:extLst>
          </p:cNvPr>
          <p:cNvSpPr/>
          <p:nvPr/>
        </p:nvSpPr>
        <p:spPr>
          <a:xfrm>
            <a:off x="755539" y="2837779"/>
            <a:ext cx="1081825" cy="708338"/>
          </a:xfrm>
          <a:prstGeom prst="rect">
            <a:avLst/>
          </a:prstGeom>
          <a:solidFill>
            <a:schemeClr val="bg1"/>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100" dirty="0">
                <a:solidFill>
                  <a:schemeClr val="tx1"/>
                </a:solidFill>
              </a:rPr>
              <a:t>Accumulator</a:t>
            </a:r>
          </a:p>
        </p:txBody>
      </p:sp>
      <p:cxnSp>
        <p:nvCxnSpPr>
          <p:cNvPr id="28" name="Straight Arrow Connector 27">
            <a:extLst>
              <a:ext uri="{FF2B5EF4-FFF2-40B4-BE49-F238E27FC236}">
                <a16:creationId xmlns:a16="http://schemas.microsoft.com/office/drawing/2014/main" id="{7AF01822-F7B6-4209-91EC-176D1A2ECB12}"/>
              </a:ext>
            </a:extLst>
          </p:cNvPr>
          <p:cNvCxnSpPr>
            <a:cxnSpLocks/>
          </p:cNvCxnSpPr>
          <p:nvPr/>
        </p:nvCxnSpPr>
        <p:spPr>
          <a:xfrm flipV="1">
            <a:off x="1202957" y="2211632"/>
            <a:ext cx="0" cy="354127"/>
          </a:xfrm>
          <a:prstGeom prst="straightConnector1">
            <a:avLst/>
          </a:prstGeom>
          <a:ln w="50800">
            <a:solidFill>
              <a:srgbClr val="C00000"/>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905747BB-A70B-42B6-9A40-AC791675AB51}"/>
              </a:ext>
            </a:extLst>
          </p:cNvPr>
          <p:cNvCxnSpPr>
            <a:cxnSpLocks/>
          </p:cNvCxnSpPr>
          <p:nvPr/>
        </p:nvCxnSpPr>
        <p:spPr>
          <a:xfrm flipV="1">
            <a:off x="2652529" y="2211632"/>
            <a:ext cx="0" cy="354127"/>
          </a:xfrm>
          <a:prstGeom prst="straightConnector1">
            <a:avLst/>
          </a:prstGeom>
          <a:ln w="50800">
            <a:solidFill>
              <a:srgbClr val="C00000"/>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67D85183-321A-44C3-82FA-78C29445E88C}"/>
              </a:ext>
            </a:extLst>
          </p:cNvPr>
          <p:cNvCxnSpPr>
            <a:cxnSpLocks/>
          </p:cNvCxnSpPr>
          <p:nvPr/>
        </p:nvCxnSpPr>
        <p:spPr>
          <a:xfrm rot="5400000" flipV="1">
            <a:off x="1926477" y="1666988"/>
            <a:ext cx="0" cy="354127"/>
          </a:xfrm>
          <a:prstGeom prst="straightConnector1">
            <a:avLst/>
          </a:prstGeom>
          <a:ln w="50800">
            <a:solidFill>
              <a:srgbClr val="C00000"/>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34" name="Rectangle 33">
            <a:extLst>
              <a:ext uri="{FF2B5EF4-FFF2-40B4-BE49-F238E27FC236}">
                <a16:creationId xmlns:a16="http://schemas.microsoft.com/office/drawing/2014/main" id="{0545FFC8-9493-4EB4-A6FB-F3C980EBC5A5}"/>
              </a:ext>
            </a:extLst>
          </p:cNvPr>
          <p:cNvSpPr/>
          <p:nvPr/>
        </p:nvSpPr>
        <p:spPr>
          <a:xfrm>
            <a:off x="4557319" y="1187335"/>
            <a:ext cx="3237538" cy="4483329"/>
          </a:xfrm>
          <a:prstGeom prst="rect">
            <a:avLst/>
          </a:prstGeom>
          <a:solidFill>
            <a:schemeClr val="accent4">
              <a:lumMod val="20000"/>
              <a:lumOff val="80000"/>
            </a:schemeClr>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GB" dirty="0">
                <a:solidFill>
                  <a:schemeClr val="tx1"/>
                </a:solidFill>
              </a:rPr>
              <a:t>Main memory (RAM)</a:t>
            </a:r>
          </a:p>
        </p:txBody>
      </p:sp>
      <p:graphicFrame>
        <p:nvGraphicFramePr>
          <p:cNvPr id="2" name="Table 32">
            <a:extLst>
              <a:ext uri="{FF2B5EF4-FFF2-40B4-BE49-F238E27FC236}">
                <a16:creationId xmlns:a16="http://schemas.microsoft.com/office/drawing/2014/main" id="{8E9FC54D-B26B-406A-BF90-1A835E0701E6}"/>
              </a:ext>
            </a:extLst>
          </p:cNvPr>
          <p:cNvGraphicFramePr>
            <a:graphicFrameLocks noGrp="1"/>
          </p:cNvGraphicFramePr>
          <p:nvPr>
            <p:extLst>
              <p:ext uri="{D42A27DB-BD31-4B8C-83A1-F6EECF244321}">
                <p14:modId xmlns:p14="http://schemas.microsoft.com/office/powerpoint/2010/main" val="1875139874"/>
              </p:ext>
            </p:extLst>
          </p:nvPr>
        </p:nvGraphicFramePr>
        <p:xfrm>
          <a:off x="4825649" y="1658897"/>
          <a:ext cx="2239767" cy="3774440"/>
        </p:xfrm>
        <a:graphic>
          <a:graphicData uri="http://schemas.openxmlformats.org/drawingml/2006/table">
            <a:tbl>
              <a:tblPr firstRow="1" bandRow="1">
                <a:tableStyleId>{21E4AEA4-8DFA-4A89-87EB-49C32662AFE0}</a:tableStyleId>
              </a:tblPr>
              <a:tblGrid>
                <a:gridCol w="1037691">
                  <a:extLst>
                    <a:ext uri="{9D8B030D-6E8A-4147-A177-3AD203B41FA5}">
                      <a16:colId xmlns:a16="http://schemas.microsoft.com/office/drawing/2014/main" val="3614015831"/>
                    </a:ext>
                  </a:extLst>
                </a:gridCol>
                <a:gridCol w="1202076">
                  <a:extLst>
                    <a:ext uri="{9D8B030D-6E8A-4147-A177-3AD203B41FA5}">
                      <a16:colId xmlns:a16="http://schemas.microsoft.com/office/drawing/2014/main" val="3794086153"/>
                    </a:ext>
                  </a:extLst>
                </a:gridCol>
              </a:tblGrid>
              <a:tr h="370840">
                <a:tc>
                  <a:txBody>
                    <a:bodyPr/>
                    <a:lstStyle/>
                    <a:p>
                      <a:pPr algn="ctr"/>
                      <a:r>
                        <a:rPr lang="en-GB" dirty="0"/>
                        <a:t>Address</a:t>
                      </a:r>
                    </a:p>
                  </a:txBody>
                  <a:tcPr/>
                </a:tc>
                <a:tc>
                  <a:txBody>
                    <a:bodyPr/>
                    <a:lstStyle/>
                    <a:p>
                      <a:pPr algn="ctr"/>
                      <a:r>
                        <a:rPr lang="en-GB" dirty="0"/>
                        <a:t>Data</a:t>
                      </a:r>
                    </a:p>
                  </a:txBody>
                  <a:tcPr/>
                </a:tc>
                <a:extLst>
                  <a:ext uri="{0D108BD9-81ED-4DB2-BD59-A6C34878D82A}">
                    <a16:rowId xmlns:a16="http://schemas.microsoft.com/office/drawing/2014/main" val="1704211108"/>
                  </a:ext>
                </a:extLst>
              </a:tr>
              <a:tr h="370840">
                <a:tc>
                  <a:txBody>
                    <a:bodyPr/>
                    <a:lstStyle/>
                    <a:p>
                      <a:pPr algn="ctr"/>
                      <a:r>
                        <a:rPr lang="en-GB" dirty="0"/>
                        <a:t>1</a:t>
                      </a:r>
                    </a:p>
                  </a:txBody>
                  <a:tcPr/>
                </a:tc>
                <a:tc>
                  <a:txBody>
                    <a:bodyPr/>
                    <a:lstStyle/>
                    <a:p>
                      <a:pPr algn="ctr"/>
                      <a:r>
                        <a:rPr lang="en-GB" dirty="0"/>
                        <a:t>Load address 5</a:t>
                      </a:r>
                    </a:p>
                  </a:txBody>
                  <a:tcPr/>
                </a:tc>
                <a:extLst>
                  <a:ext uri="{0D108BD9-81ED-4DB2-BD59-A6C34878D82A}">
                    <a16:rowId xmlns:a16="http://schemas.microsoft.com/office/drawing/2014/main" val="74178786"/>
                  </a:ext>
                </a:extLst>
              </a:tr>
              <a:tr h="370840">
                <a:tc>
                  <a:txBody>
                    <a:bodyPr/>
                    <a:lstStyle/>
                    <a:p>
                      <a:pPr algn="ctr"/>
                      <a:r>
                        <a:rPr lang="en-GB" dirty="0"/>
                        <a:t>2</a:t>
                      </a:r>
                    </a:p>
                  </a:txBody>
                  <a:tcPr/>
                </a:tc>
                <a:tc>
                  <a:txBody>
                    <a:bodyPr/>
                    <a:lstStyle/>
                    <a:p>
                      <a:pPr algn="ctr"/>
                      <a:r>
                        <a:rPr lang="en-GB" dirty="0"/>
                        <a:t>Add address 6</a:t>
                      </a:r>
                    </a:p>
                  </a:txBody>
                  <a:tcPr/>
                </a:tc>
                <a:extLst>
                  <a:ext uri="{0D108BD9-81ED-4DB2-BD59-A6C34878D82A}">
                    <a16:rowId xmlns:a16="http://schemas.microsoft.com/office/drawing/2014/main" val="1752188674"/>
                  </a:ext>
                </a:extLst>
              </a:tr>
              <a:tr h="370840">
                <a:tc>
                  <a:txBody>
                    <a:bodyPr/>
                    <a:lstStyle/>
                    <a:p>
                      <a:pPr algn="ctr"/>
                      <a:r>
                        <a:rPr lang="en-GB" dirty="0"/>
                        <a:t>3</a:t>
                      </a:r>
                    </a:p>
                  </a:txBody>
                  <a:tcPr/>
                </a:tc>
                <a:tc>
                  <a:txBody>
                    <a:bodyPr/>
                    <a:lstStyle/>
                    <a:p>
                      <a:pPr algn="ctr"/>
                      <a:r>
                        <a:rPr lang="en-GB" dirty="0"/>
                        <a:t>Store in address 6</a:t>
                      </a:r>
                    </a:p>
                  </a:txBody>
                  <a:tcPr/>
                </a:tc>
                <a:extLst>
                  <a:ext uri="{0D108BD9-81ED-4DB2-BD59-A6C34878D82A}">
                    <a16:rowId xmlns:a16="http://schemas.microsoft.com/office/drawing/2014/main" val="2843260329"/>
                  </a:ext>
                </a:extLst>
              </a:tr>
              <a:tr h="370840">
                <a:tc>
                  <a:txBody>
                    <a:bodyPr/>
                    <a:lstStyle/>
                    <a:p>
                      <a:pPr algn="ctr"/>
                      <a:r>
                        <a:rPr lang="en-GB" dirty="0"/>
                        <a:t>4</a:t>
                      </a:r>
                    </a:p>
                  </a:txBody>
                  <a:tcPr/>
                </a:tc>
                <a:tc>
                  <a:txBody>
                    <a:bodyPr/>
                    <a:lstStyle/>
                    <a:p>
                      <a:pPr algn="ctr"/>
                      <a:r>
                        <a:rPr lang="en-GB" dirty="0"/>
                        <a:t>End</a:t>
                      </a:r>
                    </a:p>
                  </a:txBody>
                  <a:tcPr/>
                </a:tc>
                <a:extLst>
                  <a:ext uri="{0D108BD9-81ED-4DB2-BD59-A6C34878D82A}">
                    <a16:rowId xmlns:a16="http://schemas.microsoft.com/office/drawing/2014/main" val="4027267220"/>
                  </a:ext>
                </a:extLst>
              </a:tr>
              <a:tr h="370840">
                <a:tc>
                  <a:txBody>
                    <a:bodyPr/>
                    <a:lstStyle/>
                    <a:p>
                      <a:pPr algn="ctr"/>
                      <a:r>
                        <a:rPr lang="en-GB" dirty="0"/>
                        <a:t>5</a:t>
                      </a:r>
                    </a:p>
                  </a:txBody>
                  <a:tcPr/>
                </a:tc>
                <a:tc>
                  <a:txBody>
                    <a:bodyPr/>
                    <a:lstStyle/>
                    <a:p>
                      <a:pPr algn="ctr"/>
                      <a:r>
                        <a:rPr lang="en-GB" dirty="0"/>
                        <a:t>23</a:t>
                      </a:r>
                    </a:p>
                  </a:txBody>
                  <a:tcPr/>
                </a:tc>
                <a:extLst>
                  <a:ext uri="{0D108BD9-81ED-4DB2-BD59-A6C34878D82A}">
                    <a16:rowId xmlns:a16="http://schemas.microsoft.com/office/drawing/2014/main" val="2887340781"/>
                  </a:ext>
                </a:extLst>
              </a:tr>
              <a:tr h="370840">
                <a:tc>
                  <a:txBody>
                    <a:bodyPr/>
                    <a:lstStyle/>
                    <a:p>
                      <a:pPr algn="ctr"/>
                      <a:r>
                        <a:rPr lang="en-GB" dirty="0"/>
                        <a:t>6</a:t>
                      </a:r>
                    </a:p>
                  </a:txBody>
                  <a:tcPr/>
                </a:tc>
                <a:tc>
                  <a:txBody>
                    <a:bodyPr/>
                    <a:lstStyle/>
                    <a:p>
                      <a:pPr algn="ctr"/>
                      <a:r>
                        <a:rPr lang="en-GB" dirty="0"/>
                        <a:t>12</a:t>
                      </a:r>
                    </a:p>
                  </a:txBody>
                  <a:tcPr/>
                </a:tc>
                <a:extLst>
                  <a:ext uri="{0D108BD9-81ED-4DB2-BD59-A6C34878D82A}">
                    <a16:rowId xmlns:a16="http://schemas.microsoft.com/office/drawing/2014/main" val="3808870730"/>
                  </a:ext>
                </a:extLst>
              </a:tr>
              <a:tr h="370840">
                <a:tc gridSpan="2">
                  <a:txBody>
                    <a:bodyPr/>
                    <a:lstStyle/>
                    <a:p>
                      <a:endParaRPr lang="en-GB" dirty="0"/>
                    </a:p>
                  </a:txBody>
                  <a:tcPr>
                    <a:solidFill>
                      <a:schemeClr val="accent2"/>
                    </a:solidFill>
                  </a:tcPr>
                </a:tc>
                <a:tc hMerge="1">
                  <a:txBody>
                    <a:bodyPr/>
                    <a:lstStyle/>
                    <a:p>
                      <a:endParaRPr lang="en-GB" dirty="0"/>
                    </a:p>
                  </a:txBody>
                  <a:tcPr/>
                </a:tc>
                <a:extLst>
                  <a:ext uri="{0D108BD9-81ED-4DB2-BD59-A6C34878D82A}">
                    <a16:rowId xmlns:a16="http://schemas.microsoft.com/office/drawing/2014/main" val="453354336"/>
                  </a:ext>
                </a:extLst>
              </a:tr>
            </a:tbl>
          </a:graphicData>
        </a:graphic>
      </p:graphicFrame>
      <p:grpSp>
        <p:nvGrpSpPr>
          <p:cNvPr id="40" name="Group 39">
            <a:extLst>
              <a:ext uri="{FF2B5EF4-FFF2-40B4-BE49-F238E27FC236}">
                <a16:creationId xmlns:a16="http://schemas.microsoft.com/office/drawing/2014/main" id="{47E1A734-AE40-47F7-852D-7A031D45B524}"/>
              </a:ext>
            </a:extLst>
          </p:cNvPr>
          <p:cNvGrpSpPr/>
          <p:nvPr/>
        </p:nvGrpSpPr>
        <p:grpSpPr>
          <a:xfrm>
            <a:off x="3084475" y="3200784"/>
            <a:ext cx="1472844" cy="809946"/>
            <a:chOff x="5089451" y="3108977"/>
            <a:chExt cx="2714502" cy="809946"/>
          </a:xfrm>
        </p:grpSpPr>
        <p:cxnSp>
          <p:nvCxnSpPr>
            <p:cNvPr id="37" name="Straight Arrow Connector 36">
              <a:extLst>
                <a:ext uri="{FF2B5EF4-FFF2-40B4-BE49-F238E27FC236}">
                  <a16:creationId xmlns:a16="http://schemas.microsoft.com/office/drawing/2014/main" id="{C6AEA4D1-72B5-4D9F-BB16-A0F6FA61BE1E}"/>
                </a:ext>
              </a:extLst>
            </p:cNvPr>
            <p:cNvCxnSpPr>
              <a:cxnSpLocks/>
            </p:cNvCxnSpPr>
            <p:nvPr/>
          </p:nvCxnSpPr>
          <p:spPr>
            <a:xfrm>
              <a:off x="5089451" y="3108977"/>
              <a:ext cx="2714502" cy="0"/>
            </a:xfrm>
            <a:prstGeom prst="straightConnector1">
              <a:avLst/>
            </a:prstGeom>
            <a:ln w="5080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39" name="Straight Arrow Connector 38">
              <a:extLst>
                <a:ext uri="{FF2B5EF4-FFF2-40B4-BE49-F238E27FC236}">
                  <a16:creationId xmlns:a16="http://schemas.microsoft.com/office/drawing/2014/main" id="{D6D8C3F4-936D-45F6-A054-B9BEF87A8BFB}"/>
                </a:ext>
              </a:extLst>
            </p:cNvPr>
            <p:cNvCxnSpPr>
              <a:cxnSpLocks/>
            </p:cNvCxnSpPr>
            <p:nvPr/>
          </p:nvCxnSpPr>
          <p:spPr>
            <a:xfrm>
              <a:off x="5089451" y="3918923"/>
              <a:ext cx="2714502" cy="0"/>
            </a:xfrm>
            <a:prstGeom prst="straightConnector1">
              <a:avLst/>
            </a:prstGeom>
            <a:ln w="50800">
              <a:solidFill>
                <a:srgbClr val="C00000"/>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grpSp>
      <p:sp>
        <p:nvSpPr>
          <p:cNvPr id="25" name="Rectangle 24">
            <a:extLst>
              <a:ext uri="{FF2B5EF4-FFF2-40B4-BE49-F238E27FC236}">
                <a16:creationId xmlns:a16="http://schemas.microsoft.com/office/drawing/2014/main" id="{0D3B543E-4DB3-4407-931C-F561879D94FA}"/>
              </a:ext>
            </a:extLst>
          </p:cNvPr>
          <p:cNvSpPr/>
          <p:nvPr/>
        </p:nvSpPr>
        <p:spPr>
          <a:xfrm>
            <a:off x="8063188" y="1131152"/>
            <a:ext cx="3998674" cy="1070871"/>
          </a:xfrm>
          <a:prstGeom prst="rect">
            <a:avLst/>
          </a:prstGeom>
        </p:spPr>
        <p:txBody>
          <a:bodyPr wrap="square">
            <a:spAutoFit/>
          </a:bodyPr>
          <a:lstStyle/>
          <a:p>
            <a:pPr>
              <a:lnSpc>
                <a:spcPct val="107000"/>
              </a:lnSpc>
              <a:spcAft>
                <a:spcPts val="800"/>
              </a:spcAft>
            </a:pPr>
            <a:r>
              <a:rPr lang="en-GB" b="1" dirty="0">
                <a:latin typeface="Calibri" panose="020F0502020204030204" pitchFamily="34" charset="0"/>
                <a:ea typeface="Calibri" panose="020F0502020204030204" pitchFamily="34" charset="0"/>
                <a:cs typeface="Times New Roman" panose="02020603050405020304" pitchFamily="18" charset="0"/>
              </a:rPr>
              <a:t>Memory data register (MDR)</a:t>
            </a:r>
          </a:p>
          <a:p>
            <a:pPr>
              <a:lnSpc>
                <a:spcPct val="107000"/>
              </a:lnSpc>
              <a:spcAft>
                <a:spcPts val="800"/>
              </a:spcAft>
            </a:pPr>
            <a:r>
              <a:rPr lang="en-GB" dirty="0">
                <a:latin typeface="Calibri" panose="020F0502020204030204" pitchFamily="34" charset="0"/>
                <a:ea typeface="Calibri" panose="020F0502020204030204" pitchFamily="34" charset="0"/>
                <a:cs typeface="Times New Roman" panose="02020603050405020304" pitchFamily="18" charset="0"/>
              </a:rPr>
              <a:t>Holds data fetched from or to be written to memory.</a:t>
            </a:r>
            <a:endParaRPr lang="en-GB" sz="1050" dirty="0">
              <a:latin typeface="Calibri" panose="020F0502020204030204" pitchFamily="34" charset="0"/>
              <a:ea typeface="Calibri" panose="020F0502020204030204" pitchFamily="34" charset="0"/>
              <a:cs typeface="Times New Roman" panose="02020603050405020304" pitchFamily="18" charset="0"/>
            </a:endParaRPr>
          </a:p>
        </p:txBody>
      </p:sp>
      <p:sp>
        <p:nvSpPr>
          <p:cNvPr id="38" name="Rectangle 37">
            <a:extLst>
              <a:ext uri="{FF2B5EF4-FFF2-40B4-BE49-F238E27FC236}">
                <a16:creationId xmlns:a16="http://schemas.microsoft.com/office/drawing/2014/main" id="{E3AEC47A-E81F-428C-991A-C104401EE980}"/>
              </a:ext>
            </a:extLst>
          </p:cNvPr>
          <p:cNvSpPr/>
          <p:nvPr/>
        </p:nvSpPr>
        <p:spPr>
          <a:xfrm>
            <a:off x="666052" y="4843426"/>
            <a:ext cx="1087357" cy="638464"/>
          </a:xfrm>
          <a:prstGeom prst="rect">
            <a:avLst/>
          </a:prstGeom>
          <a:solidFill>
            <a:schemeClr val="bg1"/>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100" b="1" dirty="0">
                <a:solidFill>
                  <a:schemeClr val="tx1"/>
                </a:solidFill>
              </a:rPr>
              <a:t>Cache</a:t>
            </a:r>
          </a:p>
        </p:txBody>
      </p:sp>
      <p:pic>
        <p:nvPicPr>
          <p:cNvPr id="41" name="Picture 40">
            <a:extLst>
              <a:ext uri="{FF2B5EF4-FFF2-40B4-BE49-F238E27FC236}">
                <a16:creationId xmlns:a16="http://schemas.microsoft.com/office/drawing/2014/main" id="{F8F13D9E-51D3-403B-9722-65C1508FE124}"/>
              </a:ext>
            </a:extLst>
          </p:cNvPr>
          <p:cNvPicPr>
            <a:picLocks noChangeAspect="1"/>
          </p:cNvPicPr>
          <p:nvPr/>
        </p:nvPicPr>
        <p:blipFill>
          <a:blip r:embed="rId2"/>
          <a:stretch>
            <a:fillRect/>
          </a:stretch>
        </p:blipFill>
        <p:spPr>
          <a:xfrm>
            <a:off x="2301155" y="4826252"/>
            <a:ext cx="641729" cy="638464"/>
          </a:xfrm>
          <a:prstGeom prst="rect">
            <a:avLst/>
          </a:prstGeom>
        </p:spPr>
      </p:pic>
      <p:sp>
        <p:nvSpPr>
          <p:cNvPr id="42" name="Rectangle 41">
            <a:extLst>
              <a:ext uri="{FF2B5EF4-FFF2-40B4-BE49-F238E27FC236}">
                <a16:creationId xmlns:a16="http://schemas.microsoft.com/office/drawing/2014/main" id="{165F6ACD-3917-42A9-B1C1-1BF6C702436C}"/>
              </a:ext>
            </a:extLst>
          </p:cNvPr>
          <p:cNvSpPr/>
          <p:nvPr/>
        </p:nvSpPr>
        <p:spPr>
          <a:xfrm>
            <a:off x="2109112" y="4843426"/>
            <a:ext cx="1074483" cy="638464"/>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100" b="1" dirty="0">
                <a:solidFill>
                  <a:schemeClr val="tx1"/>
                </a:solidFill>
              </a:rPr>
              <a:t>Clock</a:t>
            </a:r>
          </a:p>
        </p:txBody>
      </p:sp>
      <p:grpSp>
        <p:nvGrpSpPr>
          <p:cNvPr id="32" name="Group 31">
            <a:extLst>
              <a:ext uri="{FF2B5EF4-FFF2-40B4-BE49-F238E27FC236}">
                <a16:creationId xmlns:a16="http://schemas.microsoft.com/office/drawing/2014/main" id="{C69E6E27-C3BA-48F9-A50F-2EF40BF8C3A7}"/>
              </a:ext>
            </a:extLst>
          </p:cNvPr>
          <p:cNvGrpSpPr/>
          <p:nvPr/>
        </p:nvGrpSpPr>
        <p:grpSpPr>
          <a:xfrm flipV="1">
            <a:off x="1230797" y="4490796"/>
            <a:ext cx="1449572" cy="683607"/>
            <a:chOff x="1202957" y="1882152"/>
            <a:chExt cx="1449572" cy="683607"/>
          </a:xfrm>
        </p:grpSpPr>
        <p:cxnSp>
          <p:nvCxnSpPr>
            <p:cNvPr id="33" name="Straight Arrow Connector 32">
              <a:extLst>
                <a:ext uri="{FF2B5EF4-FFF2-40B4-BE49-F238E27FC236}">
                  <a16:creationId xmlns:a16="http://schemas.microsoft.com/office/drawing/2014/main" id="{A0ADDD75-D0EC-4ED6-9411-EA6ECB9E3DF5}"/>
                </a:ext>
              </a:extLst>
            </p:cNvPr>
            <p:cNvCxnSpPr>
              <a:cxnSpLocks/>
            </p:cNvCxnSpPr>
            <p:nvPr/>
          </p:nvCxnSpPr>
          <p:spPr>
            <a:xfrm flipV="1">
              <a:off x="1202957" y="2211632"/>
              <a:ext cx="0" cy="354127"/>
            </a:xfrm>
            <a:prstGeom prst="straightConnector1">
              <a:avLst/>
            </a:prstGeom>
            <a:ln w="50800">
              <a:solidFill>
                <a:srgbClr val="C00000"/>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5" name="Straight Arrow Connector 34">
              <a:extLst>
                <a:ext uri="{FF2B5EF4-FFF2-40B4-BE49-F238E27FC236}">
                  <a16:creationId xmlns:a16="http://schemas.microsoft.com/office/drawing/2014/main" id="{6A5E1A6D-D450-4FBA-8365-BFCBDE5101B8}"/>
                </a:ext>
              </a:extLst>
            </p:cNvPr>
            <p:cNvCxnSpPr>
              <a:cxnSpLocks/>
            </p:cNvCxnSpPr>
            <p:nvPr/>
          </p:nvCxnSpPr>
          <p:spPr>
            <a:xfrm flipV="1">
              <a:off x="2652529" y="2211632"/>
              <a:ext cx="0" cy="354127"/>
            </a:xfrm>
            <a:prstGeom prst="straightConnector1">
              <a:avLst/>
            </a:prstGeom>
            <a:ln w="50800">
              <a:solidFill>
                <a:srgbClr val="C00000"/>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8265C502-5D88-4F67-8E59-4CEB9CFD3B56}"/>
                </a:ext>
              </a:extLst>
            </p:cNvPr>
            <p:cNvCxnSpPr>
              <a:cxnSpLocks/>
            </p:cNvCxnSpPr>
            <p:nvPr/>
          </p:nvCxnSpPr>
          <p:spPr>
            <a:xfrm rot="5400000" flipV="1">
              <a:off x="1897902" y="1705088"/>
              <a:ext cx="0" cy="354127"/>
            </a:xfrm>
            <a:prstGeom prst="straightConnector1">
              <a:avLst/>
            </a:prstGeom>
            <a:ln w="50800">
              <a:solidFill>
                <a:srgbClr val="C00000"/>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82038155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97F5328-60A8-4150-89ED-2AED3C67E0EE}"/>
              </a:ext>
            </a:extLst>
          </p:cNvPr>
          <p:cNvSpPr/>
          <p:nvPr/>
        </p:nvSpPr>
        <p:spPr>
          <a:xfrm>
            <a:off x="176565" y="523174"/>
            <a:ext cx="3556615" cy="470000"/>
          </a:xfrm>
          <a:prstGeom prst="rect">
            <a:avLst/>
          </a:prstGeom>
        </p:spPr>
        <p:txBody>
          <a:bodyPr wrap="none">
            <a:spAutoFit/>
          </a:bodyPr>
          <a:lstStyle/>
          <a:p>
            <a:pPr>
              <a:lnSpc>
                <a:spcPct val="107000"/>
              </a:lnSpc>
              <a:spcAft>
                <a:spcPts val="800"/>
              </a:spcAft>
            </a:pPr>
            <a:r>
              <a:rPr lang="en-GB" sz="2400" dirty="0">
                <a:solidFill>
                  <a:schemeClr val="accent2">
                    <a:lumMod val="75000"/>
                  </a:schemeClr>
                </a:solidFill>
                <a:latin typeface="Calibri" panose="020F0502020204030204" pitchFamily="34" charset="0"/>
                <a:ea typeface="Calibri" panose="020F0502020204030204" pitchFamily="34" charset="0"/>
                <a:cs typeface="Times New Roman" panose="02020603050405020304" pitchFamily="18" charset="0"/>
              </a:rPr>
              <a:t>Von Neumann architecture</a:t>
            </a:r>
            <a:endParaRPr lang="en-GB" sz="1200" dirty="0">
              <a:solidFill>
                <a:schemeClr val="accent2">
                  <a:lumMod val="75000"/>
                </a:schemeClr>
              </a:solidFill>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0" name="Rectangle 9">
            <a:extLst>
              <a:ext uri="{FF2B5EF4-FFF2-40B4-BE49-F238E27FC236}">
                <a16:creationId xmlns:a16="http://schemas.microsoft.com/office/drawing/2014/main" id="{14E1E4FB-B01B-4CAE-9EFC-8635BEFA9DEB}"/>
              </a:ext>
            </a:extLst>
          </p:cNvPr>
          <p:cNvSpPr/>
          <p:nvPr/>
        </p:nvSpPr>
        <p:spPr>
          <a:xfrm>
            <a:off x="276550" y="1187335"/>
            <a:ext cx="3237538" cy="4483337"/>
          </a:xfrm>
          <a:prstGeom prst="rect">
            <a:avLst/>
          </a:prstGeom>
          <a:solidFill>
            <a:schemeClr val="accent4">
              <a:lumMod val="20000"/>
              <a:lumOff val="80000"/>
            </a:schemeClr>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1872000" tIns="1260000" rtlCol="0" anchor="t" anchorCtr="0"/>
          <a:lstStyle/>
          <a:p>
            <a:pPr algn="ctr"/>
            <a:endParaRPr lang="en-GB" dirty="0">
              <a:solidFill>
                <a:schemeClr val="tx1"/>
              </a:solidFill>
            </a:endParaRPr>
          </a:p>
        </p:txBody>
      </p:sp>
      <p:sp>
        <p:nvSpPr>
          <p:cNvPr id="12" name="Rectangle 11">
            <a:extLst>
              <a:ext uri="{FF2B5EF4-FFF2-40B4-BE49-F238E27FC236}">
                <a16:creationId xmlns:a16="http://schemas.microsoft.com/office/drawing/2014/main" id="{A3C8042A-1D6E-4D8E-9615-EAD11E9612BE}"/>
              </a:ext>
            </a:extLst>
          </p:cNvPr>
          <p:cNvSpPr/>
          <p:nvPr/>
        </p:nvSpPr>
        <p:spPr>
          <a:xfrm>
            <a:off x="475549" y="1265904"/>
            <a:ext cx="2879050" cy="4338771"/>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GB" sz="1100" b="1" dirty="0">
                <a:solidFill>
                  <a:schemeClr val="tx1"/>
                </a:solidFill>
              </a:rPr>
              <a:t>Central processing unit (CPU)</a:t>
            </a:r>
          </a:p>
        </p:txBody>
      </p:sp>
      <p:sp>
        <p:nvSpPr>
          <p:cNvPr id="17" name="Rectangle 16">
            <a:extLst>
              <a:ext uri="{FF2B5EF4-FFF2-40B4-BE49-F238E27FC236}">
                <a16:creationId xmlns:a16="http://schemas.microsoft.com/office/drawing/2014/main" id="{9DC6B7E0-027D-4EF6-AD4D-DC5D9B452BE9}"/>
              </a:ext>
            </a:extLst>
          </p:cNvPr>
          <p:cNvSpPr/>
          <p:nvPr/>
        </p:nvSpPr>
        <p:spPr>
          <a:xfrm>
            <a:off x="666934" y="1507626"/>
            <a:ext cx="1081825" cy="708338"/>
          </a:xfrm>
          <a:prstGeom prst="rect">
            <a:avLst/>
          </a:prstGeom>
          <a:solidFill>
            <a:schemeClr val="bg1"/>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100" dirty="0">
                <a:solidFill>
                  <a:schemeClr val="tx1"/>
                </a:solidFill>
              </a:rPr>
              <a:t>Control</a:t>
            </a:r>
          </a:p>
          <a:p>
            <a:pPr algn="ctr"/>
            <a:r>
              <a:rPr lang="en-GB" sz="1100" dirty="0">
                <a:solidFill>
                  <a:schemeClr val="tx1"/>
                </a:solidFill>
              </a:rPr>
              <a:t>unit (CU)</a:t>
            </a:r>
          </a:p>
        </p:txBody>
      </p:sp>
      <p:sp>
        <p:nvSpPr>
          <p:cNvPr id="18" name="Rectangle 17">
            <a:extLst>
              <a:ext uri="{FF2B5EF4-FFF2-40B4-BE49-F238E27FC236}">
                <a16:creationId xmlns:a16="http://schemas.microsoft.com/office/drawing/2014/main" id="{038595A0-9F1C-45FA-AD5B-9A2F795EC7C6}"/>
              </a:ext>
            </a:extLst>
          </p:cNvPr>
          <p:cNvSpPr/>
          <p:nvPr/>
        </p:nvSpPr>
        <p:spPr>
          <a:xfrm>
            <a:off x="2102652" y="1507626"/>
            <a:ext cx="1081825" cy="708338"/>
          </a:xfrm>
          <a:prstGeom prst="rect">
            <a:avLst/>
          </a:prstGeom>
          <a:solidFill>
            <a:schemeClr val="bg1"/>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100" dirty="0">
                <a:solidFill>
                  <a:schemeClr val="tx1"/>
                </a:solidFill>
              </a:rPr>
              <a:t>Arithmetic logic unit (ALU)</a:t>
            </a:r>
          </a:p>
        </p:txBody>
      </p:sp>
      <p:sp>
        <p:nvSpPr>
          <p:cNvPr id="19" name="Rectangle 18">
            <a:extLst>
              <a:ext uri="{FF2B5EF4-FFF2-40B4-BE49-F238E27FC236}">
                <a16:creationId xmlns:a16="http://schemas.microsoft.com/office/drawing/2014/main" id="{EF42D0C0-056E-48A9-8169-6B9FEB54F46C}"/>
              </a:ext>
            </a:extLst>
          </p:cNvPr>
          <p:cNvSpPr/>
          <p:nvPr/>
        </p:nvSpPr>
        <p:spPr>
          <a:xfrm>
            <a:off x="666934" y="2560734"/>
            <a:ext cx="2517543" cy="1935087"/>
          </a:xfrm>
          <a:prstGeom prst="rect">
            <a:avLst/>
          </a:prstGeom>
          <a:solidFill>
            <a:schemeClr val="accent2">
              <a:lumMod val="40000"/>
              <a:lumOff val="60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GB" sz="1100" b="1">
                <a:solidFill>
                  <a:schemeClr val="tx1"/>
                </a:solidFill>
              </a:rPr>
              <a:t>Register</a:t>
            </a:r>
            <a:endParaRPr lang="en-GB" sz="1100" b="1" dirty="0">
              <a:solidFill>
                <a:schemeClr val="tx1"/>
              </a:solidFill>
            </a:endParaRPr>
          </a:p>
        </p:txBody>
      </p:sp>
      <p:sp>
        <p:nvSpPr>
          <p:cNvPr id="20" name="Rectangle 19">
            <a:extLst>
              <a:ext uri="{FF2B5EF4-FFF2-40B4-BE49-F238E27FC236}">
                <a16:creationId xmlns:a16="http://schemas.microsoft.com/office/drawing/2014/main" id="{D5772A53-90DA-4E8B-B6E6-310B2E9375C5}"/>
              </a:ext>
            </a:extLst>
          </p:cNvPr>
          <p:cNvSpPr/>
          <p:nvPr/>
        </p:nvSpPr>
        <p:spPr>
          <a:xfrm>
            <a:off x="1996349" y="2840551"/>
            <a:ext cx="1081825" cy="708338"/>
          </a:xfrm>
          <a:prstGeom prst="rect">
            <a:avLst/>
          </a:prstGeom>
          <a:solidFill>
            <a:schemeClr val="bg1"/>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100">
                <a:solidFill>
                  <a:schemeClr val="tx1"/>
                </a:solidFill>
              </a:rPr>
              <a:t>Memory address register </a:t>
            </a:r>
            <a:r>
              <a:rPr lang="en-GB" sz="1100" dirty="0">
                <a:solidFill>
                  <a:schemeClr val="tx1"/>
                </a:solidFill>
              </a:rPr>
              <a:t>(MAR)</a:t>
            </a:r>
          </a:p>
        </p:txBody>
      </p:sp>
      <p:sp>
        <p:nvSpPr>
          <p:cNvPr id="21" name="Rectangle 20">
            <a:extLst>
              <a:ext uri="{FF2B5EF4-FFF2-40B4-BE49-F238E27FC236}">
                <a16:creationId xmlns:a16="http://schemas.microsoft.com/office/drawing/2014/main" id="{E40AA452-ABF6-4935-80C2-C940C436FB9D}"/>
              </a:ext>
            </a:extLst>
          </p:cNvPr>
          <p:cNvSpPr/>
          <p:nvPr/>
        </p:nvSpPr>
        <p:spPr>
          <a:xfrm>
            <a:off x="1993887" y="3617025"/>
            <a:ext cx="1081825" cy="708338"/>
          </a:xfrm>
          <a:prstGeom prst="rect">
            <a:avLst/>
          </a:prstGeom>
          <a:solidFill>
            <a:schemeClr val="bg1"/>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100" dirty="0">
                <a:solidFill>
                  <a:schemeClr val="tx1"/>
                </a:solidFill>
              </a:rPr>
              <a:t>Memory data register (MDR)</a:t>
            </a:r>
          </a:p>
        </p:txBody>
      </p:sp>
      <p:sp>
        <p:nvSpPr>
          <p:cNvPr id="22" name="Rectangle 21">
            <a:extLst>
              <a:ext uri="{FF2B5EF4-FFF2-40B4-BE49-F238E27FC236}">
                <a16:creationId xmlns:a16="http://schemas.microsoft.com/office/drawing/2014/main" id="{934BCE69-9910-4FFF-A932-3435BDF3A78C}"/>
              </a:ext>
            </a:extLst>
          </p:cNvPr>
          <p:cNvSpPr/>
          <p:nvPr/>
        </p:nvSpPr>
        <p:spPr>
          <a:xfrm>
            <a:off x="755539" y="3623242"/>
            <a:ext cx="1081825" cy="708338"/>
          </a:xfrm>
          <a:prstGeom prst="rect">
            <a:avLst/>
          </a:prstGeom>
          <a:solidFill>
            <a:schemeClr val="bg1"/>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100" dirty="0">
                <a:solidFill>
                  <a:schemeClr val="tx1"/>
                </a:solidFill>
              </a:rPr>
              <a:t>Program counter (PC)</a:t>
            </a:r>
          </a:p>
        </p:txBody>
      </p:sp>
      <p:sp>
        <p:nvSpPr>
          <p:cNvPr id="23" name="Rectangle 22">
            <a:extLst>
              <a:ext uri="{FF2B5EF4-FFF2-40B4-BE49-F238E27FC236}">
                <a16:creationId xmlns:a16="http://schemas.microsoft.com/office/drawing/2014/main" id="{FF6508EE-D7B4-4EDB-97C9-EE5EC2A39807}"/>
              </a:ext>
            </a:extLst>
          </p:cNvPr>
          <p:cNvSpPr/>
          <p:nvPr/>
        </p:nvSpPr>
        <p:spPr>
          <a:xfrm>
            <a:off x="755539" y="2837779"/>
            <a:ext cx="1081825" cy="708338"/>
          </a:xfrm>
          <a:prstGeom prst="rect">
            <a:avLst/>
          </a:prstGeom>
          <a:solidFill>
            <a:schemeClr val="accent4"/>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100" dirty="0">
                <a:solidFill>
                  <a:schemeClr val="tx1"/>
                </a:solidFill>
              </a:rPr>
              <a:t>Accumulator</a:t>
            </a:r>
          </a:p>
        </p:txBody>
      </p:sp>
      <p:cxnSp>
        <p:nvCxnSpPr>
          <p:cNvPr id="28" name="Straight Arrow Connector 27">
            <a:extLst>
              <a:ext uri="{FF2B5EF4-FFF2-40B4-BE49-F238E27FC236}">
                <a16:creationId xmlns:a16="http://schemas.microsoft.com/office/drawing/2014/main" id="{7AF01822-F7B6-4209-91EC-176D1A2ECB12}"/>
              </a:ext>
            </a:extLst>
          </p:cNvPr>
          <p:cNvCxnSpPr>
            <a:cxnSpLocks/>
          </p:cNvCxnSpPr>
          <p:nvPr/>
        </p:nvCxnSpPr>
        <p:spPr>
          <a:xfrm flipV="1">
            <a:off x="1202957" y="2211632"/>
            <a:ext cx="0" cy="354127"/>
          </a:xfrm>
          <a:prstGeom prst="straightConnector1">
            <a:avLst/>
          </a:prstGeom>
          <a:ln w="50800">
            <a:solidFill>
              <a:srgbClr val="C00000"/>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905747BB-A70B-42B6-9A40-AC791675AB51}"/>
              </a:ext>
            </a:extLst>
          </p:cNvPr>
          <p:cNvCxnSpPr>
            <a:cxnSpLocks/>
          </p:cNvCxnSpPr>
          <p:nvPr/>
        </p:nvCxnSpPr>
        <p:spPr>
          <a:xfrm flipV="1">
            <a:off x="2652529" y="2211632"/>
            <a:ext cx="0" cy="354127"/>
          </a:xfrm>
          <a:prstGeom prst="straightConnector1">
            <a:avLst/>
          </a:prstGeom>
          <a:ln w="50800">
            <a:solidFill>
              <a:srgbClr val="C00000"/>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67D85183-321A-44C3-82FA-78C29445E88C}"/>
              </a:ext>
            </a:extLst>
          </p:cNvPr>
          <p:cNvCxnSpPr>
            <a:cxnSpLocks/>
          </p:cNvCxnSpPr>
          <p:nvPr/>
        </p:nvCxnSpPr>
        <p:spPr>
          <a:xfrm rot="5400000" flipV="1">
            <a:off x="1926477" y="1666988"/>
            <a:ext cx="0" cy="354127"/>
          </a:xfrm>
          <a:prstGeom prst="straightConnector1">
            <a:avLst/>
          </a:prstGeom>
          <a:ln w="50800">
            <a:solidFill>
              <a:srgbClr val="C00000"/>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34" name="Rectangle 33">
            <a:extLst>
              <a:ext uri="{FF2B5EF4-FFF2-40B4-BE49-F238E27FC236}">
                <a16:creationId xmlns:a16="http://schemas.microsoft.com/office/drawing/2014/main" id="{0545FFC8-9493-4EB4-A6FB-F3C980EBC5A5}"/>
              </a:ext>
            </a:extLst>
          </p:cNvPr>
          <p:cNvSpPr/>
          <p:nvPr/>
        </p:nvSpPr>
        <p:spPr>
          <a:xfrm>
            <a:off x="4557319" y="1187335"/>
            <a:ext cx="3237538" cy="4483329"/>
          </a:xfrm>
          <a:prstGeom prst="rect">
            <a:avLst/>
          </a:prstGeom>
          <a:solidFill>
            <a:schemeClr val="accent4">
              <a:lumMod val="20000"/>
              <a:lumOff val="80000"/>
            </a:schemeClr>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GB" dirty="0">
                <a:solidFill>
                  <a:schemeClr val="tx1"/>
                </a:solidFill>
              </a:rPr>
              <a:t>Main memory (RAM)</a:t>
            </a:r>
          </a:p>
        </p:txBody>
      </p:sp>
      <p:graphicFrame>
        <p:nvGraphicFramePr>
          <p:cNvPr id="2" name="Table 32">
            <a:extLst>
              <a:ext uri="{FF2B5EF4-FFF2-40B4-BE49-F238E27FC236}">
                <a16:creationId xmlns:a16="http://schemas.microsoft.com/office/drawing/2014/main" id="{8E9FC54D-B26B-406A-BF90-1A835E0701E6}"/>
              </a:ext>
            </a:extLst>
          </p:cNvPr>
          <p:cNvGraphicFramePr>
            <a:graphicFrameLocks noGrp="1"/>
          </p:cNvGraphicFramePr>
          <p:nvPr>
            <p:extLst>
              <p:ext uri="{D42A27DB-BD31-4B8C-83A1-F6EECF244321}">
                <p14:modId xmlns:p14="http://schemas.microsoft.com/office/powerpoint/2010/main" val="4243544859"/>
              </p:ext>
            </p:extLst>
          </p:nvPr>
        </p:nvGraphicFramePr>
        <p:xfrm>
          <a:off x="4825649" y="1658897"/>
          <a:ext cx="2239767" cy="3774440"/>
        </p:xfrm>
        <a:graphic>
          <a:graphicData uri="http://schemas.openxmlformats.org/drawingml/2006/table">
            <a:tbl>
              <a:tblPr firstRow="1" bandRow="1">
                <a:tableStyleId>{21E4AEA4-8DFA-4A89-87EB-49C32662AFE0}</a:tableStyleId>
              </a:tblPr>
              <a:tblGrid>
                <a:gridCol w="1037691">
                  <a:extLst>
                    <a:ext uri="{9D8B030D-6E8A-4147-A177-3AD203B41FA5}">
                      <a16:colId xmlns:a16="http://schemas.microsoft.com/office/drawing/2014/main" val="3614015831"/>
                    </a:ext>
                  </a:extLst>
                </a:gridCol>
                <a:gridCol w="1202076">
                  <a:extLst>
                    <a:ext uri="{9D8B030D-6E8A-4147-A177-3AD203B41FA5}">
                      <a16:colId xmlns:a16="http://schemas.microsoft.com/office/drawing/2014/main" val="3794086153"/>
                    </a:ext>
                  </a:extLst>
                </a:gridCol>
              </a:tblGrid>
              <a:tr h="370840">
                <a:tc>
                  <a:txBody>
                    <a:bodyPr/>
                    <a:lstStyle/>
                    <a:p>
                      <a:pPr algn="ctr"/>
                      <a:r>
                        <a:rPr lang="en-GB" dirty="0"/>
                        <a:t>Address</a:t>
                      </a:r>
                    </a:p>
                  </a:txBody>
                  <a:tcPr/>
                </a:tc>
                <a:tc>
                  <a:txBody>
                    <a:bodyPr/>
                    <a:lstStyle/>
                    <a:p>
                      <a:pPr algn="ctr"/>
                      <a:r>
                        <a:rPr lang="en-GB" dirty="0"/>
                        <a:t>Data</a:t>
                      </a:r>
                    </a:p>
                  </a:txBody>
                  <a:tcPr/>
                </a:tc>
                <a:extLst>
                  <a:ext uri="{0D108BD9-81ED-4DB2-BD59-A6C34878D82A}">
                    <a16:rowId xmlns:a16="http://schemas.microsoft.com/office/drawing/2014/main" val="1704211108"/>
                  </a:ext>
                </a:extLst>
              </a:tr>
              <a:tr h="370840">
                <a:tc>
                  <a:txBody>
                    <a:bodyPr/>
                    <a:lstStyle/>
                    <a:p>
                      <a:pPr algn="ctr"/>
                      <a:r>
                        <a:rPr lang="en-GB" dirty="0"/>
                        <a:t>1</a:t>
                      </a:r>
                    </a:p>
                  </a:txBody>
                  <a:tcPr/>
                </a:tc>
                <a:tc>
                  <a:txBody>
                    <a:bodyPr/>
                    <a:lstStyle/>
                    <a:p>
                      <a:pPr algn="ctr"/>
                      <a:r>
                        <a:rPr lang="en-GB" dirty="0"/>
                        <a:t>Load address 5</a:t>
                      </a:r>
                    </a:p>
                  </a:txBody>
                  <a:tcPr/>
                </a:tc>
                <a:extLst>
                  <a:ext uri="{0D108BD9-81ED-4DB2-BD59-A6C34878D82A}">
                    <a16:rowId xmlns:a16="http://schemas.microsoft.com/office/drawing/2014/main" val="74178786"/>
                  </a:ext>
                </a:extLst>
              </a:tr>
              <a:tr h="370840">
                <a:tc>
                  <a:txBody>
                    <a:bodyPr/>
                    <a:lstStyle/>
                    <a:p>
                      <a:pPr algn="ctr"/>
                      <a:r>
                        <a:rPr lang="en-GB" dirty="0"/>
                        <a:t>2</a:t>
                      </a:r>
                    </a:p>
                  </a:txBody>
                  <a:tcPr/>
                </a:tc>
                <a:tc>
                  <a:txBody>
                    <a:bodyPr/>
                    <a:lstStyle/>
                    <a:p>
                      <a:pPr algn="ctr"/>
                      <a:r>
                        <a:rPr lang="en-GB" dirty="0"/>
                        <a:t>Add address 6</a:t>
                      </a:r>
                    </a:p>
                  </a:txBody>
                  <a:tcPr/>
                </a:tc>
                <a:extLst>
                  <a:ext uri="{0D108BD9-81ED-4DB2-BD59-A6C34878D82A}">
                    <a16:rowId xmlns:a16="http://schemas.microsoft.com/office/drawing/2014/main" val="1752188674"/>
                  </a:ext>
                </a:extLst>
              </a:tr>
              <a:tr h="370840">
                <a:tc>
                  <a:txBody>
                    <a:bodyPr/>
                    <a:lstStyle/>
                    <a:p>
                      <a:pPr algn="ctr"/>
                      <a:r>
                        <a:rPr lang="en-GB" dirty="0"/>
                        <a:t>3</a:t>
                      </a:r>
                    </a:p>
                  </a:txBody>
                  <a:tcPr/>
                </a:tc>
                <a:tc>
                  <a:txBody>
                    <a:bodyPr/>
                    <a:lstStyle/>
                    <a:p>
                      <a:pPr algn="ctr"/>
                      <a:r>
                        <a:rPr lang="en-GB" dirty="0"/>
                        <a:t>Store in address 6</a:t>
                      </a:r>
                    </a:p>
                  </a:txBody>
                  <a:tcPr/>
                </a:tc>
                <a:extLst>
                  <a:ext uri="{0D108BD9-81ED-4DB2-BD59-A6C34878D82A}">
                    <a16:rowId xmlns:a16="http://schemas.microsoft.com/office/drawing/2014/main" val="2843260329"/>
                  </a:ext>
                </a:extLst>
              </a:tr>
              <a:tr h="370840">
                <a:tc>
                  <a:txBody>
                    <a:bodyPr/>
                    <a:lstStyle/>
                    <a:p>
                      <a:pPr algn="ctr"/>
                      <a:r>
                        <a:rPr lang="en-GB" dirty="0"/>
                        <a:t>4</a:t>
                      </a:r>
                    </a:p>
                  </a:txBody>
                  <a:tcPr/>
                </a:tc>
                <a:tc>
                  <a:txBody>
                    <a:bodyPr/>
                    <a:lstStyle/>
                    <a:p>
                      <a:pPr algn="ctr"/>
                      <a:r>
                        <a:rPr lang="en-GB" dirty="0"/>
                        <a:t>End</a:t>
                      </a:r>
                    </a:p>
                  </a:txBody>
                  <a:tcPr/>
                </a:tc>
                <a:extLst>
                  <a:ext uri="{0D108BD9-81ED-4DB2-BD59-A6C34878D82A}">
                    <a16:rowId xmlns:a16="http://schemas.microsoft.com/office/drawing/2014/main" val="4027267220"/>
                  </a:ext>
                </a:extLst>
              </a:tr>
              <a:tr h="370840">
                <a:tc>
                  <a:txBody>
                    <a:bodyPr/>
                    <a:lstStyle/>
                    <a:p>
                      <a:pPr algn="ctr"/>
                      <a:r>
                        <a:rPr lang="en-GB" dirty="0"/>
                        <a:t>5</a:t>
                      </a:r>
                    </a:p>
                  </a:txBody>
                  <a:tcPr/>
                </a:tc>
                <a:tc>
                  <a:txBody>
                    <a:bodyPr/>
                    <a:lstStyle/>
                    <a:p>
                      <a:pPr algn="ctr"/>
                      <a:r>
                        <a:rPr lang="en-GB" dirty="0"/>
                        <a:t>23</a:t>
                      </a:r>
                    </a:p>
                  </a:txBody>
                  <a:tcPr/>
                </a:tc>
                <a:extLst>
                  <a:ext uri="{0D108BD9-81ED-4DB2-BD59-A6C34878D82A}">
                    <a16:rowId xmlns:a16="http://schemas.microsoft.com/office/drawing/2014/main" val="2887340781"/>
                  </a:ext>
                </a:extLst>
              </a:tr>
              <a:tr h="370840">
                <a:tc>
                  <a:txBody>
                    <a:bodyPr/>
                    <a:lstStyle/>
                    <a:p>
                      <a:pPr algn="ctr"/>
                      <a:r>
                        <a:rPr lang="en-GB" dirty="0"/>
                        <a:t>6</a:t>
                      </a:r>
                    </a:p>
                  </a:txBody>
                  <a:tcPr/>
                </a:tc>
                <a:tc>
                  <a:txBody>
                    <a:bodyPr/>
                    <a:lstStyle/>
                    <a:p>
                      <a:pPr algn="ctr"/>
                      <a:r>
                        <a:rPr lang="en-GB" dirty="0"/>
                        <a:t>12</a:t>
                      </a:r>
                    </a:p>
                  </a:txBody>
                  <a:tcPr/>
                </a:tc>
                <a:extLst>
                  <a:ext uri="{0D108BD9-81ED-4DB2-BD59-A6C34878D82A}">
                    <a16:rowId xmlns:a16="http://schemas.microsoft.com/office/drawing/2014/main" val="3808870730"/>
                  </a:ext>
                </a:extLst>
              </a:tr>
              <a:tr h="370840">
                <a:tc gridSpan="2">
                  <a:txBody>
                    <a:bodyPr/>
                    <a:lstStyle/>
                    <a:p>
                      <a:endParaRPr lang="en-GB" dirty="0"/>
                    </a:p>
                  </a:txBody>
                  <a:tcPr>
                    <a:solidFill>
                      <a:schemeClr val="accent2"/>
                    </a:solidFill>
                  </a:tcPr>
                </a:tc>
                <a:tc hMerge="1">
                  <a:txBody>
                    <a:bodyPr/>
                    <a:lstStyle/>
                    <a:p>
                      <a:endParaRPr lang="en-GB" dirty="0"/>
                    </a:p>
                  </a:txBody>
                  <a:tcPr/>
                </a:tc>
                <a:extLst>
                  <a:ext uri="{0D108BD9-81ED-4DB2-BD59-A6C34878D82A}">
                    <a16:rowId xmlns:a16="http://schemas.microsoft.com/office/drawing/2014/main" val="453354336"/>
                  </a:ext>
                </a:extLst>
              </a:tr>
            </a:tbl>
          </a:graphicData>
        </a:graphic>
      </p:graphicFrame>
      <p:grpSp>
        <p:nvGrpSpPr>
          <p:cNvPr id="40" name="Group 39">
            <a:extLst>
              <a:ext uri="{FF2B5EF4-FFF2-40B4-BE49-F238E27FC236}">
                <a16:creationId xmlns:a16="http://schemas.microsoft.com/office/drawing/2014/main" id="{47E1A734-AE40-47F7-852D-7A031D45B524}"/>
              </a:ext>
            </a:extLst>
          </p:cNvPr>
          <p:cNvGrpSpPr/>
          <p:nvPr/>
        </p:nvGrpSpPr>
        <p:grpSpPr>
          <a:xfrm>
            <a:off x="3084475" y="3200784"/>
            <a:ext cx="1472844" cy="809946"/>
            <a:chOff x="5089451" y="3108977"/>
            <a:chExt cx="2714502" cy="809946"/>
          </a:xfrm>
        </p:grpSpPr>
        <p:cxnSp>
          <p:nvCxnSpPr>
            <p:cNvPr id="37" name="Straight Arrow Connector 36">
              <a:extLst>
                <a:ext uri="{FF2B5EF4-FFF2-40B4-BE49-F238E27FC236}">
                  <a16:creationId xmlns:a16="http://schemas.microsoft.com/office/drawing/2014/main" id="{C6AEA4D1-72B5-4D9F-BB16-A0F6FA61BE1E}"/>
                </a:ext>
              </a:extLst>
            </p:cNvPr>
            <p:cNvCxnSpPr>
              <a:cxnSpLocks/>
            </p:cNvCxnSpPr>
            <p:nvPr/>
          </p:nvCxnSpPr>
          <p:spPr>
            <a:xfrm>
              <a:off x="5089451" y="3108977"/>
              <a:ext cx="2714502" cy="0"/>
            </a:xfrm>
            <a:prstGeom prst="straightConnector1">
              <a:avLst/>
            </a:prstGeom>
            <a:ln w="5080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39" name="Straight Arrow Connector 38">
              <a:extLst>
                <a:ext uri="{FF2B5EF4-FFF2-40B4-BE49-F238E27FC236}">
                  <a16:creationId xmlns:a16="http://schemas.microsoft.com/office/drawing/2014/main" id="{D6D8C3F4-936D-45F6-A054-B9BEF87A8BFB}"/>
                </a:ext>
              </a:extLst>
            </p:cNvPr>
            <p:cNvCxnSpPr>
              <a:cxnSpLocks/>
            </p:cNvCxnSpPr>
            <p:nvPr/>
          </p:nvCxnSpPr>
          <p:spPr>
            <a:xfrm>
              <a:off x="5089451" y="3918923"/>
              <a:ext cx="2714502" cy="0"/>
            </a:xfrm>
            <a:prstGeom prst="straightConnector1">
              <a:avLst/>
            </a:prstGeom>
            <a:ln w="50800">
              <a:solidFill>
                <a:srgbClr val="C00000"/>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grpSp>
      <p:sp>
        <p:nvSpPr>
          <p:cNvPr id="25" name="Rectangle 24">
            <a:extLst>
              <a:ext uri="{FF2B5EF4-FFF2-40B4-BE49-F238E27FC236}">
                <a16:creationId xmlns:a16="http://schemas.microsoft.com/office/drawing/2014/main" id="{0D3B543E-4DB3-4407-931C-F561879D94FA}"/>
              </a:ext>
            </a:extLst>
          </p:cNvPr>
          <p:cNvSpPr/>
          <p:nvPr/>
        </p:nvSpPr>
        <p:spPr>
          <a:xfrm>
            <a:off x="8063188" y="1131152"/>
            <a:ext cx="3998674" cy="774507"/>
          </a:xfrm>
          <a:prstGeom prst="rect">
            <a:avLst/>
          </a:prstGeom>
        </p:spPr>
        <p:txBody>
          <a:bodyPr wrap="square">
            <a:spAutoFit/>
          </a:bodyPr>
          <a:lstStyle/>
          <a:p>
            <a:pPr>
              <a:lnSpc>
                <a:spcPct val="107000"/>
              </a:lnSpc>
              <a:spcAft>
                <a:spcPts val="800"/>
              </a:spcAft>
            </a:pPr>
            <a:r>
              <a:rPr lang="en-GB" b="1" dirty="0">
                <a:latin typeface="Calibri" panose="020F0502020204030204" pitchFamily="34" charset="0"/>
                <a:ea typeface="Calibri" panose="020F0502020204030204" pitchFamily="34" charset="0"/>
                <a:cs typeface="Times New Roman" panose="02020603050405020304" pitchFamily="18" charset="0"/>
              </a:rPr>
              <a:t>Accumulator</a:t>
            </a:r>
          </a:p>
          <a:p>
            <a:pPr>
              <a:lnSpc>
                <a:spcPct val="107000"/>
              </a:lnSpc>
              <a:spcAft>
                <a:spcPts val="800"/>
              </a:spcAft>
            </a:pPr>
            <a:r>
              <a:rPr lang="en-GB" dirty="0">
                <a:latin typeface="Calibri" panose="020F0502020204030204" pitchFamily="34" charset="0"/>
                <a:ea typeface="Calibri" panose="020F0502020204030204" pitchFamily="34" charset="0"/>
                <a:cs typeface="Times New Roman" panose="02020603050405020304" pitchFamily="18" charset="0"/>
              </a:rPr>
              <a:t>Holds the results of calculations.</a:t>
            </a:r>
            <a:endParaRPr lang="en-GB" sz="1050" dirty="0">
              <a:latin typeface="Calibri" panose="020F0502020204030204" pitchFamily="34" charset="0"/>
              <a:ea typeface="Calibri" panose="020F0502020204030204" pitchFamily="34" charset="0"/>
              <a:cs typeface="Times New Roman" panose="02020603050405020304" pitchFamily="18" charset="0"/>
            </a:endParaRPr>
          </a:p>
        </p:txBody>
      </p:sp>
      <p:sp>
        <p:nvSpPr>
          <p:cNvPr id="38" name="Rectangle 37">
            <a:extLst>
              <a:ext uri="{FF2B5EF4-FFF2-40B4-BE49-F238E27FC236}">
                <a16:creationId xmlns:a16="http://schemas.microsoft.com/office/drawing/2014/main" id="{44F03211-9B43-4A2A-A8C9-25A50DF86332}"/>
              </a:ext>
            </a:extLst>
          </p:cNvPr>
          <p:cNvSpPr/>
          <p:nvPr/>
        </p:nvSpPr>
        <p:spPr>
          <a:xfrm>
            <a:off x="666052" y="4843426"/>
            <a:ext cx="1087357" cy="638464"/>
          </a:xfrm>
          <a:prstGeom prst="rect">
            <a:avLst/>
          </a:prstGeom>
          <a:solidFill>
            <a:schemeClr val="bg1"/>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100" b="1" dirty="0">
                <a:solidFill>
                  <a:schemeClr val="tx1"/>
                </a:solidFill>
              </a:rPr>
              <a:t>Cache</a:t>
            </a:r>
          </a:p>
        </p:txBody>
      </p:sp>
      <p:pic>
        <p:nvPicPr>
          <p:cNvPr id="41" name="Picture 40">
            <a:extLst>
              <a:ext uri="{FF2B5EF4-FFF2-40B4-BE49-F238E27FC236}">
                <a16:creationId xmlns:a16="http://schemas.microsoft.com/office/drawing/2014/main" id="{7676C781-D1DF-4BAE-8C21-EC0EF1BEBB0E}"/>
              </a:ext>
            </a:extLst>
          </p:cNvPr>
          <p:cNvPicPr>
            <a:picLocks noChangeAspect="1"/>
          </p:cNvPicPr>
          <p:nvPr/>
        </p:nvPicPr>
        <p:blipFill>
          <a:blip r:embed="rId2"/>
          <a:stretch>
            <a:fillRect/>
          </a:stretch>
        </p:blipFill>
        <p:spPr>
          <a:xfrm>
            <a:off x="2301155" y="4826252"/>
            <a:ext cx="641729" cy="638464"/>
          </a:xfrm>
          <a:prstGeom prst="rect">
            <a:avLst/>
          </a:prstGeom>
        </p:spPr>
      </p:pic>
      <p:sp>
        <p:nvSpPr>
          <p:cNvPr id="42" name="Rectangle 41">
            <a:extLst>
              <a:ext uri="{FF2B5EF4-FFF2-40B4-BE49-F238E27FC236}">
                <a16:creationId xmlns:a16="http://schemas.microsoft.com/office/drawing/2014/main" id="{63F8DD9A-CD5E-416D-A8B0-534AC991E782}"/>
              </a:ext>
            </a:extLst>
          </p:cNvPr>
          <p:cNvSpPr/>
          <p:nvPr/>
        </p:nvSpPr>
        <p:spPr>
          <a:xfrm>
            <a:off x="2109112" y="4843426"/>
            <a:ext cx="1074483" cy="638464"/>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100" b="1" dirty="0">
                <a:solidFill>
                  <a:schemeClr val="tx1"/>
                </a:solidFill>
              </a:rPr>
              <a:t>Clock</a:t>
            </a:r>
          </a:p>
        </p:txBody>
      </p:sp>
      <p:grpSp>
        <p:nvGrpSpPr>
          <p:cNvPr id="32" name="Group 31">
            <a:extLst>
              <a:ext uri="{FF2B5EF4-FFF2-40B4-BE49-F238E27FC236}">
                <a16:creationId xmlns:a16="http://schemas.microsoft.com/office/drawing/2014/main" id="{341053B5-1F9D-4EFB-86C4-237281F2BB61}"/>
              </a:ext>
            </a:extLst>
          </p:cNvPr>
          <p:cNvGrpSpPr/>
          <p:nvPr/>
        </p:nvGrpSpPr>
        <p:grpSpPr>
          <a:xfrm flipV="1">
            <a:off x="1230797" y="4490796"/>
            <a:ext cx="1449572" cy="683607"/>
            <a:chOff x="1202957" y="1882152"/>
            <a:chExt cx="1449572" cy="683607"/>
          </a:xfrm>
        </p:grpSpPr>
        <p:cxnSp>
          <p:nvCxnSpPr>
            <p:cNvPr id="33" name="Straight Arrow Connector 32">
              <a:extLst>
                <a:ext uri="{FF2B5EF4-FFF2-40B4-BE49-F238E27FC236}">
                  <a16:creationId xmlns:a16="http://schemas.microsoft.com/office/drawing/2014/main" id="{18B9FF6C-CBCB-43C1-9C39-1B301623E93B}"/>
                </a:ext>
              </a:extLst>
            </p:cNvPr>
            <p:cNvCxnSpPr>
              <a:cxnSpLocks/>
            </p:cNvCxnSpPr>
            <p:nvPr/>
          </p:nvCxnSpPr>
          <p:spPr>
            <a:xfrm flipV="1">
              <a:off x="1202957" y="2211632"/>
              <a:ext cx="0" cy="354127"/>
            </a:xfrm>
            <a:prstGeom prst="straightConnector1">
              <a:avLst/>
            </a:prstGeom>
            <a:ln w="50800">
              <a:solidFill>
                <a:srgbClr val="C00000"/>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5" name="Straight Arrow Connector 34">
              <a:extLst>
                <a:ext uri="{FF2B5EF4-FFF2-40B4-BE49-F238E27FC236}">
                  <a16:creationId xmlns:a16="http://schemas.microsoft.com/office/drawing/2014/main" id="{C145B848-E98A-4B90-A02C-3A8F7EA6FB3B}"/>
                </a:ext>
              </a:extLst>
            </p:cNvPr>
            <p:cNvCxnSpPr>
              <a:cxnSpLocks/>
            </p:cNvCxnSpPr>
            <p:nvPr/>
          </p:nvCxnSpPr>
          <p:spPr>
            <a:xfrm flipV="1">
              <a:off x="2652529" y="2211632"/>
              <a:ext cx="0" cy="354127"/>
            </a:xfrm>
            <a:prstGeom prst="straightConnector1">
              <a:avLst/>
            </a:prstGeom>
            <a:ln w="50800">
              <a:solidFill>
                <a:srgbClr val="C00000"/>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312469C2-6E51-4F0D-9902-6700C9C54235}"/>
                </a:ext>
              </a:extLst>
            </p:cNvPr>
            <p:cNvCxnSpPr>
              <a:cxnSpLocks/>
            </p:cNvCxnSpPr>
            <p:nvPr/>
          </p:nvCxnSpPr>
          <p:spPr>
            <a:xfrm rot="5400000" flipV="1">
              <a:off x="1897902" y="1705088"/>
              <a:ext cx="0" cy="354127"/>
            </a:xfrm>
            <a:prstGeom prst="straightConnector1">
              <a:avLst/>
            </a:prstGeom>
            <a:ln w="50800">
              <a:solidFill>
                <a:srgbClr val="C00000"/>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22588844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97F5328-60A8-4150-89ED-2AED3C67E0EE}"/>
              </a:ext>
            </a:extLst>
          </p:cNvPr>
          <p:cNvSpPr/>
          <p:nvPr/>
        </p:nvSpPr>
        <p:spPr>
          <a:xfrm>
            <a:off x="176565" y="523174"/>
            <a:ext cx="3556615" cy="470000"/>
          </a:xfrm>
          <a:prstGeom prst="rect">
            <a:avLst/>
          </a:prstGeom>
        </p:spPr>
        <p:txBody>
          <a:bodyPr wrap="none">
            <a:spAutoFit/>
          </a:bodyPr>
          <a:lstStyle/>
          <a:p>
            <a:pPr>
              <a:lnSpc>
                <a:spcPct val="107000"/>
              </a:lnSpc>
              <a:spcAft>
                <a:spcPts val="800"/>
              </a:spcAft>
            </a:pPr>
            <a:r>
              <a:rPr lang="en-GB" sz="2400" dirty="0">
                <a:solidFill>
                  <a:schemeClr val="accent2">
                    <a:lumMod val="75000"/>
                  </a:schemeClr>
                </a:solidFill>
                <a:latin typeface="Calibri" panose="020F0502020204030204" pitchFamily="34" charset="0"/>
                <a:ea typeface="Calibri" panose="020F0502020204030204" pitchFamily="34" charset="0"/>
                <a:cs typeface="Times New Roman" panose="02020603050405020304" pitchFamily="18" charset="0"/>
              </a:rPr>
              <a:t>Von Neumann architecture</a:t>
            </a:r>
            <a:endParaRPr lang="en-GB" sz="1200" dirty="0">
              <a:solidFill>
                <a:schemeClr val="accent2">
                  <a:lumMod val="75000"/>
                </a:schemeClr>
              </a:solidFill>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0" name="Rectangle 9">
            <a:extLst>
              <a:ext uri="{FF2B5EF4-FFF2-40B4-BE49-F238E27FC236}">
                <a16:creationId xmlns:a16="http://schemas.microsoft.com/office/drawing/2014/main" id="{14E1E4FB-B01B-4CAE-9EFC-8635BEFA9DEB}"/>
              </a:ext>
            </a:extLst>
          </p:cNvPr>
          <p:cNvSpPr/>
          <p:nvPr/>
        </p:nvSpPr>
        <p:spPr>
          <a:xfrm>
            <a:off x="276550" y="1187335"/>
            <a:ext cx="3237538" cy="4483337"/>
          </a:xfrm>
          <a:prstGeom prst="rect">
            <a:avLst/>
          </a:prstGeom>
          <a:solidFill>
            <a:schemeClr val="accent4">
              <a:lumMod val="20000"/>
              <a:lumOff val="80000"/>
            </a:schemeClr>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1872000" tIns="1260000" rtlCol="0" anchor="t" anchorCtr="0"/>
          <a:lstStyle/>
          <a:p>
            <a:pPr algn="ctr"/>
            <a:endParaRPr lang="en-GB" dirty="0">
              <a:solidFill>
                <a:schemeClr val="tx1"/>
              </a:solidFill>
            </a:endParaRPr>
          </a:p>
        </p:txBody>
      </p:sp>
      <p:sp>
        <p:nvSpPr>
          <p:cNvPr id="12" name="Rectangle 11">
            <a:extLst>
              <a:ext uri="{FF2B5EF4-FFF2-40B4-BE49-F238E27FC236}">
                <a16:creationId xmlns:a16="http://schemas.microsoft.com/office/drawing/2014/main" id="{A3C8042A-1D6E-4D8E-9615-EAD11E9612BE}"/>
              </a:ext>
            </a:extLst>
          </p:cNvPr>
          <p:cNvSpPr/>
          <p:nvPr/>
        </p:nvSpPr>
        <p:spPr>
          <a:xfrm>
            <a:off x="475549" y="1265904"/>
            <a:ext cx="2879050" cy="4338771"/>
          </a:xfrm>
          <a:prstGeom prst="rect">
            <a:avLst/>
          </a:prstGeom>
          <a:solidFill>
            <a:schemeClr val="bg1"/>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GB" sz="1100" b="1" dirty="0">
                <a:solidFill>
                  <a:schemeClr val="tx1"/>
                </a:solidFill>
              </a:rPr>
              <a:t>Central processing unit (CPU)</a:t>
            </a:r>
          </a:p>
        </p:txBody>
      </p:sp>
      <p:sp>
        <p:nvSpPr>
          <p:cNvPr id="17" name="Rectangle 16">
            <a:extLst>
              <a:ext uri="{FF2B5EF4-FFF2-40B4-BE49-F238E27FC236}">
                <a16:creationId xmlns:a16="http://schemas.microsoft.com/office/drawing/2014/main" id="{9DC6B7E0-027D-4EF6-AD4D-DC5D9B452BE9}"/>
              </a:ext>
            </a:extLst>
          </p:cNvPr>
          <p:cNvSpPr/>
          <p:nvPr/>
        </p:nvSpPr>
        <p:spPr>
          <a:xfrm>
            <a:off x="666934" y="1507626"/>
            <a:ext cx="1081825" cy="708338"/>
          </a:xfrm>
          <a:prstGeom prst="rect">
            <a:avLst/>
          </a:prstGeom>
          <a:solidFill>
            <a:schemeClr val="bg1"/>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100" dirty="0">
                <a:solidFill>
                  <a:schemeClr val="tx1"/>
                </a:solidFill>
              </a:rPr>
              <a:t>Control</a:t>
            </a:r>
          </a:p>
          <a:p>
            <a:pPr algn="ctr"/>
            <a:r>
              <a:rPr lang="en-GB" sz="1100" dirty="0">
                <a:solidFill>
                  <a:schemeClr val="tx1"/>
                </a:solidFill>
              </a:rPr>
              <a:t>unit (CU)</a:t>
            </a:r>
          </a:p>
        </p:txBody>
      </p:sp>
      <p:sp>
        <p:nvSpPr>
          <p:cNvPr id="18" name="Rectangle 17">
            <a:extLst>
              <a:ext uri="{FF2B5EF4-FFF2-40B4-BE49-F238E27FC236}">
                <a16:creationId xmlns:a16="http://schemas.microsoft.com/office/drawing/2014/main" id="{038595A0-9F1C-45FA-AD5B-9A2F795EC7C6}"/>
              </a:ext>
            </a:extLst>
          </p:cNvPr>
          <p:cNvSpPr/>
          <p:nvPr/>
        </p:nvSpPr>
        <p:spPr>
          <a:xfrm>
            <a:off x="2102652" y="1507626"/>
            <a:ext cx="1081825" cy="708338"/>
          </a:xfrm>
          <a:prstGeom prst="rect">
            <a:avLst/>
          </a:prstGeom>
          <a:solidFill>
            <a:schemeClr val="bg1"/>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100" dirty="0">
                <a:solidFill>
                  <a:schemeClr val="tx1"/>
                </a:solidFill>
              </a:rPr>
              <a:t>Arithmetic logic unit (ALU)</a:t>
            </a:r>
          </a:p>
        </p:txBody>
      </p:sp>
      <p:sp>
        <p:nvSpPr>
          <p:cNvPr id="19" name="Rectangle 18">
            <a:extLst>
              <a:ext uri="{FF2B5EF4-FFF2-40B4-BE49-F238E27FC236}">
                <a16:creationId xmlns:a16="http://schemas.microsoft.com/office/drawing/2014/main" id="{EF42D0C0-056E-48A9-8169-6B9FEB54F46C}"/>
              </a:ext>
            </a:extLst>
          </p:cNvPr>
          <p:cNvSpPr/>
          <p:nvPr/>
        </p:nvSpPr>
        <p:spPr>
          <a:xfrm>
            <a:off x="666934" y="2560734"/>
            <a:ext cx="2517543" cy="1935087"/>
          </a:xfrm>
          <a:prstGeom prst="rect">
            <a:avLst/>
          </a:prstGeom>
          <a:solidFill>
            <a:schemeClr val="accent2">
              <a:lumMod val="40000"/>
              <a:lumOff val="60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GB" sz="1100" b="1">
                <a:solidFill>
                  <a:schemeClr val="tx1"/>
                </a:solidFill>
              </a:rPr>
              <a:t>Register</a:t>
            </a:r>
            <a:endParaRPr lang="en-GB" sz="1100" b="1" dirty="0">
              <a:solidFill>
                <a:schemeClr val="tx1"/>
              </a:solidFill>
            </a:endParaRPr>
          </a:p>
        </p:txBody>
      </p:sp>
      <p:sp>
        <p:nvSpPr>
          <p:cNvPr id="20" name="Rectangle 19">
            <a:extLst>
              <a:ext uri="{FF2B5EF4-FFF2-40B4-BE49-F238E27FC236}">
                <a16:creationId xmlns:a16="http://schemas.microsoft.com/office/drawing/2014/main" id="{D5772A53-90DA-4E8B-B6E6-310B2E9375C5}"/>
              </a:ext>
            </a:extLst>
          </p:cNvPr>
          <p:cNvSpPr/>
          <p:nvPr/>
        </p:nvSpPr>
        <p:spPr>
          <a:xfrm>
            <a:off x="1996349" y="2840551"/>
            <a:ext cx="1081825" cy="708338"/>
          </a:xfrm>
          <a:prstGeom prst="rect">
            <a:avLst/>
          </a:prstGeom>
          <a:solidFill>
            <a:schemeClr val="bg1"/>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100">
                <a:solidFill>
                  <a:schemeClr val="tx1"/>
                </a:solidFill>
              </a:rPr>
              <a:t>Memory address register </a:t>
            </a:r>
            <a:r>
              <a:rPr lang="en-GB" sz="1100" dirty="0">
                <a:solidFill>
                  <a:schemeClr val="tx1"/>
                </a:solidFill>
              </a:rPr>
              <a:t>(MAR)</a:t>
            </a:r>
          </a:p>
        </p:txBody>
      </p:sp>
      <p:sp>
        <p:nvSpPr>
          <p:cNvPr id="21" name="Rectangle 20">
            <a:extLst>
              <a:ext uri="{FF2B5EF4-FFF2-40B4-BE49-F238E27FC236}">
                <a16:creationId xmlns:a16="http://schemas.microsoft.com/office/drawing/2014/main" id="{E40AA452-ABF6-4935-80C2-C940C436FB9D}"/>
              </a:ext>
            </a:extLst>
          </p:cNvPr>
          <p:cNvSpPr/>
          <p:nvPr/>
        </p:nvSpPr>
        <p:spPr>
          <a:xfrm>
            <a:off x="1993887" y="3617025"/>
            <a:ext cx="1081825" cy="708338"/>
          </a:xfrm>
          <a:prstGeom prst="rect">
            <a:avLst/>
          </a:prstGeom>
          <a:solidFill>
            <a:schemeClr val="bg1"/>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100" dirty="0">
                <a:solidFill>
                  <a:schemeClr val="tx1"/>
                </a:solidFill>
              </a:rPr>
              <a:t>Memory data register (MDR)</a:t>
            </a:r>
          </a:p>
        </p:txBody>
      </p:sp>
      <p:sp>
        <p:nvSpPr>
          <p:cNvPr id="22" name="Rectangle 21">
            <a:extLst>
              <a:ext uri="{FF2B5EF4-FFF2-40B4-BE49-F238E27FC236}">
                <a16:creationId xmlns:a16="http://schemas.microsoft.com/office/drawing/2014/main" id="{934BCE69-9910-4FFF-A932-3435BDF3A78C}"/>
              </a:ext>
            </a:extLst>
          </p:cNvPr>
          <p:cNvSpPr/>
          <p:nvPr/>
        </p:nvSpPr>
        <p:spPr>
          <a:xfrm>
            <a:off x="755539" y="3623242"/>
            <a:ext cx="1081825" cy="708338"/>
          </a:xfrm>
          <a:prstGeom prst="rect">
            <a:avLst/>
          </a:prstGeom>
          <a:solidFill>
            <a:schemeClr val="accent4"/>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100" dirty="0">
                <a:solidFill>
                  <a:schemeClr val="tx1"/>
                </a:solidFill>
              </a:rPr>
              <a:t>Program counter (PC)</a:t>
            </a:r>
          </a:p>
        </p:txBody>
      </p:sp>
      <p:sp>
        <p:nvSpPr>
          <p:cNvPr id="23" name="Rectangle 22">
            <a:extLst>
              <a:ext uri="{FF2B5EF4-FFF2-40B4-BE49-F238E27FC236}">
                <a16:creationId xmlns:a16="http://schemas.microsoft.com/office/drawing/2014/main" id="{FF6508EE-D7B4-4EDB-97C9-EE5EC2A39807}"/>
              </a:ext>
            </a:extLst>
          </p:cNvPr>
          <p:cNvSpPr/>
          <p:nvPr/>
        </p:nvSpPr>
        <p:spPr>
          <a:xfrm>
            <a:off x="755539" y="2837779"/>
            <a:ext cx="1081825" cy="708338"/>
          </a:xfrm>
          <a:prstGeom prst="rect">
            <a:avLst/>
          </a:prstGeom>
          <a:solidFill>
            <a:schemeClr val="bg1"/>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100" dirty="0">
                <a:solidFill>
                  <a:schemeClr val="tx1"/>
                </a:solidFill>
              </a:rPr>
              <a:t>Accumulator</a:t>
            </a:r>
          </a:p>
        </p:txBody>
      </p:sp>
      <p:cxnSp>
        <p:nvCxnSpPr>
          <p:cNvPr id="28" name="Straight Arrow Connector 27">
            <a:extLst>
              <a:ext uri="{FF2B5EF4-FFF2-40B4-BE49-F238E27FC236}">
                <a16:creationId xmlns:a16="http://schemas.microsoft.com/office/drawing/2014/main" id="{7AF01822-F7B6-4209-91EC-176D1A2ECB12}"/>
              </a:ext>
            </a:extLst>
          </p:cNvPr>
          <p:cNvCxnSpPr>
            <a:cxnSpLocks/>
          </p:cNvCxnSpPr>
          <p:nvPr/>
        </p:nvCxnSpPr>
        <p:spPr>
          <a:xfrm flipV="1">
            <a:off x="1202957" y="2211632"/>
            <a:ext cx="0" cy="354127"/>
          </a:xfrm>
          <a:prstGeom prst="straightConnector1">
            <a:avLst/>
          </a:prstGeom>
          <a:ln w="50800">
            <a:solidFill>
              <a:srgbClr val="C00000"/>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905747BB-A70B-42B6-9A40-AC791675AB51}"/>
              </a:ext>
            </a:extLst>
          </p:cNvPr>
          <p:cNvCxnSpPr>
            <a:cxnSpLocks/>
          </p:cNvCxnSpPr>
          <p:nvPr/>
        </p:nvCxnSpPr>
        <p:spPr>
          <a:xfrm flipV="1">
            <a:off x="2652529" y="2211632"/>
            <a:ext cx="0" cy="354127"/>
          </a:xfrm>
          <a:prstGeom prst="straightConnector1">
            <a:avLst/>
          </a:prstGeom>
          <a:ln w="50800">
            <a:solidFill>
              <a:srgbClr val="C00000"/>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67D85183-321A-44C3-82FA-78C29445E88C}"/>
              </a:ext>
            </a:extLst>
          </p:cNvPr>
          <p:cNvCxnSpPr>
            <a:cxnSpLocks/>
          </p:cNvCxnSpPr>
          <p:nvPr/>
        </p:nvCxnSpPr>
        <p:spPr>
          <a:xfrm rot="5400000" flipV="1">
            <a:off x="1926477" y="1666988"/>
            <a:ext cx="0" cy="354127"/>
          </a:xfrm>
          <a:prstGeom prst="straightConnector1">
            <a:avLst/>
          </a:prstGeom>
          <a:ln w="50800">
            <a:solidFill>
              <a:srgbClr val="C00000"/>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34" name="Rectangle 33">
            <a:extLst>
              <a:ext uri="{FF2B5EF4-FFF2-40B4-BE49-F238E27FC236}">
                <a16:creationId xmlns:a16="http://schemas.microsoft.com/office/drawing/2014/main" id="{0545FFC8-9493-4EB4-A6FB-F3C980EBC5A5}"/>
              </a:ext>
            </a:extLst>
          </p:cNvPr>
          <p:cNvSpPr/>
          <p:nvPr/>
        </p:nvSpPr>
        <p:spPr>
          <a:xfrm>
            <a:off x="4557319" y="1187335"/>
            <a:ext cx="3237538" cy="4483329"/>
          </a:xfrm>
          <a:prstGeom prst="rect">
            <a:avLst/>
          </a:prstGeom>
          <a:solidFill>
            <a:schemeClr val="accent4">
              <a:lumMod val="20000"/>
              <a:lumOff val="80000"/>
            </a:schemeClr>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GB" dirty="0">
                <a:solidFill>
                  <a:schemeClr val="tx1"/>
                </a:solidFill>
              </a:rPr>
              <a:t>Main memory (RAM)</a:t>
            </a:r>
          </a:p>
        </p:txBody>
      </p:sp>
      <p:graphicFrame>
        <p:nvGraphicFramePr>
          <p:cNvPr id="2" name="Table 32">
            <a:extLst>
              <a:ext uri="{FF2B5EF4-FFF2-40B4-BE49-F238E27FC236}">
                <a16:creationId xmlns:a16="http://schemas.microsoft.com/office/drawing/2014/main" id="{8E9FC54D-B26B-406A-BF90-1A835E0701E6}"/>
              </a:ext>
            </a:extLst>
          </p:cNvPr>
          <p:cNvGraphicFramePr>
            <a:graphicFrameLocks noGrp="1"/>
          </p:cNvGraphicFramePr>
          <p:nvPr>
            <p:extLst>
              <p:ext uri="{D42A27DB-BD31-4B8C-83A1-F6EECF244321}">
                <p14:modId xmlns:p14="http://schemas.microsoft.com/office/powerpoint/2010/main" val="2614913911"/>
              </p:ext>
            </p:extLst>
          </p:nvPr>
        </p:nvGraphicFramePr>
        <p:xfrm>
          <a:off x="4825649" y="1658897"/>
          <a:ext cx="2239767" cy="3774440"/>
        </p:xfrm>
        <a:graphic>
          <a:graphicData uri="http://schemas.openxmlformats.org/drawingml/2006/table">
            <a:tbl>
              <a:tblPr firstRow="1" bandRow="1">
                <a:tableStyleId>{21E4AEA4-8DFA-4A89-87EB-49C32662AFE0}</a:tableStyleId>
              </a:tblPr>
              <a:tblGrid>
                <a:gridCol w="1037691">
                  <a:extLst>
                    <a:ext uri="{9D8B030D-6E8A-4147-A177-3AD203B41FA5}">
                      <a16:colId xmlns:a16="http://schemas.microsoft.com/office/drawing/2014/main" val="3614015831"/>
                    </a:ext>
                  </a:extLst>
                </a:gridCol>
                <a:gridCol w="1202076">
                  <a:extLst>
                    <a:ext uri="{9D8B030D-6E8A-4147-A177-3AD203B41FA5}">
                      <a16:colId xmlns:a16="http://schemas.microsoft.com/office/drawing/2014/main" val="3794086153"/>
                    </a:ext>
                  </a:extLst>
                </a:gridCol>
              </a:tblGrid>
              <a:tr h="370840">
                <a:tc>
                  <a:txBody>
                    <a:bodyPr/>
                    <a:lstStyle/>
                    <a:p>
                      <a:pPr algn="ctr"/>
                      <a:r>
                        <a:rPr lang="en-GB" dirty="0"/>
                        <a:t>Address</a:t>
                      </a:r>
                    </a:p>
                  </a:txBody>
                  <a:tcPr/>
                </a:tc>
                <a:tc>
                  <a:txBody>
                    <a:bodyPr/>
                    <a:lstStyle/>
                    <a:p>
                      <a:pPr algn="ctr"/>
                      <a:r>
                        <a:rPr lang="en-GB" dirty="0"/>
                        <a:t>Data</a:t>
                      </a:r>
                    </a:p>
                  </a:txBody>
                  <a:tcPr/>
                </a:tc>
                <a:extLst>
                  <a:ext uri="{0D108BD9-81ED-4DB2-BD59-A6C34878D82A}">
                    <a16:rowId xmlns:a16="http://schemas.microsoft.com/office/drawing/2014/main" val="1704211108"/>
                  </a:ext>
                </a:extLst>
              </a:tr>
              <a:tr h="370840">
                <a:tc>
                  <a:txBody>
                    <a:bodyPr/>
                    <a:lstStyle/>
                    <a:p>
                      <a:pPr algn="ctr"/>
                      <a:r>
                        <a:rPr lang="en-GB" dirty="0"/>
                        <a:t>1</a:t>
                      </a:r>
                    </a:p>
                  </a:txBody>
                  <a:tcPr/>
                </a:tc>
                <a:tc>
                  <a:txBody>
                    <a:bodyPr/>
                    <a:lstStyle/>
                    <a:p>
                      <a:pPr algn="ctr"/>
                      <a:r>
                        <a:rPr lang="en-GB" dirty="0"/>
                        <a:t>Load address 5</a:t>
                      </a:r>
                    </a:p>
                  </a:txBody>
                  <a:tcPr/>
                </a:tc>
                <a:extLst>
                  <a:ext uri="{0D108BD9-81ED-4DB2-BD59-A6C34878D82A}">
                    <a16:rowId xmlns:a16="http://schemas.microsoft.com/office/drawing/2014/main" val="74178786"/>
                  </a:ext>
                </a:extLst>
              </a:tr>
              <a:tr h="370840">
                <a:tc>
                  <a:txBody>
                    <a:bodyPr/>
                    <a:lstStyle/>
                    <a:p>
                      <a:pPr algn="ctr"/>
                      <a:r>
                        <a:rPr lang="en-GB" dirty="0"/>
                        <a:t>2</a:t>
                      </a:r>
                    </a:p>
                  </a:txBody>
                  <a:tcPr/>
                </a:tc>
                <a:tc>
                  <a:txBody>
                    <a:bodyPr/>
                    <a:lstStyle/>
                    <a:p>
                      <a:pPr algn="ctr"/>
                      <a:r>
                        <a:rPr lang="en-GB" dirty="0"/>
                        <a:t>Add address 6</a:t>
                      </a:r>
                    </a:p>
                  </a:txBody>
                  <a:tcPr/>
                </a:tc>
                <a:extLst>
                  <a:ext uri="{0D108BD9-81ED-4DB2-BD59-A6C34878D82A}">
                    <a16:rowId xmlns:a16="http://schemas.microsoft.com/office/drawing/2014/main" val="1752188674"/>
                  </a:ext>
                </a:extLst>
              </a:tr>
              <a:tr h="370840">
                <a:tc>
                  <a:txBody>
                    <a:bodyPr/>
                    <a:lstStyle/>
                    <a:p>
                      <a:pPr algn="ctr"/>
                      <a:r>
                        <a:rPr lang="en-GB" dirty="0"/>
                        <a:t>3</a:t>
                      </a:r>
                    </a:p>
                  </a:txBody>
                  <a:tcPr/>
                </a:tc>
                <a:tc>
                  <a:txBody>
                    <a:bodyPr/>
                    <a:lstStyle/>
                    <a:p>
                      <a:pPr algn="ctr"/>
                      <a:r>
                        <a:rPr lang="en-GB" dirty="0"/>
                        <a:t>Store in address 6</a:t>
                      </a:r>
                    </a:p>
                  </a:txBody>
                  <a:tcPr/>
                </a:tc>
                <a:extLst>
                  <a:ext uri="{0D108BD9-81ED-4DB2-BD59-A6C34878D82A}">
                    <a16:rowId xmlns:a16="http://schemas.microsoft.com/office/drawing/2014/main" val="2843260329"/>
                  </a:ext>
                </a:extLst>
              </a:tr>
              <a:tr h="370840">
                <a:tc>
                  <a:txBody>
                    <a:bodyPr/>
                    <a:lstStyle/>
                    <a:p>
                      <a:pPr algn="ctr"/>
                      <a:r>
                        <a:rPr lang="en-GB" dirty="0"/>
                        <a:t>4</a:t>
                      </a:r>
                    </a:p>
                  </a:txBody>
                  <a:tcPr/>
                </a:tc>
                <a:tc>
                  <a:txBody>
                    <a:bodyPr/>
                    <a:lstStyle/>
                    <a:p>
                      <a:pPr algn="ctr"/>
                      <a:r>
                        <a:rPr lang="en-GB" dirty="0"/>
                        <a:t>End</a:t>
                      </a:r>
                    </a:p>
                  </a:txBody>
                  <a:tcPr/>
                </a:tc>
                <a:extLst>
                  <a:ext uri="{0D108BD9-81ED-4DB2-BD59-A6C34878D82A}">
                    <a16:rowId xmlns:a16="http://schemas.microsoft.com/office/drawing/2014/main" val="4027267220"/>
                  </a:ext>
                </a:extLst>
              </a:tr>
              <a:tr h="370840">
                <a:tc>
                  <a:txBody>
                    <a:bodyPr/>
                    <a:lstStyle/>
                    <a:p>
                      <a:pPr algn="ctr"/>
                      <a:r>
                        <a:rPr lang="en-GB" dirty="0"/>
                        <a:t>5</a:t>
                      </a:r>
                    </a:p>
                  </a:txBody>
                  <a:tcPr/>
                </a:tc>
                <a:tc>
                  <a:txBody>
                    <a:bodyPr/>
                    <a:lstStyle/>
                    <a:p>
                      <a:pPr algn="ctr"/>
                      <a:r>
                        <a:rPr lang="en-GB" dirty="0"/>
                        <a:t>23</a:t>
                      </a:r>
                    </a:p>
                  </a:txBody>
                  <a:tcPr/>
                </a:tc>
                <a:extLst>
                  <a:ext uri="{0D108BD9-81ED-4DB2-BD59-A6C34878D82A}">
                    <a16:rowId xmlns:a16="http://schemas.microsoft.com/office/drawing/2014/main" val="2887340781"/>
                  </a:ext>
                </a:extLst>
              </a:tr>
              <a:tr h="370840">
                <a:tc>
                  <a:txBody>
                    <a:bodyPr/>
                    <a:lstStyle/>
                    <a:p>
                      <a:pPr algn="ctr"/>
                      <a:r>
                        <a:rPr lang="en-GB" dirty="0"/>
                        <a:t>6</a:t>
                      </a:r>
                    </a:p>
                  </a:txBody>
                  <a:tcPr/>
                </a:tc>
                <a:tc>
                  <a:txBody>
                    <a:bodyPr/>
                    <a:lstStyle/>
                    <a:p>
                      <a:pPr algn="ctr"/>
                      <a:r>
                        <a:rPr lang="en-GB" dirty="0"/>
                        <a:t>12</a:t>
                      </a:r>
                    </a:p>
                  </a:txBody>
                  <a:tcPr/>
                </a:tc>
                <a:extLst>
                  <a:ext uri="{0D108BD9-81ED-4DB2-BD59-A6C34878D82A}">
                    <a16:rowId xmlns:a16="http://schemas.microsoft.com/office/drawing/2014/main" val="3808870730"/>
                  </a:ext>
                </a:extLst>
              </a:tr>
              <a:tr h="370840">
                <a:tc gridSpan="2">
                  <a:txBody>
                    <a:bodyPr/>
                    <a:lstStyle/>
                    <a:p>
                      <a:endParaRPr lang="en-GB" dirty="0"/>
                    </a:p>
                  </a:txBody>
                  <a:tcPr>
                    <a:solidFill>
                      <a:schemeClr val="accent2"/>
                    </a:solidFill>
                  </a:tcPr>
                </a:tc>
                <a:tc hMerge="1">
                  <a:txBody>
                    <a:bodyPr/>
                    <a:lstStyle/>
                    <a:p>
                      <a:endParaRPr lang="en-GB" dirty="0"/>
                    </a:p>
                  </a:txBody>
                  <a:tcPr/>
                </a:tc>
                <a:extLst>
                  <a:ext uri="{0D108BD9-81ED-4DB2-BD59-A6C34878D82A}">
                    <a16:rowId xmlns:a16="http://schemas.microsoft.com/office/drawing/2014/main" val="453354336"/>
                  </a:ext>
                </a:extLst>
              </a:tr>
            </a:tbl>
          </a:graphicData>
        </a:graphic>
      </p:graphicFrame>
      <p:grpSp>
        <p:nvGrpSpPr>
          <p:cNvPr id="40" name="Group 39">
            <a:extLst>
              <a:ext uri="{FF2B5EF4-FFF2-40B4-BE49-F238E27FC236}">
                <a16:creationId xmlns:a16="http://schemas.microsoft.com/office/drawing/2014/main" id="{47E1A734-AE40-47F7-852D-7A031D45B524}"/>
              </a:ext>
            </a:extLst>
          </p:cNvPr>
          <p:cNvGrpSpPr/>
          <p:nvPr/>
        </p:nvGrpSpPr>
        <p:grpSpPr>
          <a:xfrm>
            <a:off x="3084475" y="3200784"/>
            <a:ext cx="1472844" cy="809946"/>
            <a:chOff x="5089451" y="3108977"/>
            <a:chExt cx="2714502" cy="809946"/>
          </a:xfrm>
        </p:grpSpPr>
        <p:cxnSp>
          <p:nvCxnSpPr>
            <p:cNvPr id="37" name="Straight Arrow Connector 36">
              <a:extLst>
                <a:ext uri="{FF2B5EF4-FFF2-40B4-BE49-F238E27FC236}">
                  <a16:creationId xmlns:a16="http://schemas.microsoft.com/office/drawing/2014/main" id="{C6AEA4D1-72B5-4D9F-BB16-A0F6FA61BE1E}"/>
                </a:ext>
              </a:extLst>
            </p:cNvPr>
            <p:cNvCxnSpPr>
              <a:cxnSpLocks/>
            </p:cNvCxnSpPr>
            <p:nvPr/>
          </p:nvCxnSpPr>
          <p:spPr>
            <a:xfrm>
              <a:off x="5089451" y="3108977"/>
              <a:ext cx="2714502" cy="0"/>
            </a:xfrm>
            <a:prstGeom prst="straightConnector1">
              <a:avLst/>
            </a:prstGeom>
            <a:ln w="5080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39" name="Straight Arrow Connector 38">
              <a:extLst>
                <a:ext uri="{FF2B5EF4-FFF2-40B4-BE49-F238E27FC236}">
                  <a16:creationId xmlns:a16="http://schemas.microsoft.com/office/drawing/2014/main" id="{D6D8C3F4-936D-45F6-A054-B9BEF87A8BFB}"/>
                </a:ext>
              </a:extLst>
            </p:cNvPr>
            <p:cNvCxnSpPr>
              <a:cxnSpLocks/>
            </p:cNvCxnSpPr>
            <p:nvPr/>
          </p:nvCxnSpPr>
          <p:spPr>
            <a:xfrm>
              <a:off x="5089451" y="3918923"/>
              <a:ext cx="2714502" cy="0"/>
            </a:xfrm>
            <a:prstGeom prst="straightConnector1">
              <a:avLst/>
            </a:prstGeom>
            <a:ln w="50800">
              <a:solidFill>
                <a:srgbClr val="C00000"/>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grpSp>
      <p:pic>
        <p:nvPicPr>
          <p:cNvPr id="41" name="Picture 40" descr="A circuit board&#10;&#10;Description automatically generated">
            <a:extLst>
              <a:ext uri="{FF2B5EF4-FFF2-40B4-BE49-F238E27FC236}">
                <a16:creationId xmlns:a16="http://schemas.microsoft.com/office/drawing/2014/main" id="{EEC01B68-F0AE-46F5-B50B-7F1B348C9E3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229075" y="4785018"/>
            <a:ext cx="1568213" cy="1301100"/>
          </a:xfrm>
          <a:prstGeom prst="rect">
            <a:avLst/>
          </a:prstGeom>
        </p:spPr>
      </p:pic>
      <p:graphicFrame>
        <p:nvGraphicFramePr>
          <p:cNvPr id="42" name="Diagram 41">
            <a:extLst>
              <a:ext uri="{FF2B5EF4-FFF2-40B4-BE49-F238E27FC236}">
                <a16:creationId xmlns:a16="http://schemas.microsoft.com/office/drawing/2014/main" id="{6554496D-3CE2-451F-8D8B-7E9298EB84AF}"/>
              </a:ext>
            </a:extLst>
          </p:cNvPr>
          <p:cNvGraphicFramePr/>
          <p:nvPr>
            <p:extLst>
              <p:ext uri="{D42A27DB-BD31-4B8C-83A1-F6EECF244321}">
                <p14:modId xmlns:p14="http://schemas.microsoft.com/office/powerpoint/2010/main" val="25525695"/>
              </p:ext>
            </p:extLst>
          </p:nvPr>
        </p:nvGraphicFramePr>
        <p:xfrm>
          <a:off x="7794857" y="3890418"/>
          <a:ext cx="4474194" cy="327580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8" name="Rectangle 37">
            <a:extLst>
              <a:ext uri="{FF2B5EF4-FFF2-40B4-BE49-F238E27FC236}">
                <a16:creationId xmlns:a16="http://schemas.microsoft.com/office/drawing/2014/main" id="{D299716E-3BF2-47B6-B02C-3A64EDF0F311}"/>
              </a:ext>
            </a:extLst>
          </p:cNvPr>
          <p:cNvSpPr/>
          <p:nvPr/>
        </p:nvSpPr>
        <p:spPr>
          <a:xfrm>
            <a:off x="666052" y="4843426"/>
            <a:ext cx="1087357" cy="638464"/>
          </a:xfrm>
          <a:prstGeom prst="rect">
            <a:avLst/>
          </a:prstGeom>
          <a:solidFill>
            <a:schemeClr val="bg1"/>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100" b="1" dirty="0">
                <a:solidFill>
                  <a:schemeClr val="tx1"/>
                </a:solidFill>
              </a:rPr>
              <a:t>Cache</a:t>
            </a:r>
          </a:p>
        </p:txBody>
      </p:sp>
      <p:pic>
        <p:nvPicPr>
          <p:cNvPr id="44" name="Picture 43">
            <a:extLst>
              <a:ext uri="{FF2B5EF4-FFF2-40B4-BE49-F238E27FC236}">
                <a16:creationId xmlns:a16="http://schemas.microsoft.com/office/drawing/2014/main" id="{F1C25020-E271-4CAA-BD66-5F9564E369F2}"/>
              </a:ext>
            </a:extLst>
          </p:cNvPr>
          <p:cNvPicPr>
            <a:picLocks noChangeAspect="1"/>
          </p:cNvPicPr>
          <p:nvPr/>
        </p:nvPicPr>
        <p:blipFill>
          <a:blip r:embed="rId8"/>
          <a:stretch>
            <a:fillRect/>
          </a:stretch>
        </p:blipFill>
        <p:spPr>
          <a:xfrm>
            <a:off x="2301155" y="4826252"/>
            <a:ext cx="641729" cy="638464"/>
          </a:xfrm>
          <a:prstGeom prst="rect">
            <a:avLst/>
          </a:prstGeom>
        </p:spPr>
      </p:pic>
      <p:sp>
        <p:nvSpPr>
          <p:cNvPr id="45" name="Rectangle 44">
            <a:extLst>
              <a:ext uri="{FF2B5EF4-FFF2-40B4-BE49-F238E27FC236}">
                <a16:creationId xmlns:a16="http://schemas.microsoft.com/office/drawing/2014/main" id="{E6411B5B-FA24-4B4F-A69E-9B5373CFD63D}"/>
              </a:ext>
            </a:extLst>
          </p:cNvPr>
          <p:cNvSpPr/>
          <p:nvPr/>
        </p:nvSpPr>
        <p:spPr>
          <a:xfrm>
            <a:off x="2109112" y="4843426"/>
            <a:ext cx="1074483" cy="63846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100" b="1" dirty="0">
                <a:solidFill>
                  <a:schemeClr val="tx1"/>
                </a:solidFill>
              </a:rPr>
              <a:t>Clock</a:t>
            </a:r>
          </a:p>
        </p:txBody>
      </p:sp>
      <p:grpSp>
        <p:nvGrpSpPr>
          <p:cNvPr id="32" name="Group 31">
            <a:extLst>
              <a:ext uri="{FF2B5EF4-FFF2-40B4-BE49-F238E27FC236}">
                <a16:creationId xmlns:a16="http://schemas.microsoft.com/office/drawing/2014/main" id="{A318AACC-A998-4558-84E8-8539B946CB8E}"/>
              </a:ext>
            </a:extLst>
          </p:cNvPr>
          <p:cNvGrpSpPr/>
          <p:nvPr/>
        </p:nvGrpSpPr>
        <p:grpSpPr>
          <a:xfrm flipV="1">
            <a:off x="1230797" y="4490796"/>
            <a:ext cx="1449572" cy="683607"/>
            <a:chOff x="1202957" y="1882152"/>
            <a:chExt cx="1449572" cy="683607"/>
          </a:xfrm>
        </p:grpSpPr>
        <p:cxnSp>
          <p:nvCxnSpPr>
            <p:cNvPr id="33" name="Straight Arrow Connector 32">
              <a:extLst>
                <a:ext uri="{FF2B5EF4-FFF2-40B4-BE49-F238E27FC236}">
                  <a16:creationId xmlns:a16="http://schemas.microsoft.com/office/drawing/2014/main" id="{1E130660-1624-4D81-8CBC-C9F521280D30}"/>
                </a:ext>
              </a:extLst>
            </p:cNvPr>
            <p:cNvCxnSpPr>
              <a:cxnSpLocks/>
            </p:cNvCxnSpPr>
            <p:nvPr/>
          </p:nvCxnSpPr>
          <p:spPr>
            <a:xfrm flipV="1">
              <a:off x="1202957" y="2211632"/>
              <a:ext cx="0" cy="354127"/>
            </a:xfrm>
            <a:prstGeom prst="straightConnector1">
              <a:avLst/>
            </a:prstGeom>
            <a:ln w="50800">
              <a:solidFill>
                <a:srgbClr val="C00000"/>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5" name="Straight Arrow Connector 34">
              <a:extLst>
                <a:ext uri="{FF2B5EF4-FFF2-40B4-BE49-F238E27FC236}">
                  <a16:creationId xmlns:a16="http://schemas.microsoft.com/office/drawing/2014/main" id="{E02672E4-CE96-4D1A-A0C5-70C394E88676}"/>
                </a:ext>
              </a:extLst>
            </p:cNvPr>
            <p:cNvCxnSpPr>
              <a:cxnSpLocks/>
            </p:cNvCxnSpPr>
            <p:nvPr/>
          </p:nvCxnSpPr>
          <p:spPr>
            <a:xfrm flipV="1">
              <a:off x="2652529" y="2211632"/>
              <a:ext cx="0" cy="354127"/>
            </a:xfrm>
            <a:prstGeom prst="straightConnector1">
              <a:avLst/>
            </a:prstGeom>
            <a:ln w="50800">
              <a:solidFill>
                <a:srgbClr val="C00000"/>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CDC826D0-B562-4E85-80AD-51E38DEF7EB0}"/>
                </a:ext>
              </a:extLst>
            </p:cNvPr>
            <p:cNvCxnSpPr>
              <a:cxnSpLocks/>
            </p:cNvCxnSpPr>
            <p:nvPr/>
          </p:nvCxnSpPr>
          <p:spPr>
            <a:xfrm rot="5400000" flipV="1">
              <a:off x="1897902" y="1705088"/>
              <a:ext cx="0" cy="354127"/>
            </a:xfrm>
            <a:prstGeom prst="straightConnector1">
              <a:avLst/>
            </a:prstGeom>
            <a:ln w="50800">
              <a:solidFill>
                <a:srgbClr val="C00000"/>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grpSp>
      <p:sp>
        <p:nvSpPr>
          <p:cNvPr id="31" name="Rectangle 30">
            <a:extLst>
              <a:ext uri="{FF2B5EF4-FFF2-40B4-BE49-F238E27FC236}">
                <a16:creationId xmlns:a16="http://schemas.microsoft.com/office/drawing/2014/main" id="{9E402081-99F4-D3C1-714C-378AEBD7CB88}"/>
              </a:ext>
            </a:extLst>
          </p:cNvPr>
          <p:cNvSpPr/>
          <p:nvPr/>
        </p:nvSpPr>
        <p:spPr>
          <a:xfrm>
            <a:off x="8063188" y="1187335"/>
            <a:ext cx="4025498" cy="1237070"/>
          </a:xfrm>
          <a:prstGeom prst="rect">
            <a:avLst/>
          </a:prstGeom>
        </p:spPr>
        <p:txBody>
          <a:bodyPr wrap="square">
            <a:spAutoFit/>
          </a:bodyPr>
          <a:lstStyle/>
          <a:p>
            <a:pPr>
              <a:lnSpc>
                <a:spcPct val="107000"/>
              </a:lnSpc>
              <a:spcAft>
                <a:spcPts val="800"/>
              </a:spcAft>
            </a:pPr>
            <a:r>
              <a:rPr lang="en-GB" sz="1600" b="1" dirty="0">
                <a:latin typeface="Calibri" panose="020F0502020204030204" pitchFamily="34" charset="0"/>
                <a:ea typeface="Calibri" panose="020F0502020204030204" pitchFamily="34" charset="0"/>
                <a:cs typeface="Times New Roman" panose="02020603050405020304" pitchFamily="18" charset="0"/>
              </a:rPr>
              <a:t>Fetch stage</a:t>
            </a:r>
          </a:p>
          <a:p>
            <a:pPr>
              <a:lnSpc>
                <a:spcPct val="107000"/>
              </a:lnSpc>
              <a:spcAft>
                <a:spcPts val="800"/>
              </a:spcAft>
            </a:pPr>
            <a:r>
              <a:rPr lang="en-GB" sz="1600" dirty="0">
                <a:latin typeface="Calibri" panose="020F0502020204030204" pitchFamily="34" charset="0"/>
                <a:ea typeface="Calibri" panose="020F0502020204030204" pitchFamily="34" charset="0"/>
                <a:cs typeface="Times New Roman" panose="02020603050405020304" pitchFamily="18" charset="0"/>
              </a:rPr>
              <a:t>The program counter is checked for the memory address of the next instruction to be executed.</a:t>
            </a:r>
          </a:p>
        </p:txBody>
      </p:sp>
    </p:spTree>
    <p:extLst>
      <p:ext uri="{BB962C8B-B14F-4D97-AF65-F5344CB8AC3E}">
        <p14:creationId xmlns:p14="http://schemas.microsoft.com/office/powerpoint/2010/main" val="103361723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97F5328-60A8-4150-89ED-2AED3C67E0EE}"/>
              </a:ext>
            </a:extLst>
          </p:cNvPr>
          <p:cNvSpPr/>
          <p:nvPr/>
        </p:nvSpPr>
        <p:spPr>
          <a:xfrm>
            <a:off x="176565" y="523174"/>
            <a:ext cx="3556615" cy="470000"/>
          </a:xfrm>
          <a:prstGeom prst="rect">
            <a:avLst/>
          </a:prstGeom>
        </p:spPr>
        <p:txBody>
          <a:bodyPr wrap="none">
            <a:spAutoFit/>
          </a:bodyPr>
          <a:lstStyle/>
          <a:p>
            <a:pPr>
              <a:lnSpc>
                <a:spcPct val="107000"/>
              </a:lnSpc>
              <a:spcAft>
                <a:spcPts val="800"/>
              </a:spcAft>
            </a:pPr>
            <a:r>
              <a:rPr lang="en-GB" sz="2400" dirty="0">
                <a:solidFill>
                  <a:schemeClr val="accent2">
                    <a:lumMod val="75000"/>
                  </a:schemeClr>
                </a:solidFill>
                <a:latin typeface="Calibri" panose="020F0502020204030204" pitchFamily="34" charset="0"/>
                <a:ea typeface="Calibri" panose="020F0502020204030204" pitchFamily="34" charset="0"/>
                <a:cs typeface="Times New Roman" panose="02020603050405020304" pitchFamily="18" charset="0"/>
              </a:rPr>
              <a:t>Von Neumann architecture</a:t>
            </a:r>
            <a:endParaRPr lang="en-GB" sz="1200" dirty="0">
              <a:solidFill>
                <a:schemeClr val="accent2">
                  <a:lumMod val="75000"/>
                </a:schemeClr>
              </a:solidFill>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0" name="Rectangle 9">
            <a:extLst>
              <a:ext uri="{FF2B5EF4-FFF2-40B4-BE49-F238E27FC236}">
                <a16:creationId xmlns:a16="http://schemas.microsoft.com/office/drawing/2014/main" id="{14E1E4FB-B01B-4CAE-9EFC-8635BEFA9DEB}"/>
              </a:ext>
            </a:extLst>
          </p:cNvPr>
          <p:cNvSpPr/>
          <p:nvPr/>
        </p:nvSpPr>
        <p:spPr>
          <a:xfrm>
            <a:off x="276550" y="1187335"/>
            <a:ext cx="3237538" cy="4483337"/>
          </a:xfrm>
          <a:prstGeom prst="rect">
            <a:avLst/>
          </a:prstGeom>
          <a:solidFill>
            <a:schemeClr val="accent4">
              <a:lumMod val="20000"/>
              <a:lumOff val="80000"/>
            </a:schemeClr>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1872000" tIns="1260000" rtlCol="0" anchor="t" anchorCtr="0"/>
          <a:lstStyle/>
          <a:p>
            <a:pPr algn="ctr"/>
            <a:endParaRPr lang="en-GB" dirty="0">
              <a:solidFill>
                <a:schemeClr val="tx1"/>
              </a:solidFill>
            </a:endParaRPr>
          </a:p>
        </p:txBody>
      </p:sp>
      <p:sp>
        <p:nvSpPr>
          <p:cNvPr id="12" name="Rectangle 11">
            <a:extLst>
              <a:ext uri="{FF2B5EF4-FFF2-40B4-BE49-F238E27FC236}">
                <a16:creationId xmlns:a16="http://schemas.microsoft.com/office/drawing/2014/main" id="{A3C8042A-1D6E-4D8E-9615-EAD11E9612BE}"/>
              </a:ext>
            </a:extLst>
          </p:cNvPr>
          <p:cNvSpPr/>
          <p:nvPr/>
        </p:nvSpPr>
        <p:spPr>
          <a:xfrm>
            <a:off x="475549" y="1265904"/>
            <a:ext cx="2879050" cy="4338771"/>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GB" sz="1100" b="1" dirty="0">
                <a:solidFill>
                  <a:schemeClr val="tx1"/>
                </a:solidFill>
              </a:rPr>
              <a:t>Central processing unit (CPU)</a:t>
            </a:r>
          </a:p>
        </p:txBody>
      </p:sp>
      <p:sp>
        <p:nvSpPr>
          <p:cNvPr id="17" name="Rectangle 16">
            <a:extLst>
              <a:ext uri="{FF2B5EF4-FFF2-40B4-BE49-F238E27FC236}">
                <a16:creationId xmlns:a16="http://schemas.microsoft.com/office/drawing/2014/main" id="{9DC6B7E0-027D-4EF6-AD4D-DC5D9B452BE9}"/>
              </a:ext>
            </a:extLst>
          </p:cNvPr>
          <p:cNvSpPr/>
          <p:nvPr/>
        </p:nvSpPr>
        <p:spPr>
          <a:xfrm>
            <a:off x="666934" y="1507626"/>
            <a:ext cx="1081825" cy="708338"/>
          </a:xfrm>
          <a:prstGeom prst="rect">
            <a:avLst/>
          </a:prstGeom>
          <a:solidFill>
            <a:schemeClr val="bg1"/>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100" dirty="0">
                <a:solidFill>
                  <a:schemeClr val="tx1"/>
                </a:solidFill>
              </a:rPr>
              <a:t>Control</a:t>
            </a:r>
          </a:p>
          <a:p>
            <a:pPr algn="ctr"/>
            <a:r>
              <a:rPr lang="en-GB" sz="1100" dirty="0">
                <a:solidFill>
                  <a:schemeClr val="tx1"/>
                </a:solidFill>
              </a:rPr>
              <a:t>unit (CU)</a:t>
            </a:r>
          </a:p>
        </p:txBody>
      </p:sp>
      <p:sp>
        <p:nvSpPr>
          <p:cNvPr id="18" name="Rectangle 17">
            <a:extLst>
              <a:ext uri="{FF2B5EF4-FFF2-40B4-BE49-F238E27FC236}">
                <a16:creationId xmlns:a16="http://schemas.microsoft.com/office/drawing/2014/main" id="{038595A0-9F1C-45FA-AD5B-9A2F795EC7C6}"/>
              </a:ext>
            </a:extLst>
          </p:cNvPr>
          <p:cNvSpPr/>
          <p:nvPr/>
        </p:nvSpPr>
        <p:spPr>
          <a:xfrm>
            <a:off x="2102652" y="1507626"/>
            <a:ext cx="1081825" cy="708338"/>
          </a:xfrm>
          <a:prstGeom prst="rect">
            <a:avLst/>
          </a:prstGeom>
          <a:solidFill>
            <a:schemeClr val="bg1"/>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100" dirty="0">
                <a:solidFill>
                  <a:schemeClr val="tx1"/>
                </a:solidFill>
              </a:rPr>
              <a:t>Arithmetic logic unit (ALU)</a:t>
            </a:r>
          </a:p>
        </p:txBody>
      </p:sp>
      <p:sp>
        <p:nvSpPr>
          <p:cNvPr id="19" name="Rectangle 18">
            <a:extLst>
              <a:ext uri="{FF2B5EF4-FFF2-40B4-BE49-F238E27FC236}">
                <a16:creationId xmlns:a16="http://schemas.microsoft.com/office/drawing/2014/main" id="{EF42D0C0-056E-48A9-8169-6B9FEB54F46C}"/>
              </a:ext>
            </a:extLst>
          </p:cNvPr>
          <p:cNvSpPr/>
          <p:nvPr/>
        </p:nvSpPr>
        <p:spPr>
          <a:xfrm>
            <a:off x="666934" y="2560734"/>
            <a:ext cx="2517543" cy="1935087"/>
          </a:xfrm>
          <a:prstGeom prst="rect">
            <a:avLst/>
          </a:prstGeom>
          <a:solidFill>
            <a:schemeClr val="accent2">
              <a:lumMod val="40000"/>
              <a:lumOff val="60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GB" sz="1100" b="1">
                <a:solidFill>
                  <a:schemeClr val="tx1"/>
                </a:solidFill>
              </a:rPr>
              <a:t>Register</a:t>
            </a:r>
            <a:endParaRPr lang="en-GB" sz="1100" b="1" dirty="0">
              <a:solidFill>
                <a:schemeClr val="tx1"/>
              </a:solidFill>
            </a:endParaRPr>
          </a:p>
        </p:txBody>
      </p:sp>
      <p:sp>
        <p:nvSpPr>
          <p:cNvPr id="20" name="Rectangle 19">
            <a:extLst>
              <a:ext uri="{FF2B5EF4-FFF2-40B4-BE49-F238E27FC236}">
                <a16:creationId xmlns:a16="http://schemas.microsoft.com/office/drawing/2014/main" id="{D5772A53-90DA-4E8B-B6E6-310B2E9375C5}"/>
              </a:ext>
            </a:extLst>
          </p:cNvPr>
          <p:cNvSpPr/>
          <p:nvPr/>
        </p:nvSpPr>
        <p:spPr>
          <a:xfrm>
            <a:off x="1996349" y="2840551"/>
            <a:ext cx="1081825" cy="708338"/>
          </a:xfrm>
          <a:prstGeom prst="rect">
            <a:avLst/>
          </a:prstGeom>
          <a:solidFill>
            <a:schemeClr val="accent4"/>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100">
                <a:solidFill>
                  <a:schemeClr val="tx1"/>
                </a:solidFill>
              </a:rPr>
              <a:t>Memory address register </a:t>
            </a:r>
            <a:r>
              <a:rPr lang="en-GB" sz="1100" dirty="0">
                <a:solidFill>
                  <a:schemeClr val="tx1"/>
                </a:solidFill>
              </a:rPr>
              <a:t>(MAR)</a:t>
            </a:r>
          </a:p>
        </p:txBody>
      </p:sp>
      <p:sp>
        <p:nvSpPr>
          <p:cNvPr id="21" name="Rectangle 20">
            <a:extLst>
              <a:ext uri="{FF2B5EF4-FFF2-40B4-BE49-F238E27FC236}">
                <a16:creationId xmlns:a16="http://schemas.microsoft.com/office/drawing/2014/main" id="{E40AA452-ABF6-4935-80C2-C940C436FB9D}"/>
              </a:ext>
            </a:extLst>
          </p:cNvPr>
          <p:cNvSpPr/>
          <p:nvPr/>
        </p:nvSpPr>
        <p:spPr>
          <a:xfrm>
            <a:off x="1993887" y="3617025"/>
            <a:ext cx="1081825" cy="708338"/>
          </a:xfrm>
          <a:prstGeom prst="rect">
            <a:avLst/>
          </a:prstGeom>
          <a:solidFill>
            <a:schemeClr val="accent4"/>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100" dirty="0">
                <a:solidFill>
                  <a:schemeClr val="tx1"/>
                </a:solidFill>
              </a:rPr>
              <a:t>Memory data register (MDR)</a:t>
            </a:r>
          </a:p>
        </p:txBody>
      </p:sp>
      <p:sp>
        <p:nvSpPr>
          <p:cNvPr id="22" name="Rectangle 21">
            <a:extLst>
              <a:ext uri="{FF2B5EF4-FFF2-40B4-BE49-F238E27FC236}">
                <a16:creationId xmlns:a16="http://schemas.microsoft.com/office/drawing/2014/main" id="{934BCE69-9910-4FFF-A932-3435BDF3A78C}"/>
              </a:ext>
            </a:extLst>
          </p:cNvPr>
          <p:cNvSpPr/>
          <p:nvPr/>
        </p:nvSpPr>
        <p:spPr>
          <a:xfrm>
            <a:off x="755539" y="3623242"/>
            <a:ext cx="1081825" cy="708338"/>
          </a:xfrm>
          <a:prstGeom prst="rect">
            <a:avLst/>
          </a:prstGeom>
          <a:solidFill>
            <a:schemeClr val="bg1"/>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100" dirty="0">
                <a:solidFill>
                  <a:schemeClr val="tx1"/>
                </a:solidFill>
              </a:rPr>
              <a:t>Program counter (PC)</a:t>
            </a:r>
          </a:p>
        </p:txBody>
      </p:sp>
      <p:sp>
        <p:nvSpPr>
          <p:cNvPr id="23" name="Rectangle 22">
            <a:extLst>
              <a:ext uri="{FF2B5EF4-FFF2-40B4-BE49-F238E27FC236}">
                <a16:creationId xmlns:a16="http://schemas.microsoft.com/office/drawing/2014/main" id="{FF6508EE-D7B4-4EDB-97C9-EE5EC2A39807}"/>
              </a:ext>
            </a:extLst>
          </p:cNvPr>
          <p:cNvSpPr/>
          <p:nvPr/>
        </p:nvSpPr>
        <p:spPr>
          <a:xfrm>
            <a:off x="755539" y="2837779"/>
            <a:ext cx="1081825" cy="708338"/>
          </a:xfrm>
          <a:prstGeom prst="rect">
            <a:avLst/>
          </a:prstGeom>
          <a:solidFill>
            <a:schemeClr val="bg1"/>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100" dirty="0">
                <a:solidFill>
                  <a:schemeClr val="tx1"/>
                </a:solidFill>
              </a:rPr>
              <a:t>Accumulator</a:t>
            </a:r>
          </a:p>
        </p:txBody>
      </p:sp>
      <p:cxnSp>
        <p:nvCxnSpPr>
          <p:cNvPr id="28" name="Straight Arrow Connector 27">
            <a:extLst>
              <a:ext uri="{FF2B5EF4-FFF2-40B4-BE49-F238E27FC236}">
                <a16:creationId xmlns:a16="http://schemas.microsoft.com/office/drawing/2014/main" id="{7AF01822-F7B6-4209-91EC-176D1A2ECB12}"/>
              </a:ext>
            </a:extLst>
          </p:cNvPr>
          <p:cNvCxnSpPr>
            <a:cxnSpLocks/>
          </p:cNvCxnSpPr>
          <p:nvPr/>
        </p:nvCxnSpPr>
        <p:spPr>
          <a:xfrm flipV="1">
            <a:off x="1202957" y="2211632"/>
            <a:ext cx="0" cy="354127"/>
          </a:xfrm>
          <a:prstGeom prst="straightConnector1">
            <a:avLst/>
          </a:prstGeom>
          <a:ln w="50800">
            <a:solidFill>
              <a:srgbClr val="C00000"/>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905747BB-A70B-42B6-9A40-AC791675AB51}"/>
              </a:ext>
            </a:extLst>
          </p:cNvPr>
          <p:cNvCxnSpPr>
            <a:cxnSpLocks/>
          </p:cNvCxnSpPr>
          <p:nvPr/>
        </p:nvCxnSpPr>
        <p:spPr>
          <a:xfrm flipV="1">
            <a:off x="2652529" y="2211632"/>
            <a:ext cx="0" cy="354127"/>
          </a:xfrm>
          <a:prstGeom prst="straightConnector1">
            <a:avLst/>
          </a:prstGeom>
          <a:ln w="50800">
            <a:solidFill>
              <a:srgbClr val="C00000"/>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67D85183-321A-44C3-82FA-78C29445E88C}"/>
              </a:ext>
            </a:extLst>
          </p:cNvPr>
          <p:cNvCxnSpPr>
            <a:cxnSpLocks/>
          </p:cNvCxnSpPr>
          <p:nvPr/>
        </p:nvCxnSpPr>
        <p:spPr>
          <a:xfrm rot="5400000" flipV="1">
            <a:off x="1926477" y="1666988"/>
            <a:ext cx="0" cy="354127"/>
          </a:xfrm>
          <a:prstGeom prst="straightConnector1">
            <a:avLst/>
          </a:prstGeom>
          <a:ln w="50800">
            <a:solidFill>
              <a:srgbClr val="C00000"/>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34" name="Rectangle 33">
            <a:extLst>
              <a:ext uri="{FF2B5EF4-FFF2-40B4-BE49-F238E27FC236}">
                <a16:creationId xmlns:a16="http://schemas.microsoft.com/office/drawing/2014/main" id="{0545FFC8-9493-4EB4-A6FB-F3C980EBC5A5}"/>
              </a:ext>
            </a:extLst>
          </p:cNvPr>
          <p:cNvSpPr/>
          <p:nvPr/>
        </p:nvSpPr>
        <p:spPr>
          <a:xfrm>
            <a:off x="4557319" y="1187335"/>
            <a:ext cx="3237538" cy="4483329"/>
          </a:xfrm>
          <a:prstGeom prst="rect">
            <a:avLst/>
          </a:prstGeom>
          <a:solidFill>
            <a:schemeClr val="accent4">
              <a:lumMod val="20000"/>
              <a:lumOff val="80000"/>
            </a:schemeClr>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GB" dirty="0">
                <a:solidFill>
                  <a:schemeClr val="tx1"/>
                </a:solidFill>
              </a:rPr>
              <a:t>Main memory (RAM)</a:t>
            </a:r>
          </a:p>
        </p:txBody>
      </p:sp>
      <p:graphicFrame>
        <p:nvGraphicFramePr>
          <p:cNvPr id="2" name="Table 32">
            <a:extLst>
              <a:ext uri="{FF2B5EF4-FFF2-40B4-BE49-F238E27FC236}">
                <a16:creationId xmlns:a16="http://schemas.microsoft.com/office/drawing/2014/main" id="{8E9FC54D-B26B-406A-BF90-1A835E0701E6}"/>
              </a:ext>
            </a:extLst>
          </p:cNvPr>
          <p:cNvGraphicFramePr>
            <a:graphicFrameLocks noGrp="1"/>
          </p:cNvGraphicFramePr>
          <p:nvPr>
            <p:extLst>
              <p:ext uri="{D42A27DB-BD31-4B8C-83A1-F6EECF244321}">
                <p14:modId xmlns:p14="http://schemas.microsoft.com/office/powerpoint/2010/main" val="3297303481"/>
              </p:ext>
            </p:extLst>
          </p:nvPr>
        </p:nvGraphicFramePr>
        <p:xfrm>
          <a:off x="4825649" y="1658897"/>
          <a:ext cx="2239767" cy="3774440"/>
        </p:xfrm>
        <a:graphic>
          <a:graphicData uri="http://schemas.openxmlformats.org/drawingml/2006/table">
            <a:tbl>
              <a:tblPr firstRow="1" bandRow="1">
                <a:tableStyleId>{21E4AEA4-8DFA-4A89-87EB-49C32662AFE0}</a:tableStyleId>
              </a:tblPr>
              <a:tblGrid>
                <a:gridCol w="1037691">
                  <a:extLst>
                    <a:ext uri="{9D8B030D-6E8A-4147-A177-3AD203B41FA5}">
                      <a16:colId xmlns:a16="http://schemas.microsoft.com/office/drawing/2014/main" val="3614015831"/>
                    </a:ext>
                  </a:extLst>
                </a:gridCol>
                <a:gridCol w="1202076">
                  <a:extLst>
                    <a:ext uri="{9D8B030D-6E8A-4147-A177-3AD203B41FA5}">
                      <a16:colId xmlns:a16="http://schemas.microsoft.com/office/drawing/2014/main" val="3794086153"/>
                    </a:ext>
                  </a:extLst>
                </a:gridCol>
              </a:tblGrid>
              <a:tr h="370840">
                <a:tc>
                  <a:txBody>
                    <a:bodyPr/>
                    <a:lstStyle/>
                    <a:p>
                      <a:pPr algn="ctr"/>
                      <a:r>
                        <a:rPr lang="en-GB" dirty="0"/>
                        <a:t>Address</a:t>
                      </a:r>
                    </a:p>
                  </a:txBody>
                  <a:tcPr/>
                </a:tc>
                <a:tc>
                  <a:txBody>
                    <a:bodyPr/>
                    <a:lstStyle/>
                    <a:p>
                      <a:pPr algn="ctr"/>
                      <a:r>
                        <a:rPr lang="en-GB" dirty="0"/>
                        <a:t>Data</a:t>
                      </a:r>
                    </a:p>
                  </a:txBody>
                  <a:tcPr/>
                </a:tc>
                <a:extLst>
                  <a:ext uri="{0D108BD9-81ED-4DB2-BD59-A6C34878D82A}">
                    <a16:rowId xmlns:a16="http://schemas.microsoft.com/office/drawing/2014/main" val="1704211108"/>
                  </a:ext>
                </a:extLst>
              </a:tr>
              <a:tr h="370840">
                <a:tc>
                  <a:txBody>
                    <a:bodyPr/>
                    <a:lstStyle/>
                    <a:p>
                      <a:pPr algn="ctr"/>
                      <a:r>
                        <a:rPr lang="en-GB" dirty="0"/>
                        <a:t>1</a:t>
                      </a:r>
                    </a:p>
                  </a:txBody>
                  <a:tcPr>
                    <a:solidFill>
                      <a:schemeClr val="accent4"/>
                    </a:solidFill>
                  </a:tcPr>
                </a:tc>
                <a:tc>
                  <a:txBody>
                    <a:bodyPr/>
                    <a:lstStyle/>
                    <a:p>
                      <a:pPr algn="ctr"/>
                      <a:r>
                        <a:rPr lang="en-GB" dirty="0"/>
                        <a:t>Load address 5</a:t>
                      </a:r>
                    </a:p>
                  </a:txBody>
                  <a:tcPr>
                    <a:solidFill>
                      <a:schemeClr val="accent4"/>
                    </a:solidFill>
                  </a:tcPr>
                </a:tc>
                <a:extLst>
                  <a:ext uri="{0D108BD9-81ED-4DB2-BD59-A6C34878D82A}">
                    <a16:rowId xmlns:a16="http://schemas.microsoft.com/office/drawing/2014/main" val="74178786"/>
                  </a:ext>
                </a:extLst>
              </a:tr>
              <a:tr h="370840">
                <a:tc>
                  <a:txBody>
                    <a:bodyPr/>
                    <a:lstStyle/>
                    <a:p>
                      <a:pPr algn="ctr"/>
                      <a:r>
                        <a:rPr lang="en-GB" dirty="0"/>
                        <a:t>2</a:t>
                      </a:r>
                    </a:p>
                  </a:txBody>
                  <a:tcPr/>
                </a:tc>
                <a:tc>
                  <a:txBody>
                    <a:bodyPr/>
                    <a:lstStyle/>
                    <a:p>
                      <a:pPr algn="ctr"/>
                      <a:r>
                        <a:rPr lang="en-GB" dirty="0"/>
                        <a:t>Add address 6</a:t>
                      </a:r>
                    </a:p>
                  </a:txBody>
                  <a:tcPr/>
                </a:tc>
                <a:extLst>
                  <a:ext uri="{0D108BD9-81ED-4DB2-BD59-A6C34878D82A}">
                    <a16:rowId xmlns:a16="http://schemas.microsoft.com/office/drawing/2014/main" val="1752188674"/>
                  </a:ext>
                </a:extLst>
              </a:tr>
              <a:tr h="370840">
                <a:tc>
                  <a:txBody>
                    <a:bodyPr/>
                    <a:lstStyle/>
                    <a:p>
                      <a:pPr algn="ctr"/>
                      <a:r>
                        <a:rPr lang="en-GB" dirty="0"/>
                        <a:t>3</a:t>
                      </a:r>
                    </a:p>
                  </a:txBody>
                  <a:tcPr/>
                </a:tc>
                <a:tc>
                  <a:txBody>
                    <a:bodyPr/>
                    <a:lstStyle/>
                    <a:p>
                      <a:pPr algn="ctr"/>
                      <a:r>
                        <a:rPr lang="en-GB" dirty="0"/>
                        <a:t>Store in address 6</a:t>
                      </a:r>
                    </a:p>
                  </a:txBody>
                  <a:tcPr/>
                </a:tc>
                <a:extLst>
                  <a:ext uri="{0D108BD9-81ED-4DB2-BD59-A6C34878D82A}">
                    <a16:rowId xmlns:a16="http://schemas.microsoft.com/office/drawing/2014/main" val="2843260329"/>
                  </a:ext>
                </a:extLst>
              </a:tr>
              <a:tr h="370840">
                <a:tc>
                  <a:txBody>
                    <a:bodyPr/>
                    <a:lstStyle/>
                    <a:p>
                      <a:pPr algn="ctr"/>
                      <a:r>
                        <a:rPr lang="en-GB" dirty="0"/>
                        <a:t>4</a:t>
                      </a:r>
                    </a:p>
                  </a:txBody>
                  <a:tcPr/>
                </a:tc>
                <a:tc>
                  <a:txBody>
                    <a:bodyPr/>
                    <a:lstStyle/>
                    <a:p>
                      <a:pPr algn="ctr"/>
                      <a:r>
                        <a:rPr lang="en-GB" dirty="0"/>
                        <a:t>End</a:t>
                      </a:r>
                    </a:p>
                  </a:txBody>
                  <a:tcPr/>
                </a:tc>
                <a:extLst>
                  <a:ext uri="{0D108BD9-81ED-4DB2-BD59-A6C34878D82A}">
                    <a16:rowId xmlns:a16="http://schemas.microsoft.com/office/drawing/2014/main" val="4027267220"/>
                  </a:ext>
                </a:extLst>
              </a:tr>
              <a:tr h="370840">
                <a:tc>
                  <a:txBody>
                    <a:bodyPr/>
                    <a:lstStyle/>
                    <a:p>
                      <a:pPr algn="ctr"/>
                      <a:r>
                        <a:rPr lang="en-GB" dirty="0"/>
                        <a:t>5</a:t>
                      </a:r>
                    </a:p>
                  </a:txBody>
                  <a:tcPr/>
                </a:tc>
                <a:tc>
                  <a:txBody>
                    <a:bodyPr/>
                    <a:lstStyle/>
                    <a:p>
                      <a:pPr algn="ctr"/>
                      <a:r>
                        <a:rPr lang="en-GB" dirty="0"/>
                        <a:t>23</a:t>
                      </a:r>
                    </a:p>
                  </a:txBody>
                  <a:tcPr/>
                </a:tc>
                <a:extLst>
                  <a:ext uri="{0D108BD9-81ED-4DB2-BD59-A6C34878D82A}">
                    <a16:rowId xmlns:a16="http://schemas.microsoft.com/office/drawing/2014/main" val="2887340781"/>
                  </a:ext>
                </a:extLst>
              </a:tr>
              <a:tr h="370840">
                <a:tc>
                  <a:txBody>
                    <a:bodyPr/>
                    <a:lstStyle/>
                    <a:p>
                      <a:pPr algn="ctr"/>
                      <a:r>
                        <a:rPr lang="en-GB" dirty="0"/>
                        <a:t>6</a:t>
                      </a:r>
                    </a:p>
                  </a:txBody>
                  <a:tcPr/>
                </a:tc>
                <a:tc>
                  <a:txBody>
                    <a:bodyPr/>
                    <a:lstStyle/>
                    <a:p>
                      <a:pPr algn="ctr"/>
                      <a:r>
                        <a:rPr lang="en-GB" dirty="0"/>
                        <a:t>12</a:t>
                      </a:r>
                    </a:p>
                  </a:txBody>
                  <a:tcPr/>
                </a:tc>
                <a:extLst>
                  <a:ext uri="{0D108BD9-81ED-4DB2-BD59-A6C34878D82A}">
                    <a16:rowId xmlns:a16="http://schemas.microsoft.com/office/drawing/2014/main" val="3808870730"/>
                  </a:ext>
                </a:extLst>
              </a:tr>
              <a:tr h="370840">
                <a:tc gridSpan="2">
                  <a:txBody>
                    <a:bodyPr/>
                    <a:lstStyle/>
                    <a:p>
                      <a:endParaRPr lang="en-GB" dirty="0"/>
                    </a:p>
                  </a:txBody>
                  <a:tcPr>
                    <a:solidFill>
                      <a:schemeClr val="accent2"/>
                    </a:solidFill>
                  </a:tcPr>
                </a:tc>
                <a:tc hMerge="1">
                  <a:txBody>
                    <a:bodyPr/>
                    <a:lstStyle/>
                    <a:p>
                      <a:endParaRPr lang="en-GB" dirty="0"/>
                    </a:p>
                  </a:txBody>
                  <a:tcPr/>
                </a:tc>
                <a:extLst>
                  <a:ext uri="{0D108BD9-81ED-4DB2-BD59-A6C34878D82A}">
                    <a16:rowId xmlns:a16="http://schemas.microsoft.com/office/drawing/2014/main" val="453354336"/>
                  </a:ext>
                </a:extLst>
              </a:tr>
            </a:tbl>
          </a:graphicData>
        </a:graphic>
      </p:graphicFrame>
      <p:grpSp>
        <p:nvGrpSpPr>
          <p:cNvPr id="40" name="Group 39">
            <a:extLst>
              <a:ext uri="{FF2B5EF4-FFF2-40B4-BE49-F238E27FC236}">
                <a16:creationId xmlns:a16="http://schemas.microsoft.com/office/drawing/2014/main" id="{47E1A734-AE40-47F7-852D-7A031D45B524}"/>
              </a:ext>
            </a:extLst>
          </p:cNvPr>
          <p:cNvGrpSpPr/>
          <p:nvPr/>
        </p:nvGrpSpPr>
        <p:grpSpPr>
          <a:xfrm>
            <a:off x="3084475" y="3200784"/>
            <a:ext cx="1472844" cy="809946"/>
            <a:chOff x="5089451" y="3108977"/>
            <a:chExt cx="2714502" cy="809946"/>
          </a:xfrm>
          <a:effectLst>
            <a:glow rad="228600">
              <a:schemeClr val="accent2">
                <a:satMod val="175000"/>
                <a:alpha val="40000"/>
              </a:schemeClr>
            </a:glow>
          </a:effectLst>
        </p:grpSpPr>
        <p:cxnSp>
          <p:nvCxnSpPr>
            <p:cNvPr id="37" name="Straight Arrow Connector 36">
              <a:extLst>
                <a:ext uri="{FF2B5EF4-FFF2-40B4-BE49-F238E27FC236}">
                  <a16:creationId xmlns:a16="http://schemas.microsoft.com/office/drawing/2014/main" id="{C6AEA4D1-72B5-4D9F-BB16-A0F6FA61BE1E}"/>
                </a:ext>
              </a:extLst>
            </p:cNvPr>
            <p:cNvCxnSpPr>
              <a:cxnSpLocks/>
            </p:cNvCxnSpPr>
            <p:nvPr/>
          </p:nvCxnSpPr>
          <p:spPr>
            <a:xfrm>
              <a:off x="5089451" y="3108977"/>
              <a:ext cx="2714502" cy="0"/>
            </a:xfrm>
            <a:prstGeom prst="straightConnector1">
              <a:avLst/>
            </a:prstGeom>
            <a:ln w="5080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39" name="Straight Arrow Connector 38">
              <a:extLst>
                <a:ext uri="{FF2B5EF4-FFF2-40B4-BE49-F238E27FC236}">
                  <a16:creationId xmlns:a16="http://schemas.microsoft.com/office/drawing/2014/main" id="{D6D8C3F4-936D-45F6-A054-B9BEF87A8BFB}"/>
                </a:ext>
              </a:extLst>
            </p:cNvPr>
            <p:cNvCxnSpPr>
              <a:cxnSpLocks/>
            </p:cNvCxnSpPr>
            <p:nvPr/>
          </p:nvCxnSpPr>
          <p:spPr>
            <a:xfrm>
              <a:off x="5089451" y="3918923"/>
              <a:ext cx="2714502" cy="0"/>
            </a:xfrm>
            <a:prstGeom prst="straightConnector1">
              <a:avLst/>
            </a:prstGeom>
            <a:ln w="50800">
              <a:solidFill>
                <a:srgbClr val="C00000"/>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grpSp>
      <p:pic>
        <p:nvPicPr>
          <p:cNvPr id="41" name="Picture 40" descr="A circuit board&#10;&#10;Description automatically generated">
            <a:extLst>
              <a:ext uri="{FF2B5EF4-FFF2-40B4-BE49-F238E27FC236}">
                <a16:creationId xmlns:a16="http://schemas.microsoft.com/office/drawing/2014/main" id="{EEC01B68-F0AE-46F5-B50B-7F1B348C9E3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229075" y="4785018"/>
            <a:ext cx="1568213" cy="1301100"/>
          </a:xfrm>
          <a:prstGeom prst="rect">
            <a:avLst/>
          </a:prstGeom>
        </p:spPr>
      </p:pic>
      <p:graphicFrame>
        <p:nvGraphicFramePr>
          <p:cNvPr id="42" name="Diagram 41">
            <a:extLst>
              <a:ext uri="{FF2B5EF4-FFF2-40B4-BE49-F238E27FC236}">
                <a16:creationId xmlns:a16="http://schemas.microsoft.com/office/drawing/2014/main" id="{6554496D-3CE2-451F-8D8B-7E9298EB84AF}"/>
              </a:ext>
            </a:extLst>
          </p:cNvPr>
          <p:cNvGraphicFramePr/>
          <p:nvPr>
            <p:extLst>
              <p:ext uri="{D42A27DB-BD31-4B8C-83A1-F6EECF244321}">
                <p14:modId xmlns:p14="http://schemas.microsoft.com/office/powerpoint/2010/main" val="293387266"/>
              </p:ext>
            </p:extLst>
          </p:nvPr>
        </p:nvGraphicFramePr>
        <p:xfrm>
          <a:off x="7794857" y="3890418"/>
          <a:ext cx="4474194" cy="327580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8" name="Rectangle 37">
            <a:extLst>
              <a:ext uri="{FF2B5EF4-FFF2-40B4-BE49-F238E27FC236}">
                <a16:creationId xmlns:a16="http://schemas.microsoft.com/office/drawing/2014/main" id="{EB3F8D8F-AC51-48AE-8E8A-D5BAAB87D762}"/>
              </a:ext>
            </a:extLst>
          </p:cNvPr>
          <p:cNvSpPr/>
          <p:nvPr/>
        </p:nvSpPr>
        <p:spPr>
          <a:xfrm>
            <a:off x="666052" y="4843426"/>
            <a:ext cx="1087357" cy="638464"/>
          </a:xfrm>
          <a:prstGeom prst="rect">
            <a:avLst/>
          </a:prstGeom>
          <a:solidFill>
            <a:schemeClr val="bg1"/>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100" b="1" dirty="0">
                <a:solidFill>
                  <a:schemeClr val="tx1"/>
                </a:solidFill>
              </a:rPr>
              <a:t>Cache</a:t>
            </a:r>
          </a:p>
        </p:txBody>
      </p:sp>
      <p:pic>
        <p:nvPicPr>
          <p:cNvPr id="44" name="Picture 43">
            <a:extLst>
              <a:ext uri="{FF2B5EF4-FFF2-40B4-BE49-F238E27FC236}">
                <a16:creationId xmlns:a16="http://schemas.microsoft.com/office/drawing/2014/main" id="{80557C0B-74C8-47A2-B58E-ABB38AD4C41E}"/>
              </a:ext>
            </a:extLst>
          </p:cNvPr>
          <p:cNvPicPr>
            <a:picLocks noChangeAspect="1"/>
          </p:cNvPicPr>
          <p:nvPr/>
        </p:nvPicPr>
        <p:blipFill>
          <a:blip r:embed="rId8"/>
          <a:stretch>
            <a:fillRect/>
          </a:stretch>
        </p:blipFill>
        <p:spPr>
          <a:xfrm>
            <a:off x="2301155" y="4826252"/>
            <a:ext cx="641729" cy="638464"/>
          </a:xfrm>
          <a:prstGeom prst="rect">
            <a:avLst/>
          </a:prstGeom>
        </p:spPr>
      </p:pic>
      <p:sp>
        <p:nvSpPr>
          <p:cNvPr id="45" name="Rectangle 44">
            <a:extLst>
              <a:ext uri="{FF2B5EF4-FFF2-40B4-BE49-F238E27FC236}">
                <a16:creationId xmlns:a16="http://schemas.microsoft.com/office/drawing/2014/main" id="{75E0B9E5-5081-4A89-9677-6D212E25B750}"/>
              </a:ext>
            </a:extLst>
          </p:cNvPr>
          <p:cNvSpPr/>
          <p:nvPr/>
        </p:nvSpPr>
        <p:spPr>
          <a:xfrm>
            <a:off x="2109112" y="4843426"/>
            <a:ext cx="1074483" cy="638464"/>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100" b="1" dirty="0">
                <a:solidFill>
                  <a:schemeClr val="tx1"/>
                </a:solidFill>
              </a:rPr>
              <a:t>Clock</a:t>
            </a:r>
          </a:p>
        </p:txBody>
      </p:sp>
      <p:grpSp>
        <p:nvGrpSpPr>
          <p:cNvPr id="32" name="Group 31">
            <a:extLst>
              <a:ext uri="{FF2B5EF4-FFF2-40B4-BE49-F238E27FC236}">
                <a16:creationId xmlns:a16="http://schemas.microsoft.com/office/drawing/2014/main" id="{99529748-7DF1-46C8-9775-5678AC274467}"/>
              </a:ext>
            </a:extLst>
          </p:cNvPr>
          <p:cNvGrpSpPr/>
          <p:nvPr/>
        </p:nvGrpSpPr>
        <p:grpSpPr>
          <a:xfrm flipV="1">
            <a:off x="1230797" y="4490796"/>
            <a:ext cx="1449572" cy="683607"/>
            <a:chOff x="1202957" y="1882152"/>
            <a:chExt cx="1449572" cy="683607"/>
          </a:xfrm>
        </p:grpSpPr>
        <p:cxnSp>
          <p:nvCxnSpPr>
            <p:cNvPr id="33" name="Straight Arrow Connector 32">
              <a:extLst>
                <a:ext uri="{FF2B5EF4-FFF2-40B4-BE49-F238E27FC236}">
                  <a16:creationId xmlns:a16="http://schemas.microsoft.com/office/drawing/2014/main" id="{21BB6048-A1A8-49CC-9F9C-170476A5D00F}"/>
                </a:ext>
              </a:extLst>
            </p:cNvPr>
            <p:cNvCxnSpPr>
              <a:cxnSpLocks/>
            </p:cNvCxnSpPr>
            <p:nvPr/>
          </p:nvCxnSpPr>
          <p:spPr>
            <a:xfrm flipV="1">
              <a:off x="1202957" y="2211632"/>
              <a:ext cx="0" cy="354127"/>
            </a:xfrm>
            <a:prstGeom prst="straightConnector1">
              <a:avLst/>
            </a:prstGeom>
            <a:ln w="50800">
              <a:solidFill>
                <a:srgbClr val="C00000"/>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5" name="Straight Arrow Connector 34">
              <a:extLst>
                <a:ext uri="{FF2B5EF4-FFF2-40B4-BE49-F238E27FC236}">
                  <a16:creationId xmlns:a16="http://schemas.microsoft.com/office/drawing/2014/main" id="{76634C46-4CB0-4604-818E-FAFEA0EF8E01}"/>
                </a:ext>
              </a:extLst>
            </p:cNvPr>
            <p:cNvCxnSpPr>
              <a:cxnSpLocks/>
            </p:cNvCxnSpPr>
            <p:nvPr/>
          </p:nvCxnSpPr>
          <p:spPr>
            <a:xfrm flipV="1">
              <a:off x="2652529" y="2211632"/>
              <a:ext cx="0" cy="354127"/>
            </a:xfrm>
            <a:prstGeom prst="straightConnector1">
              <a:avLst/>
            </a:prstGeom>
            <a:ln w="50800">
              <a:solidFill>
                <a:srgbClr val="C00000"/>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955CD33C-2502-472C-B008-28001C35244D}"/>
                </a:ext>
              </a:extLst>
            </p:cNvPr>
            <p:cNvCxnSpPr>
              <a:cxnSpLocks/>
            </p:cNvCxnSpPr>
            <p:nvPr/>
          </p:nvCxnSpPr>
          <p:spPr>
            <a:xfrm rot="5400000" flipV="1">
              <a:off x="1897902" y="1705088"/>
              <a:ext cx="0" cy="354127"/>
            </a:xfrm>
            <a:prstGeom prst="straightConnector1">
              <a:avLst/>
            </a:prstGeom>
            <a:ln w="50800">
              <a:solidFill>
                <a:srgbClr val="C00000"/>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grpSp>
      <p:sp>
        <p:nvSpPr>
          <p:cNvPr id="31" name="Rectangle 30">
            <a:extLst>
              <a:ext uri="{FF2B5EF4-FFF2-40B4-BE49-F238E27FC236}">
                <a16:creationId xmlns:a16="http://schemas.microsoft.com/office/drawing/2014/main" id="{ECBAFB6D-97E9-F7FF-14CA-F6EFA9DB9B30}"/>
              </a:ext>
            </a:extLst>
          </p:cNvPr>
          <p:cNvSpPr/>
          <p:nvPr/>
        </p:nvSpPr>
        <p:spPr>
          <a:xfrm>
            <a:off x="8063188" y="1187335"/>
            <a:ext cx="4025498" cy="2130070"/>
          </a:xfrm>
          <a:prstGeom prst="rect">
            <a:avLst/>
          </a:prstGeom>
        </p:spPr>
        <p:txBody>
          <a:bodyPr wrap="square">
            <a:spAutoFit/>
          </a:bodyPr>
          <a:lstStyle/>
          <a:p>
            <a:pPr>
              <a:lnSpc>
                <a:spcPct val="107000"/>
              </a:lnSpc>
              <a:spcAft>
                <a:spcPts val="800"/>
              </a:spcAft>
            </a:pPr>
            <a:r>
              <a:rPr lang="en-GB" sz="1600" b="1" dirty="0">
                <a:latin typeface="Calibri" panose="020F0502020204030204" pitchFamily="34" charset="0"/>
                <a:ea typeface="Calibri" panose="020F0502020204030204" pitchFamily="34" charset="0"/>
                <a:cs typeface="Times New Roman" panose="02020603050405020304" pitchFamily="18" charset="0"/>
              </a:rPr>
              <a:t>Fetch stage</a:t>
            </a:r>
          </a:p>
          <a:p>
            <a:pPr>
              <a:lnSpc>
                <a:spcPct val="107000"/>
              </a:lnSpc>
              <a:spcAft>
                <a:spcPts val="800"/>
              </a:spcAft>
            </a:pPr>
            <a:r>
              <a:rPr lang="en-GB" sz="1600" dirty="0">
                <a:latin typeface="Calibri" panose="020F0502020204030204" pitchFamily="34" charset="0"/>
                <a:ea typeface="Calibri" panose="020F0502020204030204" pitchFamily="34" charset="0"/>
                <a:cs typeface="Times New Roman" panose="02020603050405020304" pitchFamily="18" charset="0"/>
              </a:rPr>
              <a:t>The program counter is checked for the memory address of the next instruction to be executed.</a:t>
            </a:r>
          </a:p>
          <a:p>
            <a:pPr>
              <a:lnSpc>
                <a:spcPct val="107000"/>
              </a:lnSpc>
              <a:spcAft>
                <a:spcPts val="800"/>
              </a:spcAft>
            </a:pPr>
            <a:r>
              <a:rPr lang="en-GB" sz="1600" dirty="0">
                <a:latin typeface="Calibri" panose="020F0502020204030204" pitchFamily="34" charset="0"/>
                <a:ea typeface="Calibri" panose="020F0502020204030204" pitchFamily="34" charset="0"/>
                <a:cs typeface="Times New Roman" panose="02020603050405020304" pitchFamily="18" charset="0"/>
              </a:rPr>
              <a:t>The memory address register (MAR) fetches the instruction from main memory (RAM) and brings it into the memory data register (MDR).</a:t>
            </a:r>
          </a:p>
        </p:txBody>
      </p:sp>
    </p:spTree>
    <p:extLst>
      <p:ext uri="{BB962C8B-B14F-4D97-AF65-F5344CB8AC3E}">
        <p14:creationId xmlns:p14="http://schemas.microsoft.com/office/powerpoint/2010/main" val="116508308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97F5328-60A8-4150-89ED-2AED3C67E0EE}"/>
              </a:ext>
            </a:extLst>
          </p:cNvPr>
          <p:cNvSpPr/>
          <p:nvPr/>
        </p:nvSpPr>
        <p:spPr>
          <a:xfrm>
            <a:off x="176565" y="523174"/>
            <a:ext cx="3556615" cy="470000"/>
          </a:xfrm>
          <a:prstGeom prst="rect">
            <a:avLst/>
          </a:prstGeom>
        </p:spPr>
        <p:txBody>
          <a:bodyPr wrap="none">
            <a:spAutoFit/>
          </a:bodyPr>
          <a:lstStyle/>
          <a:p>
            <a:pPr>
              <a:lnSpc>
                <a:spcPct val="107000"/>
              </a:lnSpc>
              <a:spcAft>
                <a:spcPts val="800"/>
              </a:spcAft>
            </a:pPr>
            <a:r>
              <a:rPr lang="en-GB" sz="2400" dirty="0">
                <a:solidFill>
                  <a:schemeClr val="accent2">
                    <a:lumMod val="75000"/>
                  </a:schemeClr>
                </a:solidFill>
                <a:latin typeface="Calibri" panose="020F0502020204030204" pitchFamily="34" charset="0"/>
                <a:ea typeface="Calibri" panose="020F0502020204030204" pitchFamily="34" charset="0"/>
                <a:cs typeface="Times New Roman" panose="02020603050405020304" pitchFamily="18" charset="0"/>
              </a:rPr>
              <a:t>Von Neumann architecture</a:t>
            </a:r>
            <a:endParaRPr lang="en-GB" sz="1200" dirty="0">
              <a:solidFill>
                <a:schemeClr val="accent2">
                  <a:lumMod val="75000"/>
                </a:schemeClr>
              </a:solidFill>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0" name="Rectangle 9">
            <a:extLst>
              <a:ext uri="{FF2B5EF4-FFF2-40B4-BE49-F238E27FC236}">
                <a16:creationId xmlns:a16="http://schemas.microsoft.com/office/drawing/2014/main" id="{14E1E4FB-B01B-4CAE-9EFC-8635BEFA9DEB}"/>
              </a:ext>
            </a:extLst>
          </p:cNvPr>
          <p:cNvSpPr/>
          <p:nvPr/>
        </p:nvSpPr>
        <p:spPr>
          <a:xfrm>
            <a:off x="276550" y="1187335"/>
            <a:ext cx="3237538" cy="4483337"/>
          </a:xfrm>
          <a:prstGeom prst="rect">
            <a:avLst/>
          </a:prstGeom>
          <a:solidFill>
            <a:schemeClr val="accent4">
              <a:lumMod val="20000"/>
              <a:lumOff val="80000"/>
            </a:schemeClr>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1872000" tIns="1260000" rtlCol="0" anchor="t" anchorCtr="0"/>
          <a:lstStyle/>
          <a:p>
            <a:pPr algn="ctr"/>
            <a:endParaRPr lang="en-GB" dirty="0">
              <a:solidFill>
                <a:schemeClr val="tx1"/>
              </a:solidFill>
            </a:endParaRPr>
          </a:p>
        </p:txBody>
      </p:sp>
      <p:sp>
        <p:nvSpPr>
          <p:cNvPr id="12" name="Rectangle 11">
            <a:extLst>
              <a:ext uri="{FF2B5EF4-FFF2-40B4-BE49-F238E27FC236}">
                <a16:creationId xmlns:a16="http://schemas.microsoft.com/office/drawing/2014/main" id="{A3C8042A-1D6E-4D8E-9615-EAD11E9612BE}"/>
              </a:ext>
            </a:extLst>
          </p:cNvPr>
          <p:cNvSpPr/>
          <p:nvPr/>
        </p:nvSpPr>
        <p:spPr>
          <a:xfrm>
            <a:off x="475549" y="1265904"/>
            <a:ext cx="2879050" cy="4338771"/>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GB" sz="1100" b="1" dirty="0">
                <a:solidFill>
                  <a:schemeClr val="tx1"/>
                </a:solidFill>
              </a:rPr>
              <a:t>Central processing unit (CPU)</a:t>
            </a:r>
          </a:p>
        </p:txBody>
      </p:sp>
      <p:sp>
        <p:nvSpPr>
          <p:cNvPr id="17" name="Rectangle 16">
            <a:extLst>
              <a:ext uri="{FF2B5EF4-FFF2-40B4-BE49-F238E27FC236}">
                <a16:creationId xmlns:a16="http://schemas.microsoft.com/office/drawing/2014/main" id="{9DC6B7E0-027D-4EF6-AD4D-DC5D9B452BE9}"/>
              </a:ext>
            </a:extLst>
          </p:cNvPr>
          <p:cNvSpPr/>
          <p:nvPr/>
        </p:nvSpPr>
        <p:spPr>
          <a:xfrm>
            <a:off x="666934" y="1507626"/>
            <a:ext cx="1081825" cy="708338"/>
          </a:xfrm>
          <a:prstGeom prst="rect">
            <a:avLst/>
          </a:prstGeom>
          <a:solidFill>
            <a:schemeClr val="bg1"/>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100" dirty="0">
                <a:solidFill>
                  <a:schemeClr val="tx1"/>
                </a:solidFill>
              </a:rPr>
              <a:t>Control</a:t>
            </a:r>
          </a:p>
          <a:p>
            <a:pPr algn="ctr"/>
            <a:r>
              <a:rPr lang="en-GB" sz="1100" dirty="0">
                <a:solidFill>
                  <a:schemeClr val="tx1"/>
                </a:solidFill>
              </a:rPr>
              <a:t>unit (CU)</a:t>
            </a:r>
          </a:p>
        </p:txBody>
      </p:sp>
      <p:sp>
        <p:nvSpPr>
          <p:cNvPr id="18" name="Rectangle 17">
            <a:extLst>
              <a:ext uri="{FF2B5EF4-FFF2-40B4-BE49-F238E27FC236}">
                <a16:creationId xmlns:a16="http://schemas.microsoft.com/office/drawing/2014/main" id="{038595A0-9F1C-45FA-AD5B-9A2F795EC7C6}"/>
              </a:ext>
            </a:extLst>
          </p:cNvPr>
          <p:cNvSpPr/>
          <p:nvPr/>
        </p:nvSpPr>
        <p:spPr>
          <a:xfrm>
            <a:off x="2102652" y="1507626"/>
            <a:ext cx="1081825" cy="708338"/>
          </a:xfrm>
          <a:prstGeom prst="rect">
            <a:avLst/>
          </a:prstGeom>
          <a:solidFill>
            <a:schemeClr val="bg1"/>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100" dirty="0">
                <a:solidFill>
                  <a:schemeClr val="tx1"/>
                </a:solidFill>
              </a:rPr>
              <a:t>Arithmetic logic unit (ALU)</a:t>
            </a:r>
          </a:p>
        </p:txBody>
      </p:sp>
      <p:sp>
        <p:nvSpPr>
          <p:cNvPr id="19" name="Rectangle 18">
            <a:extLst>
              <a:ext uri="{FF2B5EF4-FFF2-40B4-BE49-F238E27FC236}">
                <a16:creationId xmlns:a16="http://schemas.microsoft.com/office/drawing/2014/main" id="{EF42D0C0-056E-48A9-8169-6B9FEB54F46C}"/>
              </a:ext>
            </a:extLst>
          </p:cNvPr>
          <p:cNvSpPr/>
          <p:nvPr/>
        </p:nvSpPr>
        <p:spPr>
          <a:xfrm>
            <a:off x="666934" y="2560734"/>
            <a:ext cx="2517543" cy="1935087"/>
          </a:xfrm>
          <a:prstGeom prst="rect">
            <a:avLst/>
          </a:prstGeom>
          <a:solidFill>
            <a:schemeClr val="accent2">
              <a:lumMod val="40000"/>
              <a:lumOff val="60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GB" sz="1100" b="1">
                <a:solidFill>
                  <a:schemeClr val="tx1"/>
                </a:solidFill>
              </a:rPr>
              <a:t>Register</a:t>
            </a:r>
            <a:endParaRPr lang="en-GB" sz="1100" b="1" dirty="0">
              <a:solidFill>
                <a:schemeClr val="tx1"/>
              </a:solidFill>
            </a:endParaRPr>
          </a:p>
        </p:txBody>
      </p:sp>
      <p:sp>
        <p:nvSpPr>
          <p:cNvPr id="20" name="Rectangle 19">
            <a:extLst>
              <a:ext uri="{FF2B5EF4-FFF2-40B4-BE49-F238E27FC236}">
                <a16:creationId xmlns:a16="http://schemas.microsoft.com/office/drawing/2014/main" id="{D5772A53-90DA-4E8B-B6E6-310B2E9375C5}"/>
              </a:ext>
            </a:extLst>
          </p:cNvPr>
          <p:cNvSpPr/>
          <p:nvPr/>
        </p:nvSpPr>
        <p:spPr>
          <a:xfrm>
            <a:off x="1996349" y="2840551"/>
            <a:ext cx="1081825" cy="708338"/>
          </a:xfrm>
          <a:prstGeom prst="rect">
            <a:avLst/>
          </a:prstGeom>
          <a:solidFill>
            <a:schemeClr val="bg1"/>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100">
                <a:solidFill>
                  <a:schemeClr val="tx1"/>
                </a:solidFill>
              </a:rPr>
              <a:t>Memory address register </a:t>
            </a:r>
            <a:r>
              <a:rPr lang="en-GB" sz="1100" dirty="0">
                <a:solidFill>
                  <a:schemeClr val="tx1"/>
                </a:solidFill>
              </a:rPr>
              <a:t>(MAR)</a:t>
            </a:r>
          </a:p>
        </p:txBody>
      </p:sp>
      <p:sp>
        <p:nvSpPr>
          <p:cNvPr id="21" name="Rectangle 20">
            <a:extLst>
              <a:ext uri="{FF2B5EF4-FFF2-40B4-BE49-F238E27FC236}">
                <a16:creationId xmlns:a16="http://schemas.microsoft.com/office/drawing/2014/main" id="{E40AA452-ABF6-4935-80C2-C940C436FB9D}"/>
              </a:ext>
            </a:extLst>
          </p:cNvPr>
          <p:cNvSpPr/>
          <p:nvPr/>
        </p:nvSpPr>
        <p:spPr>
          <a:xfrm>
            <a:off x="1993887" y="3617025"/>
            <a:ext cx="1081825" cy="708338"/>
          </a:xfrm>
          <a:prstGeom prst="rect">
            <a:avLst/>
          </a:prstGeom>
          <a:solidFill>
            <a:schemeClr val="bg1"/>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100" dirty="0">
                <a:solidFill>
                  <a:schemeClr val="tx1"/>
                </a:solidFill>
              </a:rPr>
              <a:t>Memory data register (MDR)</a:t>
            </a:r>
          </a:p>
        </p:txBody>
      </p:sp>
      <p:sp>
        <p:nvSpPr>
          <p:cNvPr id="22" name="Rectangle 21">
            <a:extLst>
              <a:ext uri="{FF2B5EF4-FFF2-40B4-BE49-F238E27FC236}">
                <a16:creationId xmlns:a16="http://schemas.microsoft.com/office/drawing/2014/main" id="{934BCE69-9910-4FFF-A932-3435BDF3A78C}"/>
              </a:ext>
            </a:extLst>
          </p:cNvPr>
          <p:cNvSpPr/>
          <p:nvPr/>
        </p:nvSpPr>
        <p:spPr>
          <a:xfrm>
            <a:off x="755539" y="3623242"/>
            <a:ext cx="1081825" cy="708338"/>
          </a:xfrm>
          <a:prstGeom prst="rect">
            <a:avLst/>
          </a:prstGeom>
          <a:solidFill>
            <a:schemeClr val="accent4"/>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100" dirty="0">
                <a:solidFill>
                  <a:schemeClr val="tx1"/>
                </a:solidFill>
              </a:rPr>
              <a:t>Program counter (PC)</a:t>
            </a:r>
          </a:p>
        </p:txBody>
      </p:sp>
      <p:sp>
        <p:nvSpPr>
          <p:cNvPr id="23" name="Rectangle 22">
            <a:extLst>
              <a:ext uri="{FF2B5EF4-FFF2-40B4-BE49-F238E27FC236}">
                <a16:creationId xmlns:a16="http://schemas.microsoft.com/office/drawing/2014/main" id="{FF6508EE-D7B4-4EDB-97C9-EE5EC2A39807}"/>
              </a:ext>
            </a:extLst>
          </p:cNvPr>
          <p:cNvSpPr/>
          <p:nvPr/>
        </p:nvSpPr>
        <p:spPr>
          <a:xfrm>
            <a:off x="755539" y="2837779"/>
            <a:ext cx="1081825" cy="708338"/>
          </a:xfrm>
          <a:prstGeom prst="rect">
            <a:avLst/>
          </a:prstGeom>
          <a:solidFill>
            <a:schemeClr val="bg1"/>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100" dirty="0">
                <a:solidFill>
                  <a:schemeClr val="tx1"/>
                </a:solidFill>
              </a:rPr>
              <a:t>Accumulator</a:t>
            </a:r>
          </a:p>
        </p:txBody>
      </p:sp>
      <p:cxnSp>
        <p:nvCxnSpPr>
          <p:cNvPr id="28" name="Straight Arrow Connector 27">
            <a:extLst>
              <a:ext uri="{FF2B5EF4-FFF2-40B4-BE49-F238E27FC236}">
                <a16:creationId xmlns:a16="http://schemas.microsoft.com/office/drawing/2014/main" id="{7AF01822-F7B6-4209-91EC-176D1A2ECB12}"/>
              </a:ext>
            </a:extLst>
          </p:cNvPr>
          <p:cNvCxnSpPr>
            <a:cxnSpLocks/>
          </p:cNvCxnSpPr>
          <p:nvPr/>
        </p:nvCxnSpPr>
        <p:spPr>
          <a:xfrm flipV="1">
            <a:off x="1202957" y="2211632"/>
            <a:ext cx="0" cy="354127"/>
          </a:xfrm>
          <a:prstGeom prst="straightConnector1">
            <a:avLst/>
          </a:prstGeom>
          <a:ln w="50800">
            <a:solidFill>
              <a:srgbClr val="C00000"/>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905747BB-A70B-42B6-9A40-AC791675AB51}"/>
              </a:ext>
            </a:extLst>
          </p:cNvPr>
          <p:cNvCxnSpPr>
            <a:cxnSpLocks/>
          </p:cNvCxnSpPr>
          <p:nvPr/>
        </p:nvCxnSpPr>
        <p:spPr>
          <a:xfrm flipV="1">
            <a:off x="2652529" y="2211632"/>
            <a:ext cx="0" cy="354127"/>
          </a:xfrm>
          <a:prstGeom prst="straightConnector1">
            <a:avLst/>
          </a:prstGeom>
          <a:ln w="50800">
            <a:solidFill>
              <a:srgbClr val="C00000"/>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67D85183-321A-44C3-82FA-78C29445E88C}"/>
              </a:ext>
            </a:extLst>
          </p:cNvPr>
          <p:cNvCxnSpPr>
            <a:cxnSpLocks/>
          </p:cNvCxnSpPr>
          <p:nvPr/>
        </p:nvCxnSpPr>
        <p:spPr>
          <a:xfrm rot="5400000" flipV="1">
            <a:off x="1926477" y="1666988"/>
            <a:ext cx="0" cy="354127"/>
          </a:xfrm>
          <a:prstGeom prst="straightConnector1">
            <a:avLst/>
          </a:prstGeom>
          <a:ln w="50800">
            <a:solidFill>
              <a:srgbClr val="C00000"/>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34" name="Rectangle 33">
            <a:extLst>
              <a:ext uri="{FF2B5EF4-FFF2-40B4-BE49-F238E27FC236}">
                <a16:creationId xmlns:a16="http://schemas.microsoft.com/office/drawing/2014/main" id="{0545FFC8-9493-4EB4-A6FB-F3C980EBC5A5}"/>
              </a:ext>
            </a:extLst>
          </p:cNvPr>
          <p:cNvSpPr/>
          <p:nvPr/>
        </p:nvSpPr>
        <p:spPr>
          <a:xfrm>
            <a:off x="4557319" y="1187335"/>
            <a:ext cx="3237538" cy="4483329"/>
          </a:xfrm>
          <a:prstGeom prst="rect">
            <a:avLst/>
          </a:prstGeom>
          <a:solidFill>
            <a:schemeClr val="accent4">
              <a:lumMod val="20000"/>
              <a:lumOff val="80000"/>
            </a:schemeClr>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GB" dirty="0">
                <a:solidFill>
                  <a:schemeClr val="tx1"/>
                </a:solidFill>
              </a:rPr>
              <a:t>Main memory (RAM)</a:t>
            </a:r>
          </a:p>
        </p:txBody>
      </p:sp>
      <p:graphicFrame>
        <p:nvGraphicFramePr>
          <p:cNvPr id="2" name="Table 32">
            <a:extLst>
              <a:ext uri="{FF2B5EF4-FFF2-40B4-BE49-F238E27FC236}">
                <a16:creationId xmlns:a16="http://schemas.microsoft.com/office/drawing/2014/main" id="{8E9FC54D-B26B-406A-BF90-1A835E0701E6}"/>
              </a:ext>
            </a:extLst>
          </p:cNvPr>
          <p:cNvGraphicFramePr>
            <a:graphicFrameLocks noGrp="1"/>
          </p:cNvGraphicFramePr>
          <p:nvPr>
            <p:extLst>
              <p:ext uri="{D42A27DB-BD31-4B8C-83A1-F6EECF244321}">
                <p14:modId xmlns:p14="http://schemas.microsoft.com/office/powerpoint/2010/main" val="2239774692"/>
              </p:ext>
            </p:extLst>
          </p:nvPr>
        </p:nvGraphicFramePr>
        <p:xfrm>
          <a:off x="4825649" y="1658897"/>
          <a:ext cx="2239767" cy="3774440"/>
        </p:xfrm>
        <a:graphic>
          <a:graphicData uri="http://schemas.openxmlformats.org/drawingml/2006/table">
            <a:tbl>
              <a:tblPr firstRow="1" bandRow="1">
                <a:tableStyleId>{21E4AEA4-8DFA-4A89-87EB-49C32662AFE0}</a:tableStyleId>
              </a:tblPr>
              <a:tblGrid>
                <a:gridCol w="1037691">
                  <a:extLst>
                    <a:ext uri="{9D8B030D-6E8A-4147-A177-3AD203B41FA5}">
                      <a16:colId xmlns:a16="http://schemas.microsoft.com/office/drawing/2014/main" val="3614015831"/>
                    </a:ext>
                  </a:extLst>
                </a:gridCol>
                <a:gridCol w="1202076">
                  <a:extLst>
                    <a:ext uri="{9D8B030D-6E8A-4147-A177-3AD203B41FA5}">
                      <a16:colId xmlns:a16="http://schemas.microsoft.com/office/drawing/2014/main" val="3794086153"/>
                    </a:ext>
                  </a:extLst>
                </a:gridCol>
              </a:tblGrid>
              <a:tr h="370840">
                <a:tc>
                  <a:txBody>
                    <a:bodyPr/>
                    <a:lstStyle/>
                    <a:p>
                      <a:pPr algn="ctr"/>
                      <a:r>
                        <a:rPr lang="en-GB" dirty="0"/>
                        <a:t>Address</a:t>
                      </a:r>
                    </a:p>
                  </a:txBody>
                  <a:tcPr/>
                </a:tc>
                <a:tc>
                  <a:txBody>
                    <a:bodyPr/>
                    <a:lstStyle/>
                    <a:p>
                      <a:pPr algn="ctr"/>
                      <a:r>
                        <a:rPr lang="en-GB" dirty="0"/>
                        <a:t>Data</a:t>
                      </a:r>
                    </a:p>
                  </a:txBody>
                  <a:tcPr/>
                </a:tc>
                <a:extLst>
                  <a:ext uri="{0D108BD9-81ED-4DB2-BD59-A6C34878D82A}">
                    <a16:rowId xmlns:a16="http://schemas.microsoft.com/office/drawing/2014/main" val="1704211108"/>
                  </a:ext>
                </a:extLst>
              </a:tr>
              <a:tr h="370840">
                <a:tc>
                  <a:txBody>
                    <a:bodyPr/>
                    <a:lstStyle/>
                    <a:p>
                      <a:pPr algn="ctr"/>
                      <a:r>
                        <a:rPr lang="en-GB" dirty="0"/>
                        <a:t>1</a:t>
                      </a:r>
                    </a:p>
                  </a:txBody>
                  <a:tcPr/>
                </a:tc>
                <a:tc>
                  <a:txBody>
                    <a:bodyPr/>
                    <a:lstStyle/>
                    <a:p>
                      <a:pPr algn="ctr"/>
                      <a:r>
                        <a:rPr lang="en-GB" dirty="0"/>
                        <a:t>Load address 5</a:t>
                      </a:r>
                    </a:p>
                  </a:txBody>
                  <a:tcPr/>
                </a:tc>
                <a:extLst>
                  <a:ext uri="{0D108BD9-81ED-4DB2-BD59-A6C34878D82A}">
                    <a16:rowId xmlns:a16="http://schemas.microsoft.com/office/drawing/2014/main" val="74178786"/>
                  </a:ext>
                </a:extLst>
              </a:tr>
              <a:tr h="370840">
                <a:tc>
                  <a:txBody>
                    <a:bodyPr/>
                    <a:lstStyle/>
                    <a:p>
                      <a:pPr algn="ctr"/>
                      <a:r>
                        <a:rPr lang="en-GB" dirty="0"/>
                        <a:t>2</a:t>
                      </a:r>
                    </a:p>
                  </a:txBody>
                  <a:tcPr/>
                </a:tc>
                <a:tc>
                  <a:txBody>
                    <a:bodyPr/>
                    <a:lstStyle/>
                    <a:p>
                      <a:pPr algn="ctr"/>
                      <a:r>
                        <a:rPr lang="en-GB" dirty="0"/>
                        <a:t>Add address 6</a:t>
                      </a:r>
                    </a:p>
                  </a:txBody>
                  <a:tcPr/>
                </a:tc>
                <a:extLst>
                  <a:ext uri="{0D108BD9-81ED-4DB2-BD59-A6C34878D82A}">
                    <a16:rowId xmlns:a16="http://schemas.microsoft.com/office/drawing/2014/main" val="1752188674"/>
                  </a:ext>
                </a:extLst>
              </a:tr>
              <a:tr h="370840">
                <a:tc>
                  <a:txBody>
                    <a:bodyPr/>
                    <a:lstStyle/>
                    <a:p>
                      <a:pPr algn="ctr"/>
                      <a:r>
                        <a:rPr lang="en-GB" dirty="0"/>
                        <a:t>3</a:t>
                      </a:r>
                    </a:p>
                  </a:txBody>
                  <a:tcPr/>
                </a:tc>
                <a:tc>
                  <a:txBody>
                    <a:bodyPr/>
                    <a:lstStyle/>
                    <a:p>
                      <a:pPr algn="ctr"/>
                      <a:r>
                        <a:rPr lang="en-GB" dirty="0"/>
                        <a:t>Store in address 6</a:t>
                      </a:r>
                    </a:p>
                  </a:txBody>
                  <a:tcPr/>
                </a:tc>
                <a:extLst>
                  <a:ext uri="{0D108BD9-81ED-4DB2-BD59-A6C34878D82A}">
                    <a16:rowId xmlns:a16="http://schemas.microsoft.com/office/drawing/2014/main" val="2843260329"/>
                  </a:ext>
                </a:extLst>
              </a:tr>
              <a:tr h="370840">
                <a:tc>
                  <a:txBody>
                    <a:bodyPr/>
                    <a:lstStyle/>
                    <a:p>
                      <a:pPr algn="ctr"/>
                      <a:r>
                        <a:rPr lang="en-GB" dirty="0"/>
                        <a:t>4</a:t>
                      </a:r>
                    </a:p>
                  </a:txBody>
                  <a:tcPr/>
                </a:tc>
                <a:tc>
                  <a:txBody>
                    <a:bodyPr/>
                    <a:lstStyle/>
                    <a:p>
                      <a:pPr algn="ctr"/>
                      <a:r>
                        <a:rPr lang="en-GB" dirty="0"/>
                        <a:t>End</a:t>
                      </a:r>
                    </a:p>
                  </a:txBody>
                  <a:tcPr/>
                </a:tc>
                <a:extLst>
                  <a:ext uri="{0D108BD9-81ED-4DB2-BD59-A6C34878D82A}">
                    <a16:rowId xmlns:a16="http://schemas.microsoft.com/office/drawing/2014/main" val="4027267220"/>
                  </a:ext>
                </a:extLst>
              </a:tr>
              <a:tr h="370840">
                <a:tc>
                  <a:txBody>
                    <a:bodyPr/>
                    <a:lstStyle/>
                    <a:p>
                      <a:pPr algn="ctr"/>
                      <a:r>
                        <a:rPr lang="en-GB" dirty="0"/>
                        <a:t>5</a:t>
                      </a:r>
                    </a:p>
                  </a:txBody>
                  <a:tcPr/>
                </a:tc>
                <a:tc>
                  <a:txBody>
                    <a:bodyPr/>
                    <a:lstStyle/>
                    <a:p>
                      <a:pPr algn="ctr"/>
                      <a:r>
                        <a:rPr lang="en-GB" dirty="0"/>
                        <a:t>23</a:t>
                      </a:r>
                    </a:p>
                  </a:txBody>
                  <a:tcPr/>
                </a:tc>
                <a:extLst>
                  <a:ext uri="{0D108BD9-81ED-4DB2-BD59-A6C34878D82A}">
                    <a16:rowId xmlns:a16="http://schemas.microsoft.com/office/drawing/2014/main" val="2887340781"/>
                  </a:ext>
                </a:extLst>
              </a:tr>
              <a:tr h="370840">
                <a:tc>
                  <a:txBody>
                    <a:bodyPr/>
                    <a:lstStyle/>
                    <a:p>
                      <a:pPr algn="ctr"/>
                      <a:r>
                        <a:rPr lang="en-GB" dirty="0"/>
                        <a:t>6</a:t>
                      </a:r>
                    </a:p>
                  </a:txBody>
                  <a:tcPr/>
                </a:tc>
                <a:tc>
                  <a:txBody>
                    <a:bodyPr/>
                    <a:lstStyle/>
                    <a:p>
                      <a:pPr algn="ctr"/>
                      <a:r>
                        <a:rPr lang="en-GB" dirty="0"/>
                        <a:t>12</a:t>
                      </a:r>
                    </a:p>
                  </a:txBody>
                  <a:tcPr/>
                </a:tc>
                <a:extLst>
                  <a:ext uri="{0D108BD9-81ED-4DB2-BD59-A6C34878D82A}">
                    <a16:rowId xmlns:a16="http://schemas.microsoft.com/office/drawing/2014/main" val="3808870730"/>
                  </a:ext>
                </a:extLst>
              </a:tr>
              <a:tr h="370840">
                <a:tc gridSpan="2">
                  <a:txBody>
                    <a:bodyPr/>
                    <a:lstStyle/>
                    <a:p>
                      <a:endParaRPr lang="en-GB" dirty="0"/>
                    </a:p>
                  </a:txBody>
                  <a:tcPr>
                    <a:solidFill>
                      <a:schemeClr val="accent2"/>
                    </a:solidFill>
                  </a:tcPr>
                </a:tc>
                <a:tc hMerge="1">
                  <a:txBody>
                    <a:bodyPr/>
                    <a:lstStyle/>
                    <a:p>
                      <a:endParaRPr lang="en-GB" dirty="0"/>
                    </a:p>
                  </a:txBody>
                  <a:tcPr/>
                </a:tc>
                <a:extLst>
                  <a:ext uri="{0D108BD9-81ED-4DB2-BD59-A6C34878D82A}">
                    <a16:rowId xmlns:a16="http://schemas.microsoft.com/office/drawing/2014/main" val="453354336"/>
                  </a:ext>
                </a:extLst>
              </a:tr>
            </a:tbl>
          </a:graphicData>
        </a:graphic>
      </p:graphicFrame>
      <p:grpSp>
        <p:nvGrpSpPr>
          <p:cNvPr id="40" name="Group 39">
            <a:extLst>
              <a:ext uri="{FF2B5EF4-FFF2-40B4-BE49-F238E27FC236}">
                <a16:creationId xmlns:a16="http://schemas.microsoft.com/office/drawing/2014/main" id="{47E1A734-AE40-47F7-852D-7A031D45B524}"/>
              </a:ext>
            </a:extLst>
          </p:cNvPr>
          <p:cNvGrpSpPr/>
          <p:nvPr/>
        </p:nvGrpSpPr>
        <p:grpSpPr>
          <a:xfrm>
            <a:off x="3084475" y="3200784"/>
            <a:ext cx="1472844" cy="809946"/>
            <a:chOff x="5089451" y="3108977"/>
            <a:chExt cx="2714502" cy="809946"/>
          </a:xfrm>
        </p:grpSpPr>
        <p:cxnSp>
          <p:nvCxnSpPr>
            <p:cNvPr id="37" name="Straight Arrow Connector 36">
              <a:extLst>
                <a:ext uri="{FF2B5EF4-FFF2-40B4-BE49-F238E27FC236}">
                  <a16:creationId xmlns:a16="http://schemas.microsoft.com/office/drawing/2014/main" id="{C6AEA4D1-72B5-4D9F-BB16-A0F6FA61BE1E}"/>
                </a:ext>
              </a:extLst>
            </p:cNvPr>
            <p:cNvCxnSpPr>
              <a:cxnSpLocks/>
            </p:cNvCxnSpPr>
            <p:nvPr/>
          </p:nvCxnSpPr>
          <p:spPr>
            <a:xfrm>
              <a:off x="5089451" y="3108977"/>
              <a:ext cx="2714502" cy="0"/>
            </a:xfrm>
            <a:prstGeom prst="straightConnector1">
              <a:avLst/>
            </a:prstGeom>
            <a:ln w="5080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39" name="Straight Arrow Connector 38">
              <a:extLst>
                <a:ext uri="{FF2B5EF4-FFF2-40B4-BE49-F238E27FC236}">
                  <a16:creationId xmlns:a16="http://schemas.microsoft.com/office/drawing/2014/main" id="{D6D8C3F4-936D-45F6-A054-B9BEF87A8BFB}"/>
                </a:ext>
              </a:extLst>
            </p:cNvPr>
            <p:cNvCxnSpPr>
              <a:cxnSpLocks/>
            </p:cNvCxnSpPr>
            <p:nvPr/>
          </p:nvCxnSpPr>
          <p:spPr>
            <a:xfrm>
              <a:off x="5089451" y="3918923"/>
              <a:ext cx="2714502" cy="0"/>
            </a:xfrm>
            <a:prstGeom prst="straightConnector1">
              <a:avLst/>
            </a:prstGeom>
            <a:ln w="50800">
              <a:solidFill>
                <a:srgbClr val="C00000"/>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grpSp>
      <p:pic>
        <p:nvPicPr>
          <p:cNvPr id="41" name="Picture 40" descr="A circuit board&#10;&#10;Description automatically generated">
            <a:extLst>
              <a:ext uri="{FF2B5EF4-FFF2-40B4-BE49-F238E27FC236}">
                <a16:creationId xmlns:a16="http://schemas.microsoft.com/office/drawing/2014/main" id="{EEC01B68-F0AE-46F5-B50B-7F1B348C9E3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229075" y="4785018"/>
            <a:ext cx="1568213" cy="1301100"/>
          </a:xfrm>
          <a:prstGeom prst="rect">
            <a:avLst/>
          </a:prstGeom>
        </p:spPr>
      </p:pic>
      <p:graphicFrame>
        <p:nvGraphicFramePr>
          <p:cNvPr id="42" name="Diagram 41">
            <a:extLst>
              <a:ext uri="{FF2B5EF4-FFF2-40B4-BE49-F238E27FC236}">
                <a16:creationId xmlns:a16="http://schemas.microsoft.com/office/drawing/2014/main" id="{6554496D-3CE2-451F-8D8B-7E9298EB84AF}"/>
              </a:ext>
            </a:extLst>
          </p:cNvPr>
          <p:cNvGraphicFramePr/>
          <p:nvPr>
            <p:extLst>
              <p:ext uri="{D42A27DB-BD31-4B8C-83A1-F6EECF244321}">
                <p14:modId xmlns:p14="http://schemas.microsoft.com/office/powerpoint/2010/main" val="2509650800"/>
              </p:ext>
            </p:extLst>
          </p:nvPr>
        </p:nvGraphicFramePr>
        <p:xfrm>
          <a:off x="7794857" y="3890418"/>
          <a:ext cx="4474194" cy="327580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3" name="Rectangle 42">
            <a:extLst>
              <a:ext uri="{FF2B5EF4-FFF2-40B4-BE49-F238E27FC236}">
                <a16:creationId xmlns:a16="http://schemas.microsoft.com/office/drawing/2014/main" id="{E78031A4-1A3B-436D-BB68-3F7A22829278}"/>
              </a:ext>
            </a:extLst>
          </p:cNvPr>
          <p:cNvSpPr/>
          <p:nvPr/>
        </p:nvSpPr>
        <p:spPr>
          <a:xfrm>
            <a:off x="8063188" y="1187335"/>
            <a:ext cx="4025498" cy="2759602"/>
          </a:xfrm>
          <a:prstGeom prst="rect">
            <a:avLst/>
          </a:prstGeom>
        </p:spPr>
        <p:txBody>
          <a:bodyPr wrap="square">
            <a:spAutoFit/>
          </a:bodyPr>
          <a:lstStyle/>
          <a:p>
            <a:pPr>
              <a:lnSpc>
                <a:spcPct val="107000"/>
              </a:lnSpc>
              <a:spcAft>
                <a:spcPts val="800"/>
              </a:spcAft>
            </a:pPr>
            <a:r>
              <a:rPr lang="en-GB" sz="1600" b="1" dirty="0">
                <a:latin typeface="Calibri" panose="020F0502020204030204" pitchFamily="34" charset="0"/>
                <a:ea typeface="Calibri" panose="020F0502020204030204" pitchFamily="34" charset="0"/>
                <a:cs typeface="Times New Roman" panose="02020603050405020304" pitchFamily="18" charset="0"/>
              </a:rPr>
              <a:t>Fetch stage</a:t>
            </a:r>
          </a:p>
          <a:p>
            <a:pPr>
              <a:lnSpc>
                <a:spcPct val="107000"/>
              </a:lnSpc>
              <a:spcAft>
                <a:spcPts val="800"/>
              </a:spcAft>
            </a:pPr>
            <a:r>
              <a:rPr lang="en-GB" sz="1600" dirty="0">
                <a:latin typeface="Calibri" panose="020F0502020204030204" pitchFamily="34" charset="0"/>
                <a:ea typeface="Calibri" panose="020F0502020204030204" pitchFamily="34" charset="0"/>
                <a:cs typeface="Times New Roman" panose="02020603050405020304" pitchFamily="18" charset="0"/>
              </a:rPr>
              <a:t>The program counter is checked for the memory address of the next instruction to be executed.</a:t>
            </a:r>
          </a:p>
          <a:p>
            <a:pPr>
              <a:lnSpc>
                <a:spcPct val="107000"/>
              </a:lnSpc>
              <a:spcAft>
                <a:spcPts val="800"/>
              </a:spcAft>
            </a:pPr>
            <a:r>
              <a:rPr lang="en-GB" sz="1600" dirty="0">
                <a:latin typeface="Calibri" panose="020F0502020204030204" pitchFamily="34" charset="0"/>
                <a:ea typeface="Calibri" panose="020F0502020204030204" pitchFamily="34" charset="0"/>
                <a:cs typeface="Times New Roman" panose="02020603050405020304" pitchFamily="18" charset="0"/>
              </a:rPr>
              <a:t>The memory address register (MAR) fetches the instruction from main memory (RAM) and brings it into the memory data register (MDR).</a:t>
            </a:r>
          </a:p>
          <a:p>
            <a:pPr>
              <a:lnSpc>
                <a:spcPct val="107000"/>
              </a:lnSpc>
              <a:spcAft>
                <a:spcPts val="800"/>
              </a:spcAft>
            </a:pPr>
            <a:r>
              <a:rPr lang="en-GB" sz="1600" dirty="0">
                <a:latin typeface="Calibri" panose="020F0502020204030204" pitchFamily="34" charset="0"/>
                <a:ea typeface="Calibri" panose="020F0502020204030204" pitchFamily="34" charset="0"/>
                <a:cs typeface="Times New Roman" panose="02020603050405020304" pitchFamily="18" charset="0"/>
              </a:rPr>
              <a:t>The program counter is incremented so it points to the next instruction.</a:t>
            </a:r>
          </a:p>
        </p:txBody>
      </p:sp>
      <p:sp>
        <p:nvSpPr>
          <p:cNvPr id="38" name="Rectangle 37">
            <a:extLst>
              <a:ext uri="{FF2B5EF4-FFF2-40B4-BE49-F238E27FC236}">
                <a16:creationId xmlns:a16="http://schemas.microsoft.com/office/drawing/2014/main" id="{1F2E72C6-1F71-4204-918A-BE9262792024}"/>
              </a:ext>
            </a:extLst>
          </p:cNvPr>
          <p:cNvSpPr/>
          <p:nvPr/>
        </p:nvSpPr>
        <p:spPr>
          <a:xfrm>
            <a:off x="666052" y="4843426"/>
            <a:ext cx="1087357" cy="638464"/>
          </a:xfrm>
          <a:prstGeom prst="rect">
            <a:avLst/>
          </a:prstGeom>
          <a:solidFill>
            <a:schemeClr val="bg1"/>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100" b="1" dirty="0">
                <a:solidFill>
                  <a:schemeClr val="tx1"/>
                </a:solidFill>
              </a:rPr>
              <a:t>Cache</a:t>
            </a:r>
          </a:p>
        </p:txBody>
      </p:sp>
      <p:pic>
        <p:nvPicPr>
          <p:cNvPr id="44" name="Picture 43">
            <a:extLst>
              <a:ext uri="{FF2B5EF4-FFF2-40B4-BE49-F238E27FC236}">
                <a16:creationId xmlns:a16="http://schemas.microsoft.com/office/drawing/2014/main" id="{74351CF3-6D25-424F-AFAC-214562288125}"/>
              </a:ext>
            </a:extLst>
          </p:cNvPr>
          <p:cNvPicPr>
            <a:picLocks noChangeAspect="1"/>
          </p:cNvPicPr>
          <p:nvPr/>
        </p:nvPicPr>
        <p:blipFill>
          <a:blip r:embed="rId8"/>
          <a:stretch>
            <a:fillRect/>
          </a:stretch>
        </p:blipFill>
        <p:spPr>
          <a:xfrm>
            <a:off x="2301155" y="4826252"/>
            <a:ext cx="641729" cy="638464"/>
          </a:xfrm>
          <a:prstGeom prst="rect">
            <a:avLst/>
          </a:prstGeom>
        </p:spPr>
      </p:pic>
      <p:sp>
        <p:nvSpPr>
          <p:cNvPr id="45" name="Rectangle 44">
            <a:extLst>
              <a:ext uri="{FF2B5EF4-FFF2-40B4-BE49-F238E27FC236}">
                <a16:creationId xmlns:a16="http://schemas.microsoft.com/office/drawing/2014/main" id="{3EB308E7-F39E-40D5-B737-BE2F91396257}"/>
              </a:ext>
            </a:extLst>
          </p:cNvPr>
          <p:cNvSpPr/>
          <p:nvPr/>
        </p:nvSpPr>
        <p:spPr>
          <a:xfrm>
            <a:off x="2109112" y="4843426"/>
            <a:ext cx="1074483" cy="638464"/>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100" b="1" dirty="0">
                <a:solidFill>
                  <a:schemeClr val="tx1"/>
                </a:solidFill>
              </a:rPr>
              <a:t>Clock</a:t>
            </a:r>
          </a:p>
        </p:txBody>
      </p:sp>
      <p:grpSp>
        <p:nvGrpSpPr>
          <p:cNvPr id="32" name="Group 31">
            <a:extLst>
              <a:ext uri="{FF2B5EF4-FFF2-40B4-BE49-F238E27FC236}">
                <a16:creationId xmlns:a16="http://schemas.microsoft.com/office/drawing/2014/main" id="{27A890A7-6E62-4310-847D-599726013FAE}"/>
              </a:ext>
            </a:extLst>
          </p:cNvPr>
          <p:cNvGrpSpPr/>
          <p:nvPr/>
        </p:nvGrpSpPr>
        <p:grpSpPr>
          <a:xfrm flipV="1">
            <a:off x="1230797" y="4490796"/>
            <a:ext cx="1449572" cy="683607"/>
            <a:chOff x="1202957" y="1882152"/>
            <a:chExt cx="1449572" cy="683607"/>
          </a:xfrm>
        </p:grpSpPr>
        <p:cxnSp>
          <p:nvCxnSpPr>
            <p:cNvPr id="33" name="Straight Arrow Connector 32">
              <a:extLst>
                <a:ext uri="{FF2B5EF4-FFF2-40B4-BE49-F238E27FC236}">
                  <a16:creationId xmlns:a16="http://schemas.microsoft.com/office/drawing/2014/main" id="{3B7F2FD0-D0C2-4325-8EB4-0F5B0C363B6D}"/>
                </a:ext>
              </a:extLst>
            </p:cNvPr>
            <p:cNvCxnSpPr>
              <a:cxnSpLocks/>
            </p:cNvCxnSpPr>
            <p:nvPr/>
          </p:nvCxnSpPr>
          <p:spPr>
            <a:xfrm flipV="1">
              <a:off x="1202957" y="2211632"/>
              <a:ext cx="0" cy="354127"/>
            </a:xfrm>
            <a:prstGeom prst="straightConnector1">
              <a:avLst/>
            </a:prstGeom>
            <a:ln w="50800">
              <a:solidFill>
                <a:srgbClr val="C00000"/>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5" name="Straight Arrow Connector 34">
              <a:extLst>
                <a:ext uri="{FF2B5EF4-FFF2-40B4-BE49-F238E27FC236}">
                  <a16:creationId xmlns:a16="http://schemas.microsoft.com/office/drawing/2014/main" id="{CEB95A79-1D6C-404C-A011-A785FE4AB4A5}"/>
                </a:ext>
              </a:extLst>
            </p:cNvPr>
            <p:cNvCxnSpPr>
              <a:cxnSpLocks/>
            </p:cNvCxnSpPr>
            <p:nvPr/>
          </p:nvCxnSpPr>
          <p:spPr>
            <a:xfrm flipV="1">
              <a:off x="2652529" y="2211632"/>
              <a:ext cx="0" cy="354127"/>
            </a:xfrm>
            <a:prstGeom prst="straightConnector1">
              <a:avLst/>
            </a:prstGeom>
            <a:ln w="50800">
              <a:solidFill>
                <a:srgbClr val="C00000"/>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49149183-8B2A-4583-AB9A-4FCFF0E0D623}"/>
                </a:ext>
              </a:extLst>
            </p:cNvPr>
            <p:cNvCxnSpPr>
              <a:cxnSpLocks/>
            </p:cNvCxnSpPr>
            <p:nvPr/>
          </p:nvCxnSpPr>
          <p:spPr>
            <a:xfrm rot="5400000" flipV="1">
              <a:off x="1897902" y="1705088"/>
              <a:ext cx="0" cy="354127"/>
            </a:xfrm>
            <a:prstGeom prst="straightConnector1">
              <a:avLst/>
            </a:prstGeom>
            <a:ln w="50800">
              <a:solidFill>
                <a:srgbClr val="C00000"/>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60399814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97F5328-60A8-4150-89ED-2AED3C67E0EE}"/>
              </a:ext>
            </a:extLst>
          </p:cNvPr>
          <p:cNvSpPr/>
          <p:nvPr/>
        </p:nvSpPr>
        <p:spPr>
          <a:xfrm>
            <a:off x="176565" y="523174"/>
            <a:ext cx="3556615" cy="470000"/>
          </a:xfrm>
          <a:prstGeom prst="rect">
            <a:avLst/>
          </a:prstGeom>
        </p:spPr>
        <p:txBody>
          <a:bodyPr wrap="none">
            <a:spAutoFit/>
          </a:bodyPr>
          <a:lstStyle/>
          <a:p>
            <a:pPr>
              <a:lnSpc>
                <a:spcPct val="107000"/>
              </a:lnSpc>
              <a:spcAft>
                <a:spcPts val="800"/>
              </a:spcAft>
            </a:pPr>
            <a:r>
              <a:rPr lang="en-GB" sz="2400" dirty="0">
                <a:solidFill>
                  <a:schemeClr val="accent2">
                    <a:lumMod val="75000"/>
                  </a:schemeClr>
                </a:solidFill>
                <a:latin typeface="Calibri" panose="020F0502020204030204" pitchFamily="34" charset="0"/>
                <a:ea typeface="Calibri" panose="020F0502020204030204" pitchFamily="34" charset="0"/>
                <a:cs typeface="Times New Roman" panose="02020603050405020304" pitchFamily="18" charset="0"/>
              </a:rPr>
              <a:t>Von Neumann architecture</a:t>
            </a:r>
            <a:endParaRPr lang="en-GB" sz="1200" dirty="0">
              <a:solidFill>
                <a:schemeClr val="accent2">
                  <a:lumMod val="75000"/>
                </a:schemeClr>
              </a:solidFill>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0" name="Rectangle 9">
            <a:extLst>
              <a:ext uri="{FF2B5EF4-FFF2-40B4-BE49-F238E27FC236}">
                <a16:creationId xmlns:a16="http://schemas.microsoft.com/office/drawing/2014/main" id="{14E1E4FB-B01B-4CAE-9EFC-8635BEFA9DEB}"/>
              </a:ext>
            </a:extLst>
          </p:cNvPr>
          <p:cNvSpPr/>
          <p:nvPr/>
        </p:nvSpPr>
        <p:spPr>
          <a:xfrm>
            <a:off x="276550" y="1187335"/>
            <a:ext cx="3237538" cy="4483337"/>
          </a:xfrm>
          <a:prstGeom prst="rect">
            <a:avLst/>
          </a:prstGeom>
          <a:solidFill>
            <a:schemeClr val="accent4">
              <a:lumMod val="20000"/>
              <a:lumOff val="80000"/>
            </a:schemeClr>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1872000" tIns="1260000" rtlCol="0" anchor="t" anchorCtr="0"/>
          <a:lstStyle/>
          <a:p>
            <a:pPr algn="ctr"/>
            <a:endParaRPr lang="en-GB" dirty="0">
              <a:solidFill>
                <a:schemeClr val="tx1"/>
              </a:solidFill>
            </a:endParaRPr>
          </a:p>
        </p:txBody>
      </p:sp>
      <p:sp>
        <p:nvSpPr>
          <p:cNvPr id="12" name="Rectangle 11">
            <a:extLst>
              <a:ext uri="{FF2B5EF4-FFF2-40B4-BE49-F238E27FC236}">
                <a16:creationId xmlns:a16="http://schemas.microsoft.com/office/drawing/2014/main" id="{A3C8042A-1D6E-4D8E-9615-EAD11E9612BE}"/>
              </a:ext>
            </a:extLst>
          </p:cNvPr>
          <p:cNvSpPr/>
          <p:nvPr/>
        </p:nvSpPr>
        <p:spPr>
          <a:xfrm>
            <a:off x="475549" y="1265904"/>
            <a:ext cx="2879050" cy="4338771"/>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GB" sz="1100" b="1" dirty="0">
                <a:solidFill>
                  <a:schemeClr val="tx1"/>
                </a:solidFill>
              </a:rPr>
              <a:t>Central processing unit (CPU)</a:t>
            </a:r>
          </a:p>
        </p:txBody>
      </p:sp>
      <p:sp>
        <p:nvSpPr>
          <p:cNvPr id="17" name="Rectangle 16">
            <a:extLst>
              <a:ext uri="{FF2B5EF4-FFF2-40B4-BE49-F238E27FC236}">
                <a16:creationId xmlns:a16="http://schemas.microsoft.com/office/drawing/2014/main" id="{9DC6B7E0-027D-4EF6-AD4D-DC5D9B452BE9}"/>
              </a:ext>
            </a:extLst>
          </p:cNvPr>
          <p:cNvSpPr/>
          <p:nvPr/>
        </p:nvSpPr>
        <p:spPr>
          <a:xfrm>
            <a:off x="666934" y="1507626"/>
            <a:ext cx="1081825" cy="708338"/>
          </a:xfrm>
          <a:prstGeom prst="rect">
            <a:avLst/>
          </a:prstGeom>
          <a:solidFill>
            <a:schemeClr val="accent4"/>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100" dirty="0">
                <a:solidFill>
                  <a:schemeClr val="tx1"/>
                </a:solidFill>
              </a:rPr>
              <a:t>Control</a:t>
            </a:r>
          </a:p>
          <a:p>
            <a:pPr algn="ctr"/>
            <a:r>
              <a:rPr lang="en-GB" sz="1100" dirty="0">
                <a:solidFill>
                  <a:schemeClr val="tx1"/>
                </a:solidFill>
              </a:rPr>
              <a:t>unit (CU)</a:t>
            </a:r>
          </a:p>
        </p:txBody>
      </p:sp>
      <p:sp>
        <p:nvSpPr>
          <p:cNvPr id="18" name="Rectangle 17">
            <a:extLst>
              <a:ext uri="{FF2B5EF4-FFF2-40B4-BE49-F238E27FC236}">
                <a16:creationId xmlns:a16="http://schemas.microsoft.com/office/drawing/2014/main" id="{038595A0-9F1C-45FA-AD5B-9A2F795EC7C6}"/>
              </a:ext>
            </a:extLst>
          </p:cNvPr>
          <p:cNvSpPr/>
          <p:nvPr/>
        </p:nvSpPr>
        <p:spPr>
          <a:xfrm>
            <a:off x="2102652" y="1507626"/>
            <a:ext cx="1081825" cy="708338"/>
          </a:xfrm>
          <a:prstGeom prst="rect">
            <a:avLst/>
          </a:prstGeom>
          <a:solidFill>
            <a:schemeClr val="bg1"/>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100" dirty="0">
                <a:solidFill>
                  <a:schemeClr val="tx1"/>
                </a:solidFill>
              </a:rPr>
              <a:t>Arithmetic logic unit (ALU)</a:t>
            </a:r>
          </a:p>
        </p:txBody>
      </p:sp>
      <p:sp>
        <p:nvSpPr>
          <p:cNvPr id="19" name="Rectangle 18">
            <a:extLst>
              <a:ext uri="{FF2B5EF4-FFF2-40B4-BE49-F238E27FC236}">
                <a16:creationId xmlns:a16="http://schemas.microsoft.com/office/drawing/2014/main" id="{EF42D0C0-056E-48A9-8169-6B9FEB54F46C}"/>
              </a:ext>
            </a:extLst>
          </p:cNvPr>
          <p:cNvSpPr/>
          <p:nvPr/>
        </p:nvSpPr>
        <p:spPr>
          <a:xfrm>
            <a:off x="666934" y="2560734"/>
            <a:ext cx="2517543" cy="1935087"/>
          </a:xfrm>
          <a:prstGeom prst="rect">
            <a:avLst/>
          </a:prstGeom>
          <a:solidFill>
            <a:schemeClr val="accent2">
              <a:lumMod val="40000"/>
              <a:lumOff val="60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GB" sz="1100" b="1">
                <a:solidFill>
                  <a:schemeClr val="tx1"/>
                </a:solidFill>
              </a:rPr>
              <a:t>Register</a:t>
            </a:r>
            <a:endParaRPr lang="en-GB" sz="1100" b="1" dirty="0">
              <a:solidFill>
                <a:schemeClr val="tx1"/>
              </a:solidFill>
            </a:endParaRPr>
          </a:p>
        </p:txBody>
      </p:sp>
      <p:sp>
        <p:nvSpPr>
          <p:cNvPr id="20" name="Rectangle 19">
            <a:extLst>
              <a:ext uri="{FF2B5EF4-FFF2-40B4-BE49-F238E27FC236}">
                <a16:creationId xmlns:a16="http://schemas.microsoft.com/office/drawing/2014/main" id="{D5772A53-90DA-4E8B-B6E6-310B2E9375C5}"/>
              </a:ext>
            </a:extLst>
          </p:cNvPr>
          <p:cNvSpPr/>
          <p:nvPr/>
        </p:nvSpPr>
        <p:spPr>
          <a:xfrm>
            <a:off x="1996349" y="2840551"/>
            <a:ext cx="1081825" cy="708338"/>
          </a:xfrm>
          <a:prstGeom prst="rect">
            <a:avLst/>
          </a:prstGeom>
          <a:solidFill>
            <a:schemeClr val="bg1"/>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100">
                <a:solidFill>
                  <a:schemeClr val="tx1"/>
                </a:solidFill>
              </a:rPr>
              <a:t>Memory address register </a:t>
            </a:r>
            <a:r>
              <a:rPr lang="en-GB" sz="1100" dirty="0">
                <a:solidFill>
                  <a:schemeClr val="tx1"/>
                </a:solidFill>
              </a:rPr>
              <a:t>(MAR)</a:t>
            </a:r>
          </a:p>
        </p:txBody>
      </p:sp>
      <p:sp>
        <p:nvSpPr>
          <p:cNvPr id="21" name="Rectangle 20">
            <a:extLst>
              <a:ext uri="{FF2B5EF4-FFF2-40B4-BE49-F238E27FC236}">
                <a16:creationId xmlns:a16="http://schemas.microsoft.com/office/drawing/2014/main" id="{E40AA452-ABF6-4935-80C2-C940C436FB9D}"/>
              </a:ext>
            </a:extLst>
          </p:cNvPr>
          <p:cNvSpPr/>
          <p:nvPr/>
        </p:nvSpPr>
        <p:spPr>
          <a:xfrm>
            <a:off x="1993887" y="3617025"/>
            <a:ext cx="1081825" cy="708338"/>
          </a:xfrm>
          <a:prstGeom prst="rect">
            <a:avLst/>
          </a:prstGeom>
          <a:solidFill>
            <a:schemeClr val="bg1"/>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100" dirty="0">
                <a:solidFill>
                  <a:schemeClr val="tx1"/>
                </a:solidFill>
              </a:rPr>
              <a:t>Memory data register (MDR)</a:t>
            </a:r>
          </a:p>
        </p:txBody>
      </p:sp>
      <p:sp>
        <p:nvSpPr>
          <p:cNvPr id="22" name="Rectangle 21">
            <a:extLst>
              <a:ext uri="{FF2B5EF4-FFF2-40B4-BE49-F238E27FC236}">
                <a16:creationId xmlns:a16="http://schemas.microsoft.com/office/drawing/2014/main" id="{934BCE69-9910-4FFF-A932-3435BDF3A78C}"/>
              </a:ext>
            </a:extLst>
          </p:cNvPr>
          <p:cNvSpPr/>
          <p:nvPr/>
        </p:nvSpPr>
        <p:spPr>
          <a:xfrm>
            <a:off x="755539" y="3623242"/>
            <a:ext cx="1081825" cy="708338"/>
          </a:xfrm>
          <a:prstGeom prst="rect">
            <a:avLst/>
          </a:prstGeom>
          <a:solidFill>
            <a:schemeClr val="bg1"/>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100" dirty="0">
                <a:solidFill>
                  <a:schemeClr val="tx1"/>
                </a:solidFill>
              </a:rPr>
              <a:t>Program counter (PC)</a:t>
            </a:r>
          </a:p>
        </p:txBody>
      </p:sp>
      <p:sp>
        <p:nvSpPr>
          <p:cNvPr id="23" name="Rectangle 22">
            <a:extLst>
              <a:ext uri="{FF2B5EF4-FFF2-40B4-BE49-F238E27FC236}">
                <a16:creationId xmlns:a16="http://schemas.microsoft.com/office/drawing/2014/main" id="{FF6508EE-D7B4-4EDB-97C9-EE5EC2A39807}"/>
              </a:ext>
            </a:extLst>
          </p:cNvPr>
          <p:cNvSpPr/>
          <p:nvPr/>
        </p:nvSpPr>
        <p:spPr>
          <a:xfrm>
            <a:off x="755539" y="2837779"/>
            <a:ext cx="1081825" cy="708338"/>
          </a:xfrm>
          <a:prstGeom prst="rect">
            <a:avLst/>
          </a:prstGeom>
          <a:solidFill>
            <a:schemeClr val="bg1"/>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100" dirty="0">
                <a:solidFill>
                  <a:schemeClr val="tx1"/>
                </a:solidFill>
              </a:rPr>
              <a:t>Accumulator</a:t>
            </a:r>
          </a:p>
        </p:txBody>
      </p:sp>
      <p:cxnSp>
        <p:nvCxnSpPr>
          <p:cNvPr id="28" name="Straight Arrow Connector 27">
            <a:extLst>
              <a:ext uri="{FF2B5EF4-FFF2-40B4-BE49-F238E27FC236}">
                <a16:creationId xmlns:a16="http://schemas.microsoft.com/office/drawing/2014/main" id="{7AF01822-F7B6-4209-91EC-176D1A2ECB12}"/>
              </a:ext>
            </a:extLst>
          </p:cNvPr>
          <p:cNvCxnSpPr>
            <a:cxnSpLocks/>
          </p:cNvCxnSpPr>
          <p:nvPr/>
        </p:nvCxnSpPr>
        <p:spPr>
          <a:xfrm flipV="1">
            <a:off x="1202957" y="2211632"/>
            <a:ext cx="0" cy="354127"/>
          </a:xfrm>
          <a:prstGeom prst="straightConnector1">
            <a:avLst/>
          </a:prstGeom>
          <a:ln w="50800">
            <a:solidFill>
              <a:srgbClr val="C00000"/>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905747BB-A70B-42B6-9A40-AC791675AB51}"/>
              </a:ext>
            </a:extLst>
          </p:cNvPr>
          <p:cNvCxnSpPr>
            <a:cxnSpLocks/>
          </p:cNvCxnSpPr>
          <p:nvPr/>
        </p:nvCxnSpPr>
        <p:spPr>
          <a:xfrm flipV="1">
            <a:off x="2652529" y="2211632"/>
            <a:ext cx="0" cy="354127"/>
          </a:xfrm>
          <a:prstGeom prst="straightConnector1">
            <a:avLst/>
          </a:prstGeom>
          <a:ln w="50800">
            <a:solidFill>
              <a:srgbClr val="C00000"/>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67D85183-321A-44C3-82FA-78C29445E88C}"/>
              </a:ext>
            </a:extLst>
          </p:cNvPr>
          <p:cNvCxnSpPr>
            <a:cxnSpLocks/>
          </p:cNvCxnSpPr>
          <p:nvPr/>
        </p:nvCxnSpPr>
        <p:spPr>
          <a:xfrm rot="5400000" flipV="1">
            <a:off x="1926477" y="1666988"/>
            <a:ext cx="0" cy="354127"/>
          </a:xfrm>
          <a:prstGeom prst="straightConnector1">
            <a:avLst/>
          </a:prstGeom>
          <a:ln w="50800">
            <a:solidFill>
              <a:srgbClr val="C00000"/>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34" name="Rectangle 33">
            <a:extLst>
              <a:ext uri="{FF2B5EF4-FFF2-40B4-BE49-F238E27FC236}">
                <a16:creationId xmlns:a16="http://schemas.microsoft.com/office/drawing/2014/main" id="{0545FFC8-9493-4EB4-A6FB-F3C980EBC5A5}"/>
              </a:ext>
            </a:extLst>
          </p:cNvPr>
          <p:cNvSpPr/>
          <p:nvPr/>
        </p:nvSpPr>
        <p:spPr>
          <a:xfrm>
            <a:off x="4557319" y="1187335"/>
            <a:ext cx="3237538" cy="4483329"/>
          </a:xfrm>
          <a:prstGeom prst="rect">
            <a:avLst/>
          </a:prstGeom>
          <a:solidFill>
            <a:schemeClr val="accent4">
              <a:lumMod val="20000"/>
              <a:lumOff val="80000"/>
            </a:schemeClr>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GB" dirty="0">
                <a:solidFill>
                  <a:schemeClr val="tx1"/>
                </a:solidFill>
              </a:rPr>
              <a:t>Main memory (RAM)</a:t>
            </a:r>
          </a:p>
        </p:txBody>
      </p:sp>
      <p:graphicFrame>
        <p:nvGraphicFramePr>
          <p:cNvPr id="2" name="Table 32">
            <a:extLst>
              <a:ext uri="{FF2B5EF4-FFF2-40B4-BE49-F238E27FC236}">
                <a16:creationId xmlns:a16="http://schemas.microsoft.com/office/drawing/2014/main" id="{8E9FC54D-B26B-406A-BF90-1A835E0701E6}"/>
              </a:ext>
            </a:extLst>
          </p:cNvPr>
          <p:cNvGraphicFramePr>
            <a:graphicFrameLocks noGrp="1"/>
          </p:cNvGraphicFramePr>
          <p:nvPr>
            <p:extLst>
              <p:ext uri="{D42A27DB-BD31-4B8C-83A1-F6EECF244321}">
                <p14:modId xmlns:p14="http://schemas.microsoft.com/office/powerpoint/2010/main" val="2634186202"/>
              </p:ext>
            </p:extLst>
          </p:nvPr>
        </p:nvGraphicFramePr>
        <p:xfrm>
          <a:off x="4825649" y="1658897"/>
          <a:ext cx="2239767" cy="3774440"/>
        </p:xfrm>
        <a:graphic>
          <a:graphicData uri="http://schemas.openxmlformats.org/drawingml/2006/table">
            <a:tbl>
              <a:tblPr firstRow="1" bandRow="1">
                <a:tableStyleId>{21E4AEA4-8DFA-4A89-87EB-49C32662AFE0}</a:tableStyleId>
              </a:tblPr>
              <a:tblGrid>
                <a:gridCol w="1037691">
                  <a:extLst>
                    <a:ext uri="{9D8B030D-6E8A-4147-A177-3AD203B41FA5}">
                      <a16:colId xmlns:a16="http://schemas.microsoft.com/office/drawing/2014/main" val="3614015831"/>
                    </a:ext>
                  </a:extLst>
                </a:gridCol>
                <a:gridCol w="1202076">
                  <a:extLst>
                    <a:ext uri="{9D8B030D-6E8A-4147-A177-3AD203B41FA5}">
                      <a16:colId xmlns:a16="http://schemas.microsoft.com/office/drawing/2014/main" val="3794086153"/>
                    </a:ext>
                  </a:extLst>
                </a:gridCol>
              </a:tblGrid>
              <a:tr h="370840">
                <a:tc>
                  <a:txBody>
                    <a:bodyPr/>
                    <a:lstStyle/>
                    <a:p>
                      <a:pPr algn="ctr"/>
                      <a:r>
                        <a:rPr lang="en-GB" dirty="0"/>
                        <a:t>Address</a:t>
                      </a:r>
                    </a:p>
                  </a:txBody>
                  <a:tcPr/>
                </a:tc>
                <a:tc>
                  <a:txBody>
                    <a:bodyPr/>
                    <a:lstStyle/>
                    <a:p>
                      <a:pPr algn="ctr"/>
                      <a:r>
                        <a:rPr lang="en-GB" dirty="0"/>
                        <a:t>Data</a:t>
                      </a:r>
                    </a:p>
                  </a:txBody>
                  <a:tcPr/>
                </a:tc>
                <a:extLst>
                  <a:ext uri="{0D108BD9-81ED-4DB2-BD59-A6C34878D82A}">
                    <a16:rowId xmlns:a16="http://schemas.microsoft.com/office/drawing/2014/main" val="1704211108"/>
                  </a:ext>
                </a:extLst>
              </a:tr>
              <a:tr h="370840">
                <a:tc>
                  <a:txBody>
                    <a:bodyPr/>
                    <a:lstStyle/>
                    <a:p>
                      <a:pPr algn="ctr"/>
                      <a:r>
                        <a:rPr lang="en-GB" dirty="0"/>
                        <a:t>1</a:t>
                      </a:r>
                    </a:p>
                  </a:txBody>
                  <a:tcPr/>
                </a:tc>
                <a:tc>
                  <a:txBody>
                    <a:bodyPr/>
                    <a:lstStyle/>
                    <a:p>
                      <a:pPr algn="ctr"/>
                      <a:r>
                        <a:rPr lang="en-GB" dirty="0"/>
                        <a:t>Load address 5</a:t>
                      </a:r>
                    </a:p>
                  </a:txBody>
                  <a:tcPr/>
                </a:tc>
                <a:extLst>
                  <a:ext uri="{0D108BD9-81ED-4DB2-BD59-A6C34878D82A}">
                    <a16:rowId xmlns:a16="http://schemas.microsoft.com/office/drawing/2014/main" val="74178786"/>
                  </a:ext>
                </a:extLst>
              </a:tr>
              <a:tr h="370840">
                <a:tc>
                  <a:txBody>
                    <a:bodyPr/>
                    <a:lstStyle/>
                    <a:p>
                      <a:pPr algn="ctr"/>
                      <a:r>
                        <a:rPr lang="en-GB" dirty="0"/>
                        <a:t>2</a:t>
                      </a:r>
                    </a:p>
                  </a:txBody>
                  <a:tcPr/>
                </a:tc>
                <a:tc>
                  <a:txBody>
                    <a:bodyPr/>
                    <a:lstStyle/>
                    <a:p>
                      <a:pPr algn="ctr"/>
                      <a:r>
                        <a:rPr lang="en-GB" dirty="0"/>
                        <a:t>Add address 6</a:t>
                      </a:r>
                    </a:p>
                  </a:txBody>
                  <a:tcPr/>
                </a:tc>
                <a:extLst>
                  <a:ext uri="{0D108BD9-81ED-4DB2-BD59-A6C34878D82A}">
                    <a16:rowId xmlns:a16="http://schemas.microsoft.com/office/drawing/2014/main" val="1752188674"/>
                  </a:ext>
                </a:extLst>
              </a:tr>
              <a:tr h="370840">
                <a:tc>
                  <a:txBody>
                    <a:bodyPr/>
                    <a:lstStyle/>
                    <a:p>
                      <a:pPr algn="ctr"/>
                      <a:r>
                        <a:rPr lang="en-GB" dirty="0"/>
                        <a:t>3</a:t>
                      </a:r>
                    </a:p>
                  </a:txBody>
                  <a:tcPr/>
                </a:tc>
                <a:tc>
                  <a:txBody>
                    <a:bodyPr/>
                    <a:lstStyle/>
                    <a:p>
                      <a:pPr algn="ctr"/>
                      <a:r>
                        <a:rPr lang="en-GB" dirty="0"/>
                        <a:t>Store in address 6</a:t>
                      </a:r>
                    </a:p>
                  </a:txBody>
                  <a:tcPr/>
                </a:tc>
                <a:extLst>
                  <a:ext uri="{0D108BD9-81ED-4DB2-BD59-A6C34878D82A}">
                    <a16:rowId xmlns:a16="http://schemas.microsoft.com/office/drawing/2014/main" val="2843260329"/>
                  </a:ext>
                </a:extLst>
              </a:tr>
              <a:tr h="370840">
                <a:tc>
                  <a:txBody>
                    <a:bodyPr/>
                    <a:lstStyle/>
                    <a:p>
                      <a:pPr algn="ctr"/>
                      <a:r>
                        <a:rPr lang="en-GB" dirty="0"/>
                        <a:t>4</a:t>
                      </a:r>
                    </a:p>
                  </a:txBody>
                  <a:tcPr/>
                </a:tc>
                <a:tc>
                  <a:txBody>
                    <a:bodyPr/>
                    <a:lstStyle/>
                    <a:p>
                      <a:pPr algn="ctr"/>
                      <a:r>
                        <a:rPr lang="en-GB" dirty="0"/>
                        <a:t>End</a:t>
                      </a:r>
                    </a:p>
                  </a:txBody>
                  <a:tcPr/>
                </a:tc>
                <a:extLst>
                  <a:ext uri="{0D108BD9-81ED-4DB2-BD59-A6C34878D82A}">
                    <a16:rowId xmlns:a16="http://schemas.microsoft.com/office/drawing/2014/main" val="4027267220"/>
                  </a:ext>
                </a:extLst>
              </a:tr>
              <a:tr h="370840">
                <a:tc>
                  <a:txBody>
                    <a:bodyPr/>
                    <a:lstStyle/>
                    <a:p>
                      <a:pPr algn="ctr"/>
                      <a:r>
                        <a:rPr lang="en-GB" dirty="0"/>
                        <a:t>5</a:t>
                      </a:r>
                    </a:p>
                  </a:txBody>
                  <a:tcPr/>
                </a:tc>
                <a:tc>
                  <a:txBody>
                    <a:bodyPr/>
                    <a:lstStyle/>
                    <a:p>
                      <a:pPr algn="ctr"/>
                      <a:r>
                        <a:rPr lang="en-GB" dirty="0"/>
                        <a:t>23</a:t>
                      </a:r>
                    </a:p>
                  </a:txBody>
                  <a:tcPr/>
                </a:tc>
                <a:extLst>
                  <a:ext uri="{0D108BD9-81ED-4DB2-BD59-A6C34878D82A}">
                    <a16:rowId xmlns:a16="http://schemas.microsoft.com/office/drawing/2014/main" val="2887340781"/>
                  </a:ext>
                </a:extLst>
              </a:tr>
              <a:tr h="370840">
                <a:tc>
                  <a:txBody>
                    <a:bodyPr/>
                    <a:lstStyle/>
                    <a:p>
                      <a:pPr algn="ctr"/>
                      <a:r>
                        <a:rPr lang="en-GB" dirty="0"/>
                        <a:t>6</a:t>
                      </a:r>
                    </a:p>
                  </a:txBody>
                  <a:tcPr/>
                </a:tc>
                <a:tc>
                  <a:txBody>
                    <a:bodyPr/>
                    <a:lstStyle/>
                    <a:p>
                      <a:pPr algn="ctr"/>
                      <a:r>
                        <a:rPr lang="en-GB" dirty="0"/>
                        <a:t>12</a:t>
                      </a:r>
                    </a:p>
                  </a:txBody>
                  <a:tcPr/>
                </a:tc>
                <a:extLst>
                  <a:ext uri="{0D108BD9-81ED-4DB2-BD59-A6C34878D82A}">
                    <a16:rowId xmlns:a16="http://schemas.microsoft.com/office/drawing/2014/main" val="3808870730"/>
                  </a:ext>
                </a:extLst>
              </a:tr>
              <a:tr h="370840">
                <a:tc gridSpan="2">
                  <a:txBody>
                    <a:bodyPr/>
                    <a:lstStyle/>
                    <a:p>
                      <a:endParaRPr lang="en-GB" dirty="0"/>
                    </a:p>
                  </a:txBody>
                  <a:tcPr>
                    <a:solidFill>
                      <a:schemeClr val="accent2"/>
                    </a:solidFill>
                  </a:tcPr>
                </a:tc>
                <a:tc hMerge="1">
                  <a:txBody>
                    <a:bodyPr/>
                    <a:lstStyle/>
                    <a:p>
                      <a:endParaRPr lang="en-GB" dirty="0"/>
                    </a:p>
                  </a:txBody>
                  <a:tcPr/>
                </a:tc>
                <a:extLst>
                  <a:ext uri="{0D108BD9-81ED-4DB2-BD59-A6C34878D82A}">
                    <a16:rowId xmlns:a16="http://schemas.microsoft.com/office/drawing/2014/main" val="453354336"/>
                  </a:ext>
                </a:extLst>
              </a:tr>
            </a:tbl>
          </a:graphicData>
        </a:graphic>
      </p:graphicFrame>
      <p:grpSp>
        <p:nvGrpSpPr>
          <p:cNvPr id="40" name="Group 39">
            <a:extLst>
              <a:ext uri="{FF2B5EF4-FFF2-40B4-BE49-F238E27FC236}">
                <a16:creationId xmlns:a16="http://schemas.microsoft.com/office/drawing/2014/main" id="{47E1A734-AE40-47F7-852D-7A031D45B524}"/>
              </a:ext>
            </a:extLst>
          </p:cNvPr>
          <p:cNvGrpSpPr/>
          <p:nvPr/>
        </p:nvGrpSpPr>
        <p:grpSpPr>
          <a:xfrm>
            <a:off x="3084475" y="3200784"/>
            <a:ext cx="1472844" cy="809946"/>
            <a:chOff x="5089451" y="3108977"/>
            <a:chExt cx="2714502" cy="809946"/>
          </a:xfrm>
        </p:grpSpPr>
        <p:cxnSp>
          <p:nvCxnSpPr>
            <p:cNvPr id="37" name="Straight Arrow Connector 36">
              <a:extLst>
                <a:ext uri="{FF2B5EF4-FFF2-40B4-BE49-F238E27FC236}">
                  <a16:creationId xmlns:a16="http://schemas.microsoft.com/office/drawing/2014/main" id="{C6AEA4D1-72B5-4D9F-BB16-A0F6FA61BE1E}"/>
                </a:ext>
              </a:extLst>
            </p:cNvPr>
            <p:cNvCxnSpPr>
              <a:cxnSpLocks/>
            </p:cNvCxnSpPr>
            <p:nvPr/>
          </p:nvCxnSpPr>
          <p:spPr>
            <a:xfrm>
              <a:off x="5089451" y="3108977"/>
              <a:ext cx="2714502" cy="0"/>
            </a:xfrm>
            <a:prstGeom prst="straightConnector1">
              <a:avLst/>
            </a:prstGeom>
            <a:ln w="5080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39" name="Straight Arrow Connector 38">
              <a:extLst>
                <a:ext uri="{FF2B5EF4-FFF2-40B4-BE49-F238E27FC236}">
                  <a16:creationId xmlns:a16="http://schemas.microsoft.com/office/drawing/2014/main" id="{D6D8C3F4-936D-45F6-A054-B9BEF87A8BFB}"/>
                </a:ext>
              </a:extLst>
            </p:cNvPr>
            <p:cNvCxnSpPr>
              <a:cxnSpLocks/>
            </p:cNvCxnSpPr>
            <p:nvPr/>
          </p:nvCxnSpPr>
          <p:spPr>
            <a:xfrm>
              <a:off x="5089451" y="3918923"/>
              <a:ext cx="2714502" cy="0"/>
            </a:xfrm>
            <a:prstGeom prst="straightConnector1">
              <a:avLst/>
            </a:prstGeom>
            <a:ln w="50800">
              <a:solidFill>
                <a:srgbClr val="C00000"/>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grpSp>
      <p:pic>
        <p:nvPicPr>
          <p:cNvPr id="41" name="Picture 40" descr="A circuit board&#10;&#10;Description automatically generated">
            <a:extLst>
              <a:ext uri="{FF2B5EF4-FFF2-40B4-BE49-F238E27FC236}">
                <a16:creationId xmlns:a16="http://schemas.microsoft.com/office/drawing/2014/main" id="{EEC01B68-F0AE-46F5-B50B-7F1B348C9E3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229075" y="4785018"/>
            <a:ext cx="1568213" cy="1301100"/>
          </a:xfrm>
          <a:prstGeom prst="rect">
            <a:avLst/>
          </a:prstGeom>
        </p:spPr>
      </p:pic>
      <p:graphicFrame>
        <p:nvGraphicFramePr>
          <p:cNvPr id="42" name="Diagram 41">
            <a:extLst>
              <a:ext uri="{FF2B5EF4-FFF2-40B4-BE49-F238E27FC236}">
                <a16:creationId xmlns:a16="http://schemas.microsoft.com/office/drawing/2014/main" id="{6554496D-3CE2-451F-8D8B-7E9298EB84AF}"/>
              </a:ext>
            </a:extLst>
          </p:cNvPr>
          <p:cNvGraphicFramePr/>
          <p:nvPr>
            <p:extLst>
              <p:ext uri="{D42A27DB-BD31-4B8C-83A1-F6EECF244321}">
                <p14:modId xmlns:p14="http://schemas.microsoft.com/office/powerpoint/2010/main" val="3906770786"/>
              </p:ext>
            </p:extLst>
          </p:nvPr>
        </p:nvGraphicFramePr>
        <p:xfrm>
          <a:off x="7794857" y="3890418"/>
          <a:ext cx="4474194" cy="327580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8" name="Rectangle 37">
            <a:extLst>
              <a:ext uri="{FF2B5EF4-FFF2-40B4-BE49-F238E27FC236}">
                <a16:creationId xmlns:a16="http://schemas.microsoft.com/office/drawing/2014/main" id="{C998A056-F2B4-401F-89FF-3857B510D4A3}"/>
              </a:ext>
            </a:extLst>
          </p:cNvPr>
          <p:cNvSpPr/>
          <p:nvPr/>
        </p:nvSpPr>
        <p:spPr>
          <a:xfrm>
            <a:off x="666052" y="4843426"/>
            <a:ext cx="1087357" cy="638464"/>
          </a:xfrm>
          <a:prstGeom prst="rect">
            <a:avLst/>
          </a:prstGeom>
          <a:solidFill>
            <a:schemeClr val="bg1"/>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100" b="1" dirty="0">
                <a:solidFill>
                  <a:schemeClr val="tx1"/>
                </a:solidFill>
              </a:rPr>
              <a:t>Cache</a:t>
            </a:r>
          </a:p>
        </p:txBody>
      </p:sp>
      <p:pic>
        <p:nvPicPr>
          <p:cNvPr id="43" name="Picture 42">
            <a:extLst>
              <a:ext uri="{FF2B5EF4-FFF2-40B4-BE49-F238E27FC236}">
                <a16:creationId xmlns:a16="http://schemas.microsoft.com/office/drawing/2014/main" id="{ED99E8DA-4E52-4ED5-8CF4-7D04F7223492}"/>
              </a:ext>
            </a:extLst>
          </p:cNvPr>
          <p:cNvPicPr>
            <a:picLocks noChangeAspect="1"/>
          </p:cNvPicPr>
          <p:nvPr/>
        </p:nvPicPr>
        <p:blipFill>
          <a:blip r:embed="rId8"/>
          <a:stretch>
            <a:fillRect/>
          </a:stretch>
        </p:blipFill>
        <p:spPr>
          <a:xfrm>
            <a:off x="2301155" y="4826252"/>
            <a:ext cx="641729" cy="638464"/>
          </a:xfrm>
          <a:prstGeom prst="rect">
            <a:avLst/>
          </a:prstGeom>
        </p:spPr>
      </p:pic>
      <p:sp>
        <p:nvSpPr>
          <p:cNvPr id="44" name="Rectangle 43">
            <a:extLst>
              <a:ext uri="{FF2B5EF4-FFF2-40B4-BE49-F238E27FC236}">
                <a16:creationId xmlns:a16="http://schemas.microsoft.com/office/drawing/2014/main" id="{3106183D-5DC6-4ABA-858F-5C64A9758E58}"/>
              </a:ext>
            </a:extLst>
          </p:cNvPr>
          <p:cNvSpPr/>
          <p:nvPr/>
        </p:nvSpPr>
        <p:spPr>
          <a:xfrm>
            <a:off x="2109112" y="4843426"/>
            <a:ext cx="1074483" cy="638464"/>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100" b="1" dirty="0">
                <a:solidFill>
                  <a:schemeClr val="tx1"/>
                </a:solidFill>
              </a:rPr>
              <a:t>Clock</a:t>
            </a:r>
          </a:p>
        </p:txBody>
      </p:sp>
      <p:grpSp>
        <p:nvGrpSpPr>
          <p:cNvPr id="32" name="Group 31">
            <a:extLst>
              <a:ext uri="{FF2B5EF4-FFF2-40B4-BE49-F238E27FC236}">
                <a16:creationId xmlns:a16="http://schemas.microsoft.com/office/drawing/2014/main" id="{82B38D24-7F96-414A-80CD-67285877C8D3}"/>
              </a:ext>
            </a:extLst>
          </p:cNvPr>
          <p:cNvGrpSpPr/>
          <p:nvPr/>
        </p:nvGrpSpPr>
        <p:grpSpPr>
          <a:xfrm flipV="1">
            <a:off x="1230797" y="4490796"/>
            <a:ext cx="1449572" cy="683607"/>
            <a:chOff x="1202957" y="1882152"/>
            <a:chExt cx="1449572" cy="683607"/>
          </a:xfrm>
        </p:grpSpPr>
        <p:cxnSp>
          <p:nvCxnSpPr>
            <p:cNvPr id="33" name="Straight Arrow Connector 32">
              <a:extLst>
                <a:ext uri="{FF2B5EF4-FFF2-40B4-BE49-F238E27FC236}">
                  <a16:creationId xmlns:a16="http://schemas.microsoft.com/office/drawing/2014/main" id="{0205DF4D-EDDA-429F-9610-D22D6ACF9472}"/>
                </a:ext>
              </a:extLst>
            </p:cNvPr>
            <p:cNvCxnSpPr>
              <a:cxnSpLocks/>
            </p:cNvCxnSpPr>
            <p:nvPr/>
          </p:nvCxnSpPr>
          <p:spPr>
            <a:xfrm flipV="1">
              <a:off x="1202957" y="2211632"/>
              <a:ext cx="0" cy="354127"/>
            </a:xfrm>
            <a:prstGeom prst="straightConnector1">
              <a:avLst/>
            </a:prstGeom>
            <a:ln w="50800">
              <a:solidFill>
                <a:srgbClr val="C00000"/>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5" name="Straight Arrow Connector 34">
              <a:extLst>
                <a:ext uri="{FF2B5EF4-FFF2-40B4-BE49-F238E27FC236}">
                  <a16:creationId xmlns:a16="http://schemas.microsoft.com/office/drawing/2014/main" id="{17D11B3E-B13A-41BA-930E-7BB0588A4C3A}"/>
                </a:ext>
              </a:extLst>
            </p:cNvPr>
            <p:cNvCxnSpPr>
              <a:cxnSpLocks/>
            </p:cNvCxnSpPr>
            <p:nvPr/>
          </p:nvCxnSpPr>
          <p:spPr>
            <a:xfrm flipV="1">
              <a:off x="2652529" y="2211632"/>
              <a:ext cx="0" cy="354127"/>
            </a:xfrm>
            <a:prstGeom prst="straightConnector1">
              <a:avLst/>
            </a:prstGeom>
            <a:ln w="50800">
              <a:solidFill>
                <a:srgbClr val="C00000"/>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0119C19D-2B44-4D4C-BAD2-1E52362A3DCF}"/>
                </a:ext>
              </a:extLst>
            </p:cNvPr>
            <p:cNvCxnSpPr>
              <a:cxnSpLocks/>
            </p:cNvCxnSpPr>
            <p:nvPr/>
          </p:nvCxnSpPr>
          <p:spPr>
            <a:xfrm rot="5400000" flipV="1">
              <a:off x="1897902" y="1705088"/>
              <a:ext cx="0" cy="354127"/>
            </a:xfrm>
            <a:prstGeom prst="straightConnector1">
              <a:avLst/>
            </a:prstGeom>
            <a:ln w="50800">
              <a:solidFill>
                <a:srgbClr val="C00000"/>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grpSp>
      <p:sp>
        <p:nvSpPr>
          <p:cNvPr id="3" name="Rectangle 2">
            <a:extLst>
              <a:ext uri="{FF2B5EF4-FFF2-40B4-BE49-F238E27FC236}">
                <a16:creationId xmlns:a16="http://schemas.microsoft.com/office/drawing/2014/main" id="{367ACDED-365A-4E12-9FCF-8D971CA34FC4}"/>
              </a:ext>
            </a:extLst>
          </p:cNvPr>
          <p:cNvSpPr/>
          <p:nvPr/>
        </p:nvSpPr>
        <p:spPr>
          <a:xfrm>
            <a:off x="8063187" y="1187335"/>
            <a:ext cx="3998674" cy="1237070"/>
          </a:xfrm>
          <a:prstGeom prst="rect">
            <a:avLst/>
          </a:prstGeom>
        </p:spPr>
        <p:txBody>
          <a:bodyPr wrap="square">
            <a:spAutoFit/>
          </a:bodyPr>
          <a:lstStyle/>
          <a:p>
            <a:pPr>
              <a:lnSpc>
                <a:spcPct val="107000"/>
              </a:lnSpc>
              <a:spcAft>
                <a:spcPts val="800"/>
              </a:spcAft>
            </a:pPr>
            <a:r>
              <a:rPr lang="en-GB" sz="1600" b="1" dirty="0">
                <a:latin typeface="Calibri" panose="020F0502020204030204" pitchFamily="34" charset="0"/>
                <a:ea typeface="Calibri" panose="020F0502020204030204" pitchFamily="34" charset="0"/>
                <a:cs typeface="Times New Roman" panose="02020603050405020304" pitchFamily="18" charset="0"/>
              </a:rPr>
              <a:t>Decode stage</a:t>
            </a:r>
          </a:p>
          <a:p>
            <a:pPr>
              <a:lnSpc>
                <a:spcPct val="107000"/>
              </a:lnSpc>
              <a:spcAft>
                <a:spcPts val="800"/>
              </a:spcAft>
            </a:pPr>
            <a:r>
              <a:rPr lang="en-GB" sz="1600" dirty="0">
                <a:latin typeface="Calibri" panose="020F0502020204030204" pitchFamily="34" charset="0"/>
                <a:ea typeface="Calibri" panose="020F0502020204030204" pitchFamily="34" charset="0"/>
                <a:cs typeface="Times New Roman" panose="02020603050405020304" pitchFamily="18" charset="0"/>
              </a:rPr>
              <a:t>Now the instruction is in the CPU, the control unit (CU) decodes it to figure out what the CPU needs to do.</a:t>
            </a:r>
          </a:p>
        </p:txBody>
      </p:sp>
    </p:spTree>
    <p:extLst>
      <p:ext uri="{BB962C8B-B14F-4D97-AF65-F5344CB8AC3E}">
        <p14:creationId xmlns:p14="http://schemas.microsoft.com/office/powerpoint/2010/main" val="167513170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97F5328-60A8-4150-89ED-2AED3C67E0EE}"/>
              </a:ext>
            </a:extLst>
          </p:cNvPr>
          <p:cNvSpPr/>
          <p:nvPr/>
        </p:nvSpPr>
        <p:spPr>
          <a:xfrm>
            <a:off x="176565" y="523174"/>
            <a:ext cx="3556615" cy="470000"/>
          </a:xfrm>
          <a:prstGeom prst="rect">
            <a:avLst/>
          </a:prstGeom>
        </p:spPr>
        <p:txBody>
          <a:bodyPr wrap="none">
            <a:spAutoFit/>
          </a:bodyPr>
          <a:lstStyle/>
          <a:p>
            <a:pPr>
              <a:lnSpc>
                <a:spcPct val="107000"/>
              </a:lnSpc>
              <a:spcAft>
                <a:spcPts val="800"/>
              </a:spcAft>
            </a:pPr>
            <a:r>
              <a:rPr lang="en-GB" sz="2400" dirty="0">
                <a:solidFill>
                  <a:schemeClr val="accent2">
                    <a:lumMod val="75000"/>
                  </a:schemeClr>
                </a:solidFill>
                <a:latin typeface="Calibri" panose="020F0502020204030204" pitchFamily="34" charset="0"/>
                <a:ea typeface="Calibri" panose="020F0502020204030204" pitchFamily="34" charset="0"/>
                <a:cs typeface="Times New Roman" panose="02020603050405020304" pitchFamily="18" charset="0"/>
              </a:rPr>
              <a:t>Von Neumann architecture</a:t>
            </a:r>
            <a:endParaRPr lang="en-GB" sz="1200" dirty="0">
              <a:solidFill>
                <a:schemeClr val="accent2">
                  <a:lumMod val="75000"/>
                </a:schemeClr>
              </a:solidFill>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0" name="Rectangle 9">
            <a:extLst>
              <a:ext uri="{FF2B5EF4-FFF2-40B4-BE49-F238E27FC236}">
                <a16:creationId xmlns:a16="http://schemas.microsoft.com/office/drawing/2014/main" id="{14E1E4FB-B01B-4CAE-9EFC-8635BEFA9DEB}"/>
              </a:ext>
            </a:extLst>
          </p:cNvPr>
          <p:cNvSpPr/>
          <p:nvPr/>
        </p:nvSpPr>
        <p:spPr>
          <a:xfrm>
            <a:off x="276550" y="1187335"/>
            <a:ext cx="3237538" cy="4483337"/>
          </a:xfrm>
          <a:prstGeom prst="rect">
            <a:avLst/>
          </a:prstGeom>
          <a:solidFill>
            <a:schemeClr val="accent4">
              <a:lumMod val="20000"/>
              <a:lumOff val="80000"/>
            </a:schemeClr>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1872000" tIns="1260000" rtlCol="0" anchor="t" anchorCtr="0"/>
          <a:lstStyle/>
          <a:p>
            <a:pPr algn="ctr"/>
            <a:endParaRPr lang="en-GB" dirty="0">
              <a:solidFill>
                <a:schemeClr val="tx1"/>
              </a:solidFill>
            </a:endParaRPr>
          </a:p>
        </p:txBody>
      </p:sp>
      <p:sp>
        <p:nvSpPr>
          <p:cNvPr id="12" name="Rectangle 11">
            <a:extLst>
              <a:ext uri="{FF2B5EF4-FFF2-40B4-BE49-F238E27FC236}">
                <a16:creationId xmlns:a16="http://schemas.microsoft.com/office/drawing/2014/main" id="{A3C8042A-1D6E-4D8E-9615-EAD11E9612BE}"/>
              </a:ext>
            </a:extLst>
          </p:cNvPr>
          <p:cNvSpPr/>
          <p:nvPr/>
        </p:nvSpPr>
        <p:spPr>
          <a:xfrm>
            <a:off x="475549" y="1265904"/>
            <a:ext cx="2879050" cy="4338771"/>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GB" sz="1100" b="1" dirty="0">
                <a:solidFill>
                  <a:schemeClr val="tx1"/>
                </a:solidFill>
              </a:rPr>
              <a:t>Central processing unit (CPU)</a:t>
            </a:r>
          </a:p>
        </p:txBody>
      </p:sp>
      <p:sp>
        <p:nvSpPr>
          <p:cNvPr id="17" name="Rectangle 16">
            <a:extLst>
              <a:ext uri="{FF2B5EF4-FFF2-40B4-BE49-F238E27FC236}">
                <a16:creationId xmlns:a16="http://schemas.microsoft.com/office/drawing/2014/main" id="{9DC6B7E0-027D-4EF6-AD4D-DC5D9B452BE9}"/>
              </a:ext>
            </a:extLst>
          </p:cNvPr>
          <p:cNvSpPr/>
          <p:nvPr/>
        </p:nvSpPr>
        <p:spPr>
          <a:xfrm>
            <a:off x="666934" y="1507626"/>
            <a:ext cx="1081825" cy="708338"/>
          </a:xfrm>
          <a:prstGeom prst="rect">
            <a:avLst/>
          </a:prstGeom>
          <a:solidFill>
            <a:schemeClr val="bg1"/>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100" dirty="0">
                <a:solidFill>
                  <a:schemeClr val="tx1"/>
                </a:solidFill>
              </a:rPr>
              <a:t>Control</a:t>
            </a:r>
          </a:p>
          <a:p>
            <a:pPr algn="ctr"/>
            <a:r>
              <a:rPr lang="en-GB" sz="1100" dirty="0">
                <a:solidFill>
                  <a:schemeClr val="tx1"/>
                </a:solidFill>
              </a:rPr>
              <a:t>unit (CU)</a:t>
            </a:r>
          </a:p>
        </p:txBody>
      </p:sp>
      <p:sp>
        <p:nvSpPr>
          <p:cNvPr id="18" name="Rectangle 17">
            <a:extLst>
              <a:ext uri="{FF2B5EF4-FFF2-40B4-BE49-F238E27FC236}">
                <a16:creationId xmlns:a16="http://schemas.microsoft.com/office/drawing/2014/main" id="{038595A0-9F1C-45FA-AD5B-9A2F795EC7C6}"/>
              </a:ext>
            </a:extLst>
          </p:cNvPr>
          <p:cNvSpPr/>
          <p:nvPr/>
        </p:nvSpPr>
        <p:spPr>
          <a:xfrm>
            <a:off x="2102652" y="1507626"/>
            <a:ext cx="1081825" cy="708338"/>
          </a:xfrm>
          <a:prstGeom prst="rect">
            <a:avLst/>
          </a:prstGeom>
          <a:solidFill>
            <a:schemeClr val="bg1"/>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100" dirty="0">
                <a:solidFill>
                  <a:schemeClr val="tx1"/>
                </a:solidFill>
              </a:rPr>
              <a:t>Arithmetic logic unit (ALU)</a:t>
            </a:r>
          </a:p>
        </p:txBody>
      </p:sp>
      <p:sp>
        <p:nvSpPr>
          <p:cNvPr id="19" name="Rectangle 18">
            <a:extLst>
              <a:ext uri="{FF2B5EF4-FFF2-40B4-BE49-F238E27FC236}">
                <a16:creationId xmlns:a16="http://schemas.microsoft.com/office/drawing/2014/main" id="{EF42D0C0-056E-48A9-8169-6B9FEB54F46C}"/>
              </a:ext>
            </a:extLst>
          </p:cNvPr>
          <p:cNvSpPr/>
          <p:nvPr/>
        </p:nvSpPr>
        <p:spPr>
          <a:xfrm>
            <a:off x="666934" y="2560734"/>
            <a:ext cx="2517543" cy="1935087"/>
          </a:xfrm>
          <a:prstGeom prst="rect">
            <a:avLst/>
          </a:prstGeom>
          <a:solidFill>
            <a:schemeClr val="accent2">
              <a:lumMod val="40000"/>
              <a:lumOff val="60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GB" sz="1100" b="1">
                <a:solidFill>
                  <a:schemeClr val="tx1"/>
                </a:solidFill>
              </a:rPr>
              <a:t>Register</a:t>
            </a:r>
            <a:endParaRPr lang="en-GB" sz="1100" b="1" dirty="0">
              <a:solidFill>
                <a:schemeClr val="tx1"/>
              </a:solidFill>
            </a:endParaRPr>
          </a:p>
        </p:txBody>
      </p:sp>
      <p:sp>
        <p:nvSpPr>
          <p:cNvPr id="20" name="Rectangle 19">
            <a:extLst>
              <a:ext uri="{FF2B5EF4-FFF2-40B4-BE49-F238E27FC236}">
                <a16:creationId xmlns:a16="http://schemas.microsoft.com/office/drawing/2014/main" id="{D5772A53-90DA-4E8B-B6E6-310B2E9375C5}"/>
              </a:ext>
            </a:extLst>
          </p:cNvPr>
          <p:cNvSpPr/>
          <p:nvPr/>
        </p:nvSpPr>
        <p:spPr>
          <a:xfrm>
            <a:off x="1996349" y="2840551"/>
            <a:ext cx="1081825" cy="708338"/>
          </a:xfrm>
          <a:prstGeom prst="rect">
            <a:avLst/>
          </a:prstGeom>
          <a:solidFill>
            <a:schemeClr val="bg1"/>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100">
                <a:solidFill>
                  <a:schemeClr val="tx1"/>
                </a:solidFill>
              </a:rPr>
              <a:t>Memory address register </a:t>
            </a:r>
            <a:r>
              <a:rPr lang="en-GB" sz="1100" dirty="0">
                <a:solidFill>
                  <a:schemeClr val="tx1"/>
                </a:solidFill>
              </a:rPr>
              <a:t>(MAR)</a:t>
            </a:r>
          </a:p>
        </p:txBody>
      </p:sp>
      <p:sp>
        <p:nvSpPr>
          <p:cNvPr id="21" name="Rectangle 20">
            <a:extLst>
              <a:ext uri="{FF2B5EF4-FFF2-40B4-BE49-F238E27FC236}">
                <a16:creationId xmlns:a16="http://schemas.microsoft.com/office/drawing/2014/main" id="{E40AA452-ABF6-4935-80C2-C940C436FB9D}"/>
              </a:ext>
            </a:extLst>
          </p:cNvPr>
          <p:cNvSpPr/>
          <p:nvPr/>
        </p:nvSpPr>
        <p:spPr>
          <a:xfrm>
            <a:off x="1993887" y="3617025"/>
            <a:ext cx="1081825" cy="708338"/>
          </a:xfrm>
          <a:prstGeom prst="rect">
            <a:avLst/>
          </a:prstGeom>
          <a:solidFill>
            <a:schemeClr val="bg1"/>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100" dirty="0">
                <a:solidFill>
                  <a:schemeClr val="tx1"/>
                </a:solidFill>
              </a:rPr>
              <a:t>Memory data register (MDR)</a:t>
            </a:r>
          </a:p>
        </p:txBody>
      </p:sp>
      <p:sp>
        <p:nvSpPr>
          <p:cNvPr id="22" name="Rectangle 21">
            <a:extLst>
              <a:ext uri="{FF2B5EF4-FFF2-40B4-BE49-F238E27FC236}">
                <a16:creationId xmlns:a16="http://schemas.microsoft.com/office/drawing/2014/main" id="{934BCE69-9910-4FFF-A932-3435BDF3A78C}"/>
              </a:ext>
            </a:extLst>
          </p:cNvPr>
          <p:cNvSpPr/>
          <p:nvPr/>
        </p:nvSpPr>
        <p:spPr>
          <a:xfrm>
            <a:off x="755539" y="3623242"/>
            <a:ext cx="1081825" cy="708338"/>
          </a:xfrm>
          <a:prstGeom prst="rect">
            <a:avLst/>
          </a:prstGeom>
          <a:solidFill>
            <a:schemeClr val="bg1"/>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100" dirty="0">
                <a:solidFill>
                  <a:schemeClr val="tx1"/>
                </a:solidFill>
              </a:rPr>
              <a:t>Program counter (PC)</a:t>
            </a:r>
          </a:p>
        </p:txBody>
      </p:sp>
      <p:sp>
        <p:nvSpPr>
          <p:cNvPr id="23" name="Rectangle 22">
            <a:extLst>
              <a:ext uri="{FF2B5EF4-FFF2-40B4-BE49-F238E27FC236}">
                <a16:creationId xmlns:a16="http://schemas.microsoft.com/office/drawing/2014/main" id="{FF6508EE-D7B4-4EDB-97C9-EE5EC2A39807}"/>
              </a:ext>
            </a:extLst>
          </p:cNvPr>
          <p:cNvSpPr/>
          <p:nvPr/>
        </p:nvSpPr>
        <p:spPr>
          <a:xfrm>
            <a:off x="755539" y="2837779"/>
            <a:ext cx="1081825" cy="708338"/>
          </a:xfrm>
          <a:prstGeom prst="rect">
            <a:avLst/>
          </a:prstGeom>
          <a:solidFill>
            <a:schemeClr val="bg1"/>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100" dirty="0">
                <a:solidFill>
                  <a:schemeClr val="tx1"/>
                </a:solidFill>
              </a:rPr>
              <a:t>Accumulator</a:t>
            </a:r>
          </a:p>
        </p:txBody>
      </p:sp>
      <p:cxnSp>
        <p:nvCxnSpPr>
          <p:cNvPr id="28" name="Straight Arrow Connector 27">
            <a:extLst>
              <a:ext uri="{FF2B5EF4-FFF2-40B4-BE49-F238E27FC236}">
                <a16:creationId xmlns:a16="http://schemas.microsoft.com/office/drawing/2014/main" id="{7AF01822-F7B6-4209-91EC-176D1A2ECB12}"/>
              </a:ext>
            </a:extLst>
          </p:cNvPr>
          <p:cNvCxnSpPr>
            <a:cxnSpLocks/>
          </p:cNvCxnSpPr>
          <p:nvPr/>
        </p:nvCxnSpPr>
        <p:spPr>
          <a:xfrm flipV="1">
            <a:off x="1202957" y="2211632"/>
            <a:ext cx="0" cy="354127"/>
          </a:xfrm>
          <a:prstGeom prst="straightConnector1">
            <a:avLst/>
          </a:prstGeom>
          <a:ln w="50800">
            <a:solidFill>
              <a:srgbClr val="C00000"/>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905747BB-A70B-42B6-9A40-AC791675AB51}"/>
              </a:ext>
            </a:extLst>
          </p:cNvPr>
          <p:cNvCxnSpPr>
            <a:cxnSpLocks/>
          </p:cNvCxnSpPr>
          <p:nvPr/>
        </p:nvCxnSpPr>
        <p:spPr>
          <a:xfrm flipV="1">
            <a:off x="2652529" y="2211632"/>
            <a:ext cx="0" cy="354127"/>
          </a:xfrm>
          <a:prstGeom prst="straightConnector1">
            <a:avLst/>
          </a:prstGeom>
          <a:ln w="50800">
            <a:solidFill>
              <a:srgbClr val="C00000"/>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67D85183-321A-44C3-82FA-78C29445E88C}"/>
              </a:ext>
            </a:extLst>
          </p:cNvPr>
          <p:cNvCxnSpPr>
            <a:cxnSpLocks/>
          </p:cNvCxnSpPr>
          <p:nvPr/>
        </p:nvCxnSpPr>
        <p:spPr>
          <a:xfrm rot="5400000" flipV="1">
            <a:off x="1926477" y="1666988"/>
            <a:ext cx="0" cy="354127"/>
          </a:xfrm>
          <a:prstGeom prst="straightConnector1">
            <a:avLst/>
          </a:prstGeom>
          <a:ln w="50800">
            <a:solidFill>
              <a:srgbClr val="C00000"/>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34" name="Rectangle 33">
            <a:extLst>
              <a:ext uri="{FF2B5EF4-FFF2-40B4-BE49-F238E27FC236}">
                <a16:creationId xmlns:a16="http://schemas.microsoft.com/office/drawing/2014/main" id="{0545FFC8-9493-4EB4-A6FB-F3C980EBC5A5}"/>
              </a:ext>
            </a:extLst>
          </p:cNvPr>
          <p:cNvSpPr/>
          <p:nvPr/>
        </p:nvSpPr>
        <p:spPr>
          <a:xfrm>
            <a:off x="4557319" y="1187335"/>
            <a:ext cx="3237538" cy="4483329"/>
          </a:xfrm>
          <a:prstGeom prst="rect">
            <a:avLst/>
          </a:prstGeom>
          <a:solidFill>
            <a:schemeClr val="accent4">
              <a:lumMod val="20000"/>
              <a:lumOff val="80000"/>
            </a:schemeClr>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GB" dirty="0">
                <a:solidFill>
                  <a:schemeClr val="tx1"/>
                </a:solidFill>
              </a:rPr>
              <a:t>Main memory (RAM)</a:t>
            </a:r>
          </a:p>
        </p:txBody>
      </p:sp>
      <p:graphicFrame>
        <p:nvGraphicFramePr>
          <p:cNvPr id="2" name="Table 32">
            <a:extLst>
              <a:ext uri="{FF2B5EF4-FFF2-40B4-BE49-F238E27FC236}">
                <a16:creationId xmlns:a16="http://schemas.microsoft.com/office/drawing/2014/main" id="{8E9FC54D-B26B-406A-BF90-1A835E0701E6}"/>
              </a:ext>
            </a:extLst>
          </p:cNvPr>
          <p:cNvGraphicFramePr>
            <a:graphicFrameLocks noGrp="1"/>
          </p:cNvGraphicFramePr>
          <p:nvPr>
            <p:extLst>
              <p:ext uri="{D42A27DB-BD31-4B8C-83A1-F6EECF244321}">
                <p14:modId xmlns:p14="http://schemas.microsoft.com/office/powerpoint/2010/main" val="1490458637"/>
              </p:ext>
            </p:extLst>
          </p:nvPr>
        </p:nvGraphicFramePr>
        <p:xfrm>
          <a:off x="4825649" y="1658897"/>
          <a:ext cx="2239767" cy="3774440"/>
        </p:xfrm>
        <a:graphic>
          <a:graphicData uri="http://schemas.openxmlformats.org/drawingml/2006/table">
            <a:tbl>
              <a:tblPr firstRow="1" bandRow="1">
                <a:tableStyleId>{21E4AEA4-8DFA-4A89-87EB-49C32662AFE0}</a:tableStyleId>
              </a:tblPr>
              <a:tblGrid>
                <a:gridCol w="1037691">
                  <a:extLst>
                    <a:ext uri="{9D8B030D-6E8A-4147-A177-3AD203B41FA5}">
                      <a16:colId xmlns:a16="http://schemas.microsoft.com/office/drawing/2014/main" val="3614015831"/>
                    </a:ext>
                  </a:extLst>
                </a:gridCol>
                <a:gridCol w="1202076">
                  <a:extLst>
                    <a:ext uri="{9D8B030D-6E8A-4147-A177-3AD203B41FA5}">
                      <a16:colId xmlns:a16="http://schemas.microsoft.com/office/drawing/2014/main" val="3794086153"/>
                    </a:ext>
                  </a:extLst>
                </a:gridCol>
              </a:tblGrid>
              <a:tr h="370840">
                <a:tc>
                  <a:txBody>
                    <a:bodyPr/>
                    <a:lstStyle/>
                    <a:p>
                      <a:pPr algn="ctr"/>
                      <a:r>
                        <a:rPr lang="en-GB" dirty="0"/>
                        <a:t>Address</a:t>
                      </a:r>
                    </a:p>
                  </a:txBody>
                  <a:tcPr/>
                </a:tc>
                <a:tc>
                  <a:txBody>
                    <a:bodyPr/>
                    <a:lstStyle/>
                    <a:p>
                      <a:pPr algn="ctr"/>
                      <a:r>
                        <a:rPr lang="en-GB" dirty="0"/>
                        <a:t>Data</a:t>
                      </a:r>
                    </a:p>
                  </a:txBody>
                  <a:tcPr/>
                </a:tc>
                <a:extLst>
                  <a:ext uri="{0D108BD9-81ED-4DB2-BD59-A6C34878D82A}">
                    <a16:rowId xmlns:a16="http://schemas.microsoft.com/office/drawing/2014/main" val="1704211108"/>
                  </a:ext>
                </a:extLst>
              </a:tr>
              <a:tr h="370840">
                <a:tc>
                  <a:txBody>
                    <a:bodyPr/>
                    <a:lstStyle/>
                    <a:p>
                      <a:pPr algn="ctr"/>
                      <a:r>
                        <a:rPr lang="en-GB" dirty="0"/>
                        <a:t>1</a:t>
                      </a:r>
                    </a:p>
                  </a:txBody>
                  <a:tcPr/>
                </a:tc>
                <a:tc>
                  <a:txBody>
                    <a:bodyPr/>
                    <a:lstStyle/>
                    <a:p>
                      <a:pPr algn="ctr"/>
                      <a:r>
                        <a:rPr lang="en-GB" dirty="0"/>
                        <a:t>Load address 5</a:t>
                      </a:r>
                    </a:p>
                  </a:txBody>
                  <a:tcPr/>
                </a:tc>
                <a:extLst>
                  <a:ext uri="{0D108BD9-81ED-4DB2-BD59-A6C34878D82A}">
                    <a16:rowId xmlns:a16="http://schemas.microsoft.com/office/drawing/2014/main" val="74178786"/>
                  </a:ext>
                </a:extLst>
              </a:tr>
              <a:tr h="370840">
                <a:tc>
                  <a:txBody>
                    <a:bodyPr/>
                    <a:lstStyle/>
                    <a:p>
                      <a:pPr algn="ctr"/>
                      <a:r>
                        <a:rPr lang="en-GB" dirty="0"/>
                        <a:t>2</a:t>
                      </a:r>
                    </a:p>
                  </a:txBody>
                  <a:tcPr/>
                </a:tc>
                <a:tc>
                  <a:txBody>
                    <a:bodyPr/>
                    <a:lstStyle/>
                    <a:p>
                      <a:pPr algn="ctr"/>
                      <a:r>
                        <a:rPr lang="en-GB" dirty="0"/>
                        <a:t>Add address 6</a:t>
                      </a:r>
                    </a:p>
                  </a:txBody>
                  <a:tcPr/>
                </a:tc>
                <a:extLst>
                  <a:ext uri="{0D108BD9-81ED-4DB2-BD59-A6C34878D82A}">
                    <a16:rowId xmlns:a16="http://schemas.microsoft.com/office/drawing/2014/main" val="1752188674"/>
                  </a:ext>
                </a:extLst>
              </a:tr>
              <a:tr h="370840">
                <a:tc>
                  <a:txBody>
                    <a:bodyPr/>
                    <a:lstStyle/>
                    <a:p>
                      <a:pPr algn="ctr"/>
                      <a:r>
                        <a:rPr lang="en-GB" dirty="0"/>
                        <a:t>3</a:t>
                      </a:r>
                    </a:p>
                  </a:txBody>
                  <a:tcPr/>
                </a:tc>
                <a:tc>
                  <a:txBody>
                    <a:bodyPr/>
                    <a:lstStyle/>
                    <a:p>
                      <a:pPr algn="ctr"/>
                      <a:r>
                        <a:rPr lang="en-GB" dirty="0"/>
                        <a:t>Store in address 6</a:t>
                      </a:r>
                    </a:p>
                  </a:txBody>
                  <a:tcPr/>
                </a:tc>
                <a:extLst>
                  <a:ext uri="{0D108BD9-81ED-4DB2-BD59-A6C34878D82A}">
                    <a16:rowId xmlns:a16="http://schemas.microsoft.com/office/drawing/2014/main" val="2843260329"/>
                  </a:ext>
                </a:extLst>
              </a:tr>
              <a:tr h="370840">
                <a:tc>
                  <a:txBody>
                    <a:bodyPr/>
                    <a:lstStyle/>
                    <a:p>
                      <a:pPr algn="ctr"/>
                      <a:r>
                        <a:rPr lang="en-GB" dirty="0"/>
                        <a:t>4</a:t>
                      </a:r>
                    </a:p>
                  </a:txBody>
                  <a:tcPr/>
                </a:tc>
                <a:tc>
                  <a:txBody>
                    <a:bodyPr/>
                    <a:lstStyle/>
                    <a:p>
                      <a:pPr algn="ctr"/>
                      <a:r>
                        <a:rPr lang="en-GB" dirty="0"/>
                        <a:t>End</a:t>
                      </a:r>
                    </a:p>
                  </a:txBody>
                  <a:tcPr/>
                </a:tc>
                <a:extLst>
                  <a:ext uri="{0D108BD9-81ED-4DB2-BD59-A6C34878D82A}">
                    <a16:rowId xmlns:a16="http://schemas.microsoft.com/office/drawing/2014/main" val="4027267220"/>
                  </a:ext>
                </a:extLst>
              </a:tr>
              <a:tr h="370840">
                <a:tc>
                  <a:txBody>
                    <a:bodyPr/>
                    <a:lstStyle/>
                    <a:p>
                      <a:pPr algn="ctr"/>
                      <a:r>
                        <a:rPr lang="en-GB" dirty="0"/>
                        <a:t>5</a:t>
                      </a:r>
                    </a:p>
                  </a:txBody>
                  <a:tcPr/>
                </a:tc>
                <a:tc>
                  <a:txBody>
                    <a:bodyPr/>
                    <a:lstStyle/>
                    <a:p>
                      <a:pPr algn="ctr"/>
                      <a:r>
                        <a:rPr lang="en-GB" dirty="0"/>
                        <a:t>23</a:t>
                      </a:r>
                    </a:p>
                  </a:txBody>
                  <a:tcPr/>
                </a:tc>
                <a:extLst>
                  <a:ext uri="{0D108BD9-81ED-4DB2-BD59-A6C34878D82A}">
                    <a16:rowId xmlns:a16="http://schemas.microsoft.com/office/drawing/2014/main" val="2887340781"/>
                  </a:ext>
                </a:extLst>
              </a:tr>
              <a:tr h="370840">
                <a:tc>
                  <a:txBody>
                    <a:bodyPr/>
                    <a:lstStyle/>
                    <a:p>
                      <a:pPr algn="ctr"/>
                      <a:r>
                        <a:rPr lang="en-GB" dirty="0"/>
                        <a:t>6</a:t>
                      </a:r>
                    </a:p>
                  </a:txBody>
                  <a:tcPr/>
                </a:tc>
                <a:tc>
                  <a:txBody>
                    <a:bodyPr/>
                    <a:lstStyle/>
                    <a:p>
                      <a:pPr algn="ctr"/>
                      <a:r>
                        <a:rPr lang="en-GB" dirty="0"/>
                        <a:t>12</a:t>
                      </a:r>
                    </a:p>
                  </a:txBody>
                  <a:tcPr/>
                </a:tc>
                <a:extLst>
                  <a:ext uri="{0D108BD9-81ED-4DB2-BD59-A6C34878D82A}">
                    <a16:rowId xmlns:a16="http://schemas.microsoft.com/office/drawing/2014/main" val="3808870730"/>
                  </a:ext>
                </a:extLst>
              </a:tr>
              <a:tr h="370840">
                <a:tc gridSpan="2">
                  <a:txBody>
                    <a:bodyPr/>
                    <a:lstStyle/>
                    <a:p>
                      <a:endParaRPr lang="en-GB" dirty="0"/>
                    </a:p>
                  </a:txBody>
                  <a:tcPr>
                    <a:solidFill>
                      <a:schemeClr val="accent2"/>
                    </a:solidFill>
                  </a:tcPr>
                </a:tc>
                <a:tc hMerge="1">
                  <a:txBody>
                    <a:bodyPr/>
                    <a:lstStyle/>
                    <a:p>
                      <a:endParaRPr lang="en-GB" dirty="0"/>
                    </a:p>
                  </a:txBody>
                  <a:tcPr/>
                </a:tc>
                <a:extLst>
                  <a:ext uri="{0D108BD9-81ED-4DB2-BD59-A6C34878D82A}">
                    <a16:rowId xmlns:a16="http://schemas.microsoft.com/office/drawing/2014/main" val="453354336"/>
                  </a:ext>
                </a:extLst>
              </a:tr>
            </a:tbl>
          </a:graphicData>
        </a:graphic>
      </p:graphicFrame>
      <p:grpSp>
        <p:nvGrpSpPr>
          <p:cNvPr id="40" name="Group 39">
            <a:extLst>
              <a:ext uri="{FF2B5EF4-FFF2-40B4-BE49-F238E27FC236}">
                <a16:creationId xmlns:a16="http://schemas.microsoft.com/office/drawing/2014/main" id="{47E1A734-AE40-47F7-852D-7A031D45B524}"/>
              </a:ext>
            </a:extLst>
          </p:cNvPr>
          <p:cNvGrpSpPr/>
          <p:nvPr/>
        </p:nvGrpSpPr>
        <p:grpSpPr>
          <a:xfrm>
            <a:off x="3084475" y="3200784"/>
            <a:ext cx="1472844" cy="809946"/>
            <a:chOff x="5089451" y="3108977"/>
            <a:chExt cx="2714502" cy="809946"/>
          </a:xfrm>
        </p:grpSpPr>
        <p:cxnSp>
          <p:nvCxnSpPr>
            <p:cNvPr id="37" name="Straight Arrow Connector 36">
              <a:extLst>
                <a:ext uri="{FF2B5EF4-FFF2-40B4-BE49-F238E27FC236}">
                  <a16:creationId xmlns:a16="http://schemas.microsoft.com/office/drawing/2014/main" id="{C6AEA4D1-72B5-4D9F-BB16-A0F6FA61BE1E}"/>
                </a:ext>
              </a:extLst>
            </p:cNvPr>
            <p:cNvCxnSpPr>
              <a:cxnSpLocks/>
            </p:cNvCxnSpPr>
            <p:nvPr/>
          </p:nvCxnSpPr>
          <p:spPr>
            <a:xfrm>
              <a:off x="5089451" y="3108977"/>
              <a:ext cx="2714502" cy="0"/>
            </a:xfrm>
            <a:prstGeom prst="straightConnector1">
              <a:avLst/>
            </a:prstGeom>
            <a:ln w="5080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39" name="Straight Arrow Connector 38">
              <a:extLst>
                <a:ext uri="{FF2B5EF4-FFF2-40B4-BE49-F238E27FC236}">
                  <a16:creationId xmlns:a16="http://schemas.microsoft.com/office/drawing/2014/main" id="{D6D8C3F4-936D-45F6-A054-B9BEF87A8BFB}"/>
                </a:ext>
              </a:extLst>
            </p:cNvPr>
            <p:cNvCxnSpPr>
              <a:cxnSpLocks/>
            </p:cNvCxnSpPr>
            <p:nvPr/>
          </p:nvCxnSpPr>
          <p:spPr>
            <a:xfrm>
              <a:off x="5089451" y="3918923"/>
              <a:ext cx="2714502" cy="0"/>
            </a:xfrm>
            <a:prstGeom prst="straightConnector1">
              <a:avLst/>
            </a:prstGeom>
            <a:ln w="50800">
              <a:solidFill>
                <a:srgbClr val="C00000"/>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grpSp>
      <p:pic>
        <p:nvPicPr>
          <p:cNvPr id="41" name="Picture 40" descr="A circuit board&#10;&#10;Description automatically generated">
            <a:extLst>
              <a:ext uri="{FF2B5EF4-FFF2-40B4-BE49-F238E27FC236}">
                <a16:creationId xmlns:a16="http://schemas.microsoft.com/office/drawing/2014/main" id="{EEC01B68-F0AE-46F5-B50B-7F1B348C9E3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229075" y="4785018"/>
            <a:ext cx="1568213" cy="1301100"/>
          </a:xfrm>
          <a:prstGeom prst="rect">
            <a:avLst/>
          </a:prstGeom>
        </p:spPr>
      </p:pic>
      <p:graphicFrame>
        <p:nvGraphicFramePr>
          <p:cNvPr id="42" name="Diagram 41">
            <a:extLst>
              <a:ext uri="{FF2B5EF4-FFF2-40B4-BE49-F238E27FC236}">
                <a16:creationId xmlns:a16="http://schemas.microsoft.com/office/drawing/2014/main" id="{6554496D-3CE2-451F-8D8B-7E9298EB84AF}"/>
              </a:ext>
            </a:extLst>
          </p:cNvPr>
          <p:cNvGraphicFramePr/>
          <p:nvPr>
            <p:extLst>
              <p:ext uri="{D42A27DB-BD31-4B8C-83A1-F6EECF244321}">
                <p14:modId xmlns:p14="http://schemas.microsoft.com/office/powerpoint/2010/main" val="2462605243"/>
              </p:ext>
            </p:extLst>
          </p:nvPr>
        </p:nvGraphicFramePr>
        <p:xfrm>
          <a:off x="7794857" y="3890418"/>
          <a:ext cx="4474194" cy="327580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8" name="Rectangle 37">
            <a:extLst>
              <a:ext uri="{FF2B5EF4-FFF2-40B4-BE49-F238E27FC236}">
                <a16:creationId xmlns:a16="http://schemas.microsoft.com/office/drawing/2014/main" id="{70F4D450-8958-4EC9-B7CD-2F7BF0F887DB}"/>
              </a:ext>
            </a:extLst>
          </p:cNvPr>
          <p:cNvSpPr/>
          <p:nvPr/>
        </p:nvSpPr>
        <p:spPr>
          <a:xfrm>
            <a:off x="666052" y="4843426"/>
            <a:ext cx="1087357" cy="638464"/>
          </a:xfrm>
          <a:prstGeom prst="rect">
            <a:avLst/>
          </a:prstGeom>
          <a:solidFill>
            <a:schemeClr val="bg1"/>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100" b="1" dirty="0">
                <a:solidFill>
                  <a:schemeClr val="tx1"/>
                </a:solidFill>
              </a:rPr>
              <a:t>Cache</a:t>
            </a:r>
          </a:p>
        </p:txBody>
      </p:sp>
      <p:pic>
        <p:nvPicPr>
          <p:cNvPr id="43" name="Picture 42">
            <a:extLst>
              <a:ext uri="{FF2B5EF4-FFF2-40B4-BE49-F238E27FC236}">
                <a16:creationId xmlns:a16="http://schemas.microsoft.com/office/drawing/2014/main" id="{C642C4A8-D3F0-4C4A-A969-662C2C893BA2}"/>
              </a:ext>
            </a:extLst>
          </p:cNvPr>
          <p:cNvPicPr>
            <a:picLocks noChangeAspect="1"/>
          </p:cNvPicPr>
          <p:nvPr/>
        </p:nvPicPr>
        <p:blipFill>
          <a:blip r:embed="rId8"/>
          <a:stretch>
            <a:fillRect/>
          </a:stretch>
        </p:blipFill>
        <p:spPr>
          <a:xfrm>
            <a:off x="2301155" y="4826252"/>
            <a:ext cx="641729" cy="638464"/>
          </a:xfrm>
          <a:prstGeom prst="rect">
            <a:avLst/>
          </a:prstGeom>
        </p:spPr>
      </p:pic>
      <p:sp>
        <p:nvSpPr>
          <p:cNvPr id="44" name="Rectangle 43">
            <a:extLst>
              <a:ext uri="{FF2B5EF4-FFF2-40B4-BE49-F238E27FC236}">
                <a16:creationId xmlns:a16="http://schemas.microsoft.com/office/drawing/2014/main" id="{523CE4F3-2C46-4B1F-8560-66EC2CE675C5}"/>
              </a:ext>
            </a:extLst>
          </p:cNvPr>
          <p:cNvSpPr/>
          <p:nvPr/>
        </p:nvSpPr>
        <p:spPr>
          <a:xfrm>
            <a:off x="2109112" y="4843426"/>
            <a:ext cx="1074483" cy="638464"/>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100" b="1" dirty="0">
                <a:solidFill>
                  <a:schemeClr val="tx1"/>
                </a:solidFill>
              </a:rPr>
              <a:t>Clock</a:t>
            </a:r>
          </a:p>
        </p:txBody>
      </p:sp>
      <p:grpSp>
        <p:nvGrpSpPr>
          <p:cNvPr id="32" name="Group 31">
            <a:extLst>
              <a:ext uri="{FF2B5EF4-FFF2-40B4-BE49-F238E27FC236}">
                <a16:creationId xmlns:a16="http://schemas.microsoft.com/office/drawing/2014/main" id="{E2BD7F67-6E5E-470F-9050-2A269E3C9B9B}"/>
              </a:ext>
            </a:extLst>
          </p:cNvPr>
          <p:cNvGrpSpPr/>
          <p:nvPr/>
        </p:nvGrpSpPr>
        <p:grpSpPr>
          <a:xfrm flipV="1">
            <a:off x="1230797" y="4490796"/>
            <a:ext cx="1449572" cy="683607"/>
            <a:chOff x="1202957" y="1882152"/>
            <a:chExt cx="1449572" cy="683607"/>
          </a:xfrm>
        </p:grpSpPr>
        <p:cxnSp>
          <p:nvCxnSpPr>
            <p:cNvPr id="33" name="Straight Arrow Connector 32">
              <a:extLst>
                <a:ext uri="{FF2B5EF4-FFF2-40B4-BE49-F238E27FC236}">
                  <a16:creationId xmlns:a16="http://schemas.microsoft.com/office/drawing/2014/main" id="{372DB07C-AEA0-4BFB-8E2E-D6F2E97446A2}"/>
                </a:ext>
              </a:extLst>
            </p:cNvPr>
            <p:cNvCxnSpPr>
              <a:cxnSpLocks/>
            </p:cNvCxnSpPr>
            <p:nvPr/>
          </p:nvCxnSpPr>
          <p:spPr>
            <a:xfrm flipV="1">
              <a:off x="1202957" y="2211632"/>
              <a:ext cx="0" cy="354127"/>
            </a:xfrm>
            <a:prstGeom prst="straightConnector1">
              <a:avLst/>
            </a:prstGeom>
            <a:ln w="50800">
              <a:solidFill>
                <a:srgbClr val="C00000"/>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5" name="Straight Arrow Connector 34">
              <a:extLst>
                <a:ext uri="{FF2B5EF4-FFF2-40B4-BE49-F238E27FC236}">
                  <a16:creationId xmlns:a16="http://schemas.microsoft.com/office/drawing/2014/main" id="{76801A9A-64A7-4F77-8DC7-4BA7062E1F94}"/>
                </a:ext>
              </a:extLst>
            </p:cNvPr>
            <p:cNvCxnSpPr>
              <a:cxnSpLocks/>
            </p:cNvCxnSpPr>
            <p:nvPr/>
          </p:nvCxnSpPr>
          <p:spPr>
            <a:xfrm flipV="1">
              <a:off x="2652529" y="2211632"/>
              <a:ext cx="0" cy="354127"/>
            </a:xfrm>
            <a:prstGeom prst="straightConnector1">
              <a:avLst/>
            </a:prstGeom>
            <a:ln w="50800">
              <a:solidFill>
                <a:srgbClr val="C00000"/>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AFD1123B-61A5-4915-AA2E-3606CDF5697F}"/>
                </a:ext>
              </a:extLst>
            </p:cNvPr>
            <p:cNvCxnSpPr>
              <a:cxnSpLocks/>
            </p:cNvCxnSpPr>
            <p:nvPr/>
          </p:nvCxnSpPr>
          <p:spPr>
            <a:xfrm rot="5400000" flipV="1">
              <a:off x="1897902" y="1705088"/>
              <a:ext cx="0" cy="354127"/>
            </a:xfrm>
            <a:prstGeom prst="straightConnector1">
              <a:avLst/>
            </a:prstGeom>
            <a:ln w="50800">
              <a:solidFill>
                <a:srgbClr val="C00000"/>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grpSp>
      <p:sp>
        <p:nvSpPr>
          <p:cNvPr id="3" name="Rectangle 2">
            <a:extLst>
              <a:ext uri="{FF2B5EF4-FFF2-40B4-BE49-F238E27FC236}">
                <a16:creationId xmlns:a16="http://schemas.microsoft.com/office/drawing/2014/main" id="{5D216D63-E1DD-42C7-BBE9-90AFDB328406}"/>
              </a:ext>
            </a:extLst>
          </p:cNvPr>
          <p:cNvSpPr/>
          <p:nvPr/>
        </p:nvSpPr>
        <p:spPr>
          <a:xfrm>
            <a:off x="8063187" y="1187335"/>
            <a:ext cx="3998674" cy="2674386"/>
          </a:xfrm>
          <a:prstGeom prst="rect">
            <a:avLst/>
          </a:prstGeom>
        </p:spPr>
        <p:txBody>
          <a:bodyPr wrap="square">
            <a:spAutoFit/>
          </a:bodyPr>
          <a:lstStyle/>
          <a:p>
            <a:pPr>
              <a:lnSpc>
                <a:spcPct val="107000"/>
              </a:lnSpc>
              <a:spcAft>
                <a:spcPts val="800"/>
              </a:spcAft>
            </a:pPr>
            <a:r>
              <a:rPr lang="en-GB" sz="1600" b="1" dirty="0">
                <a:latin typeface="Calibri" panose="020F0502020204030204" pitchFamily="34" charset="0"/>
                <a:ea typeface="Calibri" panose="020F0502020204030204" pitchFamily="34" charset="0"/>
                <a:cs typeface="Times New Roman" panose="02020603050405020304" pitchFamily="18" charset="0"/>
              </a:rPr>
              <a:t>Execute stage</a:t>
            </a:r>
          </a:p>
          <a:p>
            <a:r>
              <a:rPr lang="en-GB" sz="1600" dirty="0"/>
              <a:t>Now the CPU can execute the instruction. What it actually does depends on the instruction. It could be asked to:</a:t>
            </a:r>
          </a:p>
          <a:p>
            <a:pPr marL="742950" lvl="1" indent="-285750">
              <a:buFont typeface="Arial" panose="020B0604020202020204" pitchFamily="34" charset="0"/>
              <a:buChar char="•"/>
            </a:pPr>
            <a:r>
              <a:rPr lang="en-GB" sz="1600" dirty="0"/>
              <a:t>Go back to main memory (RAM), fetch data and add it to the accumulator.</a:t>
            </a:r>
          </a:p>
          <a:p>
            <a:pPr marL="742950" lvl="1" indent="-285750">
              <a:buFont typeface="Arial" panose="020B0604020202020204" pitchFamily="34" charset="0"/>
              <a:buChar char="•"/>
            </a:pPr>
            <a:r>
              <a:rPr lang="en-GB" sz="1600" dirty="0"/>
              <a:t>Jump to another instruction.</a:t>
            </a:r>
          </a:p>
          <a:p>
            <a:pPr marL="742950" lvl="1" indent="-285750">
              <a:spcAft>
                <a:spcPts val="800"/>
              </a:spcAft>
              <a:buFont typeface="Arial" panose="020B0604020202020204" pitchFamily="34" charset="0"/>
              <a:buChar char="•"/>
            </a:pPr>
            <a:r>
              <a:rPr lang="en-GB" sz="1600" dirty="0"/>
              <a:t>Write data held in the accumulator back into main memory (RAM).</a:t>
            </a:r>
            <a:endParaRPr lang="en-GB" sz="1600" dirty="0">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3515623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D989BBE4-38CA-4FFB-B9AA-E0BBB2AB22B7}"/>
              </a:ext>
            </a:extLst>
          </p:cNvPr>
          <p:cNvSpPr/>
          <p:nvPr/>
        </p:nvSpPr>
        <p:spPr>
          <a:xfrm>
            <a:off x="254906" y="1887113"/>
            <a:ext cx="11846898" cy="4613186"/>
          </a:xfrm>
          <a:prstGeom prst="rect">
            <a:avLst/>
          </a:prstGeom>
        </p:spPr>
        <p:txBody>
          <a:bodyPr wrap="square">
            <a:spAutoFit/>
          </a:bodyPr>
          <a:lstStyle/>
          <a:p>
            <a:r>
              <a:rPr lang="en-GB" dirty="0">
                <a:latin typeface="Calibri" panose="020F0502020204030204" pitchFamily="34" charset="0"/>
                <a:ea typeface="Calibri" panose="020F0502020204030204" pitchFamily="34" charset="0"/>
                <a:cs typeface="Times New Roman" panose="02020603050405020304" pitchFamily="18" charset="0"/>
              </a:rPr>
              <a:t>The von Neumann architecture consists of a:</a:t>
            </a:r>
          </a:p>
          <a:p>
            <a:pPr marL="742950" lvl="1" indent="-285750">
              <a:buFont typeface="Arial" panose="020B0604020202020204" pitchFamily="34" charset="0"/>
              <a:buChar char="•"/>
            </a:pPr>
            <a:r>
              <a:rPr lang="en-GB" dirty="0">
                <a:latin typeface="Calibri" panose="020F0502020204030204" pitchFamily="34" charset="0"/>
                <a:ea typeface="Calibri" panose="020F0502020204030204" pitchFamily="34" charset="0"/>
                <a:cs typeface="Times New Roman" panose="02020603050405020304" pitchFamily="18" charset="0"/>
              </a:rPr>
              <a:t>Control unit (CU)</a:t>
            </a:r>
          </a:p>
          <a:p>
            <a:pPr marL="742950" lvl="1" indent="-285750">
              <a:buFont typeface="Arial" panose="020B0604020202020204" pitchFamily="34" charset="0"/>
              <a:buChar char="•"/>
            </a:pPr>
            <a:r>
              <a:rPr lang="en-GB" dirty="0">
                <a:latin typeface="Calibri" panose="020F0502020204030204" pitchFamily="34" charset="0"/>
                <a:ea typeface="Calibri" panose="020F0502020204030204" pitchFamily="34" charset="0"/>
                <a:cs typeface="Times New Roman" panose="02020603050405020304" pitchFamily="18" charset="0"/>
              </a:rPr>
              <a:t>Arithmetic logic unit (ALU)</a:t>
            </a:r>
          </a:p>
          <a:p>
            <a:pPr marL="742950" lvl="1" indent="-285750">
              <a:buFont typeface="Arial" panose="020B0604020202020204" pitchFamily="34" charset="0"/>
              <a:buChar char="•"/>
            </a:pPr>
            <a:r>
              <a:rPr lang="en-GB" dirty="0">
                <a:latin typeface="Calibri" panose="020F0502020204030204" pitchFamily="34" charset="0"/>
                <a:ea typeface="Calibri" panose="020F0502020204030204" pitchFamily="34" charset="0"/>
                <a:cs typeface="Times New Roman" panose="02020603050405020304" pitchFamily="18" charset="0"/>
              </a:rPr>
              <a:t>Main memory (RAM)</a:t>
            </a:r>
          </a:p>
          <a:p>
            <a:pPr marL="742950" lvl="1" indent="-285750">
              <a:spcAft>
                <a:spcPts val="800"/>
              </a:spcAft>
              <a:buFont typeface="Arial" panose="020B0604020202020204" pitchFamily="34" charset="0"/>
              <a:buChar char="•"/>
            </a:pPr>
            <a:r>
              <a:rPr lang="en-GB" dirty="0">
                <a:latin typeface="Calibri" panose="020F0502020204030204" pitchFamily="34" charset="0"/>
                <a:ea typeface="Calibri" panose="020F0502020204030204" pitchFamily="34" charset="0"/>
                <a:cs typeface="Times New Roman" panose="02020603050405020304" pitchFamily="18" charset="0"/>
              </a:rPr>
              <a:t>Inputs and outputs</a:t>
            </a:r>
          </a:p>
          <a:p>
            <a:pPr>
              <a:spcAft>
                <a:spcPts val="800"/>
              </a:spcAft>
            </a:pPr>
            <a:r>
              <a:rPr lang="en-GB" dirty="0">
                <a:latin typeface="Calibri" panose="020F0502020204030204" pitchFamily="34" charset="0"/>
                <a:ea typeface="Calibri" panose="020F0502020204030204" pitchFamily="34" charset="0"/>
                <a:cs typeface="Times New Roman" panose="02020603050405020304" pitchFamily="18" charset="0"/>
              </a:rPr>
              <a:t>The von Neumann architecture is based on the stored program concept.</a:t>
            </a:r>
          </a:p>
          <a:p>
            <a:pPr>
              <a:spcAft>
                <a:spcPts val="800"/>
              </a:spcAft>
            </a:pPr>
            <a:r>
              <a:rPr lang="en-GB" dirty="0">
                <a:latin typeface="Calibri" panose="020F0502020204030204" pitchFamily="34" charset="0"/>
                <a:ea typeface="Calibri" panose="020F0502020204030204" pitchFamily="34" charset="0"/>
                <a:cs typeface="Times New Roman" panose="02020603050405020304" pitchFamily="18" charset="0"/>
              </a:rPr>
              <a:t>Both instruction data </a:t>
            </a:r>
            <a:r>
              <a:rPr lang="en-GB" i="1" dirty="0">
                <a:latin typeface="Calibri" panose="020F0502020204030204" pitchFamily="34" charset="0"/>
                <a:ea typeface="Calibri" panose="020F0502020204030204" pitchFamily="34" charset="0"/>
                <a:cs typeface="Times New Roman" panose="02020603050405020304" pitchFamily="18" charset="0"/>
              </a:rPr>
              <a:t>and</a:t>
            </a:r>
            <a:r>
              <a:rPr lang="en-GB" dirty="0">
                <a:latin typeface="Calibri" panose="020F0502020204030204" pitchFamily="34" charset="0"/>
                <a:ea typeface="Calibri" panose="020F0502020204030204" pitchFamily="34" charset="0"/>
                <a:cs typeface="Times New Roman" panose="02020603050405020304" pitchFamily="18" charset="0"/>
              </a:rPr>
              <a:t> program data are stored in the same memory in binary form. There is no way to know if the pure binary held in memory represents instructions or data simply by looking at it.</a:t>
            </a:r>
          </a:p>
          <a:p>
            <a:r>
              <a:rPr lang="en-GB" dirty="0">
                <a:latin typeface="Calibri" panose="020F0502020204030204" pitchFamily="34" charset="0"/>
                <a:ea typeface="Calibri" panose="020F0502020204030204" pitchFamily="34" charset="0"/>
                <a:cs typeface="Times New Roman" panose="02020603050405020304" pitchFamily="18" charset="0"/>
              </a:rPr>
              <a:t>A von Neumann CPU contains the following registers:</a:t>
            </a:r>
          </a:p>
          <a:p>
            <a:pPr marL="742950" lvl="1" indent="-285750">
              <a:buFont typeface="Arial" panose="020B0604020202020204" pitchFamily="34" charset="0"/>
              <a:buChar char="•"/>
            </a:pPr>
            <a:r>
              <a:rPr lang="en-GB" dirty="0">
                <a:latin typeface="Calibri" panose="020F0502020204030204" pitchFamily="34" charset="0"/>
                <a:ea typeface="Calibri" panose="020F0502020204030204" pitchFamily="34" charset="0"/>
                <a:cs typeface="Times New Roman" panose="02020603050405020304" pitchFamily="18" charset="0"/>
              </a:rPr>
              <a:t>Program counter (PC): Holds the address of the next instruction to be executed in memory.</a:t>
            </a:r>
            <a:endParaRPr lang="en-GB" sz="1050" dirty="0">
              <a:latin typeface="Calibri" panose="020F0502020204030204" pitchFamily="34" charset="0"/>
              <a:ea typeface="Calibri" panose="020F0502020204030204" pitchFamily="34" charset="0"/>
              <a:cs typeface="Times New Roman" panose="02020603050405020304" pitchFamily="18" charset="0"/>
            </a:endParaRPr>
          </a:p>
          <a:p>
            <a:pPr marL="742950" lvl="1" indent="-285750">
              <a:lnSpc>
                <a:spcPct val="107000"/>
              </a:lnSpc>
              <a:buFont typeface="Arial" panose="020B0604020202020204" pitchFamily="34" charset="0"/>
              <a:buChar char="•"/>
            </a:pPr>
            <a:r>
              <a:rPr lang="en-GB" dirty="0">
                <a:latin typeface="Calibri" panose="020F0502020204030204" pitchFamily="34" charset="0"/>
                <a:ea typeface="Calibri" panose="020F0502020204030204" pitchFamily="34" charset="0"/>
                <a:cs typeface="Times New Roman" panose="02020603050405020304" pitchFamily="18" charset="0"/>
              </a:rPr>
              <a:t>Memory address register (MAR): Holds the memory address where data is to be fetched from or written to.</a:t>
            </a:r>
          </a:p>
          <a:p>
            <a:pPr marL="742950" lvl="1" indent="-285750">
              <a:lnSpc>
                <a:spcPct val="107000"/>
              </a:lnSpc>
              <a:buFont typeface="Arial" panose="020B0604020202020204" pitchFamily="34" charset="0"/>
              <a:buChar char="•"/>
            </a:pPr>
            <a:r>
              <a:rPr lang="en-GB" dirty="0">
                <a:latin typeface="Calibri" panose="020F0502020204030204" pitchFamily="34" charset="0"/>
                <a:ea typeface="Calibri" panose="020F0502020204030204" pitchFamily="34" charset="0"/>
                <a:cs typeface="Times New Roman" panose="02020603050405020304" pitchFamily="18" charset="0"/>
              </a:rPr>
              <a:t>Memory data register (MDR): Holds data fetched from or to be written to memory.</a:t>
            </a:r>
            <a:endParaRPr lang="en-GB" sz="1050" dirty="0">
              <a:latin typeface="Calibri" panose="020F0502020204030204" pitchFamily="34" charset="0"/>
              <a:ea typeface="Calibri" panose="020F0502020204030204" pitchFamily="34" charset="0"/>
              <a:cs typeface="Times New Roman" panose="02020603050405020304" pitchFamily="18" charset="0"/>
            </a:endParaRPr>
          </a:p>
          <a:p>
            <a:pPr marL="742950" lvl="1" indent="-285750">
              <a:lnSpc>
                <a:spcPct val="107000"/>
              </a:lnSpc>
              <a:buFont typeface="Arial" panose="020B0604020202020204" pitchFamily="34" charset="0"/>
              <a:buChar char="•"/>
            </a:pPr>
            <a:r>
              <a:rPr lang="en-GB" dirty="0">
                <a:latin typeface="Calibri" panose="020F0502020204030204" pitchFamily="34" charset="0"/>
                <a:ea typeface="Calibri" panose="020F0502020204030204" pitchFamily="34" charset="0"/>
                <a:cs typeface="Times New Roman" panose="02020603050405020304" pitchFamily="18" charset="0"/>
              </a:rPr>
              <a:t>Accumulator: Holds the results of calculations.</a:t>
            </a:r>
          </a:p>
          <a:p>
            <a:pPr marL="285750" indent="-285750">
              <a:buFont typeface="Arial" panose="020B0604020202020204" pitchFamily="34" charset="0"/>
              <a:buChar char="•"/>
            </a:pPr>
            <a:endParaRPr lang="en-GB" dirty="0">
              <a:latin typeface="Calibri" panose="020F0502020204030204" pitchFamily="34" charset="0"/>
              <a:ea typeface="Calibri" panose="020F0502020204030204" pitchFamily="34" charset="0"/>
              <a:cs typeface="Times New Roman" panose="02020603050405020304" pitchFamily="18" charset="0"/>
            </a:endParaRPr>
          </a:p>
          <a:p>
            <a:endParaRPr lang="en-GB" dirty="0">
              <a:latin typeface="Calibri" panose="020F0502020204030204" pitchFamily="34" charset="0"/>
              <a:ea typeface="Calibri" panose="020F0502020204030204" pitchFamily="34" charset="0"/>
              <a:cs typeface="Times New Roman" panose="02020603050405020304" pitchFamily="18" charset="0"/>
            </a:endParaRPr>
          </a:p>
        </p:txBody>
      </p:sp>
      <p:sp>
        <p:nvSpPr>
          <p:cNvPr id="6" name="Rectangle 5">
            <a:extLst>
              <a:ext uri="{FF2B5EF4-FFF2-40B4-BE49-F238E27FC236}">
                <a16:creationId xmlns:a16="http://schemas.microsoft.com/office/drawing/2014/main" id="{50213629-B856-4319-B482-ECBCD25E2D9C}"/>
              </a:ext>
            </a:extLst>
          </p:cNvPr>
          <p:cNvSpPr/>
          <p:nvPr/>
        </p:nvSpPr>
        <p:spPr>
          <a:xfrm>
            <a:off x="1368341" y="523174"/>
            <a:ext cx="5293715" cy="470000"/>
          </a:xfrm>
          <a:prstGeom prst="rect">
            <a:avLst/>
          </a:prstGeom>
        </p:spPr>
        <p:txBody>
          <a:bodyPr wrap="square">
            <a:spAutoFit/>
          </a:bodyPr>
          <a:lstStyle/>
          <a:p>
            <a:pPr>
              <a:lnSpc>
                <a:spcPct val="107000"/>
              </a:lnSpc>
              <a:spcAft>
                <a:spcPts val="800"/>
              </a:spcAft>
            </a:pPr>
            <a:r>
              <a:rPr lang="en-GB" sz="2400" dirty="0">
                <a:solidFill>
                  <a:schemeClr val="accent2">
                    <a:lumMod val="75000"/>
                  </a:schemeClr>
                </a:solidFill>
                <a:latin typeface="Calibri" panose="020F0502020204030204" pitchFamily="34" charset="0"/>
                <a:ea typeface="Calibri" panose="020F0502020204030204" pitchFamily="34" charset="0"/>
                <a:cs typeface="Times New Roman" panose="02020603050405020304" pitchFamily="18" charset="0"/>
              </a:rPr>
              <a:t>Von Neumann architecture</a:t>
            </a:r>
          </a:p>
        </p:txBody>
      </p:sp>
      <p:pic>
        <p:nvPicPr>
          <p:cNvPr id="7" name="Picture 2" descr="make_notes">
            <a:extLst>
              <a:ext uri="{FF2B5EF4-FFF2-40B4-BE49-F238E27FC236}">
                <a16:creationId xmlns:a16="http://schemas.microsoft.com/office/drawing/2014/main" id="{A9F830A7-EA2E-4EE3-8B20-692ED2E1DA9F}"/>
              </a:ext>
            </a:extLst>
          </p:cNvPr>
          <p:cNvPicPr>
            <a:picLocks noChangeAspect="1" noChangeArrowheads="1"/>
          </p:cNvPicPr>
          <p:nvPr/>
        </p:nvPicPr>
        <p:blipFill>
          <a:blip r:embed="rId2">
            <a:duotone>
              <a:schemeClr val="accent2">
                <a:shade val="45000"/>
                <a:satMod val="135000"/>
              </a:schemeClr>
              <a:prstClr val="white"/>
            </a:duotone>
            <a:extLst>
              <a:ext uri="{BEBA8EAE-BF5A-486C-A8C5-ECC9F3942E4B}">
                <a14:imgProps xmlns:a14="http://schemas.microsoft.com/office/drawing/2010/main">
                  <a14:imgLayer r:embed="rId3">
                    <a14:imgEffect>
                      <a14:saturation sat="0"/>
                    </a14:imgEffect>
                  </a14:imgLayer>
                </a14:imgProps>
              </a:ext>
              <a:ext uri="{28A0092B-C50C-407E-A947-70E740481C1C}">
                <a14:useLocalDpi xmlns:a14="http://schemas.microsoft.com/office/drawing/2010/main" val="0"/>
              </a:ext>
            </a:extLst>
          </a:blip>
          <a:srcRect/>
          <a:stretch>
            <a:fillRect/>
          </a:stretch>
        </p:blipFill>
        <p:spPr bwMode="auto">
          <a:xfrm>
            <a:off x="254906" y="611347"/>
            <a:ext cx="1113436" cy="111343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2315125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82947853-E1EE-4D77-9DC1-BD14C2A8064E}"/>
              </a:ext>
            </a:extLst>
          </p:cNvPr>
          <p:cNvPicPr>
            <a:picLocks noChangeAspect="1"/>
          </p:cNvPicPr>
          <p:nvPr/>
        </p:nvPicPr>
        <p:blipFill>
          <a:blip r:embed="rId2"/>
          <a:stretch>
            <a:fillRect/>
          </a:stretch>
        </p:blipFill>
        <p:spPr>
          <a:xfrm>
            <a:off x="-47625" y="-28575"/>
            <a:ext cx="12239625" cy="6886575"/>
          </a:xfrm>
          <a:prstGeom prst="rect">
            <a:avLst/>
          </a:prstGeom>
        </p:spPr>
      </p:pic>
    </p:spTree>
    <p:extLst>
      <p:ext uri="{BB962C8B-B14F-4D97-AF65-F5344CB8AC3E}">
        <p14:creationId xmlns:p14="http://schemas.microsoft.com/office/powerpoint/2010/main" val="3814861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800</TotalTime>
  <Words>1323</Words>
  <Application>Microsoft Office PowerPoint</Application>
  <PresentationFormat>Widescreen</PresentationFormat>
  <Paragraphs>385</Paragraphs>
  <Slides>16</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16</vt:i4>
      </vt:variant>
    </vt:vector>
  </HeadingPairs>
  <TitlesOfParts>
    <vt:vector size="21" baseType="lpstr">
      <vt:lpstr>Arial</vt:lpstr>
      <vt:lpstr>Calibri</vt:lpstr>
      <vt:lpstr>Calibri Light</vt:lpstr>
      <vt:lpstr>Century Gothic</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Craig Sargent</dc:creator>
  <cp:lastModifiedBy>Craig Sargent</cp:lastModifiedBy>
  <cp:revision>93</cp:revision>
  <dcterms:created xsi:type="dcterms:W3CDTF">2019-10-14T15:21:06Z</dcterms:created>
  <dcterms:modified xsi:type="dcterms:W3CDTF">2022-05-23T09:31:29Z</dcterms:modified>
</cp:coreProperties>
</file>