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4" r:id="rId3"/>
    <p:sldId id="266" r:id="rId4"/>
    <p:sldId id="267" r:id="rId5"/>
    <p:sldId id="265" r:id="rId6"/>
    <p:sldId id="268" r:id="rId7"/>
    <p:sldId id="269" r:id="rId8"/>
    <p:sldId id="270" r:id="rId9"/>
    <p:sldId id="260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21/07/2022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089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3.4 Network hardware | Media access control (MAC) address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21/07/2022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3.4 Network 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Media access control (MAC) address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993174"/>
            <a:ext cx="5994654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device on a network has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B28DECF-A898-4FFB-9C48-DBE7172478A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7" y="1173925"/>
            <a:ext cx="11861783" cy="5204087"/>
          </a:xfrm>
          <a:prstGeom prst="rect">
            <a:avLst/>
          </a:prstGeom>
        </p:spPr>
      </p:pic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C67D8219-CE72-451A-8413-7739F43146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93"/>
          <a:stretch/>
        </p:blipFill>
        <p:spPr>
          <a:xfrm>
            <a:off x="942680" y="2885547"/>
            <a:ext cx="1425853" cy="1375957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078651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993174"/>
            <a:ext cx="5980163" cy="1070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device on a network has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 access control (MAC)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address, which is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to route frames on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area network (LAN)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B28DECF-A898-4FFB-9C48-DBE7172478A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7" y="1173925"/>
            <a:ext cx="11861783" cy="520408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789930-5C93-47C6-89E2-39F2A0AFDDDE}"/>
              </a:ext>
            </a:extLst>
          </p:cNvPr>
          <p:cNvSpPr/>
          <p:nvPr/>
        </p:nvSpPr>
        <p:spPr>
          <a:xfrm>
            <a:off x="176565" y="3120272"/>
            <a:ext cx="3132243" cy="363874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 descr="A circuit board&#10;&#10;Description automatically generated">
            <a:extLst>
              <a:ext uri="{FF2B5EF4-FFF2-40B4-BE49-F238E27FC236}">
                <a16:creationId xmlns:a16="http://schemas.microsoft.com/office/drawing/2014/main" id="{C1B1E053-90AD-4496-9FCD-C754945DD3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93"/>
          <a:stretch/>
        </p:blipFill>
        <p:spPr>
          <a:xfrm>
            <a:off x="942680" y="2885547"/>
            <a:ext cx="1425853" cy="1375957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387155-0691-45F6-8E08-4E154D4B263A}"/>
              </a:ext>
            </a:extLst>
          </p:cNvPr>
          <p:cNvSpPr/>
          <p:nvPr/>
        </p:nvSpPr>
        <p:spPr>
          <a:xfrm>
            <a:off x="1880372" y="2537936"/>
            <a:ext cx="2856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C00000"/>
                </a:solidFill>
                <a:latin typeface="arial" panose="020B0604020202020204" pitchFamily="34" charset="0"/>
              </a:rPr>
              <a:t> 00:0a:95:9d:68:16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50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176565" y="993174"/>
            <a:ext cx="6554173" cy="136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connected to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such as the internet, a different addressing method is required.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addressing is used to route frames on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wide area network (WAN)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with a WAN, we refer to frames as packets.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B28DECF-A898-4FFB-9C48-DBE7172478A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7" y="1173925"/>
            <a:ext cx="11861783" cy="520408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789930-5C93-47C6-89E2-39F2A0AFDDDE}"/>
              </a:ext>
            </a:extLst>
          </p:cNvPr>
          <p:cNvSpPr/>
          <p:nvPr/>
        </p:nvSpPr>
        <p:spPr>
          <a:xfrm>
            <a:off x="3315691" y="2933000"/>
            <a:ext cx="8618643" cy="3638747"/>
          </a:xfrm>
          <a:prstGeom prst="round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 descr="A circuit board&#10;&#10;Description automatically generated">
            <a:extLst>
              <a:ext uri="{FF2B5EF4-FFF2-40B4-BE49-F238E27FC236}">
                <a16:creationId xmlns:a16="http://schemas.microsoft.com/office/drawing/2014/main" id="{C1B1E053-90AD-4496-9FCD-C754945DD36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93"/>
          <a:stretch/>
        </p:blipFill>
        <p:spPr>
          <a:xfrm>
            <a:off x="942680" y="2885547"/>
            <a:ext cx="1425853" cy="13759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3036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3399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 is made up of 48 bits.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4287F-1825-B2E3-CE72-AD47361E99E4}"/>
              </a:ext>
            </a:extLst>
          </p:cNvPr>
          <p:cNvSpPr txBox="1"/>
          <p:nvPr/>
        </p:nvSpPr>
        <p:spPr>
          <a:xfrm>
            <a:off x="0" y="3182582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0010 1010  -  1011 0011  -  0001 1001  -  1111 0110  -  1000 0010  -  1100 1101</a:t>
            </a: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339954" cy="74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 is made up of 48 bits.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make them easier to read, we typically represent this as six groups of hexadecimal digits.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FAA8F-8387-ADE5-4832-2F488D1F1443}"/>
              </a:ext>
            </a:extLst>
          </p:cNvPr>
          <p:cNvSpPr/>
          <p:nvPr/>
        </p:nvSpPr>
        <p:spPr>
          <a:xfrm>
            <a:off x="0" y="27778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2A – B3 – 19 – F6 – 82 – CD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8775F-C20C-2225-2ED1-66B02285648B}"/>
              </a:ext>
            </a:extLst>
          </p:cNvPr>
          <p:cNvSpPr txBox="1"/>
          <p:nvPr/>
        </p:nvSpPr>
        <p:spPr>
          <a:xfrm>
            <a:off x="0" y="3182582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0010 1010  -  1011 0011  -  0001 1001  -  1111 0110  -  1000 0010  -  1100 1101</a:t>
            </a:r>
          </a:p>
        </p:txBody>
      </p:sp>
    </p:spTree>
    <p:extLst>
      <p:ext uri="{BB962C8B-B14F-4D97-AF65-F5344CB8AC3E}">
        <p14:creationId xmlns:p14="http://schemas.microsoft.com/office/powerpoint/2010/main" val="345865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339954" cy="74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 is made up of 48 bits.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make them easier to read, we typically represent this as six groups of hexadecimal digits.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FAA8F-8387-ADE5-4832-2F488D1F1443}"/>
              </a:ext>
            </a:extLst>
          </p:cNvPr>
          <p:cNvSpPr/>
          <p:nvPr/>
        </p:nvSpPr>
        <p:spPr>
          <a:xfrm>
            <a:off x="0" y="27778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2A – B3 – 19 – F6 – 82 – CD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EA5C83-05CF-1CE5-625B-F6E30FA4A22D}"/>
              </a:ext>
            </a:extLst>
          </p:cNvPr>
          <p:cNvGrpSpPr/>
          <p:nvPr/>
        </p:nvGrpSpPr>
        <p:grpSpPr>
          <a:xfrm>
            <a:off x="476617" y="3902368"/>
            <a:ext cx="5121753" cy="1799366"/>
            <a:chOff x="476617" y="3902368"/>
            <a:chExt cx="5121753" cy="1799366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698939F5-10F5-4A86-52F5-2836BE071FA2}"/>
                </a:ext>
              </a:extLst>
            </p:cNvPr>
            <p:cNvSpPr/>
            <p:nvPr/>
          </p:nvSpPr>
          <p:spPr>
            <a:xfrm rot="16200000">
              <a:off x="2776237" y="1602748"/>
              <a:ext cx="522514" cy="5121753"/>
            </a:xfrm>
            <a:prstGeom prst="leftBrace">
              <a:avLst>
                <a:gd name="adj1" fmla="val 51190"/>
                <a:gd name="adj2" fmla="val 50000"/>
              </a:avLst>
            </a:prstGeom>
            <a:ln w="762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6469D9-8097-7011-4B2D-2FF0C5AD3784}"/>
                </a:ext>
              </a:extLst>
            </p:cNvPr>
            <p:cNvSpPr/>
            <p:nvPr/>
          </p:nvSpPr>
          <p:spPr>
            <a:xfrm>
              <a:off x="1474236" y="4543275"/>
              <a:ext cx="3135086" cy="11584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first six hex digits </a:t>
              </a:r>
              <a:br>
                <a:rPr lang="en-GB" dirty="0"/>
              </a:br>
              <a:r>
                <a:rPr lang="en-GB" dirty="0"/>
                <a:t>(3 bytes) represent a </a:t>
              </a:r>
              <a:br>
                <a:rPr lang="en-GB" dirty="0"/>
              </a:br>
              <a:r>
                <a:rPr lang="en-GB" dirty="0"/>
                <a:t>unique manufacturer code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24A1E-00AA-7626-5ADD-7DEDDC6E8DFA}"/>
              </a:ext>
            </a:extLst>
          </p:cNvPr>
          <p:cNvGrpSpPr/>
          <p:nvPr/>
        </p:nvGrpSpPr>
        <p:grpSpPr>
          <a:xfrm>
            <a:off x="6593632" y="3902369"/>
            <a:ext cx="5121753" cy="1799364"/>
            <a:chOff x="6593632" y="3902369"/>
            <a:chExt cx="5121753" cy="1799364"/>
          </a:xfrm>
        </p:grpSpPr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DA19E5D9-9E74-18CD-2013-58D730361419}"/>
                </a:ext>
              </a:extLst>
            </p:cNvPr>
            <p:cNvSpPr/>
            <p:nvPr/>
          </p:nvSpPr>
          <p:spPr>
            <a:xfrm rot="16200000">
              <a:off x="8893252" y="1602749"/>
              <a:ext cx="522514" cy="5121753"/>
            </a:xfrm>
            <a:prstGeom prst="leftBrace">
              <a:avLst>
                <a:gd name="adj1" fmla="val 51190"/>
                <a:gd name="adj2" fmla="val 50000"/>
              </a:avLst>
            </a:prstGeom>
            <a:ln w="762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4B9C70-68C9-FD2D-1A0B-61E615463FD3}"/>
                </a:ext>
              </a:extLst>
            </p:cNvPr>
            <p:cNvSpPr/>
            <p:nvPr/>
          </p:nvSpPr>
          <p:spPr>
            <a:xfrm>
              <a:off x="7585794" y="4543274"/>
              <a:ext cx="3135086" cy="11584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second six hex digits </a:t>
              </a:r>
              <a:br>
                <a:rPr lang="en-GB" dirty="0"/>
              </a:br>
              <a:r>
                <a:rPr lang="en-GB" dirty="0"/>
                <a:t>(3 bytes) represent the unique serial code for the device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453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339954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While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assigned to a device can change,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assigned to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Static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by the manufacturer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replaced,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also change.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FFAA8F-8387-ADE5-4832-2F488D1F1443}"/>
              </a:ext>
            </a:extLst>
          </p:cNvPr>
          <p:cNvSpPr/>
          <p:nvPr/>
        </p:nvSpPr>
        <p:spPr>
          <a:xfrm>
            <a:off x="0" y="27778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2A – B3 – 19 – F6 – 82 – CD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EA5C83-05CF-1CE5-625B-F6E30FA4A22D}"/>
              </a:ext>
            </a:extLst>
          </p:cNvPr>
          <p:cNvGrpSpPr/>
          <p:nvPr/>
        </p:nvGrpSpPr>
        <p:grpSpPr>
          <a:xfrm>
            <a:off x="476617" y="3902368"/>
            <a:ext cx="5121753" cy="1799366"/>
            <a:chOff x="476617" y="3902368"/>
            <a:chExt cx="5121753" cy="1799366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698939F5-10F5-4A86-52F5-2836BE071FA2}"/>
                </a:ext>
              </a:extLst>
            </p:cNvPr>
            <p:cNvSpPr/>
            <p:nvPr/>
          </p:nvSpPr>
          <p:spPr>
            <a:xfrm rot="16200000">
              <a:off x="2776237" y="1602748"/>
              <a:ext cx="522514" cy="5121753"/>
            </a:xfrm>
            <a:prstGeom prst="leftBrace">
              <a:avLst>
                <a:gd name="adj1" fmla="val 51190"/>
                <a:gd name="adj2" fmla="val 50000"/>
              </a:avLst>
            </a:prstGeom>
            <a:ln w="762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6469D9-8097-7011-4B2D-2FF0C5AD3784}"/>
                </a:ext>
              </a:extLst>
            </p:cNvPr>
            <p:cNvSpPr/>
            <p:nvPr/>
          </p:nvSpPr>
          <p:spPr>
            <a:xfrm>
              <a:off x="1474236" y="4543275"/>
              <a:ext cx="3135086" cy="11584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first six hex digits </a:t>
              </a:r>
              <a:br>
                <a:rPr lang="en-GB" dirty="0"/>
              </a:br>
              <a:r>
                <a:rPr lang="en-GB" dirty="0"/>
                <a:t>(3 bytes) represent a </a:t>
              </a:r>
              <a:br>
                <a:rPr lang="en-GB" dirty="0"/>
              </a:br>
              <a:r>
                <a:rPr lang="en-GB" dirty="0"/>
                <a:t>unique manufacturer code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24A1E-00AA-7626-5ADD-7DEDDC6E8DFA}"/>
              </a:ext>
            </a:extLst>
          </p:cNvPr>
          <p:cNvGrpSpPr/>
          <p:nvPr/>
        </p:nvGrpSpPr>
        <p:grpSpPr>
          <a:xfrm>
            <a:off x="6593632" y="3902369"/>
            <a:ext cx="5121753" cy="1799364"/>
            <a:chOff x="6593632" y="3902369"/>
            <a:chExt cx="5121753" cy="1799364"/>
          </a:xfrm>
        </p:grpSpPr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DA19E5D9-9E74-18CD-2013-58D730361419}"/>
                </a:ext>
              </a:extLst>
            </p:cNvPr>
            <p:cNvSpPr/>
            <p:nvPr/>
          </p:nvSpPr>
          <p:spPr>
            <a:xfrm rot="16200000">
              <a:off x="8893252" y="1602749"/>
              <a:ext cx="522514" cy="5121753"/>
            </a:xfrm>
            <a:prstGeom prst="leftBrace">
              <a:avLst>
                <a:gd name="adj1" fmla="val 51190"/>
                <a:gd name="adj2" fmla="val 50000"/>
              </a:avLst>
            </a:prstGeom>
            <a:ln w="762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4B9C70-68C9-FD2D-1A0B-61E615463FD3}"/>
                </a:ext>
              </a:extLst>
            </p:cNvPr>
            <p:cNvSpPr/>
            <p:nvPr/>
          </p:nvSpPr>
          <p:spPr>
            <a:xfrm>
              <a:off x="7585794" y="4543274"/>
              <a:ext cx="3135086" cy="11584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The second six hex digits </a:t>
              </a:r>
              <a:br>
                <a:rPr lang="en-GB" dirty="0"/>
              </a:br>
              <a:r>
                <a:rPr lang="en-GB" dirty="0"/>
                <a:t>(3 bytes) represent the unique serial code for the device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703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6136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addressing is used to route frames on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local area network (LAN)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unique to every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static and assigned by the manufacturer.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48 bits in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represented as six groups of hexadecimal digits (e.g., 00:0a:95:9d:68:16).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six hex digits (3 bytes) represent a unique manufacturer code.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second six hex digits (3 bytes) represent the unique serial code for the device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 Access Control (MAC) address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1D9C0594-F96C-407B-B926-6749A92A9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478</Words>
  <Application>Microsoft Office PowerPoint</Application>
  <PresentationFormat>Widescreen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119</cp:revision>
  <dcterms:created xsi:type="dcterms:W3CDTF">2019-10-14T15:21:06Z</dcterms:created>
  <dcterms:modified xsi:type="dcterms:W3CDTF">2022-07-21T09:43:50Z</dcterms:modified>
</cp:coreProperties>
</file>