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288" r:id="rId3"/>
    <p:sldId id="289" r:id="rId4"/>
    <p:sldId id="290" r:id="rId5"/>
    <p:sldId id="291" r:id="rId6"/>
    <p:sldId id="260" r:id="rId7"/>
    <p:sldId id="29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4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52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22/07/2022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22/07/2022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995F3-FA22-4E84-AC88-4E8E784E3EA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943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995F3-FA22-4E84-AC88-4E8E784E3EA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3220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22/07/2022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22/07/2022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22/07/2022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22/07/2022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22/07/2022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22/07/2022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22/07/2022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4.1 Types of software and interrupts | Operating systems – Part 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92998" y="0"/>
              <a:ext cx="319900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22/07/2022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22/07/2022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22/07/2022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22/07/2022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22/07/2022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4.1 Types of software and interrupts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Operating systems – Part 2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2CF4E01-27EE-4BF8-B115-A2708B7E713B}"/>
              </a:ext>
            </a:extLst>
          </p:cNvPr>
          <p:cNvGrpSpPr/>
          <p:nvPr/>
        </p:nvGrpSpPr>
        <p:grpSpPr>
          <a:xfrm>
            <a:off x="0" y="421820"/>
            <a:ext cx="4810796" cy="6436180"/>
            <a:chOff x="7381204" y="421820"/>
            <a:chExt cx="4810796" cy="643618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C6D3375-C533-44A6-A8F2-06DFF43CCBD2}"/>
                </a:ext>
              </a:extLst>
            </p:cNvPr>
            <p:cNvSpPr/>
            <p:nvPr/>
          </p:nvSpPr>
          <p:spPr>
            <a:xfrm>
              <a:off x="7381204" y="421820"/>
              <a:ext cx="4810796" cy="6436180"/>
            </a:xfrm>
            <a:prstGeom prst="rect">
              <a:avLst/>
            </a:prstGeom>
            <a:solidFill>
              <a:srgbClr val="414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3" name="Picture 2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DC566D35-7418-4CAF-BA96-90B03C91AA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08" b="3000"/>
            <a:stretch/>
          </p:blipFill>
          <p:spPr>
            <a:xfrm>
              <a:off x="7381204" y="3960067"/>
              <a:ext cx="4810796" cy="2575250"/>
            </a:xfrm>
            <a:prstGeom prst="rect">
              <a:avLst/>
            </a:prstGeom>
          </p:spPr>
        </p:pic>
        <p:pic>
          <p:nvPicPr>
            <p:cNvPr id="6" name="Picture 5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A5A3AAFD-B454-4C34-B3FD-C473D31B29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69" b="2911"/>
            <a:stretch/>
          </p:blipFill>
          <p:spPr>
            <a:xfrm>
              <a:off x="7419309" y="1155441"/>
              <a:ext cx="4772691" cy="2575250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AA617A1-5EA3-48B3-964A-FDE26FC12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248" y="2434534"/>
            <a:ext cx="2691552" cy="2548638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C6748BB-056F-4492-8A44-7BB792E42052}"/>
              </a:ext>
            </a:extLst>
          </p:cNvPr>
          <p:cNvGrpSpPr/>
          <p:nvPr/>
        </p:nvGrpSpPr>
        <p:grpSpPr>
          <a:xfrm>
            <a:off x="7641282" y="1096375"/>
            <a:ext cx="848434" cy="5501718"/>
            <a:chOff x="7907982" y="1096375"/>
            <a:chExt cx="848434" cy="5501718"/>
          </a:xfrm>
        </p:grpSpPr>
        <p:pic>
          <p:nvPicPr>
            <p:cNvPr id="14" name="Picture 13" descr="A picture containing mirror, drawing&#10;&#10;Description automatically generated">
              <a:extLst>
                <a:ext uri="{FF2B5EF4-FFF2-40B4-BE49-F238E27FC236}">
                  <a16:creationId xmlns:a16="http://schemas.microsoft.com/office/drawing/2014/main" id="{66C84BC3-6CAD-4F61-96A2-1FAF063A41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07982" y="1096375"/>
              <a:ext cx="848434" cy="2061972"/>
            </a:xfrm>
            <a:prstGeom prst="rect">
              <a:avLst/>
            </a:prstGeom>
          </p:spPr>
        </p:pic>
        <p:pic>
          <p:nvPicPr>
            <p:cNvPr id="16" name="Picture 15" descr="A picture containing mirror, drawing&#10;&#10;Description automatically generated">
              <a:extLst>
                <a:ext uri="{FF2B5EF4-FFF2-40B4-BE49-F238E27FC236}">
                  <a16:creationId xmlns:a16="http://schemas.microsoft.com/office/drawing/2014/main" id="{B4472FBE-F211-4BE0-81DB-05F447C61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07982" y="4166789"/>
              <a:ext cx="848434" cy="2061972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EE55083-A693-47E8-9574-467CBE12FA01}"/>
                </a:ext>
              </a:extLst>
            </p:cNvPr>
            <p:cNvSpPr txBox="1"/>
            <p:nvPr/>
          </p:nvSpPr>
          <p:spPr>
            <a:xfrm>
              <a:off x="8025813" y="3158347"/>
              <a:ext cx="6560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Craig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5035906-E40C-43CA-B518-936F7BDC22B5}"/>
                </a:ext>
              </a:extLst>
            </p:cNvPr>
            <p:cNvSpPr txBox="1"/>
            <p:nvPr/>
          </p:nvSpPr>
          <p:spPr>
            <a:xfrm>
              <a:off x="8022854" y="6228761"/>
              <a:ext cx="6514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Dave</a:t>
              </a:r>
            </a:p>
          </p:txBody>
        </p:sp>
      </p:grpSp>
      <p:sp>
        <p:nvSpPr>
          <p:cNvPr id="19" name="Arc 18">
            <a:extLst>
              <a:ext uri="{FF2B5EF4-FFF2-40B4-BE49-F238E27FC236}">
                <a16:creationId xmlns:a16="http://schemas.microsoft.com/office/drawing/2014/main" id="{B86BD331-1E00-4CFA-93E1-24390F7A0782}"/>
              </a:ext>
            </a:extLst>
          </p:cNvPr>
          <p:cNvSpPr/>
          <p:nvPr/>
        </p:nvSpPr>
        <p:spPr>
          <a:xfrm rot="16200000">
            <a:off x="6918889" y="852870"/>
            <a:ext cx="1639923" cy="3077005"/>
          </a:xfrm>
          <a:prstGeom prst="arc">
            <a:avLst/>
          </a:prstGeom>
          <a:ln w="38100">
            <a:solidFill>
              <a:schemeClr val="accent2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976723AA-B8C1-4A4D-A65C-6EFD8F9648AE}"/>
              </a:ext>
            </a:extLst>
          </p:cNvPr>
          <p:cNvSpPr/>
          <p:nvPr/>
        </p:nvSpPr>
        <p:spPr>
          <a:xfrm rot="5400000" flipV="1">
            <a:off x="6975706" y="3430349"/>
            <a:ext cx="1639923" cy="3191971"/>
          </a:xfrm>
          <a:prstGeom prst="arc">
            <a:avLst/>
          </a:prstGeom>
          <a:ln w="38100">
            <a:solidFill>
              <a:schemeClr val="accent2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20F998-C0D5-4091-BFE2-F4C66DE72BD3}"/>
              </a:ext>
            </a:extLst>
          </p:cNvPr>
          <p:cNvSpPr/>
          <p:nvPr/>
        </p:nvSpPr>
        <p:spPr>
          <a:xfrm>
            <a:off x="176565" y="523174"/>
            <a:ext cx="3823935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 management/security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FA4491-3FCC-45FC-B77C-0AA6A785B4CF}"/>
              </a:ext>
            </a:extLst>
          </p:cNvPr>
          <p:cNvSpPr/>
          <p:nvPr/>
        </p:nvSpPr>
        <p:spPr>
          <a:xfrm>
            <a:off x="8653029" y="523174"/>
            <a:ext cx="3397260" cy="6185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b="1" dirty="0">
                <a:solidFill>
                  <a:schemeClr val="tx1"/>
                </a:solidFill>
              </a:rPr>
              <a:t>User management: </a:t>
            </a:r>
            <a:r>
              <a:rPr lang="en-GB" dirty="0">
                <a:solidFill>
                  <a:schemeClr val="tx1"/>
                </a:solidFill>
              </a:rPr>
              <a:t>Allows multiple users to log into the same computer.</a:t>
            </a:r>
          </a:p>
          <a:p>
            <a:pPr>
              <a:spcAft>
                <a:spcPts val="800"/>
              </a:spcAft>
            </a:pPr>
            <a:r>
              <a:rPr lang="en-GB" dirty="0">
                <a:solidFill>
                  <a:schemeClr val="tx1"/>
                </a:solidFill>
              </a:rPr>
              <a:t>The operating system will retain settings for each user such as icons, desktop backgrounds, etc.</a:t>
            </a:r>
          </a:p>
          <a:p>
            <a:pPr>
              <a:spcAft>
                <a:spcPts val="800"/>
              </a:spcAft>
            </a:pPr>
            <a:r>
              <a:rPr lang="en-GB" dirty="0">
                <a:solidFill>
                  <a:schemeClr val="tx1"/>
                </a:solidFill>
              </a:rPr>
              <a:t>Each user may have different access rights to files and programs.</a:t>
            </a:r>
          </a:p>
          <a:p>
            <a:pPr>
              <a:spcAft>
                <a:spcPts val="800"/>
              </a:spcAft>
            </a:pPr>
            <a:r>
              <a:rPr lang="en-GB" dirty="0">
                <a:solidFill>
                  <a:schemeClr val="tx1"/>
                </a:solidFill>
              </a:rPr>
              <a:t>A client-server network may impose a fixed or roaming profile for a user and manage login requests to the network.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308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84C01069-891E-454D-82A2-1A5C7582B8DD}"/>
              </a:ext>
            </a:extLst>
          </p:cNvPr>
          <p:cNvGrpSpPr/>
          <p:nvPr/>
        </p:nvGrpSpPr>
        <p:grpSpPr>
          <a:xfrm>
            <a:off x="207124" y="850155"/>
            <a:ext cx="7584081" cy="5754039"/>
            <a:chOff x="4338033" y="697755"/>
            <a:chExt cx="7584081" cy="575403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801A83B-8A0D-48A9-BCDD-B86B27A2BE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38033" y="697755"/>
              <a:ext cx="7584081" cy="5462489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1014A24-A2EB-48BB-8EF5-DF109A2D470B}"/>
                </a:ext>
              </a:extLst>
            </p:cNvPr>
            <p:cNvSpPr txBox="1"/>
            <p:nvPr/>
          </p:nvSpPr>
          <p:spPr>
            <a:xfrm>
              <a:off x="5155294" y="3059667"/>
              <a:ext cx="9021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Film.avi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56A68EC-2111-4E2D-940E-946C02B0CDA7}"/>
                </a:ext>
              </a:extLst>
            </p:cNvPr>
            <p:cNvSpPr txBox="1"/>
            <p:nvPr/>
          </p:nvSpPr>
          <p:spPr>
            <a:xfrm>
              <a:off x="7450204" y="3020474"/>
              <a:ext cx="16551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Spreadsheet.xls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11FEF10-8329-44A6-A70E-506031FA9957}"/>
                </a:ext>
              </a:extLst>
            </p:cNvPr>
            <p:cNvSpPr txBox="1"/>
            <p:nvPr/>
          </p:nvSpPr>
          <p:spPr>
            <a:xfrm>
              <a:off x="10347452" y="3001209"/>
              <a:ext cx="11702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Essay.docx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A11E599-8C7E-426C-A3BC-F9ADA32C1736}"/>
                </a:ext>
              </a:extLst>
            </p:cNvPr>
            <p:cNvSpPr txBox="1"/>
            <p:nvPr/>
          </p:nvSpPr>
          <p:spPr>
            <a:xfrm>
              <a:off x="5116758" y="6043326"/>
              <a:ext cx="9792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Cat.bmp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43B3154-ABE8-46D4-A363-6054578A6037}"/>
                </a:ext>
              </a:extLst>
            </p:cNvPr>
            <p:cNvSpPr txBox="1"/>
            <p:nvPr/>
          </p:nvSpPr>
          <p:spPr>
            <a:xfrm>
              <a:off x="7419736" y="6082462"/>
              <a:ext cx="16821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My holiday.pptx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2AF6070-096A-4DEE-81EA-A17670DE8113}"/>
                </a:ext>
              </a:extLst>
            </p:cNvPr>
            <p:cNvSpPr txBox="1"/>
            <p:nvPr/>
          </p:nvSpPr>
          <p:spPr>
            <a:xfrm>
              <a:off x="10296349" y="6043326"/>
              <a:ext cx="1272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Poster.pubx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B83E103-D905-44FC-9811-1A1CC22FE49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 management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B70F191-0704-4B79-AD83-3A497E262EE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09831" y="4057790"/>
            <a:ext cx="1816765" cy="2127688"/>
          </a:xfrm>
          <a:prstGeom prst="rect">
            <a:avLst/>
          </a:prstGeom>
          <a:effectLst/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2AFCC8D-5FB7-E18B-8EAB-47ED338E016A}"/>
              </a:ext>
            </a:extLst>
          </p:cNvPr>
          <p:cNvSpPr/>
          <p:nvPr/>
        </p:nvSpPr>
        <p:spPr>
          <a:xfrm>
            <a:off x="8653029" y="523174"/>
            <a:ext cx="3397260" cy="6185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dirty="0">
                <a:solidFill>
                  <a:schemeClr val="tx1"/>
                </a:solidFill>
              </a:rPr>
              <a:t>Data is stored in files.</a:t>
            </a:r>
          </a:p>
          <a:p>
            <a:pPr>
              <a:spcAft>
                <a:spcPts val="800"/>
              </a:spcAft>
            </a:pPr>
            <a:r>
              <a:rPr lang="en-GB" dirty="0">
                <a:solidFill>
                  <a:schemeClr val="tx1"/>
                </a:solidFill>
              </a:rPr>
              <a:t>An extension to the filename tells the operating system which application to load the file into.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dirty="0">
              <a:solidFill>
                <a:schemeClr val="tx1"/>
              </a:solidFill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899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0190F831-F0C7-4190-A215-742A345A4161}"/>
              </a:ext>
            </a:extLst>
          </p:cNvPr>
          <p:cNvGrpSpPr/>
          <p:nvPr/>
        </p:nvGrpSpPr>
        <p:grpSpPr>
          <a:xfrm>
            <a:off x="207124" y="850155"/>
            <a:ext cx="7584081" cy="5754039"/>
            <a:chOff x="4338033" y="697755"/>
            <a:chExt cx="7584081" cy="575403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2956353-DC3E-4DBC-8CAA-9343B3893A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38033" y="697755"/>
              <a:ext cx="7584081" cy="546248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A1EB35-2914-4502-BA10-52D689F89BE4}"/>
                </a:ext>
              </a:extLst>
            </p:cNvPr>
            <p:cNvSpPr txBox="1"/>
            <p:nvPr/>
          </p:nvSpPr>
          <p:spPr>
            <a:xfrm>
              <a:off x="5155294" y="3059667"/>
              <a:ext cx="9021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Film.avi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5DEE223-0E41-4F77-B602-FD31B2E5DA00}"/>
                </a:ext>
              </a:extLst>
            </p:cNvPr>
            <p:cNvSpPr txBox="1"/>
            <p:nvPr/>
          </p:nvSpPr>
          <p:spPr>
            <a:xfrm>
              <a:off x="7450204" y="3020474"/>
              <a:ext cx="16551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Spreadsheet.xls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485BA56-2869-46F4-8BCB-0F1BBECF6003}"/>
                </a:ext>
              </a:extLst>
            </p:cNvPr>
            <p:cNvSpPr txBox="1"/>
            <p:nvPr/>
          </p:nvSpPr>
          <p:spPr>
            <a:xfrm>
              <a:off x="10347452" y="3001209"/>
              <a:ext cx="11702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Essay.docx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80F91AC-6309-48C4-847F-CC35F8E59178}"/>
                </a:ext>
              </a:extLst>
            </p:cNvPr>
            <p:cNvSpPr txBox="1"/>
            <p:nvPr/>
          </p:nvSpPr>
          <p:spPr>
            <a:xfrm>
              <a:off x="5116758" y="6043326"/>
              <a:ext cx="9792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Cat.bmp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24ACD0E-A1AB-4076-B803-F01808D3B356}"/>
                </a:ext>
              </a:extLst>
            </p:cNvPr>
            <p:cNvSpPr txBox="1"/>
            <p:nvPr/>
          </p:nvSpPr>
          <p:spPr>
            <a:xfrm>
              <a:off x="7419736" y="6082462"/>
              <a:ext cx="16821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My holiday.pptx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B742204-C4E5-4B80-B916-ABAFC973C589}"/>
                </a:ext>
              </a:extLst>
            </p:cNvPr>
            <p:cNvSpPr txBox="1"/>
            <p:nvPr/>
          </p:nvSpPr>
          <p:spPr>
            <a:xfrm>
              <a:off x="10296349" y="6043326"/>
              <a:ext cx="1272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Poster.pubx</a:t>
              </a: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7EA7CB9D-63DA-42B2-8665-0489C4E507F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09831" y="4057790"/>
            <a:ext cx="1816765" cy="2127688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96330D4-3784-47F2-829F-59F1D7889F59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 management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ADD86F-C746-8EE6-BD14-2CD07A26826F}"/>
              </a:ext>
            </a:extLst>
          </p:cNvPr>
          <p:cNvSpPr/>
          <p:nvPr/>
        </p:nvSpPr>
        <p:spPr>
          <a:xfrm>
            <a:off x="8653029" y="523174"/>
            <a:ext cx="3397260" cy="6185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dirty="0">
                <a:solidFill>
                  <a:schemeClr val="tx1"/>
                </a:solidFill>
              </a:rPr>
              <a:t>Data is stored in files.</a:t>
            </a:r>
          </a:p>
          <a:p>
            <a:pPr>
              <a:spcAft>
                <a:spcPts val="800"/>
              </a:spcAft>
            </a:pPr>
            <a:r>
              <a:rPr lang="en-GB" dirty="0">
                <a:solidFill>
                  <a:schemeClr val="tx1"/>
                </a:solidFill>
              </a:rPr>
              <a:t>An extension to the filename tells the operating system which application to load the file into.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dirty="0">
              <a:solidFill>
                <a:schemeClr val="tx1"/>
              </a:solidFill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479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62BB59-33F9-47BB-9ADC-96621A793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69" y="1074979"/>
            <a:ext cx="7100358" cy="5536829"/>
          </a:xfrm>
          <a:prstGeom prst="rect">
            <a:avLst/>
          </a:prstGeom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311FD99-7DA3-B86A-05AE-A8C844997C8C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 management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701105-EAD8-C901-865C-DD1953AC2C1F}"/>
              </a:ext>
            </a:extLst>
          </p:cNvPr>
          <p:cNvSpPr/>
          <p:nvPr/>
        </p:nvSpPr>
        <p:spPr>
          <a:xfrm>
            <a:off x="8653029" y="523174"/>
            <a:ext cx="3397260" cy="6185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The </a:t>
            </a:r>
            <a:r>
              <a:rPr lang="en-GB" b="1" dirty="0">
                <a:solidFill>
                  <a:schemeClr val="tx1"/>
                </a:solidFill>
              </a:rPr>
              <a:t>operating system </a:t>
            </a:r>
            <a:r>
              <a:rPr lang="en-GB" dirty="0">
                <a:solidFill>
                  <a:schemeClr val="tx1"/>
                </a:solidFill>
              </a:rPr>
              <a:t>presents a logical structure of files in folders and allows the user to rename, delete, copy and move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65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1069261" cy="43499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 management/security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Allowing different users to log into their own account with a username and password.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Each account can be granted different levels of access depending on personal needs/security policies.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operating system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can log user access, who logs on and off, when and from which device, as well as logging them off after a set length of time.</a:t>
            </a: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files/folders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Delete files/folder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Move and organise files/folders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Copy files/folders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Easily search for files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Restore deleted files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Resolve file conflicts between users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Operating systems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6CBCA1EE-38FE-4874-9CF5-E6F907BBB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</TotalTime>
  <Words>301</Words>
  <Application>Microsoft Office PowerPoint</Application>
  <PresentationFormat>Widescreen</PresentationFormat>
  <Paragraphs>44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108</cp:revision>
  <dcterms:created xsi:type="dcterms:W3CDTF">2019-10-14T15:21:06Z</dcterms:created>
  <dcterms:modified xsi:type="dcterms:W3CDTF">2022-07-22T12:27:55Z</dcterms:modified>
</cp:coreProperties>
</file>