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82" r:id="rId3"/>
    <p:sldId id="327" r:id="rId4"/>
    <p:sldId id="285" r:id="rId5"/>
    <p:sldId id="328" r:id="rId6"/>
    <p:sldId id="284" r:id="rId7"/>
    <p:sldId id="324" r:id="rId8"/>
    <p:sldId id="260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C0000"/>
    <a:srgbClr val="70AD47"/>
    <a:srgbClr val="4472C4"/>
    <a:srgbClr val="BFBFBF"/>
    <a:srgbClr val="F26521"/>
    <a:srgbClr val="FFFFFF"/>
    <a:srgbClr val="0087B1"/>
    <a:srgbClr val="000956"/>
    <a:srgbClr val="99E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058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758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42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900A0-48D6-460F-B795-733529B27C92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5861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184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4.2 Types of programming languages, translators and IDEs | Assembly language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4.2 Types of programming languages, translators and IDEs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Assembly language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6383B94-BA7D-4522-69A5-D8E33E55BBB9}"/>
              </a:ext>
            </a:extLst>
          </p:cNvPr>
          <p:cNvGrpSpPr/>
          <p:nvPr/>
        </p:nvGrpSpPr>
        <p:grpSpPr>
          <a:xfrm>
            <a:off x="3471720" y="1464907"/>
            <a:ext cx="5509508" cy="5181408"/>
            <a:chOff x="3472732" y="1464907"/>
            <a:chExt cx="5509508" cy="518140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58B0E9-2799-6ED1-E06A-74713E085D93}"/>
                </a:ext>
              </a:extLst>
            </p:cNvPr>
            <p:cNvSpPr/>
            <p:nvPr/>
          </p:nvSpPr>
          <p:spPr>
            <a:xfrm>
              <a:off x="3472732" y="5596911"/>
              <a:ext cx="5509508" cy="1049404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/>
                  </a:solidFill>
                </a:rPr>
                <a:t>Hardware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A6D67BD-AC62-BDD0-3850-93E50F62BFFA}"/>
                </a:ext>
              </a:extLst>
            </p:cNvPr>
            <p:cNvSpPr/>
            <p:nvPr/>
          </p:nvSpPr>
          <p:spPr>
            <a:xfrm>
              <a:off x="4068150" y="2481505"/>
              <a:ext cx="4236098" cy="1014253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/>
                  </a:solidFill>
                </a:rPr>
                <a:t>High-level language</a:t>
              </a:r>
            </a:p>
            <a:p>
              <a:pPr algn="ctr"/>
              <a:r>
                <a:rPr lang="en-GB" sz="2400" dirty="0">
                  <a:solidFill>
                    <a:schemeClr val="bg1"/>
                  </a:solidFill>
                </a:rPr>
                <a:t>(Fortran, C, Pascal)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EC42C3F-7549-7305-F972-769DF1DF1F8F}"/>
                </a:ext>
              </a:extLst>
            </p:cNvPr>
            <p:cNvSpPr/>
            <p:nvPr/>
          </p:nvSpPr>
          <p:spPr>
            <a:xfrm>
              <a:off x="4329407" y="1464907"/>
              <a:ext cx="3694917" cy="101542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/>
                  </a:solidFill>
                </a:rPr>
                <a:t>OO and visual languages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655162" y="4547508"/>
            <a:ext cx="5135521" cy="104940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Machine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5842" y="3498104"/>
            <a:ext cx="4679434" cy="10494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Assembly language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ED6D7-3D84-51A1-C6AC-F9C318CD87CD}"/>
              </a:ext>
            </a:extLst>
          </p:cNvPr>
          <p:cNvGrpSpPr/>
          <p:nvPr/>
        </p:nvGrpSpPr>
        <p:grpSpPr>
          <a:xfrm>
            <a:off x="3472732" y="1464907"/>
            <a:ext cx="5509508" cy="5181408"/>
            <a:chOff x="3472732" y="1464907"/>
            <a:chExt cx="5509508" cy="5181408"/>
          </a:xfrm>
        </p:grpSpPr>
        <p:sp>
          <p:nvSpPr>
            <p:cNvPr id="6" name="Rectangle 5"/>
            <p:cNvSpPr/>
            <p:nvPr/>
          </p:nvSpPr>
          <p:spPr>
            <a:xfrm>
              <a:off x="3472732" y="5596911"/>
              <a:ext cx="5509508" cy="10494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>
                      <a:lumMod val="75000"/>
                    </a:schemeClr>
                  </a:solidFill>
                </a:rPr>
                <a:t>Hardware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068150" y="2481505"/>
              <a:ext cx="4236098" cy="10142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>
                      <a:lumMod val="65000"/>
                    </a:schemeClr>
                  </a:solidFill>
                </a:rPr>
                <a:t>High-level language</a:t>
              </a:r>
            </a:p>
            <a:p>
              <a:pPr algn="ctr"/>
              <a:r>
                <a:rPr lang="en-GB" sz="2400" dirty="0">
                  <a:solidFill>
                    <a:schemeClr val="bg1">
                      <a:lumMod val="65000"/>
                    </a:schemeClr>
                  </a:solidFill>
                </a:rPr>
                <a:t>(Fortran, C, Pascal)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329407" y="1464907"/>
              <a:ext cx="3694917" cy="10154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bg1">
                      <a:lumMod val="75000"/>
                    </a:schemeClr>
                  </a:solidFill>
                </a:rPr>
                <a:t>OO and visual languages</a:t>
              </a:r>
            </a:p>
          </p:txBody>
        </p:sp>
      </p:grpSp>
      <p:cxnSp>
        <p:nvCxnSpPr>
          <p:cNvPr id="5" name="Straight Arrow Connector 4"/>
          <p:cNvCxnSpPr/>
          <p:nvPr/>
        </p:nvCxnSpPr>
        <p:spPr>
          <a:xfrm flipV="1">
            <a:off x="3210843" y="3498104"/>
            <a:ext cx="0" cy="3148211"/>
          </a:xfrm>
          <a:prstGeom prst="straightConnector1">
            <a:avLst/>
          </a:prstGeom>
          <a:ln w="28575">
            <a:noFill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6200000">
            <a:off x="1315042" y="4379467"/>
            <a:ext cx="2098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Low-level languages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1293559" y="2267672"/>
            <a:ext cx="214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High-level languages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EC4CBC-3189-6659-97EB-A16E4609934F}"/>
              </a:ext>
            </a:extLst>
          </p:cNvPr>
          <p:cNvSpPr/>
          <p:nvPr/>
        </p:nvSpPr>
        <p:spPr>
          <a:xfrm>
            <a:off x="176564" y="523174"/>
            <a:ext cx="5281843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of computer languages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012B02-F199-0087-686E-61B969F8E958}"/>
              </a:ext>
            </a:extLst>
          </p:cNvPr>
          <p:cNvCxnSpPr>
            <a:cxnSpLocks/>
          </p:cNvCxnSpPr>
          <p:nvPr/>
        </p:nvCxnSpPr>
        <p:spPr>
          <a:xfrm flipH="1">
            <a:off x="0" y="5603029"/>
            <a:ext cx="12192000" cy="0"/>
          </a:xfrm>
          <a:prstGeom prst="line">
            <a:avLst/>
          </a:prstGeom>
          <a:ln w="571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402B43-FDCE-54BB-66F8-BBE7403853E6}"/>
              </a:ext>
            </a:extLst>
          </p:cNvPr>
          <p:cNvCxnSpPr>
            <a:cxnSpLocks/>
          </p:cNvCxnSpPr>
          <p:nvPr/>
        </p:nvCxnSpPr>
        <p:spPr>
          <a:xfrm flipH="1">
            <a:off x="0" y="3495757"/>
            <a:ext cx="12192000" cy="0"/>
          </a:xfrm>
          <a:prstGeom prst="line">
            <a:avLst/>
          </a:prstGeom>
          <a:ln w="571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V="1">
            <a:off x="2846947" y="1464906"/>
            <a:ext cx="0" cy="203085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D62E98-A6FE-F428-F336-10F6E361801F}"/>
              </a:ext>
            </a:extLst>
          </p:cNvPr>
          <p:cNvCxnSpPr>
            <a:cxnSpLocks/>
          </p:cNvCxnSpPr>
          <p:nvPr/>
        </p:nvCxnSpPr>
        <p:spPr>
          <a:xfrm flipV="1">
            <a:off x="2846946" y="3495757"/>
            <a:ext cx="0" cy="209794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EC24912-D118-4A34-93B5-3D9D5A5AD1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38900"/>
            <a:ext cx="12192000" cy="54191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AD926B-63FC-4701-BC8D-C0B112CEB516}"/>
              </a:ext>
            </a:extLst>
          </p:cNvPr>
          <p:cNvSpPr/>
          <p:nvPr/>
        </p:nvSpPr>
        <p:spPr>
          <a:xfrm>
            <a:off x="623578" y="1289079"/>
            <a:ext cx="8444921" cy="138093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chemeClr val="tx1"/>
              </a:buClr>
            </a:pPr>
            <a:r>
              <a:rPr lang="en-GB" sz="2800" dirty="0">
                <a:solidFill>
                  <a:schemeClr val="tx1"/>
                </a:solidFill>
              </a:rPr>
              <a:t>The very first languages such as ENIAC (1946) were direct </a:t>
            </a:r>
            <a:r>
              <a:rPr lang="en-GB" sz="2800" b="1" dirty="0">
                <a:solidFill>
                  <a:schemeClr val="tx1"/>
                </a:solidFill>
              </a:rPr>
              <a:t>machine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b="1" dirty="0">
                <a:solidFill>
                  <a:schemeClr val="tx1"/>
                </a:solidFill>
              </a:rPr>
              <a:t>code</a:t>
            </a:r>
            <a:r>
              <a:rPr lang="en-GB" sz="2800" dirty="0">
                <a:solidFill>
                  <a:schemeClr val="tx1"/>
                </a:solidFill>
              </a:rPr>
              <a:t> languages that required programmers to enter binary combinations of 1s and 0s.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00984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assembly language?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99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4E27D90F-A54E-45EA-BD2D-1231087D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4127560"/>
            <a:ext cx="6322503" cy="2384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+mn-lt"/>
              </a:rPr>
              <a:t>Machine-code language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Least abstract.  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Closest to what actually happens on a computer.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Programming directly in 1s and 0s.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These translate directly into matching electrical signals – e.g., 1 for high voltage and 0 for low voltage.</a:t>
            </a:r>
          </a:p>
          <a:p>
            <a:pPr marL="400050" lvl="1" indent="0" algn="l" eaLnBrk="1" hangingPunct="1">
              <a:spcBef>
                <a:spcPct val="20000"/>
              </a:spcBef>
            </a:pPr>
            <a:endParaRPr lang="en-GB" sz="1800" dirty="0"/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/>
          </a:p>
        </p:txBody>
      </p:sp>
      <p:sp>
        <p:nvSpPr>
          <p:cNvPr id="22" name="Rectangle 21"/>
          <p:cNvSpPr/>
          <p:nvPr/>
        </p:nvSpPr>
        <p:spPr>
          <a:xfrm>
            <a:off x="9147472" y="6330436"/>
            <a:ext cx="2876550" cy="3905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2720" y="5939911"/>
            <a:ext cx="2681289" cy="3905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Machine language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47496" y="5549386"/>
            <a:ext cx="2443163" cy="390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Assembly 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2270" y="4768336"/>
            <a:ext cx="2233613" cy="78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High-level language</a:t>
            </a:r>
          </a:p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(Fortran, C, Pascal)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087" y="4177785"/>
            <a:ext cx="2033588" cy="595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OO and visual languages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9010738" y="5549386"/>
            <a:ext cx="0" cy="117157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9010738" y="4182834"/>
            <a:ext cx="0" cy="136655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16200000">
            <a:off x="8590448" y="595050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LLL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8576770" y="4598184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HLL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2922258" y="2274516"/>
            <a:ext cx="6234294" cy="1601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2922258" y="1505623"/>
            <a:ext cx="6084799" cy="768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4400" b="1" dirty="0"/>
              <a:t>1001101000111100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9ADBC1-1396-6EBE-4100-DB4C979E5DCF}"/>
              </a:ext>
            </a:extLst>
          </p:cNvPr>
          <p:cNvGrpSpPr/>
          <p:nvPr/>
        </p:nvGrpSpPr>
        <p:grpSpPr>
          <a:xfrm>
            <a:off x="3580446" y="2432767"/>
            <a:ext cx="4908392" cy="616004"/>
            <a:chOff x="3580446" y="2432767"/>
            <a:chExt cx="4908392" cy="616004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3580446" y="2444095"/>
              <a:ext cx="314325" cy="8325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3889587" y="3002949"/>
              <a:ext cx="669325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4537287" y="2460748"/>
              <a:ext cx="602455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5109559" y="3017235"/>
              <a:ext cx="323074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5438177" y="2485759"/>
              <a:ext cx="323074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5731387" y="3021997"/>
              <a:ext cx="958549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6682308" y="2468078"/>
              <a:ext cx="1155395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7819513" y="2993420"/>
              <a:ext cx="669325" cy="2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868575" y="2439934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537480" y="2432767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5129989" y="2435171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5456448" y="2461944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5746535" y="2457181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6670883" y="2439934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7829039" y="2439934"/>
              <a:ext cx="0" cy="586827"/>
            </a:xfrm>
            <a:prstGeom prst="line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4C829FA-EADA-DF59-3C55-15FDF87905BD}"/>
              </a:ext>
            </a:extLst>
          </p:cNvPr>
          <p:cNvSpPr/>
          <p:nvPr/>
        </p:nvSpPr>
        <p:spPr>
          <a:xfrm>
            <a:off x="176565" y="523174"/>
            <a:ext cx="671875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Machine-code language and assembly language</a:t>
            </a:r>
          </a:p>
        </p:txBody>
      </p:sp>
      <p:pic>
        <p:nvPicPr>
          <p:cNvPr id="3" name="Picture 2" descr="Graphical user interface, icon&#10;&#10;Description automatically generated">
            <a:extLst>
              <a:ext uri="{FF2B5EF4-FFF2-40B4-BE49-F238E27FC236}">
                <a16:creationId xmlns:a16="http://schemas.microsoft.com/office/drawing/2014/main" id="{18641C60-82B9-0F2E-E21B-F774FBA84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3" y="1234659"/>
            <a:ext cx="2662804" cy="2662804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1C780A02-256B-B289-0EC5-370DE5411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552" y="931616"/>
            <a:ext cx="2665410" cy="266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4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AD926B-63FC-4701-BC8D-C0B112CEB516}"/>
              </a:ext>
            </a:extLst>
          </p:cNvPr>
          <p:cNvSpPr/>
          <p:nvPr/>
        </p:nvSpPr>
        <p:spPr>
          <a:xfrm>
            <a:off x="8172454" y="592158"/>
            <a:ext cx="3842982" cy="324389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These languages were incredibly difficult to program with, leading to the creation of </a:t>
            </a:r>
            <a:r>
              <a:rPr lang="en-GB" b="1" dirty="0">
                <a:solidFill>
                  <a:schemeClr val="tx1"/>
                </a:solidFill>
              </a:rPr>
              <a:t>assembly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/>
                </a:solidFill>
              </a:rPr>
              <a:t>languages</a:t>
            </a:r>
            <a:r>
              <a:rPr lang="en-GB" dirty="0">
                <a:solidFill>
                  <a:schemeClr val="tx1"/>
                </a:solidFill>
              </a:rPr>
              <a:t>. 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b="1" dirty="0">
                <a:solidFill>
                  <a:schemeClr val="tx1"/>
                </a:solidFill>
              </a:rPr>
              <a:t>Assembly languages</a:t>
            </a:r>
            <a:r>
              <a:rPr lang="en-GB" dirty="0">
                <a:solidFill>
                  <a:schemeClr val="tx1"/>
                </a:solidFill>
              </a:rPr>
              <a:t> substituted binary code with simple sequences of letters known as </a:t>
            </a:r>
            <a:r>
              <a:rPr lang="en-GB" b="1" dirty="0">
                <a:solidFill>
                  <a:schemeClr val="tx1"/>
                </a:solidFill>
              </a:rPr>
              <a:t>mnemonics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All </a:t>
            </a:r>
            <a:r>
              <a:rPr lang="en-GB" b="1" dirty="0">
                <a:solidFill>
                  <a:schemeClr val="tx1"/>
                </a:solidFill>
              </a:rPr>
              <a:t>assembly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/>
                </a:solidFill>
              </a:rPr>
              <a:t>languages</a:t>
            </a:r>
            <a:r>
              <a:rPr lang="en-GB" dirty="0">
                <a:solidFill>
                  <a:schemeClr val="tx1"/>
                </a:solidFill>
              </a:rPr>
              <a:t> are classified as </a:t>
            </a:r>
            <a:r>
              <a:rPr lang="en-GB" b="1" dirty="0">
                <a:solidFill>
                  <a:schemeClr val="tx1"/>
                </a:solidFill>
              </a:rPr>
              <a:t>low-level languages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00984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assembly language?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516EC1F-4506-49D0-9DE8-5AD7DDD30F08}"/>
              </a:ext>
            </a:extLst>
          </p:cNvPr>
          <p:cNvGrpSpPr/>
          <p:nvPr/>
        </p:nvGrpSpPr>
        <p:grpSpPr>
          <a:xfrm>
            <a:off x="270891" y="1133748"/>
            <a:ext cx="5825109" cy="5724252"/>
            <a:chOff x="795909" y="1477721"/>
            <a:chExt cx="4673802" cy="4592879"/>
          </a:xfrm>
        </p:grpSpPr>
        <p:grpSp>
          <p:nvGrpSpPr>
            <p:cNvPr id="6" name="Graphic 3">
              <a:extLst>
                <a:ext uri="{FF2B5EF4-FFF2-40B4-BE49-F238E27FC236}">
                  <a16:creationId xmlns:a16="http://schemas.microsoft.com/office/drawing/2014/main" id="{7E37557C-F840-4B52-9408-8296972E8C9D}"/>
                </a:ext>
              </a:extLst>
            </p:cNvPr>
            <p:cNvGrpSpPr/>
            <p:nvPr/>
          </p:nvGrpSpPr>
          <p:grpSpPr>
            <a:xfrm>
              <a:off x="838200" y="1498600"/>
              <a:ext cx="4572000" cy="4572000"/>
              <a:chOff x="838200" y="1498600"/>
              <a:chExt cx="4572000" cy="457200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AFA7946-EFD1-4287-BF2B-B501C0C97C2A}"/>
                  </a:ext>
                </a:extLst>
              </p:cNvPr>
              <p:cNvSpPr/>
              <p:nvPr/>
            </p:nvSpPr>
            <p:spPr>
              <a:xfrm>
                <a:off x="2514600" y="1498600"/>
                <a:ext cx="1828800" cy="1066800"/>
              </a:xfrm>
              <a:custGeom>
                <a:avLst/>
                <a:gdLst>
                  <a:gd name="connsiteX0" fmla="*/ 1676400 w 1828800"/>
                  <a:gd name="connsiteY0" fmla="*/ 914400 h 1066800"/>
                  <a:gd name="connsiteX1" fmla="*/ 1524000 w 1828800"/>
                  <a:gd name="connsiteY1" fmla="*/ 1066800 h 1066800"/>
                  <a:gd name="connsiteX2" fmla="*/ 1524000 w 1828800"/>
                  <a:gd name="connsiteY2" fmla="*/ 990600 h 1066800"/>
                  <a:gd name="connsiteX3" fmla="*/ 1295400 w 1828800"/>
                  <a:gd name="connsiteY3" fmla="*/ 762000 h 1066800"/>
                  <a:gd name="connsiteX4" fmla="*/ 914400 w 1828800"/>
                  <a:gd name="connsiteY4" fmla="*/ 762000 h 1066800"/>
                  <a:gd name="connsiteX5" fmla="*/ 806958 w 1828800"/>
                  <a:gd name="connsiteY5" fmla="*/ 717042 h 1066800"/>
                  <a:gd name="connsiteX6" fmla="*/ 762000 w 1828800"/>
                  <a:gd name="connsiteY6" fmla="*/ 609600 h 1066800"/>
                  <a:gd name="connsiteX7" fmla="*/ 623316 w 1828800"/>
                  <a:gd name="connsiteY7" fmla="*/ 632460 h 1066800"/>
                  <a:gd name="connsiteX8" fmla="*/ 304800 w 1828800"/>
                  <a:gd name="connsiteY8" fmla="*/ 1008888 h 1066800"/>
                  <a:gd name="connsiteX9" fmla="*/ 304800 w 1828800"/>
                  <a:gd name="connsiteY9" fmla="*/ 1066800 h 1066800"/>
                  <a:gd name="connsiteX10" fmla="*/ 152400 w 1828800"/>
                  <a:gd name="connsiteY10" fmla="*/ 914400 h 1066800"/>
                  <a:gd name="connsiteX11" fmla="*/ 89916 w 1828800"/>
                  <a:gd name="connsiteY11" fmla="*/ 914400 h 1066800"/>
                  <a:gd name="connsiteX12" fmla="*/ 45720 w 1828800"/>
                  <a:gd name="connsiteY12" fmla="*/ 921258 h 1066800"/>
                  <a:gd name="connsiteX13" fmla="*/ 25908 w 1828800"/>
                  <a:gd name="connsiteY13" fmla="*/ 851916 h 1066800"/>
                  <a:gd name="connsiteX14" fmla="*/ 0 w 1828800"/>
                  <a:gd name="connsiteY14" fmla="*/ 668274 h 1066800"/>
                  <a:gd name="connsiteX15" fmla="*/ 195834 w 1828800"/>
                  <a:gd name="connsiteY15" fmla="*/ 195834 h 1066800"/>
                  <a:gd name="connsiteX16" fmla="*/ 668274 w 1828800"/>
                  <a:gd name="connsiteY16" fmla="*/ 0 h 1066800"/>
                  <a:gd name="connsiteX17" fmla="*/ 1160526 w 1828800"/>
                  <a:gd name="connsiteY17" fmla="*/ 0 h 1066800"/>
                  <a:gd name="connsiteX18" fmla="*/ 1828800 w 1828800"/>
                  <a:gd name="connsiteY18" fmla="*/ 668274 h 1066800"/>
                  <a:gd name="connsiteX19" fmla="*/ 1802892 w 1828800"/>
                  <a:gd name="connsiteY19" fmla="*/ 851916 h 1066800"/>
                  <a:gd name="connsiteX20" fmla="*/ 1783080 w 1828800"/>
                  <a:gd name="connsiteY20" fmla="*/ 921258 h 1066800"/>
                  <a:gd name="connsiteX21" fmla="*/ 1738884 w 1828800"/>
                  <a:gd name="connsiteY21" fmla="*/ 914400 h 106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28800" h="1066800">
                    <a:moveTo>
                      <a:pt x="1676400" y="914400"/>
                    </a:moveTo>
                    <a:cubicBezTo>
                      <a:pt x="1592580" y="914400"/>
                      <a:pt x="1524000" y="982980"/>
                      <a:pt x="1524000" y="1066800"/>
                    </a:cubicBezTo>
                    <a:lnTo>
                      <a:pt x="1524000" y="990600"/>
                    </a:lnTo>
                    <a:cubicBezTo>
                      <a:pt x="1524000" y="864108"/>
                      <a:pt x="1421892" y="762000"/>
                      <a:pt x="1295400" y="762000"/>
                    </a:cubicBezTo>
                    <a:lnTo>
                      <a:pt x="914400" y="762000"/>
                    </a:lnTo>
                    <a:cubicBezTo>
                      <a:pt x="872490" y="762000"/>
                      <a:pt x="834390" y="745236"/>
                      <a:pt x="806958" y="717042"/>
                    </a:cubicBezTo>
                    <a:cubicBezTo>
                      <a:pt x="778764" y="689610"/>
                      <a:pt x="762000" y="651510"/>
                      <a:pt x="762000" y="609600"/>
                    </a:cubicBezTo>
                    <a:lnTo>
                      <a:pt x="623316" y="632460"/>
                    </a:lnTo>
                    <a:cubicBezTo>
                      <a:pt x="439674" y="663702"/>
                      <a:pt x="304800" y="822198"/>
                      <a:pt x="304800" y="1008888"/>
                    </a:cubicBezTo>
                    <a:lnTo>
                      <a:pt x="304800" y="1066800"/>
                    </a:lnTo>
                    <a:cubicBezTo>
                      <a:pt x="304800" y="982980"/>
                      <a:pt x="236220" y="914400"/>
                      <a:pt x="152400" y="914400"/>
                    </a:cubicBezTo>
                    <a:lnTo>
                      <a:pt x="89916" y="914400"/>
                    </a:lnTo>
                    <a:cubicBezTo>
                      <a:pt x="74676" y="914400"/>
                      <a:pt x="59436" y="916686"/>
                      <a:pt x="45720" y="921258"/>
                    </a:cubicBezTo>
                    <a:lnTo>
                      <a:pt x="25908" y="851916"/>
                    </a:lnTo>
                    <a:cubicBezTo>
                      <a:pt x="8382" y="792480"/>
                      <a:pt x="0" y="730758"/>
                      <a:pt x="0" y="668274"/>
                    </a:cubicBezTo>
                    <a:cubicBezTo>
                      <a:pt x="0" y="483870"/>
                      <a:pt x="74676" y="316992"/>
                      <a:pt x="195834" y="195834"/>
                    </a:cubicBezTo>
                    <a:cubicBezTo>
                      <a:pt x="316992" y="74676"/>
                      <a:pt x="483870" y="0"/>
                      <a:pt x="668274" y="0"/>
                    </a:cubicBezTo>
                    <a:lnTo>
                      <a:pt x="1160526" y="0"/>
                    </a:lnTo>
                    <a:cubicBezTo>
                      <a:pt x="1529334" y="0"/>
                      <a:pt x="1828800" y="299466"/>
                      <a:pt x="1828800" y="668274"/>
                    </a:cubicBezTo>
                    <a:cubicBezTo>
                      <a:pt x="1828800" y="730758"/>
                      <a:pt x="1820418" y="792480"/>
                      <a:pt x="1802892" y="851916"/>
                    </a:cubicBezTo>
                    <a:lnTo>
                      <a:pt x="1783080" y="921258"/>
                    </a:lnTo>
                    <a:cubicBezTo>
                      <a:pt x="1769364" y="916686"/>
                      <a:pt x="1754124" y="914400"/>
                      <a:pt x="1738884" y="914400"/>
                    </a:cubicBezTo>
                    <a:close/>
                  </a:path>
                </a:pathLst>
              </a:custGeom>
              <a:solidFill>
                <a:srgbClr val="656D78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07CFB3D-8742-4E2F-AC22-E854A7D5B298}"/>
                  </a:ext>
                </a:extLst>
              </p:cNvPr>
              <p:cNvSpPr/>
              <p:nvPr/>
            </p:nvSpPr>
            <p:spPr>
              <a:xfrm>
                <a:off x="3124200" y="4546600"/>
                <a:ext cx="609600" cy="1524000"/>
              </a:xfrm>
              <a:custGeom>
                <a:avLst/>
                <a:gdLst>
                  <a:gd name="connsiteX0" fmla="*/ 609600 w 609600"/>
                  <a:gd name="connsiteY0" fmla="*/ 1219200 h 1524000"/>
                  <a:gd name="connsiteX1" fmla="*/ 304800 w 609600"/>
                  <a:gd name="connsiteY1" fmla="*/ 1524000 h 1524000"/>
                  <a:gd name="connsiteX2" fmla="*/ 152400 w 609600"/>
                  <a:gd name="connsiteY2" fmla="*/ 1524000 h 1524000"/>
                  <a:gd name="connsiteX3" fmla="*/ 304800 w 609600"/>
                  <a:gd name="connsiteY3" fmla="*/ 1371600 h 1524000"/>
                  <a:gd name="connsiteX4" fmla="*/ 259842 w 609600"/>
                  <a:gd name="connsiteY4" fmla="*/ 1264158 h 1524000"/>
                  <a:gd name="connsiteX5" fmla="*/ 152400 w 609600"/>
                  <a:gd name="connsiteY5" fmla="*/ 1219200 h 1524000"/>
                  <a:gd name="connsiteX6" fmla="*/ 0 w 609600"/>
                  <a:gd name="connsiteY6" fmla="*/ 1219200 h 1524000"/>
                  <a:gd name="connsiteX7" fmla="*/ 228600 w 609600"/>
                  <a:gd name="connsiteY7" fmla="*/ 0 h 1524000"/>
                  <a:gd name="connsiteX8" fmla="*/ 381000 w 609600"/>
                  <a:gd name="connsiteY8" fmla="*/ 0 h 152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9600" h="1524000">
                    <a:moveTo>
                      <a:pt x="609600" y="1219200"/>
                    </a:moveTo>
                    <a:lnTo>
                      <a:pt x="304800" y="1524000"/>
                    </a:lnTo>
                    <a:lnTo>
                      <a:pt x="152400" y="1524000"/>
                    </a:lnTo>
                    <a:cubicBezTo>
                      <a:pt x="236220" y="1524000"/>
                      <a:pt x="304800" y="1455420"/>
                      <a:pt x="304800" y="1371600"/>
                    </a:cubicBezTo>
                    <a:cubicBezTo>
                      <a:pt x="304800" y="1329690"/>
                      <a:pt x="288036" y="1291590"/>
                      <a:pt x="259842" y="1264158"/>
                    </a:cubicBezTo>
                    <a:cubicBezTo>
                      <a:pt x="232410" y="1235964"/>
                      <a:pt x="194310" y="1219200"/>
                      <a:pt x="152400" y="1219200"/>
                    </a:cubicBezTo>
                    <a:lnTo>
                      <a:pt x="0" y="1219200"/>
                    </a:lnTo>
                    <a:lnTo>
                      <a:pt x="228600" y="0"/>
                    </a:lnTo>
                    <a:lnTo>
                      <a:pt x="381000" y="0"/>
                    </a:lnTo>
                    <a:close/>
                  </a:path>
                </a:pathLst>
              </a:custGeom>
              <a:solidFill>
                <a:srgbClr val="FF826E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DD95109-F084-4F30-BE4D-82F198A39CC5}"/>
                  </a:ext>
                </a:extLst>
              </p:cNvPr>
              <p:cNvSpPr/>
              <p:nvPr/>
            </p:nvSpPr>
            <p:spPr>
              <a:xfrm>
                <a:off x="3234690" y="4165600"/>
                <a:ext cx="388619" cy="381000"/>
              </a:xfrm>
              <a:custGeom>
                <a:avLst/>
                <a:gdLst>
                  <a:gd name="connsiteX0" fmla="*/ 388620 w 388619"/>
                  <a:gd name="connsiteY0" fmla="*/ 145542 h 381000"/>
                  <a:gd name="connsiteX1" fmla="*/ 270510 w 388619"/>
                  <a:gd name="connsiteY1" fmla="*/ 381000 h 381000"/>
                  <a:gd name="connsiteX2" fmla="*/ 118110 w 388619"/>
                  <a:gd name="connsiteY2" fmla="*/ 381000 h 381000"/>
                  <a:gd name="connsiteX3" fmla="*/ 0 w 388619"/>
                  <a:gd name="connsiteY3" fmla="*/ 145542 h 381000"/>
                  <a:gd name="connsiteX4" fmla="*/ 194310 w 388619"/>
                  <a:gd name="connsiteY4" fmla="*/ 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619" h="381000">
                    <a:moveTo>
                      <a:pt x="388620" y="145542"/>
                    </a:moveTo>
                    <a:lnTo>
                      <a:pt x="270510" y="381000"/>
                    </a:lnTo>
                    <a:lnTo>
                      <a:pt x="118110" y="381000"/>
                    </a:lnTo>
                    <a:lnTo>
                      <a:pt x="0" y="145542"/>
                    </a:lnTo>
                    <a:lnTo>
                      <a:pt x="194310" y="0"/>
                    </a:lnTo>
                    <a:close/>
                  </a:path>
                </a:pathLst>
              </a:custGeom>
              <a:solidFill>
                <a:srgbClr val="FC6E51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E2E5E5F-5E27-41EE-93E7-59E31B81DD99}"/>
                  </a:ext>
                </a:extLst>
              </p:cNvPr>
              <p:cNvSpPr/>
              <p:nvPr/>
            </p:nvSpPr>
            <p:spPr>
              <a:xfrm>
                <a:off x="3429000" y="3639058"/>
                <a:ext cx="1981200" cy="2431541"/>
              </a:xfrm>
              <a:custGeom>
                <a:avLst/>
                <a:gdLst>
                  <a:gd name="connsiteX0" fmla="*/ 1063752 w 1981200"/>
                  <a:gd name="connsiteY0" fmla="*/ 589788 h 2431541"/>
                  <a:gd name="connsiteX1" fmla="*/ 990600 w 1981200"/>
                  <a:gd name="connsiteY1" fmla="*/ 297942 h 2431541"/>
                  <a:gd name="connsiteX2" fmla="*/ 1526286 w 1981200"/>
                  <a:gd name="connsiteY2" fmla="*/ 0 h 2431541"/>
                  <a:gd name="connsiteX3" fmla="*/ 1943100 w 1981200"/>
                  <a:gd name="connsiteY3" fmla="*/ 1110234 h 2431541"/>
                  <a:gd name="connsiteX4" fmla="*/ 1981200 w 1981200"/>
                  <a:gd name="connsiteY4" fmla="*/ 1321308 h 2431541"/>
                  <a:gd name="connsiteX5" fmla="*/ 1834896 w 1981200"/>
                  <a:gd name="connsiteY5" fmla="*/ 1675638 h 2431541"/>
                  <a:gd name="connsiteX6" fmla="*/ 1480566 w 1981200"/>
                  <a:gd name="connsiteY6" fmla="*/ 1821942 h 2431541"/>
                  <a:gd name="connsiteX7" fmla="*/ 1154430 w 1981200"/>
                  <a:gd name="connsiteY7" fmla="*/ 1701546 h 2431541"/>
                  <a:gd name="connsiteX8" fmla="*/ 762000 w 1981200"/>
                  <a:gd name="connsiteY8" fmla="*/ 1364742 h 2431541"/>
                  <a:gd name="connsiteX9" fmla="*/ 762000 w 1981200"/>
                  <a:gd name="connsiteY9" fmla="*/ 2431542 h 2431541"/>
                  <a:gd name="connsiteX10" fmla="*/ 0 w 1981200"/>
                  <a:gd name="connsiteY10" fmla="*/ 2431542 h 2431541"/>
                  <a:gd name="connsiteX11" fmla="*/ 304800 w 1981200"/>
                  <a:gd name="connsiteY11" fmla="*/ 2126742 h 2431541"/>
                  <a:gd name="connsiteX12" fmla="*/ 76200 w 1981200"/>
                  <a:gd name="connsiteY12" fmla="*/ 907542 h 2431541"/>
                  <a:gd name="connsiteX13" fmla="*/ 194310 w 1981200"/>
                  <a:gd name="connsiteY13" fmla="*/ 672084 h 2431541"/>
                  <a:gd name="connsiteX14" fmla="*/ 304800 w 1981200"/>
                  <a:gd name="connsiteY14" fmla="*/ 755142 h 2431541"/>
                  <a:gd name="connsiteX15" fmla="*/ 528066 w 1981200"/>
                  <a:gd name="connsiteY15" fmla="*/ 384048 h 243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1200" h="2431541">
                    <a:moveTo>
                      <a:pt x="1063752" y="589788"/>
                    </a:moveTo>
                    <a:lnTo>
                      <a:pt x="990600" y="297942"/>
                    </a:lnTo>
                    <a:lnTo>
                      <a:pt x="1526286" y="0"/>
                    </a:lnTo>
                    <a:lnTo>
                      <a:pt x="1943100" y="1110234"/>
                    </a:lnTo>
                    <a:cubicBezTo>
                      <a:pt x="1968246" y="1178052"/>
                      <a:pt x="1981200" y="1248918"/>
                      <a:pt x="1981200" y="1321308"/>
                    </a:cubicBezTo>
                    <a:cubicBezTo>
                      <a:pt x="1981200" y="1459230"/>
                      <a:pt x="1924812" y="1584960"/>
                      <a:pt x="1834896" y="1675638"/>
                    </a:cubicBezTo>
                    <a:cubicBezTo>
                      <a:pt x="1744218" y="1765554"/>
                      <a:pt x="1618488" y="1821942"/>
                      <a:pt x="1480566" y="1821942"/>
                    </a:cubicBezTo>
                    <a:cubicBezTo>
                      <a:pt x="1360932" y="1821942"/>
                      <a:pt x="1245870" y="1779270"/>
                      <a:pt x="1154430" y="1701546"/>
                    </a:cubicBezTo>
                    <a:lnTo>
                      <a:pt x="762000" y="1364742"/>
                    </a:lnTo>
                    <a:lnTo>
                      <a:pt x="762000" y="2431542"/>
                    </a:lnTo>
                    <a:lnTo>
                      <a:pt x="0" y="2431542"/>
                    </a:lnTo>
                    <a:lnTo>
                      <a:pt x="304800" y="2126742"/>
                    </a:lnTo>
                    <a:lnTo>
                      <a:pt x="76200" y="907542"/>
                    </a:lnTo>
                    <a:lnTo>
                      <a:pt x="194310" y="672084"/>
                    </a:lnTo>
                    <a:lnTo>
                      <a:pt x="304800" y="755142"/>
                    </a:lnTo>
                    <a:lnTo>
                      <a:pt x="528066" y="384048"/>
                    </a:lnTo>
                    <a:close/>
                  </a:path>
                </a:pathLst>
              </a:custGeom>
              <a:solidFill>
                <a:srgbClr val="FCD77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F898D5C-F5B3-41FE-BD30-A068BBAA3CC0}"/>
                  </a:ext>
                </a:extLst>
              </p:cNvPr>
              <p:cNvSpPr/>
              <p:nvPr/>
            </p:nvSpPr>
            <p:spPr>
              <a:xfrm>
                <a:off x="1562100" y="3639058"/>
                <a:ext cx="1790700" cy="2126741"/>
              </a:xfrm>
              <a:custGeom>
                <a:avLst/>
                <a:gdLst>
                  <a:gd name="connsiteX0" fmla="*/ 1672590 w 1790700"/>
                  <a:gd name="connsiteY0" fmla="*/ 672084 h 2126741"/>
                  <a:gd name="connsiteX1" fmla="*/ 1562100 w 1790700"/>
                  <a:gd name="connsiteY1" fmla="*/ 755142 h 2126741"/>
                  <a:gd name="connsiteX2" fmla="*/ 1339596 w 1790700"/>
                  <a:gd name="connsiteY2" fmla="*/ 383286 h 2126741"/>
                  <a:gd name="connsiteX3" fmla="*/ 803148 w 1790700"/>
                  <a:gd name="connsiteY3" fmla="*/ 589788 h 2126741"/>
                  <a:gd name="connsiteX4" fmla="*/ 876300 w 1790700"/>
                  <a:gd name="connsiteY4" fmla="*/ 297942 h 2126741"/>
                  <a:gd name="connsiteX5" fmla="*/ 340614 w 1790700"/>
                  <a:gd name="connsiteY5" fmla="*/ 0 h 2126741"/>
                  <a:gd name="connsiteX6" fmla="*/ 0 w 1790700"/>
                  <a:gd name="connsiteY6" fmla="*/ 907542 h 2126741"/>
                  <a:gd name="connsiteX7" fmla="*/ 723900 w 1790700"/>
                  <a:gd name="connsiteY7" fmla="*/ 907542 h 2126741"/>
                  <a:gd name="connsiteX8" fmla="*/ 800100 w 1790700"/>
                  <a:gd name="connsiteY8" fmla="*/ 983742 h 2126741"/>
                  <a:gd name="connsiteX9" fmla="*/ 800100 w 1790700"/>
                  <a:gd name="connsiteY9" fmla="*/ 1626108 h 2126741"/>
                  <a:gd name="connsiteX10" fmla="*/ 1104900 w 1790700"/>
                  <a:gd name="connsiteY10" fmla="*/ 1364742 h 2126741"/>
                  <a:gd name="connsiteX11" fmla="*/ 1104900 w 1790700"/>
                  <a:gd name="connsiteY11" fmla="*/ 2126742 h 2126741"/>
                  <a:gd name="connsiteX12" fmla="*/ 1562100 w 1790700"/>
                  <a:gd name="connsiteY12" fmla="*/ 2126742 h 2126741"/>
                  <a:gd name="connsiteX13" fmla="*/ 1790700 w 1790700"/>
                  <a:gd name="connsiteY13" fmla="*/ 907542 h 2126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90700" h="2126741">
                    <a:moveTo>
                      <a:pt x="1672590" y="672084"/>
                    </a:moveTo>
                    <a:lnTo>
                      <a:pt x="1562100" y="755142"/>
                    </a:lnTo>
                    <a:lnTo>
                      <a:pt x="1339596" y="383286"/>
                    </a:lnTo>
                    <a:lnTo>
                      <a:pt x="803148" y="589788"/>
                    </a:lnTo>
                    <a:lnTo>
                      <a:pt x="876300" y="297942"/>
                    </a:lnTo>
                    <a:lnTo>
                      <a:pt x="340614" y="0"/>
                    </a:lnTo>
                    <a:lnTo>
                      <a:pt x="0" y="907542"/>
                    </a:lnTo>
                    <a:lnTo>
                      <a:pt x="723900" y="907542"/>
                    </a:lnTo>
                    <a:cubicBezTo>
                      <a:pt x="765810" y="907542"/>
                      <a:pt x="800100" y="941832"/>
                      <a:pt x="800100" y="983742"/>
                    </a:cubicBezTo>
                    <a:lnTo>
                      <a:pt x="800100" y="1626108"/>
                    </a:lnTo>
                    <a:lnTo>
                      <a:pt x="1104900" y="1364742"/>
                    </a:lnTo>
                    <a:lnTo>
                      <a:pt x="1104900" y="2126742"/>
                    </a:lnTo>
                    <a:lnTo>
                      <a:pt x="1562100" y="2126742"/>
                    </a:lnTo>
                    <a:lnTo>
                      <a:pt x="1790700" y="907542"/>
                    </a:lnTo>
                    <a:close/>
                  </a:path>
                </a:pathLst>
              </a:custGeom>
              <a:solidFill>
                <a:srgbClr val="FCD77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49A8DFE-812E-44EB-809C-857546789A67}"/>
                  </a:ext>
                </a:extLst>
              </p:cNvPr>
              <p:cNvSpPr/>
              <p:nvPr/>
            </p:nvSpPr>
            <p:spPr>
              <a:xfrm>
                <a:off x="4267200" y="3098800"/>
                <a:ext cx="838200" cy="838200"/>
              </a:xfrm>
              <a:custGeom>
                <a:avLst/>
                <a:gdLst>
                  <a:gd name="connsiteX0" fmla="*/ 688086 w 838200"/>
                  <a:gd name="connsiteY0" fmla="*/ 540258 h 838200"/>
                  <a:gd name="connsiteX1" fmla="*/ 152400 w 838200"/>
                  <a:gd name="connsiteY1" fmla="*/ 838200 h 838200"/>
                  <a:gd name="connsiteX2" fmla="*/ 0 w 838200"/>
                  <a:gd name="connsiteY2" fmla="*/ 228600 h 838200"/>
                  <a:gd name="connsiteX3" fmla="*/ 457200 w 838200"/>
                  <a:gd name="connsiteY3" fmla="*/ 0 h 838200"/>
                  <a:gd name="connsiteX4" fmla="*/ 784860 w 838200"/>
                  <a:gd name="connsiteY4" fmla="*/ 262128 h 838200"/>
                  <a:gd name="connsiteX5" fmla="*/ 838200 w 838200"/>
                  <a:gd name="connsiteY5" fmla="*/ 373380 h 838200"/>
                  <a:gd name="connsiteX6" fmla="*/ 765048 w 838200"/>
                  <a:gd name="connsiteY6" fmla="*/ 497586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8200" h="838200">
                    <a:moveTo>
                      <a:pt x="688086" y="540258"/>
                    </a:moveTo>
                    <a:lnTo>
                      <a:pt x="152400" y="838200"/>
                    </a:lnTo>
                    <a:lnTo>
                      <a:pt x="0" y="228600"/>
                    </a:lnTo>
                    <a:lnTo>
                      <a:pt x="457200" y="0"/>
                    </a:lnTo>
                    <a:lnTo>
                      <a:pt x="784860" y="262128"/>
                    </a:lnTo>
                    <a:cubicBezTo>
                      <a:pt x="818388" y="288798"/>
                      <a:pt x="838200" y="329946"/>
                      <a:pt x="838200" y="373380"/>
                    </a:cubicBezTo>
                    <a:cubicBezTo>
                      <a:pt x="838200" y="425196"/>
                      <a:pt x="810006" y="472440"/>
                      <a:pt x="765048" y="497586"/>
                    </a:cubicBezTo>
                    <a:close/>
                  </a:path>
                </a:pathLst>
              </a:custGeom>
              <a:solidFill>
                <a:srgbClr val="FFC729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FC1573F-A2A8-4CEF-A252-C631BBD009C1}"/>
                  </a:ext>
                </a:extLst>
              </p:cNvPr>
              <p:cNvSpPr/>
              <p:nvPr/>
            </p:nvSpPr>
            <p:spPr>
              <a:xfrm>
                <a:off x="1752600" y="3098800"/>
                <a:ext cx="838200" cy="838200"/>
              </a:xfrm>
              <a:custGeom>
                <a:avLst/>
                <a:gdLst>
                  <a:gd name="connsiteX0" fmla="*/ 838200 w 838200"/>
                  <a:gd name="connsiteY0" fmla="*/ 228600 h 838200"/>
                  <a:gd name="connsiteX1" fmla="*/ 685800 w 838200"/>
                  <a:gd name="connsiteY1" fmla="*/ 838200 h 838200"/>
                  <a:gd name="connsiteX2" fmla="*/ 150114 w 838200"/>
                  <a:gd name="connsiteY2" fmla="*/ 540258 h 838200"/>
                  <a:gd name="connsiteX3" fmla="*/ 73152 w 838200"/>
                  <a:gd name="connsiteY3" fmla="*/ 497586 h 838200"/>
                  <a:gd name="connsiteX4" fmla="*/ 0 w 838200"/>
                  <a:gd name="connsiteY4" fmla="*/ 373380 h 838200"/>
                  <a:gd name="connsiteX5" fmla="*/ 53340 w 838200"/>
                  <a:gd name="connsiteY5" fmla="*/ 262128 h 838200"/>
                  <a:gd name="connsiteX6" fmla="*/ 381000 w 838200"/>
                  <a:gd name="connsiteY6" fmla="*/ 0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8200" h="838200">
                    <a:moveTo>
                      <a:pt x="838200" y="228600"/>
                    </a:moveTo>
                    <a:lnTo>
                      <a:pt x="685800" y="838200"/>
                    </a:lnTo>
                    <a:lnTo>
                      <a:pt x="150114" y="540258"/>
                    </a:lnTo>
                    <a:lnTo>
                      <a:pt x="73152" y="497586"/>
                    </a:lnTo>
                    <a:cubicBezTo>
                      <a:pt x="28194" y="472440"/>
                      <a:pt x="0" y="425196"/>
                      <a:pt x="0" y="373380"/>
                    </a:cubicBezTo>
                    <a:cubicBezTo>
                      <a:pt x="0" y="329946"/>
                      <a:pt x="19812" y="288798"/>
                      <a:pt x="53340" y="262128"/>
                    </a:cubicBezTo>
                    <a:lnTo>
                      <a:pt x="381000" y="0"/>
                    </a:lnTo>
                    <a:close/>
                  </a:path>
                </a:pathLst>
              </a:custGeom>
              <a:solidFill>
                <a:srgbClr val="FFC729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7CDAC1D-7EA1-46E9-9213-B56C9FDF12C1}"/>
                  </a:ext>
                </a:extLst>
              </p:cNvPr>
              <p:cNvSpPr/>
              <p:nvPr/>
            </p:nvSpPr>
            <p:spPr>
              <a:xfrm>
                <a:off x="3429000" y="3937000"/>
                <a:ext cx="528066" cy="457200"/>
              </a:xfrm>
              <a:custGeom>
                <a:avLst/>
                <a:gdLst>
                  <a:gd name="connsiteX0" fmla="*/ 304800 w 528066"/>
                  <a:gd name="connsiteY0" fmla="*/ 0 h 457200"/>
                  <a:gd name="connsiteX1" fmla="*/ 528066 w 528066"/>
                  <a:gd name="connsiteY1" fmla="*/ 86106 h 457200"/>
                  <a:gd name="connsiteX2" fmla="*/ 304800 w 528066"/>
                  <a:gd name="connsiteY2" fmla="*/ 457200 h 457200"/>
                  <a:gd name="connsiteX3" fmla="*/ 194310 w 528066"/>
                  <a:gd name="connsiteY3" fmla="*/ 374142 h 457200"/>
                  <a:gd name="connsiteX4" fmla="*/ 0 w 528066"/>
                  <a:gd name="connsiteY4" fmla="*/ 2286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8066" h="457200">
                    <a:moveTo>
                      <a:pt x="304800" y="0"/>
                    </a:moveTo>
                    <a:lnTo>
                      <a:pt x="528066" y="86106"/>
                    </a:lnTo>
                    <a:lnTo>
                      <a:pt x="304800" y="457200"/>
                    </a:lnTo>
                    <a:lnTo>
                      <a:pt x="194310" y="374142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FFC729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6A15580-687F-4726-B248-992AF23CFDF7}"/>
                  </a:ext>
                </a:extLst>
              </p:cNvPr>
              <p:cNvSpPr/>
              <p:nvPr/>
            </p:nvSpPr>
            <p:spPr>
              <a:xfrm>
                <a:off x="2901695" y="3937000"/>
                <a:ext cx="527304" cy="457200"/>
              </a:xfrm>
              <a:custGeom>
                <a:avLst/>
                <a:gdLst>
                  <a:gd name="connsiteX0" fmla="*/ 527304 w 527304"/>
                  <a:gd name="connsiteY0" fmla="*/ 228600 h 457200"/>
                  <a:gd name="connsiteX1" fmla="*/ 332994 w 527304"/>
                  <a:gd name="connsiteY1" fmla="*/ 374142 h 457200"/>
                  <a:gd name="connsiteX2" fmla="*/ 222504 w 527304"/>
                  <a:gd name="connsiteY2" fmla="*/ 457200 h 457200"/>
                  <a:gd name="connsiteX3" fmla="*/ 0 w 527304"/>
                  <a:gd name="connsiteY3" fmla="*/ 85344 h 457200"/>
                  <a:gd name="connsiteX4" fmla="*/ 222504 w 527304"/>
                  <a:gd name="connsiteY4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7304" h="457200">
                    <a:moveTo>
                      <a:pt x="527304" y="228600"/>
                    </a:moveTo>
                    <a:lnTo>
                      <a:pt x="332994" y="374142"/>
                    </a:lnTo>
                    <a:lnTo>
                      <a:pt x="222504" y="457200"/>
                    </a:lnTo>
                    <a:lnTo>
                      <a:pt x="0" y="85344"/>
                    </a:lnTo>
                    <a:lnTo>
                      <a:pt x="222504" y="0"/>
                    </a:lnTo>
                    <a:close/>
                  </a:path>
                </a:pathLst>
              </a:custGeom>
              <a:solidFill>
                <a:srgbClr val="FFC729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BE70A77-B744-4440-B149-76222EA7D881}"/>
                  </a:ext>
                </a:extLst>
              </p:cNvPr>
              <p:cNvSpPr/>
              <p:nvPr/>
            </p:nvSpPr>
            <p:spPr>
              <a:xfrm>
                <a:off x="3124200" y="3626104"/>
                <a:ext cx="609600" cy="539495"/>
              </a:xfrm>
              <a:custGeom>
                <a:avLst/>
                <a:gdLst>
                  <a:gd name="connsiteX0" fmla="*/ 531876 w 609600"/>
                  <a:gd name="connsiteY0" fmla="*/ 0 h 539495"/>
                  <a:gd name="connsiteX1" fmla="*/ 609600 w 609600"/>
                  <a:gd name="connsiteY1" fmla="*/ 310896 h 539495"/>
                  <a:gd name="connsiteX2" fmla="*/ 304800 w 609600"/>
                  <a:gd name="connsiteY2" fmla="*/ 539496 h 539495"/>
                  <a:gd name="connsiteX3" fmla="*/ 0 w 609600"/>
                  <a:gd name="connsiteY3" fmla="*/ 310896 h 539495"/>
                  <a:gd name="connsiteX4" fmla="*/ 77724 w 609600"/>
                  <a:gd name="connsiteY4" fmla="*/ 0 h 539495"/>
                  <a:gd name="connsiteX5" fmla="*/ 152400 w 609600"/>
                  <a:gd name="connsiteY5" fmla="*/ 6096 h 539495"/>
                  <a:gd name="connsiteX6" fmla="*/ 457200 w 609600"/>
                  <a:gd name="connsiteY6" fmla="*/ 6096 h 539495"/>
                  <a:gd name="connsiteX7" fmla="*/ 531876 w 609600"/>
                  <a:gd name="connsiteY7" fmla="*/ 0 h 539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539495">
                    <a:moveTo>
                      <a:pt x="531876" y="0"/>
                    </a:moveTo>
                    <a:lnTo>
                      <a:pt x="609600" y="310896"/>
                    </a:lnTo>
                    <a:lnTo>
                      <a:pt x="304800" y="539496"/>
                    </a:lnTo>
                    <a:lnTo>
                      <a:pt x="0" y="310896"/>
                    </a:lnTo>
                    <a:lnTo>
                      <a:pt x="77724" y="0"/>
                    </a:lnTo>
                    <a:cubicBezTo>
                      <a:pt x="102108" y="3810"/>
                      <a:pt x="126492" y="6096"/>
                      <a:pt x="152400" y="6096"/>
                    </a:cubicBezTo>
                    <a:lnTo>
                      <a:pt x="457200" y="6096"/>
                    </a:lnTo>
                    <a:cubicBezTo>
                      <a:pt x="483108" y="6096"/>
                      <a:pt x="507492" y="3810"/>
                      <a:pt x="531876" y="0"/>
                    </a:cubicBezTo>
                    <a:close/>
                  </a:path>
                </a:pathLst>
              </a:custGeom>
              <a:solidFill>
                <a:srgbClr val="F0D0B4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CB56B92-E2BC-4171-8D37-62221BBEE477}"/>
                  </a:ext>
                </a:extLst>
              </p:cNvPr>
              <p:cNvSpPr/>
              <p:nvPr/>
            </p:nvSpPr>
            <p:spPr>
              <a:xfrm>
                <a:off x="4038600" y="2413000"/>
                <a:ext cx="685800" cy="914400"/>
              </a:xfrm>
              <a:custGeom>
                <a:avLst/>
                <a:gdLst>
                  <a:gd name="connsiteX0" fmla="*/ 259080 w 685800"/>
                  <a:gd name="connsiteY0" fmla="*/ 6858 h 914400"/>
                  <a:gd name="connsiteX1" fmla="*/ 348234 w 685800"/>
                  <a:gd name="connsiteY1" fmla="*/ 78486 h 914400"/>
                  <a:gd name="connsiteX2" fmla="*/ 685800 w 685800"/>
                  <a:gd name="connsiteY2" fmla="*/ 685800 h 914400"/>
                  <a:gd name="connsiteX3" fmla="*/ 228600 w 685800"/>
                  <a:gd name="connsiteY3" fmla="*/ 914400 h 914400"/>
                  <a:gd name="connsiteX4" fmla="*/ 152400 w 685800"/>
                  <a:gd name="connsiteY4" fmla="*/ 914400 h 914400"/>
                  <a:gd name="connsiteX5" fmla="*/ 0 w 685800"/>
                  <a:gd name="connsiteY5" fmla="*/ 762000 h 914400"/>
                  <a:gd name="connsiteX6" fmla="*/ 0 w 685800"/>
                  <a:gd name="connsiteY6" fmla="*/ 152400 h 914400"/>
                  <a:gd name="connsiteX7" fmla="*/ 152400 w 685800"/>
                  <a:gd name="connsiteY7" fmla="*/ 0 h 914400"/>
                  <a:gd name="connsiteX8" fmla="*/ 214884 w 685800"/>
                  <a:gd name="connsiteY8" fmla="*/ 0 h 914400"/>
                  <a:gd name="connsiteX9" fmla="*/ 259080 w 685800"/>
                  <a:gd name="connsiteY9" fmla="*/ 6858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800" h="914400">
                    <a:moveTo>
                      <a:pt x="259080" y="6858"/>
                    </a:moveTo>
                    <a:cubicBezTo>
                      <a:pt x="296418" y="17526"/>
                      <a:pt x="329184" y="43434"/>
                      <a:pt x="348234" y="78486"/>
                    </a:cubicBezTo>
                    <a:lnTo>
                      <a:pt x="685800" y="685800"/>
                    </a:lnTo>
                    <a:lnTo>
                      <a:pt x="228600" y="914400"/>
                    </a:lnTo>
                    <a:lnTo>
                      <a:pt x="152400" y="914400"/>
                    </a:lnTo>
                    <a:cubicBezTo>
                      <a:pt x="68580" y="914400"/>
                      <a:pt x="0" y="845820"/>
                      <a:pt x="0" y="762000"/>
                    </a:cubicBezTo>
                    <a:lnTo>
                      <a:pt x="0" y="152400"/>
                    </a:lnTo>
                    <a:cubicBezTo>
                      <a:pt x="0" y="68580"/>
                      <a:pt x="68580" y="0"/>
                      <a:pt x="152400" y="0"/>
                    </a:cubicBezTo>
                    <a:lnTo>
                      <a:pt x="214884" y="0"/>
                    </a:lnTo>
                    <a:cubicBezTo>
                      <a:pt x="230124" y="0"/>
                      <a:pt x="245364" y="2286"/>
                      <a:pt x="259080" y="6858"/>
                    </a:cubicBezTo>
                    <a:close/>
                  </a:path>
                </a:pathLst>
              </a:custGeom>
              <a:solidFill>
                <a:srgbClr val="F0D0B4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3D86775-7573-4988-AD9F-1E93059A0C84}"/>
                  </a:ext>
                </a:extLst>
              </p:cNvPr>
              <p:cNvSpPr/>
              <p:nvPr/>
            </p:nvSpPr>
            <p:spPr>
              <a:xfrm>
                <a:off x="2819400" y="2108200"/>
                <a:ext cx="1219200" cy="1524000"/>
              </a:xfrm>
              <a:custGeom>
                <a:avLst/>
                <a:gdLst>
                  <a:gd name="connsiteX0" fmla="*/ 1219200 w 1219200"/>
                  <a:gd name="connsiteY0" fmla="*/ 457200 h 1524000"/>
                  <a:gd name="connsiteX1" fmla="*/ 1219200 w 1219200"/>
                  <a:gd name="connsiteY1" fmla="*/ 1066800 h 1524000"/>
                  <a:gd name="connsiteX2" fmla="*/ 836676 w 1219200"/>
                  <a:gd name="connsiteY2" fmla="*/ 1517904 h 1524000"/>
                  <a:gd name="connsiteX3" fmla="*/ 762000 w 1219200"/>
                  <a:gd name="connsiteY3" fmla="*/ 1524000 h 1524000"/>
                  <a:gd name="connsiteX4" fmla="*/ 457200 w 1219200"/>
                  <a:gd name="connsiteY4" fmla="*/ 1524000 h 1524000"/>
                  <a:gd name="connsiteX5" fmla="*/ 382524 w 1219200"/>
                  <a:gd name="connsiteY5" fmla="*/ 1517904 h 1524000"/>
                  <a:gd name="connsiteX6" fmla="*/ 0 w 1219200"/>
                  <a:gd name="connsiteY6" fmla="*/ 1066800 h 1524000"/>
                  <a:gd name="connsiteX7" fmla="*/ 0 w 1219200"/>
                  <a:gd name="connsiteY7" fmla="*/ 457200 h 1524000"/>
                  <a:gd name="connsiteX8" fmla="*/ 0 w 1219200"/>
                  <a:gd name="connsiteY8" fmla="*/ 399288 h 1524000"/>
                  <a:gd name="connsiteX9" fmla="*/ 318516 w 1219200"/>
                  <a:gd name="connsiteY9" fmla="*/ 22860 h 1524000"/>
                  <a:gd name="connsiteX10" fmla="*/ 457200 w 1219200"/>
                  <a:gd name="connsiteY10" fmla="*/ 0 h 1524000"/>
                  <a:gd name="connsiteX11" fmla="*/ 502158 w 1219200"/>
                  <a:gd name="connsiteY11" fmla="*/ 107442 h 1524000"/>
                  <a:gd name="connsiteX12" fmla="*/ 609600 w 1219200"/>
                  <a:gd name="connsiteY12" fmla="*/ 152400 h 1524000"/>
                  <a:gd name="connsiteX13" fmla="*/ 990600 w 1219200"/>
                  <a:gd name="connsiteY13" fmla="*/ 152400 h 1524000"/>
                  <a:gd name="connsiteX14" fmla="*/ 1219200 w 1219200"/>
                  <a:gd name="connsiteY14" fmla="*/ 381000 h 152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19200" h="1524000">
                    <a:moveTo>
                      <a:pt x="1219200" y="457200"/>
                    </a:moveTo>
                    <a:lnTo>
                      <a:pt x="1219200" y="1066800"/>
                    </a:lnTo>
                    <a:cubicBezTo>
                      <a:pt x="1219200" y="1293876"/>
                      <a:pt x="1053846" y="1482090"/>
                      <a:pt x="836676" y="1517904"/>
                    </a:cubicBezTo>
                    <a:cubicBezTo>
                      <a:pt x="812292" y="1521714"/>
                      <a:pt x="787908" y="1524000"/>
                      <a:pt x="762000" y="1524000"/>
                    </a:cubicBezTo>
                    <a:lnTo>
                      <a:pt x="457200" y="1524000"/>
                    </a:lnTo>
                    <a:cubicBezTo>
                      <a:pt x="431292" y="1524000"/>
                      <a:pt x="406908" y="1521714"/>
                      <a:pt x="382524" y="1517904"/>
                    </a:cubicBezTo>
                    <a:cubicBezTo>
                      <a:pt x="165354" y="1482090"/>
                      <a:pt x="0" y="1293876"/>
                      <a:pt x="0" y="1066800"/>
                    </a:cubicBezTo>
                    <a:lnTo>
                      <a:pt x="0" y="457200"/>
                    </a:lnTo>
                    <a:lnTo>
                      <a:pt x="0" y="399288"/>
                    </a:lnTo>
                    <a:cubicBezTo>
                      <a:pt x="0" y="212598"/>
                      <a:pt x="134874" y="54102"/>
                      <a:pt x="318516" y="22860"/>
                    </a:cubicBezTo>
                    <a:lnTo>
                      <a:pt x="457200" y="0"/>
                    </a:lnTo>
                    <a:cubicBezTo>
                      <a:pt x="457200" y="41910"/>
                      <a:pt x="473964" y="80010"/>
                      <a:pt x="502158" y="107442"/>
                    </a:cubicBezTo>
                    <a:cubicBezTo>
                      <a:pt x="529590" y="135636"/>
                      <a:pt x="567690" y="152400"/>
                      <a:pt x="609600" y="152400"/>
                    </a:cubicBezTo>
                    <a:lnTo>
                      <a:pt x="990600" y="152400"/>
                    </a:lnTo>
                    <a:cubicBezTo>
                      <a:pt x="1117092" y="152400"/>
                      <a:pt x="1219200" y="254508"/>
                      <a:pt x="1219200" y="381000"/>
                    </a:cubicBezTo>
                    <a:close/>
                  </a:path>
                </a:pathLst>
              </a:custGeom>
              <a:solidFill>
                <a:srgbClr val="F0D0B4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3D7A0FC-6613-4B20-8049-4DDB77CE0F8B}"/>
                  </a:ext>
                </a:extLst>
              </p:cNvPr>
              <p:cNvSpPr/>
              <p:nvPr/>
            </p:nvSpPr>
            <p:spPr>
              <a:xfrm>
                <a:off x="2133600" y="2413000"/>
                <a:ext cx="685800" cy="914400"/>
              </a:xfrm>
              <a:custGeom>
                <a:avLst/>
                <a:gdLst>
                  <a:gd name="connsiteX0" fmla="*/ 533400 w 685800"/>
                  <a:gd name="connsiteY0" fmla="*/ 0 h 914400"/>
                  <a:gd name="connsiteX1" fmla="*/ 685800 w 685800"/>
                  <a:gd name="connsiteY1" fmla="*/ 152400 h 914400"/>
                  <a:gd name="connsiteX2" fmla="*/ 685800 w 685800"/>
                  <a:gd name="connsiteY2" fmla="*/ 762000 h 914400"/>
                  <a:gd name="connsiteX3" fmla="*/ 533400 w 685800"/>
                  <a:gd name="connsiteY3" fmla="*/ 914400 h 914400"/>
                  <a:gd name="connsiteX4" fmla="*/ 457200 w 685800"/>
                  <a:gd name="connsiteY4" fmla="*/ 914400 h 914400"/>
                  <a:gd name="connsiteX5" fmla="*/ 0 w 685800"/>
                  <a:gd name="connsiteY5" fmla="*/ 685800 h 914400"/>
                  <a:gd name="connsiteX6" fmla="*/ 337566 w 685800"/>
                  <a:gd name="connsiteY6" fmla="*/ 78486 h 914400"/>
                  <a:gd name="connsiteX7" fmla="*/ 426720 w 685800"/>
                  <a:gd name="connsiteY7" fmla="*/ 6858 h 914400"/>
                  <a:gd name="connsiteX8" fmla="*/ 470916 w 685800"/>
                  <a:gd name="connsiteY8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5800" h="914400">
                    <a:moveTo>
                      <a:pt x="533400" y="0"/>
                    </a:moveTo>
                    <a:cubicBezTo>
                      <a:pt x="617220" y="0"/>
                      <a:pt x="685800" y="68580"/>
                      <a:pt x="685800" y="152400"/>
                    </a:cubicBezTo>
                    <a:lnTo>
                      <a:pt x="685800" y="762000"/>
                    </a:lnTo>
                    <a:cubicBezTo>
                      <a:pt x="685800" y="845820"/>
                      <a:pt x="617220" y="914400"/>
                      <a:pt x="533400" y="914400"/>
                    </a:cubicBezTo>
                    <a:lnTo>
                      <a:pt x="457200" y="914400"/>
                    </a:lnTo>
                    <a:lnTo>
                      <a:pt x="0" y="685800"/>
                    </a:lnTo>
                    <a:lnTo>
                      <a:pt x="337566" y="78486"/>
                    </a:lnTo>
                    <a:cubicBezTo>
                      <a:pt x="356616" y="43434"/>
                      <a:pt x="389382" y="17526"/>
                      <a:pt x="426720" y="6858"/>
                    </a:cubicBezTo>
                    <a:cubicBezTo>
                      <a:pt x="440436" y="2286"/>
                      <a:pt x="455676" y="0"/>
                      <a:pt x="470916" y="0"/>
                    </a:cubicBezTo>
                    <a:close/>
                  </a:path>
                </a:pathLst>
              </a:custGeom>
              <a:solidFill>
                <a:srgbClr val="F0D0B4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1018789-B7B2-4546-BBCC-9D0574242FD7}"/>
                  </a:ext>
                </a:extLst>
              </p:cNvPr>
              <p:cNvSpPr/>
              <p:nvPr/>
            </p:nvSpPr>
            <p:spPr>
              <a:xfrm>
                <a:off x="3124200" y="3022600"/>
                <a:ext cx="609600" cy="304800"/>
              </a:xfrm>
              <a:custGeom>
                <a:avLst/>
                <a:gdLst>
                  <a:gd name="connsiteX0" fmla="*/ 457200 w 609600"/>
                  <a:gd name="connsiteY0" fmla="*/ 0 h 304800"/>
                  <a:gd name="connsiteX1" fmla="*/ 609600 w 609600"/>
                  <a:gd name="connsiteY1" fmla="*/ 152400 h 304800"/>
                  <a:gd name="connsiteX2" fmla="*/ 564642 w 609600"/>
                  <a:gd name="connsiteY2" fmla="*/ 259842 h 304800"/>
                  <a:gd name="connsiteX3" fmla="*/ 457200 w 609600"/>
                  <a:gd name="connsiteY3" fmla="*/ 304800 h 304800"/>
                  <a:gd name="connsiteX4" fmla="*/ 152400 w 609600"/>
                  <a:gd name="connsiteY4" fmla="*/ 304800 h 304800"/>
                  <a:gd name="connsiteX5" fmla="*/ 0 w 609600"/>
                  <a:gd name="connsiteY5" fmla="*/ 152400 h 304800"/>
                  <a:gd name="connsiteX6" fmla="*/ 44958 w 609600"/>
                  <a:gd name="connsiteY6" fmla="*/ 44958 h 304800"/>
                  <a:gd name="connsiteX7" fmla="*/ 152400 w 609600"/>
                  <a:gd name="connsiteY7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304800">
                    <a:moveTo>
                      <a:pt x="457200" y="0"/>
                    </a:moveTo>
                    <a:cubicBezTo>
                      <a:pt x="541020" y="0"/>
                      <a:pt x="609600" y="68580"/>
                      <a:pt x="609600" y="152400"/>
                    </a:cubicBezTo>
                    <a:cubicBezTo>
                      <a:pt x="609600" y="194310"/>
                      <a:pt x="592836" y="232410"/>
                      <a:pt x="564642" y="259842"/>
                    </a:cubicBezTo>
                    <a:cubicBezTo>
                      <a:pt x="537210" y="288036"/>
                      <a:pt x="499110" y="304800"/>
                      <a:pt x="457200" y="304800"/>
                    </a:cubicBezTo>
                    <a:lnTo>
                      <a:pt x="152400" y="304800"/>
                    </a:lnTo>
                    <a:cubicBezTo>
                      <a:pt x="68580" y="304800"/>
                      <a:pt x="0" y="236220"/>
                      <a:pt x="0" y="152400"/>
                    </a:cubicBezTo>
                    <a:cubicBezTo>
                      <a:pt x="0" y="110490"/>
                      <a:pt x="16764" y="72390"/>
                      <a:pt x="44958" y="44958"/>
                    </a:cubicBezTo>
                    <a:cubicBezTo>
                      <a:pt x="72390" y="16764"/>
                      <a:pt x="110490" y="0"/>
                      <a:pt x="152400" y="0"/>
                    </a:cubicBezTo>
                    <a:close/>
                  </a:path>
                </a:pathLst>
              </a:custGeom>
              <a:solidFill>
                <a:srgbClr val="FF826E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37B4ACF-2E88-4FD1-9B44-412DADF51240}"/>
                  </a:ext>
                </a:extLst>
              </p:cNvPr>
              <p:cNvSpPr/>
              <p:nvPr/>
            </p:nvSpPr>
            <p:spPr>
              <a:xfrm>
                <a:off x="2209800" y="5765800"/>
                <a:ext cx="1219200" cy="304800"/>
              </a:xfrm>
              <a:custGeom>
                <a:avLst/>
                <a:gdLst>
                  <a:gd name="connsiteX0" fmla="*/ 1174242 w 1219200"/>
                  <a:gd name="connsiteY0" fmla="*/ 44958 h 304800"/>
                  <a:gd name="connsiteX1" fmla="*/ 1219200 w 1219200"/>
                  <a:gd name="connsiteY1" fmla="*/ 152400 h 304800"/>
                  <a:gd name="connsiteX2" fmla="*/ 1066800 w 1219200"/>
                  <a:gd name="connsiteY2" fmla="*/ 304800 h 304800"/>
                  <a:gd name="connsiteX3" fmla="*/ 152400 w 1219200"/>
                  <a:gd name="connsiteY3" fmla="*/ 304800 h 304800"/>
                  <a:gd name="connsiteX4" fmla="*/ 0 w 1219200"/>
                  <a:gd name="connsiteY4" fmla="*/ 152400 h 304800"/>
                  <a:gd name="connsiteX5" fmla="*/ 0 w 1219200"/>
                  <a:gd name="connsiteY5" fmla="*/ 0 h 304800"/>
                  <a:gd name="connsiteX6" fmla="*/ 152400 w 1219200"/>
                  <a:gd name="connsiteY6" fmla="*/ 0 h 304800"/>
                  <a:gd name="connsiteX7" fmla="*/ 457200 w 1219200"/>
                  <a:gd name="connsiteY7" fmla="*/ 0 h 304800"/>
                  <a:gd name="connsiteX8" fmla="*/ 914400 w 1219200"/>
                  <a:gd name="connsiteY8" fmla="*/ 0 h 304800"/>
                  <a:gd name="connsiteX9" fmla="*/ 1066800 w 1219200"/>
                  <a:gd name="connsiteY9" fmla="*/ 0 h 304800"/>
                  <a:gd name="connsiteX10" fmla="*/ 1174242 w 1219200"/>
                  <a:gd name="connsiteY10" fmla="*/ 44958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9200" h="304800">
                    <a:moveTo>
                      <a:pt x="1174242" y="44958"/>
                    </a:moveTo>
                    <a:cubicBezTo>
                      <a:pt x="1202436" y="72390"/>
                      <a:pt x="1219200" y="110490"/>
                      <a:pt x="1219200" y="152400"/>
                    </a:cubicBezTo>
                    <a:cubicBezTo>
                      <a:pt x="1219200" y="236220"/>
                      <a:pt x="1150620" y="304800"/>
                      <a:pt x="1066800" y="304800"/>
                    </a:cubicBezTo>
                    <a:lnTo>
                      <a:pt x="152400" y="304800"/>
                    </a:lnTo>
                    <a:cubicBezTo>
                      <a:pt x="68580" y="304800"/>
                      <a:pt x="0" y="236220"/>
                      <a:pt x="0" y="152400"/>
                    </a:cubicBezTo>
                    <a:lnTo>
                      <a:pt x="0" y="0"/>
                    </a:lnTo>
                    <a:lnTo>
                      <a:pt x="152400" y="0"/>
                    </a:lnTo>
                    <a:lnTo>
                      <a:pt x="457200" y="0"/>
                    </a:lnTo>
                    <a:lnTo>
                      <a:pt x="914400" y="0"/>
                    </a:lnTo>
                    <a:lnTo>
                      <a:pt x="1066800" y="0"/>
                    </a:lnTo>
                    <a:cubicBezTo>
                      <a:pt x="1108710" y="0"/>
                      <a:pt x="1146810" y="16764"/>
                      <a:pt x="1174242" y="44958"/>
                    </a:cubicBezTo>
                    <a:close/>
                  </a:path>
                </a:pathLst>
              </a:custGeom>
              <a:solidFill>
                <a:srgbClr val="969FAA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BCD1F74-1286-49F0-9A20-A5D3842E1E05}"/>
                  </a:ext>
                </a:extLst>
              </p:cNvPr>
              <p:cNvSpPr/>
              <p:nvPr/>
            </p:nvSpPr>
            <p:spPr>
              <a:xfrm>
                <a:off x="838200" y="5765800"/>
                <a:ext cx="1524000" cy="304800"/>
              </a:xfrm>
              <a:custGeom>
                <a:avLst/>
                <a:gdLst>
                  <a:gd name="connsiteX0" fmla="*/ 1371600 w 1524000"/>
                  <a:gd name="connsiteY0" fmla="*/ 152400 h 304800"/>
                  <a:gd name="connsiteX1" fmla="*/ 1524000 w 1524000"/>
                  <a:gd name="connsiteY1" fmla="*/ 304800 h 304800"/>
                  <a:gd name="connsiteX2" fmla="*/ 152400 w 1524000"/>
                  <a:gd name="connsiteY2" fmla="*/ 304800 h 304800"/>
                  <a:gd name="connsiteX3" fmla="*/ 0 w 1524000"/>
                  <a:gd name="connsiteY3" fmla="*/ 152400 h 304800"/>
                  <a:gd name="connsiteX4" fmla="*/ 0 w 1524000"/>
                  <a:gd name="connsiteY4" fmla="*/ 0 h 304800"/>
                  <a:gd name="connsiteX5" fmla="*/ 1371600 w 1524000"/>
                  <a:gd name="connsiteY5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4000" h="304800">
                    <a:moveTo>
                      <a:pt x="1371600" y="152400"/>
                    </a:moveTo>
                    <a:cubicBezTo>
                      <a:pt x="1371600" y="236220"/>
                      <a:pt x="1440180" y="304800"/>
                      <a:pt x="1524000" y="304800"/>
                    </a:cubicBezTo>
                    <a:lnTo>
                      <a:pt x="152400" y="304800"/>
                    </a:lnTo>
                    <a:cubicBezTo>
                      <a:pt x="68580" y="304800"/>
                      <a:pt x="0" y="236220"/>
                      <a:pt x="0" y="152400"/>
                    </a:cubicBezTo>
                    <a:lnTo>
                      <a:pt x="0" y="0"/>
                    </a:lnTo>
                    <a:lnTo>
                      <a:pt x="1371600" y="0"/>
                    </a:lnTo>
                    <a:close/>
                  </a:path>
                </a:pathLst>
              </a:custGeom>
              <a:solidFill>
                <a:srgbClr val="AAB2BD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CCDBF5B-E1C0-48F3-B590-2F85FC95EC42}"/>
                  </a:ext>
                </a:extLst>
              </p:cNvPr>
              <p:cNvSpPr/>
              <p:nvPr/>
            </p:nvSpPr>
            <p:spPr>
              <a:xfrm>
                <a:off x="838200" y="4546600"/>
                <a:ext cx="1524000" cy="1219200"/>
              </a:xfrm>
              <a:custGeom>
                <a:avLst/>
                <a:gdLst>
                  <a:gd name="connsiteX0" fmla="*/ 1524000 w 1524000"/>
                  <a:gd name="connsiteY0" fmla="*/ 718566 h 1219200"/>
                  <a:gd name="connsiteX1" fmla="*/ 1524000 w 1524000"/>
                  <a:gd name="connsiteY1" fmla="*/ 1219200 h 1219200"/>
                  <a:gd name="connsiteX2" fmla="*/ 1371600 w 1524000"/>
                  <a:gd name="connsiteY2" fmla="*/ 1219200 h 1219200"/>
                  <a:gd name="connsiteX3" fmla="*/ 0 w 1524000"/>
                  <a:gd name="connsiteY3" fmla="*/ 1219200 h 1219200"/>
                  <a:gd name="connsiteX4" fmla="*/ 0 w 1524000"/>
                  <a:gd name="connsiteY4" fmla="*/ 76200 h 1219200"/>
                  <a:gd name="connsiteX5" fmla="*/ 76200 w 1524000"/>
                  <a:gd name="connsiteY5" fmla="*/ 0 h 1219200"/>
                  <a:gd name="connsiteX6" fmla="*/ 723900 w 1524000"/>
                  <a:gd name="connsiteY6" fmla="*/ 0 h 1219200"/>
                  <a:gd name="connsiteX7" fmla="*/ 1447800 w 1524000"/>
                  <a:gd name="connsiteY7" fmla="*/ 0 h 1219200"/>
                  <a:gd name="connsiteX8" fmla="*/ 1524000 w 1524000"/>
                  <a:gd name="connsiteY8" fmla="*/ 7620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24000" h="1219200">
                    <a:moveTo>
                      <a:pt x="1524000" y="718566"/>
                    </a:moveTo>
                    <a:lnTo>
                      <a:pt x="1524000" y="1219200"/>
                    </a:lnTo>
                    <a:lnTo>
                      <a:pt x="1371600" y="1219200"/>
                    </a:lnTo>
                    <a:lnTo>
                      <a:pt x="0" y="1219200"/>
                    </a:lnTo>
                    <a:lnTo>
                      <a:pt x="0" y="76200"/>
                    </a:lnTo>
                    <a:cubicBezTo>
                      <a:pt x="0" y="34290"/>
                      <a:pt x="34290" y="0"/>
                      <a:pt x="76200" y="0"/>
                    </a:cubicBezTo>
                    <a:lnTo>
                      <a:pt x="723900" y="0"/>
                    </a:lnTo>
                    <a:lnTo>
                      <a:pt x="1447800" y="0"/>
                    </a:lnTo>
                    <a:cubicBezTo>
                      <a:pt x="1489710" y="0"/>
                      <a:pt x="1524000" y="34290"/>
                      <a:pt x="1524000" y="76200"/>
                    </a:cubicBezTo>
                    <a:close/>
                  </a:path>
                </a:pathLst>
              </a:custGeom>
              <a:solidFill>
                <a:srgbClr val="CCD1D9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BEBFCF2-40A9-41D9-8EB5-14DAA6DE17CD}"/>
                  </a:ext>
                </a:extLst>
              </p:cNvPr>
              <p:cNvSpPr/>
              <p:nvPr/>
            </p:nvSpPr>
            <p:spPr>
              <a:xfrm>
                <a:off x="1447800" y="5003800"/>
                <a:ext cx="304800" cy="304800"/>
              </a:xfrm>
              <a:custGeom>
                <a:avLst/>
                <a:gdLst>
                  <a:gd name="connsiteX0" fmla="*/ 304800 w 304800"/>
                  <a:gd name="connsiteY0" fmla="*/ 152400 h 304800"/>
                  <a:gd name="connsiteX1" fmla="*/ 152400 w 304800"/>
                  <a:gd name="connsiteY1" fmla="*/ 304800 h 304800"/>
                  <a:gd name="connsiteX2" fmla="*/ 0 w 304800"/>
                  <a:gd name="connsiteY2" fmla="*/ 152400 h 304800"/>
                  <a:gd name="connsiteX3" fmla="*/ 152400 w 304800"/>
                  <a:gd name="connsiteY3" fmla="*/ 0 h 304800"/>
                  <a:gd name="connsiteX4" fmla="*/ 304800 w 304800"/>
                  <a:gd name="connsiteY4" fmla="*/ 15240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0" h="304800">
                    <a:moveTo>
                      <a:pt x="304800" y="152400"/>
                    </a:moveTo>
                    <a:cubicBezTo>
                      <a:pt x="304800" y="236568"/>
                      <a:pt x="236568" y="304800"/>
                      <a:pt x="152400" y="304800"/>
                    </a:cubicBezTo>
                    <a:cubicBezTo>
                      <a:pt x="68232" y="304800"/>
                      <a:pt x="0" y="236568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236568" y="0"/>
                      <a:pt x="304800" y="68232"/>
                      <a:pt x="304800" y="152400"/>
                    </a:cubicBezTo>
                    <a:close/>
                  </a:path>
                </a:pathLst>
              </a:custGeom>
              <a:solidFill>
                <a:srgbClr val="69D6F4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6" name="Graphic 3">
              <a:extLst>
                <a:ext uri="{FF2B5EF4-FFF2-40B4-BE49-F238E27FC236}">
                  <a16:creationId xmlns:a16="http://schemas.microsoft.com/office/drawing/2014/main" id="{7E37557C-F840-4B52-9408-8296972E8C9D}"/>
                </a:ext>
              </a:extLst>
            </p:cNvPr>
            <p:cNvGrpSpPr/>
            <p:nvPr/>
          </p:nvGrpSpPr>
          <p:grpSpPr>
            <a:xfrm>
              <a:off x="795909" y="1477721"/>
              <a:ext cx="4673802" cy="3907079"/>
              <a:chOff x="795909" y="1477721"/>
              <a:chExt cx="4673802" cy="3907079"/>
            </a:xfrm>
            <a:solidFill>
              <a:srgbClr val="000000"/>
            </a:soli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5B28BB6-B5F1-41F4-A905-0EBBB96BD850}"/>
                  </a:ext>
                </a:extLst>
              </p:cNvPr>
              <p:cNvSpPr/>
              <p:nvPr/>
            </p:nvSpPr>
            <p:spPr>
              <a:xfrm>
                <a:off x="1371600" y="4927600"/>
                <a:ext cx="457200" cy="457200"/>
              </a:xfrm>
              <a:custGeom>
                <a:avLst/>
                <a:gdLst>
                  <a:gd name="connsiteX0" fmla="*/ 228600 w 457200"/>
                  <a:gd name="connsiteY0" fmla="*/ 457200 h 457200"/>
                  <a:gd name="connsiteX1" fmla="*/ 457200 w 457200"/>
                  <a:gd name="connsiteY1" fmla="*/ 228600 h 457200"/>
                  <a:gd name="connsiteX2" fmla="*/ 228600 w 457200"/>
                  <a:gd name="connsiteY2" fmla="*/ 0 h 457200"/>
                  <a:gd name="connsiteX3" fmla="*/ 0 w 457200"/>
                  <a:gd name="connsiteY3" fmla="*/ 228600 h 457200"/>
                  <a:gd name="connsiteX4" fmla="*/ 228600 w 457200"/>
                  <a:gd name="connsiteY4" fmla="*/ 457200 h 457200"/>
                  <a:gd name="connsiteX5" fmla="*/ 228600 w 457200"/>
                  <a:gd name="connsiteY5" fmla="*/ 152400 h 457200"/>
                  <a:gd name="connsiteX6" fmla="*/ 304800 w 457200"/>
                  <a:gd name="connsiteY6" fmla="*/ 228600 h 457200"/>
                  <a:gd name="connsiteX7" fmla="*/ 228600 w 457200"/>
                  <a:gd name="connsiteY7" fmla="*/ 304800 h 457200"/>
                  <a:gd name="connsiteX8" fmla="*/ 152400 w 457200"/>
                  <a:gd name="connsiteY8" fmla="*/ 228600 h 457200"/>
                  <a:gd name="connsiteX9" fmla="*/ 228600 w 457200"/>
                  <a:gd name="connsiteY9" fmla="*/ 1524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7200" h="457200">
                    <a:moveTo>
                      <a:pt x="228600" y="457200"/>
                    </a:moveTo>
                    <a:cubicBezTo>
                      <a:pt x="354635" y="457200"/>
                      <a:pt x="457200" y="354635"/>
                      <a:pt x="457200" y="228600"/>
                    </a:cubicBezTo>
                    <a:cubicBezTo>
                      <a:pt x="457200" y="102565"/>
                      <a:pt x="354635" y="0"/>
                      <a:pt x="228600" y="0"/>
                    </a:cubicBezTo>
                    <a:cubicBezTo>
                      <a:pt x="102565" y="0"/>
                      <a:pt x="0" y="102565"/>
                      <a:pt x="0" y="228600"/>
                    </a:cubicBezTo>
                    <a:cubicBezTo>
                      <a:pt x="0" y="354635"/>
                      <a:pt x="102565" y="457200"/>
                      <a:pt x="228600" y="457200"/>
                    </a:cubicBezTo>
                    <a:close/>
                    <a:moveTo>
                      <a:pt x="228600" y="152400"/>
                    </a:moveTo>
                    <a:cubicBezTo>
                      <a:pt x="270586" y="152400"/>
                      <a:pt x="304800" y="186538"/>
                      <a:pt x="304800" y="228600"/>
                    </a:cubicBezTo>
                    <a:cubicBezTo>
                      <a:pt x="304800" y="270662"/>
                      <a:pt x="270586" y="304800"/>
                      <a:pt x="228600" y="304800"/>
                    </a:cubicBezTo>
                    <a:cubicBezTo>
                      <a:pt x="186614" y="304800"/>
                      <a:pt x="152400" y="270662"/>
                      <a:pt x="152400" y="228600"/>
                    </a:cubicBezTo>
                    <a:cubicBezTo>
                      <a:pt x="152400" y="186538"/>
                      <a:pt x="186614" y="152400"/>
                      <a:pt x="228600" y="152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8F19737-DAA3-49A8-8029-022A4BF2C743}"/>
                  </a:ext>
                </a:extLst>
              </p:cNvPr>
              <p:cNvSpPr/>
              <p:nvPr/>
            </p:nvSpPr>
            <p:spPr>
              <a:xfrm>
                <a:off x="3048000" y="2946400"/>
                <a:ext cx="762000" cy="457200"/>
              </a:xfrm>
              <a:custGeom>
                <a:avLst/>
                <a:gdLst>
                  <a:gd name="connsiteX0" fmla="*/ 0 w 762000"/>
                  <a:gd name="connsiteY0" fmla="*/ 228600 h 457200"/>
                  <a:gd name="connsiteX1" fmla="*/ 228600 w 762000"/>
                  <a:gd name="connsiteY1" fmla="*/ 457200 h 457200"/>
                  <a:gd name="connsiteX2" fmla="*/ 533400 w 762000"/>
                  <a:gd name="connsiteY2" fmla="*/ 457200 h 457200"/>
                  <a:gd name="connsiteX3" fmla="*/ 762000 w 762000"/>
                  <a:gd name="connsiteY3" fmla="*/ 228600 h 457200"/>
                  <a:gd name="connsiteX4" fmla="*/ 533400 w 762000"/>
                  <a:gd name="connsiteY4" fmla="*/ 0 h 457200"/>
                  <a:gd name="connsiteX5" fmla="*/ 228600 w 762000"/>
                  <a:gd name="connsiteY5" fmla="*/ 0 h 457200"/>
                  <a:gd name="connsiteX6" fmla="*/ 0 w 762000"/>
                  <a:gd name="connsiteY6" fmla="*/ 228600 h 457200"/>
                  <a:gd name="connsiteX7" fmla="*/ 609600 w 762000"/>
                  <a:gd name="connsiteY7" fmla="*/ 228600 h 457200"/>
                  <a:gd name="connsiteX8" fmla="*/ 533400 w 762000"/>
                  <a:gd name="connsiteY8" fmla="*/ 304800 h 457200"/>
                  <a:gd name="connsiteX9" fmla="*/ 228600 w 762000"/>
                  <a:gd name="connsiteY9" fmla="*/ 304800 h 457200"/>
                  <a:gd name="connsiteX10" fmla="*/ 152400 w 762000"/>
                  <a:gd name="connsiteY10" fmla="*/ 228600 h 457200"/>
                  <a:gd name="connsiteX11" fmla="*/ 228600 w 762000"/>
                  <a:gd name="connsiteY11" fmla="*/ 152400 h 457200"/>
                  <a:gd name="connsiteX12" fmla="*/ 533400 w 762000"/>
                  <a:gd name="connsiteY12" fmla="*/ 152400 h 457200"/>
                  <a:gd name="connsiteX13" fmla="*/ 609600 w 762000"/>
                  <a:gd name="connsiteY13" fmla="*/ 2286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2000" h="457200">
                    <a:moveTo>
                      <a:pt x="0" y="228600"/>
                    </a:moveTo>
                    <a:cubicBezTo>
                      <a:pt x="0" y="354635"/>
                      <a:pt x="102565" y="457200"/>
                      <a:pt x="228600" y="457200"/>
                    </a:cubicBezTo>
                    <a:lnTo>
                      <a:pt x="533400" y="457200"/>
                    </a:lnTo>
                    <a:cubicBezTo>
                      <a:pt x="659435" y="457200"/>
                      <a:pt x="762000" y="354635"/>
                      <a:pt x="762000" y="228600"/>
                    </a:cubicBezTo>
                    <a:cubicBezTo>
                      <a:pt x="762000" y="102565"/>
                      <a:pt x="659435" y="0"/>
                      <a:pt x="533400" y="0"/>
                    </a:cubicBezTo>
                    <a:lnTo>
                      <a:pt x="228600" y="0"/>
                    </a:lnTo>
                    <a:cubicBezTo>
                      <a:pt x="102565" y="0"/>
                      <a:pt x="0" y="102565"/>
                      <a:pt x="0" y="228600"/>
                    </a:cubicBezTo>
                    <a:close/>
                    <a:moveTo>
                      <a:pt x="609600" y="228600"/>
                    </a:moveTo>
                    <a:cubicBezTo>
                      <a:pt x="609600" y="270662"/>
                      <a:pt x="575386" y="304800"/>
                      <a:pt x="533400" y="304800"/>
                    </a:cubicBezTo>
                    <a:lnTo>
                      <a:pt x="228600" y="304800"/>
                    </a:lnTo>
                    <a:cubicBezTo>
                      <a:pt x="186614" y="304800"/>
                      <a:pt x="152400" y="270662"/>
                      <a:pt x="152400" y="228600"/>
                    </a:cubicBezTo>
                    <a:cubicBezTo>
                      <a:pt x="152400" y="186538"/>
                      <a:pt x="186614" y="152400"/>
                      <a:pt x="228600" y="152400"/>
                    </a:cubicBezTo>
                    <a:lnTo>
                      <a:pt x="533400" y="152400"/>
                    </a:lnTo>
                    <a:cubicBezTo>
                      <a:pt x="575386" y="152400"/>
                      <a:pt x="609600" y="186538"/>
                      <a:pt x="609600" y="2286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236AA46-1F1D-4A1B-B660-99A626F85F39}"/>
                  </a:ext>
                </a:extLst>
              </p:cNvPr>
              <p:cNvSpPr/>
              <p:nvPr/>
            </p:nvSpPr>
            <p:spPr>
              <a:xfrm>
                <a:off x="2994126" y="2435326"/>
                <a:ext cx="314020" cy="412546"/>
              </a:xfrm>
              <a:custGeom>
                <a:avLst/>
                <a:gdLst>
                  <a:gd name="connsiteX0" fmla="*/ 107747 w 314020"/>
                  <a:gd name="connsiteY0" fmla="*/ 412547 h 412546"/>
                  <a:gd name="connsiteX1" fmla="*/ 314020 w 314020"/>
                  <a:gd name="connsiteY1" fmla="*/ 206273 h 412546"/>
                  <a:gd name="connsiteX2" fmla="*/ 107747 w 314020"/>
                  <a:gd name="connsiteY2" fmla="*/ 0 h 412546"/>
                  <a:gd name="connsiteX3" fmla="*/ 0 w 314020"/>
                  <a:gd name="connsiteY3" fmla="*/ 107747 h 412546"/>
                  <a:gd name="connsiteX4" fmla="*/ 98527 w 314020"/>
                  <a:gd name="connsiteY4" fmla="*/ 206273 h 412546"/>
                  <a:gd name="connsiteX5" fmla="*/ 0 w 314020"/>
                  <a:gd name="connsiteY5" fmla="*/ 304800 h 412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020" h="412546">
                    <a:moveTo>
                      <a:pt x="107747" y="412547"/>
                    </a:moveTo>
                    <a:lnTo>
                      <a:pt x="314020" y="206273"/>
                    </a:lnTo>
                    <a:lnTo>
                      <a:pt x="107747" y="0"/>
                    </a:lnTo>
                    <a:lnTo>
                      <a:pt x="0" y="107747"/>
                    </a:lnTo>
                    <a:lnTo>
                      <a:pt x="98527" y="206273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6353C35-72AB-43C1-BFE8-2EDC18EB0C19}"/>
                  </a:ext>
                </a:extLst>
              </p:cNvPr>
              <p:cNvSpPr/>
              <p:nvPr/>
            </p:nvSpPr>
            <p:spPr>
              <a:xfrm>
                <a:off x="3549853" y="2435326"/>
                <a:ext cx="314020" cy="412546"/>
              </a:xfrm>
              <a:custGeom>
                <a:avLst/>
                <a:gdLst>
                  <a:gd name="connsiteX0" fmla="*/ 314020 w 314020"/>
                  <a:gd name="connsiteY0" fmla="*/ 304800 h 412546"/>
                  <a:gd name="connsiteX1" fmla="*/ 215494 w 314020"/>
                  <a:gd name="connsiteY1" fmla="*/ 206273 h 412546"/>
                  <a:gd name="connsiteX2" fmla="*/ 314020 w 314020"/>
                  <a:gd name="connsiteY2" fmla="*/ 107747 h 412546"/>
                  <a:gd name="connsiteX3" fmla="*/ 206273 w 314020"/>
                  <a:gd name="connsiteY3" fmla="*/ 0 h 412546"/>
                  <a:gd name="connsiteX4" fmla="*/ 0 w 314020"/>
                  <a:gd name="connsiteY4" fmla="*/ 206273 h 412546"/>
                  <a:gd name="connsiteX5" fmla="*/ 206273 w 314020"/>
                  <a:gd name="connsiteY5" fmla="*/ 412547 h 412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020" h="412546">
                    <a:moveTo>
                      <a:pt x="314020" y="304800"/>
                    </a:moveTo>
                    <a:lnTo>
                      <a:pt x="215494" y="206273"/>
                    </a:lnTo>
                    <a:lnTo>
                      <a:pt x="314020" y="107747"/>
                    </a:lnTo>
                    <a:lnTo>
                      <a:pt x="206273" y="0"/>
                    </a:lnTo>
                    <a:lnTo>
                      <a:pt x="0" y="206273"/>
                    </a:lnTo>
                    <a:lnTo>
                      <a:pt x="206273" y="412547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862F4F-D481-49E5-A2CE-B6F71E78E34A}"/>
                  </a:ext>
                </a:extLst>
              </p:cNvPr>
              <p:cNvSpPr/>
              <p:nvPr/>
            </p:nvSpPr>
            <p:spPr>
              <a:xfrm>
                <a:off x="795909" y="2502001"/>
                <a:ext cx="699515" cy="884910"/>
              </a:xfrm>
              <a:custGeom>
                <a:avLst/>
                <a:gdLst>
                  <a:gd name="connsiteX0" fmla="*/ 141961 w 699515"/>
                  <a:gd name="connsiteY0" fmla="*/ 515036 h 884910"/>
                  <a:gd name="connsiteX1" fmla="*/ 604266 w 699515"/>
                  <a:gd name="connsiteY1" fmla="*/ 884911 h 884910"/>
                  <a:gd name="connsiteX2" fmla="*/ 699516 w 699515"/>
                  <a:gd name="connsiteY2" fmla="*/ 765886 h 884910"/>
                  <a:gd name="connsiteX3" fmla="*/ 399821 w 699515"/>
                  <a:gd name="connsiteY3" fmla="*/ 526161 h 884910"/>
                  <a:gd name="connsiteX4" fmla="*/ 636880 w 699515"/>
                  <a:gd name="connsiteY4" fmla="*/ 368198 h 884910"/>
                  <a:gd name="connsiteX5" fmla="*/ 84582 w 699515"/>
                  <a:gd name="connsiteY5" fmla="*/ 0 h 884910"/>
                  <a:gd name="connsiteX6" fmla="*/ 0 w 699515"/>
                  <a:gd name="connsiteY6" fmla="*/ 126797 h 884910"/>
                  <a:gd name="connsiteX7" fmla="*/ 362102 w 699515"/>
                  <a:gd name="connsiteY7" fmla="*/ 368198 h 884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9515" h="884910">
                    <a:moveTo>
                      <a:pt x="141961" y="515036"/>
                    </a:moveTo>
                    <a:lnTo>
                      <a:pt x="604266" y="884911"/>
                    </a:lnTo>
                    <a:lnTo>
                      <a:pt x="699516" y="765886"/>
                    </a:lnTo>
                    <a:lnTo>
                      <a:pt x="399821" y="526161"/>
                    </a:lnTo>
                    <a:lnTo>
                      <a:pt x="636880" y="368198"/>
                    </a:lnTo>
                    <a:lnTo>
                      <a:pt x="84582" y="0"/>
                    </a:lnTo>
                    <a:lnTo>
                      <a:pt x="0" y="126797"/>
                    </a:lnTo>
                    <a:lnTo>
                      <a:pt x="362102" y="368198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EF08D5A-2293-47F6-BF75-269ED5F10C73}"/>
                  </a:ext>
                </a:extLst>
              </p:cNvPr>
              <p:cNvSpPr/>
              <p:nvPr/>
            </p:nvSpPr>
            <p:spPr>
              <a:xfrm>
                <a:off x="1554099" y="1477721"/>
                <a:ext cx="536600" cy="1114501"/>
              </a:xfrm>
              <a:custGeom>
                <a:avLst/>
                <a:gdLst>
                  <a:gd name="connsiteX0" fmla="*/ 279502 w 536600"/>
                  <a:gd name="connsiteY0" fmla="*/ 1114501 h 1114501"/>
                  <a:gd name="connsiteX1" fmla="*/ 422300 w 536600"/>
                  <a:gd name="connsiteY1" fmla="*/ 1060856 h 1114501"/>
                  <a:gd name="connsiteX2" fmla="*/ 244602 w 536600"/>
                  <a:gd name="connsiteY2" fmla="*/ 587197 h 1114501"/>
                  <a:gd name="connsiteX3" fmla="*/ 536600 w 536600"/>
                  <a:gd name="connsiteY3" fmla="*/ 660197 h 1114501"/>
                  <a:gd name="connsiteX4" fmla="*/ 347929 w 536600"/>
                  <a:gd name="connsiteY4" fmla="*/ 0 h 1114501"/>
                  <a:gd name="connsiteX5" fmla="*/ 201473 w 536600"/>
                  <a:gd name="connsiteY5" fmla="*/ 41758 h 1114501"/>
                  <a:gd name="connsiteX6" fmla="*/ 317602 w 536600"/>
                  <a:gd name="connsiteY6" fmla="*/ 448361 h 1114501"/>
                  <a:gd name="connsiteX7" fmla="*/ 0 w 536600"/>
                  <a:gd name="connsiteY7" fmla="*/ 368960 h 1114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6600" h="1114501">
                    <a:moveTo>
                      <a:pt x="279502" y="1114501"/>
                    </a:moveTo>
                    <a:lnTo>
                      <a:pt x="422300" y="1060856"/>
                    </a:lnTo>
                    <a:lnTo>
                      <a:pt x="244602" y="587197"/>
                    </a:lnTo>
                    <a:lnTo>
                      <a:pt x="536600" y="660197"/>
                    </a:lnTo>
                    <a:lnTo>
                      <a:pt x="347929" y="0"/>
                    </a:lnTo>
                    <a:lnTo>
                      <a:pt x="201473" y="41758"/>
                    </a:lnTo>
                    <a:lnTo>
                      <a:pt x="317602" y="448361"/>
                    </a:lnTo>
                    <a:lnTo>
                      <a:pt x="0" y="368960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393BE1C-E9EE-4667-8F9B-69E97F19A603}"/>
                  </a:ext>
                </a:extLst>
              </p:cNvPr>
              <p:cNvSpPr/>
              <p:nvPr/>
            </p:nvSpPr>
            <p:spPr>
              <a:xfrm>
                <a:off x="4588687" y="1908175"/>
                <a:ext cx="881024" cy="704850"/>
              </a:xfrm>
              <a:custGeom>
                <a:avLst/>
                <a:gdLst>
                  <a:gd name="connsiteX0" fmla="*/ 370637 w 881024"/>
                  <a:gd name="connsiteY0" fmla="*/ 390296 h 704850"/>
                  <a:gd name="connsiteX1" fmla="*/ 523037 w 881024"/>
                  <a:gd name="connsiteY1" fmla="*/ 542696 h 704850"/>
                  <a:gd name="connsiteX2" fmla="*/ 881024 w 881024"/>
                  <a:gd name="connsiteY2" fmla="*/ 95250 h 704850"/>
                  <a:gd name="connsiteX3" fmla="*/ 762000 w 881024"/>
                  <a:gd name="connsiteY3" fmla="*/ 0 h 704850"/>
                  <a:gd name="connsiteX4" fmla="*/ 510387 w 881024"/>
                  <a:gd name="connsiteY4" fmla="*/ 314554 h 704850"/>
                  <a:gd name="connsiteX5" fmla="*/ 357987 w 881024"/>
                  <a:gd name="connsiteY5" fmla="*/ 162154 h 704850"/>
                  <a:gd name="connsiteX6" fmla="*/ 0 w 881024"/>
                  <a:gd name="connsiteY6" fmla="*/ 609600 h 704850"/>
                  <a:gd name="connsiteX7" fmla="*/ 119024 w 881024"/>
                  <a:gd name="connsiteY7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1024" h="704850">
                    <a:moveTo>
                      <a:pt x="370637" y="390296"/>
                    </a:moveTo>
                    <a:lnTo>
                      <a:pt x="523037" y="542696"/>
                    </a:lnTo>
                    <a:lnTo>
                      <a:pt x="881024" y="95250"/>
                    </a:lnTo>
                    <a:lnTo>
                      <a:pt x="762000" y="0"/>
                    </a:lnTo>
                    <a:lnTo>
                      <a:pt x="510387" y="314554"/>
                    </a:lnTo>
                    <a:lnTo>
                      <a:pt x="357987" y="162154"/>
                    </a:lnTo>
                    <a:lnTo>
                      <a:pt x="0" y="609600"/>
                    </a:lnTo>
                    <a:lnTo>
                      <a:pt x="119024" y="704850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A1B5763-AFB5-9DBB-29E7-6E455F8161E8}"/>
              </a:ext>
            </a:extLst>
          </p:cNvPr>
          <p:cNvSpPr/>
          <p:nvPr/>
        </p:nvSpPr>
        <p:spPr>
          <a:xfrm>
            <a:off x="9147472" y="6330436"/>
            <a:ext cx="2876550" cy="3905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Hardware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483315-EE09-700F-B173-C870BDFE096D}"/>
              </a:ext>
            </a:extLst>
          </p:cNvPr>
          <p:cNvSpPr/>
          <p:nvPr/>
        </p:nvSpPr>
        <p:spPr>
          <a:xfrm>
            <a:off x="9242720" y="5939911"/>
            <a:ext cx="2681289" cy="390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Machine language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6DA486-D875-F003-758E-E8FFABDFFA2B}"/>
              </a:ext>
            </a:extLst>
          </p:cNvPr>
          <p:cNvSpPr/>
          <p:nvPr/>
        </p:nvSpPr>
        <p:spPr>
          <a:xfrm>
            <a:off x="9347496" y="5549386"/>
            <a:ext cx="2443163" cy="390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Assembly language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D4CCF3-948C-1303-4779-5BC0968FCD42}"/>
              </a:ext>
            </a:extLst>
          </p:cNvPr>
          <p:cNvSpPr/>
          <p:nvPr/>
        </p:nvSpPr>
        <p:spPr>
          <a:xfrm>
            <a:off x="9452270" y="4768336"/>
            <a:ext cx="2233613" cy="78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High-level language</a:t>
            </a:r>
          </a:p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(Fortran, C, Pascal)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BC6AA4-063B-4124-26FC-DCACC530E093}"/>
              </a:ext>
            </a:extLst>
          </p:cNvPr>
          <p:cNvSpPr/>
          <p:nvPr/>
        </p:nvSpPr>
        <p:spPr>
          <a:xfrm>
            <a:off x="9551087" y="4177785"/>
            <a:ext cx="2033588" cy="595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OO and visual languages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218175-7189-9939-BA3F-C9C3E0A5484D}"/>
              </a:ext>
            </a:extLst>
          </p:cNvPr>
          <p:cNvCxnSpPr/>
          <p:nvPr/>
        </p:nvCxnSpPr>
        <p:spPr>
          <a:xfrm flipV="1">
            <a:off x="9010738" y="5549386"/>
            <a:ext cx="0" cy="117157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51976E1-3873-75DE-DBC3-4A89402EB67E}"/>
              </a:ext>
            </a:extLst>
          </p:cNvPr>
          <p:cNvCxnSpPr/>
          <p:nvPr/>
        </p:nvCxnSpPr>
        <p:spPr>
          <a:xfrm flipV="1">
            <a:off x="9010738" y="4182834"/>
            <a:ext cx="0" cy="136655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06FD04D-44D5-C72C-D9E2-CB7E5FAADE52}"/>
              </a:ext>
            </a:extLst>
          </p:cNvPr>
          <p:cNvSpPr txBox="1"/>
          <p:nvPr/>
        </p:nvSpPr>
        <p:spPr>
          <a:xfrm rot="16200000">
            <a:off x="8590448" y="595050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LLL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D35891-5671-F18B-CECA-B815494BACDB}"/>
              </a:ext>
            </a:extLst>
          </p:cNvPr>
          <p:cNvSpPr txBox="1"/>
          <p:nvPr/>
        </p:nvSpPr>
        <p:spPr>
          <a:xfrm rot="16200000">
            <a:off x="8576770" y="4598184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HLL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9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apezoid 45">
            <a:extLst>
              <a:ext uri="{FF2B5EF4-FFF2-40B4-BE49-F238E27FC236}">
                <a16:creationId xmlns:a16="http://schemas.microsoft.com/office/drawing/2014/main" id="{330BD440-6266-B347-D01B-E29949AEF1DA}"/>
              </a:ext>
            </a:extLst>
          </p:cNvPr>
          <p:cNvSpPr/>
          <p:nvPr/>
        </p:nvSpPr>
        <p:spPr>
          <a:xfrm rot="10800000">
            <a:off x="8136293" y="2681182"/>
            <a:ext cx="3349689" cy="577461"/>
          </a:xfrm>
          <a:prstGeom prst="trapezoid">
            <a:avLst>
              <a:gd name="adj" fmla="val 1046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5D5A005-6E5C-EB61-76C9-4F2E924F69B0}"/>
              </a:ext>
            </a:extLst>
          </p:cNvPr>
          <p:cNvSpPr/>
          <p:nvPr/>
        </p:nvSpPr>
        <p:spPr>
          <a:xfrm rot="4576251">
            <a:off x="6607145" y="1306746"/>
            <a:ext cx="1863928" cy="1493225"/>
          </a:xfrm>
          <a:prstGeom prst="trapezoid">
            <a:avLst>
              <a:gd name="adj" fmla="val 5339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46C6D-8EED-3895-B44F-978236136573}"/>
              </a:ext>
            </a:extLst>
          </p:cNvPr>
          <p:cNvSpPr/>
          <p:nvPr/>
        </p:nvSpPr>
        <p:spPr>
          <a:xfrm>
            <a:off x="8028326" y="916707"/>
            <a:ext cx="3567536" cy="175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E27D90F-A54E-45EA-BD2D-1231087DD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4" y="3972511"/>
            <a:ext cx="8039921" cy="2556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algn="ctr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lang="en-GB" sz="1800" b="1" dirty="0">
                <a:latin typeface="+mn-lt"/>
              </a:rPr>
              <a:t>Assembly language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Programming using short-code words known as </a:t>
            </a:r>
            <a:r>
              <a:rPr lang="en-GB" sz="1800" b="1" dirty="0">
                <a:latin typeface="+mn-lt"/>
              </a:rPr>
              <a:t>mnemonics</a:t>
            </a:r>
            <a:r>
              <a:rPr lang="en-GB" sz="1800" dirty="0">
                <a:latin typeface="+mn-lt"/>
              </a:rPr>
              <a:t>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The </a:t>
            </a:r>
            <a:r>
              <a:rPr lang="en-GB" sz="1800" b="1" dirty="0">
                <a:latin typeface="+mn-lt"/>
              </a:rPr>
              <a:t>mnemonic</a:t>
            </a:r>
            <a:r>
              <a:rPr lang="en-GB" sz="1800" dirty="0">
                <a:latin typeface="+mn-lt"/>
              </a:rPr>
              <a:t> is received by the computer and looked up in tables.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If a match is found, the word is replaced with a sequence of binary 1s and 0s.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One-to-one relationship.</a:t>
            </a:r>
          </a:p>
          <a:p>
            <a:pPr marL="685800" lvl="1"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Written in </a:t>
            </a:r>
            <a:r>
              <a:rPr lang="en-GB" sz="1800" b="1" dirty="0">
                <a:latin typeface="+mn-lt"/>
              </a:rPr>
              <a:t>assembly</a:t>
            </a:r>
            <a:r>
              <a:rPr lang="en-GB" sz="1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sz="1800" b="1" dirty="0">
                <a:latin typeface="+mn-lt"/>
              </a:rPr>
              <a:t>language</a:t>
            </a:r>
            <a:r>
              <a:rPr lang="en-GB" sz="1800" dirty="0">
                <a:latin typeface="+mn-lt"/>
              </a:rPr>
              <a:t> and translated by a specific </a:t>
            </a:r>
            <a:r>
              <a:rPr lang="en-GB" sz="1800" b="1" dirty="0">
                <a:latin typeface="+mn-lt"/>
              </a:rPr>
              <a:t>assembler</a:t>
            </a:r>
            <a:r>
              <a:rPr lang="en-GB" sz="1800" dirty="0">
                <a:latin typeface="+mn-lt"/>
              </a:rPr>
              <a:t>.</a:t>
            </a:r>
          </a:p>
          <a:p>
            <a:pPr marL="400050" lvl="1" indent="0" algn="l" eaLnBrk="1" hangingPunct="1">
              <a:spcBef>
                <a:spcPct val="20000"/>
              </a:spcBef>
            </a:pPr>
            <a:endParaRPr lang="en-GB" sz="1800" dirty="0"/>
          </a:p>
          <a:p>
            <a:pPr marL="400050" lvl="1" indent="0" algn="l" eaLnBrk="1" hangingPunct="1">
              <a:spcBef>
                <a:spcPct val="20000"/>
              </a:spcBef>
            </a:pPr>
            <a:endParaRPr lang="en-GB" sz="1800" dirty="0"/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/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/>
          </a:p>
          <a:p>
            <a:pPr marL="0" indent="0" algn="l" eaLnBrk="1" hangingPunct="1">
              <a:spcBef>
                <a:spcPct val="20000"/>
              </a:spcBef>
            </a:pPr>
            <a:endParaRPr lang="en-GB" sz="1800" dirty="0"/>
          </a:p>
        </p:txBody>
      </p:sp>
      <p:graphicFrame>
        <p:nvGraphicFramePr>
          <p:cNvPr id="36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98171"/>
              </p:ext>
            </p:extLst>
          </p:nvPr>
        </p:nvGraphicFramePr>
        <p:xfrm>
          <a:off x="8030441" y="901891"/>
          <a:ext cx="1770027" cy="1766202"/>
        </p:xfrm>
        <a:graphic>
          <a:graphicData uri="http://schemas.openxmlformats.org/drawingml/2006/table">
            <a:tbl>
              <a:tblPr/>
              <a:tblGrid>
                <a:gridCol w="752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6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 table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11001001</a:t>
                      </a:r>
                    </a:p>
                  </a:txBody>
                  <a:tcPr marL="110339" marR="110339" marT="55194" marB="551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01010010</a:t>
                      </a:r>
                    </a:p>
                  </a:txBody>
                  <a:tcPr marL="110339" marR="110339" marT="55194" marB="551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MULT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10010001</a:t>
                      </a:r>
                    </a:p>
                  </a:txBody>
                  <a:tcPr marL="110339" marR="110339" marT="55194" marB="551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DIV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01101010</a:t>
                      </a:r>
                    </a:p>
                  </a:txBody>
                  <a:tcPr marL="110339" marR="110339" marT="55194" marB="551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</a:t>
                      </a:r>
                    </a:p>
                  </a:txBody>
                  <a:tcPr marL="110339" marR="110339" marT="55194" marB="551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00011001</a:t>
                      </a:r>
                    </a:p>
                  </a:txBody>
                  <a:tcPr marL="110339" marR="110339" marT="55194" marB="551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194155"/>
              </p:ext>
            </p:extLst>
          </p:nvPr>
        </p:nvGraphicFramePr>
        <p:xfrm>
          <a:off x="9826914" y="902329"/>
          <a:ext cx="1768948" cy="1773794"/>
        </p:xfrm>
        <a:graphic>
          <a:graphicData uri="http://schemas.openxmlformats.org/drawingml/2006/table">
            <a:tbl>
              <a:tblPr/>
              <a:tblGrid>
                <a:gridCol w="752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8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Memory table</a:t>
                      </a: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NUM1</a:t>
                      </a: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100100101</a:t>
                      </a:r>
                    </a:p>
                  </a:txBody>
                  <a:tcPr marL="110272" marR="110272" marT="55160" marB="55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1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NUM2</a:t>
                      </a: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010101100</a:t>
                      </a:r>
                    </a:p>
                  </a:txBody>
                  <a:tcPr marL="110272" marR="110272" marT="55160" marB="55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</a:t>
                      </a: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110010001</a:t>
                      </a:r>
                    </a:p>
                  </a:txBody>
                  <a:tcPr marL="110272" marR="110272" marT="55160" marB="55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1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0272" marR="110272" marT="55160" marB="55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1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0272" marR="110272" marT="55160" marB="55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0272" marR="110272" marT="55160" marB="55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5C02798-5A38-0709-AFEF-6414026377C3}"/>
              </a:ext>
            </a:extLst>
          </p:cNvPr>
          <p:cNvSpPr/>
          <p:nvPr/>
        </p:nvSpPr>
        <p:spPr>
          <a:xfrm>
            <a:off x="176565" y="523174"/>
            <a:ext cx="6140259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Machine-code language and assembly language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8FDC53-F82E-D141-A78B-4B6EE7F0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50" y="1299138"/>
            <a:ext cx="2378141" cy="2372699"/>
          </a:xfrm>
          <a:prstGeom prst="rect">
            <a:avLst/>
          </a:prstGeom>
        </p:spPr>
      </p:pic>
      <p:sp>
        <p:nvSpPr>
          <p:cNvPr id="19" name="Line 20">
            <a:extLst>
              <a:ext uri="{FF2B5EF4-FFF2-40B4-BE49-F238E27FC236}">
                <a16:creationId xmlns:a16="http://schemas.microsoft.com/office/drawing/2014/main" id="{8D0BA959-6C4F-4463-9A62-507767CA8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8874" y="2190209"/>
            <a:ext cx="221171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FD42A2EF-2DB9-1978-63D1-056D3CECC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862" y="1577049"/>
            <a:ext cx="22477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b="1" dirty="0"/>
              <a:t>ADD NUM 1</a:t>
            </a:r>
          </a:p>
        </p:txBody>
      </p:sp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C5A88DF4-A396-C6FB-A497-C3F1279A2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954" y="1235770"/>
            <a:ext cx="2378141" cy="2378141"/>
          </a:xfrm>
          <a:prstGeom prst="rect">
            <a:avLst/>
          </a:prstGeom>
        </p:spPr>
      </p:pic>
      <p:sp>
        <p:nvSpPr>
          <p:cNvPr id="32" name="Line 20">
            <a:extLst>
              <a:ext uri="{FF2B5EF4-FFF2-40B4-BE49-F238E27FC236}">
                <a16:creationId xmlns:a16="http://schemas.microsoft.com/office/drawing/2014/main" id="{642DD89A-D4E3-BE51-E966-EA6AF67D91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48094" y="3267992"/>
            <a:ext cx="449256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 dirty="0"/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D3879329-06B9-70BF-A9C0-A4435435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987" y="2798893"/>
            <a:ext cx="37236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b="1" dirty="0"/>
              <a:t>11001001100100101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0C294A-426A-A1A5-6B8D-81E466BC6B11}"/>
              </a:ext>
            </a:extLst>
          </p:cNvPr>
          <p:cNvSpPr/>
          <p:nvPr/>
        </p:nvSpPr>
        <p:spPr>
          <a:xfrm>
            <a:off x="9147472" y="6330436"/>
            <a:ext cx="2876550" cy="3905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Hardware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B0C6EA-916B-A690-8202-A77C348E5A69}"/>
              </a:ext>
            </a:extLst>
          </p:cNvPr>
          <p:cNvSpPr/>
          <p:nvPr/>
        </p:nvSpPr>
        <p:spPr>
          <a:xfrm>
            <a:off x="9242720" y="5939911"/>
            <a:ext cx="2681289" cy="390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Machine language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21C764-568C-541C-254E-AD219FF49294}"/>
              </a:ext>
            </a:extLst>
          </p:cNvPr>
          <p:cNvSpPr/>
          <p:nvPr/>
        </p:nvSpPr>
        <p:spPr>
          <a:xfrm>
            <a:off x="9347496" y="5549386"/>
            <a:ext cx="2443163" cy="390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Assembly language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D84DE7-6AC5-C171-9D33-F9E19454F704}"/>
              </a:ext>
            </a:extLst>
          </p:cNvPr>
          <p:cNvSpPr/>
          <p:nvPr/>
        </p:nvSpPr>
        <p:spPr>
          <a:xfrm>
            <a:off x="9452270" y="4768336"/>
            <a:ext cx="2233613" cy="78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High-level language</a:t>
            </a:r>
          </a:p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(Fortran, C, Pascal)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53496B-56AD-2460-0AC8-C03F4731AA39}"/>
              </a:ext>
            </a:extLst>
          </p:cNvPr>
          <p:cNvSpPr/>
          <p:nvPr/>
        </p:nvSpPr>
        <p:spPr>
          <a:xfrm>
            <a:off x="9551087" y="4177785"/>
            <a:ext cx="2033588" cy="595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OO and visual languages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4D4D4B-F3F8-22DD-AA73-A100123066CA}"/>
              </a:ext>
            </a:extLst>
          </p:cNvPr>
          <p:cNvCxnSpPr/>
          <p:nvPr/>
        </p:nvCxnSpPr>
        <p:spPr>
          <a:xfrm flipV="1">
            <a:off x="9010738" y="5549386"/>
            <a:ext cx="0" cy="117157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552D42-B10B-368C-156A-C887DCA0F85C}"/>
              </a:ext>
            </a:extLst>
          </p:cNvPr>
          <p:cNvCxnSpPr/>
          <p:nvPr/>
        </p:nvCxnSpPr>
        <p:spPr>
          <a:xfrm flipV="1">
            <a:off x="9010738" y="4182834"/>
            <a:ext cx="0" cy="136655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AE5E748-3D62-DE58-D239-127084E18F77}"/>
              </a:ext>
            </a:extLst>
          </p:cNvPr>
          <p:cNvSpPr txBox="1"/>
          <p:nvPr/>
        </p:nvSpPr>
        <p:spPr>
          <a:xfrm rot="16200000">
            <a:off x="8590448" y="595050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LLL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602D5E-CD5C-F2D1-38F7-2E79C648A90E}"/>
              </a:ext>
            </a:extLst>
          </p:cNvPr>
          <p:cNvSpPr txBox="1"/>
          <p:nvPr/>
        </p:nvSpPr>
        <p:spPr>
          <a:xfrm rot="16200000">
            <a:off x="8576770" y="4598184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HLL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205300AD-538E-759F-C341-9E7254CDD9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1614524" y="1140518"/>
            <a:ext cx="400384" cy="400384"/>
          </a:xfrm>
          <a:prstGeom prst="rect">
            <a:avLst/>
          </a:prstGeom>
        </p:spPr>
      </p:pic>
      <p:pic>
        <p:nvPicPr>
          <p:cNvPr id="45" name="Graphic 44" descr="Magnifying glass with solid fill">
            <a:extLst>
              <a:ext uri="{FF2B5EF4-FFF2-40B4-BE49-F238E27FC236}">
                <a16:creationId xmlns:a16="http://schemas.microsoft.com/office/drawing/2014/main" id="{E3F652E3-DF05-2CE9-F487-776AD4A5A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609280" y="1149849"/>
            <a:ext cx="400384" cy="4003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572CEF-6429-3EDA-E92C-3F1369A1DE04}"/>
              </a:ext>
            </a:extLst>
          </p:cNvPr>
          <p:cNvSpPr/>
          <p:nvPr/>
        </p:nvSpPr>
        <p:spPr>
          <a:xfrm>
            <a:off x="8028326" y="901891"/>
            <a:ext cx="3567536" cy="177379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34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AD926B-63FC-4701-BC8D-C0B112CEB516}"/>
              </a:ext>
            </a:extLst>
          </p:cNvPr>
          <p:cNvSpPr/>
          <p:nvPr/>
        </p:nvSpPr>
        <p:spPr>
          <a:xfrm>
            <a:off x="176565" y="1063893"/>
            <a:ext cx="8079341" cy="818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chemeClr val="tx1"/>
              </a:buClr>
            </a:pPr>
            <a:r>
              <a:rPr lang="en-GB" b="1" dirty="0">
                <a:solidFill>
                  <a:schemeClr val="tx1"/>
                </a:solidFill>
              </a:rPr>
              <a:t>Assembly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b="1" dirty="0">
                <a:solidFill>
                  <a:schemeClr val="tx1"/>
                </a:solidFill>
              </a:rPr>
              <a:t>language </a:t>
            </a:r>
            <a:r>
              <a:rPr lang="en-GB" dirty="0">
                <a:solidFill>
                  <a:schemeClr val="tx1"/>
                </a:solidFill>
              </a:rPr>
              <a:t>is directly translated into binary</a:t>
            </a:r>
            <a:r>
              <a:rPr lang="en-GB" b="1" dirty="0">
                <a:solidFill>
                  <a:schemeClr val="tx1"/>
                </a:solidFill>
              </a:rPr>
              <a:t> machine code </a:t>
            </a:r>
            <a:r>
              <a:rPr lang="en-GB" dirty="0">
                <a:solidFill>
                  <a:schemeClr val="tx1"/>
                </a:solidFill>
              </a:rPr>
              <a:t>by an </a:t>
            </a:r>
            <a:r>
              <a:rPr lang="en-GB" b="1" dirty="0">
                <a:solidFill>
                  <a:schemeClr val="tx1"/>
                </a:solidFill>
              </a:rPr>
              <a:t>assembler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400984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assembly language?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CB142-844D-3E9A-669E-36134A6D6F45}"/>
              </a:ext>
            </a:extLst>
          </p:cNvPr>
          <p:cNvGrpSpPr/>
          <p:nvPr/>
        </p:nvGrpSpPr>
        <p:grpSpPr>
          <a:xfrm>
            <a:off x="979238" y="1937172"/>
            <a:ext cx="10431724" cy="4153716"/>
            <a:chOff x="2220210" y="2170347"/>
            <a:chExt cx="8135508" cy="323940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F44303A-B1A9-4B7A-B14B-9ED87889EBE3}"/>
                </a:ext>
              </a:extLst>
            </p:cNvPr>
            <p:cNvSpPr/>
            <p:nvPr/>
          </p:nvSpPr>
          <p:spPr>
            <a:xfrm>
              <a:off x="7079261" y="3145018"/>
              <a:ext cx="1263192" cy="5679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8FDA773-D28C-4951-8CF1-0902D26151CA}"/>
                </a:ext>
              </a:extLst>
            </p:cNvPr>
            <p:cNvGrpSpPr/>
            <p:nvPr/>
          </p:nvGrpSpPr>
          <p:grpSpPr>
            <a:xfrm>
              <a:off x="3768990" y="2198578"/>
              <a:ext cx="3562322" cy="3063274"/>
              <a:chOff x="1772239" y="2477991"/>
              <a:chExt cx="3562322" cy="3063274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1EBB2A5-9AFE-4C87-B0C1-5EDFFE53B149}"/>
                  </a:ext>
                </a:extLst>
              </p:cNvPr>
              <p:cNvSpPr/>
              <p:nvPr/>
            </p:nvSpPr>
            <p:spPr>
              <a:xfrm>
                <a:off x="1772239" y="3429000"/>
                <a:ext cx="1263192" cy="5679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EBB4FD9-0A0C-4902-BC09-925E8C7C6C0A}"/>
                  </a:ext>
                </a:extLst>
              </p:cNvPr>
              <p:cNvGrpSpPr/>
              <p:nvPr/>
            </p:nvGrpSpPr>
            <p:grpSpPr>
              <a:xfrm>
                <a:off x="2817255" y="2477991"/>
                <a:ext cx="2517306" cy="3063274"/>
                <a:chOff x="2955260" y="2470273"/>
                <a:chExt cx="2517306" cy="3063274"/>
              </a:xfrm>
            </p:grpSpPr>
            <p:pic>
              <p:nvPicPr>
                <p:cNvPr id="12" name="Picture 11" descr="A picture containing wheel, clock&#10;&#10;Description automatically generated">
                  <a:extLst>
                    <a:ext uri="{FF2B5EF4-FFF2-40B4-BE49-F238E27FC236}">
                      <a16:creationId xmlns:a16="http://schemas.microsoft.com/office/drawing/2014/main" id="{C81B4B50-F9FB-4467-9B02-1D033D663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5260" y="2470273"/>
                  <a:ext cx="2517306" cy="2517306"/>
                </a:xfrm>
                <a:prstGeom prst="rect">
                  <a:avLst/>
                </a:prstGeom>
              </p:spPr>
            </p:pic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3EBE2FB-17CA-4B1C-9B9C-CE2B9256E993}"/>
                    </a:ext>
                  </a:extLst>
                </p:cNvPr>
                <p:cNvSpPr/>
                <p:nvPr/>
              </p:nvSpPr>
              <p:spPr>
                <a:xfrm>
                  <a:off x="3274899" y="5009533"/>
                  <a:ext cx="1878028" cy="524014"/>
                </a:xfrm>
                <a:prstGeom prst="rect">
                  <a:avLst/>
                </a:prstGeom>
                <a:solidFill>
                  <a:schemeClr val="bg1">
                    <a:alpha val="7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b="1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Translator</a:t>
                  </a:r>
                  <a:br>
                    <a:rPr lang="en-GB" b="1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</a:br>
                  <a:r>
                    <a:rPr lang="en-GB" b="1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(assembler)</a:t>
                  </a:r>
                  <a:endParaRPr lang="en-GB" sz="105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A4DF526-73B0-4040-A9A3-9F8B1BC25DA6}"/>
                </a:ext>
              </a:extLst>
            </p:cNvPr>
            <p:cNvGrpSpPr/>
            <p:nvPr/>
          </p:nvGrpSpPr>
          <p:grpSpPr>
            <a:xfrm>
              <a:off x="2220210" y="2198578"/>
              <a:ext cx="1990362" cy="3063274"/>
              <a:chOff x="6156942" y="2477991"/>
              <a:chExt cx="1990362" cy="3063274"/>
            </a:xfrm>
          </p:grpSpPr>
          <p:grpSp>
            <p:nvGrpSpPr>
              <p:cNvPr id="16" name="Graphic 14">
                <a:extLst>
                  <a:ext uri="{FF2B5EF4-FFF2-40B4-BE49-F238E27FC236}">
                    <a16:creationId xmlns:a16="http://schemas.microsoft.com/office/drawing/2014/main" id="{10E16B40-7655-4A4A-9FF7-EBBD9CDC6105}"/>
                  </a:ext>
                </a:extLst>
              </p:cNvPr>
              <p:cNvGrpSpPr/>
              <p:nvPr/>
            </p:nvGrpSpPr>
            <p:grpSpPr>
              <a:xfrm>
                <a:off x="6156942" y="2477991"/>
                <a:ext cx="1990362" cy="2509587"/>
                <a:chOff x="3671349" y="993174"/>
                <a:chExt cx="4676118" cy="5895975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AB833D30-1518-4F94-9229-9E4BEC9EEACB}"/>
                    </a:ext>
                  </a:extLst>
                </p:cNvPr>
                <p:cNvSpPr/>
                <p:nvPr/>
              </p:nvSpPr>
              <p:spPr>
                <a:xfrm>
                  <a:off x="3671349" y="993174"/>
                  <a:ext cx="4676118" cy="5895975"/>
                </a:xfrm>
                <a:custGeom>
                  <a:avLst/>
                  <a:gdLst>
                    <a:gd name="connsiteX0" fmla="*/ 4676118 w 4676118"/>
                    <a:gd name="connsiteY0" fmla="*/ 203309 h 5895975"/>
                    <a:gd name="connsiteX1" fmla="*/ 4472809 w 4676118"/>
                    <a:gd name="connsiteY1" fmla="*/ 0 h 5895975"/>
                    <a:gd name="connsiteX2" fmla="*/ 1321512 w 4676118"/>
                    <a:gd name="connsiteY2" fmla="*/ 0 h 5895975"/>
                    <a:gd name="connsiteX3" fmla="*/ 1321512 w 4676118"/>
                    <a:gd name="connsiteY3" fmla="*/ 1016547 h 5895975"/>
                    <a:gd name="connsiteX4" fmla="*/ 1118202 w 4676118"/>
                    <a:gd name="connsiteY4" fmla="*/ 1219857 h 5895975"/>
                    <a:gd name="connsiteX5" fmla="*/ 0 w 4676118"/>
                    <a:gd name="connsiteY5" fmla="*/ 1219857 h 5895975"/>
                    <a:gd name="connsiteX6" fmla="*/ 0 w 4676118"/>
                    <a:gd name="connsiteY6" fmla="*/ 5692666 h 5895975"/>
                    <a:gd name="connsiteX7" fmla="*/ 203309 w 4676118"/>
                    <a:gd name="connsiteY7" fmla="*/ 5895975 h 5895975"/>
                    <a:gd name="connsiteX8" fmla="*/ 4472809 w 4676118"/>
                    <a:gd name="connsiteY8" fmla="*/ 5895975 h 5895975"/>
                    <a:gd name="connsiteX9" fmla="*/ 4676118 w 4676118"/>
                    <a:gd name="connsiteY9" fmla="*/ 5692666 h 5895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76118" h="5895975">
                      <a:moveTo>
                        <a:pt x="4676118" y="203309"/>
                      </a:moveTo>
                      <a:cubicBezTo>
                        <a:pt x="4675775" y="91182"/>
                        <a:pt x="4584934" y="347"/>
                        <a:pt x="4472809" y="0"/>
                      </a:cubicBezTo>
                      <a:lnTo>
                        <a:pt x="1321512" y="0"/>
                      </a:lnTo>
                      <a:lnTo>
                        <a:pt x="1321512" y="1016547"/>
                      </a:lnTo>
                      <a:cubicBezTo>
                        <a:pt x="1321512" y="1128824"/>
                        <a:pt x="1230479" y="1219857"/>
                        <a:pt x="1118202" y="1219857"/>
                      </a:cubicBezTo>
                      <a:lnTo>
                        <a:pt x="0" y="1219857"/>
                      </a:lnTo>
                      <a:lnTo>
                        <a:pt x="0" y="5692666"/>
                      </a:lnTo>
                      <a:cubicBezTo>
                        <a:pt x="347" y="5804791"/>
                        <a:pt x="91182" y="5895632"/>
                        <a:pt x="203309" y="5895975"/>
                      </a:cubicBezTo>
                      <a:lnTo>
                        <a:pt x="4472809" y="5895975"/>
                      </a:lnTo>
                      <a:cubicBezTo>
                        <a:pt x="4584934" y="5895632"/>
                        <a:pt x="4675775" y="5804791"/>
                        <a:pt x="4676118" y="5692666"/>
                      </a:cubicBezTo>
                      <a:close/>
                    </a:path>
                  </a:pathLst>
                </a:custGeom>
                <a:solidFill>
                  <a:srgbClr val="FFE9CC"/>
                </a:solidFill>
                <a:ln w="127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D71C375-CA6F-48F4-82E3-2067F967A519}"/>
                    </a:ext>
                  </a:extLst>
                </p:cNvPr>
                <p:cNvSpPr/>
                <p:nvPr/>
              </p:nvSpPr>
              <p:spPr>
                <a:xfrm>
                  <a:off x="4992860" y="3747089"/>
                  <a:ext cx="3354606" cy="3142059"/>
                </a:xfrm>
                <a:custGeom>
                  <a:avLst/>
                  <a:gdLst>
                    <a:gd name="connsiteX0" fmla="*/ 0 w 3354606"/>
                    <a:gd name="connsiteY0" fmla="*/ 3142059 h 3142059"/>
                    <a:gd name="connsiteX1" fmla="*/ 3151297 w 3354606"/>
                    <a:gd name="connsiteY1" fmla="*/ 3142059 h 3142059"/>
                    <a:gd name="connsiteX2" fmla="*/ 3354607 w 3354606"/>
                    <a:gd name="connsiteY2" fmla="*/ 2938750 h 3142059"/>
                    <a:gd name="connsiteX3" fmla="*/ 3354607 w 3354606"/>
                    <a:gd name="connsiteY3" fmla="*/ 0 h 3142059"/>
                    <a:gd name="connsiteX4" fmla="*/ 0 w 3354606"/>
                    <a:gd name="connsiteY4" fmla="*/ 3142059 h 3142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4606" h="3142059">
                      <a:moveTo>
                        <a:pt x="0" y="3142059"/>
                      </a:moveTo>
                      <a:lnTo>
                        <a:pt x="3151297" y="3142059"/>
                      </a:lnTo>
                      <a:cubicBezTo>
                        <a:pt x="3263575" y="3142059"/>
                        <a:pt x="3354607" y="3051027"/>
                        <a:pt x="3354607" y="2938750"/>
                      </a:cubicBezTo>
                      <a:lnTo>
                        <a:pt x="3354607" y="0"/>
                      </a:lnTo>
                      <a:cubicBezTo>
                        <a:pt x="2799330" y="1520996"/>
                        <a:pt x="1554009" y="2687396"/>
                        <a:pt x="0" y="3142059"/>
                      </a:cubicBezTo>
                      <a:close/>
                    </a:path>
                  </a:pathLst>
                </a:custGeom>
                <a:solidFill>
                  <a:srgbClr val="FFE2BD"/>
                </a:solidFill>
                <a:ln w="127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8A141EC3-111E-4AD4-A54E-BF79F17E6139}"/>
                    </a:ext>
                  </a:extLst>
                </p:cNvPr>
                <p:cNvSpPr/>
                <p:nvPr/>
              </p:nvSpPr>
              <p:spPr>
                <a:xfrm>
                  <a:off x="3671349" y="993174"/>
                  <a:ext cx="1321511" cy="1219856"/>
                </a:xfrm>
                <a:custGeom>
                  <a:avLst/>
                  <a:gdLst>
                    <a:gd name="connsiteX0" fmla="*/ 1321512 w 1321511"/>
                    <a:gd name="connsiteY0" fmla="*/ 1016547 h 1219856"/>
                    <a:gd name="connsiteX1" fmla="*/ 1321512 w 1321511"/>
                    <a:gd name="connsiteY1" fmla="*/ 0 h 1219856"/>
                    <a:gd name="connsiteX2" fmla="*/ 0 w 1321511"/>
                    <a:gd name="connsiteY2" fmla="*/ 1219857 h 1219856"/>
                    <a:gd name="connsiteX3" fmla="*/ 1118202 w 1321511"/>
                    <a:gd name="connsiteY3" fmla="*/ 1219857 h 1219856"/>
                    <a:gd name="connsiteX4" fmla="*/ 1321512 w 1321511"/>
                    <a:gd name="connsiteY4" fmla="*/ 1016547 h 1219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1511" h="1219856">
                      <a:moveTo>
                        <a:pt x="1321512" y="1016547"/>
                      </a:moveTo>
                      <a:lnTo>
                        <a:pt x="1321512" y="0"/>
                      </a:lnTo>
                      <a:lnTo>
                        <a:pt x="0" y="1219857"/>
                      </a:lnTo>
                      <a:lnTo>
                        <a:pt x="1118202" y="1219857"/>
                      </a:lnTo>
                      <a:cubicBezTo>
                        <a:pt x="1230479" y="1219857"/>
                        <a:pt x="1321512" y="1128824"/>
                        <a:pt x="1321512" y="1016547"/>
                      </a:cubicBezTo>
                      <a:close/>
                    </a:path>
                  </a:pathLst>
                </a:custGeom>
                <a:solidFill>
                  <a:srgbClr val="FFA993"/>
                </a:solidFill>
                <a:ln w="1270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6096F0-E8FB-4831-A356-B0F99F54BFBB}"/>
                  </a:ext>
                </a:extLst>
              </p:cNvPr>
              <p:cNvSpPr txBox="1"/>
              <p:nvPr/>
            </p:nvSpPr>
            <p:spPr>
              <a:xfrm>
                <a:off x="6336217" y="2973561"/>
                <a:ext cx="1654844" cy="1512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Consolas" panose="020B0609020204030204" pitchFamily="49" charset="0"/>
                  </a:rPr>
                  <a:t>     INP</a:t>
                </a: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     STA Num1</a:t>
                </a: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     INP</a:t>
                </a: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     ADD Num1</a:t>
                </a: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     OUT</a:t>
                </a:r>
              </a:p>
              <a:p>
                <a:r>
                  <a:rPr lang="en-GB" sz="2000" dirty="0">
                    <a:latin typeface="Consolas" panose="020B0609020204030204" pitchFamily="49" charset="0"/>
                  </a:rPr>
                  <a:t>Num1 DAT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3B63984-8717-4339-A070-DAF0C246AC01}"/>
                  </a:ext>
                </a:extLst>
              </p:cNvPr>
              <p:cNvSpPr/>
              <p:nvPr/>
            </p:nvSpPr>
            <p:spPr>
              <a:xfrm>
                <a:off x="6213109" y="5017251"/>
                <a:ext cx="1878028" cy="524014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Low-level </a:t>
                </a:r>
                <a:br>
                  <a:rPr lang="en-GB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assembly code</a:t>
                </a:r>
              </a:p>
            </p:txBody>
          </p:sp>
        </p:grpSp>
        <p:pic>
          <p:nvPicPr>
            <p:cNvPr id="5" name="Picture 4" descr="A close up of a sign&#10;&#10;Description automatically generated">
              <a:extLst>
                <a:ext uri="{FF2B5EF4-FFF2-40B4-BE49-F238E27FC236}">
                  <a16:creationId xmlns:a16="http://schemas.microsoft.com/office/drawing/2014/main" id="{35D2AB0D-8C49-4AAD-8F6D-156B27F52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8412" y="2170347"/>
              <a:ext cx="2517306" cy="251730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C95D1E-D471-49EF-99BA-25B191ACCAF2}"/>
                </a:ext>
              </a:extLst>
            </p:cNvPr>
            <p:cNvSpPr/>
            <p:nvPr/>
          </p:nvSpPr>
          <p:spPr>
            <a:xfrm>
              <a:off x="8396671" y="4737838"/>
              <a:ext cx="1400788" cy="671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Machine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3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1844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Machine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Binary representation of instructions in a format that the CPU can decode and execute.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Low-level languages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Written in </a:t>
            </a:r>
            <a:r>
              <a:rPr lang="en-GB" b="1" dirty="0"/>
              <a:t>assembly</a:t>
            </a:r>
            <a:r>
              <a:rPr lang="en-GB" dirty="0"/>
              <a:t> </a:t>
            </a:r>
            <a:r>
              <a:rPr lang="en-GB" b="1" dirty="0"/>
              <a:t>language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form of </a:t>
            </a:r>
            <a:r>
              <a:rPr lang="en-GB" b="1" dirty="0"/>
              <a:t>low-level language </a:t>
            </a:r>
            <a:r>
              <a:rPr lang="en-GB" dirty="0"/>
              <a:t>that uses </a:t>
            </a:r>
            <a:r>
              <a:rPr lang="en-GB" b="1" dirty="0"/>
              <a:t>mnemonics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Mnemonics </a:t>
            </a:r>
            <a:r>
              <a:rPr lang="en-GB" dirty="0"/>
              <a:t>are abbreviations of operations, typically using short alphabet codes – e.g., LDA, STA, INP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Translated to an </a:t>
            </a:r>
            <a:r>
              <a:rPr lang="en-GB" b="1" dirty="0"/>
              <a:t>assembler</a:t>
            </a:r>
            <a:r>
              <a:rPr lang="en-GB" dirty="0"/>
              <a:t> into </a:t>
            </a:r>
            <a:r>
              <a:rPr lang="en-GB" b="1" dirty="0"/>
              <a:t>machine code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Assembly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4F9C767A-CEE3-4596-84E4-1500CC4D6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437</Words>
  <Application>Microsoft Office PowerPoint</Application>
  <PresentationFormat>Widescreen</PresentationFormat>
  <Paragraphs>116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136</cp:revision>
  <dcterms:created xsi:type="dcterms:W3CDTF">2019-10-14T15:21:06Z</dcterms:created>
  <dcterms:modified xsi:type="dcterms:W3CDTF">2022-08-11T11:39:11Z</dcterms:modified>
</cp:coreProperties>
</file>