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2"/>
  </p:notesMasterIdLst>
  <p:handoutMasterIdLst>
    <p:handoutMasterId r:id="rId13"/>
  </p:handoutMasterIdLst>
  <p:sldIdLst>
    <p:sldId id="257" r:id="rId2"/>
    <p:sldId id="265" r:id="rId3"/>
    <p:sldId id="266" r:id="rId4"/>
    <p:sldId id="268" r:id="rId5"/>
    <p:sldId id="269" r:id="rId6"/>
    <p:sldId id="270" r:id="rId7"/>
    <p:sldId id="267" r:id="rId8"/>
    <p:sldId id="272" r:id="rId9"/>
    <p:sldId id="260" r:id="rId10"/>
    <p:sldId id="292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B2B3B5"/>
    <a:srgbClr val="E1E9EC"/>
    <a:srgbClr val="50C66F"/>
    <a:srgbClr val="FBBA67"/>
    <a:srgbClr val="EE634A"/>
    <a:srgbClr val="53433C"/>
    <a:srgbClr val="C00000"/>
    <a:srgbClr val="FF9999"/>
    <a:srgbClr val="7030A0"/>
    <a:srgbClr val="00B05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2377" autoAdjust="0"/>
    <p:restoredTop sz="96323" autoAdjust="0"/>
  </p:normalViewPr>
  <p:slideViewPr>
    <p:cSldViewPr snapToGrid="0">
      <p:cViewPr varScale="1">
        <p:scale>
          <a:sx n="109" d="100"/>
          <a:sy n="109" d="100"/>
        </p:scale>
        <p:origin x="300" y="10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86" d="100"/>
          <a:sy n="86" d="100"/>
        </p:scale>
        <p:origin x="3408" y="8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3EA54553-2A3F-4C94-AA62-ABFC40E07E5C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0996737-DD0F-4016-9F43-1C3C1167168C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EE11316-EC54-4B9D-B716-15D72C7F09B1}" type="datetimeFigureOut">
              <a:rPr lang="en-GB" smtClean="0"/>
              <a:t>15/08/2022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47A745F-1972-497D-8174-B5868433DF09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8CE6AC0-619C-486F-A045-23AE3DF3E3C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93CFB52-3982-4249-B609-86D9E888361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9516366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4001D13-C50D-4862-A50B-4E5D0E7CA144}" type="datetimeFigureOut">
              <a:rPr lang="en-GB" smtClean="0"/>
              <a:t>15/08/2022</a:t>
            </a:fld>
            <a:endParaRPr lang="en-GB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80E031B-FEB2-4221-8849-89831B3F1108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6976442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767369-A355-4D19-AEEC-9D0100EF3C3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7924699-1673-40E6-9241-180D7794217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CBE935-35F7-402A-9F4D-C68B29248B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EBD5A5-95A5-4ED6-B746-12AF9CEAF3AB}" type="datetimeFigureOut">
              <a:rPr lang="en-GB" smtClean="0"/>
              <a:t>15/08/2022</a:t>
            </a:fld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4D7A12-EBDB-45B0-9FF5-F17A7EF671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7C7090-3E02-4EBA-95BB-2F3FF45C1E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6102D-FACC-46D2-982F-C509AB4FB7F4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0184295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977CF4-093B-4C66-A107-491AFAE190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7249AB-C9F4-4A3F-A472-C5FDCF3AAF3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6A491B-E55E-4F96-A0A2-08ABE85381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EBD5A5-95A5-4ED6-B746-12AF9CEAF3AB}" type="datetimeFigureOut">
              <a:rPr lang="en-GB" smtClean="0"/>
              <a:t>15/08/2022</a:t>
            </a:fld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5EE9C3-3BD7-499C-9C8F-E914AF0CCD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8CA0F2C-BB77-4D20-BD01-009748E06A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6102D-FACC-46D2-982F-C509AB4FB7F4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4430069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CEAB41-C5F4-4F77-8A5C-14CA38A3E7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FC5B807-A41F-4934-B9B5-F06B7FECFD6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BA9AEC-9ECF-4105-84CF-CCC301ADB0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EBD5A5-95A5-4ED6-B746-12AF9CEAF3AB}" type="datetimeFigureOut">
              <a:rPr lang="en-GB" smtClean="0"/>
              <a:t>15/08/2022</a:t>
            </a:fld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9A81FA-05E8-4A50-9FC5-A94F3634CB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B13BE1-EE3A-45AF-BF76-41B86D070B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6102D-FACC-46D2-982F-C509AB4FB7F4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7307353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601685-8ECA-46F3-BC78-B8E4D43D8A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A252D3-EA14-47C6-8BDF-B549E97DE48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89FA317-5ECF-4693-88DD-BCA7EC3919D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CCCA0AA-2226-49B9-8142-4F45D8CE68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EBD5A5-95A5-4ED6-B746-12AF9CEAF3AB}" type="datetimeFigureOut">
              <a:rPr lang="en-GB" smtClean="0"/>
              <a:t>15/08/2022</a:t>
            </a:fld>
            <a:endParaRPr lang="en-GB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97F340D-9456-43F7-A764-CBD130EF68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F72910B-6BBA-4043-8CD2-7AE056F14A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6102D-FACC-46D2-982F-C509AB4FB7F4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36060417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F960B3-16E7-4811-A5F8-83614659AC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4DB62EE-BCB8-429D-BB6F-89DF9F3EA1F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934AD67-4C0E-484D-B7FF-FB976A1710F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4D7660E-8B38-43A5-A48D-A4523AA03AB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E7EFE82-A3BC-42B8-9F71-5C3C1ADD41B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BBD8DB3-F688-4AB2-AAFC-0E5E7F2EB1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EBD5A5-95A5-4ED6-B746-12AF9CEAF3AB}" type="datetimeFigureOut">
              <a:rPr lang="en-GB" smtClean="0"/>
              <a:t>15/08/2022</a:t>
            </a:fld>
            <a:endParaRPr lang="en-GB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48F70DA-1B40-4425-B025-A8D06411AA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A95CE6D-8A51-4013-A622-D11EFBB72D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6102D-FACC-46D2-982F-C509AB4FB7F4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8052274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4E232E-9E69-481F-BDD8-74F4219ED3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BAD69E5-4081-437F-98E4-2CAF4F5CCA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EBD5A5-95A5-4ED6-B746-12AF9CEAF3AB}" type="datetimeFigureOut">
              <a:rPr lang="en-GB" smtClean="0"/>
              <a:t>15/08/2022</a:t>
            </a:fld>
            <a:endParaRPr lang="en-GB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1B30953-0189-477F-ABF4-CE4D2ED1E4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BCC43C7-506A-468F-96CB-96E8683CF1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6102D-FACC-46D2-982F-C509AB4FB7F4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3998141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o 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EB0CC6F3-15F4-4749-9242-EDD4FF8C5DBF}"/>
              </a:ext>
            </a:extLst>
          </p:cNvPr>
          <p:cNvSpPr/>
          <p:nvPr userDrawn="1"/>
        </p:nvSpPr>
        <p:spPr>
          <a:xfrm>
            <a:off x="10088880" y="0"/>
            <a:ext cx="2103120" cy="6858000"/>
          </a:xfrm>
          <a:prstGeom prst="rect">
            <a:avLst/>
          </a:prstGeom>
          <a:solidFill>
            <a:srgbClr val="F2652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180000" rtlCol="0" anchor="t"/>
          <a:lstStyle/>
          <a:p>
            <a:pPr algn="ctr"/>
            <a:r>
              <a:rPr lang="en-GB" sz="2400" b="1" dirty="0">
                <a:solidFill>
                  <a:schemeClr val="bg1"/>
                </a:solidFill>
                <a:latin typeface="Century Gothic" panose="020B0502020202020204" pitchFamily="34" charset="0"/>
              </a:rPr>
              <a:t>CAMBRIDGE IGCSE</a:t>
            </a:r>
          </a:p>
          <a:p>
            <a:pPr algn="ctr"/>
            <a:r>
              <a:rPr lang="en-GB" sz="2400" b="1" dirty="0">
                <a:solidFill>
                  <a:schemeClr val="bg1"/>
                </a:solidFill>
                <a:latin typeface="Century Gothic" panose="020B0502020202020204" pitchFamily="34" charset="0"/>
              </a:rPr>
              <a:t>(0478/0984)</a:t>
            </a:r>
          </a:p>
          <a:p>
            <a:pPr algn="ctr"/>
            <a:endParaRPr lang="en-GB" sz="2400" b="1" dirty="0">
              <a:solidFill>
                <a:schemeClr val="bg1"/>
              </a:solidFill>
              <a:latin typeface="Century Gothic" panose="020B0502020202020204" pitchFamily="34" charset="0"/>
            </a:endParaRPr>
          </a:p>
          <a:p>
            <a:pPr algn="ctr"/>
            <a:endParaRPr lang="en-GB" sz="2800" b="1" dirty="0">
              <a:solidFill>
                <a:schemeClr val="bg1"/>
              </a:solidFill>
            </a:endParaRPr>
          </a:p>
          <a:p>
            <a:pPr algn="ctr"/>
            <a:endParaRPr lang="en-GB" sz="2800" b="1" dirty="0">
              <a:solidFill>
                <a:schemeClr val="bg1"/>
              </a:solidFill>
            </a:endParaRPr>
          </a:p>
          <a:p>
            <a:pPr algn="ctr"/>
            <a:endParaRPr lang="en-GB" sz="2800" b="1" dirty="0">
              <a:solidFill>
                <a:schemeClr val="bg1"/>
              </a:solidFill>
            </a:endParaRPr>
          </a:p>
          <a:p>
            <a:pPr algn="ctr"/>
            <a:endParaRPr lang="en-GB" sz="2800" b="1" dirty="0">
              <a:solidFill>
                <a:schemeClr val="bg1"/>
              </a:solidFill>
            </a:endParaRPr>
          </a:p>
          <a:p>
            <a:pPr algn="ctr"/>
            <a:endParaRPr lang="en-GB" sz="2800" b="1" dirty="0">
              <a:solidFill>
                <a:schemeClr val="bg1"/>
              </a:solidFill>
            </a:endParaRPr>
          </a:p>
          <a:p>
            <a:pPr algn="ctr"/>
            <a:endParaRPr lang="en-GB" sz="2800" b="1" dirty="0">
              <a:solidFill>
                <a:schemeClr val="bg1"/>
              </a:solidFill>
            </a:endParaRPr>
          </a:p>
          <a:p>
            <a:pPr algn="ctr"/>
            <a:endParaRPr lang="en-GB" sz="2800" b="1" dirty="0">
              <a:solidFill>
                <a:schemeClr val="bg1"/>
              </a:solidFill>
            </a:endParaRPr>
          </a:p>
          <a:p>
            <a:pPr algn="ctr"/>
            <a:endParaRPr lang="en-GB" sz="2800" b="1" dirty="0">
              <a:solidFill>
                <a:schemeClr val="bg1"/>
              </a:solidFill>
            </a:endParaRPr>
          </a:p>
          <a:p>
            <a:pPr algn="ctr"/>
            <a:endParaRPr lang="en-GB" sz="1600" dirty="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8B2C14A7-E460-4357-90EB-FC2CBD74FCA1}"/>
              </a:ext>
            </a:extLst>
          </p:cNvPr>
          <p:cNvSpPr/>
          <p:nvPr userDrawn="1"/>
        </p:nvSpPr>
        <p:spPr>
          <a:xfrm>
            <a:off x="8915400" y="2354373"/>
            <a:ext cx="2140171" cy="2140171"/>
          </a:xfrm>
          <a:prstGeom prst="ellipse">
            <a:avLst/>
          </a:prstGeom>
          <a:solidFill>
            <a:schemeClr val="bg1"/>
          </a:solidFill>
          <a:ln w="28575">
            <a:solidFill>
              <a:srgbClr val="F2652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pic>
        <p:nvPicPr>
          <p:cNvPr id="7" name="Picture 6" descr="A picture containing brush&#10;&#10;Description automatically generated">
            <a:extLst>
              <a:ext uri="{FF2B5EF4-FFF2-40B4-BE49-F238E27FC236}">
                <a16:creationId xmlns:a16="http://schemas.microsoft.com/office/drawing/2014/main" id="{802D9E8A-D873-49FF-AED9-2CD228DFF51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61" r="-3" b="-3"/>
          <a:stretch/>
        </p:blipFill>
        <p:spPr>
          <a:xfrm>
            <a:off x="9029206" y="2474254"/>
            <a:ext cx="1912560" cy="1909489"/>
          </a:xfrm>
          <a:custGeom>
            <a:avLst/>
            <a:gdLst>
              <a:gd name="connsiteX0" fmla="*/ 3028805 w 6057610"/>
              <a:gd name="connsiteY0" fmla="*/ 0 h 6057610"/>
              <a:gd name="connsiteX1" fmla="*/ 6057610 w 6057610"/>
              <a:gd name="connsiteY1" fmla="*/ 3028805 h 6057610"/>
              <a:gd name="connsiteX2" fmla="*/ 3028805 w 6057610"/>
              <a:gd name="connsiteY2" fmla="*/ 6057610 h 6057610"/>
              <a:gd name="connsiteX3" fmla="*/ 0 w 6057610"/>
              <a:gd name="connsiteY3" fmla="*/ 3028805 h 6057610"/>
              <a:gd name="connsiteX4" fmla="*/ 3028805 w 6057610"/>
              <a:gd name="connsiteY4" fmla="*/ 0 h 6057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057610" h="6057610">
                <a:moveTo>
                  <a:pt x="3028805" y="0"/>
                </a:moveTo>
                <a:cubicBezTo>
                  <a:pt x="4701568" y="0"/>
                  <a:pt x="6057610" y="1356042"/>
                  <a:pt x="6057610" y="3028805"/>
                </a:cubicBezTo>
                <a:cubicBezTo>
                  <a:pt x="6057610" y="4701568"/>
                  <a:pt x="4701568" y="6057610"/>
                  <a:pt x="3028805" y="6057610"/>
                </a:cubicBezTo>
                <a:cubicBezTo>
                  <a:pt x="1356042" y="6057610"/>
                  <a:pt x="0" y="4701568"/>
                  <a:pt x="0" y="3028805"/>
                </a:cubicBezTo>
                <a:cubicBezTo>
                  <a:pt x="0" y="1356042"/>
                  <a:pt x="1356042" y="0"/>
                  <a:pt x="3028805" y="0"/>
                </a:cubicBezTo>
                <a:close/>
              </a:path>
            </a:pathLst>
          </a:custGeom>
          <a:effectLst>
            <a:softEdge rad="0"/>
          </a:effectLst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1FE3659E-7B75-43EA-B2D2-F180CB40635B}"/>
              </a:ext>
            </a:extLst>
          </p:cNvPr>
          <p:cNvSpPr/>
          <p:nvPr userDrawn="1"/>
        </p:nvSpPr>
        <p:spPr>
          <a:xfrm>
            <a:off x="0" y="6451184"/>
            <a:ext cx="10088879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GB" sz="1600" b="1" dirty="0">
                <a:solidFill>
                  <a:schemeClr val="bg1">
                    <a:lumMod val="50000"/>
                  </a:schemeClr>
                </a:solidFill>
              </a:rPr>
              <a:t>Teacher site: </a:t>
            </a:r>
            <a:r>
              <a:rPr lang="en-GB" sz="1600" dirty="0">
                <a:solidFill>
                  <a:schemeClr val="bg1">
                    <a:lumMod val="50000"/>
                  </a:schemeClr>
                </a:solidFill>
              </a:rPr>
              <a:t>craigndave.org  |  </a:t>
            </a:r>
            <a:r>
              <a:rPr lang="en-GB" sz="1600" b="1" dirty="0">
                <a:solidFill>
                  <a:schemeClr val="bg1">
                    <a:lumMod val="50000"/>
                  </a:schemeClr>
                </a:solidFill>
              </a:rPr>
              <a:t>Student site: </a:t>
            </a:r>
            <a:r>
              <a:rPr lang="en-GB" sz="1600" dirty="0">
                <a:solidFill>
                  <a:schemeClr val="bg1">
                    <a:lumMod val="50000"/>
                  </a:schemeClr>
                </a:solidFill>
              </a:rPr>
              <a:t>student.craigndave.org  |  </a:t>
            </a:r>
            <a:r>
              <a:rPr lang="en-GB" sz="1600" b="1" dirty="0">
                <a:solidFill>
                  <a:schemeClr val="bg1">
                    <a:lumMod val="50000"/>
                  </a:schemeClr>
                </a:solidFill>
              </a:rPr>
              <a:t>Smart revise: </a:t>
            </a:r>
            <a:r>
              <a:rPr lang="en-GB" sz="1600" dirty="0">
                <a:solidFill>
                  <a:schemeClr val="bg1">
                    <a:lumMod val="50000"/>
                  </a:schemeClr>
                </a:solidFill>
              </a:rPr>
              <a:t>smartrevise.co.uk </a:t>
            </a:r>
          </a:p>
        </p:txBody>
      </p:sp>
    </p:spTree>
    <p:extLst>
      <p:ext uri="{BB962C8B-B14F-4D97-AF65-F5344CB8AC3E}">
        <p14:creationId xmlns:p14="http://schemas.microsoft.com/office/powerpoint/2010/main" val="40900153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o conten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FF19224-2084-4C89-AEFB-59035B0F8D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EBD5A5-95A5-4ED6-B746-12AF9CEAF3AB}" type="datetimeFigureOut">
              <a:rPr lang="en-GB" smtClean="0"/>
              <a:t>15/08/2022</a:t>
            </a:fld>
            <a:endParaRPr lang="en-GB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B8E9D01-9A95-4DC3-AD5E-0657203E7B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0DB0936-CF61-444A-88C9-B1BE2B0166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6102D-FACC-46D2-982F-C509AB4FB7F4}" type="slidenum">
              <a:rPr lang="en-GB" smtClean="0"/>
              <a:t>‹#›</a:t>
            </a:fld>
            <a:endParaRPr lang="en-GB" dirty="0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87AACC54-1682-4874-BD09-D8CF92EDAE43}"/>
              </a:ext>
            </a:extLst>
          </p:cNvPr>
          <p:cNvGrpSpPr/>
          <p:nvPr userDrawn="1"/>
        </p:nvGrpSpPr>
        <p:grpSpPr>
          <a:xfrm>
            <a:off x="-1" y="0"/>
            <a:ext cx="12192001" cy="419100"/>
            <a:chOff x="-1" y="0"/>
            <a:chExt cx="12192001" cy="533400"/>
          </a:xfrm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A3B4ABA0-791C-4EF4-91E1-0A7F5B882D36}"/>
                </a:ext>
              </a:extLst>
            </p:cNvPr>
            <p:cNvSpPr/>
            <p:nvPr userDrawn="1"/>
          </p:nvSpPr>
          <p:spPr>
            <a:xfrm>
              <a:off x="-1" y="0"/>
              <a:ext cx="10095723" cy="533400"/>
            </a:xfrm>
            <a:prstGeom prst="rect">
              <a:avLst/>
            </a:prstGeom>
            <a:solidFill>
              <a:srgbClr val="F2652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r>
                <a:rPr lang="en-GB" sz="1800" b="1" dirty="0">
                  <a:solidFill>
                    <a:schemeClr val="bg1"/>
                  </a:solidFill>
                </a:rPr>
                <a:t>5.1 The internet and the world wide web | Uniform resource locator (URL)</a:t>
              </a:r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7E5FF8B6-F953-41A2-8CA9-2F6F841BDD32}"/>
                </a:ext>
              </a:extLst>
            </p:cNvPr>
            <p:cNvSpPr/>
            <p:nvPr/>
          </p:nvSpPr>
          <p:spPr>
            <a:xfrm>
              <a:off x="9100868" y="0"/>
              <a:ext cx="3091132" cy="533400"/>
            </a:xfrm>
            <a:prstGeom prst="rect">
              <a:avLst/>
            </a:prstGeom>
            <a:solidFill>
              <a:srgbClr val="F2652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46800" rtlCol="0" anchor="t"/>
            <a:lstStyle/>
            <a:p>
              <a:pPr algn="r"/>
              <a:r>
                <a:rPr lang="en-GB" b="1" dirty="0">
                  <a:solidFill>
                    <a:schemeClr val="bg1"/>
                  </a:solidFill>
                </a:rPr>
                <a:t>CAMBRIDGE IGCSE (0478/0984)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9209100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4E615E-FCEC-48A2-8A58-855AC17510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A6C2E3-EFFC-4E46-8E3B-353E3410C7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A8F8DFF-FB25-4FDB-AE01-189095807A4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575E6D8-83E5-4A1F-91A5-3CC7778FDD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EBD5A5-95A5-4ED6-B746-12AF9CEAF3AB}" type="datetimeFigureOut">
              <a:rPr lang="en-GB" smtClean="0"/>
              <a:t>15/08/2022</a:t>
            </a:fld>
            <a:endParaRPr lang="en-GB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962ED67-D636-4841-A380-71A8E2C223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1ECBE11-BFFB-4E5F-95F9-EF6A83AD83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6102D-FACC-46D2-982F-C509AB4FB7F4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9418179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D13C68-F937-4619-AC2A-808BB5FBCD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64D0E72-F13A-47A1-9749-F939C5B6148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DACE7D0-DEEB-4789-9725-4826AE9B0A5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B252C0A-0BB5-4C36-AC67-AFCF2DC0A6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EBD5A5-95A5-4ED6-B746-12AF9CEAF3AB}" type="datetimeFigureOut">
              <a:rPr lang="en-GB" smtClean="0"/>
              <a:t>15/08/2022</a:t>
            </a:fld>
            <a:endParaRPr lang="en-GB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01906B4-69CB-471E-B443-A6DD595560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AC21424-3B0E-4EEC-875D-327603D191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6102D-FACC-46D2-982F-C509AB4FB7F4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82049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F6F412-1941-41D2-AC46-E8C20860A8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B2A1B5D-15E6-4D4B-B6F5-E46A1A7234B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E418167-751F-4B50-84DD-7F7377E43E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EBD5A5-95A5-4ED6-B746-12AF9CEAF3AB}" type="datetimeFigureOut">
              <a:rPr lang="en-GB" smtClean="0"/>
              <a:t>15/08/2022</a:t>
            </a:fld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A10E4B-ECAF-4B58-9633-F0D2214AE3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D0936C-E069-45AA-8B1E-8B295D2AAB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6102D-FACC-46D2-982F-C509AB4FB7F4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2373719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50BBC43-F9FB-4DC0-9192-4C6BBC0BBF6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665541F-6124-45F5-9E33-C8877152332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28D7AD-9B6B-4D71-A044-0A8CD107B0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EBD5A5-95A5-4ED6-B746-12AF9CEAF3AB}" type="datetimeFigureOut">
              <a:rPr lang="en-GB" smtClean="0"/>
              <a:t>15/08/2022</a:t>
            </a:fld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B6F19E0-2B2A-44A5-95AA-5794953B82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8AE265-1899-40B9-ABCC-0F0FA6B452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6102D-FACC-46D2-982F-C509AB4FB7F4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1093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D768667-8C97-4EFE-84F3-BDAFCA0DEE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DA6806C-F4A6-4145-8586-E1BA0D6AA70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A371F7-F0FF-4998-A335-671F6745CC7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3EBD5A5-95A5-4ED6-B746-12AF9CEAF3AB}" type="datetimeFigureOut">
              <a:rPr lang="en-GB" smtClean="0"/>
              <a:t>15/08/2022</a:t>
            </a:fld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11381F-CB31-4B37-8E8C-1B4AD2A089C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B29192-27C3-435C-AA4E-0FF49DC56D6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C6102D-FACC-46D2-982F-C509AB4FB7F4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4070138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60" r:id="rId8"/>
    <p:sldLayoutId id="2147483656" r:id="rId9"/>
    <p:sldLayoutId id="2147483657" r:id="rId10"/>
    <p:sldLayoutId id="2147483658" r:id="rId11"/>
    <p:sldLayoutId id="2147483659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F1342EC1-2AFD-4406-9F14-4D674F90CAE8}"/>
              </a:ext>
            </a:extLst>
          </p:cNvPr>
          <p:cNvSpPr txBox="1"/>
          <p:nvPr/>
        </p:nvSpPr>
        <p:spPr>
          <a:xfrm>
            <a:off x="304800" y="92954"/>
            <a:ext cx="9879279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3600" b="1" dirty="0">
                <a:solidFill>
                  <a:schemeClr val="accent2">
                    <a:lumMod val="75000"/>
                  </a:schemeClr>
                </a:solidFill>
                <a:latin typeface="Century Gothic" panose="020B0502020202020204" pitchFamily="34" charset="0"/>
                <a:ea typeface="+mj-ea"/>
                <a:cs typeface="+mj-cs"/>
              </a:rPr>
              <a:t>5.1 The internet and the world wide web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FABF442-A178-4CA8-8D0A-DF0A8E18C046}"/>
              </a:ext>
            </a:extLst>
          </p:cNvPr>
          <p:cNvSpPr txBox="1"/>
          <p:nvPr/>
        </p:nvSpPr>
        <p:spPr>
          <a:xfrm>
            <a:off x="927652" y="1650609"/>
            <a:ext cx="6997148" cy="34506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algn="ctr">
              <a:lnSpc>
                <a:spcPct val="90000"/>
              </a:lnSpc>
              <a:spcAft>
                <a:spcPts val="1200"/>
              </a:spcAft>
            </a:pPr>
            <a:r>
              <a:rPr lang="en-GB" sz="4000" dirty="0">
                <a:solidFill>
                  <a:schemeClr val="accent2">
                    <a:lumMod val="75000"/>
                  </a:schemeClr>
                </a:solidFill>
              </a:rPr>
              <a:t>Uniform resource locator (URL)</a:t>
            </a:r>
            <a:endParaRPr lang="en-US" sz="4000" dirty="0">
              <a:solidFill>
                <a:schemeClr val="accent2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837712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2C3A91CA-3786-7FC8-77F1-972E9BFA09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14528"/>
            <a:ext cx="12192000" cy="6443472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D989BBE4-38CA-4FFB-B9AA-E0BBB2AB22B7}"/>
              </a:ext>
            </a:extLst>
          </p:cNvPr>
          <p:cNvSpPr/>
          <p:nvPr/>
        </p:nvSpPr>
        <p:spPr>
          <a:xfrm>
            <a:off x="220675" y="1052896"/>
            <a:ext cx="9292602" cy="369332"/>
          </a:xfrm>
          <a:prstGeom prst="rect">
            <a:avLst/>
          </a:prstGeom>
          <a:solidFill>
            <a:schemeClr val="bg1">
              <a:alpha val="80000"/>
            </a:schemeClr>
          </a:solidFill>
        </p:spPr>
        <p:txBody>
          <a:bodyPr wrap="square">
            <a:spAutoFit/>
          </a:bodyPr>
          <a:lstStyle/>
          <a:p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 </a:t>
            </a:r>
            <a:r>
              <a:rPr lang="en-GB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uniform resource locator (URL) </a:t>
            </a: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is a unique, text-based address that relates to a web page.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0213629-B856-4319-B482-ECBCD25E2D9C}"/>
              </a:ext>
            </a:extLst>
          </p:cNvPr>
          <p:cNvSpPr/>
          <p:nvPr/>
        </p:nvSpPr>
        <p:spPr>
          <a:xfrm>
            <a:off x="220675" y="504512"/>
            <a:ext cx="2109287" cy="470000"/>
          </a:xfrm>
          <a:prstGeom prst="rect">
            <a:avLst/>
          </a:prstGeom>
          <a:solidFill>
            <a:schemeClr val="bg1">
              <a:alpha val="80000"/>
            </a:schemeClr>
          </a:solidFill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2400" dirty="0">
                <a:solidFill>
                  <a:schemeClr val="accent2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What is a URL?</a:t>
            </a:r>
            <a:endParaRPr lang="en-GB" sz="1200" dirty="0">
              <a:solidFill>
                <a:srgbClr val="0087B1"/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D3A545E-F402-C03D-C3BC-80EE4F5983DA}"/>
              </a:ext>
            </a:extLst>
          </p:cNvPr>
          <p:cNvSpPr/>
          <p:nvPr/>
        </p:nvSpPr>
        <p:spPr>
          <a:xfrm>
            <a:off x="220675" y="4590334"/>
            <a:ext cx="7666025" cy="1200329"/>
          </a:xfrm>
          <a:prstGeom prst="rect">
            <a:avLst/>
          </a:prstGeom>
          <a:solidFill>
            <a:schemeClr val="bg1">
              <a:alpha val="80000"/>
            </a:schemeClr>
          </a:solidFill>
        </p:spPr>
        <p:txBody>
          <a:bodyPr wrap="square">
            <a:spAutoFit/>
          </a:bodyPr>
          <a:lstStyle/>
          <a:p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These web pages are accessed by typing their </a:t>
            </a:r>
            <a:r>
              <a:rPr lang="en-GB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URL</a:t>
            </a: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into a web browser such as: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Google Chrome™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Microsoft® Edge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Apple® Safari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13AC25C-C6CA-6F0B-39B7-4D28472AAEF2}"/>
              </a:ext>
            </a:extLst>
          </p:cNvPr>
          <p:cNvSpPr/>
          <p:nvPr/>
        </p:nvSpPr>
        <p:spPr>
          <a:xfrm>
            <a:off x="4761472" y="2590875"/>
            <a:ext cx="6000313" cy="923330"/>
          </a:xfrm>
          <a:prstGeom prst="rect">
            <a:avLst/>
          </a:prstGeom>
          <a:noFill/>
        </p:spPr>
        <p:txBody>
          <a:bodyPr wrap="none" lIns="91440" tIns="45720" rIns="91440" bIns="45720">
            <a:prstTxWarp prst="textFadeRight">
              <a:avLst>
                <a:gd name="adj" fmla="val 28568"/>
              </a:avLst>
            </a:prstTxWarp>
            <a:spAutoFit/>
          </a:bodyPr>
          <a:lstStyle/>
          <a:p>
            <a:pPr algn="ctr"/>
            <a:r>
              <a:rPr lang="en-US" sz="5400" dirty="0">
                <a:ln w="0"/>
                <a:solidFill>
                  <a:srgbClr val="53433C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craigndave.org/resources</a:t>
            </a:r>
            <a:endParaRPr lang="en-US" sz="5400" b="0" cap="none" spc="0" dirty="0">
              <a:ln w="0"/>
              <a:solidFill>
                <a:srgbClr val="53433C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6886809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iterate type="lt">
                                    <p:tmAbs val="2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50213629-B856-4319-B482-ECBCD25E2D9C}"/>
              </a:ext>
            </a:extLst>
          </p:cNvPr>
          <p:cNvSpPr/>
          <p:nvPr/>
        </p:nvSpPr>
        <p:spPr>
          <a:xfrm>
            <a:off x="220675" y="504512"/>
            <a:ext cx="5293715" cy="4700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2400" dirty="0">
                <a:solidFill>
                  <a:schemeClr val="accent2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The parts of a URL</a:t>
            </a:r>
            <a:endParaRPr lang="en-GB" sz="1200" dirty="0">
              <a:solidFill>
                <a:srgbClr val="0087B1"/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4165A7E5-C291-DBDD-A8B7-F19C97EAD5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7126" y="1295445"/>
            <a:ext cx="11857748" cy="53466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728186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" name="Picture 36">
            <a:extLst>
              <a:ext uri="{FF2B5EF4-FFF2-40B4-BE49-F238E27FC236}">
                <a16:creationId xmlns:a16="http://schemas.microsoft.com/office/drawing/2014/main" id="{C9E33534-885A-D016-CBF5-CEB73EBD76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7126" y="1295445"/>
            <a:ext cx="11857748" cy="5346655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50213629-B856-4319-B482-ECBCD25E2D9C}"/>
              </a:ext>
            </a:extLst>
          </p:cNvPr>
          <p:cNvSpPr/>
          <p:nvPr/>
        </p:nvSpPr>
        <p:spPr>
          <a:xfrm>
            <a:off x="220675" y="504512"/>
            <a:ext cx="5293715" cy="77899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2400" dirty="0">
                <a:solidFill>
                  <a:schemeClr val="accent2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The parts of a URL</a:t>
            </a:r>
            <a:endParaRPr lang="en-GB" sz="1200" dirty="0">
              <a:solidFill>
                <a:srgbClr val="0087B1"/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endParaRPr lang="en-GB" sz="1200" dirty="0">
              <a:solidFill>
                <a:srgbClr val="0087B1"/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grpSp>
        <p:nvGrpSpPr>
          <p:cNvPr id="30" name="Group 29">
            <a:extLst>
              <a:ext uri="{FF2B5EF4-FFF2-40B4-BE49-F238E27FC236}">
                <a16:creationId xmlns:a16="http://schemas.microsoft.com/office/drawing/2014/main" id="{6D838FE8-D80A-E2F5-45D7-71ED9FA3DE8F}"/>
              </a:ext>
            </a:extLst>
          </p:cNvPr>
          <p:cNvGrpSpPr/>
          <p:nvPr/>
        </p:nvGrpSpPr>
        <p:grpSpPr>
          <a:xfrm>
            <a:off x="523946" y="2329373"/>
            <a:ext cx="986360" cy="1447614"/>
            <a:chOff x="1430299" y="2461492"/>
            <a:chExt cx="986360" cy="1447614"/>
          </a:xfrm>
        </p:grpSpPr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119F91E9-2DFD-A169-F7A0-FB4380693296}"/>
                </a:ext>
              </a:extLst>
            </p:cNvPr>
            <p:cNvSpPr txBox="1"/>
            <p:nvPr/>
          </p:nvSpPr>
          <p:spPr>
            <a:xfrm>
              <a:off x="1430299" y="2461492"/>
              <a:ext cx="986360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GB" b="1" dirty="0">
                  <a:solidFill>
                    <a:srgbClr val="0070C0"/>
                  </a:solidFill>
                </a:rPr>
                <a:t>Protocol</a:t>
              </a:r>
            </a:p>
            <a:p>
              <a:pPr algn="ctr"/>
              <a:r>
                <a:rPr lang="en-GB" b="1" dirty="0">
                  <a:solidFill>
                    <a:srgbClr val="0070C0"/>
                  </a:solidFill>
                </a:rPr>
                <a:t>method</a:t>
              </a:r>
            </a:p>
          </p:txBody>
        </p:sp>
        <p:cxnSp>
          <p:nvCxnSpPr>
            <p:cNvPr id="22" name="Straight Arrow Connector 21">
              <a:extLst>
                <a:ext uri="{FF2B5EF4-FFF2-40B4-BE49-F238E27FC236}">
                  <a16:creationId xmlns:a16="http://schemas.microsoft.com/office/drawing/2014/main" id="{A1BFB0BE-37FB-7400-4152-FA3EC3DDB9A7}"/>
                </a:ext>
              </a:extLst>
            </p:cNvPr>
            <p:cNvCxnSpPr/>
            <p:nvPr/>
          </p:nvCxnSpPr>
          <p:spPr>
            <a:xfrm flipH="1">
              <a:off x="1917453" y="3104000"/>
              <a:ext cx="1" cy="805106"/>
            </a:xfrm>
            <a:prstGeom prst="straightConnector1">
              <a:avLst/>
            </a:prstGeom>
            <a:ln w="57150">
              <a:solidFill>
                <a:srgbClr val="0070C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8" name="Rectangle 27">
            <a:extLst>
              <a:ext uri="{FF2B5EF4-FFF2-40B4-BE49-F238E27FC236}">
                <a16:creationId xmlns:a16="http://schemas.microsoft.com/office/drawing/2014/main" id="{F3CDB007-3701-6708-B3F5-03685708B954}"/>
              </a:ext>
            </a:extLst>
          </p:cNvPr>
          <p:cNvSpPr/>
          <p:nvPr/>
        </p:nvSpPr>
        <p:spPr>
          <a:xfrm>
            <a:off x="465996" y="3681033"/>
            <a:ext cx="11554674" cy="5539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3000" b="1" dirty="0">
                <a:solidFill>
                  <a:srgbClr val="0070C0"/>
                </a:solidFill>
              </a:rPr>
              <a:t>https:</a:t>
            </a:r>
            <a:r>
              <a:rPr lang="en-GB" sz="3000" b="1" dirty="0">
                <a:solidFill>
                  <a:schemeClr val="bg1">
                    <a:lumMod val="75000"/>
                  </a:schemeClr>
                </a:solidFill>
              </a:rPr>
              <a:t>//www.craigndave.org/note-taking/template/cornell_notes.html</a:t>
            </a:r>
          </a:p>
        </p:txBody>
      </p:sp>
    </p:spTree>
    <p:extLst>
      <p:ext uri="{BB962C8B-B14F-4D97-AF65-F5344CB8AC3E}">
        <p14:creationId xmlns:p14="http://schemas.microsoft.com/office/powerpoint/2010/main" val="31882204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16">
            <a:extLst>
              <a:ext uri="{FF2B5EF4-FFF2-40B4-BE49-F238E27FC236}">
                <a16:creationId xmlns:a16="http://schemas.microsoft.com/office/drawing/2014/main" id="{8D95FF92-7867-5A94-8B42-25F4C71FF5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7126" y="1295445"/>
            <a:ext cx="11857748" cy="5346655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50213629-B856-4319-B482-ECBCD25E2D9C}"/>
              </a:ext>
            </a:extLst>
          </p:cNvPr>
          <p:cNvSpPr/>
          <p:nvPr/>
        </p:nvSpPr>
        <p:spPr>
          <a:xfrm>
            <a:off x="220675" y="504512"/>
            <a:ext cx="5293715" cy="77899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2400" dirty="0">
                <a:solidFill>
                  <a:schemeClr val="accent2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The parts of a URL</a:t>
            </a:r>
            <a:endParaRPr lang="en-GB" sz="1200" dirty="0">
              <a:solidFill>
                <a:srgbClr val="0087B1"/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endParaRPr lang="en-GB" sz="1200" dirty="0">
              <a:solidFill>
                <a:srgbClr val="0087B1"/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grpSp>
        <p:nvGrpSpPr>
          <p:cNvPr id="31" name="Group 30">
            <a:extLst>
              <a:ext uri="{FF2B5EF4-FFF2-40B4-BE49-F238E27FC236}">
                <a16:creationId xmlns:a16="http://schemas.microsoft.com/office/drawing/2014/main" id="{ED09A7ED-01DE-F084-3D87-4BD798D03DF3}"/>
              </a:ext>
            </a:extLst>
          </p:cNvPr>
          <p:cNvGrpSpPr/>
          <p:nvPr/>
        </p:nvGrpSpPr>
        <p:grpSpPr>
          <a:xfrm>
            <a:off x="1952774" y="2649311"/>
            <a:ext cx="622927" cy="1139705"/>
            <a:chOff x="2605321" y="2832553"/>
            <a:chExt cx="622927" cy="1139705"/>
          </a:xfrm>
        </p:grpSpPr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0472025B-74E8-C587-9C87-64B47555AE21}"/>
                </a:ext>
              </a:extLst>
            </p:cNvPr>
            <p:cNvSpPr txBox="1"/>
            <p:nvPr/>
          </p:nvSpPr>
          <p:spPr>
            <a:xfrm>
              <a:off x="2605321" y="2832553"/>
              <a:ext cx="62292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b="1" dirty="0">
                  <a:solidFill>
                    <a:srgbClr val="00B050"/>
                  </a:solidFill>
                </a:rPr>
                <a:t>Host</a:t>
              </a:r>
            </a:p>
          </p:txBody>
        </p:sp>
        <p:cxnSp>
          <p:nvCxnSpPr>
            <p:cNvPr id="21" name="Straight Arrow Connector 20">
              <a:extLst>
                <a:ext uri="{FF2B5EF4-FFF2-40B4-BE49-F238E27FC236}">
                  <a16:creationId xmlns:a16="http://schemas.microsoft.com/office/drawing/2014/main" id="{3B800701-80A3-9675-09A9-9ECCD3C5E608}"/>
                </a:ext>
              </a:extLst>
            </p:cNvPr>
            <p:cNvCxnSpPr/>
            <p:nvPr/>
          </p:nvCxnSpPr>
          <p:spPr>
            <a:xfrm flipH="1">
              <a:off x="2903445" y="3167152"/>
              <a:ext cx="1" cy="805106"/>
            </a:xfrm>
            <a:prstGeom prst="straightConnector1">
              <a:avLst/>
            </a:prstGeom>
            <a:ln w="57150">
              <a:solidFill>
                <a:srgbClr val="00B05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6D838FE8-D80A-E2F5-45D7-71ED9FA3DE8F}"/>
              </a:ext>
            </a:extLst>
          </p:cNvPr>
          <p:cNvGrpSpPr/>
          <p:nvPr/>
        </p:nvGrpSpPr>
        <p:grpSpPr>
          <a:xfrm>
            <a:off x="523946" y="2329373"/>
            <a:ext cx="986360" cy="1447614"/>
            <a:chOff x="1430299" y="2461492"/>
            <a:chExt cx="986360" cy="1447614"/>
          </a:xfrm>
        </p:grpSpPr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119F91E9-2DFD-A169-F7A0-FB4380693296}"/>
                </a:ext>
              </a:extLst>
            </p:cNvPr>
            <p:cNvSpPr txBox="1"/>
            <p:nvPr/>
          </p:nvSpPr>
          <p:spPr>
            <a:xfrm>
              <a:off x="1430299" y="2461492"/>
              <a:ext cx="986360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GB" b="1" dirty="0">
                  <a:solidFill>
                    <a:srgbClr val="0070C0"/>
                  </a:solidFill>
                </a:rPr>
                <a:t>Protocol</a:t>
              </a:r>
            </a:p>
            <a:p>
              <a:pPr algn="ctr"/>
              <a:r>
                <a:rPr lang="en-GB" b="1" dirty="0">
                  <a:solidFill>
                    <a:srgbClr val="0070C0"/>
                  </a:solidFill>
                </a:rPr>
                <a:t>method</a:t>
              </a:r>
            </a:p>
          </p:txBody>
        </p:sp>
        <p:cxnSp>
          <p:nvCxnSpPr>
            <p:cNvPr id="22" name="Straight Arrow Connector 21">
              <a:extLst>
                <a:ext uri="{FF2B5EF4-FFF2-40B4-BE49-F238E27FC236}">
                  <a16:creationId xmlns:a16="http://schemas.microsoft.com/office/drawing/2014/main" id="{A1BFB0BE-37FB-7400-4152-FA3EC3DDB9A7}"/>
                </a:ext>
              </a:extLst>
            </p:cNvPr>
            <p:cNvCxnSpPr/>
            <p:nvPr/>
          </p:nvCxnSpPr>
          <p:spPr>
            <a:xfrm flipH="1">
              <a:off x="1917453" y="3104000"/>
              <a:ext cx="1" cy="805106"/>
            </a:xfrm>
            <a:prstGeom prst="straightConnector1">
              <a:avLst/>
            </a:prstGeom>
            <a:ln w="57150">
              <a:solidFill>
                <a:srgbClr val="0070C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8" name="Rectangle 27">
            <a:extLst>
              <a:ext uri="{FF2B5EF4-FFF2-40B4-BE49-F238E27FC236}">
                <a16:creationId xmlns:a16="http://schemas.microsoft.com/office/drawing/2014/main" id="{F3CDB007-3701-6708-B3F5-03685708B954}"/>
              </a:ext>
            </a:extLst>
          </p:cNvPr>
          <p:cNvSpPr/>
          <p:nvPr/>
        </p:nvSpPr>
        <p:spPr>
          <a:xfrm>
            <a:off x="465996" y="3681033"/>
            <a:ext cx="11541974" cy="5539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3000" b="1" dirty="0">
                <a:solidFill>
                  <a:srgbClr val="0070C0"/>
                </a:solidFill>
              </a:rPr>
              <a:t>https:</a:t>
            </a:r>
            <a:r>
              <a:rPr lang="en-GB" sz="3000" b="1" dirty="0"/>
              <a:t>//</a:t>
            </a:r>
            <a:r>
              <a:rPr lang="en-GB" sz="3000" b="1" dirty="0">
                <a:solidFill>
                  <a:srgbClr val="00B050"/>
                </a:solidFill>
              </a:rPr>
              <a:t>www</a:t>
            </a:r>
            <a:r>
              <a:rPr lang="en-GB" sz="3000" b="1" dirty="0">
                <a:solidFill>
                  <a:schemeClr val="bg1">
                    <a:lumMod val="75000"/>
                  </a:schemeClr>
                </a:solidFill>
              </a:rPr>
              <a:t>.craigndave.org/note-taking/template/cornell_notes.html</a:t>
            </a:r>
          </a:p>
        </p:txBody>
      </p:sp>
    </p:spTree>
    <p:extLst>
      <p:ext uri="{BB962C8B-B14F-4D97-AF65-F5344CB8AC3E}">
        <p14:creationId xmlns:p14="http://schemas.microsoft.com/office/powerpoint/2010/main" val="32206767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Picture 28">
            <a:extLst>
              <a:ext uri="{FF2B5EF4-FFF2-40B4-BE49-F238E27FC236}">
                <a16:creationId xmlns:a16="http://schemas.microsoft.com/office/drawing/2014/main" id="{38B16D85-407F-3A30-B1F9-411235B94F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7126" y="1295445"/>
            <a:ext cx="11857748" cy="5346655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50213629-B856-4319-B482-ECBCD25E2D9C}"/>
              </a:ext>
            </a:extLst>
          </p:cNvPr>
          <p:cNvSpPr/>
          <p:nvPr/>
        </p:nvSpPr>
        <p:spPr>
          <a:xfrm>
            <a:off x="220675" y="504512"/>
            <a:ext cx="5293715" cy="77899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2400" dirty="0">
                <a:solidFill>
                  <a:schemeClr val="accent2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The parts of a URL</a:t>
            </a:r>
            <a:endParaRPr lang="en-GB" sz="1200" dirty="0">
              <a:solidFill>
                <a:srgbClr val="0087B1"/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endParaRPr lang="en-GB" sz="1200" dirty="0">
              <a:solidFill>
                <a:srgbClr val="0087B1"/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grpSp>
        <p:nvGrpSpPr>
          <p:cNvPr id="34" name="Group 33">
            <a:extLst>
              <a:ext uri="{FF2B5EF4-FFF2-40B4-BE49-F238E27FC236}">
                <a16:creationId xmlns:a16="http://schemas.microsoft.com/office/drawing/2014/main" id="{425A060F-632C-12AC-6B59-948893357AB6}"/>
              </a:ext>
            </a:extLst>
          </p:cNvPr>
          <p:cNvGrpSpPr/>
          <p:nvPr/>
        </p:nvGrpSpPr>
        <p:grpSpPr>
          <a:xfrm>
            <a:off x="2743737" y="4345787"/>
            <a:ext cx="2338141" cy="463151"/>
            <a:chOff x="2743737" y="4345787"/>
            <a:chExt cx="2338141" cy="463151"/>
          </a:xfrm>
        </p:grpSpPr>
        <p:sp>
          <p:nvSpPr>
            <p:cNvPr id="9" name="Right Bracket 8">
              <a:extLst>
                <a:ext uri="{FF2B5EF4-FFF2-40B4-BE49-F238E27FC236}">
                  <a16:creationId xmlns:a16="http://schemas.microsoft.com/office/drawing/2014/main" id="{94C96A47-B76F-DCCF-F80D-DCFCDDB6BFDF}"/>
                </a:ext>
              </a:extLst>
            </p:cNvPr>
            <p:cNvSpPr/>
            <p:nvPr/>
          </p:nvSpPr>
          <p:spPr>
            <a:xfrm rot="5400000">
              <a:off x="3853471" y="3298259"/>
              <a:ext cx="118675" cy="2213732"/>
            </a:xfrm>
            <a:prstGeom prst="rightBracket">
              <a:avLst/>
            </a:prstGeom>
            <a:ln w="28575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33D1451E-5A13-3D23-A116-2A4FB70DB619}"/>
                </a:ext>
              </a:extLst>
            </p:cNvPr>
            <p:cNvSpPr txBox="1"/>
            <p:nvPr/>
          </p:nvSpPr>
          <p:spPr>
            <a:xfrm>
              <a:off x="2743737" y="4439606"/>
              <a:ext cx="233814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GB" b="1" dirty="0">
                  <a:solidFill>
                    <a:srgbClr val="C00000"/>
                  </a:solidFill>
                </a:rPr>
                <a:t>Website domain name</a:t>
              </a:r>
            </a:p>
          </p:txBody>
        </p:sp>
      </p:grpSp>
      <p:grpSp>
        <p:nvGrpSpPr>
          <p:cNvPr id="3" name="Group 2">
            <a:extLst>
              <a:ext uri="{FF2B5EF4-FFF2-40B4-BE49-F238E27FC236}">
                <a16:creationId xmlns:a16="http://schemas.microsoft.com/office/drawing/2014/main" id="{737319B3-6321-BFA8-407D-1CC7E90D694C}"/>
              </a:ext>
            </a:extLst>
          </p:cNvPr>
          <p:cNvGrpSpPr/>
          <p:nvPr/>
        </p:nvGrpSpPr>
        <p:grpSpPr>
          <a:xfrm>
            <a:off x="1856052" y="5084744"/>
            <a:ext cx="3168883" cy="497412"/>
            <a:chOff x="2449857" y="4730839"/>
            <a:chExt cx="2539093" cy="497412"/>
          </a:xfrm>
        </p:grpSpPr>
        <p:sp>
          <p:nvSpPr>
            <p:cNvPr id="11" name="Right Bracket 10">
              <a:extLst>
                <a:ext uri="{FF2B5EF4-FFF2-40B4-BE49-F238E27FC236}">
                  <a16:creationId xmlns:a16="http://schemas.microsoft.com/office/drawing/2014/main" id="{AC10004A-47ED-1171-946C-E80DDD0B6537}"/>
                </a:ext>
              </a:extLst>
            </p:cNvPr>
            <p:cNvSpPr/>
            <p:nvPr/>
          </p:nvSpPr>
          <p:spPr>
            <a:xfrm rot="5400000">
              <a:off x="3650968" y="3529728"/>
              <a:ext cx="136872" cy="2539093"/>
            </a:xfrm>
            <a:prstGeom prst="rightBracket">
              <a:avLst/>
            </a:prstGeom>
            <a:ln w="28575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4FE3CABC-DA76-C1C3-A07D-C5F5AA3C1ECC}"/>
                </a:ext>
              </a:extLst>
            </p:cNvPr>
            <p:cNvSpPr txBox="1"/>
            <p:nvPr/>
          </p:nvSpPr>
          <p:spPr>
            <a:xfrm>
              <a:off x="2543057" y="4858919"/>
              <a:ext cx="237257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GB" b="1" dirty="0">
                  <a:solidFill>
                    <a:schemeClr val="accent2"/>
                  </a:solidFill>
                </a:rPr>
                <a:t>Fully qualified domain name</a:t>
              </a:r>
            </a:p>
          </p:txBody>
        </p:sp>
      </p:grpSp>
      <p:grpSp>
        <p:nvGrpSpPr>
          <p:cNvPr id="31" name="Group 30">
            <a:extLst>
              <a:ext uri="{FF2B5EF4-FFF2-40B4-BE49-F238E27FC236}">
                <a16:creationId xmlns:a16="http://schemas.microsoft.com/office/drawing/2014/main" id="{ED09A7ED-01DE-F084-3D87-4BD798D03DF3}"/>
              </a:ext>
            </a:extLst>
          </p:cNvPr>
          <p:cNvGrpSpPr/>
          <p:nvPr/>
        </p:nvGrpSpPr>
        <p:grpSpPr>
          <a:xfrm>
            <a:off x="1952774" y="2649311"/>
            <a:ext cx="622927" cy="1139705"/>
            <a:chOff x="2605321" y="2832553"/>
            <a:chExt cx="622927" cy="1139705"/>
          </a:xfrm>
        </p:grpSpPr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0472025B-74E8-C587-9C87-64B47555AE21}"/>
                </a:ext>
              </a:extLst>
            </p:cNvPr>
            <p:cNvSpPr txBox="1"/>
            <p:nvPr/>
          </p:nvSpPr>
          <p:spPr>
            <a:xfrm>
              <a:off x="2605321" y="2832553"/>
              <a:ext cx="62292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b="1" dirty="0">
                  <a:solidFill>
                    <a:srgbClr val="00B050"/>
                  </a:solidFill>
                </a:rPr>
                <a:t>Host</a:t>
              </a:r>
            </a:p>
          </p:txBody>
        </p:sp>
        <p:cxnSp>
          <p:nvCxnSpPr>
            <p:cNvPr id="21" name="Straight Arrow Connector 20">
              <a:extLst>
                <a:ext uri="{FF2B5EF4-FFF2-40B4-BE49-F238E27FC236}">
                  <a16:creationId xmlns:a16="http://schemas.microsoft.com/office/drawing/2014/main" id="{3B800701-80A3-9675-09A9-9ECCD3C5E608}"/>
                </a:ext>
              </a:extLst>
            </p:cNvPr>
            <p:cNvCxnSpPr/>
            <p:nvPr/>
          </p:nvCxnSpPr>
          <p:spPr>
            <a:xfrm flipH="1">
              <a:off x="2903445" y="3167152"/>
              <a:ext cx="1" cy="805106"/>
            </a:xfrm>
            <a:prstGeom prst="straightConnector1">
              <a:avLst/>
            </a:prstGeom>
            <a:ln w="57150">
              <a:solidFill>
                <a:srgbClr val="00B05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6D838FE8-D80A-E2F5-45D7-71ED9FA3DE8F}"/>
              </a:ext>
            </a:extLst>
          </p:cNvPr>
          <p:cNvGrpSpPr/>
          <p:nvPr/>
        </p:nvGrpSpPr>
        <p:grpSpPr>
          <a:xfrm>
            <a:off x="523946" y="2329373"/>
            <a:ext cx="986360" cy="1447614"/>
            <a:chOff x="1430299" y="2461492"/>
            <a:chExt cx="986360" cy="1447614"/>
          </a:xfrm>
        </p:grpSpPr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119F91E9-2DFD-A169-F7A0-FB4380693296}"/>
                </a:ext>
              </a:extLst>
            </p:cNvPr>
            <p:cNvSpPr txBox="1"/>
            <p:nvPr/>
          </p:nvSpPr>
          <p:spPr>
            <a:xfrm>
              <a:off x="1430299" y="2461492"/>
              <a:ext cx="986360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GB" b="1" dirty="0">
                  <a:solidFill>
                    <a:srgbClr val="0070C0"/>
                  </a:solidFill>
                </a:rPr>
                <a:t>Protocol</a:t>
              </a:r>
            </a:p>
            <a:p>
              <a:pPr algn="ctr"/>
              <a:r>
                <a:rPr lang="en-GB" b="1" dirty="0">
                  <a:solidFill>
                    <a:srgbClr val="0070C0"/>
                  </a:solidFill>
                </a:rPr>
                <a:t>method</a:t>
              </a:r>
            </a:p>
          </p:txBody>
        </p:sp>
        <p:cxnSp>
          <p:nvCxnSpPr>
            <p:cNvPr id="22" name="Straight Arrow Connector 21">
              <a:extLst>
                <a:ext uri="{FF2B5EF4-FFF2-40B4-BE49-F238E27FC236}">
                  <a16:creationId xmlns:a16="http://schemas.microsoft.com/office/drawing/2014/main" id="{A1BFB0BE-37FB-7400-4152-FA3EC3DDB9A7}"/>
                </a:ext>
              </a:extLst>
            </p:cNvPr>
            <p:cNvCxnSpPr/>
            <p:nvPr/>
          </p:nvCxnSpPr>
          <p:spPr>
            <a:xfrm flipH="1">
              <a:off x="1917453" y="3104000"/>
              <a:ext cx="1" cy="805106"/>
            </a:xfrm>
            <a:prstGeom prst="straightConnector1">
              <a:avLst/>
            </a:prstGeom>
            <a:ln w="57150">
              <a:solidFill>
                <a:srgbClr val="0070C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8" name="Rectangle 27">
            <a:extLst>
              <a:ext uri="{FF2B5EF4-FFF2-40B4-BE49-F238E27FC236}">
                <a16:creationId xmlns:a16="http://schemas.microsoft.com/office/drawing/2014/main" id="{F3CDB007-3701-6708-B3F5-03685708B954}"/>
              </a:ext>
            </a:extLst>
          </p:cNvPr>
          <p:cNvSpPr/>
          <p:nvPr/>
        </p:nvSpPr>
        <p:spPr>
          <a:xfrm>
            <a:off x="465996" y="3681033"/>
            <a:ext cx="11541974" cy="5539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3000" b="1" dirty="0">
                <a:solidFill>
                  <a:srgbClr val="0070C0"/>
                </a:solidFill>
              </a:rPr>
              <a:t>https:</a:t>
            </a:r>
            <a:r>
              <a:rPr lang="en-GB" sz="3000" b="1" dirty="0"/>
              <a:t>//</a:t>
            </a:r>
            <a:r>
              <a:rPr lang="en-GB" sz="3000" b="1" dirty="0">
                <a:solidFill>
                  <a:srgbClr val="00B050"/>
                </a:solidFill>
              </a:rPr>
              <a:t>www</a:t>
            </a:r>
            <a:r>
              <a:rPr lang="en-GB" sz="3000" b="1" dirty="0"/>
              <a:t>.</a:t>
            </a:r>
            <a:r>
              <a:rPr lang="en-GB" sz="3000" b="1" dirty="0">
                <a:solidFill>
                  <a:srgbClr val="C00000"/>
                </a:solidFill>
              </a:rPr>
              <a:t>craigndave.org/</a:t>
            </a:r>
            <a:r>
              <a:rPr lang="en-GB" sz="3000" b="1" dirty="0">
                <a:solidFill>
                  <a:schemeClr val="bg1">
                    <a:lumMod val="75000"/>
                  </a:schemeClr>
                </a:solidFill>
              </a:rPr>
              <a:t>note-taking/template/cornell_notes.html</a:t>
            </a:r>
          </a:p>
        </p:txBody>
      </p:sp>
      <p:grpSp>
        <p:nvGrpSpPr>
          <p:cNvPr id="35" name="Group 34">
            <a:extLst>
              <a:ext uri="{FF2B5EF4-FFF2-40B4-BE49-F238E27FC236}">
                <a16:creationId xmlns:a16="http://schemas.microsoft.com/office/drawing/2014/main" id="{9647EE77-601D-1AFB-BA23-C6099C28A51C}"/>
              </a:ext>
            </a:extLst>
          </p:cNvPr>
          <p:cNvGrpSpPr/>
          <p:nvPr/>
        </p:nvGrpSpPr>
        <p:grpSpPr>
          <a:xfrm>
            <a:off x="3101500" y="2657905"/>
            <a:ext cx="1527982" cy="1139705"/>
            <a:chOff x="2152264" y="2832553"/>
            <a:chExt cx="1527982" cy="1139705"/>
          </a:xfrm>
        </p:grpSpPr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686082A7-7E04-86F2-2499-D067CC5DEE9D}"/>
                </a:ext>
              </a:extLst>
            </p:cNvPr>
            <p:cNvSpPr txBox="1"/>
            <p:nvPr/>
          </p:nvSpPr>
          <p:spPr>
            <a:xfrm>
              <a:off x="2152264" y="2832553"/>
              <a:ext cx="15279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b="1" dirty="0">
                  <a:solidFill>
                    <a:srgbClr val="C00000"/>
                  </a:solidFill>
                </a:rPr>
                <a:t>Domain name</a:t>
              </a:r>
            </a:p>
          </p:txBody>
        </p:sp>
        <p:cxnSp>
          <p:nvCxnSpPr>
            <p:cNvPr id="37" name="Straight Arrow Connector 36">
              <a:extLst>
                <a:ext uri="{FF2B5EF4-FFF2-40B4-BE49-F238E27FC236}">
                  <a16:creationId xmlns:a16="http://schemas.microsoft.com/office/drawing/2014/main" id="{F6FCDCB1-BB3D-B25C-6ED2-CDCF31ABC494}"/>
                </a:ext>
              </a:extLst>
            </p:cNvPr>
            <p:cNvCxnSpPr/>
            <p:nvPr/>
          </p:nvCxnSpPr>
          <p:spPr>
            <a:xfrm flipH="1">
              <a:off x="2903445" y="3167152"/>
              <a:ext cx="1" cy="805106"/>
            </a:xfrm>
            <a:prstGeom prst="straightConnector1">
              <a:avLst/>
            </a:prstGeom>
            <a:ln w="57150">
              <a:solidFill>
                <a:srgbClr val="C0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1493450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0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40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Picture 28">
            <a:extLst>
              <a:ext uri="{FF2B5EF4-FFF2-40B4-BE49-F238E27FC236}">
                <a16:creationId xmlns:a16="http://schemas.microsoft.com/office/drawing/2014/main" id="{F046C4E4-CEA3-65AE-664B-EEB34BA2BB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7126" y="1295445"/>
            <a:ext cx="11857748" cy="5346655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50213629-B856-4319-B482-ECBCD25E2D9C}"/>
              </a:ext>
            </a:extLst>
          </p:cNvPr>
          <p:cNvSpPr/>
          <p:nvPr/>
        </p:nvSpPr>
        <p:spPr>
          <a:xfrm>
            <a:off x="220675" y="504512"/>
            <a:ext cx="5293715" cy="77899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2400" dirty="0">
                <a:solidFill>
                  <a:schemeClr val="accent2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The parts of a URL</a:t>
            </a:r>
            <a:endParaRPr lang="en-GB" sz="1200" dirty="0">
              <a:solidFill>
                <a:srgbClr val="0087B1"/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endParaRPr lang="en-GB" sz="1200" dirty="0">
              <a:solidFill>
                <a:srgbClr val="0087B1"/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grpSp>
        <p:nvGrpSpPr>
          <p:cNvPr id="34" name="Group 33">
            <a:extLst>
              <a:ext uri="{FF2B5EF4-FFF2-40B4-BE49-F238E27FC236}">
                <a16:creationId xmlns:a16="http://schemas.microsoft.com/office/drawing/2014/main" id="{425A060F-632C-12AC-6B59-948893357AB6}"/>
              </a:ext>
            </a:extLst>
          </p:cNvPr>
          <p:cNvGrpSpPr/>
          <p:nvPr/>
        </p:nvGrpSpPr>
        <p:grpSpPr>
          <a:xfrm>
            <a:off x="2743737" y="4345787"/>
            <a:ext cx="2338141" cy="463151"/>
            <a:chOff x="2743737" y="4345787"/>
            <a:chExt cx="2338141" cy="463151"/>
          </a:xfrm>
        </p:grpSpPr>
        <p:sp>
          <p:nvSpPr>
            <p:cNvPr id="9" name="Right Bracket 8">
              <a:extLst>
                <a:ext uri="{FF2B5EF4-FFF2-40B4-BE49-F238E27FC236}">
                  <a16:creationId xmlns:a16="http://schemas.microsoft.com/office/drawing/2014/main" id="{94C96A47-B76F-DCCF-F80D-DCFCDDB6BFDF}"/>
                </a:ext>
              </a:extLst>
            </p:cNvPr>
            <p:cNvSpPr/>
            <p:nvPr/>
          </p:nvSpPr>
          <p:spPr>
            <a:xfrm rot="5400000">
              <a:off x="3853471" y="3298259"/>
              <a:ext cx="118675" cy="2213732"/>
            </a:xfrm>
            <a:prstGeom prst="rightBracket">
              <a:avLst/>
            </a:prstGeom>
            <a:ln w="28575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33D1451E-5A13-3D23-A116-2A4FB70DB619}"/>
                </a:ext>
              </a:extLst>
            </p:cNvPr>
            <p:cNvSpPr txBox="1"/>
            <p:nvPr/>
          </p:nvSpPr>
          <p:spPr>
            <a:xfrm>
              <a:off x="2743737" y="4439606"/>
              <a:ext cx="233814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GB" b="1" dirty="0">
                  <a:solidFill>
                    <a:srgbClr val="C00000"/>
                  </a:solidFill>
                </a:rPr>
                <a:t>Website domain name</a:t>
              </a:r>
            </a:p>
          </p:txBody>
        </p:sp>
      </p:grpSp>
      <p:grpSp>
        <p:nvGrpSpPr>
          <p:cNvPr id="3" name="Group 2">
            <a:extLst>
              <a:ext uri="{FF2B5EF4-FFF2-40B4-BE49-F238E27FC236}">
                <a16:creationId xmlns:a16="http://schemas.microsoft.com/office/drawing/2014/main" id="{737319B3-6321-BFA8-407D-1CC7E90D694C}"/>
              </a:ext>
            </a:extLst>
          </p:cNvPr>
          <p:cNvGrpSpPr/>
          <p:nvPr/>
        </p:nvGrpSpPr>
        <p:grpSpPr>
          <a:xfrm>
            <a:off x="1856052" y="5084744"/>
            <a:ext cx="3168883" cy="497412"/>
            <a:chOff x="2449857" y="4730839"/>
            <a:chExt cx="2539093" cy="497412"/>
          </a:xfrm>
        </p:grpSpPr>
        <p:sp>
          <p:nvSpPr>
            <p:cNvPr id="11" name="Right Bracket 10">
              <a:extLst>
                <a:ext uri="{FF2B5EF4-FFF2-40B4-BE49-F238E27FC236}">
                  <a16:creationId xmlns:a16="http://schemas.microsoft.com/office/drawing/2014/main" id="{AC10004A-47ED-1171-946C-E80DDD0B6537}"/>
                </a:ext>
              </a:extLst>
            </p:cNvPr>
            <p:cNvSpPr/>
            <p:nvPr/>
          </p:nvSpPr>
          <p:spPr>
            <a:xfrm rot="5400000">
              <a:off x="3650968" y="3529728"/>
              <a:ext cx="136872" cy="2539093"/>
            </a:xfrm>
            <a:prstGeom prst="rightBracket">
              <a:avLst/>
            </a:prstGeom>
            <a:ln w="28575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4FE3CABC-DA76-C1C3-A07D-C5F5AA3C1ECC}"/>
                </a:ext>
              </a:extLst>
            </p:cNvPr>
            <p:cNvSpPr txBox="1"/>
            <p:nvPr/>
          </p:nvSpPr>
          <p:spPr>
            <a:xfrm>
              <a:off x="2543057" y="4858919"/>
              <a:ext cx="237257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GB" b="1" dirty="0">
                  <a:solidFill>
                    <a:schemeClr val="accent2"/>
                  </a:solidFill>
                </a:rPr>
                <a:t>Fully qualified domain name</a:t>
              </a:r>
            </a:p>
          </p:txBody>
        </p:sp>
      </p:grpSp>
      <p:grpSp>
        <p:nvGrpSpPr>
          <p:cNvPr id="32" name="Group 31">
            <a:extLst>
              <a:ext uri="{FF2B5EF4-FFF2-40B4-BE49-F238E27FC236}">
                <a16:creationId xmlns:a16="http://schemas.microsoft.com/office/drawing/2014/main" id="{7CEC6425-CA37-92E3-9665-5B18BA1F224F}"/>
              </a:ext>
            </a:extLst>
          </p:cNvPr>
          <p:cNvGrpSpPr/>
          <p:nvPr/>
        </p:nvGrpSpPr>
        <p:grpSpPr>
          <a:xfrm>
            <a:off x="6365996" y="2658809"/>
            <a:ext cx="995529" cy="1138797"/>
            <a:chOff x="6193980" y="2670825"/>
            <a:chExt cx="995529" cy="1138797"/>
          </a:xfrm>
        </p:grpSpPr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E0C44079-2F4D-9DF1-8B5D-D02F95CC33FE}"/>
                </a:ext>
              </a:extLst>
            </p:cNvPr>
            <p:cNvSpPr txBox="1"/>
            <p:nvPr/>
          </p:nvSpPr>
          <p:spPr>
            <a:xfrm>
              <a:off x="6193980" y="2670825"/>
              <a:ext cx="99552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b="1" dirty="0">
                  <a:solidFill>
                    <a:srgbClr val="7030A0"/>
                  </a:solidFill>
                </a:rPr>
                <a:t>Location</a:t>
              </a:r>
            </a:p>
          </p:txBody>
        </p:sp>
        <p:cxnSp>
          <p:nvCxnSpPr>
            <p:cNvPr id="20" name="Straight Arrow Connector 19">
              <a:extLst>
                <a:ext uri="{FF2B5EF4-FFF2-40B4-BE49-F238E27FC236}">
                  <a16:creationId xmlns:a16="http://schemas.microsoft.com/office/drawing/2014/main" id="{75578942-7C00-6903-D21D-25DAD6E9F592}"/>
                </a:ext>
              </a:extLst>
            </p:cNvPr>
            <p:cNvCxnSpPr/>
            <p:nvPr/>
          </p:nvCxnSpPr>
          <p:spPr>
            <a:xfrm flipH="1">
              <a:off x="6685043" y="3004516"/>
              <a:ext cx="1" cy="805106"/>
            </a:xfrm>
            <a:prstGeom prst="straightConnector1">
              <a:avLst/>
            </a:prstGeom>
            <a:ln w="57150">
              <a:solidFill>
                <a:srgbClr val="7030A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1" name="Group 30">
            <a:extLst>
              <a:ext uri="{FF2B5EF4-FFF2-40B4-BE49-F238E27FC236}">
                <a16:creationId xmlns:a16="http://schemas.microsoft.com/office/drawing/2014/main" id="{ED09A7ED-01DE-F084-3D87-4BD798D03DF3}"/>
              </a:ext>
            </a:extLst>
          </p:cNvPr>
          <p:cNvGrpSpPr/>
          <p:nvPr/>
        </p:nvGrpSpPr>
        <p:grpSpPr>
          <a:xfrm>
            <a:off x="1952774" y="2649311"/>
            <a:ext cx="622927" cy="1139705"/>
            <a:chOff x="2605321" y="2832553"/>
            <a:chExt cx="622927" cy="1139705"/>
          </a:xfrm>
        </p:grpSpPr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0472025B-74E8-C587-9C87-64B47555AE21}"/>
                </a:ext>
              </a:extLst>
            </p:cNvPr>
            <p:cNvSpPr txBox="1"/>
            <p:nvPr/>
          </p:nvSpPr>
          <p:spPr>
            <a:xfrm>
              <a:off x="2605321" y="2832553"/>
              <a:ext cx="62292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b="1" dirty="0">
                  <a:solidFill>
                    <a:srgbClr val="00B050"/>
                  </a:solidFill>
                </a:rPr>
                <a:t>Host</a:t>
              </a:r>
            </a:p>
          </p:txBody>
        </p:sp>
        <p:cxnSp>
          <p:nvCxnSpPr>
            <p:cNvPr id="21" name="Straight Arrow Connector 20">
              <a:extLst>
                <a:ext uri="{FF2B5EF4-FFF2-40B4-BE49-F238E27FC236}">
                  <a16:creationId xmlns:a16="http://schemas.microsoft.com/office/drawing/2014/main" id="{3B800701-80A3-9675-09A9-9ECCD3C5E608}"/>
                </a:ext>
              </a:extLst>
            </p:cNvPr>
            <p:cNvCxnSpPr/>
            <p:nvPr/>
          </p:nvCxnSpPr>
          <p:spPr>
            <a:xfrm flipH="1">
              <a:off x="2903445" y="3167152"/>
              <a:ext cx="1" cy="805106"/>
            </a:xfrm>
            <a:prstGeom prst="straightConnector1">
              <a:avLst/>
            </a:prstGeom>
            <a:ln w="57150">
              <a:solidFill>
                <a:srgbClr val="00B05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6D838FE8-D80A-E2F5-45D7-71ED9FA3DE8F}"/>
              </a:ext>
            </a:extLst>
          </p:cNvPr>
          <p:cNvGrpSpPr/>
          <p:nvPr/>
        </p:nvGrpSpPr>
        <p:grpSpPr>
          <a:xfrm>
            <a:off x="523946" y="2329373"/>
            <a:ext cx="986360" cy="1447614"/>
            <a:chOff x="1430299" y="2461492"/>
            <a:chExt cx="986360" cy="1447614"/>
          </a:xfrm>
        </p:grpSpPr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119F91E9-2DFD-A169-F7A0-FB4380693296}"/>
                </a:ext>
              </a:extLst>
            </p:cNvPr>
            <p:cNvSpPr txBox="1"/>
            <p:nvPr/>
          </p:nvSpPr>
          <p:spPr>
            <a:xfrm>
              <a:off x="1430299" y="2461492"/>
              <a:ext cx="986360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GB" b="1" dirty="0">
                  <a:solidFill>
                    <a:srgbClr val="0070C0"/>
                  </a:solidFill>
                </a:rPr>
                <a:t>Protocol</a:t>
              </a:r>
            </a:p>
            <a:p>
              <a:pPr algn="ctr"/>
              <a:r>
                <a:rPr lang="en-GB" b="1" dirty="0">
                  <a:solidFill>
                    <a:srgbClr val="0070C0"/>
                  </a:solidFill>
                </a:rPr>
                <a:t>method</a:t>
              </a:r>
            </a:p>
          </p:txBody>
        </p:sp>
        <p:cxnSp>
          <p:nvCxnSpPr>
            <p:cNvPr id="22" name="Straight Arrow Connector 21">
              <a:extLst>
                <a:ext uri="{FF2B5EF4-FFF2-40B4-BE49-F238E27FC236}">
                  <a16:creationId xmlns:a16="http://schemas.microsoft.com/office/drawing/2014/main" id="{A1BFB0BE-37FB-7400-4152-FA3EC3DDB9A7}"/>
                </a:ext>
              </a:extLst>
            </p:cNvPr>
            <p:cNvCxnSpPr/>
            <p:nvPr/>
          </p:nvCxnSpPr>
          <p:spPr>
            <a:xfrm flipH="1">
              <a:off x="1917453" y="3104000"/>
              <a:ext cx="1" cy="805106"/>
            </a:xfrm>
            <a:prstGeom prst="straightConnector1">
              <a:avLst/>
            </a:prstGeom>
            <a:ln w="57150">
              <a:solidFill>
                <a:srgbClr val="0070C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8" name="Rectangle 27">
            <a:extLst>
              <a:ext uri="{FF2B5EF4-FFF2-40B4-BE49-F238E27FC236}">
                <a16:creationId xmlns:a16="http://schemas.microsoft.com/office/drawing/2014/main" id="{F3CDB007-3701-6708-B3F5-03685708B954}"/>
              </a:ext>
            </a:extLst>
          </p:cNvPr>
          <p:cNvSpPr/>
          <p:nvPr/>
        </p:nvSpPr>
        <p:spPr>
          <a:xfrm>
            <a:off x="465996" y="3681033"/>
            <a:ext cx="11554674" cy="5539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3000" b="1" dirty="0">
                <a:solidFill>
                  <a:srgbClr val="0070C0"/>
                </a:solidFill>
              </a:rPr>
              <a:t>https:</a:t>
            </a:r>
            <a:r>
              <a:rPr lang="en-GB" sz="3000" b="1" dirty="0"/>
              <a:t>//</a:t>
            </a:r>
            <a:r>
              <a:rPr lang="en-GB" sz="3000" b="1" dirty="0">
                <a:solidFill>
                  <a:srgbClr val="00B050"/>
                </a:solidFill>
              </a:rPr>
              <a:t>www</a:t>
            </a:r>
            <a:r>
              <a:rPr lang="en-GB" sz="3000" b="1" dirty="0"/>
              <a:t>.</a:t>
            </a:r>
            <a:r>
              <a:rPr lang="en-GB" sz="3000" b="1" dirty="0">
                <a:solidFill>
                  <a:srgbClr val="C00000"/>
                </a:solidFill>
              </a:rPr>
              <a:t>craigndave.org/</a:t>
            </a:r>
            <a:r>
              <a:rPr lang="en-GB" sz="3000" b="1" dirty="0">
                <a:solidFill>
                  <a:srgbClr val="7030A0"/>
                </a:solidFill>
              </a:rPr>
              <a:t>note-taking/template/</a:t>
            </a:r>
            <a:r>
              <a:rPr lang="en-GB" sz="3000" b="1" dirty="0">
                <a:solidFill>
                  <a:schemeClr val="bg1">
                    <a:lumMod val="75000"/>
                  </a:schemeClr>
                </a:solidFill>
              </a:rPr>
              <a:t>cornell_notes.html</a:t>
            </a:r>
          </a:p>
        </p:txBody>
      </p:sp>
      <p:grpSp>
        <p:nvGrpSpPr>
          <p:cNvPr id="35" name="Group 34">
            <a:extLst>
              <a:ext uri="{FF2B5EF4-FFF2-40B4-BE49-F238E27FC236}">
                <a16:creationId xmlns:a16="http://schemas.microsoft.com/office/drawing/2014/main" id="{9647EE77-601D-1AFB-BA23-C6099C28A51C}"/>
              </a:ext>
            </a:extLst>
          </p:cNvPr>
          <p:cNvGrpSpPr/>
          <p:nvPr/>
        </p:nvGrpSpPr>
        <p:grpSpPr>
          <a:xfrm>
            <a:off x="3101493" y="2657905"/>
            <a:ext cx="1527982" cy="1139705"/>
            <a:chOff x="2152257" y="2832553"/>
            <a:chExt cx="1527982" cy="1139705"/>
          </a:xfrm>
        </p:grpSpPr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686082A7-7E04-86F2-2499-D067CC5DEE9D}"/>
                </a:ext>
              </a:extLst>
            </p:cNvPr>
            <p:cNvSpPr txBox="1"/>
            <p:nvPr/>
          </p:nvSpPr>
          <p:spPr>
            <a:xfrm>
              <a:off x="2152257" y="2832553"/>
              <a:ext cx="1527982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b="1" dirty="0">
                  <a:solidFill>
                    <a:srgbClr val="C00000"/>
                  </a:solidFill>
                </a:rPr>
                <a:t>Domain name</a:t>
              </a:r>
            </a:p>
            <a:p>
              <a:endParaRPr lang="en-GB" b="1" dirty="0">
                <a:solidFill>
                  <a:srgbClr val="C00000"/>
                </a:solidFill>
              </a:endParaRPr>
            </a:p>
          </p:txBody>
        </p:sp>
        <p:cxnSp>
          <p:nvCxnSpPr>
            <p:cNvPr id="37" name="Straight Arrow Connector 36">
              <a:extLst>
                <a:ext uri="{FF2B5EF4-FFF2-40B4-BE49-F238E27FC236}">
                  <a16:creationId xmlns:a16="http://schemas.microsoft.com/office/drawing/2014/main" id="{F6FCDCB1-BB3D-B25C-6ED2-CDCF31ABC494}"/>
                </a:ext>
              </a:extLst>
            </p:cNvPr>
            <p:cNvCxnSpPr/>
            <p:nvPr/>
          </p:nvCxnSpPr>
          <p:spPr>
            <a:xfrm flipH="1">
              <a:off x="2903445" y="3167152"/>
              <a:ext cx="1" cy="805106"/>
            </a:xfrm>
            <a:prstGeom prst="straightConnector1">
              <a:avLst/>
            </a:prstGeom>
            <a:ln w="57150">
              <a:solidFill>
                <a:srgbClr val="C0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4744522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" name="Picture 37">
            <a:extLst>
              <a:ext uri="{FF2B5EF4-FFF2-40B4-BE49-F238E27FC236}">
                <a16:creationId xmlns:a16="http://schemas.microsoft.com/office/drawing/2014/main" id="{37F3E950-72C7-80C7-3A2A-37FDB5E5AF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7126" y="1295445"/>
            <a:ext cx="11857748" cy="5346655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50213629-B856-4319-B482-ECBCD25E2D9C}"/>
              </a:ext>
            </a:extLst>
          </p:cNvPr>
          <p:cNvSpPr/>
          <p:nvPr/>
        </p:nvSpPr>
        <p:spPr>
          <a:xfrm>
            <a:off x="220675" y="504512"/>
            <a:ext cx="5293715" cy="77899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2400" dirty="0">
                <a:solidFill>
                  <a:schemeClr val="accent2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The parts of a URL</a:t>
            </a:r>
            <a:endParaRPr lang="en-GB" sz="1200" dirty="0">
              <a:solidFill>
                <a:srgbClr val="0087B1"/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endParaRPr lang="en-GB" sz="1200" dirty="0">
              <a:solidFill>
                <a:srgbClr val="0087B1"/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grpSp>
        <p:nvGrpSpPr>
          <p:cNvPr id="34" name="Group 33">
            <a:extLst>
              <a:ext uri="{FF2B5EF4-FFF2-40B4-BE49-F238E27FC236}">
                <a16:creationId xmlns:a16="http://schemas.microsoft.com/office/drawing/2014/main" id="{425A060F-632C-12AC-6B59-948893357AB6}"/>
              </a:ext>
            </a:extLst>
          </p:cNvPr>
          <p:cNvGrpSpPr/>
          <p:nvPr/>
        </p:nvGrpSpPr>
        <p:grpSpPr>
          <a:xfrm>
            <a:off x="2743737" y="4345787"/>
            <a:ext cx="2338141" cy="463151"/>
            <a:chOff x="2743737" y="4345787"/>
            <a:chExt cx="2338141" cy="463151"/>
          </a:xfrm>
        </p:grpSpPr>
        <p:sp>
          <p:nvSpPr>
            <p:cNvPr id="9" name="Right Bracket 8">
              <a:extLst>
                <a:ext uri="{FF2B5EF4-FFF2-40B4-BE49-F238E27FC236}">
                  <a16:creationId xmlns:a16="http://schemas.microsoft.com/office/drawing/2014/main" id="{94C96A47-B76F-DCCF-F80D-DCFCDDB6BFDF}"/>
                </a:ext>
              </a:extLst>
            </p:cNvPr>
            <p:cNvSpPr/>
            <p:nvPr/>
          </p:nvSpPr>
          <p:spPr>
            <a:xfrm rot="5400000">
              <a:off x="3853471" y="3298259"/>
              <a:ext cx="118675" cy="2213732"/>
            </a:xfrm>
            <a:prstGeom prst="rightBracket">
              <a:avLst/>
            </a:prstGeom>
            <a:ln w="28575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33D1451E-5A13-3D23-A116-2A4FB70DB619}"/>
                </a:ext>
              </a:extLst>
            </p:cNvPr>
            <p:cNvSpPr txBox="1"/>
            <p:nvPr/>
          </p:nvSpPr>
          <p:spPr>
            <a:xfrm>
              <a:off x="2743737" y="4439606"/>
              <a:ext cx="233814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GB" b="1" dirty="0">
                  <a:solidFill>
                    <a:srgbClr val="C00000"/>
                  </a:solidFill>
                </a:rPr>
                <a:t>Website domain name</a:t>
              </a:r>
            </a:p>
          </p:txBody>
        </p:sp>
      </p:grpSp>
      <p:grpSp>
        <p:nvGrpSpPr>
          <p:cNvPr id="3" name="Group 2">
            <a:extLst>
              <a:ext uri="{FF2B5EF4-FFF2-40B4-BE49-F238E27FC236}">
                <a16:creationId xmlns:a16="http://schemas.microsoft.com/office/drawing/2014/main" id="{737319B3-6321-BFA8-407D-1CC7E90D694C}"/>
              </a:ext>
            </a:extLst>
          </p:cNvPr>
          <p:cNvGrpSpPr/>
          <p:nvPr/>
        </p:nvGrpSpPr>
        <p:grpSpPr>
          <a:xfrm>
            <a:off x="1856052" y="5084744"/>
            <a:ext cx="3168883" cy="497412"/>
            <a:chOff x="2449857" y="4730839"/>
            <a:chExt cx="2539093" cy="497412"/>
          </a:xfrm>
        </p:grpSpPr>
        <p:sp>
          <p:nvSpPr>
            <p:cNvPr id="11" name="Right Bracket 10">
              <a:extLst>
                <a:ext uri="{FF2B5EF4-FFF2-40B4-BE49-F238E27FC236}">
                  <a16:creationId xmlns:a16="http://schemas.microsoft.com/office/drawing/2014/main" id="{AC10004A-47ED-1171-946C-E80DDD0B6537}"/>
                </a:ext>
              </a:extLst>
            </p:cNvPr>
            <p:cNvSpPr/>
            <p:nvPr/>
          </p:nvSpPr>
          <p:spPr>
            <a:xfrm rot="5400000">
              <a:off x="3650968" y="3529728"/>
              <a:ext cx="136872" cy="2539093"/>
            </a:xfrm>
            <a:prstGeom prst="rightBracket">
              <a:avLst/>
            </a:prstGeom>
            <a:ln w="28575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4FE3CABC-DA76-C1C3-A07D-C5F5AA3C1ECC}"/>
                </a:ext>
              </a:extLst>
            </p:cNvPr>
            <p:cNvSpPr txBox="1"/>
            <p:nvPr/>
          </p:nvSpPr>
          <p:spPr>
            <a:xfrm>
              <a:off x="2543057" y="4858919"/>
              <a:ext cx="237257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GB" b="1" dirty="0">
                  <a:solidFill>
                    <a:schemeClr val="accent2"/>
                  </a:solidFill>
                </a:rPr>
                <a:t>Fully qualified domain name</a:t>
              </a:r>
            </a:p>
          </p:txBody>
        </p:sp>
      </p:grpSp>
      <p:grpSp>
        <p:nvGrpSpPr>
          <p:cNvPr id="2" name="Group 1">
            <a:extLst>
              <a:ext uri="{FF2B5EF4-FFF2-40B4-BE49-F238E27FC236}">
                <a16:creationId xmlns:a16="http://schemas.microsoft.com/office/drawing/2014/main" id="{C62580F3-E75C-4125-EB83-361E95BF2827}"/>
              </a:ext>
            </a:extLst>
          </p:cNvPr>
          <p:cNvGrpSpPr/>
          <p:nvPr/>
        </p:nvGrpSpPr>
        <p:grpSpPr>
          <a:xfrm>
            <a:off x="588860" y="5907614"/>
            <a:ext cx="11010423" cy="470410"/>
            <a:chOff x="1392429" y="5677412"/>
            <a:chExt cx="8859402" cy="470410"/>
          </a:xfrm>
        </p:grpSpPr>
        <p:sp>
          <p:nvSpPr>
            <p:cNvPr id="13" name="Right Bracket 12">
              <a:extLst>
                <a:ext uri="{FF2B5EF4-FFF2-40B4-BE49-F238E27FC236}">
                  <a16:creationId xmlns:a16="http://schemas.microsoft.com/office/drawing/2014/main" id="{DD0DBD93-8D9C-7C09-7633-6EC56CF999A6}"/>
                </a:ext>
              </a:extLst>
            </p:cNvPr>
            <p:cNvSpPr/>
            <p:nvPr/>
          </p:nvSpPr>
          <p:spPr>
            <a:xfrm rot="5400000">
              <a:off x="5763109" y="1306732"/>
              <a:ext cx="118036" cy="8859395"/>
            </a:xfrm>
            <a:prstGeom prst="rightBracket">
              <a:avLst/>
            </a:prstGeom>
            <a:ln w="28575">
              <a:solidFill>
                <a:srgbClr val="FFC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708CDD44-10E5-55B4-E235-CCE5AD0A78A4}"/>
                </a:ext>
              </a:extLst>
            </p:cNvPr>
            <p:cNvSpPr txBox="1"/>
            <p:nvPr/>
          </p:nvSpPr>
          <p:spPr>
            <a:xfrm>
              <a:off x="1392430" y="5778490"/>
              <a:ext cx="885940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b="1" dirty="0">
                  <a:solidFill>
                    <a:srgbClr val="FFC000"/>
                  </a:solidFill>
                </a:rPr>
                <a:t>Uniform resource locator (URL)</a:t>
              </a:r>
            </a:p>
          </p:txBody>
        </p:sp>
      </p:grpSp>
      <p:grpSp>
        <p:nvGrpSpPr>
          <p:cNvPr id="33" name="Group 32">
            <a:extLst>
              <a:ext uri="{FF2B5EF4-FFF2-40B4-BE49-F238E27FC236}">
                <a16:creationId xmlns:a16="http://schemas.microsoft.com/office/drawing/2014/main" id="{63586E4B-012B-25E3-61A9-6BD60E92F598}"/>
              </a:ext>
            </a:extLst>
          </p:cNvPr>
          <p:cNvGrpSpPr/>
          <p:nvPr/>
        </p:nvGrpSpPr>
        <p:grpSpPr>
          <a:xfrm>
            <a:off x="8706378" y="2659510"/>
            <a:ext cx="2573397" cy="1130478"/>
            <a:chOff x="8117293" y="2718906"/>
            <a:chExt cx="2573397" cy="1130478"/>
          </a:xfrm>
        </p:grpSpPr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56D50B28-8730-2C83-0EB0-255B6400BF8F}"/>
                </a:ext>
              </a:extLst>
            </p:cNvPr>
            <p:cNvSpPr txBox="1"/>
            <p:nvPr/>
          </p:nvSpPr>
          <p:spPr>
            <a:xfrm>
              <a:off x="8117293" y="2718906"/>
              <a:ext cx="257339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b="1" dirty="0">
                  <a:solidFill>
                    <a:srgbClr val="FF9999"/>
                  </a:solidFill>
                </a:rPr>
                <a:t>Resource (web page/file)</a:t>
              </a:r>
            </a:p>
          </p:txBody>
        </p:sp>
        <p:cxnSp>
          <p:nvCxnSpPr>
            <p:cNvPr id="19" name="Straight Arrow Connector 18">
              <a:extLst>
                <a:ext uri="{FF2B5EF4-FFF2-40B4-BE49-F238E27FC236}">
                  <a16:creationId xmlns:a16="http://schemas.microsoft.com/office/drawing/2014/main" id="{94E589CF-DE9A-AD54-B4F6-F75EDBE9384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439618" y="3044278"/>
              <a:ext cx="5195" cy="805106"/>
            </a:xfrm>
            <a:prstGeom prst="straightConnector1">
              <a:avLst/>
            </a:prstGeom>
            <a:ln w="57150">
              <a:solidFill>
                <a:srgbClr val="FF9999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2" name="Group 31">
            <a:extLst>
              <a:ext uri="{FF2B5EF4-FFF2-40B4-BE49-F238E27FC236}">
                <a16:creationId xmlns:a16="http://schemas.microsoft.com/office/drawing/2014/main" id="{7CEC6425-CA37-92E3-9665-5B18BA1F224F}"/>
              </a:ext>
            </a:extLst>
          </p:cNvPr>
          <p:cNvGrpSpPr/>
          <p:nvPr/>
        </p:nvGrpSpPr>
        <p:grpSpPr>
          <a:xfrm>
            <a:off x="6365996" y="2658809"/>
            <a:ext cx="995529" cy="1138797"/>
            <a:chOff x="6193980" y="2670825"/>
            <a:chExt cx="995529" cy="1138797"/>
          </a:xfrm>
        </p:grpSpPr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E0C44079-2F4D-9DF1-8B5D-D02F95CC33FE}"/>
                </a:ext>
              </a:extLst>
            </p:cNvPr>
            <p:cNvSpPr txBox="1"/>
            <p:nvPr/>
          </p:nvSpPr>
          <p:spPr>
            <a:xfrm>
              <a:off x="6193980" y="2670825"/>
              <a:ext cx="99552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b="1" dirty="0">
                  <a:solidFill>
                    <a:srgbClr val="7030A0"/>
                  </a:solidFill>
                </a:rPr>
                <a:t>Location</a:t>
              </a:r>
            </a:p>
          </p:txBody>
        </p:sp>
        <p:cxnSp>
          <p:nvCxnSpPr>
            <p:cNvPr id="20" name="Straight Arrow Connector 19">
              <a:extLst>
                <a:ext uri="{FF2B5EF4-FFF2-40B4-BE49-F238E27FC236}">
                  <a16:creationId xmlns:a16="http://schemas.microsoft.com/office/drawing/2014/main" id="{75578942-7C00-6903-D21D-25DAD6E9F592}"/>
                </a:ext>
              </a:extLst>
            </p:cNvPr>
            <p:cNvCxnSpPr/>
            <p:nvPr/>
          </p:nvCxnSpPr>
          <p:spPr>
            <a:xfrm flipH="1">
              <a:off x="6685043" y="3004516"/>
              <a:ext cx="1" cy="805106"/>
            </a:xfrm>
            <a:prstGeom prst="straightConnector1">
              <a:avLst/>
            </a:prstGeom>
            <a:ln w="57150">
              <a:solidFill>
                <a:srgbClr val="7030A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1" name="Group 30">
            <a:extLst>
              <a:ext uri="{FF2B5EF4-FFF2-40B4-BE49-F238E27FC236}">
                <a16:creationId xmlns:a16="http://schemas.microsoft.com/office/drawing/2014/main" id="{ED09A7ED-01DE-F084-3D87-4BD798D03DF3}"/>
              </a:ext>
            </a:extLst>
          </p:cNvPr>
          <p:cNvGrpSpPr/>
          <p:nvPr/>
        </p:nvGrpSpPr>
        <p:grpSpPr>
          <a:xfrm>
            <a:off x="1952774" y="2649311"/>
            <a:ext cx="622927" cy="1139705"/>
            <a:chOff x="2605321" y="2832553"/>
            <a:chExt cx="622927" cy="1139705"/>
          </a:xfrm>
        </p:grpSpPr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0472025B-74E8-C587-9C87-64B47555AE21}"/>
                </a:ext>
              </a:extLst>
            </p:cNvPr>
            <p:cNvSpPr txBox="1"/>
            <p:nvPr/>
          </p:nvSpPr>
          <p:spPr>
            <a:xfrm>
              <a:off x="2605321" y="2832553"/>
              <a:ext cx="62292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b="1" dirty="0">
                  <a:solidFill>
                    <a:srgbClr val="00B050"/>
                  </a:solidFill>
                </a:rPr>
                <a:t>Host</a:t>
              </a:r>
            </a:p>
          </p:txBody>
        </p:sp>
        <p:cxnSp>
          <p:nvCxnSpPr>
            <p:cNvPr id="21" name="Straight Arrow Connector 20">
              <a:extLst>
                <a:ext uri="{FF2B5EF4-FFF2-40B4-BE49-F238E27FC236}">
                  <a16:creationId xmlns:a16="http://schemas.microsoft.com/office/drawing/2014/main" id="{3B800701-80A3-9675-09A9-9ECCD3C5E608}"/>
                </a:ext>
              </a:extLst>
            </p:cNvPr>
            <p:cNvCxnSpPr/>
            <p:nvPr/>
          </p:nvCxnSpPr>
          <p:spPr>
            <a:xfrm flipH="1">
              <a:off x="2903445" y="3167152"/>
              <a:ext cx="1" cy="805106"/>
            </a:xfrm>
            <a:prstGeom prst="straightConnector1">
              <a:avLst/>
            </a:prstGeom>
            <a:ln w="57150">
              <a:solidFill>
                <a:srgbClr val="00B05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6D838FE8-D80A-E2F5-45D7-71ED9FA3DE8F}"/>
              </a:ext>
            </a:extLst>
          </p:cNvPr>
          <p:cNvGrpSpPr/>
          <p:nvPr/>
        </p:nvGrpSpPr>
        <p:grpSpPr>
          <a:xfrm>
            <a:off x="523946" y="2329373"/>
            <a:ext cx="986360" cy="1447614"/>
            <a:chOff x="1430299" y="2461492"/>
            <a:chExt cx="986360" cy="1447614"/>
          </a:xfrm>
        </p:grpSpPr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119F91E9-2DFD-A169-F7A0-FB4380693296}"/>
                </a:ext>
              </a:extLst>
            </p:cNvPr>
            <p:cNvSpPr txBox="1"/>
            <p:nvPr/>
          </p:nvSpPr>
          <p:spPr>
            <a:xfrm>
              <a:off x="1430299" y="2461492"/>
              <a:ext cx="986360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GB" b="1" dirty="0">
                  <a:solidFill>
                    <a:srgbClr val="0070C0"/>
                  </a:solidFill>
                </a:rPr>
                <a:t>Protocol</a:t>
              </a:r>
            </a:p>
            <a:p>
              <a:pPr algn="ctr"/>
              <a:r>
                <a:rPr lang="en-GB" b="1" dirty="0">
                  <a:solidFill>
                    <a:srgbClr val="0070C0"/>
                  </a:solidFill>
                </a:rPr>
                <a:t>method</a:t>
              </a:r>
            </a:p>
          </p:txBody>
        </p:sp>
        <p:cxnSp>
          <p:nvCxnSpPr>
            <p:cNvPr id="22" name="Straight Arrow Connector 21">
              <a:extLst>
                <a:ext uri="{FF2B5EF4-FFF2-40B4-BE49-F238E27FC236}">
                  <a16:creationId xmlns:a16="http://schemas.microsoft.com/office/drawing/2014/main" id="{A1BFB0BE-37FB-7400-4152-FA3EC3DDB9A7}"/>
                </a:ext>
              </a:extLst>
            </p:cNvPr>
            <p:cNvCxnSpPr/>
            <p:nvPr/>
          </p:nvCxnSpPr>
          <p:spPr>
            <a:xfrm flipH="1">
              <a:off x="1917453" y="3104000"/>
              <a:ext cx="1" cy="805106"/>
            </a:xfrm>
            <a:prstGeom prst="straightConnector1">
              <a:avLst/>
            </a:prstGeom>
            <a:ln w="57150">
              <a:solidFill>
                <a:srgbClr val="0070C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8" name="Rectangle 27">
            <a:extLst>
              <a:ext uri="{FF2B5EF4-FFF2-40B4-BE49-F238E27FC236}">
                <a16:creationId xmlns:a16="http://schemas.microsoft.com/office/drawing/2014/main" id="{F3CDB007-3701-6708-B3F5-03685708B954}"/>
              </a:ext>
            </a:extLst>
          </p:cNvPr>
          <p:cNvSpPr/>
          <p:nvPr/>
        </p:nvSpPr>
        <p:spPr>
          <a:xfrm>
            <a:off x="465995" y="3681033"/>
            <a:ext cx="11456373" cy="5539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3000" b="1" dirty="0">
                <a:solidFill>
                  <a:srgbClr val="0070C0"/>
                </a:solidFill>
              </a:rPr>
              <a:t>https:</a:t>
            </a:r>
            <a:r>
              <a:rPr lang="en-GB" sz="3000" b="1" dirty="0"/>
              <a:t>//</a:t>
            </a:r>
            <a:r>
              <a:rPr lang="en-GB" sz="3000" b="1" dirty="0">
                <a:solidFill>
                  <a:srgbClr val="00B050"/>
                </a:solidFill>
              </a:rPr>
              <a:t>www</a:t>
            </a:r>
            <a:r>
              <a:rPr lang="en-GB" sz="3000" b="1" dirty="0"/>
              <a:t>.</a:t>
            </a:r>
            <a:r>
              <a:rPr lang="en-GB" sz="3000" b="1" dirty="0">
                <a:solidFill>
                  <a:srgbClr val="C00000"/>
                </a:solidFill>
              </a:rPr>
              <a:t>craigndave.org/</a:t>
            </a:r>
            <a:r>
              <a:rPr lang="en-GB" sz="3000" b="1" dirty="0">
                <a:solidFill>
                  <a:srgbClr val="7030A0"/>
                </a:solidFill>
              </a:rPr>
              <a:t>note-taking/template/</a:t>
            </a:r>
            <a:r>
              <a:rPr lang="en-GB" sz="3000" b="1" dirty="0">
                <a:solidFill>
                  <a:srgbClr val="FF9999"/>
                </a:solidFill>
              </a:rPr>
              <a:t>cornell_notes.html</a:t>
            </a:r>
          </a:p>
        </p:txBody>
      </p:sp>
      <p:grpSp>
        <p:nvGrpSpPr>
          <p:cNvPr id="35" name="Group 34">
            <a:extLst>
              <a:ext uri="{FF2B5EF4-FFF2-40B4-BE49-F238E27FC236}">
                <a16:creationId xmlns:a16="http://schemas.microsoft.com/office/drawing/2014/main" id="{9647EE77-601D-1AFB-BA23-C6099C28A51C}"/>
              </a:ext>
            </a:extLst>
          </p:cNvPr>
          <p:cNvGrpSpPr/>
          <p:nvPr/>
        </p:nvGrpSpPr>
        <p:grpSpPr>
          <a:xfrm>
            <a:off x="3101495" y="2657905"/>
            <a:ext cx="1527982" cy="1139705"/>
            <a:chOff x="2152259" y="2832553"/>
            <a:chExt cx="1527982" cy="1139705"/>
          </a:xfrm>
        </p:grpSpPr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686082A7-7E04-86F2-2499-D067CC5DEE9D}"/>
                </a:ext>
              </a:extLst>
            </p:cNvPr>
            <p:cNvSpPr txBox="1"/>
            <p:nvPr/>
          </p:nvSpPr>
          <p:spPr>
            <a:xfrm>
              <a:off x="2152259" y="2832553"/>
              <a:ext cx="1527982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b="1" dirty="0">
                  <a:solidFill>
                    <a:srgbClr val="C00000"/>
                  </a:solidFill>
                </a:rPr>
                <a:t>Domain name</a:t>
              </a:r>
            </a:p>
            <a:p>
              <a:endParaRPr lang="en-GB" b="1" dirty="0">
                <a:solidFill>
                  <a:srgbClr val="C00000"/>
                </a:solidFill>
              </a:endParaRPr>
            </a:p>
          </p:txBody>
        </p:sp>
        <p:cxnSp>
          <p:nvCxnSpPr>
            <p:cNvPr id="37" name="Straight Arrow Connector 36">
              <a:extLst>
                <a:ext uri="{FF2B5EF4-FFF2-40B4-BE49-F238E27FC236}">
                  <a16:creationId xmlns:a16="http://schemas.microsoft.com/office/drawing/2014/main" id="{F6FCDCB1-BB3D-B25C-6ED2-CDCF31ABC494}"/>
                </a:ext>
              </a:extLst>
            </p:cNvPr>
            <p:cNvCxnSpPr/>
            <p:nvPr/>
          </p:nvCxnSpPr>
          <p:spPr>
            <a:xfrm flipH="1">
              <a:off x="2903445" y="3167152"/>
              <a:ext cx="1" cy="805106"/>
            </a:xfrm>
            <a:prstGeom prst="straightConnector1">
              <a:avLst/>
            </a:prstGeom>
            <a:ln w="57150">
              <a:solidFill>
                <a:srgbClr val="C0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40754095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0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D989BBE4-38CA-4FFB-B9AA-E0BBB2AB22B7}"/>
              </a:ext>
            </a:extLst>
          </p:cNvPr>
          <p:cNvSpPr/>
          <p:nvPr/>
        </p:nvSpPr>
        <p:spPr>
          <a:xfrm>
            <a:off x="254906" y="1887113"/>
            <a:ext cx="10937702" cy="28623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 </a:t>
            </a:r>
            <a:r>
              <a:rPr lang="en-GB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uniform resource locator (URL)</a:t>
            </a: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is a text-based address for a web page. It can contain: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The protocol – e.g., http, https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The host – e.g., www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The site’s domain name – e.g., craigndave.org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The web page/location – e.g., note-taking/template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The resource/file name – e.g., cornell_notes.html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GB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GB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Example of a complete URL: </a:t>
            </a: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https://www.craigndave.org/note-taking/template/cornell_notes.html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en-GB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0213629-B856-4319-B482-ECBCD25E2D9C}"/>
              </a:ext>
            </a:extLst>
          </p:cNvPr>
          <p:cNvSpPr/>
          <p:nvPr/>
        </p:nvSpPr>
        <p:spPr>
          <a:xfrm>
            <a:off x="1368341" y="523174"/>
            <a:ext cx="5293715" cy="4700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2400" dirty="0">
                <a:solidFill>
                  <a:schemeClr val="accent2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Uniform resource locator (URL)</a:t>
            </a:r>
            <a:endParaRPr lang="en-GB" sz="1200" dirty="0">
              <a:solidFill>
                <a:schemeClr val="accent2">
                  <a:lumMod val="75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7" name="Picture 2" descr="make_notes">
            <a:extLst>
              <a:ext uri="{FF2B5EF4-FFF2-40B4-BE49-F238E27FC236}">
                <a16:creationId xmlns:a16="http://schemas.microsoft.com/office/drawing/2014/main" id="{906113E6-9162-4644-9918-83F5CB63BF3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4906" y="611347"/>
            <a:ext cx="1113436" cy="11134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2315125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82947853-E1EE-4D77-9DC1-BD14C2A806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47625" y="-28575"/>
            <a:ext cx="12239625" cy="68865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4861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937</TotalTime>
  <Words>347</Words>
  <Application>Microsoft Office PowerPoint</Application>
  <PresentationFormat>Widescreen</PresentationFormat>
  <Paragraphs>56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Calibri</vt:lpstr>
      <vt:lpstr>Calibri Light</vt:lpstr>
      <vt:lpstr>Century Gothic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Craig Sargent</dc:creator>
  <cp:lastModifiedBy>Craig Sargent</cp:lastModifiedBy>
  <cp:revision>122</cp:revision>
  <dcterms:created xsi:type="dcterms:W3CDTF">2019-10-14T15:21:06Z</dcterms:created>
  <dcterms:modified xsi:type="dcterms:W3CDTF">2022-08-15T13:40:08Z</dcterms:modified>
</cp:coreProperties>
</file>