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4" r:id="rId3"/>
    <p:sldId id="266" r:id="rId4"/>
    <p:sldId id="272" r:id="rId5"/>
    <p:sldId id="342" r:id="rId6"/>
    <p:sldId id="341" r:id="rId7"/>
    <p:sldId id="260" r:id="rId8"/>
    <p:sldId id="2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30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48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4800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5.1 The internet and the world wide web | HTTP and HTTPS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5.1 The internet and the world wide web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HTTP and HTTPS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protocol?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le:Flag map of Germany.svg">
            <a:extLst>
              <a:ext uri="{FF2B5EF4-FFF2-40B4-BE49-F238E27FC236}">
                <a16:creationId xmlns:a16="http://schemas.microsoft.com/office/drawing/2014/main" id="{CBE15C32-7B39-4CDC-BF68-418F578DA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23" y="1171524"/>
            <a:ext cx="1884759" cy="255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File:Flag map of England.svg">
            <a:extLst>
              <a:ext uri="{FF2B5EF4-FFF2-40B4-BE49-F238E27FC236}">
                <a16:creationId xmlns:a16="http://schemas.microsoft.com/office/drawing/2014/main" id="{C29F3008-BB87-4FCF-88D7-165A4848E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6326" y="1074882"/>
            <a:ext cx="2067580" cy="274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F7C4EF-9812-4F24-BDAC-129A98508C8D}"/>
              </a:ext>
            </a:extLst>
          </p:cNvPr>
          <p:cNvSpPr txBox="1"/>
          <p:nvPr/>
        </p:nvSpPr>
        <p:spPr>
          <a:xfrm>
            <a:off x="5534788" y="3168357"/>
            <a:ext cx="112242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500" b="1" dirty="0">
                <a:solidFill>
                  <a:srgbClr val="C00000"/>
                </a:solidFill>
                <a:sym typeface="Wingdings" panose="05000000000000000000" pitchFamily="2" charset="2"/>
              </a:rPr>
              <a:t></a:t>
            </a:r>
            <a:endParaRPr lang="en-GB" sz="11500" b="1" dirty="0">
              <a:solidFill>
                <a:srgbClr val="C00000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8544987-7C33-4ACF-ABAD-D9DC9F1B00BD}"/>
              </a:ext>
            </a:extLst>
          </p:cNvPr>
          <p:cNvSpPr/>
          <p:nvPr/>
        </p:nvSpPr>
        <p:spPr>
          <a:xfrm>
            <a:off x="2928419" y="3517515"/>
            <a:ext cx="5758381" cy="1257038"/>
          </a:xfrm>
          <a:prstGeom prst="arc">
            <a:avLst>
              <a:gd name="adj1" fmla="val 10776121"/>
              <a:gd name="adj2" fmla="val 0"/>
            </a:avLst>
          </a:prstGeom>
          <a:ln w="762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200F0D-5A6B-9932-D671-811BE9369D16}"/>
              </a:ext>
            </a:extLst>
          </p:cNvPr>
          <p:cNvGrpSpPr/>
          <p:nvPr/>
        </p:nvGrpSpPr>
        <p:grpSpPr>
          <a:xfrm>
            <a:off x="1579591" y="4146008"/>
            <a:ext cx="8461906" cy="2711992"/>
            <a:chOff x="1579591" y="4146008"/>
            <a:chExt cx="8461906" cy="271199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A10AAE6-76FB-0AFB-38F2-21AC120733A6}"/>
                </a:ext>
              </a:extLst>
            </p:cNvPr>
            <p:cNvSpPr/>
            <p:nvPr/>
          </p:nvSpPr>
          <p:spPr>
            <a:xfrm>
              <a:off x="3039064" y="4838096"/>
              <a:ext cx="5542961" cy="7164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CD539B71-26C6-3131-1C86-6F69AB5F1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9591" y="4146008"/>
              <a:ext cx="2711992" cy="2711992"/>
            </a:xfrm>
            <a:prstGeom prst="rect">
              <a:avLst/>
            </a:prstGeom>
          </p:spPr>
        </p:pic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3A521FC3-89A6-3227-4117-4F16B3A1B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9505" y="4146008"/>
              <a:ext cx="2711992" cy="27119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44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protocol?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le:Flag map of Germany.svg">
            <a:extLst>
              <a:ext uri="{FF2B5EF4-FFF2-40B4-BE49-F238E27FC236}">
                <a16:creationId xmlns:a16="http://schemas.microsoft.com/office/drawing/2014/main" id="{CBE15C32-7B39-4CDC-BF68-418F578DA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23" y="1171524"/>
            <a:ext cx="1884759" cy="255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File:Flag map of England.svg">
            <a:extLst>
              <a:ext uri="{FF2B5EF4-FFF2-40B4-BE49-F238E27FC236}">
                <a16:creationId xmlns:a16="http://schemas.microsoft.com/office/drawing/2014/main" id="{C29F3008-BB87-4FCF-88D7-165A4848E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6326" y="1074882"/>
            <a:ext cx="2067580" cy="274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F7C4EF-9812-4F24-BDAC-129A98508C8D}"/>
              </a:ext>
            </a:extLst>
          </p:cNvPr>
          <p:cNvSpPr txBox="1"/>
          <p:nvPr/>
        </p:nvSpPr>
        <p:spPr>
          <a:xfrm>
            <a:off x="5356913" y="3517515"/>
            <a:ext cx="134363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500" b="1" dirty="0">
                <a:solidFill>
                  <a:schemeClr val="accent6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8544987-7C33-4ACF-ABAD-D9DC9F1B00BD}"/>
              </a:ext>
            </a:extLst>
          </p:cNvPr>
          <p:cNvSpPr/>
          <p:nvPr/>
        </p:nvSpPr>
        <p:spPr>
          <a:xfrm>
            <a:off x="2928419" y="3517515"/>
            <a:ext cx="5758381" cy="1257038"/>
          </a:xfrm>
          <a:prstGeom prst="arc">
            <a:avLst>
              <a:gd name="adj1" fmla="val 10776121"/>
              <a:gd name="adj2" fmla="val 0"/>
            </a:avLst>
          </a:prstGeom>
          <a:ln w="762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 descr="File:Flag map of England.svg">
            <a:extLst>
              <a:ext uri="{FF2B5EF4-FFF2-40B4-BE49-F238E27FC236}">
                <a16:creationId xmlns:a16="http://schemas.microsoft.com/office/drawing/2014/main" id="{A0C30731-1DD6-48A1-AEF1-453D44198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2" y="3902596"/>
            <a:ext cx="2067580" cy="274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F493D59-363D-42E7-98C0-1D0784D50DF7}"/>
              </a:ext>
            </a:extLst>
          </p:cNvPr>
          <p:cNvSpPr/>
          <p:nvPr/>
        </p:nvSpPr>
        <p:spPr>
          <a:xfrm>
            <a:off x="3467208" y="2636379"/>
            <a:ext cx="45261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protocol is a set of rules that allows </a:t>
            </a:r>
            <a:b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devices to communicate.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B308EE-4068-5AC1-F963-588E1DFBDCD0}"/>
              </a:ext>
            </a:extLst>
          </p:cNvPr>
          <p:cNvGrpSpPr/>
          <p:nvPr/>
        </p:nvGrpSpPr>
        <p:grpSpPr>
          <a:xfrm>
            <a:off x="1579591" y="4146008"/>
            <a:ext cx="8461906" cy="2711992"/>
            <a:chOff x="1579591" y="4146008"/>
            <a:chExt cx="8461906" cy="271199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EAA6EBF-9071-C91C-923F-120D97EE58A7}"/>
                </a:ext>
              </a:extLst>
            </p:cNvPr>
            <p:cNvSpPr/>
            <p:nvPr/>
          </p:nvSpPr>
          <p:spPr>
            <a:xfrm>
              <a:off x="3039064" y="4838096"/>
              <a:ext cx="5542961" cy="7164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7152518D-EAD4-9128-777E-C2541020F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9591" y="4146008"/>
              <a:ext cx="2711992" cy="2711992"/>
            </a:xfrm>
            <a:prstGeom prst="rect">
              <a:avLst/>
            </a:prstGeom>
          </p:spPr>
        </p:pic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4EA0E87C-CCB1-08C6-E7D2-14434C417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9505" y="4146008"/>
              <a:ext cx="2711992" cy="27119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075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7F3E950-72C7-80C7-3A2A-37FDB5E5A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295445"/>
            <a:ext cx="11857748" cy="534665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425A060F-632C-12AC-6B59-948893357AB6}"/>
              </a:ext>
            </a:extLst>
          </p:cNvPr>
          <p:cNvGrpSpPr/>
          <p:nvPr/>
        </p:nvGrpSpPr>
        <p:grpSpPr>
          <a:xfrm>
            <a:off x="2743737" y="4345787"/>
            <a:ext cx="2338141" cy="463151"/>
            <a:chOff x="2743737" y="4345787"/>
            <a:chExt cx="2338141" cy="463151"/>
          </a:xfrm>
        </p:grpSpPr>
        <p:sp>
          <p:nvSpPr>
            <p:cNvPr id="9" name="Right Bracket 8">
              <a:extLst>
                <a:ext uri="{FF2B5EF4-FFF2-40B4-BE49-F238E27FC236}">
                  <a16:creationId xmlns:a16="http://schemas.microsoft.com/office/drawing/2014/main" id="{94C96A47-B76F-DCCF-F80D-DCFCDDB6BFDF}"/>
                </a:ext>
              </a:extLst>
            </p:cNvPr>
            <p:cNvSpPr/>
            <p:nvPr/>
          </p:nvSpPr>
          <p:spPr>
            <a:xfrm rot="5400000">
              <a:off x="3853471" y="3298259"/>
              <a:ext cx="118675" cy="2213732"/>
            </a:xfrm>
            <a:prstGeom prst="rightBracket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D1451E-5A13-3D23-A116-2A4FB70DB619}"/>
                </a:ext>
              </a:extLst>
            </p:cNvPr>
            <p:cNvSpPr txBox="1"/>
            <p:nvPr/>
          </p:nvSpPr>
          <p:spPr>
            <a:xfrm>
              <a:off x="2743737" y="4439606"/>
              <a:ext cx="2338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</a:rPr>
                <a:t>Website domain name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37319B3-6321-BFA8-407D-1CC7E90D694C}"/>
              </a:ext>
            </a:extLst>
          </p:cNvPr>
          <p:cNvGrpSpPr/>
          <p:nvPr/>
        </p:nvGrpSpPr>
        <p:grpSpPr>
          <a:xfrm>
            <a:off x="1856052" y="5084744"/>
            <a:ext cx="3168883" cy="497412"/>
            <a:chOff x="2449857" y="4730839"/>
            <a:chExt cx="2539093" cy="497412"/>
          </a:xfrm>
        </p:grpSpPr>
        <p:sp>
          <p:nvSpPr>
            <p:cNvPr id="11" name="Right Bracket 10">
              <a:extLst>
                <a:ext uri="{FF2B5EF4-FFF2-40B4-BE49-F238E27FC236}">
                  <a16:creationId xmlns:a16="http://schemas.microsoft.com/office/drawing/2014/main" id="{AC10004A-47ED-1171-946C-E80DDD0B6537}"/>
                </a:ext>
              </a:extLst>
            </p:cNvPr>
            <p:cNvSpPr/>
            <p:nvPr/>
          </p:nvSpPr>
          <p:spPr>
            <a:xfrm rot="5400000">
              <a:off x="3650968" y="3529728"/>
              <a:ext cx="136872" cy="2539093"/>
            </a:xfrm>
            <a:prstGeom prst="rightBracket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E3CABC-DA76-C1C3-A07D-C5F5AA3C1ECC}"/>
                </a:ext>
              </a:extLst>
            </p:cNvPr>
            <p:cNvSpPr txBox="1"/>
            <p:nvPr/>
          </p:nvSpPr>
          <p:spPr>
            <a:xfrm>
              <a:off x="2543057" y="4858919"/>
              <a:ext cx="237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2"/>
                  </a:solidFill>
                </a:rPr>
                <a:t>Fully qualified domain name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62580F3-E75C-4125-EB83-361E95BF2827}"/>
              </a:ext>
            </a:extLst>
          </p:cNvPr>
          <p:cNvGrpSpPr/>
          <p:nvPr/>
        </p:nvGrpSpPr>
        <p:grpSpPr>
          <a:xfrm>
            <a:off x="588860" y="5907614"/>
            <a:ext cx="11010423" cy="470410"/>
            <a:chOff x="1392429" y="5677412"/>
            <a:chExt cx="8859402" cy="470410"/>
          </a:xfrm>
        </p:grpSpPr>
        <p:sp>
          <p:nvSpPr>
            <p:cNvPr id="13" name="Right Bracket 12">
              <a:extLst>
                <a:ext uri="{FF2B5EF4-FFF2-40B4-BE49-F238E27FC236}">
                  <a16:creationId xmlns:a16="http://schemas.microsoft.com/office/drawing/2014/main" id="{DD0DBD93-8D9C-7C09-7633-6EC56CF999A6}"/>
                </a:ext>
              </a:extLst>
            </p:cNvPr>
            <p:cNvSpPr/>
            <p:nvPr/>
          </p:nvSpPr>
          <p:spPr>
            <a:xfrm rot="5400000">
              <a:off x="5763109" y="1306732"/>
              <a:ext cx="118036" cy="8859395"/>
            </a:xfrm>
            <a:prstGeom prst="rightBracket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08CDD44-10E5-55B4-E235-CCE5AD0A78A4}"/>
                </a:ext>
              </a:extLst>
            </p:cNvPr>
            <p:cNvSpPr txBox="1"/>
            <p:nvPr/>
          </p:nvSpPr>
          <p:spPr>
            <a:xfrm>
              <a:off x="1392430" y="5778490"/>
              <a:ext cx="8859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FFC000"/>
                  </a:solidFill>
                </a:rPr>
                <a:t>Uniform resource locator (URL)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3586E4B-012B-25E3-61A9-6BD60E92F598}"/>
              </a:ext>
            </a:extLst>
          </p:cNvPr>
          <p:cNvGrpSpPr/>
          <p:nvPr/>
        </p:nvGrpSpPr>
        <p:grpSpPr>
          <a:xfrm>
            <a:off x="8706378" y="2659510"/>
            <a:ext cx="2573397" cy="1130478"/>
            <a:chOff x="8117293" y="2718906"/>
            <a:chExt cx="2573397" cy="113047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6D50B28-8730-2C83-0EB0-255B6400BF8F}"/>
                </a:ext>
              </a:extLst>
            </p:cNvPr>
            <p:cNvSpPr txBox="1"/>
            <p:nvPr/>
          </p:nvSpPr>
          <p:spPr>
            <a:xfrm>
              <a:off x="8117293" y="2718906"/>
              <a:ext cx="25733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9999"/>
                  </a:solidFill>
                </a:rPr>
                <a:t>Resource (web page/file)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4E589CF-DE9A-AD54-B4F6-F75EDBE938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9618" y="3044278"/>
              <a:ext cx="5195" cy="805106"/>
            </a:xfrm>
            <a:prstGeom prst="straightConnector1">
              <a:avLst/>
            </a:prstGeom>
            <a:ln w="57150">
              <a:solidFill>
                <a:srgbClr val="FF99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CEC6425-CA37-92E3-9665-5B18BA1F224F}"/>
              </a:ext>
            </a:extLst>
          </p:cNvPr>
          <p:cNvGrpSpPr/>
          <p:nvPr/>
        </p:nvGrpSpPr>
        <p:grpSpPr>
          <a:xfrm>
            <a:off x="6365996" y="2658809"/>
            <a:ext cx="995529" cy="1138797"/>
            <a:chOff x="6193980" y="2670825"/>
            <a:chExt cx="995529" cy="113879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0C44079-2F4D-9DF1-8B5D-D02F95CC33FE}"/>
                </a:ext>
              </a:extLst>
            </p:cNvPr>
            <p:cNvSpPr txBox="1"/>
            <p:nvPr/>
          </p:nvSpPr>
          <p:spPr>
            <a:xfrm>
              <a:off x="6193980" y="2670825"/>
              <a:ext cx="995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7030A0"/>
                  </a:solidFill>
                </a:rPr>
                <a:t>Location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5578942-7C00-6903-D21D-25DAD6E9F592}"/>
                </a:ext>
              </a:extLst>
            </p:cNvPr>
            <p:cNvCxnSpPr/>
            <p:nvPr/>
          </p:nvCxnSpPr>
          <p:spPr>
            <a:xfrm flipH="1">
              <a:off x="6685043" y="3004516"/>
              <a:ext cx="1" cy="805106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D09A7ED-01DE-F084-3D87-4BD798D03DF3}"/>
              </a:ext>
            </a:extLst>
          </p:cNvPr>
          <p:cNvGrpSpPr/>
          <p:nvPr/>
        </p:nvGrpSpPr>
        <p:grpSpPr>
          <a:xfrm>
            <a:off x="1952774" y="2649311"/>
            <a:ext cx="622927" cy="1139705"/>
            <a:chOff x="2605321" y="2832553"/>
            <a:chExt cx="622927" cy="113970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72025B-74E8-C587-9C87-64B47555AE21}"/>
                </a:ext>
              </a:extLst>
            </p:cNvPr>
            <p:cNvSpPr txBox="1"/>
            <p:nvPr/>
          </p:nvSpPr>
          <p:spPr>
            <a:xfrm>
              <a:off x="2605321" y="2832553"/>
              <a:ext cx="622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00B050"/>
                  </a:solidFill>
                </a:rPr>
                <a:t>Host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B800701-80A3-9675-09A9-9ECCD3C5E608}"/>
                </a:ext>
              </a:extLst>
            </p:cNvPr>
            <p:cNvCxnSpPr/>
            <p:nvPr/>
          </p:nvCxnSpPr>
          <p:spPr>
            <a:xfrm flipH="1">
              <a:off x="2903445" y="3167152"/>
              <a:ext cx="1" cy="80510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838FE8-D80A-E2F5-45D7-71ED9FA3DE8F}"/>
              </a:ext>
            </a:extLst>
          </p:cNvPr>
          <p:cNvGrpSpPr/>
          <p:nvPr/>
        </p:nvGrpSpPr>
        <p:grpSpPr>
          <a:xfrm>
            <a:off x="523946" y="2329373"/>
            <a:ext cx="986360" cy="1447614"/>
            <a:chOff x="1430299" y="2461492"/>
            <a:chExt cx="986360" cy="144761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9F91E9-2DFD-A169-F7A0-FB4380693296}"/>
                </a:ext>
              </a:extLst>
            </p:cNvPr>
            <p:cNvSpPr txBox="1"/>
            <p:nvPr/>
          </p:nvSpPr>
          <p:spPr>
            <a:xfrm>
              <a:off x="1430299" y="2461492"/>
              <a:ext cx="9863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Protocol</a:t>
              </a:r>
            </a:p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method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1BFB0BE-37FB-7400-4152-FA3EC3DDB9A7}"/>
                </a:ext>
              </a:extLst>
            </p:cNvPr>
            <p:cNvCxnSpPr/>
            <p:nvPr/>
          </p:nvCxnSpPr>
          <p:spPr>
            <a:xfrm flipH="1">
              <a:off x="1917453" y="3104000"/>
              <a:ext cx="1" cy="805106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3CDB007-3701-6708-B3F5-03685708B954}"/>
              </a:ext>
            </a:extLst>
          </p:cNvPr>
          <p:cNvSpPr/>
          <p:nvPr/>
        </p:nvSpPr>
        <p:spPr>
          <a:xfrm>
            <a:off x="465995" y="3681033"/>
            <a:ext cx="1145637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rgbClr val="0070C0"/>
                </a:solidFill>
              </a:rPr>
              <a:t>https:</a:t>
            </a:r>
            <a:r>
              <a:rPr lang="en-GB" sz="3000" b="1" dirty="0"/>
              <a:t>//</a:t>
            </a:r>
            <a:r>
              <a:rPr lang="en-GB" sz="3000" b="1" dirty="0">
                <a:solidFill>
                  <a:srgbClr val="00B050"/>
                </a:solidFill>
              </a:rPr>
              <a:t>www</a:t>
            </a:r>
            <a:r>
              <a:rPr lang="en-GB" sz="3000" b="1" dirty="0"/>
              <a:t>.</a:t>
            </a:r>
            <a:r>
              <a:rPr lang="en-GB" sz="3000" b="1" dirty="0">
                <a:solidFill>
                  <a:srgbClr val="C00000"/>
                </a:solidFill>
              </a:rPr>
              <a:t>craigndave.org/</a:t>
            </a:r>
            <a:r>
              <a:rPr lang="en-GB" sz="3000" b="1" dirty="0">
                <a:solidFill>
                  <a:srgbClr val="7030A0"/>
                </a:solidFill>
              </a:rPr>
              <a:t>note-taking/template/</a:t>
            </a:r>
            <a:r>
              <a:rPr lang="en-GB" sz="3000" b="1" dirty="0">
                <a:solidFill>
                  <a:srgbClr val="FF9999"/>
                </a:solidFill>
              </a:rPr>
              <a:t>cornell_notes.html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647EE77-601D-1AFB-BA23-C6099C28A51C}"/>
              </a:ext>
            </a:extLst>
          </p:cNvPr>
          <p:cNvGrpSpPr/>
          <p:nvPr/>
        </p:nvGrpSpPr>
        <p:grpSpPr>
          <a:xfrm>
            <a:off x="3101495" y="2657905"/>
            <a:ext cx="1527982" cy="1139705"/>
            <a:chOff x="2152259" y="2832553"/>
            <a:chExt cx="1527982" cy="113970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86082A7-7E04-86F2-2499-D067CC5DEE9D}"/>
                </a:ext>
              </a:extLst>
            </p:cNvPr>
            <p:cNvSpPr txBox="1"/>
            <p:nvPr/>
          </p:nvSpPr>
          <p:spPr>
            <a:xfrm>
              <a:off x="2152259" y="2832553"/>
              <a:ext cx="1527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00000"/>
                  </a:solidFill>
                </a:rPr>
                <a:t>Domain name</a:t>
              </a:r>
            </a:p>
            <a:p>
              <a:endParaRPr lang="en-GB" b="1" dirty="0">
                <a:solidFill>
                  <a:srgbClr val="C0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6FCDCB1-BB3D-B25C-6ED2-CDCF31ABC494}"/>
                </a:ext>
              </a:extLst>
            </p:cNvPr>
            <p:cNvCxnSpPr/>
            <p:nvPr/>
          </p:nvCxnSpPr>
          <p:spPr>
            <a:xfrm flipH="1">
              <a:off x="2903445" y="3167152"/>
              <a:ext cx="1" cy="805106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49DC2BD-2720-4883-FB9D-EA73EFEE1BAB}"/>
              </a:ext>
            </a:extLst>
          </p:cNvPr>
          <p:cNvSpPr/>
          <p:nvPr/>
        </p:nvSpPr>
        <p:spPr>
          <a:xfrm>
            <a:off x="176565" y="523174"/>
            <a:ext cx="6485492" cy="77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parts of a URL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40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444144CF-86F3-6186-A622-E8B5804731B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7196" y="1292116"/>
            <a:ext cx="11896519" cy="5346654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521AF942-FDAA-B163-C633-25E84EB82E7A}"/>
              </a:ext>
            </a:extLst>
          </p:cNvPr>
          <p:cNvGrpSpPr/>
          <p:nvPr/>
        </p:nvGrpSpPr>
        <p:grpSpPr>
          <a:xfrm>
            <a:off x="450278" y="834135"/>
            <a:ext cx="9917725" cy="4039324"/>
            <a:chOff x="430822" y="766039"/>
            <a:chExt cx="9917725" cy="4039324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4DD932D-AD27-EB4E-3EC4-23F13DAF54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71" t="39870" r="88173" b="39738"/>
            <a:stretch/>
          </p:blipFill>
          <p:spPr>
            <a:xfrm>
              <a:off x="430822" y="3369809"/>
              <a:ext cx="1125417" cy="1090246"/>
            </a:xfrm>
            <a:prstGeom prst="ellipse">
              <a:avLst/>
            </a:prstGeom>
            <a:ln w="5715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47334B-C82D-3C5C-775D-1B1C598AA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2325" y="894010"/>
              <a:ext cx="6646505" cy="24757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8FEFCA2-4C84-9C48-F729-51D6554AC5B2}"/>
                </a:ext>
              </a:extLst>
            </p:cNvPr>
            <p:cNvCxnSpPr>
              <a:cxnSpLocks/>
            </p:cNvCxnSpPr>
            <p:nvPr/>
          </p:nvCxnSpPr>
          <p:spPr>
            <a:xfrm>
              <a:off x="876300" y="4495800"/>
              <a:ext cx="7284244" cy="30956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26FC847-F136-E453-1B80-CD6199CA8B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71" t="39870" r="88173" b="39738"/>
            <a:stretch/>
          </p:blipFill>
          <p:spPr>
            <a:xfrm>
              <a:off x="6210299" y="766039"/>
              <a:ext cx="4138248" cy="4008921"/>
            </a:xfrm>
            <a:prstGeom prst="ellipse">
              <a:avLst/>
            </a:prstGeom>
            <a:ln w="5715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F4E72A9-95CA-EDF4-7DC0-D25D667FD270}"/>
              </a:ext>
            </a:extLst>
          </p:cNvPr>
          <p:cNvSpPr/>
          <p:nvPr/>
        </p:nvSpPr>
        <p:spPr>
          <a:xfrm>
            <a:off x="176565" y="523174"/>
            <a:ext cx="6485492" cy="77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parts of a URL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16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6B4C14-09B5-45A9-8F70-D67BDED2E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1823"/>
            <a:ext cx="12192000" cy="534009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AD926B-63FC-4701-BC8D-C0B112CEB516}"/>
              </a:ext>
            </a:extLst>
          </p:cNvPr>
          <p:cNvSpPr/>
          <p:nvPr/>
        </p:nvSpPr>
        <p:spPr>
          <a:xfrm>
            <a:off x="8520652" y="1362075"/>
            <a:ext cx="3529637" cy="5347096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The </a:t>
            </a:r>
            <a:r>
              <a:rPr lang="en-GB" b="1" dirty="0">
                <a:solidFill>
                  <a:schemeClr val="tx1"/>
                </a:solidFill>
              </a:rPr>
              <a:t>Hypertext Transfer Protocol (HTTP) </a:t>
            </a:r>
            <a:r>
              <a:rPr lang="en-GB" dirty="0">
                <a:solidFill>
                  <a:schemeClr val="tx1"/>
                </a:solidFill>
              </a:rPr>
              <a:t>is a way for a clients and servers to send and receive requests and deliver HTML web pages – it is the fundamental protocol of the </a:t>
            </a:r>
            <a:r>
              <a:rPr lang="en-GB" b="1" dirty="0">
                <a:solidFill>
                  <a:schemeClr val="tx1"/>
                </a:solidFill>
              </a:rPr>
              <a:t>world wide web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The </a:t>
            </a:r>
            <a:r>
              <a:rPr lang="en-GB" b="1" dirty="0">
                <a:solidFill>
                  <a:schemeClr val="tx1"/>
                </a:solidFill>
              </a:rPr>
              <a:t>Hypertext Transfer Protocol Secure (HTTPS) </a:t>
            </a:r>
            <a:r>
              <a:rPr lang="en-GB" dirty="0">
                <a:solidFill>
                  <a:schemeClr val="tx1"/>
                </a:solidFill>
              </a:rPr>
              <a:t>is effectively the same as </a:t>
            </a:r>
            <a:r>
              <a:rPr lang="en-GB" b="1" dirty="0">
                <a:solidFill>
                  <a:schemeClr val="tx1"/>
                </a:solidFill>
              </a:rPr>
              <a:t>HTTP</a:t>
            </a:r>
            <a:r>
              <a:rPr lang="en-GB" dirty="0">
                <a:solidFill>
                  <a:schemeClr val="tx1"/>
                </a:solidFill>
              </a:rPr>
              <a:t>, except it adds in encryption and authentication.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HTTPS</a:t>
            </a:r>
            <a:r>
              <a:rPr lang="en-GB" dirty="0">
                <a:solidFill>
                  <a:schemeClr val="tx1"/>
                </a:solidFill>
              </a:rPr>
              <a:t> should be used whenever a website deals with sensitive information such as passwords or bank account details.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b="1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480E27-1AB5-4A54-AEAD-7EFD4A2E7005}"/>
              </a:ext>
            </a:extLst>
          </p:cNvPr>
          <p:cNvSpPr/>
          <p:nvPr/>
        </p:nvSpPr>
        <p:spPr>
          <a:xfrm>
            <a:off x="0" y="419860"/>
            <a:ext cx="12192000" cy="806459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C9156-75D3-40CC-AB47-BCD95F2C09D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468" b="-2171"/>
          <a:stretch/>
        </p:blipFill>
        <p:spPr>
          <a:xfrm>
            <a:off x="6204648" y="419861"/>
            <a:ext cx="5987352" cy="8064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61FB28-14EC-4046-9401-FA467F9A90C9}"/>
              </a:ext>
            </a:extLst>
          </p:cNvPr>
          <p:cNvSpPr txBox="1"/>
          <p:nvPr/>
        </p:nvSpPr>
        <p:spPr>
          <a:xfrm>
            <a:off x="8441415" y="537369"/>
            <a:ext cx="3310009" cy="492443"/>
          </a:xfrm>
          <a:prstGeom prst="rect">
            <a:avLst/>
          </a:prstGeom>
          <a:solidFill>
            <a:srgbClr val="F1F3F4"/>
          </a:solidFill>
        </p:spPr>
        <p:txBody>
          <a:bodyPr wrap="none" rtlCol="0">
            <a:spAutoFit/>
          </a:bodyPr>
          <a:lstStyle/>
          <a:p>
            <a:r>
              <a:rPr lang="en-GB" sz="2600" dirty="0">
                <a:solidFill>
                  <a:schemeClr val="bg2">
                    <a:lumMod val="50000"/>
                  </a:schemeClr>
                </a:solidFill>
              </a:rPr>
              <a:t>https://www.bbc.co.uk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77976A-CD24-4F86-9F37-58086C1AF49D}"/>
              </a:ext>
            </a:extLst>
          </p:cNvPr>
          <p:cNvGrpSpPr/>
          <p:nvPr/>
        </p:nvGrpSpPr>
        <p:grpSpPr>
          <a:xfrm>
            <a:off x="5656512" y="561579"/>
            <a:ext cx="2709737" cy="3391057"/>
            <a:chOff x="5656512" y="561579"/>
            <a:chExt cx="2709737" cy="339105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A04B1BA-222D-4EA1-B48D-B601BF04BEA7}"/>
                </a:ext>
              </a:extLst>
            </p:cNvPr>
            <p:cNvSpPr/>
            <p:nvPr/>
          </p:nvSpPr>
          <p:spPr>
            <a:xfrm>
              <a:off x="7958137" y="561579"/>
              <a:ext cx="408112" cy="408112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C97F18-1CFD-4C07-9E16-95B81D2ECB80}"/>
                </a:ext>
              </a:extLst>
            </p:cNvPr>
            <p:cNvSpPr/>
            <p:nvPr/>
          </p:nvSpPr>
          <p:spPr>
            <a:xfrm>
              <a:off x="5656512" y="1904603"/>
              <a:ext cx="2048033" cy="204803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066C04B-5996-4943-8CB4-7AE7095C83FB}"/>
                </a:ext>
              </a:extLst>
            </p:cNvPr>
            <p:cNvCxnSpPr>
              <a:cxnSpLocks/>
              <a:stCxn id="9" idx="1"/>
              <a:endCxn id="15" idx="1"/>
            </p:cNvCxnSpPr>
            <p:nvPr/>
          </p:nvCxnSpPr>
          <p:spPr>
            <a:xfrm flipH="1">
              <a:off x="5956439" y="621346"/>
              <a:ext cx="2061465" cy="1583184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3B2400-5F40-43A8-A446-0B2A4DB36F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7359" y="783590"/>
              <a:ext cx="768890" cy="2602548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 descr="Icon&#10;&#10;Description automatically generated">
            <a:extLst>
              <a:ext uri="{FF2B5EF4-FFF2-40B4-BE49-F238E27FC236}">
                <a16:creationId xmlns:a16="http://schemas.microsoft.com/office/drawing/2014/main" id="{36E74CC7-8CFE-4016-A209-EA617C7DB5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000" y="2072757"/>
            <a:ext cx="1620111" cy="16201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86D6AC-5465-33A6-3863-A13535E35EE2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 and HTTPS</a:t>
            </a:r>
            <a:endParaRPr lang="en-GB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1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40855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protocol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set of rules that allows two devices to communicate.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 (Hypertext Transfer Protocol):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client-server method of requesting and delivering HTML web pages.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 (Hypertext Transfer Protocol Secure):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Encryption and authentication for requesting and delivering HTML web pages. Used when sensitive information needs to be transferred – e.g., passwords, bank account details.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 and HTTPS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EA07E0AB-12BA-465A-A85E-659FE3A47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254</Words>
  <Application>Microsoft Office PowerPoint</Application>
  <PresentationFormat>Widescreen</PresentationFormat>
  <Paragraphs>31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124</cp:revision>
  <dcterms:created xsi:type="dcterms:W3CDTF">2019-10-14T15:21:06Z</dcterms:created>
  <dcterms:modified xsi:type="dcterms:W3CDTF">2022-08-15T13:40:21Z</dcterms:modified>
</cp:coreProperties>
</file>