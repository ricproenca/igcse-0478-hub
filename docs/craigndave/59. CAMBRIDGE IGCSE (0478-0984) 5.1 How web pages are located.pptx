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57" r:id="rId2"/>
    <p:sldId id="266" r:id="rId3"/>
    <p:sldId id="271" r:id="rId4"/>
    <p:sldId id="272" r:id="rId5"/>
    <p:sldId id="273" r:id="rId6"/>
    <p:sldId id="274" r:id="rId7"/>
    <p:sldId id="275" r:id="rId8"/>
    <p:sldId id="276" r:id="rId9"/>
    <p:sldId id="278" r:id="rId10"/>
    <p:sldId id="279" r:id="rId11"/>
    <p:sldId id="280" r:id="rId12"/>
    <p:sldId id="281" r:id="rId13"/>
    <p:sldId id="282" r:id="rId14"/>
    <p:sldId id="260" r:id="rId15"/>
    <p:sldId id="29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6521"/>
    <a:srgbClr val="FFFFFF"/>
    <a:srgbClr val="0087B1"/>
    <a:srgbClr val="000956"/>
    <a:srgbClr val="99E265"/>
    <a:srgbClr val="008C8C"/>
    <a:srgbClr val="00B2B2"/>
    <a:srgbClr val="26C9FF"/>
    <a:srgbClr val="7CD0DA"/>
    <a:srgbClr val="197D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304" autoAdjust="0"/>
    <p:restoredTop sz="94694"/>
  </p:normalViewPr>
  <p:slideViewPr>
    <p:cSldViewPr snapToGrid="0">
      <p:cViewPr varScale="1">
        <p:scale>
          <a:sx n="103" d="100"/>
          <a:sy n="103" d="100"/>
        </p:scale>
        <p:origin x="756" y="108"/>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86" d="100"/>
          <a:sy n="86" d="100"/>
        </p:scale>
        <p:origin x="340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A54553-2A3F-4C94-AA62-ABFC40E07E5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B0996737-DD0F-4016-9F43-1C3C1167168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E11316-EC54-4B9D-B716-15D72C7F09B1}" type="datetimeFigureOut">
              <a:rPr lang="en-GB" smtClean="0"/>
              <a:t>15/08/2022</a:t>
            </a:fld>
            <a:endParaRPr lang="en-GB"/>
          </a:p>
        </p:txBody>
      </p:sp>
      <p:sp>
        <p:nvSpPr>
          <p:cNvPr id="4" name="Footer Placeholder 3">
            <a:extLst>
              <a:ext uri="{FF2B5EF4-FFF2-40B4-BE49-F238E27FC236}">
                <a16:creationId xmlns:a16="http://schemas.microsoft.com/office/drawing/2014/main" id="{147A745F-1972-497D-8174-B5868433DF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A8CE6AC0-619C-486F-A045-23AE3DF3E3C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93CFB52-3982-4249-B609-86D9E8883619}" type="slidenum">
              <a:rPr lang="en-GB" smtClean="0"/>
              <a:t>‹#›</a:t>
            </a:fld>
            <a:endParaRPr lang="en-GB"/>
          </a:p>
        </p:txBody>
      </p:sp>
    </p:spTree>
    <p:extLst>
      <p:ext uri="{BB962C8B-B14F-4D97-AF65-F5344CB8AC3E}">
        <p14:creationId xmlns:p14="http://schemas.microsoft.com/office/powerpoint/2010/main" val="7951636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001D13-C50D-4862-A50B-4E5D0E7CA144}" type="datetimeFigureOut">
              <a:rPr lang="en-GB" smtClean="0"/>
              <a:t>15/08/2022</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E031B-FEB2-4221-8849-89831B3F1108}" type="slidenum">
              <a:rPr lang="en-GB" smtClean="0"/>
              <a:t>‹#›</a:t>
            </a:fld>
            <a:endParaRPr lang="en-GB" dirty="0"/>
          </a:p>
        </p:txBody>
      </p:sp>
    </p:spTree>
    <p:extLst>
      <p:ext uri="{BB962C8B-B14F-4D97-AF65-F5344CB8AC3E}">
        <p14:creationId xmlns:p14="http://schemas.microsoft.com/office/powerpoint/2010/main" val="3697644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7836FA0-ADC9-41FB-A69C-252442742AA3}" type="slidenum">
              <a:rPr lang="en-GB" smtClean="0"/>
              <a:t>2</a:t>
            </a:fld>
            <a:endParaRPr lang="en-GB" dirty="0"/>
          </a:p>
        </p:txBody>
      </p:sp>
    </p:spTree>
    <p:extLst>
      <p:ext uri="{BB962C8B-B14F-4D97-AF65-F5344CB8AC3E}">
        <p14:creationId xmlns:p14="http://schemas.microsoft.com/office/powerpoint/2010/main" val="13339355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67369-A355-4D19-AEEC-9D0100EF3C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7924699-1673-40E6-9241-180D779421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9CBE935-35F7-402A-9F4D-C68B29248BA9}"/>
              </a:ext>
            </a:extLst>
          </p:cNvPr>
          <p:cNvSpPr>
            <a:spLocks noGrp="1"/>
          </p:cNvSpPr>
          <p:nvPr>
            <p:ph type="dt" sz="half" idx="10"/>
          </p:nvPr>
        </p:nvSpPr>
        <p:spPr/>
        <p:txBody>
          <a:bodyPr/>
          <a:lstStyle/>
          <a:p>
            <a:fld id="{83EBD5A5-95A5-4ED6-B746-12AF9CEAF3AB}" type="datetimeFigureOut">
              <a:rPr lang="en-GB" smtClean="0"/>
              <a:t>15/08/2022</a:t>
            </a:fld>
            <a:endParaRPr lang="en-GB" dirty="0"/>
          </a:p>
        </p:txBody>
      </p:sp>
      <p:sp>
        <p:nvSpPr>
          <p:cNvPr id="5" name="Footer Placeholder 4">
            <a:extLst>
              <a:ext uri="{FF2B5EF4-FFF2-40B4-BE49-F238E27FC236}">
                <a16:creationId xmlns:a16="http://schemas.microsoft.com/office/drawing/2014/main" id="{004D7A12-EBDB-45B0-9FF5-F17A7EF6715B}"/>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037C7090-3E02-4EBA-95BB-2F3FF45C1E86}"/>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4018429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77CF4-093B-4C66-A107-491AFAE190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87249AB-C9F4-4A3F-A472-C5FDCF3AAF3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06A491B-E55E-4F96-A0A2-08ABE85381B5}"/>
              </a:ext>
            </a:extLst>
          </p:cNvPr>
          <p:cNvSpPr>
            <a:spLocks noGrp="1"/>
          </p:cNvSpPr>
          <p:nvPr>
            <p:ph type="dt" sz="half" idx="10"/>
          </p:nvPr>
        </p:nvSpPr>
        <p:spPr/>
        <p:txBody>
          <a:bodyPr/>
          <a:lstStyle/>
          <a:p>
            <a:fld id="{83EBD5A5-95A5-4ED6-B746-12AF9CEAF3AB}" type="datetimeFigureOut">
              <a:rPr lang="en-GB" smtClean="0"/>
              <a:t>15/08/2022</a:t>
            </a:fld>
            <a:endParaRPr lang="en-GB" dirty="0"/>
          </a:p>
        </p:txBody>
      </p:sp>
      <p:sp>
        <p:nvSpPr>
          <p:cNvPr id="5" name="Footer Placeholder 4">
            <a:extLst>
              <a:ext uri="{FF2B5EF4-FFF2-40B4-BE49-F238E27FC236}">
                <a16:creationId xmlns:a16="http://schemas.microsoft.com/office/drawing/2014/main" id="{5D5EE9C3-3BD7-499C-9C8F-E914AF0CCD4C}"/>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B8CA0F2C-BB77-4D20-BD01-009748E06A21}"/>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2443006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EAB41-C5F4-4F77-8A5C-14CA38A3E7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FC5B807-A41F-4934-B9B5-F06B7FECFD6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1BA9AEC-9ECF-4105-84CF-CCC301ADB0FE}"/>
              </a:ext>
            </a:extLst>
          </p:cNvPr>
          <p:cNvSpPr>
            <a:spLocks noGrp="1"/>
          </p:cNvSpPr>
          <p:nvPr>
            <p:ph type="dt" sz="half" idx="10"/>
          </p:nvPr>
        </p:nvSpPr>
        <p:spPr/>
        <p:txBody>
          <a:bodyPr/>
          <a:lstStyle/>
          <a:p>
            <a:fld id="{83EBD5A5-95A5-4ED6-B746-12AF9CEAF3AB}" type="datetimeFigureOut">
              <a:rPr lang="en-GB" smtClean="0"/>
              <a:t>15/08/2022</a:t>
            </a:fld>
            <a:endParaRPr lang="en-GB" dirty="0"/>
          </a:p>
        </p:txBody>
      </p:sp>
      <p:sp>
        <p:nvSpPr>
          <p:cNvPr id="5" name="Footer Placeholder 4">
            <a:extLst>
              <a:ext uri="{FF2B5EF4-FFF2-40B4-BE49-F238E27FC236}">
                <a16:creationId xmlns:a16="http://schemas.microsoft.com/office/drawing/2014/main" id="{199A81FA-05E8-4A50-9FC5-A94F3634CB56}"/>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8EB13BE1-EE3A-45AF-BF76-41B86D070B05}"/>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1730735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01685-8ECA-46F3-BC78-B8E4D43D8A8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4A252D3-EA14-47C6-8BDF-B549E97DE48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89FA317-5ECF-4693-88DD-BCA7EC3919D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CCCA0AA-2226-49B9-8142-4F45D8CE683F}"/>
              </a:ext>
            </a:extLst>
          </p:cNvPr>
          <p:cNvSpPr>
            <a:spLocks noGrp="1"/>
          </p:cNvSpPr>
          <p:nvPr>
            <p:ph type="dt" sz="half" idx="10"/>
          </p:nvPr>
        </p:nvSpPr>
        <p:spPr/>
        <p:txBody>
          <a:bodyPr/>
          <a:lstStyle/>
          <a:p>
            <a:fld id="{83EBD5A5-95A5-4ED6-B746-12AF9CEAF3AB}" type="datetimeFigureOut">
              <a:rPr lang="en-GB" smtClean="0"/>
              <a:t>15/08/2022</a:t>
            </a:fld>
            <a:endParaRPr lang="en-GB" dirty="0"/>
          </a:p>
        </p:txBody>
      </p:sp>
      <p:sp>
        <p:nvSpPr>
          <p:cNvPr id="6" name="Footer Placeholder 5">
            <a:extLst>
              <a:ext uri="{FF2B5EF4-FFF2-40B4-BE49-F238E27FC236}">
                <a16:creationId xmlns:a16="http://schemas.microsoft.com/office/drawing/2014/main" id="{197F340D-9456-43F7-A764-CBD130EF6886}"/>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EF72910B-6BBA-4043-8CD2-7AE056F14AA9}"/>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33606041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960B3-16E7-4811-A5F8-83614659ACE9}"/>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4DB62EE-BCB8-429D-BB6F-89DF9F3EA1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934AD67-4C0E-484D-B7FF-FB976A1710F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4D7660E-8B38-43A5-A48D-A4523AA03A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E7EFE82-A3BC-42B8-9F71-5C3C1ADD41B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BBD8DB3-F688-4AB2-AAFC-0E5E7F2EB1DC}"/>
              </a:ext>
            </a:extLst>
          </p:cNvPr>
          <p:cNvSpPr>
            <a:spLocks noGrp="1"/>
          </p:cNvSpPr>
          <p:nvPr>
            <p:ph type="dt" sz="half" idx="10"/>
          </p:nvPr>
        </p:nvSpPr>
        <p:spPr/>
        <p:txBody>
          <a:bodyPr/>
          <a:lstStyle/>
          <a:p>
            <a:fld id="{83EBD5A5-95A5-4ED6-B746-12AF9CEAF3AB}" type="datetimeFigureOut">
              <a:rPr lang="en-GB" smtClean="0"/>
              <a:t>15/08/2022</a:t>
            </a:fld>
            <a:endParaRPr lang="en-GB" dirty="0"/>
          </a:p>
        </p:txBody>
      </p:sp>
      <p:sp>
        <p:nvSpPr>
          <p:cNvPr id="8" name="Footer Placeholder 7">
            <a:extLst>
              <a:ext uri="{FF2B5EF4-FFF2-40B4-BE49-F238E27FC236}">
                <a16:creationId xmlns:a16="http://schemas.microsoft.com/office/drawing/2014/main" id="{848F70DA-1B40-4425-B025-A8D06411AA42}"/>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0A95CE6D-8A51-4013-A622-D11EFBB72DAA}"/>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3805227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E232E-9E69-481F-BDD8-74F4219ED32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BAD69E5-4081-437F-98E4-2CAF4F5CCAA8}"/>
              </a:ext>
            </a:extLst>
          </p:cNvPr>
          <p:cNvSpPr>
            <a:spLocks noGrp="1"/>
          </p:cNvSpPr>
          <p:nvPr>
            <p:ph type="dt" sz="half" idx="10"/>
          </p:nvPr>
        </p:nvSpPr>
        <p:spPr/>
        <p:txBody>
          <a:bodyPr/>
          <a:lstStyle/>
          <a:p>
            <a:fld id="{83EBD5A5-95A5-4ED6-B746-12AF9CEAF3AB}" type="datetimeFigureOut">
              <a:rPr lang="en-GB" smtClean="0"/>
              <a:t>15/08/2022</a:t>
            </a:fld>
            <a:endParaRPr lang="en-GB" dirty="0"/>
          </a:p>
        </p:txBody>
      </p:sp>
      <p:sp>
        <p:nvSpPr>
          <p:cNvPr id="4" name="Footer Placeholder 3">
            <a:extLst>
              <a:ext uri="{FF2B5EF4-FFF2-40B4-BE49-F238E27FC236}">
                <a16:creationId xmlns:a16="http://schemas.microsoft.com/office/drawing/2014/main" id="{E1B30953-0189-477F-ABF4-CE4D2ED1E48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5BCC43C7-506A-468F-96CB-96E8683CF1B7}"/>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2399814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o 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0CC6F3-15F4-4749-9242-EDD4FF8C5DBF}"/>
              </a:ext>
            </a:extLst>
          </p:cNvPr>
          <p:cNvSpPr/>
          <p:nvPr userDrawn="1"/>
        </p:nvSpPr>
        <p:spPr>
          <a:xfrm>
            <a:off x="10088880" y="0"/>
            <a:ext cx="2103120" cy="6858000"/>
          </a:xfrm>
          <a:prstGeom prst="rect">
            <a:avLst/>
          </a:prstGeom>
          <a:solidFill>
            <a:srgbClr val="F26521"/>
          </a:solidFill>
          <a:ln>
            <a:noFill/>
          </a:ln>
        </p:spPr>
        <p:style>
          <a:lnRef idx="2">
            <a:schemeClr val="accent1">
              <a:shade val="50000"/>
            </a:schemeClr>
          </a:lnRef>
          <a:fillRef idx="1">
            <a:schemeClr val="accent1"/>
          </a:fillRef>
          <a:effectRef idx="0">
            <a:schemeClr val="accent1"/>
          </a:effectRef>
          <a:fontRef idx="minor">
            <a:schemeClr val="lt1"/>
          </a:fontRef>
        </p:style>
        <p:txBody>
          <a:bodyPr tIns="180000" rtlCol="0" anchor="t"/>
          <a:lstStyle/>
          <a:p>
            <a:pPr algn="ctr"/>
            <a:r>
              <a:rPr lang="en-GB" sz="2400" b="1" dirty="0">
                <a:solidFill>
                  <a:schemeClr val="bg1"/>
                </a:solidFill>
                <a:latin typeface="Century Gothic" panose="020B0502020202020204" pitchFamily="34" charset="0"/>
              </a:rPr>
              <a:t>CAMBRIDGE IGCSE</a:t>
            </a:r>
          </a:p>
          <a:p>
            <a:pPr algn="ctr"/>
            <a:r>
              <a:rPr lang="en-GB" sz="2400" b="1" dirty="0">
                <a:solidFill>
                  <a:schemeClr val="bg1"/>
                </a:solidFill>
                <a:latin typeface="Century Gothic" panose="020B0502020202020204" pitchFamily="34" charset="0"/>
              </a:rPr>
              <a:t>(0478/0984)</a:t>
            </a:r>
          </a:p>
          <a:p>
            <a:pPr algn="ctr"/>
            <a:endParaRPr lang="en-GB" sz="2400" b="1" dirty="0">
              <a:solidFill>
                <a:schemeClr val="bg1"/>
              </a:solidFill>
              <a:latin typeface="Century Gothic" panose="020B0502020202020204" pitchFamily="34" charset="0"/>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1600" dirty="0">
              <a:solidFill>
                <a:schemeClr val="bg1">
                  <a:lumMod val="85000"/>
                </a:schemeClr>
              </a:solidFill>
            </a:endParaRPr>
          </a:p>
        </p:txBody>
      </p:sp>
      <p:sp>
        <p:nvSpPr>
          <p:cNvPr id="6" name="Oval 5">
            <a:extLst>
              <a:ext uri="{FF2B5EF4-FFF2-40B4-BE49-F238E27FC236}">
                <a16:creationId xmlns:a16="http://schemas.microsoft.com/office/drawing/2014/main" id="{8B2C14A7-E460-4357-90EB-FC2CBD74FCA1}"/>
              </a:ext>
            </a:extLst>
          </p:cNvPr>
          <p:cNvSpPr/>
          <p:nvPr userDrawn="1"/>
        </p:nvSpPr>
        <p:spPr>
          <a:xfrm>
            <a:off x="8915400" y="2354373"/>
            <a:ext cx="2140171" cy="2140171"/>
          </a:xfrm>
          <a:prstGeom prst="ellipse">
            <a:avLst/>
          </a:prstGeom>
          <a:solidFill>
            <a:schemeClr val="bg1"/>
          </a:solidFill>
          <a:ln w="28575">
            <a:solidFill>
              <a:srgbClr val="F265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 name="Picture 6" descr="A picture containing brush&#10;&#10;Description automatically generated">
            <a:extLst>
              <a:ext uri="{FF2B5EF4-FFF2-40B4-BE49-F238E27FC236}">
                <a16:creationId xmlns:a16="http://schemas.microsoft.com/office/drawing/2014/main" id="{802D9E8A-D873-49FF-AED9-2CD228DFF517}"/>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t="161" r="-3" b="-3"/>
          <a:stretch/>
        </p:blipFill>
        <p:spPr>
          <a:xfrm>
            <a:off x="9029206" y="2474254"/>
            <a:ext cx="1912560" cy="1909489"/>
          </a:xfrm>
          <a:custGeom>
            <a:avLst/>
            <a:gdLst>
              <a:gd name="connsiteX0" fmla="*/ 3028805 w 6057610"/>
              <a:gd name="connsiteY0" fmla="*/ 0 h 6057610"/>
              <a:gd name="connsiteX1" fmla="*/ 6057610 w 6057610"/>
              <a:gd name="connsiteY1" fmla="*/ 3028805 h 6057610"/>
              <a:gd name="connsiteX2" fmla="*/ 3028805 w 6057610"/>
              <a:gd name="connsiteY2" fmla="*/ 6057610 h 6057610"/>
              <a:gd name="connsiteX3" fmla="*/ 0 w 6057610"/>
              <a:gd name="connsiteY3" fmla="*/ 3028805 h 6057610"/>
              <a:gd name="connsiteX4" fmla="*/ 3028805 w 6057610"/>
              <a:gd name="connsiteY4" fmla="*/ 0 h 6057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effectLst>
            <a:softEdge rad="0"/>
          </a:effectLst>
        </p:spPr>
      </p:pic>
      <p:sp>
        <p:nvSpPr>
          <p:cNvPr id="10" name="Rectangle 9">
            <a:extLst>
              <a:ext uri="{FF2B5EF4-FFF2-40B4-BE49-F238E27FC236}">
                <a16:creationId xmlns:a16="http://schemas.microsoft.com/office/drawing/2014/main" id="{1FE3659E-7B75-43EA-B2D2-F180CB40635B}"/>
              </a:ext>
            </a:extLst>
          </p:cNvPr>
          <p:cNvSpPr/>
          <p:nvPr userDrawn="1"/>
        </p:nvSpPr>
        <p:spPr>
          <a:xfrm>
            <a:off x="0" y="6451184"/>
            <a:ext cx="10088879" cy="338554"/>
          </a:xfrm>
          <a:prstGeom prst="rect">
            <a:avLst/>
          </a:prstGeom>
        </p:spPr>
        <p:txBody>
          <a:bodyPr wrap="square">
            <a:spAutoFit/>
          </a:bodyPr>
          <a:lstStyle/>
          <a:p>
            <a:pPr algn="ctr"/>
            <a:r>
              <a:rPr lang="en-GB" sz="1600" b="1" dirty="0">
                <a:solidFill>
                  <a:schemeClr val="bg1">
                    <a:lumMod val="50000"/>
                  </a:schemeClr>
                </a:solidFill>
              </a:rPr>
              <a:t>Teacher site: </a:t>
            </a:r>
            <a:r>
              <a:rPr lang="en-GB" sz="1600" dirty="0">
                <a:solidFill>
                  <a:schemeClr val="bg1">
                    <a:lumMod val="50000"/>
                  </a:schemeClr>
                </a:solidFill>
              </a:rPr>
              <a:t>craigndave.org  |  </a:t>
            </a:r>
            <a:r>
              <a:rPr lang="en-GB" sz="1600" b="1" dirty="0">
                <a:solidFill>
                  <a:schemeClr val="bg1">
                    <a:lumMod val="50000"/>
                  </a:schemeClr>
                </a:solidFill>
              </a:rPr>
              <a:t>Student site: </a:t>
            </a:r>
            <a:r>
              <a:rPr lang="en-GB" sz="1600" dirty="0">
                <a:solidFill>
                  <a:schemeClr val="bg1">
                    <a:lumMod val="50000"/>
                  </a:schemeClr>
                </a:solidFill>
              </a:rPr>
              <a:t>student.craigndave.org  |  </a:t>
            </a:r>
            <a:r>
              <a:rPr lang="en-GB" sz="1600" b="1" dirty="0">
                <a:solidFill>
                  <a:schemeClr val="bg1">
                    <a:lumMod val="50000"/>
                  </a:schemeClr>
                </a:solidFill>
              </a:rPr>
              <a:t>Smart revise: </a:t>
            </a:r>
            <a:r>
              <a:rPr lang="en-GB" sz="1600" dirty="0">
                <a:solidFill>
                  <a:schemeClr val="bg1">
                    <a:lumMod val="50000"/>
                  </a:schemeClr>
                </a:solidFill>
              </a:rPr>
              <a:t>smartrevise.co.uk </a:t>
            </a:r>
          </a:p>
        </p:txBody>
      </p:sp>
    </p:spTree>
    <p:extLst>
      <p:ext uri="{BB962C8B-B14F-4D97-AF65-F5344CB8AC3E}">
        <p14:creationId xmlns:p14="http://schemas.microsoft.com/office/powerpoint/2010/main" val="4090015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Video content slid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F19224-2084-4C89-AEFB-59035B0F8D1F}"/>
              </a:ext>
            </a:extLst>
          </p:cNvPr>
          <p:cNvSpPr>
            <a:spLocks noGrp="1"/>
          </p:cNvSpPr>
          <p:nvPr>
            <p:ph type="dt" sz="half" idx="10"/>
          </p:nvPr>
        </p:nvSpPr>
        <p:spPr/>
        <p:txBody>
          <a:bodyPr/>
          <a:lstStyle/>
          <a:p>
            <a:fld id="{83EBD5A5-95A5-4ED6-B746-12AF9CEAF3AB}" type="datetimeFigureOut">
              <a:rPr lang="en-GB" smtClean="0"/>
              <a:t>15/08/2022</a:t>
            </a:fld>
            <a:endParaRPr lang="en-GB" dirty="0"/>
          </a:p>
        </p:txBody>
      </p:sp>
      <p:sp>
        <p:nvSpPr>
          <p:cNvPr id="3" name="Footer Placeholder 2">
            <a:extLst>
              <a:ext uri="{FF2B5EF4-FFF2-40B4-BE49-F238E27FC236}">
                <a16:creationId xmlns:a16="http://schemas.microsoft.com/office/drawing/2014/main" id="{2B8E9D01-9A95-4DC3-AD5E-0657203E7B20}"/>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30DB0936-CF61-444A-88C9-B1BE2B016644}"/>
              </a:ext>
            </a:extLst>
          </p:cNvPr>
          <p:cNvSpPr>
            <a:spLocks noGrp="1"/>
          </p:cNvSpPr>
          <p:nvPr>
            <p:ph type="sldNum" sz="quarter" idx="12"/>
          </p:nvPr>
        </p:nvSpPr>
        <p:spPr/>
        <p:txBody>
          <a:bodyPr/>
          <a:lstStyle/>
          <a:p>
            <a:fld id="{CFC6102D-FACC-46D2-982F-C509AB4FB7F4}" type="slidenum">
              <a:rPr lang="en-GB" smtClean="0"/>
              <a:t>‹#›</a:t>
            </a:fld>
            <a:endParaRPr lang="en-GB" dirty="0"/>
          </a:p>
        </p:txBody>
      </p:sp>
      <p:grpSp>
        <p:nvGrpSpPr>
          <p:cNvPr id="13" name="Group 12">
            <a:extLst>
              <a:ext uri="{FF2B5EF4-FFF2-40B4-BE49-F238E27FC236}">
                <a16:creationId xmlns:a16="http://schemas.microsoft.com/office/drawing/2014/main" id="{87AACC54-1682-4874-BD09-D8CF92EDAE43}"/>
              </a:ext>
            </a:extLst>
          </p:cNvPr>
          <p:cNvGrpSpPr/>
          <p:nvPr userDrawn="1"/>
        </p:nvGrpSpPr>
        <p:grpSpPr>
          <a:xfrm>
            <a:off x="-1" y="0"/>
            <a:ext cx="12192001" cy="419100"/>
            <a:chOff x="-1" y="0"/>
            <a:chExt cx="12192001" cy="533400"/>
          </a:xfrm>
        </p:grpSpPr>
        <p:sp>
          <p:nvSpPr>
            <p:cNvPr id="15" name="Rectangle 14">
              <a:extLst>
                <a:ext uri="{FF2B5EF4-FFF2-40B4-BE49-F238E27FC236}">
                  <a16:creationId xmlns:a16="http://schemas.microsoft.com/office/drawing/2014/main" id="{A3B4ABA0-791C-4EF4-91E1-0A7F5B882D36}"/>
                </a:ext>
              </a:extLst>
            </p:cNvPr>
            <p:cNvSpPr/>
            <p:nvPr userDrawn="1"/>
          </p:nvSpPr>
          <p:spPr>
            <a:xfrm>
              <a:off x="-1" y="0"/>
              <a:ext cx="10095723" cy="533400"/>
            </a:xfrm>
            <a:prstGeom prst="rect">
              <a:avLst/>
            </a:prstGeom>
            <a:solidFill>
              <a:srgbClr val="F26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800" b="1" dirty="0">
                  <a:solidFill>
                    <a:schemeClr val="bg1"/>
                  </a:solidFill>
                </a:rPr>
                <a:t>5.1 The internet and the world wide web | How web pages are located</a:t>
              </a:r>
            </a:p>
          </p:txBody>
        </p:sp>
        <p:sp>
          <p:nvSpPr>
            <p:cNvPr id="14" name="Rectangle 13">
              <a:extLst>
                <a:ext uri="{FF2B5EF4-FFF2-40B4-BE49-F238E27FC236}">
                  <a16:creationId xmlns:a16="http://schemas.microsoft.com/office/drawing/2014/main" id="{7E5FF8B6-F953-41A2-8CA9-2F6F841BDD32}"/>
                </a:ext>
              </a:extLst>
            </p:cNvPr>
            <p:cNvSpPr/>
            <p:nvPr/>
          </p:nvSpPr>
          <p:spPr>
            <a:xfrm>
              <a:off x="9100868" y="0"/>
              <a:ext cx="3091132" cy="533400"/>
            </a:xfrm>
            <a:prstGeom prst="rect">
              <a:avLst/>
            </a:prstGeom>
            <a:solidFill>
              <a:srgbClr val="F2652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46800" rtlCol="0" anchor="t"/>
            <a:lstStyle/>
            <a:p>
              <a:pPr algn="r"/>
              <a:r>
                <a:rPr lang="en-GB" b="1" dirty="0">
                  <a:solidFill>
                    <a:schemeClr val="bg1"/>
                  </a:solidFill>
                </a:rPr>
                <a:t>CAMBRIDGE IGCSE (0478/0984)</a:t>
              </a:r>
            </a:p>
          </p:txBody>
        </p:sp>
      </p:grpSp>
    </p:spTree>
    <p:extLst>
      <p:ext uri="{BB962C8B-B14F-4D97-AF65-F5344CB8AC3E}">
        <p14:creationId xmlns:p14="http://schemas.microsoft.com/office/powerpoint/2010/main" val="920910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E615E-FCEC-48A2-8A58-855AC17510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CA6C2E3-EFFC-4E46-8E3B-353E3410C7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A8F8DFF-FB25-4FDB-AE01-189095807A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575E6D8-83E5-4A1F-91A5-3CC7778FDD15}"/>
              </a:ext>
            </a:extLst>
          </p:cNvPr>
          <p:cNvSpPr>
            <a:spLocks noGrp="1"/>
          </p:cNvSpPr>
          <p:nvPr>
            <p:ph type="dt" sz="half" idx="10"/>
          </p:nvPr>
        </p:nvSpPr>
        <p:spPr/>
        <p:txBody>
          <a:bodyPr/>
          <a:lstStyle/>
          <a:p>
            <a:fld id="{83EBD5A5-95A5-4ED6-B746-12AF9CEAF3AB}" type="datetimeFigureOut">
              <a:rPr lang="en-GB" smtClean="0"/>
              <a:t>15/08/2022</a:t>
            </a:fld>
            <a:endParaRPr lang="en-GB" dirty="0"/>
          </a:p>
        </p:txBody>
      </p:sp>
      <p:sp>
        <p:nvSpPr>
          <p:cNvPr id="6" name="Footer Placeholder 5">
            <a:extLst>
              <a:ext uri="{FF2B5EF4-FFF2-40B4-BE49-F238E27FC236}">
                <a16:creationId xmlns:a16="http://schemas.microsoft.com/office/drawing/2014/main" id="{2962ED67-D636-4841-A380-71A8E2C2234C}"/>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E1ECBE11-BFFB-4E5F-95F9-EF6A83AD83A2}"/>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3941817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13C68-F937-4619-AC2A-808BB5FBCD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64D0E72-F13A-47A1-9749-F939C5B614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FDACE7D0-DEEB-4789-9725-4826AE9B0A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B252C0A-0BB5-4C36-AC67-AFCF2DC0A65F}"/>
              </a:ext>
            </a:extLst>
          </p:cNvPr>
          <p:cNvSpPr>
            <a:spLocks noGrp="1"/>
          </p:cNvSpPr>
          <p:nvPr>
            <p:ph type="dt" sz="half" idx="10"/>
          </p:nvPr>
        </p:nvSpPr>
        <p:spPr/>
        <p:txBody>
          <a:bodyPr/>
          <a:lstStyle/>
          <a:p>
            <a:fld id="{83EBD5A5-95A5-4ED6-B746-12AF9CEAF3AB}" type="datetimeFigureOut">
              <a:rPr lang="en-GB" smtClean="0"/>
              <a:t>15/08/2022</a:t>
            </a:fld>
            <a:endParaRPr lang="en-GB" dirty="0"/>
          </a:p>
        </p:txBody>
      </p:sp>
      <p:sp>
        <p:nvSpPr>
          <p:cNvPr id="6" name="Footer Placeholder 5">
            <a:extLst>
              <a:ext uri="{FF2B5EF4-FFF2-40B4-BE49-F238E27FC236}">
                <a16:creationId xmlns:a16="http://schemas.microsoft.com/office/drawing/2014/main" id="{B01906B4-69CB-471E-B443-A6DD59556082}"/>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5AC21424-3B0E-4EEC-875D-327603D191FC}"/>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48204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6F412-1941-41D2-AC46-E8C20860A8D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B2A1B5D-15E6-4D4B-B6F5-E46A1A7234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E418167-751F-4B50-84DD-7F7377E43E1D}"/>
              </a:ext>
            </a:extLst>
          </p:cNvPr>
          <p:cNvSpPr>
            <a:spLocks noGrp="1"/>
          </p:cNvSpPr>
          <p:nvPr>
            <p:ph type="dt" sz="half" idx="10"/>
          </p:nvPr>
        </p:nvSpPr>
        <p:spPr/>
        <p:txBody>
          <a:bodyPr/>
          <a:lstStyle/>
          <a:p>
            <a:fld id="{83EBD5A5-95A5-4ED6-B746-12AF9CEAF3AB}" type="datetimeFigureOut">
              <a:rPr lang="en-GB" smtClean="0"/>
              <a:t>15/08/2022</a:t>
            </a:fld>
            <a:endParaRPr lang="en-GB" dirty="0"/>
          </a:p>
        </p:txBody>
      </p:sp>
      <p:sp>
        <p:nvSpPr>
          <p:cNvPr id="5" name="Footer Placeholder 4">
            <a:extLst>
              <a:ext uri="{FF2B5EF4-FFF2-40B4-BE49-F238E27FC236}">
                <a16:creationId xmlns:a16="http://schemas.microsoft.com/office/drawing/2014/main" id="{8AA10E4B-ECAF-4B58-9633-F0D2214AE38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F6D0936C-E069-45AA-8B1E-8B295D2AAB7A}"/>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4237371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0BBC43-F9FB-4DC0-9192-4C6BBC0BBF6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665541F-6124-45F5-9E33-C8877152332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B28D7AD-9B6B-4D71-A044-0A8CD107B0C3}"/>
              </a:ext>
            </a:extLst>
          </p:cNvPr>
          <p:cNvSpPr>
            <a:spLocks noGrp="1"/>
          </p:cNvSpPr>
          <p:nvPr>
            <p:ph type="dt" sz="half" idx="10"/>
          </p:nvPr>
        </p:nvSpPr>
        <p:spPr/>
        <p:txBody>
          <a:bodyPr/>
          <a:lstStyle/>
          <a:p>
            <a:fld id="{83EBD5A5-95A5-4ED6-B746-12AF9CEAF3AB}" type="datetimeFigureOut">
              <a:rPr lang="en-GB" smtClean="0"/>
              <a:t>15/08/2022</a:t>
            </a:fld>
            <a:endParaRPr lang="en-GB" dirty="0"/>
          </a:p>
        </p:txBody>
      </p:sp>
      <p:sp>
        <p:nvSpPr>
          <p:cNvPr id="5" name="Footer Placeholder 4">
            <a:extLst>
              <a:ext uri="{FF2B5EF4-FFF2-40B4-BE49-F238E27FC236}">
                <a16:creationId xmlns:a16="http://schemas.microsoft.com/office/drawing/2014/main" id="{FB6F19E0-2B2A-44A5-95AA-5794953B827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5E8AE265-1899-40B9-ABCC-0F0FA6B45232}"/>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2109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768667-8C97-4EFE-84F3-BDAFCA0DE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DA6806C-F4A6-4145-8586-E1BA0D6AA7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1A371F7-F0FF-4998-A335-671F6745CC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EBD5A5-95A5-4ED6-B746-12AF9CEAF3AB}" type="datetimeFigureOut">
              <a:rPr lang="en-GB" smtClean="0"/>
              <a:t>15/08/2022</a:t>
            </a:fld>
            <a:endParaRPr lang="en-GB" dirty="0"/>
          </a:p>
        </p:txBody>
      </p:sp>
      <p:sp>
        <p:nvSpPr>
          <p:cNvPr id="5" name="Footer Placeholder 4">
            <a:extLst>
              <a:ext uri="{FF2B5EF4-FFF2-40B4-BE49-F238E27FC236}">
                <a16:creationId xmlns:a16="http://schemas.microsoft.com/office/drawing/2014/main" id="{3E11381F-CB31-4B37-8E8C-1B4AD2A089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04B29192-27C3-435C-AA4E-0FF49DC56D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C6102D-FACC-46D2-982F-C509AB4FB7F4}" type="slidenum">
              <a:rPr lang="en-GB" smtClean="0"/>
              <a:t>‹#›</a:t>
            </a:fld>
            <a:endParaRPr lang="en-GB" dirty="0"/>
          </a:p>
        </p:txBody>
      </p:sp>
    </p:spTree>
    <p:extLst>
      <p:ext uri="{BB962C8B-B14F-4D97-AF65-F5344CB8AC3E}">
        <p14:creationId xmlns:p14="http://schemas.microsoft.com/office/powerpoint/2010/main" val="34070138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bbc.co.uk/" TargetMode="External"/><Relationship Id="rId1" Type="http://schemas.openxmlformats.org/officeDocument/2006/relationships/slideLayout" Target="../slideLayouts/slideLayout8.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bbc.co.uk/" TargetMode="External"/><Relationship Id="rId1" Type="http://schemas.openxmlformats.org/officeDocument/2006/relationships/slideLayout" Target="../slideLayouts/slideLayout8.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bbc.co.uk/" TargetMode="External"/><Relationship Id="rId1" Type="http://schemas.openxmlformats.org/officeDocument/2006/relationships/slideLayout" Target="../slideLayouts/slideLayout8.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bbc.co.uk/" TargetMode="External"/><Relationship Id="rId1" Type="http://schemas.openxmlformats.org/officeDocument/2006/relationships/slideLayout" Target="../slideLayouts/slideLayout8.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bbc.co.uk/" TargetMode="External"/><Relationship Id="rId1" Type="http://schemas.openxmlformats.org/officeDocument/2006/relationships/slideLayout" Target="../slideLayouts/slideLayout8.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8.xml"/><Relationship Id="rId5" Type="http://schemas.openxmlformats.org/officeDocument/2006/relationships/image" Target="../media/image5.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8.xml"/><Relationship Id="rId5" Type="http://schemas.openxmlformats.org/officeDocument/2006/relationships/image" Target="../media/image5.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8.xml"/><Relationship Id="rId5" Type="http://schemas.openxmlformats.org/officeDocument/2006/relationships/image" Target="../media/image5.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8.xml"/><Relationship Id="rId5" Type="http://schemas.openxmlformats.org/officeDocument/2006/relationships/image" Target="../media/image5.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1342EC1-2AFD-4406-9F14-4D674F90CAE8}"/>
              </a:ext>
            </a:extLst>
          </p:cNvPr>
          <p:cNvSpPr txBox="1"/>
          <p:nvPr/>
        </p:nvSpPr>
        <p:spPr>
          <a:xfrm>
            <a:off x="304800" y="92954"/>
            <a:ext cx="9879279"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600" b="1" dirty="0">
                <a:solidFill>
                  <a:schemeClr val="accent2">
                    <a:lumMod val="75000"/>
                  </a:schemeClr>
                </a:solidFill>
                <a:latin typeface="Century Gothic" panose="020B0502020202020204" pitchFamily="34" charset="0"/>
                <a:ea typeface="+mj-ea"/>
                <a:cs typeface="+mj-cs"/>
              </a:rPr>
              <a:t>5.1 The internet and the world wide web</a:t>
            </a:r>
          </a:p>
        </p:txBody>
      </p:sp>
      <p:sp>
        <p:nvSpPr>
          <p:cNvPr id="6" name="TextBox 5">
            <a:extLst>
              <a:ext uri="{FF2B5EF4-FFF2-40B4-BE49-F238E27FC236}">
                <a16:creationId xmlns:a16="http://schemas.microsoft.com/office/drawing/2014/main" id="{5FABF442-A178-4CA8-8D0A-DF0A8E18C046}"/>
              </a:ext>
            </a:extLst>
          </p:cNvPr>
          <p:cNvSpPr txBox="1"/>
          <p:nvPr/>
        </p:nvSpPr>
        <p:spPr>
          <a:xfrm>
            <a:off x="927652" y="1650609"/>
            <a:ext cx="6997148" cy="3450613"/>
          </a:xfrm>
          <a:prstGeom prst="rect">
            <a:avLst/>
          </a:prstGeom>
        </p:spPr>
        <p:txBody>
          <a:bodyPr vert="horz" lIns="91440" tIns="45720" rIns="91440" bIns="45720" rtlCol="0" anchor="ctr">
            <a:normAutofit/>
          </a:bodyPr>
          <a:lstStyle/>
          <a:p>
            <a:pPr algn="ctr">
              <a:lnSpc>
                <a:spcPct val="90000"/>
              </a:lnSpc>
              <a:spcAft>
                <a:spcPts val="1200"/>
              </a:spcAft>
            </a:pPr>
            <a:r>
              <a:rPr lang="en-GB" sz="4000" dirty="0">
                <a:solidFill>
                  <a:schemeClr val="accent2">
                    <a:lumMod val="75000"/>
                  </a:schemeClr>
                </a:solidFill>
              </a:rPr>
              <a:t>How web pages are located</a:t>
            </a:r>
            <a:endParaRPr lang="en-US" sz="4000" dirty="0">
              <a:solidFill>
                <a:schemeClr val="accent2">
                  <a:lumMod val="75000"/>
                </a:schemeClr>
              </a:solidFill>
            </a:endParaRPr>
          </a:p>
        </p:txBody>
      </p:sp>
    </p:spTree>
    <p:extLst>
      <p:ext uri="{BB962C8B-B14F-4D97-AF65-F5344CB8AC3E}">
        <p14:creationId xmlns:p14="http://schemas.microsoft.com/office/powerpoint/2010/main" val="13837712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Picture 2" descr="A picture containing object, fireworks, star&#10;&#10;Description automatically generated">
            <a:extLst>
              <a:ext uri="{FF2B5EF4-FFF2-40B4-BE49-F238E27FC236}">
                <a16:creationId xmlns:a16="http://schemas.microsoft.com/office/drawing/2014/main" id="{31CF878F-73FB-440C-9CD4-002FF4D1722F}"/>
              </a:ext>
            </a:extLst>
          </p:cNvPr>
          <p:cNvPicPr>
            <a:picLocks noChangeAspect="1"/>
          </p:cNvPicPr>
          <p:nvPr/>
        </p:nvPicPr>
        <p:blipFill rotWithShape="1">
          <a:blip r:embed="rId3">
            <a:extLst>
              <a:ext uri="{28A0092B-C50C-407E-A947-70E740481C1C}">
                <a14:useLocalDpi xmlns:a14="http://schemas.microsoft.com/office/drawing/2010/main" val="0"/>
              </a:ext>
            </a:extLst>
          </a:blip>
          <a:srcRect t="11177" b="8088"/>
          <a:stretch/>
        </p:blipFill>
        <p:spPr>
          <a:xfrm>
            <a:off x="4185510" y="427839"/>
            <a:ext cx="7846517" cy="6430161"/>
          </a:xfrm>
          <a:prstGeom prst="rect">
            <a:avLst/>
          </a:prstGeom>
        </p:spPr>
      </p:pic>
      <p:sp>
        <p:nvSpPr>
          <p:cNvPr id="8" name="Rectangle 7">
            <a:extLst>
              <a:ext uri="{FF2B5EF4-FFF2-40B4-BE49-F238E27FC236}">
                <a16:creationId xmlns:a16="http://schemas.microsoft.com/office/drawing/2014/main" id="{261F051C-E9FE-4BD9-9E4B-5E607488C2FC}"/>
              </a:ext>
            </a:extLst>
          </p:cNvPr>
          <p:cNvSpPr/>
          <p:nvPr/>
        </p:nvSpPr>
        <p:spPr>
          <a:xfrm>
            <a:off x="176565" y="523174"/>
            <a:ext cx="4185709" cy="3053721"/>
          </a:xfrm>
          <a:prstGeom prst="rect">
            <a:avLst/>
          </a:prstGeom>
        </p:spPr>
        <p:txBody>
          <a:bodyPr wrap="square">
            <a:spAutoFit/>
          </a:bodyPr>
          <a:lstStyle/>
          <a:p>
            <a:pPr>
              <a:lnSpc>
                <a:spcPct val="107000"/>
              </a:lnSpc>
              <a:spcAft>
                <a:spcPts val="800"/>
              </a:spcAft>
            </a:pPr>
            <a:r>
              <a:rPr lang="en-GB" sz="2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The internet</a:t>
            </a:r>
          </a:p>
          <a:p>
            <a:pPr marL="342900" indent="-342900">
              <a:lnSpc>
                <a:spcPct val="107000"/>
              </a:lnSpc>
              <a:spcAft>
                <a:spcPts val="800"/>
              </a:spcAft>
              <a:buFont typeface="Arial" panose="020B0604020202020204" pitchFamily="34" charset="0"/>
              <a:buChar char="•"/>
            </a:pPr>
            <a:r>
              <a:rPr lang="en-GB"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Largest and most well-known wide area network (WAN).</a:t>
            </a:r>
          </a:p>
          <a:p>
            <a:pPr marL="342900" indent="-342900">
              <a:lnSpc>
                <a:spcPct val="107000"/>
              </a:lnSpc>
              <a:spcAft>
                <a:spcPts val="800"/>
              </a:spcAft>
              <a:buFont typeface="Arial" panose="020B0604020202020204" pitchFamily="34" charset="0"/>
              <a:buChar char="•"/>
            </a:pPr>
            <a:r>
              <a:rPr lang="en-GB" dirty="0">
                <a:solidFill>
                  <a:schemeClr val="bg1"/>
                </a:solidFill>
                <a:latin typeface="Calibri" panose="020F0502020204030204" pitchFamily="34" charset="0"/>
                <a:ea typeface="Calibri" panose="020F0502020204030204" pitchFamily="34" charset="0"/>
                <a:cs typeface="Times New Roman" panose="02020603050405020304" pitchFamily="18" charset="0"/>
              </a:rPr>
              <a:t>A collection of interconnected networks spanning the world.</a:t>
            </a:r>
          </a:p>
          <a:p>
            <a:pPr marL="342900" indent="-342900">
              <a:lnSpc>
                <a:spcPct val="107000"/>
              </a:lnSpc>
              <a:spcAft>
                <a:spcPts val="800"/>
              </a:spcAft>
              <a:buFont typeface="Arial" panose="020B0604020202020204" pitchFamily="34" charset="0"/>
              <a:buChar char="•"/>
            </a:pPr>
            <a:r>
              <a:rPr lang="en-GB"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Not the sam</a:t>
            </a:r>
            <a:r>
              <a:rPr lang="en-GB" dirty="0">
                <a:solidFill>
                  <a:schemeClr val="bg1"/>
                </a:solidFill>
                <a:latin typeface="Calibri" panose="020F0502020204030204" pitchFamily="34" charset="0"/>
                <a:ea typeface="Calibri" panose="020F0502020204030204" pitchFamily="34" charset="0"/>
                <a:cs typeface="Times New Roman" panose="02020603050405020304" pitchFamily="18" charset="0"/>
              </a:rPr>
              <a:t>e as the world wide web, which is just a service on the internet.</a:t>
            </a:r>
          </a:p>
          <a:p>
            <a:pPr marL="342900" indent="-342900">
              <a:lnSpc>
                <a:spcPct val="107000"/>
              </a:lnSpc>
              <a:spcAft>
                <a:spcPts val="800"/>
              </a:spcAft>
              <a:buFont typeface="Arial" panose="020B0604020202020204" pitchFamily="34" charset="0"/>
              <a:buChar char="•"/>
            </a:pPr>
            <a:endParaRPr lang="en-GB" sz="2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18505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61F051C-E9FE-4BD9-9E4B-5E607488C2FC}"/>
              </a:ext>
            </a:extLst>
          </p:cNvPr>
          <p:cNvSpPr/>
          <p:nvPr/>
        </p:nvSpPr>
        <p:spPr>
          <a:xfrm>
            <a:off x="176566" y="523174"/>
            <a:ext cx="3882320"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rPr>
              <a:t>Web servers and clients</a:t>
            </a:r>
          </a:p>
        </p:txBody>
      </p:sp>
      <p:sp>
        <p:nvSpPr>
          <p:cNvPr id="5" name="Rectangle 4">
            <a:extLst>
              <a:ext uri="{FF2B5EF4-FFF2-40B4-BE49-F238E27FC236}">
                <a16:creationId xmlns:a16="http://schemas.microsoft.com/office/drawing/2014/main" id="{7984E1A5-47BE-4BE1-8230-A9219736C0A6}"/>
              </a:ext>
            </a:extLst>
          </p:cNvPr>
          <p:cNvSpPr/>
          <p:nvPr/>
        </p:nvSpPr>
        <p:spPr>
          <a:xfrm>
            <a:off x="176566" y="987297"/>
            <a:ext cx="7661989" cy="1831271"/>
          </a:xfrm>
          <a:prstGeom prst="rect">
            <a:avLst/>
          </a:prstGeom>
        </p:spPr>
        <p:txBody>
          <a:bodyPr wrap="square">
            <a:spAutoFit/>
          </a:bodyPr>
          <a:lstStyle/>
          <a:p>
            <a:pPr marL="285750"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Web servers carry out many functions – the most common are:</a:t>
            </a:r>
          </a:p>
          <a:p>
            <a:pPr marL="742950" lvl="1" indent="-285750">
              <a:buFont typeface="Courier New" panose="02070309020205020404" pitchFamily="49" charset="0"/>
              <a:buChar char="o"/>
            </a:pPr>
            <a:r>
              <a:rPr lang="en-GB" dirty="0">
                <a:latin typeface="Calibri" panose="020F0502020204030204" pitchFamily="34" charset="0"/>
                <a:ea typeface="Calibri" panose="020F0502020204030204" pitchFamily="34" charset="0"/>
                <a:cs typeface="Times New Roman" panose="02020603050405020304" pitchFamily="18" charset="0"/>
              </a:rPr>
              <a:t>Hosting websites.</a:t>
            </a:r>
          </a:p>
          <a:p>
            <a:pPr marL="742950" lvl="1" indent="-285750">
              <a:spcAft>
                <a:spcPts val="600"/>
              </a:spcAft>
              <a:buFont typeface="Courier New" panose="02070309020205020404" pitchFamily="49" charset="0"/>
              <a:buChar char="o"/>
            </a:pPr>
            <a:r>
              <a:rPr lang="en-GB" dirty="0">
                <a:latin typeface="Calibri" panose="020F0502020204030204" pitchFamily="34" charset="0"/>
                <a:ea typeface="Calibri" panose="020F0502020204030204" pitchFamily="34" charset="0"/>
                <a:cs typeface="Times New Roman" panose="02020603050405020304" pitchFamily="18" charset="0"/>
              </a:rPr>
              <a:t>Dealing with client requests.</a:t>
            </a:r>
          </a:p>
          <a:p>
            <a:pPr marL="285750"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A web page – stored as text (HTML, CSS, JavaScript) – is sent to a browser, which then uses various rules to render it correctly.</a:t>
            </a: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
        <p:nvSpPr>
          <p:cNvPr id="35" name="Rectangle 34">
            <a:extLst>
              <a:ext uri="{FF2B5EF4-FFF2-40B4-BE49-F238E27FC236}">
                <a16:creationId xmlns:a16="http://schemas.microsoft.com/office/drawing/2014/main" id="{FCC0CE92-7DA5-4842-95D5-3102601AD08A}"/>
              </a:ext>
            </a:extLst>
          </p:cNvPr>
          <p:cNvSpPr/>
          <p:nvPr/>
        </p:nvSpPr>
        <p:spPr>
          <a:xfrm>
            <a:off x="7949939" y="419878"/>
            <a:ext cx="4242062" cy="6438122"/>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33" name="Group 32">
            <a:extLst>
              <a:ext uri="{FF2B5EF4-FFF2-40B4-BE49-F238E27FC236}">
                <a16:creationId xmlns:a16="http://schemas.microsoft.com/office/drawing/2014/main" id="{0C409CBA-5B7D-52FE-86F0-BE60B8195F1F}"/>
              </a:ext>
            </a:extLst>
          </p:cNvPr>
          <p:cNvGrpSpPr/>
          <p:nvPr/>
        </p:nvGrpSpPr>
        <p:grpSpPr>
          <a:xfrm>
            <a:off x="309495" y="2531542"/>
            <a:ext cx="7326678" cy="4163236"/>
            <a:chOff x="309495" y="2531542"/>
            <a:chExt cx="7326678" cy="4163236"/>
          </a:xfrm>
        </p:grpSpPr>
        <p:sp>
          <p:nvSpPr>
            <p:cNvPr id="34" name="TextBox 33">
              <a:extLst>
                <a:ext uri="{FF2B5EF4-FFF2-40B4-BE49-F238E27FC236}">
                  <a16:creationId xmlns:a16="http://schemas.microsoft.com/office/drawing/2014/main" id="{B5FCCDA7-D7DE-946C-EAAD-F172178542CB}"/>
                </a:ext>
              </a:extLst>
            </p:cNvPr>
            <p:cNvSpPr txBox="1"/>
            <p:nvPr/>
          </p:nvSpPr>
          <p:spPr>
            <a:xfrm>
              <a:off x="918439" y="4879959"/>
              <a:ext cx="796248" cy="471366"/>
            </a:xfrm>
            <a:prstGeom prst="rect">
              <a:avLst/>
            </a:prstGeom>
            <a:noFill/>
          </p:spPr>
          <p:txBody>
            <a:bodyPr wrap="none" rtlCol="0">
              <a:spAutoFit/>
            </a:bodyPr>
            <a:lstStyle/>
            <a:p>
              <a:pPr algn="ctr"/>
              <a:r>
                <a:rPr lang="en-GB" b="1" dirty="0"/>
                <a:t>User</a:t>
              </a:r>
              <a:endParaRPr lang="en-GB" sz="2000" b="1" dirty="0"/>
            </a:p>
          </p:txBody>
        </p:sp>
        <p:sp>
          <p:nvSpPr>
            <p:cNvPr id="36" name="TextBox 35">
              <a:extLst>
                <a:ext uri="{FF2B5EF4-FFF2-40B4-BE49-F238E27FC236}">
                  <a16:creationId xmlns:a16="http://schemas.microsoft.com/office/drawing/2014/main" id="{6200ADD2-7372-826B-63D8-5C93C92B4742}"/>
                </a:ext>
              </a:extLst>
            </p:cNvPr>
            <p:cNvSpPr txBox="1"/>
            <p:nvPr/>
          </p:nvSpPr>
          <p:spPr>
            <a:xfrm>
              <a:off x="892352" y="2647549"/>
              <a:ext cx="882441" cy="443067"/>
            </a:xfrm>
            <a:prstGeom prst="rect">
              <a:avLst/>
            </a:prstGeom>
            <a:noFill/>
          </p:spPr>
          <p:txBody>
            <a:bodyPr wrap="none" rtlCol="0">
              <a:spAutoFit/>
            </a:bodyPr>
            <a:lstStyle/>
            <a:p>
              <a:pPr algn="ctr"/>
              <a:r>
                <a:rPr lang="en-GB" b="1" dirty="0"/>
                <a:t>Client</a:t>
              </a:r>
              <a:endParaRPr lang="en-GB" sz="2000" b="1" dirty="0"/>
            </a:p>
          </p:txBody>
        </p:sp>
        <p:sp>
          <p:nvSpPr>
            <p:cNvPr id="37" name="TextBox 36">
              <a:extLst>
                <a:ext uri="{FF2B5EF4-FFF2-40B4-BE49-F238E27FC236}">
                  <a16:creationId xmlns:a16="http://schemas.microsoft.com/office/drawing/2014/main" id="{856B7CCE-7071-7B3C-8E0C-D5C77E59A1F2}"/>
                </a:ext>
              </a:extLst>
            </p:cNvPr>
            <p:cNvSpPr txBox="1"/>
            <p:nvPr/>
          </p:nvSpPr>
          <p:spPr>
            <a:xfrm>
              <a:off x="6135835" y="2531542"/>
              <a:ext cx="1388568" cy="705457"/>
            </a:xfrm>
            <a:prstGeom prst="rect">
              <a:avLst/>
            </a:prstGeom>
            <a:noFill/>
          </p:spPr>
          <p:txBody>
            <a:bodyPr wrap="square" rtlCol="0">
              <a:spAutoFit/>
            </a:bodyPr>
            <a:lstStyle/>
            <a:p>
              <a:pPr algn="ctr"/>
              <a:r>
                <a:rPr lang="en-GB" b="1" dirty="0"/>
                <a:t>Local ISP and DNS</a:t>
              </a:r>
              <a:endParaRPr lang="en-GB" sz="2000" b="1" dirty="0"/>
            </a:p>
          </p:txBody>
        </p:sp>
        <p:sp>
          <p:nvSpPr>
            <p:cNvPr id="38" name="TextBox 37">
              <a:extLst>
                <a:ext uri="{FF2B5EF4-FFF2-40B4-BE49-F238E27FC236}">
                  <a16:creationId xmlns:a16="http://schemas.microsoft.com/office/drawing/2014/main" id="{A75D7CEC-AE45-7D3A-6C15-3CC8899472B6}"/>
                </a:ext>
              </a:extLst>
            </p:cNvPr>
            <p:cNvSpPr txBox="1"/>
            <p:nvPr/>
          </p:nvSpPr>
          <p:spPr>
            <a:xfrm>
              <a:off x="6167437" y="4686203"/>
              <a:ext cx="1272849" cy="369332"/>
            </a:xfrm>
            <a:prstGeom prst="rect">
              <a:avLst/>
            </a:prstGeom>
            <a:noFill/>
          </p:spPr>
          <p:txBody>
            <a:bodyPr wrap="none" rtlCol="0">
              <a:spAutoFit/>
            </a:bodyPr>
            <a:lstStyle/>
            <a:p>
              <a:pPr algn="ctr"/>
              <a:r>
                <a:rPr lang="en-GB" b="1" dirty="0"/>
                <a:t>Web server</a:t>
              </a:r>
              <a:endParaRPr lang="en-GB" sz="2000" b="1" dirty="0"/>
            </a:p>
          </p:txBody>
        </p:sp>
        <p:sp>
          <p:nvSpPr>
            <p:cNvPr id="39" name="Rectangle: Rounded Corners 38">
              <a:extLst>
                <a:ext uri="{FF2B5EF4-FFF2-40B4-BE49-F238E27FC236}">
                  <a16:creationId xmlns:a16="http://schemas.microsoft.com/office/drawing/2014/main" id="{FA046A10-BA47-E7A8-4205-C6295C335220}"/>
                </a:ext>
              </a:extLst>
            </p:cNvPr>
            <p:cNvSpPr/>
            <p:nvPr/>
          </p:nvSpPr>
          <p:spPr>
            <a:xfrm>
              <a:off x="309495" y="2624809"/>
              <a:ext cx="2009499" cy="4069969"/>
            </a:xfrm>
            <a:prstGeom prst="roundRect">
              <a:avLst>
                <a:gd name="adj" fmla="val 7576"/>
              </a:avLst>
            </a:prstGeom>
            <a:noFill/>
            <a:ln w="28575">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0" name="Picture 39" descr="Icon&#10;&#10;Description automatically generated">
              <a:extLst>
                <a:ext uri="{FF2B5EF4-FFF2-40B4-BE49-F238E27FC236}">
                  <a16:creationId xmlns:a16="http://schemas.microsoft.com/office/drawing/2014/main" id="{2B3D584C-B287-5B92-7543-C265BED55A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89" y="2938512"/>
              <a:ext cx="1875962" cy="1875962"/>
            </a:xfrm>
            <a:prstGeom prst="rect">
              <a:avLst/>
            </a:prstGeom>
          </p:spPr>
        </p:pic>
        <p:pic>
          <p:nvPicPr>
            <p:cNvPr id="41" name="Picture 40" descr="Icon&#10;&#10;Description automatically generated">
              <a:extLst>
                <a:ext uri="{FF2B5EF4-FFF2-40B4-BE49-F238E27FC236}">
                  <a16:creationId xmlns:a16="http://schemas.microsoft.com/office/drawing/2014/main" id="{166968A9-4BB5-3A60-D6C9-CBA452FE11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848" y="5300667"/>
              <a:ext cx="1218929" cy="1218929"/>
            </a:xfrm>
            <a:prstGeom prst="rect">
              <a:avLst/>
            </a:prstGeom>
          </p:spPr>
        </p:pic>
        <p:pic>
          <p:nvPicPr>
            <p:cNvPr id="42" name="Picture 41">
              <a:extLst>
                <a:ext uri="{FF2B5EF4-FFF2-40B4-BE49-F238E27FC236}">
                  <a16:creationId xmlns:a16="http://schemas.microsoft.com/office/drawing/2014/main" id="{511FB39E-B25F-04A0-F83C-B08E455DF715}"/>
                </a:ext>
              </a:extLst>
            </p:cNvPr>
            <p:cNvPicPr>
              <a:picLocks noChangeAspect="1"/>
            </p:cNvPicPr>
            <p:nvPr/>
          </p:nvPicPr>
          <p:blipFill>
            <a:blip r:embed="rId4"/>
            <a:stretch>
              <a:fillRect/>
            </a:stretch>
          </p:blipFill>
          <p:spPr>
            <a:xfrm>
              <a:off x="5919374" y="3170451"/>
              <a:ext cx="1716799" cy="1547749"/>
            </a:xfrm>
            <a:prstGeom prst="rect">
              <a:avLst/>
            </a:prstGeom>
          </p:spPr>
        </p:pic>
        <p:pic>
          <p:nvPicPr>
            <p:cNvPr id="43" name="Picture 42">
              <a:extLst>
                <a:ext uri="{FF2B5EF4-FFF2-40B4-BE49-F238E27FC236}">
                  <a16:creationId xmlns:a16="http://schemas.microsoft.com/office/drawing/2014/main" id="{52490403-021D-38CA-7780-C2839A6820EB}"/>
                </a:ext>
              </a:extLst>
            </p:cNvPr>
            <p:cNvPicPr>
              <a:picLocks noChangeAspect="1"/>
            </p:cNvPicPr>
            <p:nvPr/>
          </p:nvPicPr>
          <p:blipFill>
            <a:blip r:embed="rId4"/>
            <a:stretch>
              <a:fillRect/>
            </a:stretch>
          </p:blipFill>
          <p:spPr>
            <a:xfrm>
              <a:off x="5919374" y="5092555"/>
              <a:ext cx="1716799" cy="1547749"/>
            </a:xfrm>
            <a:prstGeom prst="rect">
              <a:avLst/>
            </a:prstGeom>
          </p:spPr>
        </p:pic>
      </p:grpSp>
    </p:spTree>
    <p:extLst>
      <p:ext uri="{BB962C8B-B14F-4D97-AF65-F5344CB8AC3E}">
        <p14:creationId xmlns:p14="http://schemas.microsoft.com/office/powerpoint/2010/main" val="1569841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61F051C-E9FE-4BD9-9E4B-5E607488C2FC}"/>
              </a:ext>
            </a:extLst>
          </p:cNvPr>
          <p:cNvSpPr/>
          <p:nvPr/>
        </p:nvSpPr>
        <p:spPr>
          <a:xfrm>
            <a:off x="176566" y="523174"/>
            <a:ext cx="3882320"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rPr>
              <a:t>Web servers and clients</a:t>
            </a:r>
          </a:p>
        </p:txBody>
      </p:sp>
      <p:sp>
        <p:nvSpPr>
          <p:cNvPr id="5" name="Rectangle 4">
            <a:extLst>
              <a:ext uri="{FF2B5EF4-FFF2-40B4-BE49-F238E27FC236}">
                <a16:creationId xmlns:a16="http://schemas.microsoft.com/office/drawing/2014/main" id="{7984E1A5-47BE-4BE1-8230-A9219736C0A6}"/>
              </a:ext>
            </a:extLst>
          </p:cNvPr>
          <p:cNvSpPr/>
          <p:nvPr/>
        </p:nvSpPr>
        <p:spPr>
          <a:xfrm>
            <a:off x="176566" y="987297"/>
            <a:ext cx="7661989" cy="1831271"/>
          </a:xfrm>
          <a:prstGeom prst="rect">
            <a:avLst/>
          </a:prstGeom>
        </p:spPr>
        <p:txBody>
          <a:bodyPr wrap="square">
            <a:spAutoFit/>
          </a:bodyPr>
          <a:lstStyle/>
          <a:p>
            <a:pPr marL="285750"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Web servers carry out many functions – the most common are:</a:t>
            </a:r>
          </a:p>
          <a:p>
            <a:pPr marL="742950" lvl="1" indent="-285750">
              <a:buFont typeface="Courier New" panose="02070309020205020404" pitchFamily="49" charset="0"/>
              <a:buChar char="o"/>
            </a:pPr>
            <a:r>
              <a:rPr lang="en-GB" dirty="0">
                <a:latin typeface="Calibri" panose="020F0502020204030204" pitchFamily="34" charset="0"/>
                <a:ea typeface="Calibri" panose="020F0502020204030204" pitchFamily="34" charset="0"/>
                <a:cs typeface="Times New Roman" panose="02020603050405020304" pitchFamily="18" charset="0"/>
              </a:rPr>
              <a:t>Hosting websites.</a:t>
            </a:r>
          </a:p>
          <a:p>
            <a:pPr marL="742950" lvl="1" indent="-285750">
              <a:spcAft>
                <a:spcPts val="600"/>
              </a:spcAft>
              <a:buFont typeface="Courier New" panose="02070309020205020404" pitchFamily="49" charset="0"/>
              <a:buChar char="o"/>
            </a:pPr>
            <a:r>
              <a:rPr lang="en-GB" dirty="0">
                <a:latin typeface="Calibri" panose="020F0502020204030204" pitchFamily="34" charset="0"/>
                <a:ea typeface="Calibri" panose="020F0502020204030204" pitchFamily="34" charset="0"/>
                <a:cs typeface="Times New Roman" panose="02020603050405020304" pitchFamily="18" charset="0"/>
              </a:rPr>
              <a:t>Dealing with client requests.</a:t>
            </a:r>
          </a:p>
          <a:p>
            <a:pPr marL="285750"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A web page – stored as text (HTML, CSS, JavaScript) – is sent to a browser, which then uses various rules to render it correctly.</a:t>
            </a: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
        <p:nvSpPr>
          <p:cNvPr id="35" name="Rectangle 34">
            <a:extLst>
              <a:ext uri="{FF2B5EF4-FFF2-40B4-BE49-F238E27FC236}">
                <a16:creationId xmlns:a16="http://schemas.microsoft.com/office/drawing/2014/main" id="{FCC0CE92-7DA5-4842-95D5-3102601AD08A}"/>
              </a:ext>
            </a:extLst>
          </p:cNvPr>
          <p:cNvSpPr/>
          <p:nvPr/>
        </p:nvSpPr>
        <p:spPr>
          <a:xfrm>
            <a:off x="7949939" y="416346"/>
            <a:ext cx="4242062" cy="6441654"/>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 name="Rectangle 35">
            <a:extLst>
              <a:ext uri="{FF2B5EF4-FFF2-40B4-BE49-F238E27FC236}">
                <a16:creationId xmlns:a16="http://schemas.microsoft.com/office/drawing/2014/main" id="{D5BF1568-F5C0-4EFB-8FC5-8D96FC900D4E}"/>
              </a:ext>
            </a:extLst>
          </p:cNvPr>
          <p:cNvSpPr/>
          <p:nvPr/>
        </p:nvSpPr>
        <p:spPr>
          <a:xfrm>
            <a:off x="7949938" y="435008"/>
            <a:ext cx="4273485" cy="1000274"/>
          </a:xfrm>
          <a:prstGeom prst="rect">
            <a:avLst/>
          </a:prstGeom>
        </p:spPr>
        <p:txBody>
          <a:bodyPr wrap="square">
            <a:spAutoFit/>
          </a:bodyPr>
          <a:lstStyle/>
          <a:p>
            <a:pPr marL="342900" indent="-342900">
              <a:spcAft>
                <a:spcPts val="600"/>
              </a:spcAft>
              <a:buFont typeface="+mj-lt"/>
              <a:buAutoNum type="arabicPeriod"/>
            </a:pPr>
            <a:r>
              <a:rPr lang="en-GB" dirty="0">
                <a:latin typeface="Calibri" panose="020F0502020204030204" pitchFamily="34" charset="0"/>
                <a:ea typeface="Calibri" panose="020F0502020204030204" pitchFamily="34" charset="0"/>
                <a:cs typeface="Times New Roman" panose="02020603050405020304" pitchFamily="18" charset="0"/>
              </a:rPr>
              <a:t>The client requests a URL via a web browser (e.g., </a:t>
            </a:r>
            <a:r>
              <a:rPr lang="en-GB" dirty="0">
                <a:latin typeface="Calibri" panose="020F0502020204030204" pitchFamily="34" charset="0"/>
                <a:ea typeface="Calibri" panose="020F0502020204030204" pitchFamily="34" charset="0"/>
                <a:cs typeface="Times New Roman" panose="02020603050405020304" pitchFamily="18" charset="0"/>
                <a:hlinkClick r:id="rId2"/>
              </a:rPr>
              <a:t>www.bbc.co.uk</a:t>
            </a:r>
            <a:r>
              <a:rPr lang="en-GB" dirty="0">
                <a:latin typeface="Calibri" panose="020F0502020204030204" pitchFamily="34" charset="0"/>
                <a:ea typeface="Calibri" panose="020F0502020204030204" pitchFamily="34" charset="0"/>
                <a:cs typeface="Times New Roman" panose="02020603050405020304" pitchFamily="18" charset="0"/>
              </a:rPr>
              <a:t>).</a:t>
            </a: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grpSp>
        <p:nvGrpSpPr>
          <p:cNvPr id="74" name="Group 73">
            <a:extLst>
              <a:ext uri="{FF2B5EF4-FFF2-40B4-BE49-F238E27FC236}">
                <a16:creationId xmlns:a16="http://schemas.microsoft.com/office/drawing/2014/main" id="{3795DB9E-B247-15E2-CC3D-F9E46E7841EB}"/>
              </a:ext>
            </a:extLst>
          </p:cNvPr>
          <p:cNvGrpSpPr/>
          <p:nvPr/>
        </p:nvGrpSpPr>
        <p:grpSpPr>
          <a:xfrm>
            <a:off x="309495" y="2531542"/>
            <a:ext cx="7326678" cy="4163236"/>
            <a:chOff x="309495" y="2531542"/>
            <a:chExt cx="7326678" cy="4163236"/>
          </a:xfrm>
        </p:grpSpPr>
        <p:sp>
          <p:nvSpPr>
            <p:cNvPr id="17" name="TextBox 16">
              <a:extLst>
                <a:ext uri="{FF2B5EF4-FFF2-40B4-BE49-F238E27FC236}">
                  <a16:creationId xmlns:a16="http://schemas.microsoft.com/office/drawing/2014/main" id="{AC9A8BA8-050B-4E1C-B6CB-6DD425C42762}"/>
                </a:ext>
              </a:extLst>
            </p:cNvPr>
            <p:cNvSpPr txBox="1"/>
            <p:nvPr/>
          </p:nvSpPr>
          <p:spPr>
            <a:xfrm>
              <a:off x="918439" y="4879959"/>
              <a:ext cx="796248" cy="471366"/>
            </a:xfrm>
            <a:prstGeom prst="rect">
              <a:avLst/>
            </a:prstGeom>
            <a:noFill/>
          </p:spPr>
          <p:txBody>
            <a:bodyPr wrap="none" rtlCol="0">
              <a:spAutoFit/>
            </a:bodyPr>
            <a:lstStyle/>
            <a:p>
              <a:pPr algn="ctr"/>
              <a:r>
                <a:rPr lang="en-GB" b="1" dirty="0"/>
                <a:t>User</a:t>
              </a:r>
              <a:endParaRPr lang="en-GB" sz="2000" b="1" dirty="0"/>
            </a:p>
          </p:txBody>
        </p:sp>
        <p:sp>
          <p:nvSpPr>
            <p:cNvPr id="22" name="TextBox 21">
              <a:extLst>
                <a:ext uri="{FF2B5EF4-FFF2-40B4-BE49-F238E27FC236}">
                  <a16:creationId xmlns:a16="http://schemas.microsoft.com/office/drawing/2014/main" id="{C1B8994B-68BC-45EB-8D60-60AB3295DE69}"/>
                </a:ext>
              </a:extLst>
            </p:cNvPr>
            <p:cNvSpPr txBox="1"/>
            <p:nvPr/>
          </p:nvSpPr>
          <p:spPr>
            <a:xfrm>
              <a:off x="892352" y="2647549"/>
              <a:ext cx="882441" cy="443067"/>
            </a:xfrm>
            <a:prstGeom prst="rect">
              <a:avLst/>
            </a:prstGeom>
            <a:noFill/>
          </p:spPr>
          <p:txBody>
            <a:bodyPr wrap="none" rtlCol="0">
              <a:spAutoFit/>
            </a:bodyPr>
            <a:lstStyle/>
            <a:p>
              <a:pPr algn="ctr"/>
              <a:r>
                <a:rPr lang="en-GB" b="1" dirty="0"/>
                <a:t>Client</a:t>
              </a:r>
              <a:endParaRPr lang="en-GB" sz="2000" b="1" dirty="0"/>
            </a:p>
          </p:txBody>
        </p:sp>
        <p:sp>
          <p:nvSpPr>
            <p:cNvPr id="27" name="TextBox 26">
              <a:extLst>
                <a:ext uri="{FF2B5EF4-FFF2-40B4-BE49-F238E27FC236}">
                  <a16:creationId xmlns:a16="http://schemas.microsoft.com/office/drawing/2014/main" id="{C2E0E330-DC84-4712-8878-852D3794FB89}"/>
                </a:ext>
              </a:extLst>
            </p:cNvPr>
            <p:cNvSpPr txBox="1"/>
            <p:nvPr/>
          </p:nvSpPr>
          <p:spPr>
            <a:xfrm>
              <a:off x="6135835" y="2531542"/>
              <a:ext cx="1388568" cy="705457"/>
            </a:xfrm>
            <a:prstGeom prst="rect">
              <a:avLst/>
            </a:prstGeom>
            <a:noFill/>
          </p:spPr>
          <p:txBody>
            <a:bodyPr wrap="square" rtlCol="0">
              <a:spAutoFit/>
            </a:bodyPr>
            <a:lstStyle/>
            <a:p>
              <a:pPr algn="ctr"/>
              <a:r>
                <a:rPr lang="en-GB" b="1" dirty="0"/>
                <a:t>Local ISP and DNS</a:t>
              </a:r>
              <a:endParaRPr lang="en-GB" sz="2000" b="1" dirty="0"/>
            </a:p>
          </p:txBody>
        </p:sp>
        <p:sp>
          <p:nvSpPr>
            <p:cNvPr id="32" name="TextBox 31">
              <a:extLst>
                <a:ext uri="{FF2B5EF4-FFF2-40B4-BE49-F238E27FC236}">
                  <a16:creationId xmlns:a16="http://schemas.microsoft.com/office/drawing/2014/main" id="{1609AC6A-281D-4DED-9474-E035C1262FB5}"/>
                </a:ext>
              </a:extLst>
            </p:cNvPr>
            <p:cNvSpPr txBox="1"/>
            <p:nvPr/>
          </p:nvSpPr>
          <p:spPr>
            <a:xfrm>
              <a:off x="6167437" y="4686203"/>
              <a:ext cx="1272849" cy="369332"/>
            </a:xfrm>
            <a:prstGeom prst="rect">
              <a:avLst/>
            </a:prstGeom>
            <a:noFill/>
          </p:spPr>
          <p:txBody>
            <a:bodyPr wrap="none" rtlCol="0">
              <a:spAutoFit/>
            </a:bodyPr>
            <a:lstStyle/>
            <a:p>
              <a:pPr algn="ctr"/>
              <a:r>
                <a:rPr lang="en-GB" b="1" dirty="0"/>
                <a:t>Web server</a:t>
              </a:r>
              <a:endParaRPr lang="en-GB" sz="2000" b="1" dirty="0"/>
            </a:p>
          </p:txBody>
        </p:sp>
        <p:sp>
          <p:nvSpPr>
            <p:cNvPr id="33" name="Rectangle: Rounded Corners 32">
              <a:extLst>
                <a:ext uri="{FF2B5EF4-FFF2-40B4-BE49-F238E27FC236}">
                  <a16:creationId xmlns:a16="http://schemas.microsoft.com/office/drawing/2014/main" id="{A1B5C9FB-0504-49B5-B141-4B4FEB43E6B8}"/>
                </a:ext>
              </a:extLst>
            </p:cNvPr>
            <p:cNvSpPr/>
            <p:nvPr/>
          </p:nvSpPr>
          <p:spPr>
            <a:xfrm>
              <a:off x="309495" y="2624809"/>
              <a:ext cx="2009499" cy="4069969"/>
            </a:xfrm>
            <a:prstGeom prst="roundRect">
              <a:avLst>
                <a:gd name="adj" fmla="val 7576"/>
              </a:avLst>
            </a:prstGeom>
            <a:noFill/>
            <a:ln w="28575">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 name="Picture 3" descr="Icon&#10;&#10;Description automatically generated">
              <a:extLst>
                <a:ext uri="{FF2B5EF4-FFF2-40B4-BE49-F238E27FC236}">
                  <a16:creationId xmlns:a16="http://schemas.microsoft.com/office/drawing/2014/main" id="{AFF31968-78FC-43D7-001A-440E4D1013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89" y="2938512"/>
              <a:ext cx="1875962" cy="1875962"/>
            </a:xfrm>
            <a:prstGeom prst="rect">
              <a:avLst/>
            </a:prstGeom>
          </p:spPr>
        </p:pic>
        <p:pic>
          <p:nvPicPr>
            <p:cNvPr id="7" name="Picture 6" descr="Icon&#10;&#10;Description automatically generated">
              <a:extLst>
                <a:ext uri="{FF2B5EF4-FFF2-40B4-BE49-F238E27FC236}">
                  <a16:creationId xmlns:a16="http://schemas.microsoft.com/office/drawing/2014/main" id="{6A728E99-9FD5-AC7F-1A1E-627CC27143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4848" y="5300667"/>
              <a:ext cx="1218929" cy="1218929"/>
            </a:xfrm>
            <a:prstGeom prst="rect">
              <a:avLst/>
            </a:prstGeom>
          </p:spPr>
        </p:pic>
        <p:pic>
          <p:nvPicPr>
            <p:cNvPr id="72" name="Picture 71">
              <a:extLst>
                <a:ext uri="{FF2B5EF4-FFF2-40B4-BE49-F238E27FC236}">
                  <a16:creationId xmlns:a16="http://schemas.microsoft.com/office/drawing/2014/main" id="{57789B73-59B8-9F98-D2AE-EC098A67DB76}"/>
                </a:ext>
              </a:extLst>
            </p:cNvPr>
            <p:cNvPicPr>
              <a:picLocks noChangeAspect="1"/>
            </p:cNvPicPr>
            <p:nvPr/>
          </p:nvPicPr>
          <p:blipFill>
            <a:blip r:embed="rId5"/>
            <a:stretch>
              <a:fillRect/>
            </a:stretch>
          </p:blipFill>
          <p:spPr>
            <a:xfrm>
              <a:off x="5919374" y="3170451"/>
              <a:ext cx="1716799" cy="1547749"/>
            </a:xfrm>
            <a:prstGeom prst="rect">
              <a:avLst/>
            </a:prstGeom>
          </p:spPr>
        </p:pic>
        <p:pic>
          <p:nvPicPr>
            <p:cNvPr id="73" name="Picture 72">
              <a:extLst>
                <a:ext uri="{FF2B5EF4-FFF2-40B4-BE49-F238E27FC236}">
                  <a16:creationId xmlns:a16="http://schemas.microsoft.com/office/drawing/2014/main" id="{A404AA19-38DD-9296-0C30-4E07D70A81CC}"/>
                </a:ext>
              </a:extLst>
            </p:cNvPr>
            <p:cNvPicPr>
              <a:picLocks noChangeAspect="1"/>
            </p:cNvPicPr>
            <p:nvPr/>
          </p:nvPicPr>
          <p:blipFill>
            <a:blip r:embed="rId5"/>
            <a:stretch>
              <a:fillRect/>
            </a:stretch>
          </p:blipFill>
          <p:spPr>
            <a:xfrm>
              <a:off x="5919374" y="5092555"/>
              <a:ext cx="1716799" cy="1547749"/>
            </a:xfrm>
            <a:prstGeom prst="rect">
              <a:avLst/>
            </a:prstGeom>
          </p:spPr>
        </p:pic>
      </p:grpSp>
    </p:spTree>
    <p:extLst>
      <p:ext uri="{BB962C8B-B14F-4D97-AF65-F5344CB8AC3E}">
        <p14:creationId xmlns:p14="http://schemas.microsoft.com/office/powerpoint/2010/main" val="2400095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61F051C-E9FE-4BD9-9E4B-5E607488C2FC}"/>
              </a:ext>
            </a:extLst>
          </p:cNvPr>
          <p:cNvSpPr/>
          <p:nvPr/>
        </p:nvSpPr>
        <p:spPr>
          <a:xfrm>
            <a:off x="176566" y="523174"/>
            <a:ext cx="3882320"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rPr>
              <a:t>Web servers and clients</a:t>
            </a:r>
          </a:p>
        </p:txBody>
      </p:sp>
      <p:sp>
        <p:nvSpPr>
          <p:cNvPr id="5" name="Rectangle 4">
            <a:extLst>
              <a:ext uri="{FF2B5EF4-FFF2-40B4-BE49-F238E27FC236}">
                <a16:creationId xmlns:a16="http://schemas.microsoft.com/office/drawing/2014/main" id="{7984E1A5-47BE-4BE1-8230-A9219736C0A6}"/>
              </a:ext>
            </a:extLst>
          </p:cNvPr>
          <p:cNvSpPr/>
          <p:nvPr/>
        </p:nvSpPr>
        <p:spPr>
          <a:xfrm>
            <a:off x="176566" y="987297"/>
            <a:ext cx="7661989" cy="1831271"/>
          </a:xfrm>
          <a:prstGeom prst="rect">
            <a:avLst/>
          </a:prstGeom>
        </p:spPr>
        <p:txBody>
          <a:bodyPr wrap="square">
            <a:spAutoFit/>
          </a:bodyPr>
          <a:lstStyle/>
          <a:p>
            <a:pPr marL="285750"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Web servers carry out many functions – the most common are:</a:t>
            </a:r>
          </a:p>
          <a:p>
            <a:pPr marL="742950" lvl="1" indent="-285750">
              <a:buFont typeface="Courier New" panose="02070309020205020404" pitchFamily="49" charset="0"/>
              <a:buChar char="o"/>
            </a:pPr>
            <a:r>
              <a:rPr lang="en-GB" dirty="0">
                <a:latin typeface="Calibri" panose="020F0502020204030204" pitchFamily="34" charset="0"/>
                <a:ea typeface="Calibri" panose="020F0502020204030204" pitchFamily="34" charset="0"/>
                <a:cs typeface="Times New Roman" panose="02020603050405020304" pitchFamily="18" charset="0"/>
              </a:rPr>
              <a:t>Hosting websites.</a:t>
            </a:r>
          </a:p>
          <a:p>
            <a:pPr marL="742950" lvl="1" indent="-285750">
              <a:spcAft>
                <a:spcPts val="600"/>
              </a:spcAft>
              <a:buFont typeface="Courier New" panose="02070309020205020404" pitchFamily="49" charset="0"/>
              <a:buChar char="o"/>
            </a:pPr>
            <a:r>
              <a:rPr lang="en-GB" dirty="0">
                <a:latin typeface="Calibri" panose="020F0502020204030204" pitchFamily="34" charset="0"/>
                <a:ea typeface="Calibri" panose="020F0502020204030204" pitchFamily="34" charset="0"/>
                <a:cs typeface="Times New Roman" panose="02020603050405020304" pitchFamily="18" charset="0"/>
              </a:rPr>
              <a:t>Dealing with client requests.</a:t>
            </a:r>
          </a:p>
          <a:p>
            <a:pPr marL="285750"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A web page – stored as text (HTML, CSS, JavaScript) – is sent to a browser, which then uses various rules to render it correctly.</a:t>
            </a: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
        <p:nvSpPr>
          <p:cNvPr id="35" name="Rectangle 34">
            <a:extLst>
              <a:ext uri="{FF2B5EF4-FFF2-40B4-BE49-F238E27FC236}">
                <a16:creationId xmlns:a16="http://schemas.microsoft.com/office/drawing/2014/main" id="{FCC0CE92-7DA5-4842-95D5-3102601AD08A}"/>
              </a:ext>
            </a:extLst>
          </p:cNvPr>
          <p:cNvSpPr/>
          <p:nvPr/>
        </p:nvSpPr>
        <p:spPr>
          <a:xfrm>
            <a:off x="7949939" y="416346"/>
            <a:ext cx="4242062" cy="6441654"/>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 name="Rectangle 35">
            <a:extLst>
              <a:ext uri="{FF2B5EF4-FFF2-40B4-BE49-F238E27FC236}">
                <a16:creationId xmlns:a16="http://schemas.microsoft.com/office/drawing/2014/main" id="{D5BF1568-F5C0-4EFB-8FC5-8D96FC900D4E}"/>
              </a:ext>
            </a:extLst>
          </p:cNvPr>
          <p:cNvSpPr/>
          <p:nvPr/>
        </p:nvSpPr>
        <p:spPr>
          <a:xfrm>
            <a:off x="7949938" y="435008"/>
            <a:ext cx="4273485" cy="1908215"/>
          </a:xfrm>
          <a:prstGeom prst="rect">
            <a:avLst/>
          </a:prstGeom>
        </p:spPr>
        <p:txBody>
          <a:bodyPr wrap="square">
            <a:spAutoFit/>
          </a:bodyPr>
          <a:lstStyle/>
          <a:p>
            <a:pPr marL="342900" indent="-342900">
              <a:spcAft>
                <a:spcPts val="600"/>
              </a:spcAft>
              <a:buFont typeface="+mj-lt"/>
              <a:buAutoNum type="arabicPeriod"/>
            </a:pPr>
            <a:r>
              <a:rPr lang="en-GB" dirty="0">
                <a:latin typeface="Calibri" panose="020F0502020204030204" pitchFamily="34" charset="0"/>
                <a:ea typeface="Calibri" panose="020F0502020204030204" pitchFamily="34" charset="0"/>
                <a:cs typeface="Times New Roman" panose="02020603050405020304" pitchFamily="18" charset="0"/>
              </a:rPr>
              <a:t>The client requests a URL via a web browser (e.g., </a:t>
            </a:r>
            <a:r>
              <a:rPr lang="en-GB" dirty="0">
                <a:latin typeface="Calibri" panose="020F0502020204030204" pitchFamily="34" charset="0"/>
                <a:ea typeface="Calibri" panose="020F0502020204030204" pitchFamily="34" charset="0"/>
                <a:cs typeface="Times New Roman" panose="02020603050405020304" pitchFamily="18" charset="0"/>
                <a:hlinkClick r:id="rId2"/>
              </a:rPr>
              <a:t>www.bbc.co.uk</a:t>
            </a:r>
            <a:r>
              <a:rPr lang="en-GB" dirty="0">
                <a:latin typeface="Calibri" panose="020F0502020204030204" pitchFamily="34" charset="0"/>
                <a:ea typeface="Calibri" panose="020F0502020204030204" pitchFamily="34" charset="0"/>
                <a:cs typeface="Times New Roman" panose="02020603050405020304" pitchFamily="18" charset="0"/>
              </a:rPr>
              <a:t>).</a:t>
            </a:r>
          </a:p>
          <a:p>
            <a:pPr marL="342900" indent="-342900">
              <a:spcAft>
                <a:spcPts val="600"/>
              </a:spcAft>
              <a:buFont typeface="+mj-lt"/>
              <a:buAutoNum type="arabicPeriod"/>
            </a:pPr>
            <a:r>
              <a:rPr lang="en-GB" dirty="0">
                <a:latin typeface="Calibri" panose="020F0502020204030204" pitchFamily="34" charset="0"/>
                <a:ea typeface="Calibri" panose="020F0502020204030204" pitchFamily="34" charset="0"/>
                <a:cs typeface="Times New Roman" panose="02020603050405020304" pitchFamily="18" charset="0"/>
              </a:rPr>
              <a:t>The browser sends the domain name to a domain name server (DNS).</a:t>
            </a:r>
          </a:p>
          <a:p>
            <a:pPr marL="342900" indent="-342900">
              <a:buFont typeface="+mj-lt"/>
              <a:buAutoNum type="arabicPeriod"/>
            </a:pPr>
            <a:endParaRPr lang="en-GB" dirty="0">
              <a:latin typeface="Calibri" panose="020F0502020204030204" pitchFamily="34" charset="0"/>
              <a:ea typeface="Calibri" panose="020F0502020204030204" pitchFamily="34" charset="0"/>
              <a:cs typeface="Times New Roman" panose="02020603050405020304" pitchFamily="18" charset="0"/>
            </a:endParaRP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cxnSp>
        <p:nvCxnSpPr>
          <p:cNvPr id="3" name="Straight Arrow Connector 2">
            <a:extLst>
              <a:ext uri="{FF2B5EF4-FFF2-40B4-BE49-F238E27FC236}">
                <a16:creationId xmlns:a16="http://schemas.microsoft.com/office/drawing/2014/main" id="{19FFD37A-DB89-40F8-B0EF-4F739DA3364F}"/>
              </a:ext>
            </a:extLst>
          </p:cNvPr>
          <p:cNvCxnSpPr>
            <a:cxnSpLocks/>
          </p:cNvCxnSpPr>
          <p:nvPr/>
        </p:nvCxnSpPr>
        <p:spPr>
          <a:xfrm>
            <a:off x="2318994" y="3698837"/>
            <a:ext cx="360038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7BDC972C-A0FA-4147-B81C-3A241439CD4F}"/>
              </a:ext>
            </a:extLst>
          </p:cNvPr>
          <p:cNvSpPr/>
          <p:nvPr/>
        </p:nvSpPr>
        <p:spPr>
          <a:xfrm>
            <a:off x="3521786" y="3314257"/>
            <a:ext cx="1625317" cy="369332"/>
          </a:xfrm>
          <a:prstGeom prst="rect">
            <a:avLst/>
          </a:prstGeom>
        </p:spPr>
        <p:txBody>
          <a:bodyPr wrap="non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www.bbc.co.uk</a:t>
            </a:r>
            <a:endParaRPr lang="en-GB" dirty="0"/>
          </a:p>
        </p:txBody>
      </p:sp>
      <p:grpSp>
        <p:nvGrpSpPr>
          <p:cNvPr id="34" name="Group 33">
            <a:extLst>
              <a:ext uri="{FF2B5EF4-FFF2-40B4-BE49-F238E27FC236}">
                <a16:creationId xmlns:a16="http://schemas.microsoft.com/office/drawing/2014/main" id="{BCCF82D7-DC05-204E-86BF-542809246C63}"/>
              </a:ext>
            </a:extLst>
          </p:cNvPr>
          <p:cNvGrpSpPr/>
          <p:nvPr/>
        </p:nvGrpSpPr>
        <p:grpSpPr>
          <a:xfrm>
            <a:off x="309495" y="2531542"/>
            <a:ext cx="7326678" cy="4163236"/>
            <a:chOff x="309495" y="2531542"/>
            <a:chExt cx="7326678" cy="4163236"/>
          </a:xfrm>
        </p:grpSpPr>
        <p:sp>
          <p:nvSpPr>
            <p:cNvPr id="37" name="TextBox 36">
              <a:extLst>
                <a:ext uri="{FF2B5EF4-FFF2-40B4-BE49-F238E27FC236}">
                  <a16:creationId xmlns:a16="http://schemas.microsoft.com/office/drawing/2014/main" id="{A1BAFA70-C9CB-BAF9-4D95-EB3772F5B247}"/>
                </a:ext>
              </a:extLst>
            </p:cNvPr>
            <p:cNvSpPr txBox="1"/>
            <p:nvPr/>
          </p:nvSpPr>
          <p:spPr>
            <a:xfrm>
              <a:off x="918439" y="4879959"/>
              <a:ext cx="796248" cy="471366"/>
            </a:xfrm>
            <a:prstGeom prst="rect">
              <a:avLst/>
            </a:prstGeom>
            <a:noFill/>
          </p:spPr>
          <p:txBody>
            <a:bodyPr wrap="none" rtlCol="0">
              <a:spAutoFit/>
            </a:bodyPr>
            <a:lstStyle/>
            <a:p>
              <a:pPr algn="ctr"/>
              <a:r>
                <a:rPr lang="en-GB" b="1" dirty="0"/>
                <a:t>User</a:t>
              </a:r>
              <a:endParaRPr lang="en-GB" sz="2000" b="1" dirty="0"/>
            </a:p>
          </p:txBody>
        </p:sp>
        <p:sp>
          <p:nvSpPr>
            <p:cNvPr id="38" name="TextBox 37">
              <a:extLst>
                <a:ext uri="{FF2B5EF4-FFF2-40B4-BE49-F238E27FC236}">
                  <a16:creationId xmlns:a16="http://schemas.microsoft.com/office/drawing/2014/main" id="{EC2749F1-4CFA-A591-8E83-6668C2D71F1B}"/>
                </a:ext>
              </a:extLst>
            </p:cNvPr>
            <p:cNvSpPr txBox="1"/>
            <p:nvPr/>
          </p:nvSpPr>
          <p:spPr>
            <a:xfrm>
              <a:off x="892352" y="2647549"/>
              <a:ext cx="882441" cy="443067"/>
            </a:xfrm>
            <a:prstGeom prst="rect">
              <a:avLst/>
            </a:prstGeom>
            <a:noFill/>
          </p:spPr>
          <p:txBody>
            <a:bodyPr wrap="none" rtlCol="0">
              <a:spAutoFit/>
            </a:bodyPr>
            <a:lstStyle/>
            <a:p>
              <a:pPr algn="ctr"/>
              <a:r>
                <a:rPr lang="en-GB" b="1" dirty="0"/>
                <a:t>Client</a:t>
              </a:r>
              <a:endParaRPr lang="en-GB" sz="2000" b="1" dirty="0"/>
            </a:p>
          </p:txBody>
        </p:sp>
        <p:sp>
          <p:nvSpPr>
            <p:cNvPr id="39" name="TextBox 38">
              <a:extLst>
                <a:ext uri="{FF2B5EF4-FFF2-40B4-BE49-F238E27FC236}">
                  <a16:creationId xmlns:a16="http://schemas.microsoft.com/office/drawing/2014/main" id="{E6134DB1-27D4-D98A-534D-FD0396B3DB59}"/>
                </a:ext>
              </a:extLst>
            </p:cNvPr>
            <p:cNvSpPr txBox="1"/>
            <p:nvPr/>
          </p:nvSpPr>
          <p:spPr>
            <a:xfrm>
              <a:off x="6135835" y="2531542"/>
              <a:ext cx="1388568" cy="705457"/>
            </a:xfrm>
            <a:prstGeom prst="rect">
              <a:avLst/>
            </a:prstGeom>
            <a:noFill/>
          </p:spPr>
          <p:txBody>
            <a:bodyPr wrap="square" rtlCol="0">
              <a:spAutoFit/>
            </a:bodyPr>
            <a:lstStyle/>
            <a:p>
              <a:pPr algn="ctr"/>
              <a:r>
                <a:rPr lang="en-GB" b="1" dirty="0"/>
                <a:t>Local ISP and DNS</a:t>
              </a:r>
              <a:endParaRPr lang="en-GB" sz="2000" b="1" dirty="0"/>
            </a:p>
          </p:txBody>
        </p:sp>
        <p:sp>
          <p:nvSpPr>
            <p:cNvPr id="40" name="TextBox 39">
              <a:extLst>
                <a:ext uri="{FF2B5EF4-FFF2-40B4-BE49-F238E27FC236}">
                  <a16:creationId xmlns:a16="http://schemas.microsoft.com/office/drawing/2014/main" id="{79AAC2D6-BD8F-AFC7-5EBB-C8277394142D}"/>
                </a:ext>
              </a:extLst>
            </p:cNvPr>
            <p:cNvSpPr txBox="1"/>
            <p:nvPr/>
          </p:nvSpPr>
          <p:spPr>
            <a:xfrm>
              <a:off x="6167437" y="4686203"/>
              <a:ext cx="1272849" cy="369332"/>
            </a:xfrm>
            <a:prstGeom prst="rect">
              <a:avLst/>
            </a:prstGeom>
            <a:noFill/>
          </p:spPr>
          <p:txBody>
            <a:bodyPr wrap="none" rtlCol="0">
              <a:spAutoFit/>
            </a:bodyPr>
            <a:lstStyle/>
            <a:p>
              <a:pPr algn="ctr"/>
              <a:r>
                <a:rPr lang="en-GB" b="1" dirty="0"/>
                <a:t>Web server</a:t>
              </a:r>
              <a:endParaRPr lang="en-GB" sz="2000" b="1" dirty="0"/>
            </a:p>
          </p:txBody>
        </p:sp>
        <p:sp>
          <p:nvSpPr>
            <p:cNvPr id="41" name="Rectangle: Rounded Corners 40">
              <a:extLst>
                <a:ext uri="{FF2B5EF4-FFF2-40B4-BE49-F238E27FC236}">
                  <a16:creationId xmlns:a16="http://schemas.microsoft.com/office/drawing/2014/main" id="{E4DEE29E-640E-C960-8C20-46AD0986E2F7}"/>
                </a:ext>
              </a:extLst>
            </p:cNvPr>
            <p:cNvSpPr/>
            <p:nvPr/>
          </p:nvSpPr>
          <p:spPr>
            <a:xfrm>
              <a:off x="309495" y="2624809"/>
              <a:ext cx="2009499" cy="4069969"/>
            </a:xfrm>
            <a:prstGeom prst="roundRect">
              <a:avLst>
                <a:gd name="adj" fmla="val 7576"/>
              </a:avLst>
            </a:prstGeom>
            <a:noFill/>
            <a:ln w="28575">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2" name="Picture 41" descr="Icon&#10;&#10;Description automatically generated">
              <a:extLst>
                <a:ext uri="{FF2B5EF4-FFF2-40B4-BE49-F238E27FC236}">
                  <a16:creationId xmlns:a16="http://schemas.microsoft.com/office/drawing/2014/main" id="{9C4A8E0C-AB40-8C8C-17F6-1E2827FB4B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89" y="2938512"/>
              <a:ext cx="1875962" cy="1875962"/>
            </a:xfrm>
            <a:prstGeom prst="rect">
              <a:avLst/>
            </a:prstGeom>
          </p:spPr>
        </p:pic>
        <p:pic>
          <p:nvPicPr>
            <p:cNvPr id="43" name="Picture 42" descr="Icon&#10;&#10;Description automatically generated">
              <a:extLst>
                <a:ext uri="{FF2B5EF4-FFF2-40B4-BE49-F238E27FC236}">
                  <a16:creationId xmlns:a16="http://schemas.microsoft.com/office/drawing/2014/main" id="{7754AF03-3BAD-05D1-3106-A332979D12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4848" y="5300667"/>
              <a:ext cx="1218929" cy="1218929"/>
            </a:xfrm>
            <a:prstGeom prst="rect">
              <a:avLst/>
            </a:prstGeom>
          </p:spPr>
        </p:pic>
        <p:pic>
          <p:nvPicPr>
            <p:cNvPr id="44" name="Picture 43">
              <a:extLst>
                <a:ext uri="{FF2B5EF4-FFF2-40B4-BE49-F238E27FC236}">
                  <a16:creationId xmlns:a16="http://schemas.microsoft.com/office/drawing/2014/main" id="{282089B4-8C26-589A-3CB1-D665E8BD6100}"/>
                </a:ext>
              </a:extLst>
            </p:cNvPr>
            <p:cNvPicPr>
              <a:picLocks noChangeAspect="1"/>
            </p:cNvPicPr>
            <p:nvPr/>
          </p:nvPicPr>
          <p:blipFill>
            <a:blip r:embed="rId5"/>
            <a:stretch>
              <a:fillRect/>
            </a:stretch>
          </p:blipFill>
          <p:spPr>
            <a:xfrm>
              <a:off x="5919374" y="3170451"/>
              <a:ext cx="1716799" cy="1547749"/>
            </a:xfrm>
            <a:prstGeom prst="rect">
              <a:avLst/>
            </a:prstGeom>
          </p:spPr>
        </p:pic>
        <p:pic>
          <p:nvPicPr>
            <p:cNvPr id="45" name="Picture 44">
              <a:extLst>
                <a:ext uri="{FF2B5EF4-FFF2-40B4-BE49-F238E27FC236}">
                  <a16:creationId xmlns:a16="http://schemas.microsoft.com/office/drawing/2014/main" id="{C6B0231B-5921-9621-49E1-1FA11907D227}"/>
                </a:ext>
              </a:extLst>
            </p:cNvPr>
            <p:cNvPicPr>
              <a:picLocks noChangeAspect="1"/>
            </p:cNvPicPr>
            <p:nvPr/>
          </p:nvPicPr>
          <p:blipFill>
            <a:blip r:embed="rId5"/>
            <a:stretch>
              <a:fillRect/>
            </a:stretch>
          </p:blipFill>
          <p:spPr>
            <a:xfrm>
              <a:off x="5919374" y="5092555"/>
              <a:ext cx="1716799" cy="1547749"/>
            </a:xfrm>
            <a:prstGeom prst="rect">
              <a:avLst/>
            </a:prstGeom>
          </p:spPr>
        </p:pic>
      </p:grpSp>
    </p:spTree>
    <p:extLst>
      <p:ext uri="{BB962C8B-B14F-4D97-AF65-F5344CB8AC3E}">
        <p14:creationId xmlns:p14="http://schemas.microsoft.com/office/powerpoint/2010/main" val="2299509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61F051C-E9FE-4BD9-9E4B-5E607488C2FC}"/>
              </a:ext>
            </a:extLst>
          </p:cNvPr>
          <p:cNvSpPr/>
          <p:nvPr/>
        </p:nvSpPr>
        <p:spPr>
          <a:xfrm>
            <a:off x="176566" y="523174"/>
            <a:ext cx="3882320"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rPr>
              <a:t>Web servers and clients</a:t>
            </a:r>
          </a:p>
        </p:txBody>
      </p:sp>
      <p:sp>
        <p:nvSpPr>
          <p:cNvPr id="5" name="Rectangle 4">
            <a:extLst>
              <a:ext uri="{FF2B5EF4-FFF2-40B4-BE49-F238E27FC236}">
                <a16:creationId xmlns:a16="http://schemas.microsoft.com/office/drawing/2014/main" id="{7984E1A5-47BE-4BE1-8230-A9219736C0A6}"/>
              </a:ext>
            </a:extLst>
          </p:cNvPr>
          <p:cNvSpPr/>
          <p:nvPr/>
        </p:nvSpPr>
        <p:spPr>
          <a:xfrm>
            <a:off x="176566" y="987297"/>
            <a:ext cx="7661989" cy="1831271"/>
          </a:xfrm>
          <a:prstGeom prst="rect">
            <a:avLst/>
          </a:prstGeom>
        </p:spPr>
        <p:txBody>
          <a:bodyPr wrap="square">
            <a:spAutoFit/>
          </a:bodyPr>
          <a:lstStyle/>
          <a:p>
            <a:pPr marL="285750"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Web servers carry out many functions – the most common are:</a:t>
            </a:r>
          </a:p>
          <a:p>
            <a:pPr marL="742950" lvl="1" indent="-285750">
              <a:buFont typeface="Courier New" panose="02070309020205020404" pitchFamily="49" charset="0"/>
              <a:buChar char="o"/>
            </a:pPr>
            <a:r>
              <a:rPr lang="en-GB" dirty="0">
                <a:latin typeface="Calibri" panose="020F0502020204030204" pitchFamily="34" charset="0"/>
                <a:ea typeface="Calibri" panose="020F0502020204030204" pitchFamily="34" charset="0"/>
                <a:cs typeface="Times New Roman" panose="02020603050405020304" pitchFamily="18" charset="0"/>
              </a:rPr>
              <a:t>Hosting websites.</a:t>
            </a:r>
          </a:p>
          <a:p>
            <a:pPr marL="742950" lvl="1" indent="-285750">
              <a:spcAft>
                <a:spcPts val="600"/>
              </a:spcAft>
              <a:buFont typeface="Courier New" panose="02070309020205020404" pitchFamily="49" charset="0"/>
              <a:buChar char="o"/>
            </a:pPr>
            <a:r>
              <a:rPr lang="en-GB" dirty="0">
                <a:latin typeface="Calibri" panose="020F0502020204030204" pitchFamily="34" charset="0"/>
                <a:ea typeface="Calibri" panose="020F0502020204030204" pitchFamily="34" charset="0"/>
                <a:cs typeface="Times New Roman" panose="02020603050405020304" pitchFamily="18" charset="0"/>
              </a:rPr>
              <a:t>Dealing with client requests.</a:t>
            </a:r>
          </a:p>
          <a:p>
            <a:pPr marL="285750"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A web page – stored as text (HTML, CSS, JavaScript) – is sent to a browser, which then uses various rules to render it correctly.</a:t>
            </a: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
        <p:nvSpPr>
          <p:cNvPr id="35" name="Rectangle 34">
            <a:extLst>
              <a:ext uri="{FF2B5EF4-FFF2-40B4-BE49-F238E27FC236}">
                <a16:creationId xmlns:a16="http://schemas.microsoft.com/office/drawing/2014/main" id="{FCC0CE92-7DA5-4842-95D5-3102601AD08A}"/>
              </a:ext>
            </a:extLst>
          </p:cNvPr>
          <p:cNvSpPr/>
          <p:nvPr/>
        </p:nvSpPr>
        <p:spPr>
          <a:xfrm>
            <a:off x="7949939" y="416346"/>
            <a:ext cx="4242062" cy="6441654"/>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 name="Rectangle 35">
            <a:extLst>
              <a:ext uri="{FF2B5EF4-FFF2-40B4-BE49-F238E27FC236}">
                <a16:creationId xmlns:a16="http://schemas.microsoft.com/office/drawing/2014/main" id="{D5BF1568-F5C0-4EFB-8FC5-8D96FC900D4E}"/>
              </a:ext>
            </a:extLst>
          </p:cNvPr>
          <p:cNvSpPr/>
          <p:nvPr/>
        </p:nvSpPr>
        <p:spPr>
          <a:xfrm>
            <a:off x="7949938" y="435008"/>
            <a:ext cx="4273485" cy="2262158"/>
          </a:xfrm>
          <a:prstGeom prst="rect">
            <a:avLst/>
          </a:prstGeom>
        </p:spPr>
        <p:txBody>
          <a:bodyPr wrap="square">
            <a:spAutoFit/>
          </a:bodyPr>
          <a:lstStyle/>
          <a:p>
            <a:pPr marL="342900" indent="-342900">
              <a:spcAft>
                <a:spcPts val="600"/>
              </a:spcAft>
              <a:buFont typeface="+mj-lt"/>
              <a:buAutoNum type="arabicPeriod"/>
            </a:pPr>
            <a:r>
              <a:rPr lang="en-GB" dirty="0">
                <a:latin typeface="Calibri" panose="020F0502020204030204" pitchFamily="34" charset="0"/>
                <a:ea typeface="Calibri" panose="020F0502020204030204" pitchFamily="34" charset="0"/>
                <a:cs typeface="Times New Roman" panose="02020603050405020304" pitchFamily="18" charset="0"/>
              </a:rPr>
              <a:t>The client requests a URL via a web browser (e.g., </a:t>
            </a:r>
            <a:r>
              <a:rPr lang="en-GB" dirty="0">
                <a:latin typeface="Calibri" panose="020F0502020204030204" pitchFamily="34" charset="0"/>
                <a:ea typeface="Calibri" panose="020F0502020204030204" pitchFamily="34" charset="0"/>
                <a:cs typeface="Times New Roman" panose="02020603050405020304" pitchFamily="18" charset="0"/>
                <a:hlinkClick r:id="rId2"/>
              </a:rPr>
              <a:t>www.bbc.co.uk</a:t>
            </a:r>
            <a:r>
              <a:rPr lang="en-GB" dirty="0">
                <a:latin typeface="Calibri" panose="020F0502020204030204" pitchFamily="34" charset="0"/>
                <a:ea typeface="Calibri" panose="020F0502020204030204" pitchFamily="34" charset="0"/>
                <a:cs typeface="Times New Roman" panose="02020603050405020304" pitchFamily="18" charset="0"/>
              </a:rPr>
              <a:t>).</a:t>
            </a:r>
          </a:p>
          <a:p>
            <a:pPr marL="342900" indent="-342900">
              <a:spcAft>
                <a:spcPts val="600"/>
              </a:spcAft>
              <a:buFont typeface="+mj-lt"/>
              <a:buAutoNum type="arabicPeriod"/>
            </a:pPr>
            <a:r>
              <a:rPr lang="en-GB" dirty="0">
                <a:latin typeface="Calibri" panose="020F0502020204030204" pitchFamily="34" charset="0"/>
                <a:ea typeface="Calibri" panose="020F0502020204030204" pitchFamily="34" charset="0"/>
                <a:cs typeface="Times New Roman" panose="02020603050405020304" pitchFamily="18" charset="0"/>
              </a:rPr>
              <a:t>The browser sends the domain name to a domain name server (DNS).</a:t>
            </a:r>
          </a:p>
          <a:p>
            <a:pPr marL="342900" indent="-342900">
              <a:spcAft>
                <a:spcPts val="600"/>
              </a:spcAft>
              <a:buFont typeface="+mj-lt"/>
              <a:buAutoNum type="arabicPeriod"/>
            </a:pPr>
            <a:r>
              <a:rPr lang="en-GB" dirty="0">
                <a:latin typeface="Calibri" panose="020F0502020204030204" pitchFamily="34" charset="0"/>
                <a:ea typeface="Calibri" panose="020F0502020204030204" pitchFamily="34" charset="0"/>
                <a:cs typeface="Times New Roman" panose="02020603050405020304" pitchFamily="18" charset="0"/>
              </a:rPr>
              <a:t>The DNS maps the domain name to an IP address and returns it to the browser.</a:t>
            </a: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7BDC972C-A0FA-4147-B81C-3A241439CD4F}"/>
              </a:ext>
            </a:extLst>
          </p:cNvPr>
          <p:cNvSpPr/>
          <p:nvPr/>
        </p:nvSpPr>
        <p:spPr>
          <a:xfrm>
            <a:off x="3521786" y="3314257"/>
            <a:ext cx="1625317" cy="369332"/>
          </a:xfrm>
          <a:prstGeom prst="rect">
            <a:avLst/>
          </a:prstGeom>
        </p:spPr>
        <p:txBody>
          <a:bodyPr wrap="non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www.bbc.co.uk</a:t>
            </a:r>
            <a:endParaRPr lang="en-GB" dirty="0"/>
          </a:p>
        </p:txBody>
      </p:sp>
      <p:cxnSp>
        <p:nvCxnSpPr>
          <p:cNvPr id="34" name="Straight Arrow Connector 33">
            <a:extLst>
              <a:ext uri="{FF2B5EF4-FFF2-40B4-BE49-F238E27FC236}">
                <a16:creationId xmlns:a16="http://schemas.microsoft.com/office/drawing/2014/main" id="{81675415-70A1-4512-B996-7709F890D2C7}"/>
              </a:ext>
            </a:extLst>
          </p:cNvPr>
          <p:cNvCxnSpPr>
            <a:cxnSpLocks/>
          </p:cNvCxnSpPr>
          <p:nvPr/>
        </p:nvCxnSpPr>
        <p:spPr>
          <a:xfrm>
            <a:off x="2318994" y="4435699"/>
            <a:ext cx="3860918" cy="0"/>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C533BE64-9C38-4EC6-B8E7-4E4CF34CCB84}"/>
              </a:ext>
            </a:extLst>
          </p:cNvPr>
          <p:cNvSpPr/>
          <p:nvPr/>
        </p:nvSpPr>
        <p:spPr>
          <a:xfrm>
            <a:off x="3560642" y="4066367"/>
            <a:ext cx="1527982" cy="369332"/>
          </a:xfrm>
          <a:prstGeom prst="rect">
            <a:avLst/>
          </a:prstGeom>
        </p:spPr>
        <p:txBody>
          <a:bodyPr wrap="non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212.58.244.67</a:t>
            </a:r>
            <a:endParaRPr lang="en-GB" dirty="0"/>
          </a:p>
        </p:txBody>
      </p:sp>
      <p:grpSp>
        <p:nvGrpSpPr>
          <p:cNvPr id="38" name="Group 37">
            <a:extLst>
              <a:ext uri="{FF2B5EF4-FFF2-40B4-BE49-F238E27FC236}">
                <a16:creationId xmlns:a16="http://schemas.microsoft.com/office/drawing/2014/main" id="{C1C5653E-454D-14FD-FE88-74B8E596702D}"/>
              </a:ext>
            </a:extLst>
          </p:cNvPr>
          <p:cNvGrpSpPr/>
          <p:nvPr/>
        </p:nvGrpSpPr>
        <p:grpSpPr>
          <a:xfrm>
            <a:off x="309495" y="2531542"/>
            <a:ext cx="7326678" cy="4163236"/>
            <a:chOff x="309495" y="2531542"/>
            <a:chExt cx="7326678" cy="4163236"/>
          </a:xfrm>
        </p:grpSpPr>
        <p:sp>
          <p:nvSpPr>
            <p:cNvPr id="39" name="TextBox 38">
              <a:extLst>
                <a:ext uri="{FF2B5EF4-FFF2-40B4-BE49-F238E27FC236}">
                  <a16:creationId xmlns:a16="http://schemas.microsoft.com/office/drawing/2014/main" id="{9B04CAD7-08DF-EF3E-5D81-FDE5D7DB12BA}"/>
                </a:ext>
              </a:extLst>
            </p:cNvPr>
            <p:cNvSpPr txBox="1"/>
            <p:nvPr/>
          </p:nvSpPr>
          <p:spPr>
            <a:xfrm>
              <a:off x="918439" y="4879959"/>
              <a:ext cx="796248" cy="471366"/>
            </a:xfrm>
            <a:prstGeom prst="rect">
              <a:avLst/>
            </a:prstGeom>
            <a:noFill/>
          </p:spPr>
          <p:txBody>
            <a:bodyPr wrap="none" rtlCol="0">
              <a:spAutoFit/>
            </a:bodyPr>
            <a:lstStyle/>
            <a:p>
              <a:pPr algn="ctr"/>
              <a:r>
                <a:rPr lang="en-GB" b="1" dirty="0"/>
                <a:t>User</a:t>
              </a:r>
              <a:endParaRPr lang="en-GB" sz="2000" b="1" dirty="0"/>
            </a:p>
          </p:txBody>
        </p:sp>
        <p:sp>
          <p:nvSpPr>
            <p:cNvPr id="40" name="TextBox 39">
              <a:extLst>
                <a:ext uri="{FF2B5EF4-FFF2-40B4-BE49-F238E27FC236}">
                  <a16:creationId xmlns:a16="http://schemas.microsoft.com/office/drawing/2014/main" id="{9BA2A535-06DA-9B4A-22A3-F002DCD41B22}"/>
                </a:ext>
              </a:extLst>
            </p:cNvPr>
            <p:cNvSpPr txBox="1"/>
            <p:nvPr/>
          </p:nvSpPr>
          <p:spPr>
            <a:xfrm>
              <a:off x="892352" y="2647549"/>
              <a:ext cx="882441" cy="443067"/>
            </a:xfrm>
            <a:prstGeom prst="rect">
              <a:avLst/>
            </a:prstGeom>
            <a:noFill/>
          </p:spPr>
          <p:txBody>
            <a:bodyPr wrap="none" rtlCol="0">
              <a:spAutoFit/>
            </a:bodyPr>
            <a:lstStyle/>
            <a:p>
              <a:pPr algn="ctr"/>
              <a:r>
                <a:rPr lang="en-GB" b="1" dirty="0"/>
                <a:t>Client</a:t>
              </a:r>
              <a:endParaRPr lang="en-GB" sz="2000" b="1" dirty="0"/>
            </a:p>
          </p:txBody>
        </p:sp>
        <p:sp>
          <p:nvSpPr>
            <p:cNvPr id="41" name="TextBox 40">
              <a:extLst>
                <a:ext uri="{FF2B5EF4-FFF2-40B4-BE49-F238E27FC236}">
                  <a16:creationId xmlns:a16="http://schemas.microsoft.com/office/drawing/2014/main" id="{06976481-C3F5-0599-9FAC-F6737D2F5558}"/>
                </a:ext>
              </a:extLst>
            </p:cNvPr>
            <p:cNvSpPr txBox="1"/>
            <p:nvPr/>
          </p:nvSpPr>
          <p:spPr>
            <a:xfrm>
              <a:off x="6135835" y="2531542"/>
              <a:ext cx="1388568" cy="705457"/>
            </a:xfrm>
            <a:prstGeom prst="rect">
              <a:avLst/>
            </a:prstGeom>
            <a:noFill/>
          </p:spPr>
          <p:txBody>
            <a:bodyPr wrap="square" rtlCol="0">
              <a:spAutoFit/>
            </a:bodyPr>
            <a:lstStyle/>
            <a:p>
              <a:pPr algn="ctr"/>
              <a:r>
                <a:rPr lang="en-GB" b="1" dirty="0"/>
                <a:t>Local ISP and DNS</a:t>
              </a:r>
              <a:endParaRPr lang="en-GB" sz="2000" b="1" dirty="0"/>
            </a:p>
          </p:txBody>
        </p:sp>
        <p:sp>
          <p:nvSpPr>
            <p:cNvPr id="42" name="TextBox 41">
              <a:extLst>
                <a:ext uri="{FF2B5EF4-FFF2-40B4-BE49-F238E27FC236}">
                  <a16:creationId xmlns:a16="http://schemas.microsoft.com/office/drawing/2014/main" id="{1627BF9A-D7B7-6469-8EED-88129C7A005D}"/>
                </a:ext>
              </a:extLst>
            </p:cNvPr>
            <p:cNvSpPr txBox="1"/>
            <p:nvPr/>
          </p:nvSpPr>
          <p:spPr>
            <a:xfrm>
              <a:off x="6167437" y="4686203"/>
              <a:ext cx="1272849" cy="369332"/>
            </a:xfrm>
            <a:prstGeom prst="rect">
              <a:avLst/>
            </a:prstGeom>
            <a:noFill/>
          </p:spPr>
          <p:txBody>
            <a:bodyPr wrap="none" rtlCol="0">
              <a:spAutoFit/>
            </a:bodyPr>
            <a:lstStyle/>
            <a:p>
              <a:pPr algn="ctr"/>
              <a:r>
                <a:rPr lang="en-GB" b="1" dirty="0"/>
                <a:t>Web server</a:t>
              </a:r>
              <a:endParaRPr lang="en-GB" sz="2000" b="1" dirty="0"/>
            </a:p>
          </p:txBody>
        </p:sp>
        <p:sp>
          <p:nvSpPr>
            <p:cNvPr id="43" name="Rectangle: Rounded Corners 42">
              <a:extLst>
                <a:ext uri="{FF2B5EF4-FFF2-40B4-BE49-F238E27FC236}">
                  <a16:creationId xmlns:a16="http://schemas.microsoft.com/office/drawing/2014/main" id="{94532A0B-F8EA-07B6-63D5-48C0C5F37388}"/>
                </a:ext>
              </a:extLst>
            </p:cNvPr>
            <p:cNvSpPr/>
            <p:nvPr/>
          </p:nvSpPr>
          <p:spPr>
            <a:xfrm>
              <a:off x="309495" y="2624809"/>
              <a:ext cx="2009499" cy="4069969"/>
            </a:xfrm>
            <a:prstGeom prst="roundRect">
              <a:avLst>
                <a:gd name="adj" fmla="val 7576"/>
              </a:avLst>
            </a:prstGeom>
            <a:noFill/>
            <a:ln w="28575">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4" name="Picture 43" descr="Icon&#10;&#10;Description automatically generated">
              <a:extLst>
                <a:ext uri="{FF2B5EF4-FFF2-40B4-BE49-F238E27FC236}">
                  <a16:creationId xmlns:a16="http://schemas.microsoft.com/office/drawing/2014/main" id="{7D3C8AC1-35E6-3E10-A0DB-D3A989BC4F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89" y="2938512"/>
              <a:ext cx="1875962" cy="1875962"/>
            </a:xfrm>
            <a:prstGeom prst="rect">
              <a:avLst/>
            </a:prstGeom>
          </p:spPr>
        </p:pic>
        <p:pic>
          <p:nvPicPr>
            <p:cNvPr id="45" name="Picture 44" descr="Icon&#10;&#10;Description automatically generated">
              <a:extLst>
                <a:ext uri="{FF2B5EF4-FFF2-40B4-BE49-F238E27FC236}">
                  <a16:creationId xmlns:a16="http://schemas.microsoft.com/office/drawing/2014/main" id="{9688CFAA-5934-229B-3EA2-DCBB5E9504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4848" y="5300667"/>
              <a:ext cx="1218929" cy="1218929"/>
            </a:xfrm>
            <a:prstGeom prst="rect">
              <a:avLst/>
            </a:prstGeom>
          </p:spPr>
        </p:pic>
        <p:pic>
          <p:nvPicPr>
            <p:cNvPr id="46" name="Picture 45">
              <a:extLst>
                <a:ext uri="{FF2B5EF4-FFF2-40B4-BE49-F238E27FC236}">
                  <a16:creationId xmlns:a16="http://schemas.microsoft.com/office/drawing/2014/main" id="{141AF9E4-5374-B0E9-BBD7-B3E0477EDFFB}"/>
                </a:ext>
              </a:extLst>
            </p:cNvPr>
            <p:cNvPicPr>
              <a:picLocks noChangeAspect="1"/>
            </p:cNvPicPr>
            <p:nvPr/>
          </p:nvPicPr>
          <p:blipFill>
            <a:blip r:embed="rId5"/>
            <a:stretch>
              <a:fillRect/>
            </a:stretch>
          </p:blipFill>
          <p:spPr>
            <a:xfrm>
              <a:off x="5919374" y="3170451"/>
              <a:ext cx="1716799" cy="1547749"/>
            </a:xfrm>
            <a:prstGeom prst="rect">
              <a:avLst/>
            </a:prstGeom>
          </p:spPr>
        </p:pic>
        <p:pic>
          <p:nvPicPr>
            <p:cNvPr id="47" name="Picture 46">
              <a:extLst>
                <a:ext uri="{FF2B5EF4-FFF2-40B4-BE49-F238E27FC236}">
                  <a16:creationId xmlns:a16="http://schemas.microsoft.com/office/drawing/2014/main" id="{8112EEC0-69F3-ADE9-65B9-CE2B92BC9D67}"/>
                </a:ext>
              </a:extLst>
            </p:cNvPr>
            <p:cNvPicPr>
              <a:picLocks noChangeAspect="1"/>
            </p:cNvPicPr>
            <p:nvPr/>
          </p:nvPicPr>
          <p:blipFill>
            <a:blip r:embed="rId5"/>
            <a:stretch>
              <a:fillRect/>
            </a:stretch>
          </p:blipFill>
          <p:spPr>
            <a:xfrm>
              <a:off x="5919374" y="5092555"/>
              <a:ext cx="1716799" cy="1547749"/>
            </a:xfrm>
            <a:prstGeom prst="rect">
              <a:avLst/>
            </a:prstGeom>
          </p:spPr>
        </p:pic>
      </p:grpSp>
      <p:cxnSp>
        <p:nvCxnSpPr>
          <p:cNvPr id="48" name="Straight Arrow Connector 47">
            <a:extLst>
              <a:ext uri="{FF2B5EF4-FFF2-40B4-BE49-F238E27FC236}">
                <a16:creationId xmlns:a16="http://schemas.microsoft.com/office/drawing/2014/main" id="{E983C0E2-15AF-1E80-641D-7870A890DDB4}"/>
              </a:ext>
            </a:extLst>
          </p:cNvPr>
          <p:cNvCxnSpPr>
            <a:cxnSpLocks/>
          </p:cNvCxnSpPr>
          <p:nvPr/>
        </p:nvCxnSpPr>
        <p:spPr>
          <a:xfrm>
            <a:off x="2318994" y="3698837"/>
            <a:ext cx="360038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5285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61F051C-E9FE-4BD9-9E4B-5E607488C2FC}"/>
              </a:ext>
            </a:extLst>
          </p:cNvPr>
          <p:cNvSpPr/>
          <p:nvPr/>
        </p:nvSpPr>
        <p:spPr>
          <a:xfrm>
            <a:off x="176566" y="523174"/>
            <a:ext cx="3882320"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rPr>
              <a:t>Web servers and clients</a:t>
            </a:r>
          </a:p>
        </p:txBody>
      </p:sp>
      <p:sp>
        <p:nvSpPr>
          <p:cNvPr id="5" name="Rectangle 4">
            <a:extLst>
              <a:ext uri="{FF2B5EF4-FFF2-40B4-BE49-F238E27FC236}">
                <a16:creationId xmlns:a16="http://schemas.microsoft.com/office/drawing/2014/main" id="{7984E1A5-47BE-4BE1-8230-A9219736C0A6}"/>
              </a:ext>
            </a:extLst>
          </p:cNvPr>
          <p:cNvSpPr/>
          <p:nvPr/>
        </p:nvSpPr>
        <p:spPr>
          <a:xfrm>
            <a:off x="176566" y="987297"/>
            <a:ext cx="7661989" cy="1831271"/>
          </a:xfrm>
          <a:prstGeom prst="rect">
            <a:avLst/>
          </a:prstGeom>
        </p:spPr>
        <p:txBody>
          <a:bodyPr wrap="square">
            <a:spAutoFit/>
          </a:bodyPr>
          <a:lstStyle/>
          <a:p>
            <a:pPr marL="285750"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Web servers carry out many functions – the most common are:</a:t>
            </a:r>
          </a:p>
          <a:p>
            <a:pPr marL="742950" lvl="1" indent="-285750">
              <a:buFont typeface="Courier New" panose="02070309020205020404" pitchFamily="49" charset="0"/>
              <a:buChar char="o"/>
            </a:pPr>
            <a:r>
              <a:rPr lang="en-GB" dirty="0">
                <a:latin typeface="Calibri" panose="020F0502020204030204" pitchFamily="34" charset="0"/>
                <a:ea typeface="Calibri" panose="020F0502020204030204" pitchFamily="34" charset="0"/>
                <a:cs typeface="Times New Roman" panose="02020603050405020304" pitchFamily="18" charset="0"/>
              </a:rPr>
              <a:t>Hosting websites.</a:t>
            </a:r>
          </a:p>
          <a:p>
            <a:pPr marL="742950" lvl="1" indent="-285750">
              <a:spcAft>
                <a:spcPts val="600"/>
              </a:spcAft>
              <a:buFont typeface="Courier New" panose="02070309020205020404" pitchFamily="49" charset="0"/>
              <a:buChar char="o"/>
            </a:pPr>
            <a:r>
              <a:rPr lang="en-GB" dirty="0">
                <a:latin typeface="Calibri" panose="020F0502020204030204" pitchFamily="34" charset="0"/>
                <a:ea typeface="Calibri" panose="020F0502020204030204" pitchFamily="34" charset="0"/>
                <a:cs typeface="Times New Roman" panose="02020603050405020304" pitchFamily="18" charset="0"/>
              </a:rPr>
              <a:t>Dealing with client requests.</a:t>
            </a:r>
          </a:p>
          <a:p>
            <a:pPr marL="285750"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A web page – stored as text (HTML, CSS, JavaScript) – is sent to a browser, which then uses various rules to render it correctly.</a:t>
            </a: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
        <p:nvSpPr>
          <p:cNvPr id="35" name="Rectangle 34">
            <a:extLst>
              <a:ext uri="{FF2B5EF4-FFF2-40B4-BE49-F238E27FC236}">
                <a16:creationId xmlns:a16="http://schemas.microsoft.com/office/drawing/2014/main" id="{FCC0CE92-7DA5-4842-95D5-3102601AD08A}"/>
              </a:ext>
            </a:extLst>
          </p:cNvPr>
          <p:cNvSpPr/>
          <p:nvPr/>
        </p:nvSpPr>
        <p:spPr>
          <a:xfrm>
            <a:off x="7949939" y="416346"/>
            <a:ext cx="4242062" cy="6441654"/>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 name="Rectangle 35">
            <a:extLst>
              <a:ext uri="{FF2B5EF4-FFF2-40B4-BE49-F238E27FC236}">
                <a16:creationId xmlns:a16="http://schemas.microsoft.com/office/drawing/2014/main" id="{D5BF1568-F5C0-4EFB-8FC5-8D96FC900D4E}"/>
              </a:ext>
            </a:extLst>
          </p:cNvPr>
          <p:cNvSpPr/>
          <p:nvPr/>
        </p:nvSpPr>
        <p:spPr>
          <a:xfrm>
            <a:off x="7949938" y="435008"/>
            <a:ext cx="4273485" cy="3447098"/>
          </a:xfrm>
          <a:prstGeom prst="rect">
            <a:avLst/>
          </a:prstGeom>
        </p:spPr>
        <p:txBody>
          <a:bodyPr wrap="square">
            <a:spAutoFit/>
          </a:bodyPr>
          <a:lstStyle/>
          <a:p>
            <a:pPr marL="342900" indent="-342900">
              <a:spcAft>
                <a:spcPts val="600"/>
              </a:spcAft>
              <a:buFont typeface="+mj-lt"/>
              <a:buAutoNum type="arabicPeriod"/>
            </a:pPr>
            <a:r>
              <a:rPr lang="en-GB" dirty="0">
                <a:latin typeface="Calibri" panose="020F0502020204030204" pitchFamily="34" charset="0"/>
                <a:ea typeface="Calibri" panose="020F0502020204030204" pitchFamily="34" charset="0"/>
                <a:cs typeface="Times New Roman" panose="02020603050405020304" pitchFamily="18" charset="0"/>
              </a:rPr>
              <a:t>The client requests a URL via a web browser (e.g., </a:t>
            </a:r>
            <a:r>
              <a:rPr lang="en-GB" dirty="0">
                <a:latin typeface="Calibri" panose="020F0502020204030204" pitchFamily="34" charset="0"/>
                <a:ea typeface="Calibri" panose="020F0502020204030204" pitchFamily="34" charset="0"/>
                <a:cs typeface="Times New Roman" panose="02020603050405020304" pitchFamily="18" charset="0"/>
                <a:hlinkClick r:id="rId2"/>
              </a:rPr>
              <a:t>www.bbc.co.uk</a:t>
            </a:r>
            <a:r>
              <a:rPr lang="en-GB" dirty="0">
                <a:latin typeface="Calibri" panose="020F0502020204030204" pitchFamily="34" charset="0"/>
                <a:ea typeface="Calibri" panose="020F0502020204030204" pitchFamily="34" charset="0"/>
                <a:cs typeface="Times New Roman" panose="02020603050405020304" pitchFamily="18" charset="0"/>
              </a:rPr>
              <a:t>).</a:t>
            </a:r>
          </a:p>
          <a:p>
            <a:pPr marL="342900" indent="-342900">
              <a:spcAft>
                <a:spcPts val="600"/>
              </a:spcAft>
              <a:buFont typeface="+mj-lt"/>
              <a:buAutoNum type="arabicPeriod"/>
            </a:pPr>
            <a:r>
              <a:rPr lang="en-GB" dirty="0">
                <a:latin typeface="Calibri" panose="020F0502020204030204" pitchFamily="34" charset="0"/>
                <a:ea typeface="Calibri" panose="020F0502020204030204" pitchFamily="34" charset="0"/>
                <a:cs typeface="Times New Roman" panose="02020603050405020304" pitchFamily="18" charset="0"/>
              </a:rPr>
              <a:t>The browser sends the domain name to a domain name server (DNS).</a:t>
            </a:r>
          </a:p>
          <a:p>
            <a:pPr marL="342900" indent="-342900">
              <a:spcAft>
                <a:spcPts val="600"/>
              </a:spcAft>
              <a:buFont typeface="+mj-lt"/>
              <a:buAutoNum type="arabicPeriod"/>
            </a:pPr>
            <a:r>
              <a:rPr lang="en-GB" dirty="0">
                <a:latin typeface="Calibri" panose="020F0502020204030204" pitchFamily="34" charset="0"/>
                <a:ea typeface="Calibri" panose="020F0502020204030204" pitchFamily="34" charset="0"/>
                <a:cs typeface="Times New Roman" panose="02020603050405020304" pitchFamily="18" charset="0"/>
              </a:rPr>
              <a:t>The DNS maps the domain name to an IP address and returns it to the browser.</a:t>
            </a:r>
          </a:p>
          <a:p>
            <a:pPr marL="342900" indent="-342900">
              <a:spcAft>
                <a:spcPts val="600"/>
              </a:spcAft>
              <a:buFont typeface="+mj-lt"/>
              <a:buAutoNum type="arabicPeriod"/>
            </a:pPr>
            <a:r>
              <a:rPr lang="en-GB" dirty="0">
                <a:latin typeface="Calibri" panose="020F0502020204030204" pitchFamily="34" charset="0"/>
                <a:ea typeface="Calibri" panose="020F0502020204030204" pitchFamily="34" charset="0"/>
                <a:cs typeface="Times New Roman" panose="02020603050405020304" pitchFamily="18" charset="0"/>
              </a:rPr>
              <a:t>A GET request for the web page is sent to the web server using its IP address.</a:t>
            </a:r>
          </a:p>
          <a:p>
            <a:pPr marL="342900" indent="-342900">
              <a:buFont typeface="+mj-lt"/>
              <a:buAutoNum type="arabicPeriod"/>
            </a:pPr>
            <a:endParaRPr lang="en-GB" dirty="0">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mj-lt"/>
              <a:buAutoNum type="arabicPeriod"/>
            </a:pPr>
            <a:endParaRPr lang="en-GB" dirty="0">
              <a:latin typeface="Calibri" panose="020F0502020204030204" pitchFamily="34" charset="0"/>
              <a:ea typeface="Calibri" panose="020F0502020204030204" pitchFamily="34" charset="0"/>
              <a:cs typeface="Times New Roman" panose="02020603050405020304" pitchFamily="18" charset="0"/>
            </a:endParaRP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7BDC972C-A0FA-4147-B81C-3A241439CD4F}"/>
              </a:ext>
            </a:extLst>
          </p:cNvPr>
          <p:cNvSpPr/>
          <p:nvPr/>
        </p:nvSpPr>
        <p:spPr>
          <a:xfrm>
            <a:off x="3521786" y="3314257"/>
            <a:ext cx="1625317" cy="369332"/>
          </a:xfrm>
          <a:prstGeom prst="rect">
            <a:avLst/>
          </a:prstGeom>
        </p:spPr>
        <p:txBody>
          <a:bodyPr wrap="non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www.bbc.co.uk</a:t>
            </a:r>
            <a:endParaRPr lang="en-GB" dirty="0"/>
          </a:p>
        </p:txBody>
      </p:sp>
      <p:cxnSp>
        <p:nvCxnSpPr>
          <p:cNvPr id="34" name="Straight Arrow Connector 33">
            <a:extLst>
              <a:ext uri="{FF2B5EF4-FFF2-40B4-BE49-F238E27FC236}">
                <a16:creationId xmlns:a16="http://schemas.microsoft.com/office/drawing/2014/main" id="{81675415-70A1-4512-B996-7709F890D2C7}"/>
              </a:ext>
            </a:extLst>
          </p:cNvPr>
          <p:cNvCxnSpPr>
            <a:cxnSpLocks/>
          </p:cNvCxnSpPr>
          <p:nvPr/>
        </p:nvCxnSpPr>
        <p:spPr>
          <a:xfrm>
            <a:off x="2318994" y="4435699"/>
            <a:ext cx="3860918" cy="0"/>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C533BE64-9C38-4EC6-B8E7-4E4CF34CCB84}"/>
              </a:ext>
            </a:extLst>
          </p:cNvPr>
          <p:cNvSpPr/>
          <p:nvPr/>
        </p:nvSpPr>
        <p:spPr>
          <a:xfrm>
            <a:off x="3560642" y="4066367"/>
            <a:ext cx="1527982" cy="369332"/>
          </a:xfrm>
          <a:prstGeom prst="rect">
            <a:avLst/>
          </a:prstGeom>
        </p:spPr>
        <p:txBody>
          <a:bodyPr wrap="non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212.58.244.67</a:t>
            </a:r>
            <a:endParaRPr lang="en-GB" dirty="0"/>
          </a:p>
        </p:txBody>
      </p:sp>
      <p:cxnSp>
        <p:nvCxnSpPr>
          <p:cNvPr id="38" name="Straight Arrow Connector 37">
            <a:extLst>
              <a:ext uri="{FF2B5EF4-FFF2-40B4-BE49-F238E27FC236}">
                <a16:creationId xmlns:a16="http://schemas.microsoft.com/office/drawing/2014/main" id="{F1CB9121-997B-469A-88C1-AC9B7FC46968}"/>
              </a:ext>
            </a:extLst>
          </p:cNvPr>
          <p:cNvCxnSpPr>
            <a:cxnSpLocks/>
          </p:cNvCxnSpPr>
          <p:nvPr/>
        </p:nvCxnSpPr>
        <p:spPr>
          <a:xfrm>
            <a:off x="2310794" y="5615654"/>
            <a:ext cx="360858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309BA4CD-E2BB-4CDC-80A2-CE33048C9247}"/>
              </a:ext>
            </a:extLst>
          </p:cNvPr>
          <p:cNvSpPr/>
          <p:nvPr/>
        </p:nvSpPr>
        <p:spPr>
          <a:xfrm>
            <a:off x="2346342" y="5231074"/>
            <a:ext cx="3825370" cy="369332"/>
          </a:xfrm>
          <a:prstGeom prst="rect">
            <a:avLst/>
          </a:prstGeom>
        </p:spPr>
        <p:txBody>
          <a:bodyPr wrap="square">
            <a:spAutoFit/>
          </a:bodyPr>
          <a:lstStyle/>
          <a:p>
            <a:pPr algn="ctr"/>
            <a:r>
              <a:rPr lang="en-GB" dirty="0">
                <a:latin typeface="Calibri" panose="020F0502020204030204" pitchFamily="34" charset="0"/>
                <a:ea typeface="Calibri" panose="020F0502020204030204" pitchFamily="34" charset="0"/>
                <a:cs typeface="Times New Roman" panose="02020603050405020304" pitchFamily="18" charset="0"/>
              </a:rPr>
              <a:t>GET request sent to 212.58.244.67</a:t>
            </a:r>
            <a:endParaRPr lang="en-GB" dirty="0"/>
          </a:p>
        </p:txBody>
      </p:sp>
      <p:grpSp>
        <p:nvGrpSpPr>
          <p:cNvPr id="40" name="Group 39">
            <a:extLst>
              <a:ext uri="{FF2B5EF4-FFF2-40B4-BE49-F238E27FC236}">
                <a16:creationId xmlns:a16="http://schemas.microsoft.com/office/drawing/2014/main" id="{5B6F5E2E-D88C-8D6C-FC76-497397F62377}"/>
              </a:ext>
            </a:extLst>
          </p:cNvPr>
          <p:cNvGrpSpPr/>
          <p:nvPr/>
        </p:nvGrpSpPr>
        <p:grpSpPr>
          <a:xfrm>
            <a:off x="309495" y="2531542"/>
            <a:ext cx="7326678" cy="4163236"/>
            <a:chOff x="309495" y="2531542"/>
            <a:chExt cx="7326678" cy="4163236"/>
          </a:xfrm>
        </p:grpSpPr>
        <p:sp>
          <p:nvSpPr>
            <p:cNvPr id="41" name="TextBox 40">
              <a:extLst>
                <a:ext uri="{FF2B5EF4-FFF2-40B4-BE49-F238E27FC236}">
                  <a16:creationId xmlns:a16="http://schemas.microsoft.com/office/drawing/2014/main" id="{081E836B-E5C3-6845-8FD5-A5E285B5A411}"/>
                </a:ext>
              </a:extLst>
            </p:cNvPr>
            <p:cNvSpPr txBox="1"/>
            <p:nvPr/>
          </p:nvSpPr>
          <p:spPr>
            <a:xfrm>
              <a:off x="918439" y="4879959"/>
              <a:ext cx="796248" cy="471366"/>
            </a:xfrm>
            <a:prstGeom prst="rect">
              <a:avLst/>
            </a:prstGeom>
            <a:noFill/>
          </p:spPr>
          <p:txBody>
            <a:bodyPr wrap="none" rtlCol="0">
              <a:spAutoFit/>
            </a:bodyPr>
            <a:lstStyle/>
            <a:p>
              <a:pPr algn="ctr"/>
              <a:r>
                <a:rPr lang="en-GB" b="1" dirty="0"/>
                <a:t>User</a:t>
              </a:r>
              <a:endParaRPr lang="en-GB" sz="2000" b="1" dirty="0"/>
            </a:p>
          </p:txBody>
        </p:sp>
        <p:sp>
          <p:nvSpPr>
            <p:cNvPr id="42" name="TextBox 41">
              <a:extLst>
                <a:ext uri="{FF2B5EF4-FFF2-40B4-BE49-F238E27FC236}">
                  <a16:creationId xmlns:a16="http://schemas.microsoft.com/office/drawing/2014/main" id="{C94515A6-83A4-6992-470A-DC1A7B3892FA}"/>
                </a:ext>
              </a:extLst>
            </p:cNvPr>
            <p:cNvSpPr txBox="1"/>
            <p:nvPr/>
          </p:nvSpPr>
          <p:spPr>
            <a:xfrm>
              <a:off x="892352" y="2647549"/>
              <a:ext cx="882441" cy="443067"/>
            </a:xfrm>
            <a:prstGeom prst="rect">
              <a:avLst/>
            </a:prstGeom>
            <a:noFill/>
          </p:spPr>
          <p:txBody>
            <a:bodyPr wrap="none" rtlCol="0">
              <a:spAutoFit/>
            </a:bodyPr>
            <a:lstStyle/>
            <a:p>
              <a:pPr algn="ctr"/>
              <a:r>
                <a:rPr lang="en-GB" b="1" dirty="0"/>
                <a:t>Client</a:t>
              </a:r>
              <a:endParaRPr lang="en-GB" sz="2000" b="1" dirty="0"/>
            </a:p>
          </p:txBody>
        </p:sp>
        <p:sp>
          <p:nvSpPr>
            <p:cNvPr id="43" name="TextBox 42">
              <a:extLst>
                <a:ext uri="{FF2B5EF4-FFF2-40B4-BE49-F238E27FC236}">
                  <a16:creationId xmlns:a16="http://schemas.microsoft.com/office/drawing/2014/main" id="{9D2F1D1A-CFD7-4B82-5C69-1FBF58F8DFE9}"/>
                </a:ext>
              </a:extLst>
            </p:cNvPr>
            <p:cNvSpPr txBox="1"/>
            <p:nvPr/>
          </p:nvSpPr>
          <p:spPr>
            <a:xfrm>
              <a:off x="6135835" y="2531542"/>
              <a:ext cx="1388568" cy="705457"/>
            </a:xfrm>
            <a:prstGeom prst="rect">
              <a:avLst/>
            </a:prstGeom>
            <a:noFill/>
          </p:spPr>
          <p:txBody>
            <a:bodyPr wrap="square" rtlCol="0">
              <a:spAutoFit/>
            </a:bodyPr>
            <a:lstStyle/>
            <a:p>
              <a:pPr algn="ctr"/>
              <a:r>
                <a:rPr lang="en-GB" b="1" dirty="0"/>
                <a:t>Local ISP and DNS</a:t>
              </a:r>
              <a:endParaRPr lang="en-GB" sz="2000" b="1" dirty="0"/>
            </a:p>
          </p:txBody>
        </p:sp>
        <p:sp>
          <p:nvSpPr>
            <p:cNvPr id="44" name="TextBox 43">
              <a:extLst>
                <a:ext uri="{FF2B5EF4-FFF2-40B4-BE49-F238E27FC236}">
                  <a16:creationId xmlns:a16="http://schemas.microsoft.com/office/drawing/2014/main" id="{5A1246DC-4DD7-8C3F-CCA7-001CFA758915}"/>
                </a:ext>
              </a:extLst>
            </p:cNvPr>
            <p:cNvSpPr txBox="1"/>
            <p:nvPr/>
          </p:nvSpPr>
          <p:spPr>
            <a:xfrm>
              <a:off x="6167437" y="4686203"/>
              <a:ext cx="1272849" cy="369332"/>
            </a:xfrm>
            <a:prstGeom prst="rect">
              <a:avLst/>
            </a:prstGeom>
            <a:noFill/>
          </p:spPr>
          <p:txBody>
            <a:bodyPr wrap="none" rtlCol="0">
              <a:spAutoFit/>
            </a:bodyPr>
            <a:lstStyle/>
            <a:p>
              <a:pPr algn="ctr"/>
              <a:r>
                <a:rPr lang="en-GB" b="1" dirty="0"/>
                <a:t>Web server</a:t>
              </a:r>
              <a:endParaRPr lang="en-GB" sz="2000" b="1" dirty="0"/>
            </a:p>
          </p:txBody>
        </p:sp>
        <p:sp>
          <p:nvSpPr>
            <p:cNvPr id="45" name="Rectangle: Rounded Corners 44">
              <a:extLst>
                <a:ext uri="{FF2B5EF4-FFF2-40B4-BE49-F238E27FC236}">
                  <a16:creationId xmlns:a16="http://schemas.microsoft.com/office/drawing/2014/main" id="{54D50CDC-F6E7-9D2A-486E-8B155278DD64}"/>
                </a:ext>
              </a:extLst>
            </p:cNvPr>
            <p:cNvSpPr/>
            <p:nvPr/>
          </p:nvSpPr>
          <p:spPr>
            <a:xfrm>
              <a:off x="309495" y="2624809"/>
              <a:ext cx="2009499" cy="4069969"/>
            </a:xfrm>
            <a:prstGeom prst="roundRect">
              <a:avLst>
                <a:gd name="adj" fmla="val 7576"/>
              </a:avLst>
            </a:prstGeom>
            <a:noFill/>
            <a:ln w="28575">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6" name="Picture 45" descr="Icon&#10;&#10;Description automatically generated">
              <a:extLst>
                <a:ext uri="{FF2B5EF4-FFF2-40B4-BE49-F238E27FC236}">
                  <a16:creationId xmlns:a16="http://schemas.microsoft.com/office/drawing/2014/main" id="{F0042D7E-A0B1-4D44-E53B-CE17850A69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89" y="2938512"/>
              <a:ext cx="1875962" cy="1875962"/>
            </a:xfrm>
            <a:prstGeom prst="rect">
              <a:avLst/>
            </a:prstGeom>
          </p:spPr>
        </p:pic>
        <p:pic>
          <p:nvPicPr>
            <p:cNvPr id="47" name="Picture 46" descr="Icon&#10;&#10;Description automatically generated">
              <a:extLst>
                <a:ext uri="{FF2B5EF4-FFF2-40B4-BE49-F238E27FC236}">
                  <a16:creationId xmlns:a16="http://schemas.microsoft.com/office/drawing/2014/main" id="{5DA72A60-8B6D-7890-CC72-4AB6F8FA80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4848" y="5300667"/>
              <a:ext cx="1218929" cy="1218929"/>
            </a:xfrm>
            <a:prstGeom prst="rect">
              <a:avLst/>
            </a:prstGeom>
          </p:spPr>
        </p:pic>
        <p:pic>
          <p:nvPicPr>
            <p:cNvPr id="48" name="Picture 47">
              <a:extLst>
                <a:ext uri="{FF2B5EF4-FFF2-40B4-BE49-F238E27FC236}">
                  <a16:creationId xmlns:a16="http://schemas.microsoft.com/office/drawing/2014/main" id="{1C680F3F-575F-CB77-14D9-3031DC823507}"/>
                </a:ext>
              </a:extLst>
            </p:cNvPr>
            <p:cNvPicPr>
              <a:picLocks noChangeAspect="1"/>
            </p:cNvPicPr>
            <p:nvPr/>
          </p:nvPicPr>
          <p:blipFill>
            <a:blip r:embed="rId5"/>
            <a:stretch>
              <a:fillRect/>
            </a:stretch>
          </p:blipFill>
          <p:spPr>
            <a:xfrm>
              <a:off x="5919374" y="3170451"/>
              <a:ext cx="1716799" cy="1547749"/>
            </a:xfrm>
            <a:prstGeom prst="rect">
              <a:avLst/>
            </a:prstGeom>
          </p:spPr>
        </p:pic>
        <p:pic>
          <p:nvPicPr>
            <p:cNvPr id="49" name="Picture 48">
              <a:extLst>
                <a:ext uri="{FF2B5EF4-FFF2-40B4-BE49-F238E27FC236}">
                  <a16:creationId xmlns:a16="http://schemas.microsoft.com/office/drawing/2014/main" id="{C8494DAD-90C1-E61A-7F79-C627DD340DCE}"/>
                </a:ext>
              </a:extLst>
            </p:cNvPr>
            <p:cNvPicPr>
              <a:picLocks noChangeAspect="1"/>
            </p:cNvPicPr>
            <p:nvPr/>
          </p:nvPicPr>
          <p:blipFill>
            <a:blip r:embed="rId5"/>
            <a:stretch>
              <a:fillRect/>
            </a:stretch>
          </p:blipFill>
          <p:spPr>
            <a:xfrm>
              <a:off x="5919374" y="5092555"/>
              <a:ext cx="1716799" cy="1547749"/>
            </a:xfrm>
            <a:prstGeom prst="rect">
              <a:avLst/>
            </a:prstGeom>
          </p:spPr>
        </p:pic>
      </p:grpSp>
      <p:cxnSp>
        <p:nvCxnSpPr>
          <p:cNvPr id="50" name="Straight Arrow Connector 49">
            <a:extLst>
              <a:ext uri="{FF2B5EF4-FFF2-40B4-BE49-F238E27FC236}">
                <a16:creationId xmlns:a16="http://schemas.microsoft.com/office/drawing/2014/main" id="{062D6D66-1355-1AF3-CA20-0CE9C54176F7}"/>
              </a:ext>
            </a:extLst>
          </p:cNvPr>
          <p:cNvCxnSpPr>
            <a:cxnSpLocks/>
          </p:cNvCxnSpPr>
          <p:nvPr/>
        </p:nvCxnSpPr>
        <p:spPr>
          <a:xfrm>
            <a:off x="2318994" y="3698837"/>
            <a:ext cx="360038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608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61F051C-E9FE-4BD9-9E4B-5E607488C2FC}"/>
              </a:ext>
            </a:extLst>
          </p:cNvPr>
          <p:cNvSpPr/>
          <p:nvPr/>
        </p:nvSpPr>
        <p:spPr>
          <a:xfrm>
            <a:off x="176566" y="523174"/>
            <a:ext cx="3882320"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rPr>
              <a:t>Web servers and clients</a:t>
            </a:r>
          </a:p>
        </p:txBody>
      </p:sp>
      <p:sp>
        <p:nvSpPr>
          <p:cNvPr id="5" name="Rectangle 4">
            <a:extLst>
              <a:ext uri="{FF2B5EF4-FFF2-40B4-BE49-F238E27FC236}">
                <a16:creationId xmlns:a16="http://schemas.microsoft.com/office/drawing/2014/main" id="{7984E1A5-47BE-4BE1-8230-A9219736C0A6}"/>
              </a:ext>
            </a:extLst>
          </p:cNvPr>
          <p:cNvSpPr/>
          <p:nvPr/>
        </p:nvSpPr>
        <p:spPr>
          <a:xfrm>
            <a:off x="176566" y="987297"/>
            <a:ext cx="7661989" cy="1831271"/>
          </a:xfrm>
          <a:prstGeom prst="rect">
            <a:avLst/>
          </a:prstGeom>
        </p:spPr>
        <p:txBody>
          <a:bodyPr wrap="square">
            <a:spAutoFit/>
          </a:bodyPr>
          <a:lstStyle/>
          <a:p>
            <a:pPr marL="285750"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Web servers carry out many functions – the most common are:</a:t>
            </a:r>
          </a:p>
          <a:p>
            <a:pPr marL="742950" lvl="1" indent="-285750">
              <a:buFont typeface="Courier New" panose="02070309020205020404" pitchFamily="49" charset="0"/>
              <a:buChar char="o"/>
            </a:pPr>
            <a:r>
              <a:rPr lang="en-GB" dirty="0">
                <a:latin typeface="Calibri" panose="020F0502020204030204" pitchFamily="34" charset="0"/>
                <a:ea typeface="Calibri" panose="020F0502020204030204" pitchFamily="34" charset="0"/>
                <a:cs typeface="Times New Roman" panose="02020603050405020304" pitchFamily="18" charset="0"/>
              </a:rPr>
              <a:t>Hosting websites.</a:t>
            </a:r>
          </a:p>
          <a:p>
            <a:pPr marL="742950" lvl="1" indent="-285750">
              <a:spcAft>
                <a:spcPts val="600"/>
              </a:spcAft>
              <a:buFont typeface="Courier New" panose="02070309020205020404" pitchFamily="49" charset="0"/>
              <a:buChar char="o"/>
            </a:pPr>
            <a:r>
              <a:rPr lang="en-GB" dirty="0">
                <a:latin typeface="Calibri" panose="020F0502020204030204" pitchFamily="34" charset="0"/>
                <a:ea typeface="Calibri" panose="020F0502020204030204" pitchFamily="34" charset="0"/>
                <a:cs typeface="Times New Roman" panose="02020603050405020304" pitchFamily="18" charset="0"/>
              </a:rPr>
              <a:t>Dealing with client requests.</a:t>
            </a:r>
          </a:p>
          <a:p>
            <a:pPr marL="285750"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A web page – stored as text (HTML, CSS, JavaScript) – is sent to a browser, which then uses various rules to render it correctly.</a:t>
            </a: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
        <p:nvSpPr>
          <p:cNvPr id="35" name="Rectangle 34">
            <a:extLst>
              <a:ext uri="{FF2B5EF4-FFF2-40B4-BE49-F238E27FC236}">
                <a16:creationId xmlns:a16="http://schemas.microsoft.com/office/drawing/2014/main" id="{FCC0CE92-7DA5-4842-95D5-3102601AD08A}"/>
              </a:ext>
            </a:extLst>
          </p:cNvPr>
          <p:cNvSpPr/>
          <p:nvPr/>
        </p:nvSpPr>
        <p:spPr>
          <a:xfrm>
            <a:off x="7949939" y="416346"/>
            <a:ext cx="4242062" cy="6441654"/>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 name="Rectangle 35">
            <a:extLst>
              <a:ext uri="{FF2B5EF4-FFF2-40B4-BE49-F238E27FC236}">
                <a16:creationId xmlns:a16="http://schemas.microsoft.com/office/drawing/2014/main" id="{D5BF1568-F5C0-4EFB-8FC5-8D96FC900D4E}"/>
              </a:ext>
            </a:extLst>
          </p:cNvPr>
          <p:cNvSpPr/>
          <p:nvPr/>
        </p:nvSpPr>
        <p:spPr>
          <a:xfrm>
            <a:off x="7949938" y="435008"/>
            <a:ext cx="4273485" cy="4078039"/>
          </a:xfrm>
          <a:prstGeom prst="rect">
            <a:avLst/>
          </a:prstGeom>
        </p:spPr>
        <p:txBody>
          <a:bodyPr wrap="square">
            <a:spAutoFit/>
          </a:bodyPr>
          <a:lstStyle/>
          <a:p>
            <a:pPr marL="342900" indent="-342900">
              <a:spcAft>
                <a:spcPts val="600"/>
              </a:spcAft>
              <a:buFont typeface="+mj-lt"/>
              <a:buAutoNum type="arabicPeriod"/>
            </a:pPr>
            <a:r>
              <a:rPr lang="en-GB" dirty="0">
                <a:latin typeface="Calibri" panose="020F0502020204030204" pitchFamily="34" charset="0"/>
                <a:ea typeface="Calibri" panose="020F0502020204030204" pitchFamily="34" charset="0"/>
                <a:cs typeface="Times New Roman" panose="02020603050405020304" pitchFamily="18" charset="0"/>
              </a:rPr>
              <a:t>The client requests a URL via a web browser (e.g., </a:t>
            </a:r>
            <a:r>
              <a:rPr lang="en-GB" dirty="0">
                <a:latin typeface="Calibri" panose="020F0502020204030204" pitchFamily="34" charset="0"/>
                <a:ea typeface="Calibri" panose="020F0502020204030204" pitchFamily="34" charset="0"/>
                <a:cs typeface="Times New Roman" panose="02020603050405020304" pitchFamily="18" charset="0"/>
                <a:hlinkClick r:id="rId2"/>
              </a:rPr>
              <a:t>www.bbc.co.uk</a:t>
            </a:r>
            <a:r>
              <a:rPr lang="en-GB" dirty="0">
                <a:latin typeface="Calibri" panose="020F0502020204030204" pitchFamily="34" charset="0"/>
                <a:ea typeface="Calibri" panose="020F0502020204030204" pitchFamily="34" charset="0"/>
                <a:cs typeface="Times New Roman" panose="02020603050405020304" pitchFamily="18" charset="0"/>
              </a:rPr>
              <a:t>).</a:t>
            </a:r>
          </a:p>
          <a:p>
            <a:pPr marL="342900" indent="-342900">
              <a:spcAft>
                <a:spcPts val="600"/>
              </a:spcAft>
              <a:buFont typeface="+mj-lt"/>
              <a:buAutoNum type="arabicPeriod"/>
            </a:pPr>
            <a:r>
              <a:rPr lang="en-GB" dirty="0">
                <a:latin typeface="Calibri" panose="020F0502020204030204" pitchFamily="34" charset="0"/>
                <a:ea typeface="Calibri" panose="020F0502020204030204" pitchFamily="34" charset="0"/>
                <a:cs typeface="Times New Roman" panose="02020603050405020304" pitchFamily="18" charset="0"/>
              </a:rPr>
              <a:t>The browser sends the domain name to a domain name server (DNS).</a:t>
            </a:r>
          </a:p>
          <a:p>
            <a:pPr marL="342900" indent="-342900">
              <a:spcAft>
                <a:spcPts val="600"/>
              </a:spcAft>
              <a:buFont typeface="+mj-lt"/>
              <a:buAutoNum type="arabicPeriod"/>
            </a:pPr>
            <a:r>
              <a:rPr lang="en-GB" dirty="0">
                <a:latin typeface="Calibri" panose="020F0502020204030204" pitchFamily="34" charset="0"/>
                <a:ea typeface="Calibri" panose="020F0502020204030204" pitchFamily="34" charset="0"/>
                <a:cs typeface="Times New Roman" panose="02020603050405020304" pitchFamily="18" charset="0"/>
              </a:rPr>
              <a:t>The DNS maps the domain name to an IP address and returns it to the browser.</a:t>
            </a:r>
          </a:p>
          <a:p>
            <a:pPr marL="342900" indent="-342900">
              <a:spcAft>
                <a:spcPts val="600"/>
              </a:spcAft>
              <a:buFont typeface="+mj-lt"/>
              <a:buAutoNum type="arabicPeriod"/>
            </a:pPr>
            <a:r>
              <a:rPr lang="en-GB" dirty="0">
                <a:latin typeface="Calibri" panose="020F0502020204030204" pitchFamily="34" charset="0"/>
                <a:ea typeface="Calibri" panose="020F0502020204030204" pitchFamily="34" charset="0"/>
                <a:cs typeface="Times New Roman" panose="02020603050405020304" pitchFamily="18" charset="0"/>
              </a:rPr>
              <a:t>A GET request for the web page is sent to the web server using its IP address.</a:t>
            </a:r>
          </a:p>
          <a:p>
            <a:pPr marL="342900" indent="-342900">
              <a:spcAft>
                <a:spcPts val="600"/>
              </a:spcAft>
              <a:buFont typeface="+mj-lt"/>
              <a:buAutoNum type="arabicPeriod"/>
            </a:pPr>
            <a:r>
              <a:rPr lang="en-GB" dirty="0">
                <a:latin typeface="Calibri" panose="020F0502020204030204" pitchFamily="34" charset="0"/>
                <a:ea typeface="Calibri" panose="020F0502020204030204" pitchFamily="34" charset="0"/>
                <a:cs typeface="Times New Roman" panose="02020603050405020304" pitchFamily="18" charset="0"/>
              </a:rPr>
              <a:t>The requested web page is returned to the client’s web browser.</a:t>
            </a:r>
          </a:p>
          <a:p>
            <a:pPr marL="342900" indent="-342900">
              <a:buFont typeface="+mj-lt"/>
              <a:buAutoNum type="arabicPeriod"/>
            </a:pPr>
            <a:endParaRPr lang="en-GB" dirty="0">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mj-lt"/>
              <a:buAutoNum type="arabicPeriod"/>
            </a:pPr>
            <a:endParaRPr lang="en-GB" dirty="0">
              <a:latin typeface="Calibri" panose="020F0502020204030204" pitchFamily="34" charset="0"/>
              <a:ea typeface="Calibri" panose="020F0502020204030204" pitchFamily="34" charset="0"/>
              <a:cs typeface="Times New Roman" panose="02020603050405020304" pitchFamily="18" charset="0"/>
            </a:endParaRP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7BDC972C-A0FA-4147-B81C-3A241439CD4F}"/>
              </a:ext>
            </a:extLst>
          </p:cNvPr>
          <p:cNvSpPr/>
          <p:nvPr/>
        </p:nvSpPr>
        <p:spPr>
          <a:xfrm>
            <a:off x="3521786" y="3314257"/>
            <a:ext cx="1625317" cy="369332"/>
          </a:xfrm>
          <a:prstGeom prst="rect">
            <a:avLst/>
          </a:prstGeom>
        </p:spPr>
        <p:txBody>
          <a:bodyPr wrap="non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www.bbc.co.uk</a:t>
            </a:r>
            <a:endParaRPr lang="en-GB" dirty="0"/>
          </a:p>
        </p:txBody>
      </p:sp>
      <p:cxnSp>
        <p:nvCxnSpPr>
          <p:cNvPr id="34" name="Straight Arrow Connector 33">
            <a:extLst>
              <a:ext uri="{FF2B5EF4-FFF2-40B4-BE49-F238E27FC236}">
                <a16:creationId xmlns:a16="http://schemas.microsoft.com/office/drawing/2014/main" id="{81675415-70A1-4512-B996-7709F890D2C7}"/>
              </a:ext>
            </a:extLst>
          </p:cNvPr>
          <p:cNvCxnSpPr>
            <a:cxnSpLocks/>
          </p:cNvCxnSpPr>
          <p:nvPr/>
        </p:nvCxnSpPr>
        <p:spPr>
          <a:xfrm>
            <a:off x="2318994" y="4435699"/>
            <a:ext cx="3860918" cy="0"/>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C533BE64-9C38-4EC6-B8E7-4E4CF34CCB84}"/>
              </a:ext>
            </a:extLst>
          </p:cNvPr>
          <p:cNvSpPr/>
          <p:nvPr/>
        </p:nvSpPr>
        <p:spPr>
          <a:xfrm>
            <a:off x="3560642" y="4066367"/>
            <a:ext cx="1527982" cy="369332"/>
          </a:xfrm>
          <a:prstGeom prst="rect">
            <a:avLst/>
          </a:prstGeom>
        </p:spPr>
        <p:txBody>
          <a:bodyPr wrap="non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212.58.244.67</a:t>
            </a:r>
            <a:endParaRPr lang="en-GB" dirty="0"/>
          </a:p>
        </p:txBody>
      </p:sp>
      <p:sp>
        <p:nvSpPr>
          <p:cNvPr id="39" name="Rectangle 38">
            <a:extLst>
              <a:ext uri="{FF2B5EF4-FFF2-40B4-BE49-F238E27FC236}">
                <a16:creationId xmlns:a16="http://schemas.microsoft.com/office/drawing/2014/main" id="{309BA4CD-E2BB-4CDC-80A2-CE33048C9247}"/>
              </a:ext>
            </a:extLst>
          </p:cNvPr>
          <p:cNvSpPr/>
          <p:nvPr/>
        </p:nvSpPr>
        <p:spPr>
          <a:xfrm>
            <a:off x="2346342" y="5231074"/>
            <a:ext cx="3825370" cy="369332"/>
          </a:xfrm>
          <a:prstGeom prst="rect">
            <a:avLst/>
          </a:prstGeom>
        </p:spPr>
        <p:txBody>
          <a:bodyPr wrap="square">
            <a:spAutoFit/>
          </a:bodyPr>
          <a:lstStyle/>
          <a:p>
            <a:pPr algn="ctr"/>
            <a:r>
              <a:rPr lang="en-GB" dirty="0">
                <a:latin typeface="Calibri" panose="020F0502020204030204" pitchFamily="34" charset="0"/>
                <a:ea typeface="Calibri" panose="020F0502020204030204" pitchFamily="34" charset="0"/>
                <a:cs typeface="Times New Roman" panose="02020603050405020304" pitchFamily="18" charset="0"/>
              </a:rPr>
              <a:t>GET request sent to 212.58.244.67</a:t>
            </a:r>
            <a:endParaRPr lang="en-GB" dirty="0"/>
          </a:p>
        </p:txBody>
      </p:sp>
      <p:cxnSp>
        <p:nvCxnSpPr>
          <p:cNvPr id="40" name="Straight Arrow Connector 39">
            <a:extLst>
              <a:ext uri="{FF2B5EF4-FFF2-40B4-BE49-F238E27FC236}">
                <a16:creationId xmlns:a16="http://schemas.microsoft.com/office/drawing/2014/main" id="{4C00E6B6-425F-4F3B-8DAB-3180BFD121BF}"/>
              </a:ext>
            </a:extLst>
          </p:cNvPr>
          <p:cNvCxnSpPr>
            <a:cxnSpLocks/>
          </p:cNvCxnSpPr>
          <p:nvPr/>
        </p:nvCxnSpPr>
        <p:spPr>
          <a:xfrm>
            <a:off x="2310794" y="6374987"/>
            <a:ext cx="3987369" cy="0"/>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348421F6-DD88-4A53-B922-C4E9E7D8AF65}"/>
              </a:ext>
            </a:extLst>
          </p:cNvPr>
          <p:cNvSpPr/>
          <p:nvPr/>
        </p:nvSpPr>
        <p:spPr>
          <a:xfrm>
            <a:off x="2346341" y="6005655"/>
            <a:ext cx="3825371" cy="369332"/>
          </a:xfrm>
          <a:prstGeom prst="rect">
            <a:avLst/>
          </a:prstGeom>
        </p:spPr>
        <p:txBody>
          <a:bodyPr wrap="square">
            <a:spAutoFit/>
          </a:bodyPr>
          <a:lstStyle/>
          <a:p>
            <a:pPr algn="ctr"/>
            <a:r>
              <a:rPr lang="en-GB" dirty="0">
                <a:latin typeface="Calibri" panose="020F0502020204030204" pitchFamily="34" charset="0"/>
                <a:ea typeface="Calibri" panose="020F0502020204030204" pitchFamily="34" charset="0"/>
                <a:cs typeface="Times New Roman" panose="02020603050405020304" pitchFamily="18" charset="0"/>
              </a:rPr>
              <a:t>Web page/resource</a:t>
            </a:r>
            <a:endParaRPr lang="en-GB" dirty="0"/>
          </a:p>
        </p:txBody>
      </p:sp>
      <p:grpSp>
        <p:nvGrpSpPr>
          <p:cNvPr id="42" name="Group 41">
            <a:extLst>
              <a:ext uri="{FF2B5EF4-FFF2-40B4-BE49-F238E27FC236}">
                <a16:creationId xmlns:a16="http://schemas.microsoft.com/office/drawing/2014/main" id="{DD608B6A-7C78-18BD-1316-BD641090A3D7}"/>
              </a:ext>
            </a:extLst>
          </p:cNvPr>
          <p:cNvGrpSpPr/>
          <p:nvPr/>
        </p:nvGrpSpPr>
        <p:grpSpPr>
          <a:xfrm>
            <a:off x="309495" y="2531542"/>
            <a:ext cx="7326678" cy="4163236"/>
            <a:chOff x="309495" y="2531542"/>
            <a:chExt cx="7326678" cy="4163236"/>
          </a:xfrm>
        </p:grpSpPr>
        <p:sp>
          <p:nvSpPr>
            <p:cNvPr id="43" name="TextBox 42">
              <a:extLst>
                <a:ext uri="{FF2B5EF4-FFF2-40B4-BE49-F238E27FC236}">
                  <a16:creationId xmlns:a16="http://schemas.microsoft.com/office/drawing/2014/main" id="{8818BD3A-59D3-76F9-8F02-E740F7EF974E}"/>
                </a:ext>
              </a:extLst>
            </p:cNvPr>
            <p:cNvSpPr txBox="1"/>
            <p:nvPr/>
          </p:nvSpPr>
          <p:spPr>
            <a:xfrm>
              <a:off x="918439" y="4879959"/>
              <a:ext cx="796248" cy="471366"/>
            </a:xfrm>
            <a:prstGeom prst="rect">
              <a:avLst/>
            </a:prstGeom>
            <a:noFill/>
          </p:spPr>
          <p:txBody>
            <a:bodyPr wrap="none" rtlCol="0">
              <a:spAutoFit/>
            </a:bodyPr>
            <a:lstStyle/>
            <a:p>
              <a:pPr algn="ctr"/>
              <a:r>
                <a:rPr lang="en-GB" b="1" dirty="0"/>
                <a:t>User</a:t>
              </a:r>
              <a:endParaRPr lang="en-GB" sz="2000" b="1" dirty="0"/>
            </a:p>
          </p:txBody>
        </p:sp>
        <p:sp>
          <p:nvSpPr>
            <p:cNvPr id="44" name="TextBox 43">
              <a:extLst>
                <a:ext uri="{FF2B5EF4-FFF2-40B4-BE49-F238E27FC236}">
                  <a16:creationId xmlns:a16="http://schemas.microsoft.com/office/drawing/2014/main" id="{82FA8E74-E385-54C7-21C4-BD4BDDDD231B}"/>
                </a:ext>
              </a:extLst>
            </p:cNvPr>
            <p:cNvSpPr txBox="1"/>
            <p:nvPr/>
          </p:nvSpPr>
          <p:spPr>
            <a:xfrm>
              <a:off x="892352" y="2647549"/>
              <a:ext cx="882441" cy="443067"/>
            </a:xfrm>
            <a:prstGeom prst="rect">
              <a:avLst/>
            </a:prstGeom>
            <a:noFill/>
          </p:spPr>
          <p:txBody>
            <a:bodyPr wrap="none" rtlCol="0">
              <a:spAutoFit/>
            </a:bodyPr>
            <a:lstStyle/>
            <a:p>
              <a:pPr algn="ctr"/>
              <a:r>
                <a:rPr lang="en-GB" b="1" dirty="0"/>
                <a:t>Client</a:t>
              </a:r>
              <a:endParaRPr lang="en-GB" sz="2000" b="1" dirty="0"/>
            </a:p>
          </p:txBody>
        </p:sp>
        <p:sp>
          <p:nvSpPr>
            <p:cNvPr id="45" name="TextBox 44">
              <a:extLst>
                <a:ext uri="{FF2B5EF4-FFF2-40B4-BE49-F238E27FC236}">
                  <a16:creationId xmlns:a16="http://schemas.microsoft.com/office/drawing/2014/main" id="{EFF46986-2689-828A-1033-0F18D07A7920}"/>
                </a:ext>
              </a:extLst>
            </p:cNvPr>
            <p:cNvSpPr txBox="1"/>
            <p:nvPr/>
          </p:nvSpPr>
          <p:spPr>
            <a:xfrm>
              <a:off x="6135835" y="2531542"/>
              <a:ext cx="1388568" cy="705457"/>
            </a:xfrm>
            <a:prstGeom prst="rect">
              <a:avLst/>
            </a:prstGeom>
            <a:noFill/>
          </p:spPr>
          <p:txBody>
            <a:bodyPr wrap="square" rtlCol="0">
              <a:spAutoFit/>
            </a:bodyPr>
            <a:lstStyle/>
            <a:p>
              <a:pPr algn="ctr"/>
              <a:r>
                <a:rPr lang="en-GB" b="1" dirty="0"/>
                <a:t>Local ISP and DNS</a:t>
              </a:r>
              <a:endParaRPr lang="en-GB" sz="2000" b="1" dirty="0"/>
            </a:p>
          </p:txBody>
        </p:sp>
        <p:sp>
          <p:nvSpPr>
            <p:cNvPr id="46" name="TextBox 45">
              <a:extLst>
                <a:ext uri="{FF2B5EF4-FFF2-40B4-BE49-F238E27FC236}">
                  <a16:creationId xmlns:a16="http://schemas.microsoft.com/office/drawing/2014/main" id="{FC5CCDF6-1BF2-9A60-63FD-85828DFD0112}"/>
                </a:ext>
              </a:extLst>
            </p:cNvPr>
            <p:cNvSpPr txBox="1"/>
            <p:nvPr/>
          </p:nvSpPr>
          <p:spPr>
            <a:xfrm>
              <a:off x="6167437" y="4686203"/>
              <a:ext cx="1272849" cy="369332"/>
            </a:xfrm>
            <a:prstGeom prst="rect">
              <a:avLst/>
            </a:prstGeom>
            <a:noFill/>
          </p:spPr>
          <p:txBody>
            <a:bodyPr wrap="none" rtlCol="0">
              <a:spAutoFit/>
            </a:bodyPr>
            <a:lstStyle/>
            <a:p>
              <a:pPr algn="ctr"/>
              <a:r>
                <a:rPr lang="en-GB" b="1" dirty="0"/>
                <a:t>Web server</a:t>
              </a:r>
              <a:endParaRPr lang="en-GB" sz="2000" b="1" dirty="0"/>
            </a:p>
          </p:txBody>
        </p:sp>
        <p:sp>
          <p:nvSpPr>
            <p:cNvPr id="47" name="Rectangle: Rounded Corners 46">
              <a:extLst>
                <a:ext uri="{FF2B5EF4-FFF2-40B4-BE49-F238E27FC236}">
                  <a16:creationId xmlns:a16="http://schemas.microsoft.com/office/drawing/2014/main" id="{17F0C71D-4666-D7D9-D5E4-F0C91B732515}"/>
                </a:ext>
              </a:extLst>
            </p:cNvPr>
            <p:cNvSpPr/>
            <p:nvPr/>
          </p:nvSpPr>
          <p:spPr>
            <a:xfrm>
              <a:off x="309495" y="2624809"/>
              <a:ext cx="2009499" cy="4069969"/>
            </a:xfrm>
            <a:prstGeom prst="roundRect">
              <a:avLst>
                <a:gd name="adj" fmla="val 7576"/>
              </a:avLst>
            </a:prstGeom>
            <a:noFill/>
            <a:ln w="28575">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8" name="Picture 47" descr="Icon&#10;&#10;Description automatically generated">
              <a:extLst>
                <a:ext uri="{FF2B5EF4-FFF2-40B4-BE49-F238E27FC236}">
                  <a16:creationId xmlns:a16="http://schemas.microsoft.com/office/drawing/2014/main" id="{889946E6-524E-A9A8-2421-32E9E4735F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89" y="2938512"/>
              <a:ext cx="1875962" cy="1875962"/>
            </a:xfrm>
            <a:prstGeom prst="rect">
              <a:avLst/>
            </a:prstGeom>
          </p:spPr>
        </p:pic>
        <p:pic>
          <p:nvPicPr>
            <p:cNvPr id="49" name="Picture 48" descr="Icon&#10;&#10;Description automatically generated">
              <a:extLst>
                <a:ext uri="{FF2B5EF4-FFF2-40B4-BE49-F238E27FC236}">
                  <a16:creationId xmlns:a16="http://schemas.microsoft.com/office/drawing/2014/main" id="{CD9B9BE2-27A2-F3DB-BA4C-5BDF1ED816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4848" y="5300667"/>
              <a:ext cx="1218929" cy="1218929"/>
            </a:xfrm>
            <a:prstGeom prst="rect">
              <a:avLst/>
            </a:prstGeom>
          </p:spPr>
        </p:pic>
        <p:pic>
          <p:nvPicPr>
            <p:cNvPr id="50" name="Picture 49">
              <a:extLst>
                <a:ext uri="{FF2B5EF4-FFF2-40B4-BE49-F238E27FC236}">
                  <a16:creationId xmlns:a16="http://schemas.microsoft.com/office/drawing/2014/main" id="{B887A8A8-276E-C919-DD1D-CA2F67544F50}"/>
                </a:ext>
              </a:extLst>
            </p:cNvPr>
            <p:cNvPicPr>
              <a:picLocks noChangeAspect="1"/>
            </p:cNvPicPr>
            <p:nvPr/>
          </p:nvPicPr>
          <p:blipFill>
            <a:blip r:embed="rId5"/>
            <a:stretch>
              <a:fillRect/>
            </a:stretch>
          </p:blipFill>
          <p:spPr>
            <a:xfrm>
              <a:off x="5919374" y="3170451"/>
              <a:ext cx="1716799" cy="1547749"/>
            </a:xfrm>
            <a:prstGeom prst="rect">
              <a:avLst/>
            </a:prstGeom>
          </p:spPr>
        </p:pic>
        <p:pic>
          <p:nvPicPr>
            <p:cNvPr id="51" name="Picture 50">
              <a:extLst>
                <a:ext uri="{FF2B5EF4-FFF2-40B4-BE49-F238E27FC236}">
                  <a16:creationId xmlns:a16="http://schemas.microsoft.com/office/drawing/2014/main" id="{C0F6E308-D454-6708-C0FD-76CCDD8D148A}"/>
                </a:ext>
              </a:extLst>
            </p:cNvPr>
            <p:cNvPicPr>
              <a:picLocks noChangeAspect="1"/>
            </p:cNvPicPr>
            <p:nvPr/>
          </p:nvPicPr>
          <p:blipFill>
            <a:blip r:embed="rId5"/>
            <a:stretch>
              <a:fillRect/>
            </a:stretch>
          </p:blipFill>
          <p:spPr>
            <a:xfrm>
              <a:off x="5919374" y="5092555"/>
              <a:ext cx="1716799" cy="1547749"/>
            </a:xfrm>
            <a:prstGeom prst="rect">
              <a:avLst/>
            </a:prstGeom>
          </p:spPr>
        </p:pic>
      </p:grpSp>
      <p:cxnSp>
        <p:nvCxnSpPr>
          <p:cNvPr id="52" name="Straight Arrow Connector 51">
            <a:extLst>
              <a:ext uri="{FF2B5EF4-FFF2-40B4-BE49-F238E27FC236}">
                <a16:creationId xmlns:a16="http://schemas.microsoft.com/office/drawing/2014/main" id="{03DAA8CE-A025-FBBB-1F8E-5E0C55D5DBF9}"/>
              </a:ext>
            </a:extLst>
          </p:cNvPr>
          <p:cNvCxnSpPr>
            <a:cxnSpLocks/>
          </p:cNvCxnSpPr>
          <p:nvPr/>
        </p:nvCxnSpPr>
        <p:spPr>
          <a:xfrm>
            <a:off x="2318994" y="3698837"/>
            <a:ext cx="360038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EDEF7DCB-1BD7-99F9-D24F-F448186B5D3C}"/>
              </a:ext>
            </a:extLst>
          </p:cNvPr>
          <p:cNvCxnSpPr>
            <a:cxnSpLocks/>
          </p:cNvCxnSpPr>
          <p:nvPr/>
        </p:nvCxnSpPr>
        <p:spPr>
          <a:xfrm>
            <a:off x="2310794" y="5615654"/>
            <a:ext cx="360858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0561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CA12123-29FE-4DBE-8613-D0577426CDF5}"/>
              </a:ext>
            </a:extLst>
          </p:cNvPr>
          <p:cNvSpPr/>
          <p:nvPr/>
        </p:nvSpPr>
        <p:spPr>
          <a:xfrm>
            <a:off x="-1" y="1941689"/>
            <a:ext cx="7949927" cy="491631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a:extLst>
              <a:ext uri="{FF2B5EF4-FFF2-40B4-BE49-F238E27FC236}">
                <a16:creationId xmlns:a16="http://schemas.microsoft.com/office/drawing/2014/main" id="{FCC0CE92-7DA5-4842-95D5-3102601AD08A}"/>
              </a:ext>
            </a:extLst>
          </p:cNvPr>
          <p:cNvSpPr/>
          <p:nvPr/>
        </p:nvSpPr>
        <p:spPr>
          <a:xfrm>
            <a:off x="7949939" y="405353"/>
            <a:ext cx="4242062" cy="6452647"/>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 name="Rectangle 35">
            <a:extLst>
              <a:ext uri="{FF2B5EF4-FFF2-40B4-BE49-F238E27FC236}">
                <a16:creationId xmlns:a16="http://schemas.microsoft.com/office/drawing/2014/main" id="{D5BF1568-F5C0-4EFB-8FC5-8D96FC900D4E}"/>
              </a:ext>
            </a:extLst>
          </p:cNvPr>
          <p:cNvSpPr/>
          <p:nvPr/>
        </p:nvSpPr>
        <p:spPr>
          <a:xfrm>
            <a:off x="7949938" y="435008"/>
            <a:ext cx="4273485" cy="923330"/>
          </a:xfrm>
          <a:prstGeom prst="rect">
            <a:avLst/>
          </a:prstGeom>
        </p:spPr>
        <p:txBody>
          <a:bodyPr wrap="square">
            <a:spAutoFit/>
          </a:bodyPr>
          <a:lstStyle/>
          <a:p>
            <a:endParaRPr lang="en-GB" dirty="0">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mj-lt"/>
              <a:buAutoNum type="arabicPeriod"/>
            </a:pPr>
            <a:endParaRPr lang="en-GB" dirty="0">
              <a:latin typeface="Calibri" panose="020F0502020204030204" pitchFamily="34" charset="0"/>
              <a:ea typeface="Calibri" panose="020F0502020204030204" pitchFamily="34" charset="0"/>
              <a:cs typeface="Times New Roman" panose="02020603050405020304" pitchFamily="18" charset="0"/>
            </a:endParaRP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pic>
        <p:nvPicPr>
          <p:cNvPr id="7" name="Graphic 6" descr="Cloud">
            <a:extLst>
              <a:ext uri="{FF2B5EF4-FFF2-40B4-BE49-F238E27FC236}">
                <a16:creationId xmlns:a16="http://schemas.microsoft.com/office/drawing/2014/main" id="{B8A31D4D-934A-4019-927F-26B85E06F71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a:off x="2449903" y="-650722"/>
            <a:ext cx="3217963" cy="3217963"/>
          </a:xfrm>
          <a:prstGeom prst="rect">
            <a:avLst/>
          </a:prstGeom>
        </p:spPr>
      </p:pic>
      <p:sp>
        <p:nvSpPr>
          <p:cNvPr id="8" name="Rectangle 7">
            <a:extLst>
              <a:ext uri="{FF2B5EF4-FFF2-40B4-BE49-F238E27FC236}">
                <a16:creationId xmlns:a16="http://schemas.microsoft.com/office/drawing/2014/main" id="{261F051C-E9FE-4BD9-9E4B-5E607488C2FC}"/>
              </a:ext>
            </a:extLst>
          </p:cNvPr>
          <p:cNvSpPr/>
          <p:nvPr/>
        </p:nvSpPr>
        <p:spPr>
          <a:xfrm>
            <a:off x="176566" y="523174"/>
            <a:ext cx="3882320"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rPr>
              <a:t>Domain name service</a:t>
            </a:r>
          </a:p>
        </p:txBody>
      </p:sp>
      <p:pic>
        <p:nvPicPr>
          <p:cNvPr id="9" name="Picture 8">
            <a:extLst>
              <a:ext uri="{FF2B5EF4-FFF2-40B4-BE49-F238E27FC236}">
                <a16:creationId xmlns:a16="http://schemas.microsoft.com/office/drawing/2014/main" id="{7F06D73B-3100-45EA-86C1-0C1C78BFDED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16895" y="990326"/>
            <a:ext cx="1445822" cy="292176"/>
          </a:xfrm>
          <a:prstGeom prst="rect">
            <a:avLst/>
          </a:prstGeom>
        </p:spPr>
      </p:pic>
      <p:cxnSp>
        <p:nvCxnSpPr>
          <p:cNvPr id="46" name="Straight Arrow Connector 45">
            <a:extLst>
              <a:ext uri="{FF2B5EF4-FFF2-40B4-BE49-F238E27FC236}">
                <a16:creationId xmlns:a16="http://schemas.microsoft.com/office/drawing/2014/main" id="{4BED26F6-E03B-4696-BA1D-9561058FC419}"/>
              </a:ext>
            </a:extLst>
          </p:cNvPr>
          <p:cNvCxnSpPr>
            <a:cxnSpLocks/>
            <a:endCxn id="9" idx="0"/>
          </p:cNvCxnSpPr>
          <p:nvPr/>
        </p:nvCxnSpPr>
        <p:spPr>
          <a:xfrm>
            <a:off x="4039806" y="435008"/>
            <a:ext cx="0" cy="555318"/>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8B2B618D-F24B-447E-9458-F7C212876D64}"/>
              </a:ext>
            </a:extLst>
          </p:cNvPr>
          <p:cNvCxnSpPr>
            <a:cxnSpLocks/>
          </p:cNvCxnSpPr>
          <p:nvPr/>
        </p:nvCxnSpPr>
        <p:spPr>
          <a:xfrm>
            <a:off x="4058886" y="1282502"/>
            <a:ext cx="0" cy="512431"/>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7BDC972C-A0FA-4147-B81C-3A241439CD4F}"/>
              </a:ext>
            </a:extLst>
          </p:cNvPr>
          <p:cNvSpPr/>
          <p:nvPr/>
        </p:nvSpPr>
        <p:spPr>
          <a:xfrm>
            <a:off x="4095269" y="505758"/>
            <a:ext cx="2765950" cy="369332"/>
          </a:xfrm>
          <a:prstGeom prst="rect">
            <a:avLst/>
          </a:prstGeom>
        </p:spPr>
        <p:txBody>
          <a:bodyPr wrap="non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URL in </a:t>
            </a:r>
            <a:r>
              <a:rPr lang="en-GB"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www.google.com</a:t>
            </a:r>
            <a:endParaRPr lang="en-GB" dirty="0"/>
          </a:p>
        </p:txBody>
      </p:sp>
      <p:sp>
        <p:nvSpPr>
          <p:cNvPr id="14" name="TextBox 13">
            <a:extLst>
              <a:ext uri="{FF2B5EF4-FFF2-40B4-BE49-F238E27FC236}">
                <a16:creationId xmlns:a16="http://schemas.microsoft.com/office/drawing/2014/main" id="{069E94DE-1354-4BF1-AD80-1709F0E1F6AE}"/>
              </a:ext>
            </a:extLst>
          </p:cNvPr>
          <p:cNvSpPr txBox="1"/>
          <p:nvPr/>
        </p:nvSpPr>
        <p:spPr>
          <a:xfrm>
            <a:off x="2689083" y="1738487"/>
            <a:ext cx="2762179" cy="369332"/>
          </a:xfrm>
          <a:prstGeom prst="rect">
            <a:avLst/>
          </a:prstGeom>
          <a:noFill/>
        </p:spPr>
        <p:txBody>
          <a:bodyPr wrap="square" rtlCol="0">
            <a:spAutoFit/>
          </a:bodyPr>
          <a:lstStyle/>
          <a:p>
            <a:pPr algn="ctr"/>
            <a:r>
              <a:rPr lang="en-GB" b="1" dirty="0"/>
              <a:t>Domain name service</a:t>
            </a:r>
            <a:endParaRPr lang="en-GB" sz="2000" b="1" dirty="0"/>
          </a:p>
        </p:txBody>
      </p:sp>
      <p:cxnSp>
        <p:nvCxnSpPr>
          <p:cNvPr id="50" name="Straight Arrow Connector 49">
            <a:extLst>
              <a:ext uri="{FF2B5EF4-FFF2-40B4-BE49-F238E27FC236}">
                <a16:creationId xmlns:a16="http://schemas.microsoft.com/office/drawing/2014/main" id="{FA998C93-06AA-4162-92AB-A2BB3E892B55}"/>
              </a:ext>
            </a:extLst>
          </p:cNvPr>
          <p:cNvCxnSpPr>
            <a:cxnSpLocks/>
          </p:cNvCxnSpPr>
          <p:nvPr/>
        </p:nvCxnSpPr>
        <p:spPr>
          <a:xfrm>
            <a:off x="4058886" y="2054810"/>
            <a:ext cx="0" cy="5124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857E3A95-4DFB-4175-AA6E-4B3B6138B2CC}"/>
              </a:ext>
            </a:extLst>
          </p:cNvPr>
          <p:cNvCxnSpPr/>
          <p:nvPr/>
        </p:nvCxnSpPr>
        <p:spPr>
          <a:xfrm>
            <a:off x="-1" y="1941689"/>
            <a:ext cx="2957690" cy="0"/>
          </a:xfrm>
          <a:prstGeom prst="line">
            <a:avLst/>
          </a:prstGeom>
          <a:ln w="190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B103C26-53F9-49B4-9CAB-37103835EEC8}"/>
              </a:ext>
            </a:extLst>
          </p:cNvPr>
          <p:cNvCxnSpPr>
            <a:cxnSpLocks/>
          </p:cNvCxnSpPr>
          <p:nvPr/>
        </p:nvCxnSpPr>
        <p:spPr>
          <a:xfrm>
            <a:off x="5143500" y="1941689"/>
            <a:ext cx="2806426" cy="0"/>
          </a:xfrm>
          <a:prstGeom prst="line">
            <a:avLst/>
          </a:prstGeom>
          <a:ln w="190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1FE33FF6-2A45-2840-F716-96D066626D6B}"/>
              </a:ext>
            </a:extLst>
          </p:cNvPr>
          <p:cNvGrpSpPr/>
          <p:nvPr/>
        </p:nvGrpSpPr>
        <p:grpSpPr>
          <a:xfrm>
            <a:off x="-1" y="0"/>
            <a:ext cx="12192001" cy="419100"/>
            <a:chOff x="-1" y="0"/>
            <a:chExt cx="12192001" cy="533400"/>
          </a:xfrm>
        </p:grpSpPr>
        <p:sp>
          <p:nvSpPr>
            <p:cNvPr id="21" name="Rectangle 20">
              <a:extLst>
                <a:ext uri="{FF2B5EF4-FFF2-40B4-BE49-F238E27FC236}">
                  <a16:creationId xmlns:a16="http://schemas.microsoft.com/office/drawing/2014/main" id="{1EDEA7E5-1BB5-A62D-F676-4BD8ECAA4DDB}"/>
                </a:ext>
              </a:extLst>
            </p:cNvPr>
            <p:cNvSpPr/>
            <p:nvPr userDrawn="1"/>
          </p:nvSpPr>
          <p:spPr>
            <a:xfrm>
              <a:off x="-1" y="0"/>
              <a:ext cx="10095723" cy="533400"/>
            </a:xfrm>
            <a:prstGeom prst="rect">
              <a:avLst/>
            </a:prstGeom>
            <a:solidFill>
              <a:srgbClr val="F26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800" b="1" dirty="0">
                  <a:solidFill>
                    <a:schemeClr val="bg1"/>
                  </a:solidFill>
                </a:rPr>
                <a:t>5.1 The internet and the world wide web | How web pages are located</a:t>
              </a:r>
            </a:p>
          </p:txBody>
        </p:sp>
        <p:sp>
          <p:nvSpPr>
            <p:cNvPr id="22" name="Rectangle 21">
              <a:extLst>
                <a:ext uri="{FF2B5EF4-FFF2-40B4-BE49-F238E27FC236}">
                  <a16:creationId xmlns:a16="http://schemas.microsoft.com/office/drawing/2014/main" id="{272DB27D-2069-594D-825F-F88A2C4F91B8}"/>
                </a:ext>
              </a:extLst>
            </p:cNvPr>
            <p:cNvSpPr/>
            <p:nvPr/>
          </p:nvSpPr>
          <p:spPr>
            <a:xfrm>
              <a:off x="9100868" y="0"/>
              <a:ext cx="3091132" cy="533400"/>
            </a:xfrm>
            <a:prstGeom prst="rect">
              <a:avLst/>
            </a:prstGeom>
            <a:solidFill>
              <a:srgbClr val="F2652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46800" rtlCol="0" anchor="t"/>
            <a:lstStyle/>
            <a:p>
              <a:pPr algn="r"/>
              <a:r>
                <a:rPr lang="en-GB" b="1" dirty="0">
                  <a:solidFill>
                    <a:schemeClr val="bg1"/>
                  </a:solidFill>
                </a:rPr>
                <a:t>CAMBRIDGE IGCSE (0478/0984)</a:t>
              </a:r>
            </a:p>
          </p:txBody>
        </p:sp>
      </p:grpSp>
    </p:spTree>
    <p:extLst>
      <p:ext uri="{BB962C8B-B14F-4D97-AF65-F5344CB8AC3E}">
        <p14:creationId xmlns:p14="http://schemas.microsoft.com/office/powerpoint/2010/main" val="2425279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ectangle 83">
            <a:extLst>
              <a:ext uri="{FF2B5EF4-FFF2-40B4-BE49-F238E27FC236}">
                <a16:creationId xmlns:a16="http://schemas.microsoft.com/office/drawing/2014/main" id="{86A6E3B7-9AB5-4C8A-8996-994CA6F1CDF6}"/>
              </a:ext>
            </a:extLst>
          </p:cNvPr>
          <p:cNvSpPr/>
          <p:nvPr/>
        </p:nvSpPr>
        <p:spPr>
          <a:xfrm>
            <a:off x="-1" y="1941689"/>
            <a:ext cx="7949927" cy="491631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a:extLst>
              <a:ext uri="{FF2B5EF4-FFF2-40B4-BE49-F238E27FC236}">
                <a16:creationId xmlns:a16="http://schemas.microsoft.com/office/drawing/2014/main" id="{FCC0CE92-7DA5-4842-95D5-3102601AD08A}"/>
              </a:ext>
            </a:extLst>
          </p:cNvPr>
          <p:cNvSpPr/>
          <p:nvPr/>
        </p:nvSpPr>
        <p:spPr>
          <a:xfrm>
            <a:off x="7949939" y="405353"/>
            <a:ext cx="4242062" cy="6452647"/>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 name="Rectangle 35">
            <a:extLst>
              <a:ext uri="{FF2B5EF4-FFF2-40B4-BE49-F238E27FC236}">
                <a16:creationId xmlns:a16="http://schemas.microsoft.com/office/drawing/2014/main" id="{D5BF1568-F5C0-4EFB-8FC5-8D96FC900D4E}"/>
              </a:ext>
            </a:extLst>
          </p:cNvPr>
          <p:cNvSpPr/>
          <p:nvPr/>
        </p:nvSpPr>
        <p:spPr>
          <a:xfrm>
            <a:off x="7949938" y="435008"/>
            <a:ext cx="4273485" cy="1400383"/>
          </a:xfrm>
          <a:prstGeom prst="rect">
            <a:avLst/>
          </a:prstGeom>
        </p:spPr>
        <p:txBody>
          <a:bodyPr wrap="square">
            <a:spAutoFit/>
          </a:bodyPr>
          <a:lstStyle/>
          <a:p>
            <a:pPr marL="228600" indent="-228600">
              <a:spcAft>
                <a:spcPts val="600"/>
              </a:spcAft>
              <a:buFont typeface="+mj-lt"/>
              <a:buAutoNum type="arabicPeriod"/>
            </a:pPr>
            <a:r>
              <a:rPr lang="en-GB" dirty="0"/>
              <a:t>The URL is received by a DNS server.</a:t>
            </a:r>
            <a:endParaRPr lang="en-GB" sz="800" dirty="0"/>
          </a:p>
          <a:p>
            <a:pPr marL="228600" indent="-228600">
              <a:buFont typeface="+mj-lt"/>
              <a:buAutoNum type="arabicPeriod"/>
            </a:pPr>
            <a:endParaRPr lang="en-GB" sz="800" dirty="0">
              <a:solidFill>
                <a:schemeClr val="tx1"/>
              </a:solidFill>
            </a:endParaRPr>
          </a:p>
          <a:p>
            <a:pPr marL="342900" indent="-342900">
              <a:buFont typeface="+mj-lt"/>
              <a:buAutoNum type="arabicPeriod"/>
            </a:pPr>
            <a:endParaRPr lang="en-GB" dirty="0">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mj-lt"/>
              <a:buAutoNum type="arabicPeriod"/>
            </a:pPr>
            <a:endParaRPr lang="en-GB" dirty="0">
              <a:latin typeface="Calibri" panose="020F0502020204030204" pitchFamily="34" charset="0"/>
              <a:ea typeface="Calibri" panose="020F0502020204030204" pitchFamily="34" charset="0"/>
              <a:cs typeface="Times New Roman" panose="02020603050405020304" pitchFamily="18" charset="0"/>
            </a:endParaRP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pic>
        <p:nvPicPr>
          <p:cNvPr id="7" name="Graphic 6" descr="Cloud">
            <a:extLst>
              <a:ext uri="{FF2B5EF4-FFF2-40B4-BE49-F238E27FC236}">
                <a16:creationId xmlns:a16="http://schemas.microsoft.com/office/drawing/2014/main" id="{B8A31D4D-934A-4019-927F-26B85E06F71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a:off x="2449903" y="-650722"/>
            <a:ext cx="3217963" cy="3217963"/>
          </a:xfrm>
          <a:prstGeom prst="rect">
            <a:avLst/>
          </a:prstGeom>
        </p:spPr>
      </p:pic>
      <p:sp>
        <p:nvSpPr>
          <p:cNvPr id="8" name="Rectangle 7">
            <a:extLst>
              <a:ext uri="{FF2B5EF4-FFF2-40B4-BE49-F238E27FC236}">
                <a16:creationId xmlns:a16="http://schemas.microsoft.com/office/drawing/2014/main" id="{261F051C-E9FE-4BD9-9E4B-5E607488C2FC}"/>
              </a:ext>
            </a:extLst>
          </p:cNvPr>
          <p:cNvSpPr/>
          <p:nvPr/>
        </p:nvSpPr>
        <p:spPr>
          <a:xfrm>
            <a:off x="176566" y="523174"/>
            <a:ext cx="3882320"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rPr>
              <a:t>Domain name service</a:t>
            </a:r>
          </a:p>
        </p:txBody>
      </p:sp>
      <p:pic>
        <p:nvPicPr>
          <p:cNvPr id="9" name="Picture 8">
            <a:extLst>
              <a:ext uri="{FF2B5EF4-FFF2-40B4-BE49-F238E27FC236}">
                <a16:creationId xmlns:a16="http://schemas.microsoft.com/office/drawing/2014/main" id="{7F06D73B-3100-45EA-86C1-0C1C78BFDED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16895" y="990326"/>
            <a:ext cx="1445822" cy="292176"/>
          </a:xfrm>
          <a:prstGeom prst="rect">
            <a:avLst/>
          </a:prstGeom>
        </p:spPr>
      </p:pic>
      <p:cxnSp>
        <p:nvCxnSpPr>
          <p:cNvPr id="46" name="Straight Arrow Connector 45">
            <a:extLst>
              <a:ext uri="{FF2B5EF4-FFF2-40B4-BE49-F238E27FC236}">
                <a16:creationId xmlns:a16="http://schemas.microsoft.com/office/drawing/2014/main" id="{4BED26F6-E03B-4696-BA1D-9561058FC419}"/>
              </a:ext>
            </a:extLst>
          </p:cNvPr>
          <p:cNvCxnSpPr>
            <a:cxnSpLocks/>
            <a:endCxn id="9" idx="0"/>
          </p:cNvCxnSpPr>
          <p:nvPr/>
        </p:nvCxnSpPr>
        <p:spPr>
          <a:xfrm>
            <a:off x="4039806" y="390523"/>
            <a:ext cx="0" cy="599803"/>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8B2B618D-F24B-447E-9458-F7C212876D64}"/>
              </a:ext>
            </a:extLst>
          </p:cNvPr>
          <p:cNvCxnSpPr>
            <a:cxnSpLocks/>
          </p:cNvCxnSpPr>
          <p:nvPr/>
        </p:nvCxnSpPr>
        <p:spPr>
          <a:xfrm>
            <a:off x="4058886" y="1282502"/>
            <a:ext cx="0" cy="512431"/>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7BDC972C-A0FA-4147-B81C-3A241439CD4F}"/>
              </a:ext>
            </a:extLst>
          </p:cNvPr>
          <p:cNvSpPr/>
          <p:nvPr/>
        </p:nvSpPr>
        <p:spPr>
          <a:xfrm>
            <a:off x="4095269" y="505758"/>
            <a:ext cx="2765950" cy="369332"/>
          </a:xfrm>
          <a:prstGeom prst="rect">
            <a:avLst/>
          </a:prstGeom>
        </p:spPr>
        <p:txBody>
          <a:bodyPr wrap="non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URL in </a:t>
            </a:r>
            <a:r>
              <a:rPr lang="en-GB"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www.google.com</a:t>
            </a:r>
            <a:endParaRPr lang="en-GB" dirty="0"/>
          </a:p>
        </p:txBody>
      </p:sp>
      <p:sp>
        <p:nvSpPr>
          <p:cNvPr id="14" name="TextBox 13">
            <a:extLst>
              <a:ext uri="{FF2B5EF4-FFF2-40B4-BE49-F238E27FC236}">
                <a16:creationId xmlns:a16="http://schemas.microsoft.com/office/drawing/2014/main" id="{069E94DE-1354-4BF1-AD80-1709F0E1F6AE}"/>
              </a:ext>
            </a:extLst>
          </p:cNvPr>
          <p:cNvSpPr txBox="1"/>
          <p:nvPr/>
        </p:nvSpPr>
        <p:spPr>
          <a:xfrm>
            <a:off x="2689083" y="1738487"/>
            <a:ext cx="2762179" cy="369332"/>
          </a:xfrm>
          <a:prstGeom prst="rect">
            <a:avLst/>
          </a:prstGeom>
          <a:noFill/>
        </p:spPr>
        <p:txBody>
          <a:bodyPr wrap="square" rtlCol="0">
            <a:spAutoFit/>
          </a:bodyPr>
          <a:lstStyle/>
          <a:p>
            <a:pPr algn="ctr"/>
            <a:r>
              <a:rPr lang="en-GB" b="1" dirty="0"/>
              <a:t>Domain name service</a:t>
            </a:r>
            <a:endParaRPr lang="en-GB" sz="2000" b="1" dirty="0"/>
          </a:p>
        </p:txBody>
      </p:sp>
      <p:cxnSp>
        <p:nvCxnSpPr>
          <p:cNvPr id="50" name="Straight Arrow Connector 49">
            <a:extLst>
              <a:ext uri="{FF2B5EF4-FFF2-40B4-BE49-F238E27FC236}">
                <a16:creationId xmlns:a16="http://schemas.microsoft.com/office/drawing/2014/main" id="{FA998C93-06AA-4162-92AB-A2BB3E892B55}"/>
              </a:ext>
            </a:extLst>
          </p:cNvPr>
          <p:cNvCxnSpPr>
            <a:cxnSpLocks/>
          </p:cNvCxnSpPr>
          <p:nvPr/>
        </p:nvCxnSpPr>
        <p:spPr>
          <a:xfrm>
            <a:off x="4058886" y="2054810"/>
            <a:ext cx="0" cy="5124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67D7750E-B9C1-43A5-8C0F-35DBE64014D0}"/>
              </a:ext>
            </a:extLst>
          </p:cNvPr>
          <p:cNvSpPr txBox="1"/>
          <p:nvPr/>
        </p:nvSpPr>
        <p:spPr>
          <a:xfrm>
            <a:off x="2327896" y="4135611"/>
            <a:ext cx="3423819" cy="369332"/>
          </a:xfrm>
          <a:prstGeom prst="rect">
            <a:avLst/>
          </a:prstGeom>
          <a:noFill/>
        </p:spPr>
        <p:txBody>
          <a:bodyPr wrap="square" rtlCol="0">
            <a:spAutoFit/>
          </a:bodyPr>
          <a:lstStyle/>
          <a:p>
            <a:pPr algn="ctr"/>
            <a:r>
              <a:rPr lang="en-GB" b="1" dirty="0"/>
              <a:t>DNS recursive/resolver server</a:t>
            </a:r>
            <a:endParaRPr lang="en-GB" sz="2000" b="1" dirty="0"/>
          </a:p>
        </p:txBody>
      </p:sp>
      <p:cxnSp>
        <p:nvCxnSpPr>
          <p:cNvPr id="85" name="Straight Connector 84">
            <a:extLst>
              <a:ext uri="{FF2B5EF4-FFF2-40B4-BE49-F238E27FC236}">
                <a16:creationId xmlns:a16="http://schemas.microsoft.com/office/drawing/2014/main" id="{D4E3143B-E89A-4DB4-8EB3-157A569E42BE}"/>
              </a:ext>
            </a:extLst>
          </p:cNvPr>
          <p:cNvCxnSpPr/>
          <p:nvPr/>
        </p:nvCxnSpPr>
        <p:spPr>
          <a:xfrm>
            <a:off x="-1" y="1941689"/>
            <a:ext cx="2957690" cy="0"/>
          </a:xfrm>
          <a:prstGeom prst="line">
            <a:avLst/>
          </a:prstGeom>
          <a:ln w="190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6242722-997B-4B6B-B6F9-5996D950E98C}"/>
              </a:ext>
            </a:extLst>
          </p:cNvPr>
          <p:cNvCxnSpPr>
            <a:cxnSpLocks/>
          </p:cNvCxnSpPr>
          <p:nvPr/>
        </p:nvCxnSpPr>
        <p:spPr>
          <a:xfrm>
            <a:off x="5143500" y="1941689"/>
            <a:ext cx="2806426" cy="0"/>
          </a:xfrm>
          <a:prstGeom prst="line">
            <a:avLst/>
          </a:prstGeom>
          <a:ln w="190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7471D8F2-D276-1B15-6182-A978BCAF4E7F}"/>
              </a:ext>
            </a:extLst>
          </p:cNvPr>
          <p:cNvPicPr>
            <a:picLocks noChangeAspect="1"/>
          </p:cNvPicPr>
          <p:nvPr/>
        </p:nvPicPr>
        <p:blipFill>
          <a:blip r:embed="rId5"/>
          <a:stretch>
            <a:fillRect/>
          </a:stretch>
        </p:blipFill>
        <p:spPr>
          <a:xfrm>
            <a:off x="3209215" y="2613021"/>
            <a:ext cx="1661182" cy="1497609"/>
          </a:xfrm>
          <a:prstGeom prst="rect">
            <a:avLst/>
          </a:prstGeom>
        </p:spPr>
      </p:pic>
      <p:grpSp>
        <p:nvGrpSpPr>
          <p:cNvPr id="27" name="Group 26">
            <a:extLst>
              <a:ext uri="{FF2B5EF4-FFF2-40B4-BE49-F238E27FC236}">
                <a16:creationId xmlns:a16="http://schemas.microsoft.com/office/drawing/2014/main" id="{D886FAF0-572B-C349-F9DB-18F6702E272F}"/>
              </a:ext>
            </a:extLst>
          </p:cNvPr>
          <p:cNvGrpSpPr/>
          <p:nvPr/>
        </p:nvGrpSpPr>
        <p:grpSpPr>
          <a:xfrm>
            <a:off x="-1" y="0"/>
            <a:ext cx="12192001" cy="419100"/>
            <a:chOff x="-1" y="0"/>
            <a:chExt cx="12192001" cy="533400"/>
          </a:xfrm>
        </p:grpSpPr>
        <p:sp>
          <p:nvSpPr>
            <p:cNvPr id="28" name="Rectangle 27">
              <a:extLst>
                <a:ext uri="{FF2B5EF4-FFF2-40B4-BE49-F238E27FC236}">
                  <a16:creationId xmlns:a16="http://schemas.microsoft.com/office/drawing/2014/main" id="{4E76BFA3-B11D-DAB3-1104-54A6F99F6F4B}"/>
                </a:ext>
              </a:extLst>
            </p:cNvPr>
            <p:cNvSpPr/>
            <p:nvPr userDrawn="1"/>
          </p:nvSpPr>
          <p:spPr>
            <a:xfrm>
              <a:off x="-1" y="0"/>
              <a:ext cx="10095723" cy="533400"/>
            </a:xfrm>
            <a:prstGeom prst="rect">
              <a:avLst/>
            </a:prstGeom>
            <a:solidFill>
              <a:srgbClr val="F26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800" b="1" dirty="0">
                  <a:solidFill>
                    <a:schemeClr val="bg1"/>
                  </a:solidFill>
                </a:rPr>
                <a:t>5.1 The internet and the world wide web | How web pages are located</a:t>
              </a:r>
            </a:p>
          </p:txBody>
        </p:sp>
        <p:sp>
          <p:nvSpPr>
            <p:cNvPr id="29" name="Rectangle 28">
              <a:extLst>
                <a:ext uri="{FF2B5EF4-FFF2-40B4-BE49-F238E27FC236}">
                  <a16:creationId xmlns:a16="http://schemas.microsoft.com/office/drawing/2014/main" id="{213ACFF5-EC76-0D15-D406-A2C2193A068D}"/>
                </a:ext>
              </a:extLst>
            </p:cNvPr>
            <p:cNvSpPr/>
            <p:nvPr/>
          </p:nvSpPr>
          <p:spPr>
            <a:xfrm>
              <a:off x="9100868" y="0"/>
              <a:ext cx="3091132" cy="533400"/>
            </a:xfrm>
            <a:prstGeom prst="rect">
              <a:avLst/>
            </a:prstGeom>
            <a:solidFill>
              <a:srgbClr val="F2652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46800" rtlCol="0" anchor="t"/>
            <a:lstStyle/>
            <a:p>
              <a:pPr algn="r"/>
              <a:r>
                <a:rPr lang="en-GB" b="1" dirty="0">
                  <a:solidFill>
                    <a:schemeClr val="bg1"/>
                  </a:solidFill>
                </a:rPr>
                <a:t>CAMBRIDGE IGCSE (0478/0984)</a:t>
              </a:r>
            </a:p>
          </p:txBody>
        </p:sp>
      </p:grpSp>
    </p:spTree>
    <p:extLst>
      <p:ext uri="{BB962C8B-B14F-4D97-AF65-F5344CB8AC3E}">
        <p14:creationId xmlns:p14="http://schemas.microsoft.com/office/powerpoint/2010/main" val="1165947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ectangle 83">
            <a:extLst>
              <a:ext uri="{FF2B5EF4-FFF2-40B4-BE49-F238E27FC236}">
                <a16:creationId xmlns:a16="http://schemas.microsoft.com/office/drawing/2014/main" id="{86A6E3B7-9AB5-4C8A-8996-994CA6F1CDF6}"/>
              </a:ext>
            </a:extLst>
          </p:cNvPr>
          <p:cNvSpPr/>
          <p:nvPr/>
        </p:nvSpPr>
        <p:spPr>
          <a:xfrm>
            <a:off x="-1" y="1941689"/>
            <a:ext cx="7949927" cy="491631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a:extLst>
              <a:ext uri="{FF2B5EF4-FFF2-40B4-BE49-F238E27FC236}">
                <a16:creationId xmlns:a16="http://schemas.microsoft.com/office/drawing/2014/main" id="{FCC0CE92-7DA5-4842-95D5-3102601AD08A}"/>
              </a:ext>
            </a:extLst>
          </p:cNvPr>
          <p:cNvSpPr/>
          <p:nvPr/>
        </p:nvSpPr>
        <p:spPr>
          <a:xfrm>
            <a:off x="7949939" y="405353"/>
            <a:ext cx="4242062" cy="6452647"/>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 name="Rectangle 35">
            <a:extLst>
              <a:ext uri="{FF2B5EF4-FFF2-40B4-BE49-F238E27FC236}">
                <a16:creationId xmlns:a16="http://schemas.microsoft.com/office/drawing/2014/main" id="{D5BF1568-F5C0-4EFB-8FC5-8D96FC900D4E}"/>
              </a:ext>
            </a:extLst>
          </p:cNvPr>
          <p:cNvSpPr/>
          <p:nvPr/>
        </p:nvSpPr>
        <p:spPr>
          <a:xfrm>
            <a:off x="7949938" y="435008"/>
            <a:ext cx="4273485" cy="2939266"/>
          </a:xfrm>
          <a:prstGeom prst="rect">
            <a:avLst/>
          </a:prstGeom>
        </p:spPr>
        <p:txBody>
          <a:bodyPr wrap="square">
            <a:spAutoFit/>
          </a:bodyPr>
          <a:lstStyle/>
          <a:p>
            <a:pPr marL="228600" indent="-228600">
              <a:spcAft>
                <a:spcPts val="600"/>
              </a:spcAft>
              <a:buFont typeface="+mj-lt"/>
              <a:buAutoNum type="arabicPeriod"/>
            </a:pPr>
            <a:r>
              <a:rPr lang="en-GB" dirty="0"/>
              <a:t>The URL is received by a DNS server.</a:t>
            </a:r>
            <a:endParaRPr lang="en-GB" sz="800" dirty="0"/>
          </a:p>
          <a:p>
            <a:pPr marL="228600" indent="-228600">
              <a:spcAft>
                <a:spcPts val="600"/>
              </a:spcAft>
              <a:buFont typeface="+mj-lt"/>
              <a:buAutoNum type="arabicPeriod"/>
            </a:pPr>
            <a:r>
              <a:rPr lang="en-GB" dirty="0"/>
              <a:t>The server queries a root name server.</a:t>
            </a:r>
            <a:endParaRPr lang="en-GB" sz="800" dirty="0"/>
          </a:p>
          <a:p>
            <a:pPr marL="228600" indent="-228600">
              <a:spcAft>
                <a:spcPts val="600"/>
              </a:spcAft>
              <a:buFont typeface="+mj-lt"/>
              <a:buAutoNum type="arabicPeriod"/>
            </a:pPr>
            <a:r>
              <a:rPr lang="en-GB" dirty="0"/>
              <a:t>The root server responds with the address of the top-level domain server for .com.</a:t>
            </a:r>
            <a:endParaRPr lang="en-GB" sz="800" dirty="0"/>
          </a:p>
          <a:p>
            <a:pPr marL="228600" indent="-228600">
              <a:buFont typeface="+mj-lt"/>
              <a:buAutoNum type="arabicPeriod"/>
            </a:pPr>
            <a:endParaRPr lang="en-GB" sz="1800" dirty="0">
              <a:solidFill>
                <a:schemeClr val="tx1"/>
              </a:solidFill>
            </a:endParaRPr>
          </a:p>
          <a:p>
            <a:pPr marL="228600" indent="-228600">
              <a:buFont typeface="+mj-lt"/>
              <a:buAutoNum type="arabicPeriod"/>
            </a:pPr>
            <a:endParaRPr lang="en-GB" sz="800" dirty="0">
              <a:solidFill>
                <a:schemeClr val="tx1"/>
              </a:solidFill>
            </a:endParaRPr>
          </a:p>
          <a:p>
            <a:pPr marL="342900" indent="-342900">
              <a:buFont typeface="+mj-lt"/>
              <a:buAutoNum type="arabicPeriod"/>
            </a:pPr>
            <a:endParaRPr lang="en-GB" dirty="0">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mj-lt"/>
              <a:buAutoNum type="arabicPeriod"/>
            </a:pPr>
            <a:endParaRPr lang="en-GB" dirty="0">
              <a:latin typeface="Calibri" panose="020F0502020204030204" pitchFamily="34" charset="0"/>
              <a:ea typeface="Calibri" panose="020F0502020204030204" pitchFamily="34" charset="0"/>
              <a:cs typeface="Times New Roman" panose="02020603050405020304" pitchFamily="18" charset="0"/>
            </a:endParaRP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pic>
        <p:nvPicPr>
          <p:cNvPr id="7" name="Graphic 6" descr="Cloud">
            <a:extLst>
              <a:ext uri="{FF2B5EF4-FFF2-40B4-BE49-F238E27FC236}">
                <a16:creationId xmlns:a16="http://schemas.microsoft.com/office/drawing/2014/main" id="{B8A31D4D-934A-4019-927F-26B85E06F71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a:off x="2449903" y="-650722"/>
            <a:ext cx="3217963" cy="3217963"/>
          </a:xfrm>
          <a:prstGeom prst="rect">
            <a:avLst/>
          </a:prstGeom>
        </p:spPr>
      </p:pic>
      <p:sp>
        <p:nvSpPr>
          <p:cNvPr id="8" name="Rectangle 7">
            <a:extLst>
              <a:ext uri="{FF2B5EF4-FFF2-40B4-BE49-F238E27FC236}">
                <a16:creationId xmlns:a16="http://schemas.microsoft.com/office/drawing/2014/main" id="{261F051C-E9FE-4BD9-9E4B-5E607488C2FC}"/>
              </a:ext>
            </a:extLst>
          </p:cNvPr>
          <p:cNvSpPr/>
          <p:nvPr/>
        </p:nvSpPr>
        <p:spPr>
          <a:xfrm>
            <a:off x="176566" y="523174"/>
            <a:ext cx="3882320"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rPr>
              <a:t>Domain name service</a:t>
            </a:r>
          </a:p>
        </p:txBody>
      </p:sp>
      <p:pic>
        <p:nvPicPr>
          <p:cNvPr id="9" name="Picture 8">
            <a:extLst>
              <a:ext uri="{FF2B5EF4-FFF2-40B4-BE49-F238E27FC236}">
                <a16:creationId xmlns:a16="http://schemas.microsoft.com/office/drawing/2014/main" id="{7F06D73B-3100-45EA-86C1-0C1C78BFDED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16895" y="990326"/>
            <a:ext cx="1445822" cy="292176"/>
          </a:xfrm>
          <a:prstGeom prst="rect">
            <a:avLst/>
          </a:prstGeom>
        </p:spPr>
      </p:pic>
      <p:cxnSp>
        <p:nvCxnSpPr>
          <p:cNvPr id="46" name="Straight Arrow Connector 45">
            <a:extLst>
              <a:ext uri="{FF2B5EF4-FFF2-40B4-BE49-F238E27FC236}">
                <a16:creationId xmlns:a16="http://schemas.microsoft.com/office/drawing/2014/main" id="{4BED26F6-E03B-4696-BA1D-9561058FC419}"/>
              </a:ext>
            </a:extLst>
          </p:cNvPr>
          <p:cNvCxnSpPr>
            <a:cxnSpLocks/>
            <a:endCxn id="9" idx="0"/>
          </p:cNvCxnSpPr>
          <p:nvPr/>
        </p:nvCxnSpPr>
        <p:spPr>
          <a:xfrm>
            <a:off x="4039806" y="390523"/>
            <a:ext cx="0" cy="599803"/>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8B2B618D-F24B-447E-9458-F7C212876D64}"/>
              </a:ext>
            </a:extLst>
          </p:cNvPr>
          <p:cNvCxnSpPr>
            <a:cxnSpLocks/>
          </p:cNvCxnSpPr>
          <p:nvPr/>
        </p:nvCxnSpPr>
        <p:spPr>
          <a:xfrm>
            <a:off x="4058886" y="1282502"/>
            <a:ext cx="0" cy="512431"/>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7BDC972C-A0FA-4147-B81C-3A241439CD4F}"/>
              </a:ext>
            </a:extLst>
          </p:cNvPr>
          <p:cNvSpPr/>
          <p:nvPr/>
        </p:nvSpPr>
        <p:spPr>
          <a:xfrm>
            <a:off x="4095269" y="505758"/>
            <a:ext cx="2765950" cy="369332"/>
          </a:xfrm>
          <a:prstGeom prst="rect">
            <a:avLst/>
          </a:prstGeom>
        </p:spPr>
        <p:txBody>
          <a:bodyPr wrap="non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URL in </a:t>
            </a:r>
            <a:r>
              <a:rPr lang="en-GB"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www.google.com</a:t>
            </a:r>
            <a:endParaRPr lang="en-GB" dirty="0"/>
          </a:p>
        </p:txBody>
      </p:sp>
      <p:sp>
        <p:nvSpPr>
          <p:cNvPr id="14" name="TextBox 13">
            <a:extLst>
              <a:ext uri="{FF2B5EF4-FFF2-40B4-BE49-F238E27FC236}">
                <a16:creationId xmlns:a16="http://schemas.microsoft.com/office/drawing/2014/main" id="{069E94DE-1354-4BF1-AD80-1709F0E1F6AE}"/>
              </a:ext>
            </a:extLst>
          </p:cNvPr>
          <p:cNvSpPr txBox="1"/>
          <p:nvPr/>
        </p:nvSpPr>
        <p:spPr>
          <a:xfrm>
            <a:off x="2689083" y="1738487"/>
            <a:ext cx="2762179" cy="369332"/>
          </a:xfrm>
          <a:prstGeom prst="rect">
            <a:avLst/>
          </a:prstGeom>
          <a:noFill/>
        </p:spPr>
        <p:txBody>
          <a:bodyPr wrap="square" rtlCol="0">
            <a:spAutoFit/>
          </a:bodyPr>
          <a:lstStyle/>
          <a:p>
            <a:pPr algn="ctr"/>
            <a:r>
              <a:rPr lang="en-GB" b="1" dirty="0"/>
              <a:t>Domain name service</a:t>
            </a:r>
            <a:endParaRPr lang="en-GB" sz="2000" b="1" dirty="0"/>
          </a:p>
        </p:txBody>
      </p:sp>
      <p:cxnSp>
        <p:nvCxnSpPr>
          <p:cNvPr id="50" name="Straight Arrow Connector 49">
            <a:extLst>
              <a:ext uri="{FF2B5EF4-FFF2-40B4-BE49-F238E27FC236}">
                <a16:creationId xmlns:a16="http://schemas.microsoft.com/office/drawing/2014/main" id="{FA998C93-06AA-4162-92AB-A2BB3E892B55}"/>
              </a:ext>
            </a:extLst>
          </p:cNvPr>
          <p:cNvCxnSpPr>
            <a:cxnSpLocks/>
          </p:cNvCxnSpPr>
          <p:nvPr/>
        </p:nvCxnSpPr>
        <p:spPr>
          <a:xfrm>
            <a:off x="4058886" y="2054810"/>
            <a:ext cx="0" cy="5124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67D7750E-B9C1-43A5-8C0F-35DBE64014D0}"/>
              </a:ext>
            </a:extLst>
          </p:cNvPr>
          <p:cNvSpPr txBox="1"/>
          <p:nvPr/>
        </p:nvSpPr>
        <p:spPr>
          <a:xfrm>
            <a:off x="2327896" y="4135611"/>
            <a:ext cx="3423819" cy="369332"/>
          </a:xfrm>
          <a:prstGeom prst="rect">
            <a:avLst/>
          </a:prstGeom>
          <a:noFill/>
        </p:spPr>
        <p:txBody>
          <a:bodyPr wrap="square" rtlCol="0">
            <a:spAutoFit/>
          </a:bodyPr>
          <a:lstStyle/>
          <a:p>
            <a:pPr algn="ctr"/>
            <a:r>
              <a:rPr lang="en-GB" b="1" dirty="0"/>
              <a:t>DNS recursive/resolver server</a:t>
            </a:r>
            <a:endParaRPr lang="en-GB" sz="2000" b="1" dirty="0"/>
          </a:p>
        </p:txBody>
      </p:sp>
      <p:sp>
        <p:nvSpPr>
          <p:cNvPr id="59" name="TextBox 58">
            <a:extLst>
              <a:ext uri="{FF2B5EF4-FFF2-40B4-BE49-F238E27FC236}">
                <a16:creationId xmlns:a16="http://schemas.microsoft.com/office/drawing/2014/main" id="{0BF25F5E-37A9-4C20-B454-0FE312C8BBC0}"/>
              </a:ext>
            </a:extLst>
          </p:cNvPr>
          <p:cNvSpPr txBox="1"/>
          <p:nvPr/>
        </p:nvSpPr>
        <p:spPr>
          <a:xfrm>
            <a:off x="0" y="6179323"/>
            <a:ext cx="2523066" cy="369332"/>
          </a:xfrm>
          <a:prstGeom prst="rect">
            <a:avLst/>
          </a:prstGeom>
          <a:noFill/>
        </p:spPr>
        <p:txBody>
          <a:bodyPr wrap="square" rtlCol="0">
            <a:spAutoFit/>
          </a:bodyPr>
          <a:lstStyle/>
          <a:p>
            <a:pPr algn="ctr"/>
            <a:r>
              <a:rPr lang="en-GB" b="1" dirty="0"/>
              <a:t>Root name server</a:t>
            </a:r>
            <a:endParaRPr lang="en-GB" sz="2000" b="1" dirty="0"/>
          </a:p>
        </p:txBody>
      </p:sp>
      <p:cxnSp>
        <p:nvCxnSpPr>
          <p:cNvPr id="72" name="Straight Arrow Connector 71">
            <a:extLst>
              <a:ext uri="{FF2B5EF4-FFF2-40B4-BE49-F238E27FC236}">
                <a16:creationId xmlns:a16="http://schemas.microsoft.com/office/drawing/2014/main" id="{82B3AEC2-BA5F-45A9-875B-3C9D04D56903}"/>
              </a:ext>
            </a:extLst>
          </p:cNvPr>
          <p:cNvCxnSpPr>
            <a:cxnSpLocks/>
            <a:stCxn id="52" idx="2"/>
          </p:cNvCxnSpPr>
          <p:nvPr/>
        </p:nvCxnSpPr>
        <p:spPr>
          <a:xfrm flipH="1">
            <a:off x="1261533" y="4504943"/>
            <a:ext cx="2778273" cy="710948"/>
          </a:xfrm>
          <a:prstGeom prst="straightConnector1">
            <a:avLst/>
          </a:prstGeom>
          <a:ln w="381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D4E3143B-E89A-4DB4-8EB3-157A569E42BE}"/>
              </a:ext>
            </a:extLst>
          </p:cNvPr>
          <p:cNvCxnSpPr/>
          <p:nvPr/>
        </p:nvCxnSpPr>
        <p:spPr>
          <a:xfrm>
            <a:off x="-1" y="1941689"/>
            <a:ext cx="2957690" cy="0"/>
          </a:xfrm>
          <a:prstGeom prst="line">
            <a:avLst/>
          </a:prstGeom>
          <a:ln w="190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6242722-997B-4B6B-B6F9-5996D950E98C}"/>
              </a:ext>
            </a:extLst>
          </p:cNvPr>
          <p:cNvCxnSpPr>
            <a:cxnSpLocks/>
          </p:cNvCxnSpPr>
          <p:nvPr/>
        </p:nvCxnSpPr>
        <p:spPr>
          <a:xfrm>
            <a:off x="5143500" y="1941689"/>
            <a:ext cx="2806426" cy="0"/>
          </a:xfrm>
          <a:prstGeom prst="line">
            <a:avLst/>
          </a:prstGeom>
          <a:ln w="190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pic>
        <p:nvPicPr>
          <p:cNvPr id="30" name="Picture 29">
            <a:extLst>
              <a:ext uri="{FF2B5EF4-FFF2-40B4-BE49-F238E27FC236}">
                <a16:creationId xmlns:a16="http://schemas.microsoft.com/office/drawing/2014/main" id="{01647404-D25E-7499-BE11-E46D8497AA4C}"/>
              </a:ext>
            </a:extLst>
          </p:cNvPr>
          <p:cNvPicPr>
            <a:picLocks noChangeAspect="1"/>
          </p:cNvPicPr>
          <p:nvPr/>
        </p:nvPicPr>
        <p:blipFill>
          <a:blip r:embed="rId5"/>
          <a:stretch>
            <a:fillRect/>
          </a:stretch>
        </p:blipFill>
        <p:spPr>
          <a:xfrm>
            <a:off x="3209215" y="2613021"/>
            <a:ext cx="1661182" cy="1497609"/>
          </a:xfrm>
          <a:prstGeom prst="rect">
            <a:avLst/>
          </a:prstGeom>
        </p:spPr>
      </p:pic>
      <p:pic>
        <p:nvPicPr>
          <p:cNvPr id="31" name="Picture 30">
            <a:extLst>
              <a:ext uri="{FF2B5EF4-FFF2-40B4-BE49-F238E27FC236}">
                <a16:creationId xmlns:a16="http://schemas.microsoft.com/office/drawing/2014/main" id="{F9CEBE97-6E55-40F5-470C-4270FFDF7A6F}"/>
              </a:ext>
            </a:extLst>
          </p:cNvPr>
          <p:cNvPicPr>
            <a:picLocks noChangeAspect="1"/>
          </p:cNvPicPr>
          <p:nvPr/>
        </p:nvPicPr>
        <p:blipFill>
          <a:blip r:embed="rId5"/>
          <a:stretch>
            <a:fillRect/>
          </a:stretch>
        </p:blipFill>
        <p:spPr>
          <a:xfrm>
            <a:off x="674992" y="5215891"/>
            <a:ext cx="1173081" cy="1057571"/>
          </a:xfrm>
          <a:prstGeom prst="rect">
            <a:avLst/>
          </a:prstGeom>
        </p:spPr>
      </p:pic>
      <p:grpSp>
        <p:nvGrpSpPr>
          <p:cNvPr id="32" name="Group 31">
            <a:extLst>
              <a:ext uri="{FF2B5EF4-FFF2-40B4-BE49-F238E27FC236}">
                <a16:creationId xmlns:a16="http://schemas.microsoft.com/office/drawing/2014/main" id="{736DDFC6-D05C-91E2-9AE3-39FCDEE368C6}"/>
              </a:ext>
            </a:extLst>
          </p:cNvPr>
          <p:cNvGrpSpPr/>
          <p:nvPr/>
        </p:nvGrpSpPr>
        <p:grpSpPr>
          <a:xfrm>
            <a:off x="-1" y="0"/>
            <a:ext cx="12192001" cy="419100"/>
            <a:chOff x="-1" y="0"/>
            <a:chExt cx="12192001" cy="533400"/>
          </a:xfrm>
        </p:grpSpPr>
        <p:sp>
          <p:nvSpPr>
            <p:cNvPr id="33" name="Rectangle 32">
              <a:extLst>
                <a:ext uri="{FF2B5EF4-FFF2-40B4-BE49-F238E27FC236}">
                  <a16:creationId xmlns:a16="http://schemas.microsoft.com/office/drawing/2014/main" id="{41C31DA8-A983-0770-F55C-1AE07879679A}"/>
                </a:ext>
              </a:extLst>
            </p:cNvPr>
            <p:cNvSpPr/>
            <p:nvPr userDrawn="1"/>
          </p:nvSpPr>
          <p:spPr>
            <a:xfrm>
              <a:off x="-1" y="0"/>
              <a:ext cx="10095723" cy="533400"/>
            </a:xfrm>
            <a:prstGeom prst="rect">
              <a:avLst/>
            </a:prstGeom>
            <a:solidFill>
              <a:srgbClr val="F26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800" b="1" dirty="0">
                  <a:solidFill>
                    <a:schemeClr val="bg1"/>
                  </a:solidFill>
                </a:rPr>
                <a:t>5.1 The internet and the world wide web | How web pages are located</a:t>
              </a:r>
            </a:p>
          </p:txBody>
        </p:sp>
        <p:sp>
          <p:nvSpPr>
            <p:cNvPr id="34" name="Rectangle 33">
              <a:extLst>
                <a:ext uri="{FF2B5EF4-FFF2-40B4-BE49-F238E27FC236}">
                  <a16:creationId xmlns:a16="http://schemas.microsoft.com/office/drawing/2014/main" id="{C35F9F20-899E-F90B-67F5-84BD9E64292C}"/>
                </a:ext>
              </a:extLst>
            </p:cNvPr>
            <p:cNvSpPr/>
            <p:nvPr/>
          </p:nvSpPr>
          <p:spPr>
            <a:xfrm>
              <a:off x="9100868" y="0"/>
              <a:ext cx="3091132" cy="533400"/>
            </a:xfrm>
            <a:prstGeom prst="rect">
              <a:avLst/>
            </a:prstGeom>
            <a:solidFill>
              <a:srgbClr val="F2652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46800" rtlCol="0" anchor="t"/>
            <a:lstStyle/>
            <a:p>
              <a:pPr algn="r"/>
              <a:r>
                <a:rPr lang="en-GB" b="1" dirty="0">
                  <a:solidFill>
                    <a:schemeClr val="bg1"/>
                  </a:solidFill>
                </a:rPr>
                <a:t>CAMBRIDGE IGCSE (0478/0984)</a:t>
              </a:r>
            </a:p>
          </p:txBody>
        </p:sp>
      </p:grpSp>
    </p:spTree>
    <p:extLst>
      <p:ext uri="{BB962C8B-B14F-4D97-AF65-F5344CB8AC3E}">
        <p14:creationId xmlns:p14="http://schemas.microsoft.com/office/powerpoint/2010/main" val="9584003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ectangle 83">
            <a:extLst>
              <a:ext uri="{FF2B5EF4-FFF2-40B4-BE49-F238E27FC236}">
                <a16:creationId xmlns:a16="http://schemas.microsoft.com/office/drawing/2014/main" id="{86A6E3B7-9AB5-4C8A-8996-994CA6F1CDF6}"/>
              </a:ext>
            </a:extLst>
          </p:cNvPr>
          <p:cNvSpPr/>
          <p:nvPr/>
        </p:nvSpPr>
        <p:spPr>
          <a:xfrm>
            <a:off x="-1" y="1941689"/>
            <a:ext cx="7949927" cy="491631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a:extLst>
              <a:ext uri="{FF2B5EF4-FFF2-40B4-BE49-F238E27FC236}">
                <a16:creationId xmlns:a16="http://schemas.microsoft.com/office/drawing/2014/main" id="{FCC0CE92-7DA5-4842-95D5-3102601AD08A}"/>
              </a:ext>
            </a:extLst>
          </p:cNvPr>
          <p:cNvSpPr/>
          <p:nvPr/>
        </p:nvSpPr>
        <p:spPr>
          <a:xfrm>
            <a:off x="7949939" y="405353"/>
            <a:ext cx="4242061" cy="6452647"/>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 name="Rectangle 35">
            <a:extLst>
              <a:ext uri="{FF2B5EF4-FFF2-40B4-BE49-F238E27FC236}">
                <a16:creationId xmlns:a16="http://schemas.microsoft.com/office/drawing/2014/main" id="{D5BF1568-F5C0-4EFB-8FC5-8D96FC900D4E}"/>
              </a:ext>
            </a:extLst>
          </p:cNvPr>
          <p:cNvSpPr/>
          <p:nvPr/>
        </p:nvSpPr>
        <p:spPr>
          <a:xfrm>
            <a:off x="7949938" y="435008"/>
            <a:ext cx="4273485" cy="3924151"/>
          </a:xfrm>
          <a:prstGeom prst="rect">
            <a:avLst/>
          </a:prstGeom>
        </p:spPr>
        <p:txBody>
          <a:bodyPr wrap="square">
            <a:spAutoFit/>
          </a:bodyPr>
          <a:lstStyle/>
          <a:p>
            <a:pPr marL="228600" indent="-228600">
              <a:spcAft>
                <a:spcPts val="600"/>
              </a:spcAft>
              <a:buFont typeface="+mj-lt"/>
              <a:buAutoNum type="arabicPeriod"/>
            </a:pPr>
            <a:r>
              <a:rPr lang="en-GB" dirty="0"/>
              <a:t>The URL is received by a DNS server.</a:t>
            </a:r>
            <a:endParaRPr lang="en-GB" sz="800" dirty="0"/>
          </a:p>
          <a:p>
            <a:pPr marL="228600" indent="-228600">
              <a:spcAft>
                <a:spcPts val="600"/>
              </a:spcAft>
              <a:buFont typeface="+mj-lt"/>
              <a:buAutoNum type="arabicPeriod"/>
            </a:pPr>
            <a:r>
              <a:rPr lang="en-GB" dirty="0"/>
              <a:t>The server queries a root name server.</a:t>
            </a:r>
            <a:endParaRPr lang="en-GB" sz="800" dirty="0"/>
          </a:p>
          <a:p>
            <a:pPr marL="228600" indent="-228600">
              <a:spcAft>
                <a:spcPts val="600"/>
              </a:spcAft>
              <a:buFont typeface="+mj-lt"/>
              <a:buAutoNum type="arabicPeriod"/>
            </a:pPr>
            <a:r>
              <a:rPr lang="en-GB" dirty="0"/>
              <a:t>The root server responds with the address of the top-level domain server for .com.</a:t>
            </a:r>
            <a:endParaRPr lang="en-GB" sz="800" dirty="0"/>
          </a:p>
          <a:p>
            <a:pPr marL="228600" indent="-228600">
              <a:spcAft>
                <a:spcPts val="600"/>
              </a:spcAft>
              <a:buFont typeface="+mj-lt"/>
              <a:buAutoNum type="arabicPeriod"/>
            </a:pPr>
            <a:r>
              <a:rPr lang="en-GB" dirty="0"/>
              <a:t>The resolver then makes a request to the .com TLD server.</a:t>
            </a:r>
            <a:endParaRPr lang="en-GB" sz="800" dirty="0"/>
          </a:p>
          <a:p>
            <a:pPr marL="228600" indent="-228600">
              <a:spcAft>
                <a:spcPts val="600"/>
              </a:spcAft>
              <a:buFont typeface="+mj-lt"/>
              <a:buAutoNum type="arabicPeriod"/>
            </a:pPr>
            <a:r>
              <a:rPr lang="en-GB" dirty="0"/>
              <a:t>The TLD server responds with the IP address of the domain’s name server.</a:t>
            </a:r>
            <a:endParaRPr lang="en-GB" sz="800" dirty="0"/>
          </a:p>
          <a:p>
            <a:pPr marL="228600" indent="-228600">
              <a:buFont typeface="+mj-lt"/>
              <a:buAutoNum type="arabicPeriod"/>
            </a:pPr>
            <a:endParaRPr lang="en-GB" sz="800" dirty="0">
              <a:solidFill>
                <a:schemeClr val="tx1"/>
              </a:solidFill>
            </a:endParaRPr>
          </a:p>
          <a:p>
            <a:pPr marL="342900" indent="-342900">
              <a:buFont typeface="+mj-lt"/>
              <a:buAutoNum type="arabicPeriod"/>
            </a:pPr>
            <a:endParaRPr lang="en-GB" dirty="0">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mj-lt"/>
              <a:buAutoNum type="arabicPeriod"/>
            </a:pPr>
            <a:endParaRPr lang="en-GB" dirty="0">
              <a:latin typeface="Calibri" panose="020F0502020204030204" pitchFamily="34" charset="0"/>
              <a:ea typeface="Calibri" panose="020F0502020204030204" pitchFamily="34" charset="0"/>
              <a:cs typeface="Times New Roman" panose="02020603050405020304" pitchFamily="18" charset="0"/>
            </a:endParaRP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pic>
        <p:nvPicPr>
          <p:cNvPr id="7" name="Graphic 6" descr="Cloud">
            <a:extLst>
              <a:ext uri="{FF2B5EF4-FFF2-40B4-BE49-F238E27FC236}">
                <a16:creationId xmlns:a16="http://schemas.microsoft.com/office/drawing/2014/main" id="{B8A31D4D-934A-4019-927F-26B85E06F71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a:off x="2449903" y="-650722"/>
            <a:ext cx="3217963" cy="3217963"/>
          </a:xfrm>
          <a:prstGeom prst="rect">
            <a:avLst/>
          </a:prstGeom>
        </p:spPr>
      </p:pic>
      <p:sp>
        <p:nvSpPr>
          <p:cNvPr id="8" name="Rectangle 7">
            <a:extLst>
              <a:ext uri="{FF2B5EF4-FFF2-40B4-BE49-F238E27FC236}">
                <a16:creationId xmlns:a16="http://schemas.microsoft.com/office/drawing/2014/main" id="{261F051C-E9FE-4BD9-9E4B-5E607488C2FC}"/>
              </a:ext>
            </a:extLst>
          </p:cNvPr>
          <p:cNvSpPr/>
          <p:nvPr/>
        </p:nvSpPr>
        <p:spPr>
          <a:xfrm>
            <a:off x="176566" y="523174"/>
            <a:ext cx="3882320"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rPr>
              <a:t>Domain name service</a:t>
            </a:r>
          </a:p>
        </p:txBody>
      </p:sp>
      <p:pic>
        <p:nvPicPr>
          <p:cNvPr id="9" name="Picture 8">
            <a:extLst>
              <a:ext uri="{FF2B5EF4-FFF2-40B4-BE49-F238E27FC236}">
                <a16:creationId xmlns:a16="http://schemas.microsoft.com/office/drawing/2014/main" id="{7F06D73B-3100-45EA-86C1-0C1C78BFDED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16895" y="990326"/>
            <a:ext cx="1445822" cy="292176"/>
          </a:xfrm>
          <a:prstGeom prst="rect">
            <a:avLst/>
          </a:prstGeom>
        </p:spPr>
      </p:pic>
      <p:cxnSp>
        <p:nvCxnSpPr>
          <p:cNvPr id="46" name="Straight Arrow Connector 45">
            <a:extLst>
              <a:ext uri="{FF2B5EF4-FFF2-40B4-BE49-F238E27FC236}">
                <a16:creationId xmlns:a16="http://schemas.microsoft.com/office/drawing/2014/main" id="{4BED26F6-E03B-4696-BA1D-9561058FC419}"/>
              </a:ext>
            </a:extLst>
          </p:cNvPr>
          <p:cNvCxnSpPr>
            <a:cxnSpLocks/>
            <a:endCxn id="9" idx="0"/>
          </p:cNvCxnSpPr>
          <p:nvPr/>
        </p:nvCxnSpPr>
        <p:spPr>
          <a:xfrm>
            <a:off x="4039806" y="390523"/>
            <a:ext cx="0" cy="599803"/>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8B2B618D-F24B-447E-9458-F7C212876D64}"/>
              </a:ext>
            </a:extLst>
          </p:cNvPr>
          <p:cNvCxnSpPr>
            <a:cxnSpLocks/>
          </p:cNvCxnSpPr>
          <p:nvPr/>
        </p:nvCxnSpPr>
        <p:spPr>
          <a:xfrm>
            <a:off x="4058886" y="1282502"/>
            <a:ext cx="0" cy="512431"/>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7BDC972C-A0FA-4147-B81C-3A241439CD4F}"/>
              </a:ext>
            </a:extLst>
          </p:cNvPr>
          <p:cNvSpPr/>
          <p:nvPr/>
        </p:nvSpPr>
        <p:spPr>
          <a:xfrm>
            <a:off x="4095269" y="505758"/>
            <a:ext cx="2765950" cy="369332"/>
          </a:xfrm>
          <a:prstGeom prst="rect">
            <a:avLst/>
          </a:prstGeom>
        </p:spPr>
        <p:txBody>
          <a:bodyPr wrap="non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URL in </a:t>
            </a:r>
            <a:r>
              <a:rPr lang="en-GB"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www.google.com</a:t>
            </a:r>
            <a:endParaRPr lang="en-GB" dirty="0"/>
          </a:p>
        </p:txBody>
      </p:sp>
      <p:sp>
        <p:nvSpPr>
          <p:cNvPr id="14" name="TextBox 13">
            <a:extLst>
              <a:ext uri="{FF2B5EF4-FFF2-40B4-BE49-F238E27FC236}">
                <a16:creationId xmlns:a16="http://schemas.microsoft.com/office/drawing/2014/main" id="{069E94DE-1354-4BF1-AD80-1709F0E1F6AE}"/>
              </a:ext>
            </a:extLst>
          </p:cNvPr>
          <p:cNvSpPr txBox="1"/>
          <p:nvPr/>
        </p:nvSpPr>
        <p:spPr>
          <a:xfrm>
            <a:off x="2689083" y="1738487"/>
            <a:ext cx="2762179" cy="369332"/>
          </a:xfrm>
          <a:prstGeom prst="rect">
            <a:avLst/>
          </a:prstGeom>
          <a:noFill/>
        </p:spPr>
        <p:txBody>
          <a:bodyPr wrap="square" rtlCol="0">
            <a:spAutoFit/>
          </a:bodyPr>
          <a:lstStyle/>
          <a:p>
            <a:pPr algn="ctr"/>
            <a:r>
              <a:rPr lang="en-GB" b="1" dirty="0"/>
              <a:t>Domain name service</a:t>
            </a:r>
            <a:endParaRPr lang="en-GB" sz="2000" b="1" dirty="0"/>
          </a:p>
        </p:txBody>
      </p:sp>
      <p:cxnSp>
        <p:nvCxnSpPr>
          <p:cNvPr id="50" name="Straight Arrow Connector 49">
            <a:extLst>
              <a:ext uri="{FF2B5EF4-FFF2-40B4-BE49-F238E27FC236}">
                <a16:creationId xmlns:a16="http://schemas.microsoft.com/office/drawing/2014/main" id="{FA998C93-06AA-4162-92AB-A2BB3E892B55}"/>
              </a:ext>
            </a:extLst>
          </p:cNvPr>
          <p:cNvCxnSpPr>
            <a:cxnSpLocks/>
          </p:cNvCxnSpPr>
          <p:nvPr/>
        </p:nvCxnSpPr>
        <p:spPr>
          <a:xfrm>
            <a:off x="4058886" y="2054810"/>
            <a:ext cx="0" cy="5124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67D7750E-B9C1-43A5-8C0F-35DBE64014D0}"/>
              </a:ext>
            </a:extLst>
          </p:cNvPr>
          <p:cNvSpPr txBox="1"/>
          <p:nvPr/>
        </p:nvSpPr>
        <p:spPr>
          <a:xfrm>
            <a:off x="2327896" y="4135611"/>
            <a:ext cx="3423819" cy="369332"/>
          </a:xfrm>
          <a:prstGeom prst="rect">
            <a:avLst/>
          </a:prstGeom>
          <a:noFill/>
        </p:spPr>
        <p:txBody>
          <a:bodyPr wrap="square" rtlCol="0">
            <a:spAutoFit/>
          </a:bodyPr>
          <a:lstStyle/>
          <a:p>
            <a:pPr algn="ctr"/>
            <a:r>
              <a:rPr lang="en-GB" b="1" dirty="0"/>
              <a:t>DNS recursive/resolver server</a:t>
            </a:r>
            <a:endParaRPr lang="en-GB" sz="2000" b="1" dirty="0"/>
          </a:p>
        </p:txBody>
      </p:sp>
      <p:sp>
        <p:nvSpPr>
          <p:cNvPr id="59" name="TextBox 58">
            <a:extLst>
              <a:ext uri="{FF2B5EF4-FFF2-40B4-BE49-F238E27FC236}">
                <a16:creationId xmlns:a16="http://schemas.microsoft.com/office/drawing/2014/main" id="{0BF25F5E-37A9-4C20-B454-0FE312C8BBC0}"/>
              </a:ext>
            </a:extLst>
          </p:cNvPr>
          <p:cNvSpPr txBox="1"/>
          <p:nvPr/>
        </p:nvSpPr>
        <p:spPr>
          <a:xfrm>
            <a:off x="0" y="6179323"/>
            <a:ext cx="2523066" cy="369332"/>
          </a:xfrm>
          <a:prstGeom prst="rect">
            <a:avLst/>
          </a:prstGeom>
          <a:noFill/>
        </p:spPr>
        <p:txBody>
          <a:bodyPr wrap="square" rtlCol="0">
            <a:spAutoFit/>
          </a:bodyPr>
          <a:lstStyle/>
          <a:p>
            <a:pPr algn="ctr"/>
            <a:r>
              <a:rPr lang="en-GB" b="1" dirty="0"/>
              <a:t>Root name server</a:t>
            </a:r>
            <a:endParaRPr lang="en-GB" sz="2000" b="1" dirty="0"/>
          </a:p>
        </p:txBody>
      </p:sp>
      <p:sp>
        <p:nvSpPr>
          <p:cNvPr id="64" name="TextBox 63">
            <a:extLst>
              <a:ext uri="{FF2B5EF4-FFF2-40B4-BE49-F238E27FC236}">
                <a16:creationId xmlns:a16="http://schemas.microsoft.com/office/drawing/2014/main" id="{493F7F00-471B-48DD-8BCD-FF64E182ED08}"/>
              </a:ext>
            </a:extLst>
          </p:cNvPr>
          <p:cNvSpPr txBox="1"/>
          <p:nvPr/>
        </p:nvSpPr>
        <p:spPr>
          <a:xfrm>
            <a:off x="2755694" y="6195310"/>
            <a:ext cx="2523066" cy="646331"/>
          </a:xfrm>
          <a:prstGeom prst="rect">
            <a:avLst/>
          </a:prstGeom>
          <a:noFill/>
        </p:spPr>
        <p:txBody>
          <a:bodyPr wrap="square" rtlCol="0">
            <a:spAutoFit/>
          </a:bodyPr>
          <a:lstStyle/>
          <a:p>
            <a:pPr algn="ctr"/>
            <a:r>
              <a:rPr lang="en-GB" b="1" dirty="0"/>
              <a:t>.com top-level domain server (TLD)</a:t>
            </a:r>
            <a:endParaRPr lang="en-GB" sz="2000" b="1" dirty="0"/>
          </a:p>
        </p:txBody>
      </p:sp>
      <p:cxnSp>
        <p:nvCxnSpPr>
          <p:cNvPr id="72" name="Straight Arrow Connector 71">
            <a:extLst>
              <a:ext uri="{FF2B5EF4-FFF2-40B4-BE49-F238E27FC236}">
                <a16:creationId xmlns:a16="http://schemas.microsoft.com/office/drawing/2014/main" id="{82B3AEC2-BA5F-45A9-875B-3C9D04D56903}"/>
              </a:ext>
            </a:extLst>
          </p:cNvPr>
          <p:cNvCxnSpPr>
            <a:cxnSpLocks/>
            <a:stCxn id="52" idx="2"/>
          </p:cNvCxnSpPr>
          <p:nvPr/>
        </p:nvCxnSpPr>
        <p:spPr>
          <a:xfrm flipH="1">
            <a:off x="1261533" y="4504943"/>
            <a:ext cx="2778273" cy="710948"/>
          </a:xfrm>
          <a:prstGeom prst="straightConnector1">
            <a:avLst/>
          </a:prstGeom>
          <a:ln w="381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AC9D86B3-39C0-4C01-89FE-EC0FC1E79904}"/>
              </a:ext>
            </a:extLst>
          </p:cNvPr>
          <p:cNvCxnSpPr>
            <a:cxnSpLocks/>
            <a:stCxn id="52" idx="2"/>
          </p:cNvCxnSpPr>
          <p:nvPr/>
        </p:nvCxnSpPr>
        <p:spPr>
          <a:xfrm>
            <a:off x="4039806" y="4504943"/>
            <a:ext cx="0" cy="758554"/>
          </a:xfrm>
          <a:prstGeom prst="straightConnector1">
            <a:avLst/>
          </a:prstGeom>
          <a:ln w="381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D4E3143B-E89A-4DB4-8EB3-157A569E42BE}"/>
              </a:ext>
            </a:extLst>
          </p:cNvPr>
          <p:cNvCxnSpPr/>
          <p:nvPr/>
        </p:nvCxnSpPr>
        <p:spPr>
          <a:xfrm>
            <a:off x="-1" y="1941689"/>
            <a:ext cx="2957690" cy="0"/>
          </a:xfrm>
          <a:prstGeom prst="line">
            <a:avLst/>
          </a:prstGeom>
          <a:ln w="190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6242722-997B-4B6B-B6F9-5996D950E98C}"/>
              </a:ext>
            </a:extLst>
          </p:cNvPr>
          <p:cNvCxnSpPr>
            <a:cxnSpLocks/>
          </p:cNvCxnSpPr>
          <p:nvPr/>
        </p:nvCxnSpPr>
        <p:spPr>
          <a:xfrm>
            <a:off x="5143500" y="1941689"/>
            <a:ext cx="2806426" cy="0"/>
          </a:xfrm>
          <a:prstGeom prst="line">
            <a:avLst/>
          </a:prstGeom>
          <a:ln w="190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pic>
        <p:nvPicPr>
          <p:cNvPr id="37" name="Picture 36">
            <a:extLst>
              <a:ext uri="{FF2B5EF4-FFF2-40B4-BE49-F238E27FC236}">
                <a16:creationId xmlns:a16="http://schemas.microsoft.com/office/drawing/2014/main" id="{90E12FC5-23DF-45B9-D9D4-74D22B401B89}"/>
              </a:ext>
            </a:extLst>
          </p:cNvPr>
          <p:cNvPicPr>
            <a:picLocks noChangeAspect="1"/>
          </p:cNvPicPr>
          <p:nvPr/>
        </p:nvPicPr>
        <p:blipFill>
          <a:blip r:embed="rId5"/>
          <a:stretch>
            <a:fillRect/>
          </a:stretch>
        </p:blipFill>
        <p:spPr>
          <a:xfrm>
            <a:off x="3209215" y="2613021"/>
            <a:ext cx="1661182" cy="1497609"/>
          </a:xfrm>
          <a:prstGeom prst="rect">
            <a:avLst/>
          </a:prstGeom>
        </p:spPr>
      </p:pic>
      <p:pic>
        <p:nvPicPr>
          <p:cNvPr id="38" name="Picture 37">
            <a:extLst>
              <a:ext uri="{FF2B5EF4-FFF2-40B4-BE49-F238E27FC236}">
                <a16:creationId xmlns:a16="http://schemas.microsoft.com/office/drawing/2014/main" id="{1BEF405E-F284-CEBC-E42A-D303F3920548}"/>
              </a:ext>
            </a:extLst>
          </p:cNvPr>
          <p:cNvPicPr>
            <a:picLocks noChangeAspect="1"/>
          </p:cNvPicPr>
          <p:nvPr/>
        </p:nvPicPr>
        <p:blipFill>
          <a:blip r:embed="rId5"/>
          <a:stretch>
            <a:fillRect/>
          </a:stretch>
        </p:blipFill>
        <p:spPr>
          <a:xfrm>
            <a:off x="674992" y="5215891"/>
            <a:ext cx="1173081" cy="1057571"/>
          </a:xfrm>
          <a:prstGeom prst="rect">
            <a:avLst/>
          </a:prstGeom>
        </p:spPr>
      </p:pic>
      <p:pic>
        <p:nvPicPr>
          <p:cNvPr id="39" name="Picture 38">
            <a:extLst>
              <a:ext uri="{FF2B5EF4-FFF2-40B4-BE49-F238E27FC236}">
                <a16:creationId xmlns:a16="http://schemas.microsoft.com/office/drawing/2014/main" id="{D1EDEBCD-EF77-D8A5-FC21-7FAB1622636E}"/>
              </a:ext>
            </a:extLst>
          </p:cNvPr>
          <p:cNvPicPr>
            <a:picLocks noChangeAspect="1"/>
          </p:cNvPicPr>
          <p:nvPr/>
        </p:nvPicPr>
        <p:blipFill>
          <a:blip r:embed="rId5"/>
          <a:stretch>
            <a:fillRect/>
          </a:stretch>
        </p:blipFill>
        <p:spPr>
          <a:xfrm>
            <a:off x="3455499" y="5217101"/>
            <a:ext cx="1173081" cy="1057571"/>
          </a:xfrm>
          <a:prstGeom prst="rect">
            <a:avLst/>
          </a:prstGeom>
        </p:spPr>
      </p:pic>
      <p:grpSp>
        <p:nvGrpSpPr>
          <p:cNvPr id="40" name="Group 39">
            <a:extLst>
              <a:ext uri="{FF2B5EF4-FFF2-40B4-BE49-F238E27FC236}">
                <a16:creationId xmlns:a16="http://schemas.microsoft.com/office/drawing/2014/main" id="{152097D9-3306-F839-372A-CD5CB6921579}"/>
              </a:ext>
            </a:extLst>
          </p:cNvPr>
          <p:cNvGrpSpPr/>
          <p:nvPr/>
        </p:nvGrpSpPr>
        <p:grpSpPr>
          <a:xfrm>
            <a:off x="-1" y="0"/>
            <a:ext cx="12192001" cy="419100"/>
            <a:chOff x="-1" y="0"/>
            <a:chExt cx="12192001" cy="533400"/>
          </a:xfrm>
        </p:grpSpPr>
        <p:sp>
          <p:nvSpPr>
            <p:cNvPr id="41" name="Rectangle 40">
              <a:extLst>
                <a:ext uri="{FF2B5EF4-FFF2-40B4-BE49-F238E27FC236}">
                  <a16:creationId xmlns:a16="http://schemas.microsoft.com/office/drawing/2014/main" id="{2ECFC040-0D43-40DA-B80F-29E94B2ADE5B}"/>
                </a:ext>
              </a:extLst>
            </p:cNvPr>
            <p:cNvSpPr/>
            <p:nvPr userDrawn="1"/>
          </p:nvSpPr>
          <p:spPr>
            <a:xfrm>
              <a:off x="-1" y="0"/>
              <a:ext cx="10095723" cy="533400"/>
            </a:xfrm>
            <a:prstGeom prst="rect">
              <a:avLst/>
            </a:prstGeom>
            <a:solidFill>
              <a:srgbClr val="F26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800" b="1" dirty="0">
                  <a:solidFill>
                    <a:schemeClr val="bg1"/>
                  </a:solidFill>
                </a:rPr>
                <a:t>5.1 The internet and the world wide web | How web pages are located</a:t>
              </a:r>
            </a:p>
          </p:txBody>
        </p:sp>
        <p:sp>
          <p:nvSpPr>
            <p:cNvPr id="45" name="Rectangle 44">
              <a:extLst>
                <a:ext uri="{FF2B5EF4-FFF2-40B4-BE49-F238E27FC236}">
                  <a16:creationId xmlns:a16="http://schemas.microsoft.com/office/drawing/2014/main" id="{5F697DF9-2155-3904-3B9D-9BEE113BAD01}"/>
                </a:ext>
              </a:extLst>
            </p:cNvPr>
            <p:cNvSpPr/>
            <p:nvPr/>
          </p:nvSpPr>
          <p:spPr>
            <a:xfrm>
              <a:off x="9100868" y="0"/>
              <a:ext cx="3091132" cy="533400"/>
            </a:xfrm>
            <a:prstGeom prst="rect">
              <a:avLst/>
            </a:prstGeom>
            <a:solidFill>
              <a:srgbClr val="F2652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46800" rtlCol="0" anchor="t"/>
            <a:lstStyle/>
            <a:p>
              <a:pPr algn="r"/>
              <a:r>
                <a:rPr lang="en-GB" b="1" dirty="0">
                  <a:solidFill>
                    <a:schemeClr val="bg1"/>
                  </a:solidFill>
                </a:rPr>
                <a:t>CAMBRIDGE IGCSE (0478/0984)</a:t>
              </a:r>
            </a:p>
          </p:txBody>
        </p:sp>
      </p:grpSp>
    </p:spTree>
    <p:extLst>
      <p:ext uri="{BB962C8B-B14F-4D97-AF65-F5344CB8AC3E}">
        <p14:creationId xmlns:p14="http://schemas.microsoft.com/office/powerpoint/2010/main" val="2632508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ectangle 83">
            <a:extLst>
              <a:ext uri="{FF2B5EF4-FFF2-40B4-BE49-F238E27FC236}">
                <a16:creationId xmlns:a16="http://schemas.microsoft.com/office/drawing/2014/main" id="{86A6E3B7-9AB5-4C8A-8996-994CA6F1CDF6}"/>
              </a:ext>
            </a:extLst>
          </p:cNvPr>
          <p:cNvSpPr/>
          <p:nvPr/>
        </p:nvSpPr>
        <p:spPr>
          <a:xfrm>
            <a:off x="-1" y="1941689"/>
            <a:ext cx="7949927" cy="491631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a:extLst>
              <a:ext uri="{FF2B5EF4-FFF2-40B4-BE49-F238E27FC236}">
                <a16:creationId xmlns:a16="http://schemas.microsoft.com/office/drawing/2014/main" id="{FCC0CE92-7DA5-4842-95D5-3102601AD08A}"/>
              </a:ext>
            </a:extLst>
          </p:cNvPr>
          <p:cNvSpPr/>
          <p:nvPr/>
        </p:nvSpPr>
        <p:spPr>
          <a:xfrm>
            <a:off x="7949938" y="405353"/>
            <a:ext cx="4273485" cy="6452647"/>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 name="Rectangle 35">
            <a:extLst>
              <a:ext uri="{FF2B5EF4-FFF2-40B4-BE49-F238E27FC236}">
                <a16:creationId xmlns:a16="http://schemas.microsoft.com/office/drawing/2014/main" id="{D5BF1568-F5C0-4EFB-8FC5-8D96FC900D4E}"/>
              </a:ext>
            </a:extLst>
          </p:cNvPr>
          <p:cNvSpPr/>
          <p:nvPr/>
        </p:nvSpPr>
        <p:spPr>
          <a:xfrm>
            <a:off x="7949939" y="435008"/>
            <a:ext cx="4242062" cy="5693866"/>
          </a:xfrm>
          <a:prstGeom prst="rect">
            <a:avLst/>
          </a:prstGeom>
        </p:spPr>
        <p:txBody>
          <a:bodyPr wrap="square">
            <a:spAutoFit/>
          </a:bodyPr>
          <a:lstStyle/>
          <a:p>
            <a:pPr marL="228600" indent="-228600">
              <a:spcAft>
                <a:spcPts val="600"/>
              </a:spcAft>
              <a:buFont typeface="+mj-lt"/>
              <a:buAutoNum type="arabicPeriod"/>
            </a:pPr>
            <a:r>
              <a:rPr lang="en-GB" sz="1800" dirty="0">
                <a:solidFill>
                  <a:schemeClr val="tx1"/>
                </a:solidFill>
              </a:rPr>
              <a:t>The URL is received by a DNS server.</a:t>
            </a:r>
            <a:endParaRPr lang="en-GB" sz="800" dirty="0">
              <a:solidFill>
                <a:schemeClr val="tx1"/>
              </a:solidFill>
            </a:endParaRPr>
          </a:p>
          <a:p>
            <a:pPr marL="228600" indent="-228600">
              <a:spcAft>
                <a:spcPts val="600"/>
              </a:spcAft>
              <a:buFont typeface="+mj-lt"/>
              <a:buAutoNum type="arabicPeriod"/>
            </a:pPr>
            <a:r>
              <a:rPr lang="en-GB" sz="1800" dirty="0">
                <a:solidFill>
                  <a:schemeClr val="tx1"/>
                </a:solidFill>
              </a:rPr>
              <a:t>The server queries a root name server.</a:t>
            </a:r>
            <a:endParaRPr lang="en-GB" sz="800" dirty="0">
              <a:solidFill>
                <a:schemeClr val="tx1"/>
              </a:solidFill>
            </a:endParaRPr>
          </a:p>
          <a:p>
            <a:pPr marL="228600" indent="-228600">
              <a:spcAft>
                <a:spcPts val="600"/>
              </a:spcAft>
              <a:buFont typeface="+mj-lt"/>
              <a:buAutoNum type="arabicPeriod"/>
            </a:pPr>
            <a:r>
              <a:rPr lang="en-GB" sz="1800" dirty="0">
                <a:solidFill>
                  <a:schemeClr val="tx1"/>
                </a:solidFill>
              </a:rPr>
              <a:t>The root server responds with the address of the top-level domain server for .com.</a:t>
            </a:r>
            <a:endParaRPr lang="en-GB" sz="800" dirty="0">
              <a:solidFill>
                <a:schemeClr val="tx1"/>
              </a:solidFill>
            </a:endParaRPr>
          </a:p>
          <a:p>
            <a:pPr marL="228600" indent="-228600">
              <a:spcAft>
                <a:spcPts val="600"/>
              </a:spcAft>
              <a:buFont typeface="+mj-lt"/>
              <a:buAutoNum type="arabicPeriod"/>
            </a:pPr>
            <a:r>
              <a:rPr lang="en-GB" sz="1800" dirty="0">
                <a:solidFill>
                  <a:schemeClr val="tx1"/>
                </a:solidFill>
              </a:rPr>
              <a:t>The resolver then makes a request to the .com TLD server.</a:t>
            </a:r>
            <a:endParaRPr lang="en-GB" sz="800" dirty="0">
              <a:solidFill>
                <a:schemeClr val="tx1"/>
              </a:solidFill>
            </a:endParaRPr>
          </a:p>
          <a:p>
            <a:pPr marL="228600" indent="-228600">
              <a:spcAft>
                <a:spcPts val="600"/>
              </a:spcAft>
              <a:buFont typeface="+mj-lt"/>
              <a:buAutoNum type="arabicPeriod"/>
            </a:pPr>
            <a:r>
              <a:rPr lang="en-GB" sz="1800" dirty="0">
                <a:solidFill>
                  <a:schemeClr val="tx1"/>
                </a:solidFill>
              </a:rPr>
              <a:t>The TLD server responds with the IP address of the domain’s name server.</a:t>
            </a:r>
            <a:endParaRPr lang="en-GB" sz="800" dirty="0">
              <a:solidFill>
                <a:schemeClr val="tx1"/>
              </a:solidFill>
            </a:endParaRPr>
          </a:p>
          <a:p>
            <a:pPr marL="228600" indent="-228600">
              <a:spcAft>
                <a:spcPts val="600"/>
              </a:spcAft>
              <a:buFont typeface="+mj-lt"/>
              <a:buAutoNum type="arabicPeriod"/>
            </a:pPr>
            <a:r>
              <a:rPr lang="en-GB" sz="1800" dirty="0">
                <a:solidFill>
                  <a:schemeClr val="tx1"/>
                </a:solidFill>
              </a:rPr>
              <a:t>The recursive resolver sends a query to the domain’s name server.</a:t>
            </a:r>
            <a:endParaRPr lang="en-GB" sz="800" dirty="0">
              <a:solidFill>
                <a:schemeClr val="tx1"/>
              </a:solidFill>
            </a:endParaRPr>
          </a:p>
          <a:p>
            <a:pPr marL="228600" indent="-228600">
              <a:spcAft>
                <a:spcPts val="600"/>
              </a:spcAft>
              <a:buFont typeface="+mj-lt"/>
              <a:buAutoNum type="arabicPeriod"/>
            </a:pPr>
            <a:r>
              <a:rPr lang="en-GB" sz="1800" dirty="0">
                <a:solidFill>
                  <a:schemeClr val="tx1"/>
                </a:solidFill>
              </a:rPr>
              <a:t>The name server returns the IP address of google.com (8.8.8.8) to the resolver.</a:t>
            </a:r>
            <a:endParaRPr lang="en-GB" sz="800" dirty="0">
              <a:solidFill>
                <a:schemeClr val="tx1"/>
              </a:solidFill>
            </a:endParaRPr>
          </a:p>
          <a:p>
            <a:pPr marL="228600" indent="-228600">
              <a:spcAft>
                <a:spcPts val="600"/>
              </a:spcAft>
              <a:buFont typeface="+mj-lt"/>
              <a:buAutoNum type="arabicPeriod"/>
            </a:pPr>
            <a:r>
              <a:rPr lang="en-GB" sz="1800" dirty="0">
                <a:solidFill>
                  <a:schemeClr val="tx1"/>
                </a:solidFill>
              </a:rPr>
              <a:t>The DNS resolver responds to the web browser with the Google’s IP address.</a:t>
            </a:r>
          </a:p>
          <a:p>
            <a:pPr marL="342900" indent="-342900">
              <a:buFont typeface="+mj-lt"/>
              <a:buAutoNum type="arabicPeriod"/>
            </a:pPr>
            <a:endParaRPr lang="en-GB" dirty="0">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mj-lt"/>
              <a:buAutoNum type="arabicPeriod"/>
            </a:pPr>
            <a:endParaRPr lang="en-GB" dirty="0">
              <a:latin typeface="Calibri" panose="020F0502020204030204" pitchFamily="34" charset="0"/>
              <a:ea typeface="Calibri" panose="020F0502020204030204" pitchFamily="34" charset="0"/>
              <a:cs typeface="Times New Roman" panose="02020603050405020304" pitchFamily="18" charset="0"/>
            </a:endParaRP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pic>
        <p:nvPicPr>
          <p:cNvPr id="7" name="Graphic 6" descr="Cloud">
            <a:extLst>
              <a:ext uri="{FF2B5EF4-FFF2-40B4-BE49-F238E27FC236}">
                <a16:creationId xmlns:a16="http://schemas.microsoft.com/office/drawing/2014/main" id="{B8A31D4D-934A-4019-927F-26B85E06F71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a:off x="2449903" y="-650722"/>
            <a:ext cx="3217963" cy="3217963"/>
          </a:xfrm>
          <a:prstGeom prst="rect">
            <a:avLst/>
          </a:prstGeom>
        </p:spPr>
      </p:pic>
      <p:sp>
        <p:nvSpPr>
          <p:cNvPr id="8" name="Rectangle 7">
            <a:extLst>
              <a:ext uri="{FF2B5EF4-FFF2-40B4-BE49-F238E27FC236}">
                <a16:creationId xmlns:a16="http://schemas.microsoft.com/office/drawing/2014/main" id="{261F051C-E9FE-4BD9-9E4B-5E607488C2FC}"/>
              </a:ext>
            </a:extLst>
          </p:cNvPr>
          <p:cNvSpPr/>
          <p:nvPr/>
        </p:nvSpPr>
        <p:spPr>
          <a:xfrm>
            <a:off x="176566" y="523174"/>
            <a:ext cx="3882320"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rPr>
              <a:t>Domain name service</a:t>
            </a:r>
          </a:p>
        </p:txBody>
      </p:sp>
      <p:pic>
        <p:nvPicPr>
          <p:cNvPr id="9" name="Picture 8">
            <a:extLst>
              <a:ext uri="{FF2B5EF4-FFF2-40B4-BE49-F238E27FC236}">
                <a16:creationId xmlns:a16="http://schemas.microsoft.com/office/drawing/2014/main" id="{7F06D73B-3100-45EA-86C1-0C1C78BFDED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16895" y="990326"/>
            <a:ext cx="1445822" cy="292176"/>
          </a:xfrm>
          <a:prstGeom prst="rect">
            <a:avLst/>
          </a:prstGeom>
        </p:spPr>
      </p:pic>
      <p:cxnSp>
        <p:nvCxnSpPr>
          <p:cNvPr id="46" name="Straight Arrow Connector 45">
            <a:extLst>
              <a:ext uri="{FF2B5EF4-FFF2-40B4-BE49-F238E27FC236}">
                <a16:creationId xmlns:a16="http://schemas.microsoft.com/office/drawing/2014/main" id="{4BED26F6-E03B-4696-BA1D-9561058FC419}"/>
              </a:ext>
            </a:extLst>
          </p:cNvPr>
          <p:cNvCxnSpPr>
            <a:cxnSpLocks/>
            <a:endCxn id="9" idx="0"/>
          </p:cNvCxnSpPr>
          <p:nvPr/>
        </p:nvCxnSpPr>
        <p:spPr>
          <a:xfrm>
            <a:off x="4039806" y="390523"/>
            <a:ext cx="0" cy="599803"/>
          </a:xfrm>
          <a:prstGeom prst="straightConnector1">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8B2B618D-F24B-447E-9458-F7C212876D64}"/>
              </a:ext>
            </a:extLst>
          </p:cNvPr>
          <p:cNvCxnSpPr>
            <a:cxnSpLocks/>
          </p:cNvCxnSpPr>
          <p:nvPr/>
        </p:nvCxnSpPr>
        <p:spPr>
          <a:xfrm>
            <a:off x="4058886" y="1282502"/>
            <a:ext cx="0" cy="512431"/>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7BDC972C-A0FA-4147-B81C-3A241439CD4F}"/>
              </a:ext>
            </a:extLst>
          </p:cNvPr>
          <p:cNvSpPr/>
          <p:nvPr/>
        </p:nvSpPr>
        <p:spPr>
          <a:xfrm>
            <a:off x="4095269" y="505758"/>
            <a:ext cx="2765950" cy="369332"/>
          </a:xfrm>
          <a:prstGeom prst="rect">
            <a:avLst/>
          </a:prstGeom>
        </p:spPr>
        <p:txBody>
          <a:bodyPr wrap="non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URL in </a:t>
            </a:r>
            <a:r>
              <a:rPr lang="en-GB"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www.google.com</a:t>
            </a:r>
            <a:endParaRPr lang="en-GB" dirty="0"/>
          </a:p>
        </p:txBody>
      </p:sp>
      <p:sp>
        <p:nvSpPr>
          <p:cNvPr id="14" name="TextBox 13">
            <a:extLst>
              <a:ext uri="{FF2B5EF4-FFF2-40B4-BE49-F238E27FC236}">
                <a16:creationId xmlns:a16="http://schemas.microsoft.com/office/drawing/2014/main" id="{069E94DE-1354-4BF1-AD80-1709F0E1F6AE}"/>
              </a:ext>
            </a:extLst>
          </p:cNvPr>
          <p:cNvSpPr txBox="1"/>
          <p:nvPr/>
        </p:nvSpPr>
        <p:spPr>
          <a:xfrm>
            <a:off x="2689083" y="1738487"/>
            <a:ext cx="2762179" cy="369332"/>
          </a:xfrm>
          <a:prstGeom prst="rect">
            <a:avLst/>
          </a:prstGeom>
          <a:noFill/>
        </p:spPr>
        <p:txBody>
          <a:bodyPr wrap="square" rtlCol="0">
            <a:spAutoFit/>
          </a:bodyPr>
          <a:lstStyle/>
          <a:p>
            <a:pPr algn="ctr"/>
            <a:r>
              <a:rPr lang="en-GB" b="1" dirty="0"/>
              <a:t>Domain name service</a:t>
            </a:r>
            <a:endParaRPr lang="en-GB" sz="2000" b="1" dirty="0"/>
          </a:p>
        </p:txBody>
      </p:sp>
      <p:cxnSp>
        <p:nvCxnSpPr>
          <p:cNvPr id="50" name="Straight Arrow Connector 49">
            <a:extLst>
              <a:ext uri="{FF2B5EF4-FFF2-40B4-BE49-F238E27FC236}">
                <a16:creationId xmlns:a16="http://schemas.microsoft.com/office/drawing/2014/main" id="{FA998C93-06AA-4162-92AB-A2BB3E892B55}"/>
              </a:ext>
            </a:extLst>
          </p:cNvPr>
          <p:cNvCxnSpPr>
            <a:cxnSpLocks/>
          </p:cNvCxnSpPr>
          <p:nvPr/>
        </p:nvCxnSpPr>
        <p:spPr>
          <a:xfrm>
            <a:off x="4058886" y="2054810"/>
            <a:ext cx="0" cy="5124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67D7750E-B9C1-43A5-8C0F-35DBE64014D0}"/>
              </a:ext>
            </a:extLst>
          </p:cNvPr>
          <p:cNvSpPr txBox="1"/>
          <p:nvPr/>
        </p:nvSpPr>
        <p:spPr>
          <a:xfrm>
            <a:off x="2327896" y="4135611"/>
            <a:ext cx="3423819" cy="369332"/>
          </a:xfrm>
          <a:prstGeom prst="rect">
            <a:avLst/>
          </a:prstGeom>
          <a:noFill/>
        </p:spPr>
        <p:txBody>
          <a:bodyPr wrap="square" rtlCol="0">
            <a:spAutoFit/>
          </a:bodyPr>
          <a:lstStyle/>
          <a:p>
            <a:pPr algn="ctr"/>
            <a:r>
              <a:rPr lang="en-GB" b="1" dirty="0"/>
              <a:t>DNS recursive/resolver server</a:t>
            </a:r>
            <a:endParaRPr lang="en-GB" sz="2000" b="1" dirty="0"/>
          </a:p>
        </p:txBody>
      </p:sp>
      <p:sp>
        <p:nvSpPr>
          <p:cNvPr id="59" name="TextBox 58">
            <a:extLst>
              <a:ext uri="{FF2B5EF4-FFF2-40B4-BE49-F238E27FC236}">
                <a16:creationId xmlns:a16="http://schemas.microsoft.com/office/drawing/2014/main" id="{0BF25F5E-37A9-4C20-B454-0FE312C8BBC0}"/>
              </a:ext>
            </a:extLst>
          </p:cNvPr>
          <p:cNvSpPr txBox="1"/>
          <p:nvPr/>
        </p:nvSpPr>
        <p:spPr>
          <a:xfrm>
            <a:off x="0" y="6179323"/>
            <a:ext cx="2523066" cy="369332"/>
          </a:xfrm>
          <a:prstGeom prst="rect">
            <a:avLst/>
          </a:prstGeom>
          <a:noFill/>
        </p:spPr>
        <p:txBody>
          <a:bodyPr wrap="square" rtlCol="0">
            <a:spAutoFit/>
          </a:bodyPr>
          <a:lstStyle/>
          <a:p>
            <a:pPr algn="ctr"/>
            <a:r>
              <a:rPr lang="en-GB" b="1" dirty="0"/>
              <a:t>Root name server</a:t>
            </a:r>
            <a:endParaRPr lang="en-GB" sz="2000" b="1" dirty="0"/>
          </a:p>
        </p:txBody>
      </p:sp>
      <p:sp>
        <p:nvSpPr>
          <p:cNvPr id="64" name="TextBox 63">
            <a:extLst>
              <a:ext uri="{FF2B5EF4-FFF2-40B4-BE49-F238E27FC236}">
                <a16:creationId xmlns:a16="http://schemas.microsoft.com/office/drawing/2014/main" id="{493F7F00-471B-48DD-8BCD-FF64E182ED08}"/>
              </a:ext>
            </a:extLst>
          </p:cNvPr>
          <p:cNvSpPr txBox="1"/>
          <p:nvPr/>
        </p:nvSpPr>
        <p:spPr>
          <a:xfrm>
            <a:off x="2755694" y="6195310"/>
            <a:ext cx="2523066" cy="646331"/>
          </a:xfrm>
          <a:prstGeom prst="rect">
            <a:avLst/>
          </a:prstGeom>
          <a:noFill/>
        </p:spPr>
        <p:txBody>
          <a:bodyPr wrap="square" rtlCol="0">
            <a:spAutoFit/>
          </a:bodyPr>
          <a:lstStyle/>
          <a:p>
            <a:pPr algn="ctr"/>
            <a:r>
              <a:rPr lang="en-GB" b="1" dirty="0"/>
              <a:t>.com top-level domain server (TLD)</a:t>
            </a:r>
            <a:endParaRPr lang="en-GB" sz="2000" b="1" dirty="0"/>
          </a:p>
        </p:txBody>
      </p:sp>
      <p:sp>
        <p:nvSpPr>
          <p:cNvPr id="69" name="TextBox 68">
            <a:extLst>
              <a:ext uri="{FF2B5EF4-FFF2-40B4-BE49-F238E27FC236}">
                <a16:creationId xmlns:a16="http://schemas.microsoft.com/office/drawing/2014/main" id="{BCECDFD7-DC4A-473A-B234-BBF1C79203D8}"/>
              </a:ext>
            </a:extLst>
          </p:cNvPr>
          <p:cNvSpPr txBox="1"/>
          <p:nvPr/>
        </p:nvSpPr>
        <p:spPr>
          <a:xfrm>
            <a:off x="5301338" y="6195310"/>
            <a:ext cx="2523066" cy="646331"/>
          </a:xfrm>
          <a:prstGeom prst="rect">
            <a:avLst/>
          </a:prstGeom>
          <a:noFill/>
        </p:spPr>
        <p:txBody>
          <a:bodyPr wrap="square" rtlCol="0">
            <a:spAutoFit/>
          </a:bodyPr>
          <a:lstStyle/>
          <a:p>
            <a:pPr algn="ctr"/>
            <a:r>
              <a:rPr lang="en-GB" b="1" dirty="0"/>
              <a:t>Authoritative name server</a:t>
            </a:r>
            <a:endParaRPr lang="en-GB" sz="2000" b="1" dirty="0"/>
          </a:p>
        </p:txBody>
      </p:sp>
      <p:cxnSp>
        <p:nvCxnSpPr>
          <p:cNvPr id="72" name="Straight Arrow Connector 71">
            <a:extLst>
              <a:ext uri="{FF2B5EF4-FFF2-40B4-BE49-F238E27FC236}">
                <a16:creationId xmlns:a16="http://schemas.microsoft.com/office/drawing/2014/main" id="{82B3AEC2-BA5F-45A9-875B-3C9D04D56903}"/>
              </a:ext>
            </a:extLst>
          </p:cNvPr>
          <p:cNvCxnSpPr>
            <a:cxnSpLocks/>
            <a:stCxn id="52" idx="2"/>
          </p:cNvCxnSpPr>
          <p:nvPr/>
        </p:nvCxnSpPr>
        <p:spPr>
          <a:xfrm flipH="1">
            <a:off x="1261533" y="4504943"/>
            <a:ext cx="2778273" cy="710948"/>
          </a:xfrm>
          <a:prstGeom prst="straightConnector1">
            <a:avLst/>
          </a:prstGeom>
          <a:ln w="381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AC9D86B3-39C0-4C01-89FE-EC0FC1E79904}"/>
              </a:ext>
            </a:extLst>
          </p:cNvPr>
          <p:cNvCxnSpPr>
            <a:cxnSpLocks/>
            <a:stCxn id="52" idx="2"/>
          </p:cNvCxnSpPr>
          <p:nvPr/>
        </p:nvCxnSpPr>
        <p:spPr>
          <a:xfrm>
            <a:off x="4039806" y="4504943"/>
            <a:ext cx="0" cy="758554"/>
          </a:xfrm>
          <a:prstGeom prst="straightConnector1">
            <a:avLst/>
          </a:prstGeom>
          <a:ln w="381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0640C202-EADD-479D-B748-B957E52231FF}"/>
              </a:ext>
            </a:extLst>
          </p:cNvPr>
          <p:cNvCxnSpPr>
            <a:cxnSpLocks/>
            <a:stCxn id="52" idx="2"/>
          </p:cNvCxnSpPr>
          <p:nvPr/>
        </p:nvCxnSpPr>
        <p:spPr>
          <a:xfrm>
            <a:off x="4039806" y="4504943"/>
            <a:ext cx="2574643" cy="710948"/>
          </a:xfrm>
          <a:prstGeom prst="straightConnector1">
            <a:avLst/>
          </a:prstGeom>
          <a:ln w="381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D4E3143B-E89A-4DB4-8EB3-157A569E42BE}"/>
              </a:ext>
            </a:extLst>
          </p:cNvPr>
          <p:cNvCxnSpPr/>
          <p:nvPr/>
        </p:nvCxnSpPr>
        <p:spPr>
          <a:xfrm>
            <a:off x="-1" y="1941689"/>
            <a:ext cx="2957690" cy="0"/>
          </a:xfrm>
          <a:prstGeom prst="line">
            <a:avLst/>
          </a:prstGeom>
          <a:ln w="190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6242722-997B-4B6B-B6F9-5996D950E98C}"/>
              </a:ext>
            </a:extLst>
          </p:cNvPr>
          <p:cNvCxnSpPr>
            <a:cxnSpLocks/>
          </p:cNvCxnSpPr>
          <p:nvPr/>
        </p:nvCxnSpPr>
        <p:spPr>
          <a:xfrm>
            <a:off x="5143500" y="1941689"/>
            <a:ext cx="2806426" cy="0"/>
          </a:xfrm>
          <a:prstGeom prst="line">
            <a:avLst/>
          </a:prstGeom>
          <a:ln w="190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pic>
        <p:nvPicPr>
          <p:cNvPr id="45" name="Picture 44">
            <a:extLst>
              <a:ext uri="{FF2B5EF4-FFF2-40B4-BE49-F238E27FC236}">
                <a16:creationId xmlns:a16="http://schemas.microsoft.com/office/drawing/2014/main" id="{B30DEAB0-65CD-2575-2718-7EE5F888A704}"/>
              </a:ext>
            </a:extLst>
          </p:cNvPr>
          <p:cNvPicPr>
            <a:picLocks noChangeAspect="1"/>
          </p:cNvPicPr>
          <p:nvPr/>
        </p:nvPicPr>
        <p:blipFill>
          <a:blip r:embed="rId5"/>
          <a:stretch>
            <a:fillRect/>
          </a:stretch>
        </p:blipFill>
        <p:spPr>
          <a:xfrm>
            <a:off x="3209215" y="2613021"/>
            <a:ext cx="1661182" cy="1497609"/>
          </a:xfrm>
          <a:prstGeom prst="rect">
            <a:avLst/>
          </a:prstGeom>
        </p:spPr>
      </p:pic>
      <p:pic>
        <p:nvPicPr>
          <p:cNvPr id="48" name="Picture 47">
            <a:extLst>
              <a:ext uri="{FF2B5EF4-FFF2-40B4-BE49-F238E27FC236}">
                <a16:creationId xmlns:a16="http://schemas.microsoft.com/office/drawing/2014/main" id="{A2649F8A-7698-0F3F-C3A7-43DC896BEEA3}"/>
              </a:ext>
            </a:extLst>
          </p:cNvPr>
          <p:cNvPicPr>
            <a:picLocks noChangeAspect="1"/>
          </p:cNvPicPr>
          <p:nvPr/>
        </p:nvPicPr>
        <p:blipFill>
          <a:blip r:embed="rId5"/>
          <a:stretch>
            <a:fillRect/>
          </a:stretch>
        </p:blipFill>
        <p:spPr>
          <a:xfrm>
            <a:off x="674992" y="5215891"/>
            <a:ext cx="1173081" cy="1057571"/>
          </a:xfrm>
          <a:prstGeom prst="rect">
            <a:avLst/>
          </a:prstGeom>
        </p:spPr>
      </p:pic>
      <p:pic>
        <p:nvPicPr>
          <p:cNvPr id="49" name="Picture 48">
            <a:extLst>
              <a:ext uri="{FF2B5EF4-FFF2-40B4-BE49-F238E27FC236}">
                <a16:creationId xmlns:a16="http://schemas.microsoft.com/office/drawing/2014/main" id="{65E8AB01-CA6C-03C9-BC62-2C3CDE421BD3}"/>
              </a:ext>
            </a:extLst>
          </p:cNvPr>
          <p:cNvPicPr>
            <a:picLocks noChangeAspect="1"/>
          </p:cNvPicPr>
          <p:nvPr/>
        </p:nvPicPr>
        <p:blipFill>
          <a:blip r:embed="rId5"/>
          <a:stretch>
            <a:fillRect/>
          </a:stretch>
        </p:blipFill>
        <p:spPr>
          <a:xfrm>
            <a:off x="3455499" y="5217101"/>
            <a:ext cx="1173081" cy="1057571"/>
          </a:xfrm>
          <a:prstGeom prst="rect">
            <a:avLst/>
          </a:prstGeom>
        </p:spPr>
      </p:pic>
      <p:pic>
        <p:nvPicPr>
          <p:cNvPr id="51" name="Picture 50">
            <a:extLst>
              <a:ext uri="{FF2B5EF4-FFF2-40B4-BE49-F238E27FC236}">
                <a16:creationId xmlns:a16="http://schemas.microsoft.com/office/drawing/2014/main" id="{6C60D112-8168-1B63-8857-AEE84ED36441}"/>
              </a:ext>
            </a:extLst>
          </p:cNvPr>
          <p:cNvPicPr>
            <a:picLocks noChangeAspect="1"/>
          </p:cNvPicPr>
          <p:nvPr/>
        </p:nvPicPr>
        <p:blipFill>
          <a:blip r:embed="rId5"/>
          <a:stretch>
            <a:fillRect/>
          </a:stretch>
        </p:blipFill>
        <p:spPr>
          <a:xfrm>
            <a:off x="6071248" y="5221440"/>
            <a:ext cx="1173081" cy="1057571"/>
          </a:xfrm>
          <a:prstGeom prst="rect">
            <a:avLst/>
          </a:prstGeom>
        </p:spPr>
      </p:pic>
      <p:grpSp>
        <p:nvGrpSpPr>
          <p:cNvPr id="53" name="Group 52">
            <a:extLst>
              <a:ext uri="{FF2B5EF4-FFF2-40B4-BE49-F238E27FC236}">
                <a16:creationId xmlns:a16="http://schemas.microsoft.com/office/drawing/2014/main" id="{201CE990-1786-B106-8043-638B8F9B61BD}"/>
              </a:ext>
            </a:extLst>
          </p:cNvPr>
          <p:cNvGrpSpPr/>
          <p:nvPr/>
        </p:nvGrpSpPr>
        <p:grpSpPr>
          <a:xfrm>
            <a:off x="-1" y="0"/>
            <a:ext cx="12192001" cy="419100"/>
            <a:chOff x="-1" y="0"/>
            <a:chExt cx="12192001" cy="533400"/>
          </a:xfrm>
        </p:grpSpPr>
        <p:sp>
          <p:nvSpPr>
            <p:cNvPr id="54" name="Rectangle 53">
              <a:extLst>
                <a:ext uri="{FF2B5EF4-FFF2-40B4-BE49-F238E27FC236}">
                  <a16:creationId xmlns:a16="http://schemas.microsoft.com/office/drawing/2014/main" id="{128C02C6-1042-6444-855B-F6020B82ABDF}"/>
                </a:ext>
              </a:extLst>
            </p:cNvPr>
            <p:cNvSpPr/>
            <p:nvPr userDrawn="1"/>
          </p:nvSpPr>
          <p:spPr>
            <a:xfrm>
              <a:off x="-1" y="0"/>
              <a:ext cx="10095723" cy="533400"/>
            </a:xfrm>
            <a:prstGeom prst="rect">
              <a:avLst/>
            </a:prstGeom>
            <a:solidFill>
              <a:srgbClr val="F26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800" b="1" dirty="0">
                  <a:solidFill>
                    <a:schemeClr val="bg1"/>
                  </a:solidFill>
                </a:rPr>
                <a:t>5.1 The internet and the world wide web | How web pages are located</a:t>
              </a:r>
            </a:p>
          </p:txBody>
        </p:sp>
        <p:sp>
          <p:nvSpPr>
            <p:cNvPr id="55" name="Rectangle 54">
              <a:extLst>
                <a:ext uri="{FF2B5EF4-FFF2-40B4-BE49-F238E27FC236}">
                  <a16:creationId xmlns:a16="http://schemas.microsoft.com/office/drawing/2014/main" id="{A2DF9499-578C-578F-AF57-0438A576B670}"/>
                </a:ext>
              </a:extLst>
            </p:cNvPr>
            <p:cNvSpPr/>
            <p:nvPr/>
          </p:nvSpPr>
          <p:spPr>
            <a:xfrm>
              <a:off x="9100868" y="0"/>
              <a:ext cx="3091132" cy="533400"/>
            </a:xfrm>
            <a:prstGeom prst="rect">
              <a:avLst/>
            </a:prstGeom>
            <a:solidFill>
              <a:srgbClr val="F2652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46800" rtlCol="0" anchor="t"/>
            <a:lstStyle/>
            <a:p>
              <a:pPr algn="r"/>
              <a:r>
                <a:rPr lang="en-GB" b="1" dirty="0">
                  <a:solidFill>
                    <a:schemeClr val="bg1"/>
                  </a:solidFill>
                </a:rPr>
                <a:t>CAMBRIDGE IGCSE (0478/0984)</a:t>
              </a:r>
            </a:p>
          </p:txBody>
        </p:sp>
      </p:grpSp>
    </p:spTree>
    <p:extLst>
      <p:ext uri="{BB962C8B-B14F-4D97-AF65-F5344CB8AC3E}">
        <p14:creationId xmlns:p14="http://schemas.microsoft.com/office/powerpoint/2010/main" val="40370630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989BBE4-38CA-4FFB-B9AA-E0BBB2AB22B7}"/>
              </a:ext>
            </a:extLst>
          </p:cNvPr>
          <p:cNvSpPr/>
          <p:nvPr/>
        </p:nvSpPr>
        <p:spPr>
          <a:xfrm>
            <a:off x="254906" y="1887113"/>
            <a:ext cx="11529657" cy="3247043"/>
          </a:xfrm>
          <a:prstGeom prst="rect">
            <a:avLst/>
          </a:prstGeom>
        </p:spPr>
        <p:txBody>
          <a:bodyPr wrap="square">
            <a:spAutoFit/>
          </a:bodyPr>
          <a:lstStyle/>
          <a:p>
            <a:pPr marL="285750" indent="-285750">
              <a:spcAft>
                <a:spcPts val="600"/>
              </a:spcAft>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The internet is a global collection of interconnected networks.</a:t>
            </a:r>
          </a:p>
          <a:p>
            <a:pPr marL="285750" indent="-285750">
              <a:spcAft>
                <a:spcPts val="600"/>
              </a:spcAft>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Web addresses – which are easier for humans to remember – are converted to IP by a DNS resolver server. This process is carried out by the domain name service, which is made up of multiple domain name servers.</a:t>
            </a:r>
          </a:p>
          <a:p>
            <a:pPr marL="285750" indent="-285750">
              <a:spcAft>
                <a:spcPts val="600"/>
              </a:spcAft>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Websites are stored on servers dedicated for this purpose, known as hosting. Hosted solutions provide 24/7 access, support for multiple users and enhanced security.</a:t>
            </a:r>
          </a:p>
          <a:p>
            <a:pPr marL="285750" indent="-285750">
              <a:spcAft>
                <a:spcPts val="600"/>
              </a:spcAft>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Servers can be used to store data and programs that can be accessed over the internet, known as the cloud. The cloud provides access to files anytime, anywhere, on any device, as well as automatic backups and collaboration.</a:t>
            </a:r>
          </a:p>
          <a:p>
            <a:pPr marL="285750" indent="-285750">
              <a:spcAft>
                <a:spcPts val="600"/>
              </a:spcAft>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Servers provide services (e.g., web pages, file storage and retrieval). Clients request services from a server.</a:t>
            </a:r>
          </a:p>
          <a:p>
            <a:pPr marL="285750" indent="-285750">
              <a:buFont typeface="Arial" panose="020B0604020202020204" pitchFamily="34" charset="0"/>
              <a:buChar char="•"/>
            </a:pPr>
            <a:endParaRPr lang="en-GB" dirty="0">
              <a:latin typeface="Calibri" panose="020F0502020204030204" pitchFamily="34" charset="0"/>
              <a:ea typeface="Calibri" panose="020F0502020204030204" pitchFamily="34" charset="0"/>
              <a:cs typeface="Times New Roman" panose="02020603050405020304" pitchFamily="18" charset="0"/>
            </a:endParaRP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50213629-B856-4319-B482-ECBCD25E2D9C}"/>
              </a:ext>
            </a:extLst>
          </p:cNvPr>
          <p:cNvSpPr/>
          <p:nvPr/>
        </p:nvSpPr>
        <p:spPr>
          <a:xfrm>
            <a:off x="1368341" y="523174"/>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How web pages are located</a:t>
            </a:r>
            <a:endParaRPr lang="en-GB" sz="12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2" descr="make_notes">
            <a:extLst>
              <a:ext uri="{FF2B5EF4-FFF2-40B4-BE49-F238E27FC236}">
                <a16:creationId xmlns:a16="http://schemas.microsoft.com/office/drawing/2014/main" id="{F7CEF2F7-4F59-45C2-ABBD-0B81AC2C1F7B}"/>
              </a:ext>
            </a:extLst>
          </p:cNvPr>
          <p:cNvPicPr>
            <a:picLocks noChangeAspect="1" noChangeArrowheads="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254906" y="611347"/>
            <a:ext cx="1113436" cy="11134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3151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2947853-E1EE-4D77-9DC1-BD14C2A8064E}"/>
              </a:ext>
            </a:extLst>
          </p:cNvPr>
          <p:cNvPicPr>
            <a:picLocks noChangeAspect="1"/>
          </p:cNvPicPr>
          <p:nvPr/>
        </p:nvPicPr>
        <p:blipFill>
          <a:blip r:embed="rId2"/>
          <a:stretch>
            <a:fillRect/>
          </a:stretch>
        </p:blipFill>
        <p:spPr>
          <a:xfrm>
            <a:off x="-47625" y="-28575"/>
            <a:ext cx="12239625" cy="6886575"/>
          </a:xfrm>
          <a:prstGeom prst="rect">
            <a:avLst/>
          </a:prstGeom>
        </p:spPr>
      </p:pic>
    </p:spTree>
    <p:extLst>
      <p:ext uri="{BB962C8B-B14F-4D97-AF65-F5344CB8AC3E}">
        <p14:creationId xmlns:p14="http://schemas.microsoft.com/office/powerpoint/2010/main" val="381486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780</TotalTime>
  <Words>1312</Words>
  <Application>Microsoft Office PowerPoint</Application>
  <PresentationFormat>Widescreen</PresentationFormat>
  <Paragraphs>155</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Century Gothic</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Craig Sargent</dc:creator>
  <cp:lastModifiedBy>Craig Sargent</cp:lastModifiedBy>
  <cp:revision>120</cp:revision>
  <dcterms:created xsi:type="dcterms:W3CDTF">2019-10-14T15:21:06Z</dcterms:created>
  <dcterms:modified xsi:type="dcterms:W3CDTF">2022-08-15T13:40:46Z</dcterms:modified>
</cp:coreProperties>
</file>