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3327" r:id="rId3"/>
    <p:sldId id="3332" r:id="rId4"/>
    <p:sldId id="3329" r:id="rId5"/>
    <p:sldId id="3330" r:id="rId6"/>
    <p:sldId id="3336" r:id="rId7"/>
    <p:sldId id="265" r:id="rId8"/>
    <p:sldId id="260" r:id="rId9"/>
    <p:sldId id="29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07" autoAdjust="0"/>
    <p:restoredTop sz="96323" autoAdjust="0"/>
  </p:normalViewPr>
  <p:slideViewPr>
    <p:cSldViewPr snapToGrid="0">
      <p:cViewPr varScale="1">
        <p:scale>
          <a:sx n="63" d="100"/>
          <a:sy n="63" d="100"/>
        </p:scale>
        <p:origin x="90" y="13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39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1598F5-FD42-41E0-A983-E65F6797AE69}" type="doc">
      <dgm:prSet loTypeId="urn:microsoft.com/office/officeart/2005/8/layout/hierarchy4" loCatId="relationship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GB"/>
        </a:p>
      </dgm:t>
    </dgm:pt>
    <dgm:pt modelId="{4C1C09E4-0C90-4198-B0FC-BABD77873D83}">
      <dgm:prSet phldrT="[Text]" custT="1"/>
      <dgm:spPr>
        <a:solidFill>
          <a:srgbClr val="C00000"/>
        </a:solidFill>
      </dgm:spPr>
      <dgm:t>
        <a:bodyPr/>
        <a:lstStyle/>
        <a:p>
          <a:r>
            <a:rPr lang="en-GB" sz="1800" b="1" dirty="0"/>
            <a:t>Dumb robots</a:t>
          </a:r>
        </a:p>
      </dgm:t>
    </dgm:pt>
    <dgm:pt modelId="{8B4E2CE4-B692-40AE-A45B-DB3F508FA5C1}" type="parTrans" cxnId="{E9B0D14F-D09C-491B-9568-75F14814F6E2}">
      <dgm:prSet/>
      <dgm:spPr/>
      <dgm:t>
        <a:bodyPr/>
        <a:lstStyle/>
        <a:p>
          <a:endParaRPr lang="en-GB"/>
        </a:p>
      </dgm:t>
    </dgm:pt>
    <dgm:pt modelId="{77A2181D-AE0B-425F-A746-1AE384C3A776}" type="sibTrans" cxnId="{E9B0D14F-D09C-491B-9568-75F14814F6E2}">
      <dgm:prSet/>
      <dgm:spPr/>
      <dgm:t>
        <a:bodyPr/>
        <a:lstStyle/>
        <a:p>
          <a:endParaRPr lang="en-GB"/>
        </a:p>
      </dgm:t>
    </dgm:pt>
    <dgm:pt modelId="{CDC59B61-776C-420E-BCC2-4796D3F0D770}">
      <dgm:prSet phldrT="[Text]" custT="1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GB" sz="1600" dirty="0">
              <a:latin typeface="Calibri" panose="020F0502020204030204" pitchFamily="34" charset="0"/>
              <a:cs typeface="Times New Roman" panose="02020603050405020304" pitchFamily="18" charset="0"/>
            </a:rPr>
            <a:t>Simply repeat the same tasks over and over – no AI involved.</a:t>
          </a:r>
          <a:endParaRPr lang="en-GB" sz="1600" dirty="0"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</dgm:t>
    </dgm:pt>
    <dgm:pt modelId="{B53CE9A1-D2A9-4991-847F-5292CF8B830D}" type="parTrans" cxnId="{75859321-45F8-4FF7-B471-266F68F2C4E6}">
      <dgm:prSet/>
      <dgm:spPr/>
      <dgm:t>
        <a:bodyPr/>
        <a:lstStyle/>
        <a:p>
          <a:endParaRPr lang="en-GB"/>
        </a:p>
      </dgm:t>
    </dgm:pt>
    <dgm:pt modelId="{799E93DE-47EA-4436-89A3-144949EBBD2C}" type="sibTrans" cxnId="{75859321-45F8-4FF7-B471-266F68F2C4E6}">
      <dgm:prSet/>
      <dgm:spPr/>
      <dgm:t>
        <a:bodyPr/>
        <a:lstStyle/>
        <a:p>
          <a:endParaRPr lang="en-GB"/>
        </a:p>
      </dgm:t>
    </dgm:pt>
    <dgm:pt modelId="{05E9A1A7-7D5B-4179-B339-D144E4C47C4D}">
      <dgm:prSet phldrT="[Text]" custT="1"/>
      <dgm:spPr>
        <a:solidFill>
          <a:srgbClr val="C00000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800" b="1" dirty="0"/>
            <a:t>Smart robots</a:t>
          </a:r>
        </a:p>
      </dgm:t>
    </dgm:pt>
    <dgm:pt modelId="{C852675A-8C21-4D54-B1F3-A6977C79A365}" type="parTrans" cxnId="{1C2B6E52-5A93-4E1E-966C-8C2C7D3545BF}">
      <dgm:prSet/>
      <dgm:spPr/>
      <dgm:t>
        <a:bodyPr/>
        <a:lstStyle/>
        <a:p>
          <a:endParaRPr lang="en-GB"/>
        </a:p>
      </dgm:t>
    </dgm:pt>
    <dgm:pt modelId="{79AEAAEA-A21D-4135-8D7C-A8853B48A1E2}" type="sibTrans" cxnId="{1C2B6E52-5A93-4E1E-966C-8C2C7D3545BF}">
      <dgm:prSet/>
      <dgm:spPr/>
      <dgm:t>
        <a:bodyPr/>
        <a:lstStyle/>
        <a:p>
          <a:endParaRPr lang="en-GB"/>
        </a:p>
      </dgm:t>
    </dgm:pt>
    <dgm:pt modelId="{B3B00271-DB8B-4639-9D1B-325C6E7EC304}">
      <dgm:prSet phldrT="[Text]" custT="1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GB" sz="1600" dirty="0">
              <a:latin typeface="Calibri" panose="020F0502020204030204" pitchFamily="34" charset="0"/>
              <a:cs typeface="Times New Roman" panose="02020603050405020304" pitchFamily="18" charset="0"/>
            </a:rPr>
            <a:t>Trained to learn, adapt and carry out progressively more complex tasks.</a:t>
          </a:r>
          <a:endParaRPr lang="en-GB" sz="1600" dirty="0"/>
        </a:p>
      </dgm:t>
    </dgm:pt>
    <dgm:pt modelId="{46471830-A5E4-48C2-88AE-D682CD6F2AA1}" type="parTrans" cxnId="{B886A442-C577-41B7-B710-224E481BC268}">
      <dgm:prSet/>
      <dgm:spPr/>
      <dgm:t>
        <a:bodyPr/>
        <a:lstStyle/>
        <a:p>
          <a:endParaRPr lang="en-GB"/>
        </a:p>
      </dgm:t>
    </dgm:pt>
    <dgm:pt modelId="{B0A7D7F9-9A28-4FD7-8F8D-AFB9A4DB1282}" type="sibTrans" cxnId="{B886A442-C577-41B7-B710-224E481BC268}">
      <dgm:prSet/>
      <dgm:spPr/>
      <dgm:t>
        <a:bodyPr/>
        <a:lstStyle/>
        <a:p>
          <a:endParaRPr lang="en-GB"/>
        </a:p>
      </dgm:t>
    </dgm:pt>
    <dgm:pt modelId="{D7CA303A-C004-4029-B890-E5E7E82E8216}">
      <dgm:prSet phldrT="[Text]" custT="1"/>
      <dgm:spPr>
        <a:solidFill>
          <a:schemeClr val="accent4">
            <a:lumMod val="75000"/>
          </a:schemeClr>
        </a:solidFill>
      </dgm:spPr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GB" sz="1600" dirty="0">
              <a:latin typeface="Calibri" panose="020F0502020204030204" pitchFamily="34" charset="0"/>
              <a:cs typeface="Times New Roman" panose="02020603050405020304" pitchFamily="18" charset="0"/>
            </a:rPr>
            <a:t>Car assembly line</a:t>
          </a:r>
        </a:p>
      </dgm:t>
    </dgm:pt>
    <dgm:pt modelId="{587A1ACB-D493-47EC-9514-4D8E52E9E2AD}" type="parTrans" cxnId="{68CE6320-E0AC-4906-8453-FFC58D4C4BFC}">
      <dgm:prSet/>
      <dgm:spPr/>
      <dgm:t>
        <a:bodyPr/>
        <a:lstStyle/>
        <a:p>
          <a:endParaRPr lang="en-GB"/>
        </a:p>
      </dgm:t>
    </dgm:pt>
    <dgm:pt modelId="{611A415D-8848-4732-8C7A-88CC03099254}" type="sibTrans" cxnId="{68CE6320-E0AC-4906-8453-FFC58D4C4BFC}">
      <dgm:prSet/>
      <dgm:spPr/>
      <dgm:t>
        <a:bodyPr/>
        <a:lstStyle/>
        <a:p>
          <a:endParaRPr lang="en-GB"/>
        </a:p>
      </dgm:t>
    </dgm:pt>
    <dgm:pt modelId="{3223C6AA-AD70-491B-B21F-4312E5EB2331}">
      <dgm:prSet phldrT="[Text]" custT="1"/>
      <dgm:spPr>
        <a:solidFill>
          <a:schemeClr val="accent4">
            <a:lumMod val="75000"/>
          </a:schemeClr>
        </a:solidFill>
      </dgm:spPr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GB" sz="1600" dirty="0"/>
            <a:t>A robot designed to beat </a:t>
          </a:r>
          <a:br>
            <a:rPr lang="en-GB" sz="1600" dirty="0"/>
          </a:br>
          <a:r>
            <a:rPr lang="en-GB" sz="1600" dirty="0"/>
            <a:t>a human at chess</a:t>
          </a:r>
        </a:p>
      </dgm:t>
    </dgm:pt>
    <dgm:pt modelId="{9C0E0B2A-974C-4E6C-9B90-2CF79F48FDFD}" type="parTrans" cxnId="{95F104B2-C37B-4274-B4C3-368AB0482269}">
      <dgm:prSet/>
      <dgm:spPr/>
      <dgm:t>
        <a:bodyPr/>
        <a:lstStyle/>
        <a:p>
          <a:endParaRPr lang="en-GB"/>
        </a:p>
      </dgm:t>
    </dgm:pt>
    <dgm:pt modelId="{695E6578-9152-4D58-B353-8C8C59FBB123}" type="sibTrans" cxnId="{95F104B2-C37B-4274-B4C3-368AB0482269}">
      <dgm:prSet/>
      <dgm:spPr/>
      <dgm:t>
        <a:bodyPr/>
        <a:lstStyle/>
        <a:p>
          <a:endParaRPr lang="en-GB"/>
        </a:p>
      </dgm:t>
    </dgm:pt>
    <dgm:pt modelId="{0C94C769-5F04-46B1-B28B-5202C0FB38A7}" type="pres">
      <dgm:prSet presAssocID="{C71598F5-FD42-41E0-A983-E65F6797AE69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AE0F4F5-1650-4798-80AD-B9C1106E496A}" type="pres">
      <dgm:prSet presAssocID="{4C1C09E4-0C90-4198-B0FC-BABD77873D83}" presName="vertOne" presStyleCnt="0"/>
      <dgm:spPr/>
    </dgm:pt>
    <dgm:pt modelId="{4F76A644-1A0D-4C40-A74A-433E9AFFEB90}" type="pres">
      <dgm:prSet presAssocID="{4C1C09E4-0C90-4198-B0FC-BABD77873D83}" presName="txOne" presStyleLbl="node0" presStyleIdx="0" presStyleCnt="2" custScaleX="99804" custScaleY="59998" custLinFactNeighborY="55558">
        <dgm:presLayoutVars>
          <dgm:chPref val="3"/>
        </dgm:presLayoutVars>
      </dgm:prSet>
      <dgm:spPr/>
    </dgm:pt>
    <dgm:pt modelId="{7F52EB55-B14C-4C70-A317-0AF46BC5E7CC}" type="pres">
      <dgm:prSet presAssocID="{4C1C09E4-0C90-4198-B0FC-BABD77873D83}" presName="parTransOne" presStyleCnt="0"/>
      <dgm:spPr/>
    </dgm:pt>
    <dgm:pt modelId="{19809845-EAE6-41C1-B3AC-8B089A8B0439}" type="pres">
      <dgm:prSet presAssocID="{4C1C09E4-0C90-4198-B0FC-BABD77873D83}" presName="horzOne" presStyleCnt="0"/>
      <dgm:spPr/>
    </dgm:pt>
    <dgm:pt modelId="{8325B958-6CB1-4EC5-A176-3E2D600E7D01}" type="pres">
      <dgm:prSet presAssocID="{CDC59B61-776C-420E-BCC2-4796D3F0D770}" presName="vertTwo" presStyleCnt="0"/>
      <dgm:spPr/>
    </dgm:pt>
    <dgm:pt modelId="{AC86E1A9-8F12-48A2-8EB7-83C0D070565F}" type="pres">
      <dgm:prSet presAssocID="{CDC59B61-776C-420E-BCC2-4796D3F0D770}" presName="txTwo" presStyleLbl="node2" presStyleIdx="0" presStyleCnt="2" custScaleX="100137" custScaleY="89248" custLinFactNeighborX="-134" custLinFactNeighborY="-4739">
        <dgm:presLayoutVars>
          <dgm:chPref val="3"/>
        </dgm:presLayoutVars>
      </dgm:prSet>
      <dgm:spPr/>
    </dgm:pt>
    <dgm:pt modelId="{B00DF916-16F2-4D70-9DDC-17DAD1A2A4B0}" type="pres">
      <dgm:prSet presAssocID="{CDC59B61-776C-420E-BCC2-4796D3F0D770}" presName="parTransTwo" presStyleCnt="0"/>
      <dgm:spPr/>
    </dgm:pt>
    <dgm:pt modelId="{79480803-1883-47F4-9741-405605AB6C14}" type="pres">
      <dgm:prSet presAssocID="{CDC59B61-776C-420E-BCC2-4796D3F0D770}" presName="horzTwo" presStyleCnt="0"/>
      <dgm:spPr/>
    </dgm:pt>
    <dgm:pt modelId="{EF454692-225E-4160-8B18-17009BD890E6}" type="pres">
      <dgm:prSet presAssocID="{D7CA303A-C004-4029-B890-E5E7E82E8216}" presName="vertThree" presStyleCnt="0"/>
      <dgm:spPr/>
    </dgm:pt>
    <dgm:pt modelId="{2A158852-5654-44AC-901B-928DF4CB5246}" type="pres">
      <dgm:prSet presAssocID="{D7CA303A-C004-4029-B890-E5E7E82E8216}" presName="txThree" presStyleLbl="node3" presStyleIdx="0" presStyleCnt="2" custScaleY="87559" custLinFactNeighborY="-14798">
        <dgm:presLayoutVars>
          <dgm:chPref val="3"/>
        </dgm:presLayoutVars>
      </dgm:prSet>
      <dgm:spPr/>
    </dgm:pt>
    <dgm:pt modelId="{457B0A4F-847B-4417-A416-AF8186521D16}" type="pres">
      <dgm:prSet presAssocID="{D7CA303A-C004-4029-B890-E5E7E82E8216}" presName="horzThree" presStyleCnt="0"/>
      <dgm:spPr/>
    </dgm:pt>
    <dgm:pt modelId="{D9791C7F-2348-4FEB-AE15-624EE76C81AE}" type="pres">
      <dgm:prSet presAssocID="{77A2181D-AE0B-425F-A746-1AE384C3A776}" presName="sibSpaceOne" presStyleCnt="0"/>
      <dgm:spPr/>
    </dgm:pt>
    <dgm:pt modelId="{79DBA706-B422-4632-A433-90A765D1B314}" type="pres">
      <dgm:prSet presAssocID="{05E9A1A7-7D5B-4179-B339-D144E4C47C4D}" presName="vertOne" presStyleCnt="0"/>
      <dgm:spPr/>
    </dgm:pt>
    <dgm:pt modelId="{EEAEDCC3-540E-4139-8ED4-E5105A61F30D}" type="pres">
      <dgm:prSet presAssocID="{05E9A1A7-7D5B-4179-B339-D144E4C47C4D}" presName="txOne" presStyleLbl="node0" presStyleIdx="1" presStyleCnt="2" custScaleX="99941" custScaleY="59924" custLinFactNeighborY="55740">
        <dgm:presLayoutVars>
          <dgm:chPref val="3"/>
        </dgm:presLayoutVars>
      </dgm:prSet>
      <dgm:spPr/>
    </dgm:pt>
    <dgm:pt modelId="{23390E6A-8AEB-456E-8F3E-674186DBF9D9}" type="pres">
      <dgm:prSet presAssocID="{05E9A1A7-7D5B-4179-B339-D144E4C47C4D}" presName="parTransOne" presStyleCnt="0"/>
      <dgm:spPr/>
    </dgm:pt>
    <dgm:pt modelId="{A0DCE937-2BB8-44B7-8717-A87523E9B049}" type="pres">
      <dgm:prSet presAssocID="{05E9A1A7-7D5B-4179-B339-D144E4C47C4D}" presName="horzOne" presStyleCnt="0"/>
      <dgm:spPr/>
    </dgm:pt>
    <dgm:pt modelId="{C3DF773E-4EF0-48A1-BEE9-261FF8DE7AB8}" type="pres">
      <dgm:prSet presAssocID="{B3B00271-DB8B-4639-9D1B-325C6E7EC304}" presName="vertTwo" presStyleCnt="0"/>
      <dgm:spPr/>
    </dgm:pt>
    <dgm:pt modelId="{29650693-3F4C-4256-960C-FFFCD61E6D85}" type="pres">
      <dgm:prSet presAssocID="{B3B00271-DB8B-4639-9D1B-325C6E7EC304}" presName="txTwo" presStyleLbl="node2" presStyleIdx="1" presStyleCnt="2" custScaleY="89218" custLinFactNeighborY="-3561">
        <dgm:presLayoutVars>
          <dgm:chPref val="3"/>
        </dgm:presLayoutVars>
      </dgm:prSet>
      <dgm:spPr/>
    </dgm:pt>
    <dgm:pt modelId="{19C4720D-CAC4-43C3-8CC5-2EBFD2BB1090}" type="pres">
      <dgm:prSet presAssocID="{B3B00271-DB8B-4639-9D1B-325C6E7EC304}" presName="parTransTwo" presStyleCnt="0"/>
      <dgm:spPr/>
    </dgm:pt>
    <dgm:pt modelId="{3B406453-53A7-4FB4-BA75-D2503F8100D9}" type="pres">
      <dgm:prSet presAssocID="{B3B00271-DB8B-4639-9D1B-325C6E7EC304}" presName="horzTwo" presStyleCnt="0"/>
      <dgm:spPr/>
    </dgm:pt>
    <dgm:pt modelId="{3A18D595-9FAF-471D-99D3-5A57553D5F0C}" type="pres">
      <dgm:prSet presAssocID="{3223C6AA-AD70-491B-B21F-4312E5EB2331}" presName="vertThree" presStyleCnt="0"/>
      <dgm:spPr/>
    </dgm:pt>
    <dgm:pt modelId="{EF8234D7-494E-4660-981F-6E8B8EE77003}" type="pres">
      <dgm:prSet presAssocID="{3223C6AA-AD70-491B-B21F-4312E5EB2331}" presName="txThree" presStyleLbl="node3" presStyleIdx="1" presStyleCnt="2" custScaleY="87830" custLinFactNeighborY="-14859">
        <dgm:presLayoutVars>
          <dgm:chPref val="3"/>
        </dgm:presLayoutVars>
      </dgm:prSet>
      <dgm:spPr/>
    </dgm:pt>
    <dgm:pt modelId="{CECC728E-57E3-48A2-955F-B1EAF43E6835}" type="pres">
      <dgm:prSet presAssocID="{3223C6AA-AD70-491B-B21F-4312E5EB2331}" presName="horzThree" presStyleCnt="0"/>
      <dgm:spPr/>
    </dgm:pt>
  </dgm:ptLst>
  <dgm:cxnLst>
    <dgm:cxn modelId="{68CE6320-E0AC-4906-8453-FFC58D4C4BFC}" srcId="{CDC59B61-776C-420E-BCC2-4796D3F0D770}" destId="{D7CA303A-C004-4029-B890-E5E7E82E8216}" srcOrd="0" destOrd="0" parTransId="{587A1ACB-D493-47EC-9514-4D8E52E9E2AD}" sibTransId="{611A415D-8848-4732-8C7A-88CC03099254}"/>
    <dgm:cxn modelId="{75859321-45F8-4FF7-B471-266F68F2C4E6}" srcId="{4C1C09E4-0C90-4198-B0FC-BABD77873D83}" destId="{CDC59B61-776C-420E-BCC2-4796D3F0D770}" srcOrd="0" destOrd="0" parTransId="{B53CE9A1-D2A9-4991-847F-5292CF8B830D}" sibTransId="{799E93DE-47EA-4436-89A3-144949EBBD2C}"/>
    <dgm:cxn modelId="{B886A442-C577-41B7-B710-224E481BC268}" srcId="{05E9A1A7-7D5B-4179-B339-D144E4C47C4D}" destId="{B3B00271-DB8B-4639-9D1B-325C6E7EC304}" srcOrd="0" destOrd="0" parTransId="{46471830-A5E4-48C2-88AE-D682CD6F2AA1}" sibTransId="{B0A7D7F9-9A28-4FD7-8F8D-AFB9A4DB1282}"/>
    <dgm:cxn modelId="{8FEB4C63-903C-4344-B81B-712D7AFBD637}" type="presOf" srcId="{05E9A1A7-7D5B-4179-B339-D144E4C47C4D}" destId="{EEAEDCC3-540E-4139-8ED4-E5105A61F30D}" srcOrd="0" destOrd="0" presId="urn:microsoft.com/office/officeart/2005/8/layout/hierarchy4"/>
    <dgm:cxn modelId="{E9B0D14F-D09C-491B-9568-75F14814F6E2}" srcId="{C71598F5-FD42-41E0-A983-E65F6797AE69}" destId="{4C1C09E4-0C90-4198-B0FC-BABD77873D83}" srcOrd="0" destOrd="0" parTransId="{8B4E2CE4-B692-40AE-A45B-DB3F508FA5C1}" sibTransId="{77A2181D-AE0B-425F-A746-1AE384C3A776}"/>
    <dgm:cxn modelId="{1C2B6E52-5A93-4E1E-966C-8C2C7D3545BF}" srcId="{C71598F5-FD42-41E0-A983-E65F6797AE69}" destId="{05E9A1A7-7D5B-4179-B339-D144E4C47C4D}" srcOrd="1" destOrd="0" parTransId="{C852675A-8C21-4D54-B1F3-A6977C79A365}" sibTransId="{79AEAAEA-A21D-4135-8D7C-A8853B48A1E2}"/>
    <dgm:cxn modelId="{7165A555-062E-4FE4-BB48-912F01B3514E}" type="presOf" srcId="{4C1C09E4-0C90-4198-B0FC-BABD77873D83}" destId="{4F76A644-1A0D-4C40-A74A-433E9AFFEB90}" srcOrd="0" destOrd="0" presId="urn:microsoft.com/office/officeart/2005/8/layout/hierarchy4"/>
    <dgm:cxn modelId="{95F104B2-C37B-4274-B4C3-368AB0482269}" srcId="{B3B00271-DB8B-4639-9D1B-325C6E7EC304}" destId="{3223C6AA-AD70-491B-B21F-4312E5EB2331}" srcOrd="0" destOrd="0" parTransId="{9C0E0B2A-974C-4E6C-9B90-2CF79F48FDFD}" sibTransId="{695E6578-9152-4D58-B353-8C8C59FBB123}"/>
    <dgm:cxn modelId="{10C8DAC5-2149-4502-AC7C-5FF2C1C79FF7}" type="presOf" srcId="{C71598F5-FD42-41E0-A983-E65F6797AE69}" destId="{0C94C769-5F04-46B1-B28B-5202C0FB38A7}" srcOrd="0" destOrd="0" presId="urn:microsoft.com/office/officeart/2005/8/layout/hierarchy4"/>
    <dgm:cxn modelId="{B1D7FFC8-829C-4CE3-B7C9-C07EE244118C}" type="presOf" srcId="{3223C6AA-AD70-491B-B21F-4312E5EB2331}" destId="{EF8234D7-494E-4660-981F-6E8B8EE77003}" srcOrd="0" destOrd="0" presId="urn:microsoft.com/office/officeart/2005/8/layout/hierarchy4"/>
    <dgm:cxn modelId="{582ECBD2-26C7-43BA-9CA2-B0CC3CCE36E4}" type="presOf" srcId="{CDC59B61-776C-420E-BCC2-4796D3F0D770}" destId="{AC86E1A9-8F12-48A2-8EB7-83C0D070565F}" srcOrd="0" destOrd="0" presId="urn:microsoft.com/office/officeart/2005/8/layout/hierarchy4"/>
    <dgm:cxn modelId="{66F245EE-2145-4026-AC84-07840D2EE85B}" type="presOf" srcId="{D7CA303A-C004-4029-B890-E5E7E82E8216}" destId="{2A158852-5654-44AC-901B-928DF4CB5246}" srcOrd="0" destOrd="0" presId="urn:microsoft.com/office/officeart/2005/8/layout/hierarchy4"/>
    <dgm:cxn modelId="{DA10D6F2-63A1-4AF6-B721-3F8B55B1CE2B}" type="presOf" srcId="{B3B00271-DB8B-4639-9D1B-325C6E7EC304}" destId="{29650693-3F4C-4256-960C-FFFCD61E6D85}" srcOrd="0" destOrd="0" presId="urn:microsoft.com/office/officeart/2005/8/layout/hierarchy4"/>
    <dgm:cxn modelId="{95782775-2B1B-44C0-9A02-8ACC7D4F5776}" type="presParOf" srcId="{0C94C769-5F04-46B1-B28B-5202C0FB38A7}" destId="{FAE0F4F5-1650-4798-80AD-B9C1106E496A}" srcOrd="0" destOrd="0" presId="urn:microsoft.com/office/officeart/2005/8/layout/hierarchy4"/>
    <dgm:cxn modelId="{235E0FD7-FE50-46E4-8DDB-403415B0FBFE}" type="presParOf" srcId="{FAE0F4F5-1650-4798-80AD-B9C1106E496A}" destId="{4F76A644-1A0D-4C40-A74A-433E9AFFEB90}" srcOrd="0" destOrd="0" presId="urn:microsoft.com/office/officeart/2005/8/layout/hierarchy4"/>
    <dgm:cxn modelId="{9C7ED270-D428-48CC-BB3E-33ACB2447B8D}" type="presParOf" srcId="{FAE0F4F5-1650-4798-80AD-B9C1106E496A}" destId="{7F52EB55-B14C-4C70-A317-0AF46BC5E7CC}" srcOrd="1" destOrd="0" presId="urn:microsoft.com/office/officeart/2005/8/layout/hierarchy4"/>
    <dgm:cxn modelId="{70FD1D60-D682-487F-8947-04CDA1DB34D2}" type="presParOf" srcId="{FAE0F4F5-1650-4798-80AD-B9C1106E496A}" destId="{19809845-EAE6-41C1-B3AC-8B089A8B0439}" srcOrd="2" destOrd="0" presId="urn:microsoft.com/office/officeart/2005/8/layout/hierarchy4"/>
    <dgm:cxn modelId="{D7C48EA6-EA8D-4FDB-9594-7884A49FF0C9}" type="presParOf" srcId="{19809845-EAE6-41C1-B3AC-8B089A8B0439}" destId="{8325B958-6CB1-4EC5-A176-3E2D600E7D01}" srcOrd="0" destOrd="0" presId="urn:microsoft.com/office/officeart/2005/8/layout/hierarchy4"/>
    <dgm:cxn modelId="{7523D711-B088-4BC0-B6C2-FDC59E4613F7}" type="presParOf" srcId="{8325B958-6CB1-4EC5-A176-3E2D600E7D01}" destId="{AC86E1A9-8F12-48A2-8EB7-83C0D070565F}" srcOrd="0" destOrd="0" presId="urn:microsoft.com/office/officeart/2005/8/layout/hierarchy4"/>
    <dgm:cxn modelId="{EB96CC53-6EF6-43CB-ACD1-7D609E1EFF37}" type="presParOf" srcId="{8325B958-6CB1-4EC5-A176-3E2D600E7D01}" destId="{B00DF916-16F2-4D70-9DDC-17DAD1A2A4B0}" srcOrd="1" destOrd="0" presId="urn:microsoft.com/office/officeart/2005/8/layout/hierarchy4"/>
    <dgm:cxn modelId="{A0CBCC8F-835B-47A5-B93F-B0C0EE6D3846}" type="presParOf" srcId="{8325B958-6CB1-4EC5-A176-3E2D600E7D01}" destId="{79480803-1883-47F4-9741-405605AB6C14}" srcOrd="2" destOrd="0" presId="urn:microsoft.com/office/officeart/2005/8/layout/hierarchy4"/>
    <dgm:cxn modelId="{AC28A596-5AA7-4A25-8CF4-7439399A659E}" type="presParOf" srcId="{79480803-1883-47F4-9741-405605AB6C14}" destId="{EF454692-225E-4160-8B18-17009BD890E6}" srcOrd="0" destOrd="0" presId="urn:microsoft.com/office/officeart/2005/8/layout/hierarchy4"/>
    <dgm:cxn modelId="{7ECE4545-2076-40C2-9436-8B15BDFE28C1}" type="presParOf" srcId="{EF454692-225E-4160-8B18-17009BD890E6}" destId="{2A158852-5654-44AC-901B-928DF4CB5246}" srcOrd="0" destOrd="0" presId="urn:microsoft.com/office/officeart/2005/8/layout/hierarchy4"/>
    <dgm:cxn modelId="{C9FAFBFF-A14D-46A7-9BD0-DFB4650FA273}" type="presParOf" srcId="{EF454692-225E-4160-8B18-17009BD890E6}" destId="{457B0A4F-847B-4417-A416-AF8186521D16}" srcOrd="1" destOrd="0" presId="urn:microsoft.com/office/officeart/2005/8/layout/hierarchy4"/>
    <dgm:cxn modelId="{8CDC8ADF-8FF7-4F05-B366-2E4F23684304}" type="presParOf" srcId="{0C94C769-5F04-46B1-B28B-5202C0FB38A7}" destId="{D9791C7F-2348-4FEB-AE15-624EE76C81AE}" srcOrd="1" destOrd="0" presId="urn:microsoft.com/office/officeart/2005/8/layout/hierarchy4"/>
    <dgm:cxn modelId="{457F36DE-F74D-4C88-AAA7-66ABC134D8E3}" type="presParOf" srcId="{0C94C769-5F04-46B1-B28B-5202C0FB38A7}" destId="{79DBA706-B422-4632-A433-90A765D1B314}" srcOrd="2" destOrd="0" presId="urn:microsoft.com/office/officeart/2005/8/layout/hierarchy4"/>
    <dgm:cxn modelId="{3972A8ED-1EA1-4F96-9769-335BD0A6411F}" type="presParOf" srcId="{79DBA706-B422-4632-A433-90A765D1B314}" destId="{EEAEDCC3-540E-4139-8ED4-E5105A61F30D}" srcOrd="0" destOrd="0" presId="urn:microsoft.com/office/officeart/2005/8/layout/hierarchy4"/>
    <dgm:cxn modelId="{2F977F0A-EFEF-4ED2-8FD6-8F673C0A9141}" type="presParOf" srcId="{79DBA706-B422-4632-A433-90A765D1B314}" destId="{23390E6A-8AEB-456E-8F3E-674186DBF9D9}" srcOrd="1" destOrd="0" presId="urn:microsoft.com/office/officeart/2005/8/layout/hierarchy4"/>
    <dgm:cxn modelId="{1D2F403F-5599-4636-B6D2-4C7B796711D5}" type="presParOf" srcId="{79DBA706-B422-4632-A433-90A765D1B314}" destId="{A0DCE937-2BB8-44B7-8717-A87523E9B049}" srcOrd="2" destOrd="0" presId="urn:microsoft.com/office/officeart/2005/8/layout/hierarchy4"/>
    <dgm:cxn modelId="{72E01394-964E-40F8-9264-4B5FA7854B16}" type="presParOf" srcId="{A0DCE937-2BB8-44B7-8717-A87523E9B049}" destId="{C3DF773E-4EF0-48A1-BEE9-261FF8DE7AB8}" srcOrd="0" destOrd="0" presId="urn:microsoft.com/office/officeart/2005/8/layout/hierarchy4"/>
    <dgm:cxn modelId="{7E8437D1-035A-4192-AB7A-D82F3F82F2CC}" type="presParOf" srcId="{C3DF773E-4EF0-48A1-BEE9-261FF8DE7AB8}" destId="{29650693-3F4C-4256-960C-FFFCD61E6D85}" srcOrd="0" destOrd="0" presId="urn:microsoft.com/office/officeart/2005/8/layout/hierarchy4"/>
    <dgm:cxn modelId="{A2BBFC43-A0DF-4E2C-B9A6-5060DE8FE16B}" type="presParOf" srcId="{C3DF773E-4EF0-48A1-BEE9-261FF8DE7AB8}" destId="{19C4720D-CAC4-43C3-8CC5-2EBFD2BB1090}" srcOrd="1" destOrd="0" presId="urn:microsoft.com/office/officeart/2005/8/layout/hierarchy4"/>
    <dgm:cxn modelId="{A36566F1-55F7-47A0-A0AA-CF5DB4D3E7A9}" type="presParOf" srcId="{C3DF773E-4EF0-48A1-BEE9-261FF8DE7AB8}" destId="{3B406453-53A7-4FB4-BA75-D2503F8100D9}" srcOrd="2" destOrd="0" presId="urn:microsoft.com/office/officeart/2005/8/layout/hierarchy4"/>
    <dgm:cxn modelId="{96B57607-B159-4818-A01D-1E427B6D1756}" type="presParOf" srcId="{3B406453-53A7-4FB4-BA75-D2503F8100D9}" destId="{3A18D595-9FAF-471D-99D3-5A57553D5F0C}" srcOrd="0" destOrd="0" presId="urn:microsoft.com/office/officeart/2005/8/layout/hierarchy4"/>
    <dgm:cxn modelId="{15833A12-6216-4397-ACCB-16E6B3BF49DD}" type="presParOf" srcId="{3A18D595-9FAF-471D-99D3-5A57553D5F0C}" destId="{EF8234D7-494E-4660-981F-6E8B8EE77003}" srcOrd="0" destOrd="0" presId="urn:microsoft.com/office/officeart/2005/8/layout/hierarchy4"/>
    <dgm:cxn modelId="{138EA5A9-07F6-4B16-8A1F-5DFD3FAB84F1}" type="presParOf" srcId="{3A18D595-9FAF-471D-99D3-5A57553D5F0C}" destId="{CECC728E-57E3-48A2-955F-B1EAF43E6835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76A644-1A0D-4C40-A74A-433E9AFFEB90}">
      <dsp:nvSpPr>
        <dsp:cNvPr id="0" name=""/>
        <dsp:cNvSpPr/>
      </dsp:nvSpPr>
      <dsp:spPr>
        <a:xfrm>
          <a:off x="4431" y="79201"/>
          <a:ext cx="3311988" cy="360154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Dumb robots</a:t>
          </a:r>
        </a:p>
      </dsp:txBody>
      <dsp:txXfrm>
        <a:off x="14980" y="89750"/>
        <a:ext cx="3290890" cy="339056"/>
      </dsp:txXfrm>
    </dsp:sp>
    <dsp:sp modelId="{AC86E1A9-8F12-48A2-8EB7-83C0D070565F}">
      <dsp:nvSpPr>
        <dsp:cNvPr id="0" name=""/>
        <dsp:cNvSpPr/>
      </dsp:nvSpPr>
      <dsp:spPr>
        <a:xfrm>
          <a:off x="0" y="495576"/>
          <a:ext cx="3312014" cy="535736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600" kern="1200" dirty="0">
              <a:latin typeface="Calibri" panose="020F0502020204030204" pitchFamily="34" charset="0"/>
              <a:cs typeface="Times New Roman" panose="02020603050405020304" pitchFamily="18" charset="0"/>
            </a:rPr>
            <a:t>Simply repeat the same tasks over and over – no AI involved.</a:t>
          </a:r>
          <a:endParaRPr lang="en-GB" sz="1600" kern="1200" dirty="0">
            <a:latin typeface="Calibri" panose="020F0502020204030204" pitchFamily="34" charset="0"/>
            <a:ea typeface="Calibri" panose="020F0502020204030204" pitchFamily="34" charset="0"/>
            <a:cs typeface="Times New Roman" panose="02020603050405020304" pitchFamily="18" charset="0"/>
          </a:endParaRPr>
        </a:p>
      </dsp:txBody>
      <dsp:txXfrm>
        <a:off x="15691" y="511267"/>
        <a:ext cx="3280632" cy="504354"/>
      </dsp:txXfrm>
    </dsp:sp>
    <dsp:sp modelId="{2A158852-5654-44AC-901B-928DF4CB5246}">
      <dsp:nvSpPr>
        <dsp:cNvPr id="0" name=""/>
        <dsp:cNvSpPr/>
      </dsp:nvSpPr>
      <dsp:spPr>
        <a:xfrm>
          <a:off x="6683" y="1090797"/>
          <a:ext cx="3307483" cy="525597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600" kern="1200" dirty="0">
              <a:latin typeface="Calibri" panose="020F0502020204030204" pitchFamily="34" charset="0"/>
              <a:cs typeface="Times New Roman" panose="02020603050405020304" pitchFamily="18" charset="0"/>
            </a:rPr>
            <a:t>Car assembly line</a:t>
          </a:r>
        </a:p>
      </dsp:txBody>
      <dsp:txXfrm>
        <a:off x="22077" y="1106191"/>
        <a:ext cx="3276695" cy="494809"/>
      </dsp:txXfrm>
    </dsp:sp>
    <dsp:sp modelId="{EEAEDCC3-540E-4139-8ED4-E5105A61F30D}">
      <dsp:nvSpPr>
        <dsp:cNvPr id="0" name=""/>
        <dsp:cNvSpPr/>
      </dsp:nvSpPr>
      <dsp:spPr>
        <a:xfrm>
          <a:off x="3873176" y="79459"/>
          <a:ext cx="3311997" cy="359710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800" b="1" kern="1200" dirty="0"/>
            <a:t>Smart robots</a:t>
          </a:r>
        </a:p>
      </dsp:txBody>
      <dsp:txXfrm>
        <a:off x="3883712" y="89995"/>
        <a:ext cx="3290925" cy="338638"/>
      </dsp:txXfrm>
    </dsp:sp>
    <dsp:sp modelId="{29650693-3F4C-4256-960C-FFFCD61E6D85}">
      <dsp:nvSpPr>
        <dsp:cNvPr id="0" name=""/>
        <dsp:cNvSpPr/>
      </dsp:nvSpPr>
      <dsp:spPr>
        <a:xfrm>
          <a:off x="3873817" y="496800"/>
          <a:ext cx="3310716" cy="535556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600" kern="1200" dirty="0">
              <a:latin typeface="Calibri" panose="020F0502020204030204" pitchFamily="34" charset="0"/>
              <a:cs typeface="Times New Roman" panose="02020603050405020304" pitchFamily="18" charset="0"/>
            </a:rPr>
            <a:t>Trained to learn, adapt and carry out progressively more complex tasks.</a:t>
          </a:r>
          <a:endParaRPr lang="en-GB" sz="1600" kern="1200" dirty="0"/>
        </a:p>
      </dsp:txBody>
      <dsp:txXfrm>
        <a:off x="3889503" y="512486"/>
        <a:ext cx="3279344" cy="504184"/>
      </dsp:txXfrm>
    </dsp:sp>
    <dsp:sp modelId="{EF8234D7-494E-4660-981F-6E8B8EE77003}">
      <dsp:nvSpPr>
        <dsp:cNvPr id="0" name=""/>
        <dsp:cNvSpPr/>
      </dsp:nvSpPr>
      <dsp:spPr>
        <a:xfrm>
          <a:off x="3873817" y="1089807"/>
          <a:ext cx="3310716" cy="527224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600" kern="1200" dirty="0"/>
            <a:t>A robot designed to beat </a:t>
          </a:r>
          <a:br>
            <a:rPr lang="en-GB" sz="1600" kern="1200" dirty="0"/>
          </a:br>
          <a:r>
            <a:rPr lang="en-GB" sz="1600" kern="1200" dirty="0"/>
            <a:t>a human at chess</a:t>
          </a:r>
        </a:p>
      </dsp:txBody>
      <dsp:txXfrm>
        <a:off x="3889259" y="1105249"/>
        <a:ext cx="3279832" cy="4963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21/08/2022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3723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6.2 Robotics | Robots and robotics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2.png"/><Relationship Id="rId7" Type="http://schemas.openxmlformats.org/officeDocument/2006/relationships/image" Target="../media/image11.jpeg"/><Relationship Id="rId12" Type="http://schemas.microsoft.com/office/2007/relationships/diagramDrawing" Target="../diagrams/drawing1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4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3.png"/><Relationship Id="rId9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6.2 Robotics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Robots and robotics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A12906-E260-4F41-90D9-9054A5E720FD}"/>
              </a:ext>
            </a:extLst>
          </p:cNvPr>
          <p:cNvSpPr/>
          <p:nvPr/>
        </p:nvSpPr>
        <p:spPr>
          <a:xfrm>
            <a:off x="176565" y="523174"/>
            <a:ext cx="665509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Artificial intelligence, machine learning and robotics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22ADE29-A342-480B-9FE3-E3F241F94E1B}"/>
              </a:ext>
            </a:extLst>
          </p:cNvPr>
          <p:cNvGrpSpPr/>
          <p:nvPr/>
        </p:nvGrpSpPr>
        <p:grpSpPr>
          <a:xfrm>
            <a:off x="5242561" y="31747"/>
            <a:ext cx="6794066" cy="6800490"/>
            <a:chOff x="5219701" y="31747"/>
            <a:chExt cx="6794066" cy="680049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6F4240C-CA34-4BBF-A655-8EC3E0DF72EE}"/>
                </a:ext>
              </a:extLst>
            </p:cNvPr>
            <p:cNvGrpSpPr/>
            <p:nvPr/>
          </p:nvGrpSpPr>
          <p:grpSpPr>
            <a:xfrm>
              <a:off x="5219701" y="520841"/>
              <a:ext cx="6794066" cy="5930759"/>
              <a:chOff x="4978400" y="533541"/>
              <a:chExt cx="7092705" cy="6191451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352A8F87-E052-495D-BB4C-1A54673B0816}"/>
                  </a:ext>
                </a:extLst>
              </p:cNvPr>
              <p:cNvGrpSpPr/>
              <p:nvPr/>
            </p:nvGrpSpPr>
            <p:grpSpPr>
              <a:xfrm>
                <a:off x="4978400" y="533541"/>
                <a:ext cx="7092705" cy="6191451"/>
                <a:chOff x="2881425" y="1161009"/>
                <a:chExt cx="6097475" cy="5322683"/>
              </a:xfrm>
            </p:grpSpPr>
            <p:sp>
              <p:nvSpPr>
                <p:cNvPr id="24" name="Фигура">
                  <a:extLst>
                    <a:ext uri="{FF2B5EF4-FFF2-40B4-BE49-F238E27FC236}">
                      <a16:creationId xmlns:a16="http://schemas.microsoft.com/office/drawing/2014/main" id="{9656C6A1-29D5-4370-ACF5-E11A128EC2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0183" y="1161009"/>
                  <a:ext cx="3812759" cy="4921510"/>
                </a:xfrm>
                <a:custGeom>
                  <a:avLst/>
                  <a:gdLst>
                    <a:gd name="T0" fmla="*/ 3301058 w 21573"/>
                    <a:gd name="T1" fmla="*/ 4260722 h 21596"/>
                    <a:gd name="T2" fmla="*/ 3301058 w 21573"/>
                    <a:gd name="T3" fmla="*/ 4260722 h 21596"/>
                    <a:gd name="T4" fmla="*/ 3301058 w 21573"/>
                    <a:gd name="T5" fmla="*/ 4260722 h 21596"/>
                    <a:gd name="T6" fmla="*/ 3301058 w 21573"/>
                    <a:gd name="T7" fmla="*/ 4260722 h 21596"/>
                    <a:gd name="T8" fmla="*/ 0 60000 65536"/>
                    <a:gd name="T9" fmla="*/ 5898240 60000 65536"/>
                    <a:gd name="T10" fmla="*/ 11796480 60000 65536"/>
                    <a:gd name="T11" fmla="*/ 1769472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1573" h="21596" extrusionOk="0">
                      <a:moveTo>
                        <a:pt x="16988" y="161"/>
                      </a:moveTo>
                      <a:cubicBezTo>
                        <a:pt x="17069" y="251"/>
                        <a:pt x="17141" y="345"/>
                        <a:pt x="17202" y="444"/>
                      </a:cubicBezTo>
                      <a:cubicBezTo>
                        <a:pt x="17267" y="549"/>
                        <a:pt x="17320" y="658"/>
                        <a:pt x="17374" y="766"/>
                      </a:cubicBezTo>
                      <a:cubicBezTo>
                        <a:pt x="17491" y="1004"/>
                        <a:pt x="17609" y="1242"/>
                        <a:pt x="17727" y="1480"/>
                      </a:cubicBezTo>
                      <a:cubicBezTo>
                        <a:pt x="17950" y="1923"/>
                        <a:pt x="18175" y="2366"/>
                        <a:pt x="18393" y="2810"/>
                      </a:cubicBezTo>
                      <a:cubicBezTo>
                        <a:pt x="18832" y="3701"/>
                        <a:pt x="19244" y="4598"/>
                        <a:pt x="19627" y="5502"/>
                      </a:cubicBezTo>
                      <a:cubicBezTo>
                        <a:pt x="20487" y="7531"/>
                        <a:pt x="21207" y="9607"/>
                        <a:pt x="21466" y="11747"/>
                      </a:cubicBezTo>
                      <a:cubicBezTo>
                        <a:pt x="21573" y="12629"/>
                        <a:pt x="21600" y="13517"/>
                        <a:pt x="21547" y="14403"/>
                      </a:cubicBezTo>
                      <a:cubicBezTo>
                        <a:pt x="21135" y="13190"/>
                        <a:pt x="19991" y="12208"/>
                        <a:pt x="18480" y="11768"/>
                      </a:cubicBezTo>
                      <a:cubicBezTo>
                        <a:pt x="15508" y="10900"/>
                        <a:pt x="12440" y="12228"/>
                        <a:pt x="9862" y="13780"/>
                      </a:cubicBezTo>
                      <a:cubicBezTo>
                        <a:pt x="8949" y="14330"/>
                        <a:pt x="8061" y="14902"/>
                        <a:pt x="7209" y="15505"/>
                      </a:cubicBezTo>
                      <a:cubicBezTo>
                        <a:pt x="6338" y="16122"/>
                        <a:pt x="5507" y="16771"/>
                        <a:pt x="4695" y="17433"/>
                      </a:cubicBezTo>
                      <a:cubicBezTo>
                        <a:pt x="3057" y="18767"/>
                        <a:pt x="1490" y="20156"/>
                        <a:pt x="0" y="21596"/>
                      </a:cubicBezTo>
                      <a:lnTo>
                        <a:pt x="16000" y="234"/>
                      </a:lnTo>
                      <a:cubicBezTo>
                        <a:pt x="16115" y="85"/>
                        <a:pt x="16324" y="-4"/>
                        <a:pt x="16548" y="1"/>
                      </a:cubicBezTo>
                      <a:cubicBezTo>
                        <a:pt x="16717" y="4"/>
                        <a:pt x="16876" y="62"/>
                        <a:pt x="16988" y="161"/>
                      </a:cubicBezTo>
                      <a:close/>
                    </a:path>
                  </a:pathLst>
                </a:custGeom>
                <a:solidFill>
                  <a:srgbClr val="C00000"/>
                </a:solidFill>
                <a:ln>
                  <a:noFill/>
                </a:ln>
              </p:spPr>
              <p:txBody>
                <a:bodyPr lIns="50787" tIns="50787" rIns="50787" bIns="50787" anchor="ctr"/>
                <a:lstStyle/>
                <a:p>
                  <a:endParaRPr lang="en-US" sz="1400" dirty="0">
                    <a:latin typeface="Lato Light" panose="020F0502020204030203" pitchFamily="34" charset="0"/>
                  </a:endParaRPr>
                </a:p>
              </p:txBody>
            </p:sp>
            <p:sp>
              <p:nvSpPr>
                <p:cNvPr id="25" name="Фигура">
                  <a:extLst>
                    <a:ext uri="{FF2B5EF4-FFF2-40B4-BE49-F238E27FC236}">
                      <a16:creationId xmlns:a16="http://schemas.microsoft.com/office/drawing/2014/main" id="{CF848517-4120-4E1C-9BA1-DBE0DD1C419F}"/>
                    </a:ext>
                  </a:extLst>
                </p:cNvPr>
                <p:cNvSpPr/>
                <p:nvPr/>
              </p:nvSpPr>
              <p:spPr bwMode="auto">
                <a:xfrm>
                  <a:off x="5667008" y="1514938"/>
                  <a:ext cx="3311892" cy="49348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58" h="21567" extrusionOk="0">
                      <a:moveTo>
                        <a:pt x="3512" y="0"/>
                      </a:moveTo>
                      <a:cubicBezTo>
                        <a:pt x="4175" y="1156"/>
                        <a:pt x="4788" y="2315"/>
                        <a:pt x="5355" y="3476"/>
                      </a:cubicBezTo>
                      <a:cubicBezTo>
                        <a:pt x="5923" y="4639"/>
                        <a:pt x="6444" y="5805"/>
                        <a:pt x="6856" y="6984"/>
                      </a:cubicBezTo>
                      <a:cubicBezTo>
                        <a:pt x="7297" y="8245"/>
                        <a:pt x="7619" y="9556"/>
                        <a:pt x="7767" y="10855"/>
                      </a:cubicBezTo>
                      <a:cubicBezTo>
                        <a:pt x="7914" y="12154"/>
                        <a:pt x="7886" y="13460"/>
                        <a:pt x="7238" y="14730"/>
                      </a:cubicBezTo>
                      <a:cubicBezTo>
                        <a:pt x="6912" y="15368"/>
                        <a:pt x="6429" y="15966"/>
                        <a:pt x="5737" y="16449"/>
                      </a:cubicBezTo>
                      <a:cubicBezTo>
                        <a:pt x="4261" y="17477"/>
                        <a:pt x="2052" y="17874"/>
                        <a:pt x="0" y="17469"/>
                      </a:cubicBezTo>
                      <a:cubicBezTo>
                        <a:pt x="736" y="17795"/>
                        <a:pt x="1499" y="18092"/>
                        <a:pt x="2286" y="18360"/>
                      </a:cubicBezTo>
                      <a:cubicBezTo>
                        <a:pt x="3025" y="18611"/>
                        <a:pt x="3785" y="18836"/>
                        <a:pt x="4555" y="19043"/>
                      </a:cubicBezTo>
                      <a:cubicBezTo>
                        <a:pt x="7143" y="19737"/>
                        <a:pt x="9835" y="20226"/>
                        <a:pt x="12548" y="20628"/>
                      </a:cubicBezTo>
                      <a:cubicBezTo>
                        <a:pt x="15191" y="21019"/>
                        <a:pt x="17864" y="21329"/>
                        <a:pt x="20558" y="21557"/>
                      </a:cubicBezTo>
                      <a:cubicBezTo>
                        <a:pt x="20900" y="21600"/>
                        <a:pt x="21247" y="21498"/>
                        <a:pt x="21431" y="21299"/>
                      </a:cubicBezTo>
                      <a:cubicBezTo>
                        <a:pt x="21587" y="21132"/>
                        <a:pt x="21600" y="20921"/>
                        <a:pt x="21465" y="20746"/>
                      </a:cubicBezTo>
                      <a:lnTo>
                        <a:pt x="35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lIns="50787" tIns="50787" rIns="50787" bIns="50787" anchor="ctr"/>
                <a:lstStyle/>
                <a:p>
                  <a:pPr algn="ctr">
                    <a:defRPr sz="3200">
                      <a:solidFill>
                        <a:srgbClr val="000000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2000" kern="0" dirty="0">
                    <a:solidFill>
                      <a:srgbClr val="000000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  <a:sym typeface="Helvetica Light"/>
                  </a:endParaRPr>
                </a:p>
              </p:txBody>
            </p:sp>
            <p:sp>
              <p:nvSpPr>
                <p:cNvPr id="26" name="Фигура">
                  <a:extLst>
                    <a:ext uri="{FF2B5EF4-FFF2-40B4-BE49-F238E27FC236}">
                      <a16:creationId xmlns:a16="http://schemas.microsoft.com/office/drawing/2014/main" id="{8D73CFDC-3A0C-4DD6-BDAC-E1E55585EFCE}"/>
                    </a:ext>
                  </a:extLst>
                </p:cNvPr>
                <p:cNvSpPr/>
                <p:nvPr/>
              </p:nvSpPr>
              <p:spPr bwMode="auto">
                <a:xfrm>
                  <a:off x="2881425" y="4019946"/>
                  <a:ext cx="5625264" cy="246374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75" h="21600" extrusionOk="0">
                      <a:moveTo>
                        <a:pt x="9295" y="0"/>
                      </a:moveTo>
                      <a:cubicBezTo>
                        <a:pt x="8433" y="1842"/>
                        <a:pt x="8085" y="4539"/>
                        <a:pt x="8321" y="7079"/>
                      </a:cubicBezTo>
                      <a:cubicBezTo>
                        <a:pt x="8604" y="10122"/>
                        <a:pt x="9656" y="12421"/>
                        <a:pt x="10863" y="14178"/>
                      </a:cubicBezTo>
                      <a:cubicBezTo>
                        <a:pt x="11665" y="15344"/>
                        <a:pt x="12514" y="16273"/>
                        <a:pt x="13379" y="17055"/>
                      </a:cubicBezTo>
                      <a:cubicBezTo>
                        <a:pt x="14701" y="18250"/>
                        <a:pt x="16077" y="19120"/>
                        <a:pt x="17471" y="19853"/>
                      </a:cubicBezTo>
                      <a:cubicBezTo>
                        <a:pt x="18819" y="20562"/>
                        <a:pt x="20187" y="21146"/>
                        <a:pt x="21575" y="21600"/>
                      </a:cubicBezTo>
                      <a:lnTo>
                        <a:pt x="372" y="21590"/>
                      </a:lnTo>
                      <a:cubicBezTo>
                        <a:pt x="215" y="21557"/>
                        <a:pt x="80" y="21320"/>
                        <a:pt x="25" y="20981"/>
                      </a:cubicBezTo>
                      <a:cubicBezTo>
                        <a:pt x="-25" y="20669"/>
                        <a:pt x="1" y="20319"/>
                        <a:pt x="94" y="20064"/>
                      </a:cubicBezTo>
                      <a:cubicBezTo>
                        <a:pt x="851" y="17813"/>
                        <a:pt x="1636" y="15613"/>
                        <a:pt x="2448" y="13466"/>
                      </a:cubicBezTo>
                      <a:cubicBezTo>
                        <a:pt x="3470" y="10769"/>
                        <a:pt x="4534" y="8159"/>
                        <a:pt x="5694" y="5782"/>
                      </a:cubicBezTo>
                      <a:cubicBezTo>
                        <a:pt x="6253" y="4638"/>
                        <a:pt x="6833" y="3549"/>
                        <a:pt x="7446" y="2560"/>
                      </a:cubicBezTo>
                      <a:cubicBezTo>
                        <a:pt x="8035" y="1611"/>
                        <a:pt x="8652" y="755"/>
                        <a:pt x="929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lIns="50787" tIns="50787" rIns="50787" bIns="50787" anchor="ctr"/>
                <a:lstStyle/>
                <a:p>
                  <a:pPr algn="ctr">
                    <a:defRPr sz="3200">
                      <a:solidFill>
                        <a:srgbClr val="000000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2000" kern="0" dirty="0">
                    <a:solidFill>
                      <a:srgbClr val="000000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  <a:sym typeface="Helvetica Light"/>
                  </a:endParaRPr>
                </a:p>
              </p:txBody>
            </p:sp>
          </p:grpSp>
          <p:pic>
            <p:nvPicPr>
              <p:cNvPr id="7" name="Picture 6" descr="A close up of a sign&#10;&#10;Description automatically generated">
                <a:extLst>
                  <a:ext uri="{FF2B5EF4-FFF2-40B4-BE49-F238E27FC236}">
                    <a16:creationId xmlns:a16="http://schemas.microsoft.com/office/drawing/2014/main" id="{9DFC49CD-7A39-487B-9D70-21738461A6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74140" y="4693502"/>
                <a:ext cx="1514038" cy="1514038"/>
              </a:xfrm>
              <a:prstGeom prst="rect">
                <a:avLst/>
              </a:prstGeom>
            </p:spPr>
          </p:pic>
          <p:pic>
            <p:nvPicPr>
              <p:cNvPr id="22" name="Picture 21" descr="A picture containing toy&#10;&#10;Description automatically generated">
                <a:extLst>
                  <a:ext uri="{FF2B5EF4-FFF2-40B4-BE49-F238E27FC236}">
                    <a16:creationId xmlns:a16="http://schemas.microsoft.com/office/drawing/2014/main" id="{86698B31-9DC9-4180-B617-CB6E36F901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5996" y="4821988"/>
                <a:ext cx="1789008" cy="1789008"/>
              </a:xfrm>
              <a:prstGeom prst="rect">
                <a:avLst/>
              </a:prstGeom>
            </p:spPr>
          </p:pic>
          <p:pic>
            <p:nvPicPr>
              <p:cNvPr id="42" name="Picture 41" descr="A close up of a logo&#10;&#10;Description automatically generated">
                <a:extLst>
                  <a:ext uri="{FF2B5EF4-FFF2-40B4-BE49-F238E27FC236}">
                    <a16:creationId xmlns:a16="http://schemas.microsoft.com/office/drawing/2014/main" id="{2BC7E778-A613-43A7-AB1A-EF07CEF1C5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51168" y="3803769"/>
                <a:ext cx="1781272" cy="1599147"/>
              </a:xfrm>
              <a:prstGeom prst="rect">
                <a:avLst/>
              </a:prstGeom>
            </p:spPr>
          </p:pic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05BC430-916A-4558-8D0D-525C2E3393DA}"/>
                </a:ext>
              </a:extLst>
            </p:cNvPr>
            <p:cNvSpPr/>
            <p:nvPr/>
          </p:nvSpPr>
          <p:spPr>
            <a:xfrm rot="18012237">
              <a:off x="3621951" y="2956648"/>
              <a:ext cx="624991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2000" b="1" spc="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Artificial intelligence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1BBF483-02AF-4FF8-A2AF-D1CDDF7FB675}"/>
                </a:ext>
              </a:extLst>
            </p:cNvPr>
            <p:cNvSpPr/>
            <p:nvPr/>
          </p:nvSpPr>
          <p:spPr>
            <a:xfrm rot="3570437">
              <a:off x="7564771" y="3202119"/>
              <a:ext cx="613592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2000" b="1" spc="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Machine learning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8437751-1366-4CF8-859A-FE24A8292F79}"/>
                </a:ext>
              </a:extLst>
            </p:cNvPr>
            <p:cNvSpPr/>
            <p:nvPr/>
          </p:nvSpPr>
          <p:spPr>
            <a:xfrm>
              <a:off x="5318599" y="6432127"/>
              <a:ext cx="616901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GB" sz="2000" b="1" spc="6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Robotics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B2E79D70-7570-400C-827F-6F27F8073083}"/>
              </a:ext>
            </a:extLst>
          </p:cNvPr>
          <p:cNvSpPr/>
          <p:nvPr/>
        </p:nvSpPr>
        <p:spPr>
          <a:xfrm>
            <a:off x="176565" y="1045833"/>
            <a:ext cx="5798125" cy="22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is a lot of hype around the emerging technologies of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artificial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intelligence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what they could mean for the future of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robotics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automation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However, there is also a lot of confusion surrounding these terms because they are often used interchangeably.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So, what does each term actually mean, and how do they relate to each other?</a:t>
            </a:r>
          </a:p>
        </p:txBody>
      </p:sp>
      <p:pic>
        <p:nvPicPr>
          <p:cNvPr id="50" name="Picture 49" descr="A picture containing bird&#10;&#10;Description automatically generated">
            <a:extLst>
              <a:ext uri="{FF2B5EF4-FFF2-40B4-BE49-F238E27FC236}">
                <a16:creationId xmlns:a16="http://schemas.microsoft.com/office/drawing/2014/main" id="{A1678588-94D6-4805-90F1-EF7959AE42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976" y="1655762"/>
            <a:ext cx="1715637" cy="171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269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2ADDE9-1D9D-4971-89F6-8551460029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93" r="8473"/>
          <a:stretch/>
        </p:blipFill>
        <p:spPr>
          <a:xfrm>
            <a:off x="-1" y="419100"/>
            <a:ext cx="4572847" cy="64389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BFD356B-6A34-EE1D-E0FC-07FF4AD6CF58}"/>
              </a:ext>
            </a:extLst>
          </p:cNvPr>
          <p:cNvGrpSpPr/>
          <p:nvPr/>
        </p:nvGrpSpPr>
        <p:grpSpPr>
          <a:xfrm>
            <a:off x="6898646" y="524839"/>
            <a:ext cx="5116789" cy="4466608"/>
            <a:chOff x="8182576" y="524839"/>
            <a:chExt cx="3832859" cy="3345825"/>
          </a:xfrm>
        </p:grpSpPr>
        <p:sp>
          <p:nvSpPr>
            <p:cNvPr id="24" name="Фигура">
              <a:extLst>
                <a:ext uri="{FF2B5EF4-FFF2-40B4-BE49-F238E27FC236}">
                  <a16:creationId xmlns:a16="http://schemas.microsoft.com/office/drawing/2014/main" id="{9656C6A1-29D5-4370-ACF5-E11A128EC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8369" y="524839"/>
              <a:ext cx="2396692" cy="3093649"/>
            </a:xfrm>
            <a:custGeom>
              <a:avLst/>
              <a:gdLst>
                <a:gd name="T0" fmla="*/ 3301058 w 21573"/>
                <a:gd name="T1" fmla="*/ 4260722 h 21596"/>
                <a:gd name="T2" fmla="*/ 3301058 w 21573"/>
                <a:gd name="T3" fmla="*/ 4260722 h 21596"/>
                <a:gd name="T4" fmla="*/ 3301058 w 21573"/>
                <a:gd name="T5" fmla="*/ 4260722 h 21596"/>
                <a:gd name="T6" fmla="*/ 3301058 w 21573"/>
                <a:gd name="T7" fmla="*/ 4260722 h 21596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573" h="21596" extrusionOk="0">
                  <a:moveTo>
                    <a:pt x="16988" y="161"/>
                  </a:moveTo>
                  <a:cubicBezTo>
                    <a:pt x="17069" y="251"/>
                    <a:pt x="17141" y="345"/>
                    <a:pt x="17202" y="444"/>
                  </a:cubicBezTo>
                  <a:cubicBezTo>
                    <a:pt x="17267" y="549"/>
                    <a:pt x="17320" y="658"/>
                    <a:pt x="17374" y="766"/>
                  </a:cubicBezTo>
                  <a:cubicBezTo>
                    <a:pt x="17491" y="1004"/>
                    <a:pt x="17609" y="1242"/>
                    <a:pt x="17727" y="1480"/>
                  </a:cubicBezTo>
                  <a:cubicBezTo>
                    <a:pt x="17950" y="1923"/>
                    <a:pt x="18175" y="2366"/>
                    <a:pt x="18393" y="2810"/>
                  </a:cubicBezTo>
                  <a:cubicBezTo>
                    <a:pt x="18832" y="3701"/>
                    <a:pt x="19244" y="4598"/>
                    <a:pt x="19627" y="5502"/>
                  </a:cubicBezTo>
                  <a:cubicBezTo>
                    <a:pt x="20487" y="7531"/>
                    <a:pt x="21207" y="9607"/>
                    <a:pt x="21466" y="11747"/>
                  </a:cubicBezTo>
                  <a:cubicBezTo>
                    <a:pt x="21573" y="12629"/>
                    <a:pt x="21600" y="13517"/>
                    <a:pt x="21547" y="14403"/>
                  </a:cubicBezTo>
                  <a:cubicBezTo>
                    <a:pt x="21135" y="13190"/>
                    <a:pt x="19991" y="12208"/>
                    <a:pt x="18480" y="11768"/>
                  </a:cubicBezTo>
                  <a:cubicBezTo>
                    <a:pt x="15508" y="10900"/>
                    <a:pt x="12440" y="12228"/>
                    <a:pt x="9862" y="13780"/>
                  </a:cubicBezTo>
                  <a:cubicBezTo>
                    <a:pt x="8949" y="14330"/>
                    <a:pt x="8061" y="14902"/>
                    <a:pt x="7209" y="15505"/>
                  </a:cubicBezTo>
                  <a:cubicBezTo>
                    <a:pt x="6338" y="16122"/>
                    <a:pt x="5507" y="16771"/>
                    <a:pt x="4695" y="17433"/>
                  </a:cubicBezTo>
                  <a:cubicBezTo>
                    <a:pt x="3057" y="18767"/>
                    <a:pt x="1490" y="20156"/>
                    <a:pt x="0" y="21596"/>
                  </a:cubicBezTo>
                  <a:lnTo>
                    <a:pt x="16000" y="234"/>
                  </a:lnTo>
                  <a:cubicBezTo>
                    <a:pt x="16115" y="85"/>
                    <a:pt x="16324" y="-4"/>
                    <a:pt x="16548" y="1"/>
                  </a:cubicBezTo>
                  <a:cubicBezTo>
                    <a:pt x="16717" y="4"/>
                    <a:pt x="16876" y="62"/>
                    <a:pt x="16988" y="161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lIns="50787" tIns="50787" rIns="50787" bIns="50787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25" name="Фигура">
              <a:extLst>
                <a:ext uri="{FF2B5EF4-FFF2-40B4-BE49-F238E27FC236}">
                  <a16:creationId xmlns:a16="http://schemas.microsoft.com/office/drawing/2014/main" id="{CF848517-4120-4E1C-9BA1-DBE0DD1C419F}"/>
                </a:ext>
              </a:extLst>
            </p:cNvPr>
            <p:cNvSpPr/>
            <p:nvPr/>
          </p:nvSpPr>
          <p:spPr bwMode="auto">
            <a:xfrm>
              <a:off x="9933587" y="747318"/>
              <a:ext cx="2081848" cy="31020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8" h="21567" extrusionOk="0">
                  <a:moveTo>
                    <a:pt x="3512" y="0"/>
                  </a:moveTo>
                  <a:cubicBezTo>
                    <a:pt x="4175" y="1156"/>
                    <a:pt x="4788" y="2315"/>
                    <a:pt x="5355" y="3476"/>
                  </a:cubicBezTo>
                  <a:cubicBezTo>
                    <a:pt x="5923" y="4639"/>
                    <a:pt x="6444" y="5805"/>
                    <a:pt x="6856" y="6984"/>
                  </a:cubicBezTo>
                  <a:cubicBezTo>
                    <a:pt x="7297" y="8245"/>
                    <a:pt x="7619" y="9556"/>
                    <a:pt x="7767" y="10855"/>
                  </a:cubicBezTo>
                  <a:cubicBezTo>
                    <a:pt x="7914" y="12154"/>
                    <a:pt x="7886" y="13460"/>
                    <a:pt x="7238" y="14730"/>
                  </a:cubicBezTo>
                  <a:cubicBezTo>
                    <a:pt x="6912" y="15368"/>
                    <a:pt x="6429" y="15966"/>
                    <a:pt x="5737" y="16449"/>
                  </a:cubicBezTo>
                  <a:cubicBezTo>
                    <a:pt x="4261" y="17477"/>
                    <a:pt x="2052" y="17874"/>
                    <a:pt x="0" y="17469"/>
                  </a:cubicBezTo>
                  <a:cubicBezTo>
                    <a:pt x="736" y="17795"/>
                    <a:pt x="1499" y="18092"/>
                    <a:pt x="2286" y="18360"/>
                  </a:cubicBezTo>
                  <a:cubicBezTo>
                    <a:pt x="3025" y="18611"/>
                    <a:pt x="3785" y="18836"/>
                    <a:pt x="4555" y="19043"/>
                  </a:cubicBezTo>
                  <a:cubicBezTo>
                    <a:pt x="7143" y="19737"/>
                    <a:pt x="9835" y="20226"/>
                    <a:pt x="12548" y="20628"/>
                  </a:cubicBezTo>
                  <a:cubicBezTo>
                    <a:pt x="15191" y="21019"/>
                    <a:pt x="17864" y="21329"/>
                    <a:pt x="20558" y="21557"/>
                  </a:cubicBezTo>
                  <a:cubicBezTo>
                    <a:pt x="20900" y="21600"/>
                    <a:pt x="21247" y="21498"/>
                    <a:pt x="21431" y="21299"/>
                  </a:cubicBezTo>
                  <a:cubicBezTo>
                    <a:pt x="21587" y="21132"/>
                    <a:pt x="21600" y="20921"/>
                    <a:pt x="21465" y="20746"/>
                  </a:cubicBezTo>
                  <a:lnTo>
                    <a:pt x="3512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lIns="50787" tIns="50787" rIns="50787" bIns="50787" anchor="ctr"/>
            <a:lstStyle/>
            <a:p>
              <a:pPr algn="ctr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kern="0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Helvetica Light"/>
              </a:endParaRPr>
            </a:p>
          </p:txBody>
        </p:sp>
        <p:sp>
          <p:nvSpPr>
            <p:cNvPr id="26" name="Фигура">
              <a:extLst>
                <a:ext uri="{FF2B5EF4-FFF2-40B4-BE49-F238E27FC236}">
                  <a16:creationId xmlns:a16="http://schemas.microsoft.com/office/drawing/2014/main" id="{8D73CFDC-3A0C-4DD6-BDAC-E1E55585EFCE}"/>
                </a:ext>
              </a:extLst>
            </p:cNvPr>
            <p:cNvSpPr/>
            <p:nvPr/>
          </p:nvSpPr>
          <p:spPr bwMode="auto">
            <a:xfrm>
              <a:off x="8182576" y="2321960"/>
              <a:ext cx="3536028" cy="1548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600" extrusionOk="0">
                  <a:moveTo>
                    <a:pt x="9295" y="0"/>
                  </a:moveTo>
                  <a:cubicBezTo>
                    <a:pt x="8433" y="1842"/>
                    <a:pt x="8085" y="4539"/>
                    <a:pt x="8321" y="7079"/>
                  </a:cubicBezTo>
                  <a:cubicBezTo>
                    <a:pt x="8604" y="10122"/>
                    <a:pt x="9656" y="12421"/>
                    <a:pt x="10863" y="14178"/>
                  </a:cubicBezTo>
                  <a:cubicBezTo>
                    <a:pt x="11665" y="15344"/>
                    <a:pt x="12514" y="16273"/>
                    <a:pt x="13379" y="17055"/>
                  </a:cubicBezTo>
                  <a:cubicBezTo>
                    <a:pt x="14701" y="18250"/>
                    <a:pt x="16077" y="19120"/>
                    <a:pt x="17471" y="19853"/>
                  </a:cubicBezTo>
                  <a:cubicBezTo>
                    <a:pt x="18819" y="20562"/>
                    <a:pt x="20187" y="21146"/>
                    <a:pt x="21575" y="21600"/>
                  </a:cubicBezTo>
                  <a:lnTo>
                    <a:pt x="372" y="21590"/>
                  </a:lnTo>
                  <a:cubicBezTo>
                    <a:pt x="215" y="21557"/>
                    <a:pt x="80" y="21320"/>
                    <a:pt x="25" y="20981"/>
                  </a:cubicBezTo>
                  <a:cubicBezTo>
                    <a:pt x="-25" y="20669"/>
                    <a:pt x="1" y="20319"/>
                    <a:pt x="94" y="20064"/>
                  </a:cubicBezTo>
                  <a:cubicBezTo>
                    <a:pt x="851" y="17813"/>
                    <a:pt x="1636" y="15613"/>
                    <a:pt x="2448" y="13466"/>
                  </a:cubicBezTo>
                  <a:cubicBezTo>
                    <a:pt x="3470" y="10769"/>
                    <a:pt x="4534" y="8159"/>
                    <a:pt x="5694" y="5782"/>
                  </a:cubicBezTo>
                  <a:cubicBezTo>
                    <a:pt x="6253" y="4638"/>
                    <a:pt x="6833" y="3549"/>
                    <a:pt x="7446" y="2560"/>
                  </a:cubicBezTo>
                  <a:cubicBezTo>
                    <a:pt x="8035" y="1611"/>
                    <a:pt x="8652" y="755"/>
                    <a:pt x="929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lIns="50787" tIns="50787" rIns="50787" bIns="50787" anchor="ctr"/>
            <a:lstStyle/>
            <a:p>
              <a:pPr algn="ctr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kern="0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Helvetica Light"/>
              </a:endParaRPr>
            </a:p>
          </p:txBody>
        </p:sp>
        <p:pic>
          <p:nvPicPr>
            <p:cNvPr id="7" name="Picture 6" descr="A close up of a sign&#10;&#10;Description automatically generated">
              <a:extLst>
                <a:ext uri="{FF2B5EF4-FFF2-40B4-BE49-F238E27FC236}">
                  <a16:creationId xmlns:a16="http://schemas.microsoft.com/office/drawing/2014/main" id="{9DFC49CD-7A39-487B-9D70-21738461A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66089" y="2772858"/>
              <a:ext cx="818178" cy="818178"/>
            </a:xfrm>
            <a:prstGeom prst="rect">
              <a:avLst/>
            </a:prstGeom>
          </p:spPr>
        </p:pic>
        <p:pic>
          <p:nvPicPr>
            <p:cNvPr id="22" name="Picture 21" descr="A picture containing toy&#10;&#10;Description automatically generated">
              <a:extLst>
                <a:ext uri="{FF2B5EF4-FFF2-40B4-BE49-F238E27FC236}">
                  <a16:creationId xmlns:a16="http://schemas.microsoft.com/office/drawing/2014/main" id="{86698B31-9DC9-4180-B617-CB6E36F90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32479" y="2842291"/>
              <a:ext cx="966770" cy="966770"/>
            </a:xfrm>
            <a:prstGeom prst="rect">
              <a:avLst/>
            </a:prstGeom>
          </p:spPr>
        </p:pic>
        <p:pic>
          <p:nvPicPr>
            <p:cNvPr id="42" name="Picture 41" descr="A close up of a logo&#10;&#10;Description automatically generated">
              <a:extLst>
                <a:ext uri="{FF2B5EF4-FFF2-40B4-BE49-F238E27FC236}">
                  <a16:creationId xmlns:a16="http://schemas.microsoft.com/office/drawing/2014/main" id="{2BC7E778-A613-43A7-AB1A-EF07CEF1C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6925" y="2292052"/>
              <a:ext cx="962590" cy="864170"/>
            </a:xfrm>
            <a:prstGeom prst="rect">
              <a:avLst/>
            </a:prstGeom>
          </p:spPr>
        </p:pic>
        <p:pic>
          <p:nvPicPr>
            <p:cNvPr id="17" name="Picture 16" descr="A picture containing bird&#10;&#10;Description automatically generated">
              <a:extLst>
                <a:ext uri="{FF2B5EF4-FFF2-40B4-BE49-F238E27FC236}">
                  <a16:creationId xmlns:a16="http://schemas.microsoft.com/office/drawing/2014/main" id="{E209BAAD-2810-4D53-93D7-A77D65C19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98311" y="1160438"/>
              <a:ext cx="973138" cy="973138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78C107E-EDF8-45E4-AF8B-DFC77216BACB}"/>
              </a:ext>
            </a:extLst>
          </p:cNvPr>
          <p:cNvSpPr/>
          <p:nvPr/>
        </p:nvSpPr>
        <p:spPr>
          <a:xfrm>
            <a:off x="66675" y="6251657"/>
            <a:ext cx="4433888" cy="55399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-GB" sz="1000" dirty="0">
                <a:solidFill>
                  <a:schemeClr val="bg1"/>
                </a:solidFill>
              </a:rPr>
              <a:t>"null0" (https://commons.wikimedia.org/wiki/File:John_McCarthy_Stanford.jpg) John McCarthy Stanford</a:t>
            </a:r>
          </a:p>
          <a:p>
            <a:r>
              <a:rPr lang="en-GB" sz="1000" dirty="0">
                <a:solidFill>
                  <a:schemeClr val="bg1"/>
                </a:solidFill>
              </a:rPr>
              <a:t>https://creativecommons.org/licenses/by-sa/2.0/legalcode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1E1CAEDD-84C8-42D2-89CF-575E23F593BB}"/>
              </a:ext>
            </a:extLst>
          </p:cNvPr>
          <p:cNvSpPr/>
          <p:nvPr/>
        </p:nvSpPr>
        <p:spPr>
          <a:xfrm>
            <a:off x="3991011" y="594630"/>
            <a:ext cx="3907849" cy="1615064"/>
          </a:xfrm>
          <a:prstGeom prst="wedgeRoundRectCallout">
            <a:avLst>
              <a:gd name="adj1" fmla="val -67030"/>
              <a:gd name="adj2" fmla="val 58401"/>
              <a:gd name="adj3" fmla="val 16667"/>
            </a:avLst>
          </a:prstGeom>
          <a:solidFill>
            <a:schemeClr val="bg1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“For the present purpose, the artificial intelligence problem is taken to be that of making a machine behave in ways that would be called intelligent if a human were so behaving.”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6FB494-435B-491A-9212-4E7084D25FDC}"/>
              </a:ext>
            </a:extLst>
          </p:cNvPr>
          <p:cNvSpPr/>
          <p:nvPr/>
        </p:nvSpPr>
        <p:spPr>
          <a:xfrm>
            <a:off x="4636821" y="2773182"/>
            <a:ext cx="28816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broad term that describes any machine programmed  to simulate intelligent behaviours.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93C26F-6946-4881-8680-A911C3580AC7}"/>
              </a:ext>
            </a:extLst>
          </p:cNvPr>
          <p:cNvSpPr/>
          <p:nvPr/>
        </p:nvSpPr>
        <p:spPr>
          <a:xfrm>
            <a:off x="176565" y="523174"/>
            <a:ext cx="2731069" cy="470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Artificial intelligence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F3EDA4-1FEE-424E-8CD0-A41341C4BD5B}"/>
              </a:ext>
            </a:extLst>
          </p:cNvPr>
          <p:cNvSpPr/>
          <p:nvPr/>
        </p:nvSpPr>
        <p:spPr>
          <a:xfrm>
            <a:off x="4636821" y="2239613"/>
            <a:ext cx="36097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John McCarthy, American computer scientist who coined the term </a:t>
            </a:r>
            <a:r>
              <a:rPr lang="en-GB" sz="1200" b="1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artificial intelligence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1956.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5F1DDB-9D83-C318-1B09-0CED2DC6055E}"/>
              </a:ext>
            </a:extLst>
          </p:cNvPr>
          <p:cNvGrpSpPr/>
          <p:nvPr/>
        </p:nvGrpSpPr>
        <p:grpSpPr>
          <a:xfrm>
            <a:off x="4636821" y="5245745"/>
            <a:ext cx="7306363" cy="1591452"/>
            <a:chOff x="4636821" y="5245745"/>
            <a:chExt cx="7306363" cy="159145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B48C16A-276F-4157-E012-FD5342D48FA8}"/>
                </a:ext>
              </a:extLst>
            </p:cNvPr>
            <p:cNvSpPr/>
            <p:nvPr/>
          </p:nvSpPr>
          <p:spPr>
            <a:xfrm>
              <a:off x="4825532" y="5412434"/>
              <a:ext cx="7117652" cy="1255066"/>
            </a:xfrm>
            <a:prstGeom prst="roundRect">
              <a:avLst>
                <a:gd name="adj" fmla="val 46766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dirty="0"/>
            </a:p>
          </p:txBody>
        </p:sp>
        <p:pic>
          <p:nvPicPr>
            <p:cNvPr id="8" name="Graphic 7" descr="Information with solid fill">
              <a:extLst>
                <a:ext uri="{FF2B5EF4-FFF2-40B4-BE49-F238E27FC236}">
                  <a16:creationId xmlns:a16="http://schemas.microsoft.com/office/drawing/2014/main" id="{C6A4EC76-D1AB-C148-2AF7-62F1160B8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636821" y="5245745"/>
              <a:ext cx="1591452" cy="159145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A7E8A2D-0624-232B-580A-7CF58A98A463}"/>
                </a:ext>
              </a:extLst>
            </p:cNvPr>
            <p:cNvSpPr txBox="1"/>
            <p:nvPr/>
          </p:nvSpPr>
          <p:spPr>
            <a:xfrm>
              <a:off x="6228273" y="5565777"/>
              <a:ext cx="5426357" cy="903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Covered in more detail in the following videos:</a:t>
              </a:r>
            </a:p>
            <a:p>
              <a:pPr marL="742950" lvl="1" indent="-285750">
                <a:lnSpc>
                  <a:spcPct val="107000"/>
                </a:lnSpc>
                <a:buFont typeface="Arial" panose="020B0604020202020204" pitchFamily="34" charset="0"/>
                <a:buChar char="•"/>
              </a:pPr>
              <a:r>
                <a:rPr lang="en-GB" sz="16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6.3 Artificial intelligence (AI)</a:t>
              </a:r>
            </a:p>
            <a:p>
              <a:pPr marL="742950" lvl="1" indent="-285750">
                <a:lnSpc>
                  <a:spcPct val="107000"/>
                </a:lnSpc>
                <a:buFont typeface="Arial" panose="020B0604020202020204" pitchFamily="34" charset="0"/>
                <a:buChar char="•"/>
              </a:pPr>
              <a:r>
                <a:rPr lang="en-GB" sz="16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6.3 Basic operations and components of AI systems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7234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3A30BF2-1D36-40E8-93F8-6CCF768C3A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39"/>
          <a:stretch/>
        </p:blipFill>
        <p:spPr>
          <a:xfrm>
            <a:off x="-2" y="421842"/>
            <a:ext cx="4565385" cy="6433416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36C56596-45AB-E152-F80A-A8CCDF7A5906}"/>
              </a:ext>
            </a:extLst>
          </p:cNvPr>
          <p:cNvGrpSpPr/>
          <p:nvPr/>
        </p:nvGrpSpPr>
        <p:grpSpPr>
          <a:xfrm>
            <a:off x="6895322" y="524839"/>
            <a:ext cx="5120113" cy="4469510"/>
            <a:chOff x="8182576" y="524839"/>
            <a:chExt cx="3832859" cy="3345825"/>
          </a:xfrm>
        </p:grpSpPr>
        <p:sp>
          <p:nvSpPr>
            <p:cNvPr id="24" name="Фигура">
              <a:extLst>
                <a:ext uri="{FF2B5EF4-FFF2-40B4-BE49-F238E27FC236}">
                  <a16:creationId xmlns:a16="http://schemas.microsoft.com/office/drawing/2014/main" id="{9656C6A1-29D5-4370-ACF5-E11A128EC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8369" y="524839"/>
              <a:ext cx="2396692" cy="3093649"/>
            </a:xfrm>
            <a:custGeom>
              <a:avLst/>
              <a:gdLst>
                <a:gd name="T0" fmla="*/ 3301058 w 21573"/>
                <a:gd name="T1" fmla="*/ 4260722 h 21596"/>
                <a:gd name="T2" fmla="*/ 3301058 w 21573"/>
                <a:gd name="T3" fmla="*/ 4260722 h 21596"/>
                <a:gd name="T4" fmla="*/ 3301058 w 21573"/>
                <a:gd name="T5" fmla="*/ 4260722 h 21596"/>
                <a:gd name="T6" fmla="*/ 3301058 w 21573"/>
                <a:gd name="T7" fmla="*/ 4260722 h 21596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573" h="21596" extrusionOk="0">
                  <a:moveTo>
                    <a:pt x="16988" y="161"/>
                  </a:moveTo>
                  <a:cubicBezTo>
                    <a:pt x="17069" y="251"/>
                    <a:pt x="17141" y="345"/>
                    <a:pt x="17202" y="444"/>
                  </a:cubicBezTo>
                  <a:cubicBezTo>
                    <a:pt x="17267" y="549"/>
                    <a:pt x="17320" y="658"/>
                    <a:pt x="17374" y="766"/>
                  </a:cubicBezTo>
                  <a:cubicBezTo>
                    <a:pt x="17491" y="1004"/>
                    <a:pt x="17609" y="1242"/>
                    <a:pt x="17727" y="1480"/>
                  </a:cubicBezTo>
                  <a:cubicBezTo>
                    <a:pt x="17950" y="1923"/>
                    <a:pt x="18175" y="2366"/>
                    <a:pt x="18393" y="2810"/>
                  </a:cubicBezTo>
                  <a:cubicBezTo>
                    <a:pt x="18832" y="3701"/>
                    <a:pt x="19244" y="4598"/>
                    <a:pt x="19627" y="5502"/>
                  </a:cubicBezTo>
                  <a:cubicBezTo>
                    <a:pt x="20487" y="7531"/>
                    <a:pt x="21207" y="9607"/>
                    <a:pt x="21466" y="11747"/>
                  </a:cubicBezTo>
                  <a:cubicBezTo>
                    <a:pt x="21573" y="12629"/>
                    <a:pt x="21600" y="13517"/>
                    <a:pt x="21547" y="14403"/>
                  </a:cubicBezTo>
                  <a:cubicBezTo>
                    <a:pt x="21135" y="13190"/>
                    <a:pt x="19991" y="12208"/>
                    <a:pt x="18480" y="11768"/>
                  </a:cubicBezTo>
                  <a:cubicBezTo>
                    <a:pt x="15508" y="10900"/>
                    <a:pt x="12440" y="12228"/>
                    <a:pt x="9862" y="13780"/>
                  </a:cubicBezTo>
                  <a:cubicBezTo>
                    <a:pt x="8949" y="14330"/>
                    <a:pt x="8061" y="14902"/>
                    <a:pt x="7209" y="15505"/>
                  </a:cubicBezTo>
                  <a:cubicBezTo>
                    <a:pt x="6338" y="16122"/>
                    <a:pt x="5507" y="16771"/>
                    <a:pt x="4695" y="17433"/>
                  </a:cubicBezTo>
                  <a:cubicBezTo>
                    <a:pt x="3057" y="18767"/>
                    <a:pt x="1490" y="20156"/>
                    <a:pt x="0" y="21596"/>
                  </a:cubicBezTo>
                  <a:lnTo>
                    <a:pt x="16000" y="234"/>
                  </a:lnTo>
                  <a:cubicBezTo>
                    <a:pt x="16115" y="85"/>
                    <a:pt x="16324" y="-4"/>
                    <a:pt x="16548" y="1"/>
                  </a:cubicBezTo>
                  <a:cubicBezTo>
                    <a:pt x="16717" y="4"/>
                    <a:pt x="16876" y="62"/>
                    <a:pt x="16988" y="16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lIns="50787" tIns="50787" rIns="50787" bIns="50787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25" name="Фигура">
              <a:extLst>
                <a:ext uri="{FF2B5EF4-FFF2-40B4-BE49-F238E27FC236}">
                  <a16:creationId xmlns:a16="http://schemas.microsoft.com/office/drawing/2014/main" id="{CF848517-4120-4E1C-9BA1-DBE0DD1C419F}"/>
                </a:ext>
              </a:extLst>
            </p:cNvPr>
            <p:cNvSpPr/>
            <p:nvPr/>
          </p:nvSpPr>
          <p:spPr bwMode="auto">
            <a:xfrm>
              <a:off x="9933587" y="747318"/>
              <a:ext cx="2081848" cy="31020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8" h="21567" extrusionOk="0">
                  <a:moveTo>
                    <a:pt x="3512" y="0"/>
                  </a:moveTo>
                  <a:cubicBezTo>
                    <a:pt x="4175" y="1156"/>
                    <a:pt x="4788" y="2315"/>
                    <a:pt x="5355" y="3476"/>
                  </a:cubicBezTo>
                  <a:cubicBezTo>
                    <a:pt x="5923" y="4639"/>
                    <a:pt x="6444" y="5805"/>
                    <a:pt x="6856" y="6984"/>
                  </a:cubicBezTo>
                  <a:cubicBezTo>
                    <a:pt x="7297" y="8245"/>
                    <a:pt x="7619" y="9556"/>
                    <a:pt x="7767" y="10855"/>
                  </a:cubicBezTo>
                  <a:cubicBezTo>
                    <a:pt x="7914" y="12154"/>
                    <a:pt x="7886" y="13460"/>
                    <a:pt x="7238" y="14730"/>
                  </a:cubicBezTo>
                  <a:cubicBezTo>
                    <a:pt x="6912" y="15368"/>
                    <a:pt x="6429" y="15966"/>
                    <a:pt x="5737" y="16449"/>
                  </a:cubicBezTo>
                  <a:cubicBezTo>
                    <a:pt x="4261" y="17477"/>
                    <a:pt x="2052" y="17874"/>
                    <a:pt x="0" y="17469"/>
                  </a:cubicBezTo>
                  <a:cubicBezTo>
                    <a:pt x="736" y="17795"/>
                    <a:pt x="1499" y="18092"/>
                    <a:pt x="2286" y="18360"/>
                  </a:cubicBezTo>
                  <a:cubicBezTo>
                    <a:pt x="3025" y="18611"/>
                    <a:pt x="3785" y="18836"/>
                    <a:pt x="4555" y="19043"/>
                  </a:cubicBezTo>
                  <a:cubicBezTo>
                    <a:pt x="7143" y="19737"/>
                    <a:pt x="9835" y="20226"/>
                    <a:pt x="12548" y="20628"/>
                  </a:cubicBezTo>
                  <a:cubicBezTo>
                    <a:pt x="15191" y="21019"/>
                    <a:pt x="17864" y="21329"/>
                    <a:pt x="20558" y="21557"/>
                  </a:cubicBezTo>
                  <a:cubicBezTo>
                    <a:pt x="20900" y="21600"/>
                    <a:pt x="21247" y="21498"/>
                    <a:pt x="21431" y="21299"/>
                  </a:cubicBezTo>
                  <a:cubicBezTo>
                    <a:pt x="21587" y="21132"/>
                    <a:pt x="21600" y="20921"/>
                    <a:pt x="21465" y="20746"/>
                  </a:cubicBezTo>
                  <a:lnTo>
                    <a:pt x="3512" y="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lIns="50787" tIns="50787" rIns="50787" bIns="50787" anchor="ctr"/>
            <a:lstStyle/>
            <a:p>
              <a:pPr algn="ctr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kern="0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Helvetica Light"/>
              </a:endParaRPr>
            </a:p>
          </p:txBody>
        </p:sp>
        <p:sp>
          <p:nvSpPr>
            <p:cNvPr id="26" name="Фигура">
              <a:extLst>
                <a:ext uri="{FF2B5EF4-FFF2-40B4-BE49-F238E27FC236}">
                  <a16:creationId xmlns:a16="http://schemas.microsoft.com/office/drawing/2014/main" id="{8D73CFDC-3A0C-4DD6-BDAC-E1E55585EFCE}"/>
                </a:ext>
              </a:extLst>
            </p:cNvPr>
            <p:cNvSpPr/>
            <p:nvPr/>
          </p:nvSpPr>
          <p:spPr bwMode="auto">
            <a:xfrm>
              <a:off x="8182576" y="2321960"/>
              <a:ext cx="3536028" cy="1548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600" extrusionOk="0">
                  <a:moveTo>
                    <a:pt x="9295" y="0"/>
                  </a:moveTo>
                  <a:cubicBezTo>
                    <a:pt x="8433" y="1842"/>
                    <a:pt x="8085" y="4539"/>
                    <a:pt x="8321" y="7079"/>
                  </a:cubicBezTo>
                  <a:cubicBezTo>
                    <a:pt x="8604" y="10122"/>
                    <a:pt x="9656" y="12421"/>
                    <a:pt x="10863" y="14178"/>
                  </a:cubicBezTo>
                  <a:cubicBezTo>
                    <a:pt x="11665" y="15344"/>
                    <a:pt x="12514" y="16273"/>
                    <a:pt x="13379" y="17055"/>
                  </a:cubicBezTo>
                  <a:cubicBezTo>
                    <a:pt x="14701" y="18250"/>
                    <a:pt x="16077" y="19120"/>
                    <a:pt x="17471" y="19853"/>
                  </a:cubicBezTo>
                  <a:cubicBezTo>
                    <a:pt x="18819" y="20562"/>
                    <a:pt x="20187" y="21146"/>
                    <a:pt x="21575" y="21600"/>
                  </a:cubicBezTo>
                  <a:lnTo>
                    <a:pt x="372" y="21590"/>
                  </a:lnTo>
                  <a:cubicBezTo>
                    <a:pt x="215" y="21557"/>
                    <a:pt x="80" y="21320"/>
                    <a:pt x="25" y="20981"/>
                  </a:cubicBezTo>
                  <a:cubicBezTo>
                    <a:pt x="-25" y="20669"/>
                    <a:pt x="1" y="20319"/>
                    <a:pt x="94" y="20064"/>
                  </a:cubicBezTo>
                  <a:cubicBezTo>
                    <a:pt x="851" y="17813"/>
                    <a:pt x="1636" y="15613"/>
                    <a:pt x="2448" y="13466"/>
                  </a:cubicBezTo>
                  <a:cubicBezTo>
                    <a:pt x="3470" y="10769"/>
                    <a:pt x="4534" y="8159"/>
                    <a:pt x="5694" y="5782"/>
                  </a:cubicBezTo>
                  <a:cubicBezTo>
                    <a:pt x="6253" y="4638"/>
                    <a:pt x="6833" y="3549"/>
                    <a:pt x="7446" y="2560"/>
                  </a:cubicBezTo>
                  <a:cubicBezTo>
                    <a:pt x="8035" y="1611"/>
                    <a:pt x="8652" y="755"/>
                    <a:pt x="9295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lIns="50787" tIns="50787" rIns="50787" bIns="50787" anchor="ctr"/>
            <a:lstStyle/>
            <a:p>
              <a:pPr algn="ctr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kern="0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Helvetica Light"/>
              </a:endParaRPr>
            </a:p>
          </p:txBody>
        </p:sp>
        <p:pic>
          <p:nvPicPr>
            <p:cNvPr id="7" name="Picture 6" descr="A close up of a sign&#10;&#10;Description automatically generated">
              <a:extLst>
                <a:ext uri="{FF2B5EF4-FFF2-40B4-BE49-F238E27FC236}">
                  <a16:creationId xmlns:a16="http://schemas.microsoft.com/office/drawing/2014/main" id="{9DFC49CD-7A39-487B-9D70-21738461A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66089" y="2772858"/>
              <a:ext cx="818178" cy="818178"/>
            </a:xfrm>
            <a:prstGeom prst="rect">
              <a:avLst/>
            </a:prstGeom>
          </p:spPr>
        </p:pic>
        <p:pic>
          <p:nvPicPr>
            <p:cNvPr id="22" name="Picture 21" descr="A picture containing toy&#10;&#10;Description automatically generated">
              <a:extLst>
                <a:ext uri="{FF2B5EF4-FFF2-40B4-BE49-F238E27FC236}">
                  <a16:creationId xmlns:a16="http://schemas.microsoft.com/office/drawing/2014/main" id="{86698B31-9DC9-4180-B617-CB6E36F90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32479" y="2842291"/>
              <a:ext cx="966770" cy="966770"/>
            </a:xfrm>
            <a:prstGeom prst="rect">
              <a:avLst/>
            </a:prstGeom>
          </p:spPr>
        </p:pic>
        <p:pic>
          <p:nvPicPr>
            <p:cNvPr id="42" name="Picture 41" descr="A close up of a logo&#10;&#10;Description automatically generated">
              <a:extLst>
                <a:ext uri="{FF2B5EF4-FFF2-40B4-BE49-F238E27FC236}">
                  <a16:creationId xmlns:a16="http://schemas.microsoft.com/office/drawing/2014/main" id="{2BC7E778-A613-43A7-AB1A-EF07CEF1C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6925" y="2292052"/>
              <a:ext cx="962590" cy="864170"/>
            </a:xfrm>
            <a:prstGeom prst="rect">
              <a:avLst/>
            </a:prstGeom>
          </p:spPr>
        </p:pic>
        <p:pic>
          <p:nvPicPr>
            <p:cNvPr id="11" name="Picture 10" descr="A picture containing bird&#10;&#10;Description automatically generated">
              <a:extLst>
                <a:ext uri="{FF2B5EF4-FFF2-40B4-BE49-F238E27FC236}">
                  <a16:creationId xmlns:a16="http://schemas.microsoft.com/office/drawing/2014/main" id="{78766160-4D35-47B0-B328-6E6A1618F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98311" y="1160438"/>
              <a:ext cx="973138" cy="973138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3CBE591-A0EE-490B-A3A8-D4659DFF6E0F}"/>
              </a:ext>
            </a:extLst>
          </p:cNvPr>
          <p:cNvSpPr/>
          <p:nvPr/>
        </p:nvSpPr>
        <p:spPr>
          <a:xfrm>
            <a:off x="66675" y="6251657"/>
            <a:ext cx="4433888" cy="55399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-GB" sz="1000" dirty="0">
                <a:solidFill>
                  <a:schemeClr val="bg1"/>
                </a:solidFill>
              </a:rPr>
              <a:t>Xl2085 (https://commons.wikimedia.org/wiki/File:This_is_the_photo_of_Arthur_Samuel.jpg), https://creativecommons.org/licenses/by-sa/4.0/legalcode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7217EB-DEC3-4087-9F6D-11CDCF222BCF}"/>
              </a:ext>
            </a:extLst>
          </p:cNvPr>
          <p:cNvSpPr/>
          <p:nvPr/>
        </p:nvSpPr>
        <p:spPr>
          <a:xfrm>
            <a:off x="176565" y="523174"/>
            <a:ext cx="2359941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780148-0DA0-4CDD-8F9B-D6EA222F330C}"/>
              </a:ext>
            </a:extLst>
          </p:cNvPr>
          <p:cNvSpPr/>
          <p:nvPr/>
        </p:nvSpPr>
        <p:spPr>
          <a:xfrm>
            <a:off x="4615662" y="1444796"/>
            <a:ext cx="36097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Arthur Samuel, pioneer in computer gaming and AI who coined the term “machine learning" in 1959.</a:t>
            </a:r>
            <a:endParaRPr lang="en-GB" sz="11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0C7F50C7-D84C-43B7-B066-2318A833A43B}"/>
              </a:ext>
            </a:extLst>
          </p:cNvPr>
          <p:cNvSpPr/>
          <p:nvPr/>
        </p:nvSpPr>
        <p:spPr>
          <a:xfrm>
            <a:off x="3991012" y="594631"/>
            <a:ext cx="3795946" cy="776970"/>
          </a:xfrm>
          <a:prstGeom prst="wedgeRoundRectCallout">
            <a:avLst>
              <a:gd name="adj1" fmla="val -68441"/>
              <a:gd name="adj2" fmla="val 45161"/>
              <a:gd name="adj3" fmla="val 16667"/>
            </a:avLst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chemeClr val="tx1"/>
                </a:solidFill>
              </a:rPr>
              <a:t>“The ability to learn without being explicitly programmed.”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74C2B0-2F8F-FFEA-5447-4C84EA25046B}"/>
              </a:ext>
            </a:extLst>
          </p:cNvPr>
          <p:cNvSpPr/>
          <p:nvPr/>
        </p:nvSpPr>
        <p:spPr>
          <a:xfrm>
            <a:off x="4615662" y="1958696"/>
            <a:ext cx="3604000" cy="2108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 is a subset of AI – in other words, it is one way to achieve artificial intelligence.</a:t>
            </a:r>
          </a:p>
          <a:p>
            <a:pPr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science of training a device      or application to perform a           task and improve its         capabilities.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9D210D8-117E-344F-A1D8-31962A6E7CEC}"/>
              </a:ext>
            </a:extLst>
          </p:cNvPr>
          <p:cNvGrpSpPr/>
          <p:nvPr/>
        </p:nvGrpSpPr>
        <p:grpSpPr>
          <a:xfrm>
            <a:off x="4636821" y="5245745"/>
            <a:ext cx="7306363" cy="1591452"/>
            <a:chOff x="4636821" y="5245745"/>
            <a:chExt cx="7306363" cy="159145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E77322B-4B60-28B3-2CB6-4A83F0E12260}"/>
                </a:ext>
              </a:extLst>
            </p:cNvPr>
            <p:cNvSpPr/>
            <p:nvPr/>
          </p:nvSpPr>
          <p:spPr>
            <a:xfrm>
              <a:off x="4825532" y="5412434"/>
              <a:ext cx="7117652" cy="1255066"/>
            </a:xfrm>
            <a:prstGeom prst="roundRect">
              <a:avLst>
                <a:gd name="adj" fmla="val 46766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dirty="0"/>
            </a:p>
          </p:txBody>
        </p:sp>
        <p:pic>
          <p:nvPicPr>
            <p:cNvPr id="5" name="Graphic 4" descr="Information with solid fill">
              <a:extLst>
                <a:ext uri="{FF2B5EF4-FFF2-40B4-BE49-F238E27FC236}">
                  <a16:creationId xmlns:a16="http://schemas.microsoft.com/office/drawing/2014/main" id="{8EE25DE0-6334-F316-0B6C-F2B7896BF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636821" y="5245745"/>
              <a:ext cx="1591452" cy="159145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161A926-ACAB-3C3E-4A5E-2430DD2550A6}"/>
                </a:ext>
              </a:extLst>
            </p:cNvPr>
            <p:cNvSpPr txBox="1"/>
            <p:nvPr/>
          </p:nvSpPr>
          <p:spPr>
            <a:xfrm>
              <a:off x="6228273" y="5565777"/>
              <a:ext cx="5426357" cy="968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7000"/>
                </a:lnSpc>
              </a:pP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Covered in more detail in the following videos:</a:t>
              </a:r>
            </a:p>
            <a:p>
              <a:pPr marL="285750" indent="-285750">
                <a:lnSpc>
                  <a:spcPct val="107000"/>
                </a:lnSpc>
                <a:buFont typeface="Arial" panose="020B0604020202020204" pitchFamily="34" charset="0"/>
                <a:buChar char="•"/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6.3 Artificial intelligence (AI)</a:t>
              </a:r>
            </a:p>
            <a:p>
              <a:pPr marL="285750" indent="-285750">
                <a:lnSpc>
                  <a:spcPct val="107000"/>
                </a:lnSpc>
                <a:buFont typeface="Arial" panose="020B0604020202020204" pitchFamily="34" charset="0"/>
                <a:buChar char="•"/>
              </a:pPr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6.3 Basic operations and components of AI systems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9359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indoor, building, snow, red&#10;&#10;Description automatically generated">
            <a:extLst>
              <a:ext uri="{FF2B5EF4-FFF2-40B4-BE49-F238E27FC236}">
                <a16:creationId xmlns:a16="http://schemas.microsoft.com/office/drawing/2014/main" id="{F4B15B72-ECFB-4263-B793-1EB5058776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55" t="1947" r="19428" b="3233"/>
          <a:stretch/>
        </p:blipFill>
        <p:spPr>
          <a:xfrm>
            <a:off x="5115" y="422910"/>
            <a:ext cx="4315425" cy="644241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B2E79D70-7570-400C-827F-6F27F8073083}"/>
              </a:ext>
            </a:extLst>
          </p:cNvPr>
          <p:cNvSpPr/>
          <p:nvPr/>
        </p:nvSpPr>
        <p:spPr>
          <a:xfrm>
            <a:off x="4491991" y="564607"/>
            <a:ext cx="3379472" cy="22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term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robotics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often gets thrown around in association with AI – but not all robots are smart.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 robot?</a:t>
            </a:r>
          </a:p>
          <a:p>
            <a:pPr>
              <a:spcAft>
                <a:spcPts val="600"/>
              </a:spcAft>
            </a:pP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“A machine that carries out work by itself by following a set of          programmed rules.</a:t>
            </a: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endParaRPr lang="en-GB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F103F4E-0B09-2E13-3D2A-E2E9C20C621D}"/>
              </a:ext>
            </a:extLst>
          </p:cNvPr>
          <p:cNvGrpSpPr/>
          <p:nvPr/>
        </p:nvGrpSpPr>
        <p:grpSpPr>
          <a:xfrm>
            <a:off x="6895322" y="524839"/>
            <a:ext cx="5120113" cy="4469510"/>
            <a:chOff x="8182576" y="524839"/>
            <a:chExt cx="3832859" cy="3345825"/>
          </a:xfrm>
        </p:grpSpPr>
        <p:sp>
          <p:nvSpPr>
            <p:cNvPr id="24" name="Фигура">
              <a:extLst>
                <a:ext uri="{FF2B5EF4-FFF2-40B4-BE49-F238E27FC236}">
                  <a16:creationId xmlns:a16="http://schemas.microsoft.com/office/drawing/2014/main" id="{9656C6A1-29D5-4370-ACF5-E11A128EC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8369" y="524839"/>
              <a:ext cx="2396692" cy="3093649"/>
            </a:xfrm>
            <a:custGeom>
              <a:avLst/>
              <a:gdLst>
                <a:gd name="T0" fmla="*/ 3301058 w 21573"/>
                <a:gd name="T1" fmla="*/ 4260722 h 21596"/>
                <a:gd name="T2" fmla="*/ 3301058 w 21573"/>
                <a:gd name="T3" fmla="*/ 4260722 h 21596"/>
                <a:gd name="T4" fmla="*/ 3301058 w 21573"/>
                <a:gd name="T5" fmla="*/ 4260722 h 21596"/>
                <a:gd name="T6" fmla="*/ 3301058 w 21573"/>
                <a:gd name="T7" fmla="*/ 4260722 h 21596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573" h="21596" extrusionOk="0">
                  <a:moveTo>
                    <a:pt x="16988" y="161"/>
                  </a:moveTo>
                  <a:cubicBezTo>
                    <a:pt x="17069" y="251"/>
                    <a:pt x="17141" y="345"/>
                    <a:pt x="17202" y="444"/>
                  </a:cubicBezTo>
                  <a:cubicBezTo>
                    <a:pt x="17267" y="549"/>
                    <a:pt x="17320" y="658"/>
                    <a:pt x="17374" y="766"/>
                  </a:cubicBezTo>
                  <a:cubicBezTo>
                    <a:pt x="17491" y="1004"/>
                    <a:pt x="17609" y="1242"/>
                    <a:pt x="17727" y="1480"/>
                  </a:cubicBezTo>
                  <a:cubicBezTo>
                    <a:pt x="17950" y="1923"/>
                    <a:pt x="18175" y="2366"/>
                    <a:pt x="18393" y="2810"/>
                  </a:cubicBezTo>
                  <a:cubicBezTo>
                    <a:pt x="18832" y="3701"/>
                    <a:pt x="19244" y="4598"/>
                    <a:pt x="19627" y="5502"/>
                  </a:cubicBezTo>
                  <a:cubicBezTo>
                    <a:pt x="20487" y="7531"/>
                    <a:pt x="21207" y="9607"/>
                    <a:pt x="21466" y="11747"/>
                  </a:cubicBezTo>
                  <a:cubicBezTo>
                    <a:pt x="21573" y="12629"/>
                    <a:pt x="21600" y="13517"/>
                    <a:pt x="21547" y="14403"/>
                  </a:cubicBezTo>
                  <a:cubicBezTo>
                    <a:pt x="21135" y="13190"/>
                    <a:pt x="19991" y="12208"/>
                    <a:pt x="18480" y="11768"/>
                  </a:cubicBezTo>
                  <a:cubicBezTo>
                    <a:pt x="15508" y="10900"/>
                    <a:pt x="12440" y="12228"/>
                    <a:pt x="9862" y="13780"/>
                  </a:cubicBezTo>
                  <a:cubicBezTo>
                    <a:pt x="8949" y="14330"/>
                    <a:pt x="8061" y="14902"/>
                    <a:pt x="7209" y="15505"/>
                  </a:cubicBezTo>
                  <a:cubicBezTo>
                    <a:pt x="6338" y="16122"/>
                    <a:pt x="5507" y="16771"/>
                    <a:pt x="4695" y="17433"/>
                  </a:cubicBezTo>
                  <a:cubicBezTo>
                    <a:pt x="3057" y="18767"/>
                    <a:pt x="1490" y="20156"/>
                    <a:pt x="0" y="21596"/>
                  </a:cubicBezTo>
                  <a:lnTo>
                    <a:pt x="16000" y="234"/>
                  </a:lnTo>
                  <a:cubicBezTo>
                    <a:pt x="16115" y="85"/>
                    <a:pt x="16324" y="-4"/>
                    <a:pt x="16548" y="1"/>
                  </a:cubicBezTo>
                  <a:cubicBezTo>
                    <a:pt x="16717" y="4"/>
                    <a:pt x="16876" y="62"/>
                    <a:pt x="16988" y="16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lIns="50787" tIns="50787" rIns="50787" bIns="50787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25" name="Фигура">
              <a:extLst>
                <a:ext uri="{FF2B5EF4-FFF2-40B4-BE49-F238E27FC236}">
                  <a16:creationId xmlns:a16="http://schemas.microsoft.com/office/drawing/2014/main" id="{CF848517-4120-4E1C-9BA1-DBE0DD1C419F}"/>
                </a:ext>
              </a:extLst>
            </p:cNvPr>
            <p:cNvSpPr/>
            <p:nvPr/>
          </p:nvSpPr>
          <p:spPr bwMode="auto">
            <a:xfrm>
              <a:off x="9933587" y="747318"/>
              <a:ext cx="2081848" cy="31020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8" h="21567" extrusionOk="0">
                  <a:moveTo>
                    <a:pt x="3512" y="0"/>
                  </a:moveTo>
                  <a:cubicBezTo>
                    <a:pt x="4175" y="1156"/>
                    <a:pt x="4788" y="2315"/>
                    <a:pt x="5355" y="3476"/>
                  </a:cubicBezTo>
                  <a:cubicBezTo>
                    <a:pt x="5923" y="4639"/>
                    <a:pt x="6444" y="5805"/>
                    <a:pt x="6856" y="6984"/>
                  </a:cubicBezTo>
                  <a:cubicBezTo>
                    <a:pt x="7297" y="8245"/>
                    <a:pt x="7619" y="9556"/>
                    <a:pt x="7767" y="10855"/>
                  </a:cubicBezTo>
                  <a:cubicBezTo>
                    <a:pt x="7914" y="12154"/>
                    <a:pt x="7886" y="13460"/>
                    <a:pt x="7238" y="14730"/>
                  </a:cubicBezTo>
                  <a:cubicBezTo>
                    <a:pt x="6912" y="15368"/>
                    <a:pt x="6429" y="15966"/>
                    <a:pt x="5737" y="16449"/>
                  </a:cubicBezTo>
                  <a:cubicBezTo>
                    <a:pt x="4261" y="17477"/>
                    <a:pt x="2052" y="17874"/>
                    <a:pt x="0" y="17469"/>
                  </a:cubicBezTo>
                  <a:cubicBezTo>
                    <a:pt x="736" y="17795"/>
                    <a:pt x="1499" y="18092"/>
                    <a:pt x="2286" y="18360"/>
                  </a:cubicBezTo>
                  <a:cubicBezTo>
                    <a:pt x="3025" y="18611"/>
                    <a:pt x="3785" y="18836"/>
                    <a:pt x="4555" y="19043"/>
                  </a:cubicBezTo>
                  <a:cubicBezTo>
                    <a:pt x="7143" y="19737"/>
                    <a:pt x="9835" y="20226"/>
                    <a:pt x="12548" y="20628"/>
                  </a:cubicBezTo>
                  <a:cubicBezTo>
                    <a:pt x="15191" y="21019"/>
                    <a:pt x="17864" y="21329"/>
                    <a:pt x="20558" y="21557"/>
                  </a:cubicBezTo>
                  <a:cubicBezTo>
                    <a:pt x="20900" y="21600"/>
                    <a:pt x="21247" y="21498"/>
                    <a:pt x="21431" y="21299"/>
                  </a:cubicBezTo>
                  <a:cubicBezTo>
                    <a:pt x="21587" y="21132"/>
                    <a:pt x="21600" y="20921"/>
                    <a:pt x="21465" y="20746"/>
                  </a:cubicBezTo>
                  <a:lnTo>
                    <a:pt x="3512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lIns="50787" tIns="50787" rIns="50787" bIns="50787" anchor="ctr"/>
            <a:lstStyle/>
            <a:p>
              <a:pPr algn="ctr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kern="0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Helvetica Light"/>
              </a:endParaRPr>
            </a:p>
          </p:txBody>
        </p:sp>
        <p:sp>
          <p:nvSpPr>
            <p:cNvPr id="26" name="Фигура">
              <a:extLst>
                <a:ext uri="{FF2B5EF4-FFF2-40B4-BE49-F238E27FC236}">
                  <a16:creationId xmlns:a16="http://schemas.microsoft.com/office/drawing/2014/main" id="{8D73CFDC-3A0C-4DD6-BDAC-E1E55585EFCE}"/>
                </a:ext>
              </a:extLst>
            </p:cNvPr>
            <p:cNvSpPr/>
            <p:nvPr/>
          </p:nvSpPr>
          <p:spPr bwMode="auto">
            <a:xfrm>
              <a:off x="8182576" y="2321960"/>
              <a:ext cx="3536028" cy="1548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600" extrusionOk="0">
                  <a:moveTo>
                    <a:pt x="9295" y="0"/>
                  </a:moveTo>
                  <a:cubicBezTo>
                    <a:pt x="8433" y="1842"/>
                    <a:pt x="8085" y="4539"/>
                    <a:pt x="8321" y="7079"/>
                  </a:cubicBezTo>
                  <a:cubicBezTo>
                    <a:pt x="8604" y="10122"/>
                    <a:pt x="9656" y="12421"/>
                    <a:pt x="10863" y="14178"/>
                  </a:cubicBezTo>
                  <a:cubicBezTo>
                    <a:pt x="11665" y="15344"/>
                    <a:pt x="12514" y="16273"/>
                    <a:pt x="13379" y="17055"/>
                  </a:cubicBezTo>
                  <a:cubicBezTo>
                    <a:pt x="14701" y="18250"/>
                    <a:pt x="16077" y="19120"/>
                    <a:pt x="17471" y="19853"/>
                  </a:cubicBezTo>
                  <a:cubicBezTo>
                    <a:pt x="18819" y="20562"/>
                    <a:pt x="20187" y="21146"/>
                    <a:pt x="21575" y="21600"/>
                  </a:cubicBezTo>
                  <a:lnTo>
                    <a:pt x="372" y="21590"/>
                  </a:lnTo>
                  <a:cubicBezTo>
                    <a:pt x="215" y="21557"/>
                    <a:pt x="80" y="21320"/>
                    <a:pt x="25" y="20981"/>
                  </a:cubicBezTo>
                  <a:cubicBezTo>
                    <a:pt x="-25" y="20669"/>
                    <a:pt x="1" y="20319"/>
                    <a:pt x="94" y="20064"/>
                  </a:cubicBezTo>
                  <a:cubicBezTo>
                    <a:pt x="851" y="17813"/>
                    <a:pt x="1636" y="15613"/>
                    <a:pt x="2448" y="13466"/>
                  </a:cubicBezTo>
                  <a:cubicBezTo>
                    <a:pt x="3470" y="10769"/>
                    <a:pt x="4534" y="8159"/>
                    <a:pt x="5694" y="5782"/>
                  </a:cubicBezTo>
                  <a:cubicBezTo>
                    <a:pt x="6253" y="4638"/>
                    <a:pt x="6833" y="3549"/>
                    <a:pt x="7446" y="2560"/>
                  </a:cubicBezTo>
                  <a:cubicBezTo>
                    <a:pt x="8035" y="1611"/>
                    <a:pt x="8652" y="755"/>
                    <a:pt x="9295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lIns="50787" tIns="50787" rIns="50787" bIns="50787" anchor="ctr"/>
            <a:lstStyle/>
            <a:p>
              <a:pPr algn="ctr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kern="0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Helvetica Light"/>
              </a:endParaRPr>
            </a:p>
          </p:txBody>
        </p:sp>
        <p:pic>
          <p:nvPicPr>
            <p:cNvPr id="7" name="Picture 6" descr="A close up of a sign&#10;&#10;Description automatically generated">
              <a:extLst>
                <a:ext uri="{FF2B5EF4-FFF2-40B4-BE49-F238E27FC236}">
                  <a16:creationId xmlns:a16="http://schemas.microsoft.com/office/drawing/2014/main" id="{9DFC49CD-7A39-487B-9D70-21738461A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66089" y="2772858"/>
              <a:ext cx="818178" cy="818178"/>
            </a:xfrm>
            <a:prstGeom prst="rect">
              <a:avLst/>
            </a:prstGeom>
          </p:spPr>
        </p:pic>
        <p:pic>
          <p:nvPicPr>
            <p:cNvPr id="22" name="Picture 21" descr="A picture containing toy&#10;&#10;Description automatically generated">
              <a:extLst>
                <a:ext uri="{FF2B5EF4-FFF2-40B4-BE49-F238E27FC236}">
                  <a16:creationId xmlns:a16="http://schemas.microsoft.com/office/drawing/2014/main" id="{86698B31-9DC9-4180-B617-CB6E36F90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32479" y="2842291"/>
              <a:ext cx="966770" cy="966770"/>
            </a:xfrm>
            <a:prstGeom prst="rect">
              <a:avLst/>
            </a:prstGeom>
          </p:spPr>
        </p:pic>
        <p:pic>
          <p:nvPicPr>
            <p:cNvPr id="42" name="Picture 41" descr="A close up of a logo&#10;&#10;Description automatically generated">
              <a:extLst>
                <a:ext uri="{FF2B5EF4-FFF2-40B4-BE49-F238E27FC236}">
                  <a16:creationId xmlns:a16="http://schemas.microsoft.com/office/drawing/2014/main" id="{2BC7E778-A613-43A7-AB1A-EF07CEF1C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6925" y="2292052"/>
              <a:ext cx="962590" cy="864170"/>
            </a:xfrm>
            <a:prstGeom prst="rect">
              <a:avLst/>
            </a:prstGeom>
          </p:spPr>
        </p:pic>
        <p:pic>
          <p:nvPicPr>
            <p:cNvPr id="11" name="Picture 10" descr="A picture containing bird&#10;&#10;Description automatically generated">
              <a:extLst>
                <a:ext uri="{FF2B5EF4-FFF2-40B4-BE49-F238E27FC236}">
                  <a16:creationId xmlns:a16="http://schemas.microsoft.com/office/drawing/2014/main" id="{E61D95EE-B7DB-4FB4-AAD8-F500D7FEB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98311" y="1160438"/>
              <a:ext cx="973138" cy="973138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BFDB5E2-2270-496C-B252-212A457BCBFB}"/>
              </a:ext>
            </a:extLst>
          </p:cNvPr>
          <p:cNvSpPr/>
          <p:nvPr/>
        </p:nvSpPr>
        <p:spPr>
          <a:xfrm>
            <a:off x="176565" y="523174"/>
            <a:ext cx="1253998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Robotics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close-up of a robot&#10;&#10;Description automatically generated with low confidence">
            <a:extLst>
              <a:ext uri="{FF2B5EF4-FFF2-40B4-BE49-F238E27FC236}">
                <a16:creationId xmlns:a16="http://schemas.microsoft.com/office/drawing/2014/main" id="{FEF8A964-A1C1-0919-E0F7-906B00B8F3F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991" y="3522515"/>
            <a:ext cx="2895983" cy="328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46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indoor, building, snow, red&#10;&#10;Description automatically generated">
            <a:extLst>
              <a:ext uri="{FF2B5EF4-FFF2-40B4-BE49-F238E27FC236}">
                <a16:creationId xmlns:a16="http://schemas.microsoft.com/office/drawing/2014/main" id="{F4B15B72-ECFB-4263-B793-1EB5058776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55" t="1947" r="19428" b="3233"/>
          <a:stretch/>
        </p:blipFill>
        <p:spPr>
          <a:xfrm>
            <a:off x="5115" y="422910"/>
            <a:ext cx="4315425" cy="644241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BAEE6A6-7288-9808-9722-7A5DC67BBCF9}"/>
              </a:ext>
            </a:extLst>
          </p:cNvPr>
          <p:cNvGrpSpPr/>
          <p:nvPr/>
        </p:nvGrpSpPr>
        <p:grpSpPr>
          <a:xfrm>
            <a:off x="6895322" y="524839"/>
            <a:ext cx="5120113" cy="4469510"/>
            <a:chOff x="8182576" y="524839"/>
            <a:chExt cx="3832859" cy="3345825"/>
          </a:xfrm>
        </p:grpSpPr>
        <p:sp>
          <p:nvSpPr>
            <p:cNvPr id="24" name="Фигура">
              <a:extLst>
                <a:ext uri="{FF2B5EF4-FFF2-40B4-BE49-F238E27FC236}">
                  <a16:creationId xmlns:a16="http://schemas.microsoft.com/office/drawing/2014/main" id="{9656C6A1-29D5-4370-ACF5-E11A128EC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8369" y="524839"/>
              <a:ext cx="2396692" cy="3093649"/>
            </a:xfrm>
            <a:custGeom>
              <a:avLst/>
              <a:gdLst>
                <a:gd name="T0" fmla="*/ 3301058 w 21573"/>
                <a:gd name="T1" fmla="*/ 4260722 h 21596"/>
                <a:gd name="T2" fmla="*/ 3301058 w 21573"/>
                <a:gd name="T3" fmla="*/ 4260722 h 21596"/>
                <a:gd name="T4" fmla="*/ 3301058 w 21573"/>
                <a:gd name="T5" fmla="*/ 4260722 h 21596"/>
                <a:gd name="T6" fmla="*/ 3301058 w 21573"/>
                <a:gd name="T7" fmla="*/ 4260722 h 21596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573" h="21596" extrusionOk="0">
                  <a:moveTo>
                    <a:pt x="16988" y="161"/>
                  </a:moveTo>
                  <a:cubicBezTo>
                    <a:pt x="17069" y="251"/>
                    <a:pt x="17141" y="345"/>
                    <a:pt x="17202" y="444"/>
                  </a:cubicBezTo>
                  <a:cubicBezTo>
                    <a:pt x="17267" y="549"/>
                    <a:pt x="17320" y="658"/>
                    <a:pt x="17374" y="766"/>
                  </a:cubicBezTo>
                  <a:cubicBezTo>
                    <a:pt x="17491" y="1004"/>
                    <a:pt x="17609" y="1242"/>
                    <a:pt x="17727" y="1480"/>
                  </a:cubicBezTo>
                  <a:cubicBezTo>
                    <a:pt x="17950" y="1923"/>
                    <a:pt x="18175" y="2366"/>
                    <a:pt x="18393" y="2810"/>
                  </a:cubicBezTo>
                  <a:cubicBezTo>
                    <a:pt x="18832" y="3701"/>
                    <a:pt x="19244" y="4598"/>
                    <a:pt x="19627" y="5502"/>
                  </a:cubicBezTo>
                  <a:cubicBezTo>
                    <a:pt x="20487" y="7531"/>
                    <a:pt x="21207" y="9607"/>
                    <a:pt x="21466" y="11747"/>
                  </a:cubicBezTo>
                  <a:cubicBezTo>
                    <a:pt x="21573" y="12629"/>
                    <a:pt x="21600" y="13517"/>
                    <a:pt x="21547" y="14403"/>
                  </a:cubicBezTo>
                  <a:cubicBezTo>
                    <a:pt x="21135" y="13190"/>
                    <a:pt x="19991" y="12208"/>
                    <a:pt x="18480" y="11768"/>
                  </a:cubicBezTo>
                  <a:cubicBezTo>
                    <a:pt x="15508" y="10900"/>
                    <a:pt x="12440" y="12228"/>
                    <a:pt x="9862" y="13780"/>
                  </a:cubicBezTo>
                  <a:cubicBezTo>
                    <a:pt x="8949" y="14330"/>
                    <a:pt x="8061" y="14902"/>
                    <a:pt x="7209" y="15505"/>
                  </a:cubicBezTo>
                  <a:cubicBezTo>
                    <a:pt x="6338" y="16122"/>
                    <a:pt x="5507" y="16771"/>
                    <a:pt x="4695" y="17433"/>
                  </a:cubicBezTo>
                  <a:cubicBezTo>
                    <a:pt x="3057" y="18767"/>
                    <a:pt x="1490" y="20156"/>
                    <a:pt x="0" y="21596"/>
                  </a:cubicBezTo>
                  <a:lnTo>
                    <a:pt x="16000" y="234"/>
                  </a:lnTo>
                  <a:cubicBezTo>
                    <a:pt x="16115" y="85"/>
                    <a:pt x="16324" y="-4"/>
                    <a:pt x="16548" y="1"/>
                  </a:cubicBezTo>
                  <a:cubicBezTo>
                    <a:pt x="16717" y="4"/>
                    <a:pt x="16876" y="62"/>
                    <a:pt x="16988" y="16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lIns="50787" tIns="50787" rIns="50787" bIns="50787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25" name="Фигура">
              <a:extLst>
                <a:ext uri="{FF2B5EF4-FFF2-40B4-BE49-F238E27FC236}">
                  <a16:creationId xmlns:a16="http://schemas.microsoft.com/office/drawing/2014/main" id="{CF848517-4120-4E1C-9BA1-DBE0DD1C419F}"/>
                </a:ext>
              </a:extLst>
            </p:cNvPr>
            <p:cNvSpPr/>
            <p:nvPr/>
          </p:nvSpPr>
          <p:spPr bwMode="auto">
            <a:xfrm>
              <a:off x="9933587" y="747318"/>
              <a:ext cx="2081848" cy="31020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8" h="21567" extrusionOk="0">
                  <a:moveTo>
                    <a:pt x="3512" y="0"/>
                  </a:moveTo>
                  <a:cubicBezTo>
                    <a:pt x="4175" y="1156"/>
                    <a:pt x="4788" y="2315"/>
                    <a:pt x="5355" y="3476"/>
                  </a:cubicBezTo>
                  <a:cubicBezTo>
                    <a:pt x="5923" y="4639"/>
                    <a:pt x="6444" y="5805"/>
                    <a:pt x="6856" y="6984"/>
                  </a:cubicBezTo>
                  <a:cubicBezTo>
                    <a:pt x="7297" y="8245"/>
                    <a:pt x="7619" y="9556"/>
                    <a:pt x="7767" y="10855"/>
                  </a:cubicBezTo>
                  <a:cubicBezTo>
                    <a:pt x="7914" y="12154"/>
                    <a:pt x="7886" y="13460"/>
                    <a:pt x="7238" y="14730"/>
                  </a:cubicBezTo>
                  <a:cubicBezTo>
                    <a:pt x="6912" y="15368"/>
                    <a:pt x="6429" y="15966"/>
                    <a:pt x="5737" y="16449"/>
                  </a:cubicBezTo>
                  <a:cubicBezTo>
                    <a:pt x="4261" y="17477"/>
                    <a:pt x="2052" y="17874"/>
                    <a:pt x="0" y="17469"/>
                  </a:cubicBezTo>
                  <a:cubicBezTo>
                    <a:pt x="736" y="17795"/>
                    <a:pt x="1499" y="18092"/>
                    <a:pt x="2286" y="18360"/>
                  </a:cubicBezTo>
                  <a:cubicBezTo>
                    <a:pt x="3025" y="18611"/>
                    <a:pt x="3785" y="18836"/>
                    <a:pt x="4555" y="19043"/>
                  </a:cubicBezTo>
                  <a:cubicBezTo>
                    <a:pt x="7143" y="19737"/>
                    <a:pt x="9835" y="20226"/>
                    <a:pt x="12548" y="20628"/>
                  </a:cubicBezTo>
                  <a:cubicBezTo>
                    <a:pt x="15191" y="21019"/>
                    <a:pt x="17864" y="21329"/>
                    <a:pt x="20558" y="21557"/>
                  </a:cubicBezTo>
                  <a:cubicBezTo>
                    <a:pt x="20900" y="21600"/>
                    <a:pt x="21247" y="21498"/>
                    <a:pt x="21431" y="21299"/>
                  </a:cubicBezTo>
                  <a:cubicBezTo>
                    <a:pt x="21587" y="21132"/>
                    <a:pt x="21600" y="20921"/>
                    <a:pt x="21465" y="20746"/>
                  </a:cubicBezTo>
                  <a:lnTo>
                    <a:pt x="3512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lIns="50787" tIns="50787" rIns="50787" bIns="50787" anchor="ctr"/>
            <a:lstStyle/>
            <a:p>
              <a:pPr algn="ctr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kern="0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Helvetica Light"/>
              </a:endParaRPr>
            </a:p>
          </p:txBody>
        </p:sp>
        <p:sp>
          <p:nvSpPr>
            <p:cNvPr id="26" name="Фигура">
              <a:extLst>
                <a:ext uri="{FF2B5EF4-FFF2-40B4-BE49-F238E27FC236}">
                  <a16:creationId xmlns:a16="http://schemas.microsoft.com/office/drawing/2014/main" id="{8D73CFDC-3A0C-4DD6-BDAC-E1E55585EFCE}"/>
                </a:ext>
              </a:extLst>
            </p:cNvPr>
            <p:cNvSpPr/>
            <p:nvPr/>
          </p:nvSpPr>
          <p:spPr bwMode="auto">
            <a:xfrm>
              <a:off x="8182576" y="2321960"/>
              <a:ext cx="3536028" cy="1548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600" extrusionOk="0">
                  <a:moveTo>
                    <a:pt x="9295" y="0"/>
                  </a:moveTo>
                  <a:cubicBezTo>
                    <a:pt x="8433" y="1842"/>
                    <a:pt x="8085" y="4539"/>
                    <a:pt x="8321" y="7079"/>
                  </a:cubicBezTo>
                  <a:cubicBezTo>
                    <a:pt x="8604" y="10122"/>
                    <a:pt x="9656" y="12421"/>
                    <a:pt x="10863" y="14178"/>
                  </a:cubicBezTo>
                  <a:cubicBezTo>
                    <a:pt x="11665" y="15344"/>
                    <a:pt x="12514" y="16273"/>
                    <a:pt x="13379" y="17055"/>
                  </a:cubicBezTo>
                  <a:cubicBezTo>
                    <a:pt x="14701" y="18250"/>
                    <a:pt x="16077" y="19120"/>
                    <a:pt x="17471" y="19853"/>
                  </a:cubicBezTo>
                  <a:cubicBezTo>
                    <a:pt x="18819" y="20562"/>
                    <a:pt x="20187" y="21146"/>
                    <a:pt x="21575" y="21600"/>
                  </a:cubicBezTo>
                  <a:lnTo>
                    <a:pt x="372" y="21590"/>
                  </a:lnTo>
                  <a:cubicBezTo>
                    <a:pt x="215" y="21557"/>
                    <a:pt x="80" y="21320"/>
                    <a:pt x="25" y="20981"/>
                  </a:cubicBezTo>
                  <a:cubicBezTo>
                    <a:pt x="-25" y="20669"/>
                    <a:pt x="1" y="20319"/>
                    <a:pt x="94" y="20064"/>
                  </a:cubicBezTo>
                  <a:cubicBezTo>
                    <a:pt x="851" y="17813"/>
                    <a:pt x="1636" y="15613"/>
                    <a:pt x="2448" y="13466"/>
                  </a:cubicBezTo>
                  <a:cubicBezTo>
                    <a:pt x="3470" y="10769"/>
                    <a:pt x="4534" y="8159"/>
                    <a:pt x="5694" y="5782"/>
                  </a:cubicBezTo>
                  <a:cubicBezTo>
                    <a:pt x="6253" y="4638"/>
                    <a:pt x="6833" y="3549"/>
                    <a:pt x="7446" y="2560"/>
                  </a:cubicBezTo>
                  <a:cubicBezTo>
                    <a:pt x="8035" y="1611"/>
                    <a:pt x="8652" y="755"/>
                    <a:pt x="9295" y="0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lIns="50787" tIns="50787" rIns="50787" bIns="50787" anchor="ctr"/>
            <a:lstStyle/>
            <a:p>
              <a:pPr algn="ctr">
                <a:defRPr sz="3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kern="0" dirty="0">
                <a:solidFill>
                  <a:srgbClr val="00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  <a:sym typeface="Helvetica Light"/>
              </a:endParaRPr>
            </a:p>
          </p:txBody>
        </p:sp>
        <p:pic>
          <p:nvPicPr>
            <p:cNvPr id="7" name="Picture 6" descr="A close up of a sign&#10;&#10;Description automatically generated">
              <a:extLst>
                <a:ext uri="{FF2B5EF4-FFF2-40B4-BE49-F238E27FC236}">
                  <a16:creationId xmlns:a16="http://schemas.microsoft.com/office/drawing/2014/main" id="{9DFC49CD-7A39-487B-9D70-21738461A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66089" y="2772858"/>
              <a:ext cx="818178" cy="818178"/>
            </a:xfrm>
            <a:prstGeom prst="rect">
              <a:avLst/>
            </a:prstGeom>
          </p:spPr>
        </p:pic>
        <p:pic>
          <p:nvPicPr>
            <p:cNvPr id="22" name="Picture 21" descr="A picture containing toy&#10;&#10;Description automatically generated">
              <a:extLst>
                <a:ext uri="{FF2B5EF4-FFF2-40B4-BE49-F238E27FC236}">
                  <a16:creationId xmlns:a16="http://schemas.microsoft.com/office/drawing/2014/main" id="{86698B31-9DC9-4180-B617-CB6E36F90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32479" y="2842291"/>
              <a:ext cx="966770" cy="966770"/>
            </a:xfrm>
            <a:prstGeom prst="rect">
              <a:avLst/>
            </a:prstGeom>
          </p:spPr>
        </p:pic>
        <p:pic>
          <p:nvPicPr>
            <p:cNvPr id="42" name="Picture 41" descr="A close up of a logo&#10;&#10;Description automatically generated">
              <a:extLst>
                <a:ext uri="{FF2B5EF4-FFF2-40B4-BE49-F238E27FC236}">
                  <a16:creationId xmlns:a16="http://schemas.microsoft.com/office/drawing/2014/main" id="{2BC7E778-A613-43A7-AB1A-EF07CEF1C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6925" y="2292052"/>
              <a:ext cx="962590" cy="864170"/>
            </a:xfrm>
            <a:prstGeom prst="rect">
              <a:avLst/>
            </a:prstGeom>
          </p:spPr>
        </p:pic>
        <p:pic>
          <p:nvPicPr>
            <p:cNvPr id="11" name="Picture 10" descr="A picture containing bird&#10;&#10;Description automatically generated">
              <a:extLst>
                <a:ext uri="{FF2B5EF4-FFF2-40B4-BE49-F238E27FC236}">
                  <a16:creationId xmlns:a16="http://schemas.microsoft.com/office/drawing/2014/main" id="{E61D95EE-B7DB-4FB4-AAD8-F500D7FEB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98311" y="1160438"/>
              <a:ext cx="973138" cy="973138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BFDB5E2-2270-496C-B252-212A457BCBFB}"/>
              </a:ext>
            </a:extLst>
          </p:cNvPr>
          <p:cNvSpPr/>
          <p:nvPr/>
        </p:nvSpPr>
        <p:spPr>
          <a:xfrm>
            <a:off x="176565" y="523174"/>
            <a:ext cx="1253998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Robotics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lose-up of a robot&#10;&#10;Description automatically generated with low confidence">
            <a:extLst>
              <a:ext uri="{FF2B5EF4-FFF2-40B4-BE49-F238E27FC236}">
                <a16:creationId xmlns:a16="http://schemas.microsoft.com/office/drawing/2014/main" id="{E5628F44-578E-C595-3B87-94BB3883CABD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991" y="3522515"/>
            <a:ext cx="2895983" cy="3286093"/>
          </a:xfrm>
          <a:prstGeom prst="rect">
            <a:avLst/>
          </a:prstGeom>
        </p:spPr>
      </p:pic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F5F161C6-2C22-414C-8BA0-C198F8C36D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203627"/>
              </p:ext>
            </p:extLst>
          </p:nvPr>
        </p:nvGraphicFramePr>
        <p:xfrm>
          <a:off x="4686300" y="5005814"/>
          <a:ext cx="7189592" cy="17067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83FBA9-B768-823A-658D-B34F8172BC3D}"/>
              </a:ext>
            </a:extLst>
          </p:cNvPr>
          <p:cNvSpPr/>
          <p:nvPr/>
        </p:nvSpPr>
        <p:spPr>
          <a:xfrm>
            <a:off x="4491991" y="564607"/>
            <a:ext cx="3379472" cy="22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term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robotics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often gets thrown around in association with AI – but not all robots are smart.</a:t>
            </a:r>
          </a:p>
          <a:p>
            <a:pPr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 robot?</a:t>
            </a:r>
          </a:p>
          <a:p>
            <a:pPr>
              <a:spcAft>
                <a:spcPts val="600"/>
              </a:spcAft>
            </a:pP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“A machine that carries out work by itself by following a set of          programmed rules.</a:t>
            </a:r>
            <a:r>
              <a:rPr lang="en-GB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endParaRPr lang="en-GB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328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4" y="1011767"/>
            <a:ext cx="116665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very simple terms, you can think of the broad characteristics of all robots as falling into three categories.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Characteristics of a robot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59DFEFC-6BBF-5EA5-C0F0-D049E85FC68C}"/>
              </a:ext>
            </a:extLst>
          </p:cNvPr>
          <p:cNvGrpSpPr/>
          <p:nvPr/>
        </p:nvGrpSpPr>
        <p:grpSpPr>
          <a:xfrm>
            <a:off x="220674" y="1422226"/>
            <a:ext cx="3743818" cy="5320004"/>
            <a:chOff x="220674" y="1422226"/>
            <a:chExt cx="3743818" cy="5320004"/>
          </a:xfrm>
        </p:grpSpPr>
        <p:pic>
          <p:nvPicPr>
            <p:cNvPr id="3" name="Graphic 2" descr="Badge 1 with solid fill">
              <a:extLst>
                <a:ext uri="{FF2B5EF4-FFF2-40B4-BE49-F238E27FC236}">
                  <a16:creationId xmlns:a16="http://schemas.microsoft.com/office/drawing/2014/main" id="{C0824ED6-8684-59FC-0381-D59F65549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33362" y="1422226"/>
              <a:ext cx="1993641" cy="1993641"/>
            </a:xfrm>
            <a:prstGeom prst="rect">
              <a:avLst/>
            </a:prstGeom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8F9DA72-B34C-3B33-A5F2-973CE13BE62D}"/>
                </a:ext>
              </a:extLst>
            </p:cNvPr>
            <p:cNvSpPr/>
            <p:nvPr/>
          </p:nvSpPr>
          <p:spPr>
            <a:xfrm>
              <a:off x="220674" y="3415867"/>
              <a:ext cx="3743818" cy="3326363"/>
            </a:xfrm>
            <a:prstGeom prst="roundRect">
              <a:avLst>
                <a:gd name="adj" fmla="val 6051"/>
              </a:avLst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dirty="0">
                  <a:solidFill>
                    <a:srgbClr val="C00000"/>
                  </a:solidFill>
                </a:rPr>
                <a:t>Mechanical structure or framework</a:t>
              </a:r>
            </a:p>
          </p:txBody>
        </p:sp>
        <p:pic>
          <p:nvPicPr>
            <p:cNvPr id="15" name="Picture 14" descr="Icon&#10;&#10;Description automatically generated">
              <a:extLst>
                <a:ext uri="{FF2B5EF4-FFF2-40B4-BE49-F238E27FC236}">
                  <a16:creationId xmlns:a16="http://schemas.microsoft.com/office/drawing/2014/main" id="{6D3E3A3E-41AF-0B09-EC45-7FD42AA0B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2662" y="3785197"/>
              <a:ext cx="2789624" cy="2789624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C2833B3-DEC0-0066-E4E7-446E1493EDC5}"/>
              </a:ext>
            </a:extLst>
          </p:cNvPr>
          <p:cNvGrpSpPr/>
          <p:nvPr/>
        </p:nvGrpSpPr>
        <p:grpSpPr>
          <a:xfrm>
            <a:off x="8255349" y="1422227"/>
            <a:ext cx="3743818" cy="5333135"/>
            <a:chOff x="8255349" y="1422227"/>
            <a:chExt cx="3743818" cy="5333135"/>
          </a:xfrm>
        </p:grpSpPr>
        <p:pic>
          <p:nvPicPr>
            <p:cNvPr id="9" name="Graphic 8" descr="Badge 3 with solid fill">
              <a:extLst>
                <a:ext uri="{FF2B5EF4-FFF2-40B4-BE49-F238E27FC236}">
                  <a16:creationId xmlns:a16="http://schemas.microsoft.com/office/drawing/2014/main" id="{89EEBF75-82B5-BC57-2E94-347375EE6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39633" y="1422227"/>
              <a:ext cx="1993641" cy="1993641"/>
            </a:xfrm>
            <a:prstGeom prst="rect">
              <a:avLst/>
            </a:prstGeom>
          </p:spPr>
        </p:pic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956F454-191C-83CD-7C6C-460D8CD1EF07}"/>
                </a:ext>
              </a:extLst>
            </p:cNvPr>
            <p:cNvSpPr/>
            <p:nvPr/>
          </p:nvSpPr>
          <p:spPr>
            <a:xfrm>
              <a:off x="8255349" y="3428999"/>
              <a:ext cx="3743818" cy="3326363"/>
            </a:xfrm>
            <a:prstGeom prst="roundRect">
              <a:avLst>
                <a:gd name="adj" fmla="val 6051"/>
              </a:avLst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dirty="0">
                  <a:solidFill>
                    <a:schemeClr val="accent4"/>
                  </a:solidFill>
                </a:rPr>
                <a:t>Programmability</a:t>
              </a:r>
            </a:p>
          </p:txBody>
        </p:sp>
        <p:pic>
          <p:nvPicPr>
            <p:cNvPr id="17" name="Picture 16" descr="Graphical user interface, icon&#10;&#10;Description automatically generated">
              <a:extLst>
                <a:ext uri="{FF2B5EF4-FFF2-40B4-BE49-F238E27FC236}">
                  <a16:creationId xmlns:a16="http://schemas.microsoft.com/office/drawing/2014/main" id="{200752C0-9DA4-8AC2-44F1-07436D39C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1750" y="3898640"/>
              <a:ext cx="2770887" cy="2770887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BA95CDE-DE83-A684-9E66-C1B23B67E2A5}"/>
              </a:ext>
            </a:extLst>
          </p:cNvPr>
          <p:cNvGrpSpPr/>
          <p:nvPr/>
        </p:nvGrpSpPr>
        <p:grpSpPr>
          <a:xfrm>
            <a:off x="4238011" y="1422228"/>
            <a:ext cx="3743818" cy="5320002"/>
            <a:chOff x="4238011" y="1422228"/>
            <a:chExt cx="3743818" cy="5320002"/>
          </a:xfrm>
        </p:grpSpPr>
        <p:pic>
          <p:nvPicPr>
            <p:cNvPr id="7" name="Graphic 6" descr="Badge with solid fill">
              <a:extLst>
                <a:ext uri="{FF2B5EF4-FFF2-40B4-BE49-F238E27FC236}">
                  <a16:creationId xmlns:a16="http://schemas.microsoft.com/office/drawing/2014/main" id="{510F04C1-4313-573D-F342-3F2228391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099179" y="1422228"/>
              <a:ext cx="1993641" cy="1993641"/>
            </a:xfrm>
            <a:prstGeom prst="rect">
              <a:avLst/>
            </a:prstGeom>
          </p:spPr>
        </p:pic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55AD273-143D-2919-9234-A58F657217D9}"/>
                </a:ext>
              </a:extLst>
            </p:cNvPr>
            <p:cNvSpPr/>
            <p:nvPr/>
          </p:nvSpPr>
          <p:spPr>
            <a:xfrm>
              <a:off x="4238011" y="3415867"/>
              <a:ext cx="3743818" cy="3326363"/>
            </a:xfrm>
            <a:prstGeom prst="roundRect">
              <a:avLst>
                <a:gd name="adj" fmla="val 6051"/>
              </a:avLst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b="1" dirty="0">
                  <a:solidFill>
                    <a:schemeClr val="accent2"/>
                  </a:solidFill>
                </a:rPr>
                <a:t>Electrical components</a:t>
              </a:r>
            </a:p>
          </p:txBody>
        </p:sp>
        <p:pic>
          <p:nvPicPr>
            <p:cNvPr id="19" name="Picture 18" descr="Icon&#10;&#10;Description automatically generated">
              <a:extLst>
                <a:ext uri="{FF2B5EF4-FFF2-40B4-BE49-F238E27FC236}">
                  <a16:creationId xmlns:a16="http://schemas.microsoft.com/office/drawing/2014/main" id="{E81C7A6E-929B-D59D-E296-93E97DD38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4974" y="3869630"/>
              <a:ext cx="1051666" cy="1051666"/>
            </a:xfrm>
            <a:prstGeom prst="rect">
              <a:avLst/>
            </a:prstGeom>
          </p:spPr>
        </p:pic>
        <p:pic>
          <p:nvPicPr>
            <p:cNvPr id="21" name="Picture 20" descr="A picture containing text, plate, dishware, tableware&#10;&#10;Description automatically generated">
              <a:extLst>
                <a:ext uri="{FF2B5EF4-FFF2-40B4-BE49-F238E27FC236}">
                  <a16:creationId xmlns:a16="http://schemas.microsoft.com/office/drawing/2014/main" id="{340239C1-DCB1-B449-DE5F-39A3FD337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2515" y="5545858"/>
              <a:ext cx="1051666" cy="1051666"/>
            </a:xfrm>
            <a:prstGeom prst="rect">
              <a:avLst/>
            </a:prstGeom>
          </p:spPr>
        </p:pic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764662C9-716B-7B82-574E-A79D52F72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4462" y="5538106"/>
              <a:ext cx="1036715" cy="1036715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B2B3E60-B366-C975-2581-94C2814A7158}"/>
                </a:ext>
              </a:extLst>
            </p:cNvPr>
            <p:cNvSpPr txBox="1"/>
            <p:nvPr/>
          </p:nvSpPr>
          <p:spPr>
            <a:xfrm>
              <a:off x="6616640" y="4296197"/>
              <a:ext cx="905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</a:rPr>
                <a:t>Sensors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2D311E3-FDD5-48E2-E849-447D79E24A95}"/>
                </a:ext>
              </a:extLst>
            </p:cNvPr>
            <p:cNvSpPr txBox="1"/>
            <p:nvPr/>
          </p:nvSpPr>
          <p:spPr>
            <a:xfrm>
              <a:off x="4262663" y="5190391"/>
              <a:ext cx="17313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</a:rPr>
                <a:t>Microprocessors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06220D3-21FF-A170-4E35-03DD07CF4DD1}"/>
                </a:ext>
              </a:extLst>
            </p:cNvPr>
            <p:cNvSpPr txBox="1"/>
            <p:nvPr/>
          </p:nvSpPr>
          <p:spPr>
            <a:xfrm>
              <a:off x="6550202" y="5190391"/>
              <a:ext cx="1085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</a:rPr>
                <a:t>Actuators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0811200" cy="3067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Robotics is a branch of computer science that incorporates the design, construction and operation of robots.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Includes factory equipment, domestic robots and drones.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robot is a machine that works by itself by following a set of programmed rules.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robots can be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dumb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they simply repeat the same tasks over and over.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robots exhibit AI/machine learning – they are trained to carry out more complex tasks and adapt.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Robots share similar characteristics: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mechanical structure or framework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Electrical components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Programmability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Robots </a:t>
            </a:r>
            <a:r>
              <a:rPr lang="en-GB" sz="24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robotics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680AF8DE-7E18-4FC8-ACED-54829D7D5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605</Words>
  <Application>Microsoft Office PowerPoint</Application>
  <PresentationFormat>Widescreen</PresentationFormat>
  <Paragraphs>60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Century Gothic</vt:lpstr>
      <vt:lpstr>Lato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141</cp:revision>
  <dcterms:created xsi:type="dcterms:W3CDTF">2019-10-14T15:21:06Z</dcterms:created>
  <dcterms:modified xsi:type="dcterms:W3CDTF">2022-08-21T14:17:17Z</dcterms:modified>
</cp:coreProperties>
</file>