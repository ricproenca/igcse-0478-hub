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7" r:id="rId2"/>
    <p:sldId id="265" r:id="rId3"/>
    <p:sldId id="3337" r:id="rId4"/>
    <p:sldId id="3335" r:id="rId5"/>
    <p:sldId id="260" r:id="rId6"/>
    <p:sldId id="29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852" autoAdjust="0"/>
    <p:restoredTop sz="94694"/>
  </p:normalViewPr>
  <p:slideViewPr>
    <p:cSldViewPr snapToGrid="0">
      <p:cViewPr varScale="1">
        <p:scale>
          <a:sx n="64" d="100"/>
          <a:sy n="64" d="100"/>
        </p:scale>
        <p:origin x="66" y="11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1598F5-FD42-41E0-A983-E65F6797AE69}" type="doc">
      <dgm:prSet loTypeId="urn:microsoft.com/office/officeart/2005/8/layout/hierarchy4" loCatId="relationship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4C1C09E4-0C90-4198-B0FC-BABD77873D83}">
      <dgm:prSet phldrT="[Text]" custT="1"/>
      <dgm:spPr>
        <a:solidFill>
          <a:srgbClr val="C00000"/>
        </a:solidFill>
      </dgm:spPr>
      <dgm:t>
        <a:bodyPr/>
        <a:lstStyle/>
        <a:p>
          <a:r>
            <a:rPr lang="en-GB" sz="2400" b="1" dirty="0"/>
            <a:t>Applied/weak/narrow AI</a:t>
          </a:r>
        </a:p>
      </dgm:t>
    </dgm:pt>
    <dgm:pt modelId="{8B4E2CE4-B692-40AE-A45B-DB3F508FA5C1}" type="parTrans" cxnId="{E9B0D14F-D09C-491B-9568-75F14814F6E2}">
      <dgm:prSet/>
      <dgm:spPr/>
      <dgm:t>
        <a:bodyPr/>
        <a:lstStyle/>
        <a:p>
          <a:endParaRPr lang="en-GB" sz="1800"/>
        </a:p>
      </dgm:t>
    </dgm:pt>
    <dgm:pt modelId="{77A2181D-AE0B-425F-A746-1AE384C3A776}" type="sibTrans" cxnId="{E9B0D14F-D09C-491B-9568-75F14814F6E2}">
      <dgm:prSet/>
      <dgm:spPr/>
      <dgm:t>
        <a:bodyPr/>
        <a:lstStyle/>
        <a:p>
          <a:endParaRPr lang="en-GB" sz="1800"/>
        </a:p>
      </dgm:t>
    </dgm:pt>
    <dgm:pt modelId="{CDC59B61-776C-420E-BCC2-4796D3F0D770}">
      <dgm:prSet phldrT="[Text]" custT="1"/>
      <dgm:spPr>
        <a:solidFill>
          <a:schemeClr val="accent2"/>
        </a:solidFill>
      </dgm:spPr>
      <dgm:t>
        <a:bodyPr/>
        <a:lstStyle/>
        <a:p>
          <a:pPr algn="ctr">
            <a:buFont typeface="Arial" panose="020B0604020202020204" pitchFamily="34" charset="0"/>
            <a:buChar char="•"/>
          </a:pPr>
          <a:r>
            <a:rPr lang="en-GB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Most common form of AI.</a:t>
          </a:r>
        </a:p>
        <a:p>
          <a:pPr algn="ctr">
            <a:buFont typeface="Arial" panose="020B0604020202020204" pitchFamily="34" charset="0"/>
            <a:buChar char="•"/>
          </a:pPr>
          <a:r>
            <a:rPr lang="en-GB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Designed to manage a specific task </a:t>
          </a:r>
          <a:br>
            <a:rPr lang="en-GB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</a:br>
          <a:r>
            <a:rPr lang="en-GB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– e.g., image recognition.</a:t>
          </a:r>
        </a:p>
      </dgm:t>
    </dgm:pt>
    <dgm:pt modelId="{B53CE9A1-D2A9-4991-847F-5292CF8B830D}" type="parTrans" cxnId="{75859321-45F8-4FF7-B471-266F68F2C4E6}">
      <dgm:prSet/>
      <dgm:spPr/>
      <dgm:t>
        <a:bodyPr/>
        <a:lstStyle/>
        <a:p>
          <a:endParaRPr lang="en-GB" sz="1800"/>
        </a:p>
      </dgm:t>
    </dgm:pt>
    <dgm:pt modelId="{799E93DE-47EA-4436-89A3-144949EBBD2C}" type="sibTrans" cxnId="{75859321-45F8-4FF7-B471-266F68F2C4E6}">
      <dgm:prSet/>
      <dgm:spPr/>
      <dgm:t>
        <a:bodyPr/>
        <a:lstStyle/>
        <a:p>
          <a:endParaRPr lang="en-GB" sz="1800"/>
        </a:p>
      </dgm:t>
    </dgm:pt>
    <dgm:pt modelId="{05E9A1A7-7D5B-4179-B339-D144E4C47C4D}">
      <dgm:prSet phldrT="[Text]" custT="1"/>
      <dgm:spPr>
        <a:solidFill>
          <a:srgbClr val="C00000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2400" b="1" dirty="0"/>
            <a:t>Generalised AI</a:t>
          </a:r>
        </a:p>
      </dgm:t>
    </dgm:pt>
    <dgm:pt modelId="{C852675A-8C21-4D54-B1F3-A6977C79A365}" type="parTrans" cxnId="{1C2B6E52-5A93-4E1E-966C-8C2C7D3545BF}">
      <dgm:prSet/>
      <dgm:spPr/>
      <dgm:t>
        <a:bodyPr/>
        <a:lstStyle/>
        <a:p>
          <a:endParaRPr lang="en-GB" sz="1800"/>
        </a:p>
      </dgm:t>
    </dgm:pt>
    <dgm:pt modelId="{79AEAAEA-A21D-4135-8D7C-A8853B48A1E2}" type="sibTrans" cxnId="{1C2B6E52-5A93-4E1E-966C-8C2C7D3545BF}">
      <dgm:prSet/>
      <dgm:spPr/>
      <dgm:t>
        <a:bodyPr/>
        <a:lstStyle/>
        <a:p>
          <a:endParaRPr lang="en-GB" sz="1800"/>
        </a:p>
      </dgm:t>
    </dgm:pt>
    <dgm:pt modelId="{B3B00271-DB8B-4639-9D1B-325C6E7EC304}">
      <dgm:prSet phldrT="[Text]" custT="1"/>
      <dgm:spPr>
        <a:solidFill>
          <a:schemeClr val="accent2"/>
        </a:solidFill>
      </dgm:spPr>
      <dgm:t>
        <a:bodyPr/>
        <a:lstStyle/>
        <a:p>
          <a:pPr algn="ctr">
            <a:buFont typeface="Arial" panose="020B0604020202020204" pitchFamily="34" charset="0"/>
            <a:buChar char="•"/>
          </a:pPr>
          <a:r>
            <a:rPr lang="en-GB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Can evolve and improve to </a:t>
          </a:r>
          <a:br>
            <a:rPr lang="en-GB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</a:br>
          <a:r>
            <a:rPr lang="en-GB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handle other tasks.</a:t>
          </a:r>
          <a:endParaRPr lang="en-GB" sz="1800" dirty="0"/>
        </a:p>
        <a:p>
          <a:pPr algn="ctr">
            <a:buFont typeface="Arial" panose="020B0604020202020204" pitchFamily="34" charset="0"/>
            <a:buChar char="•"/>
          </a:pPr>
          <a:r>
            <a:rPr lang="en-GB" sz="1800" dirty="0"/>
            <a:t>Emerging and developing area of AI </a:t>
          </a:r>
          <a:br>
            <a:rPr lang="en-GB" sz="1800" dirty="0"/>
          </a:br>
          <a:r>
            <a:rPr lang="en-GB" sz="1800" dirty="0"/>
            <a:t>closely linked to machine learning.</a:t>
          </a:r>
        </a:p>
      </dgm:t>
    </dgm:pt>
    <dgm:pt modelId="{46471830-A5E4-48C2-88AE-D682CD6F2AA1}" type="parTrans" cxnId="{B886A442-C577-41B7-B710-224E481BC268}">
      <dgm:prSet/>
      <dgm:spPr/>
      <dgm:t>
        <a:bodyPr/>
        <a:lstStyle/>
        <a:p>
          <a:endParaRPr lang="en-GB" sz="1800"/>
        </a:p>
      </dgm:t>
    </dgm:pt>
    <dgm:pt modelId="{B0A7D7F9-9A28-4FD7-8F8D-AFB9A4DB1282}" type="sibTrans" cxnId="{B886A442-C577-41B7-B710-224E481BC268}">
      <dgm:prSet/>
      <dgm:spPr/>
      <dgm:t>
        <a:bodyPr/>
        <a:lstStyle/>
        <a:p>
          <a:endParaRPr lang="en-GB" sz="1800"/>
        </a:p>
      </dgm:t>
    </dgm:pt>
    <dgm:pt modelId="{0C94C769-5F04-46B1-B28B-5202C0FB38A7}" type="pres">
      <dgm:prSet presAssocID="{C71598F5-FD42-41E0-A983-E65F6797AE69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AE0F4F5-1650-4798-80AD-B9C1106E496A}" type="pres">
      <dgm:prSet presAssocID="{4C1C09E4-0C90-4198-B0FC-BABD77873D83}" presName="vertOne" presStyleCnt="0"/>
      <dgm:spPr/>
    </dgm:pt>
    <dgm:pt modelId="{4F76A644-1A0D-4C40-A74A-433E9AFFEB90}" type="pres">
      <dgm:prSet presAssocID="{4C1C09E4-0C90-4198-B0FC-BABD77873D83}" presName="txOne" presStyleLbl="node0" presStyleIdx="0" presStyleCnt="2" custScaleY="34453" custLinFactNeighborY="55740">
        <dgm:presLayoutVars>
          <dgm:chPref val="3"/>
        </dgm:presLayoutVars>
      </dgm:prSet>
      <dgm:spPr/>
    </dgm:pt>
    <dgm:pt modelId="{7F52EB55-B14C-4C70-A317-0AF46BC5E7CC}" type="pres">
      <dgm:prSet presAssocID="{4C1C09E4-0C90-4198-B0FC-BABD77873D83}" presName="parTransOne" presStyleCnt="0"/>
      <dgm:spPr/>
    </dgm:pt>
    <dgm:pt modelId="{19809845-EAE6-41C1-B3AC-8B089A8B0439}" type="pres">
      <dgm:prSet presAssocID="{4C1C09E4-0C90-4198-B0FC-BABD77873D83}" presName="horzOne" presStyleCnt="0"/>
      <dgm:spPr/>
    </dgm:pt>
    <dgm:pt modelId="{8325B958-6CB1-4EC5-A176-3E2D600E7D01}" type="pres">
      <dgm:prSet presAssocID="{CDC59B61-776C-420E-BCC2-4796D3F0D770}" presName="vertTwo" presStyleCnt="0"/>
      <dgm:spPr/>
    </dgm:pt>
    <dgm:pt modelId="{AC86E1A9-8F12-48A2-8EB7-83C0D070565F}" type="pres">
      <dgm:prSet presAssocID="{CDC59B61-776C-420E-BCC2-4796D3F0D770}" presName="txTwo" presStyleLbl="node2" presStyleIdx="0" presStyleCnt="2">
        <dgm:presLayoutVars>
          <dgm:chPref val="3"/>
        </dgm:presLayoutVars>
      </dgm:prSet>
      <dgm:spPr/>
    </dgm:pt>
    <dgm:pt modelId="{79480803-1883-47F4-9741-405605AB6C14}" type="pres">
      <dgm:prSet presAssocID="{CDC59B61-776C-420E-BCC2-4796D3F0D770}" presName="horzTwo" presStyleCnt="0"/>
      <dgm:spPr/>
    </dgm:pt>
    <dgm:pt modelId="{D9791C7F-2348-4FEB-AE15-624EE76C81AE}" type="pres">
      <dgm:prSet presAssocID="{77A2181D-AE0B-425F-A746-1AE384C3A776}" presName="sibSpaceOne" presStyleCnt="0"/>
      <dgm:spPr/>
    </dgm:pt>
    <dgm:pt modelId="{79DBA706-B422-4632-A433-90A765D1B314}" type="pres">
      <dgm:prSet presAssocID="{05E9A1A7-7D5B-4179-B339-D144E4C47C4D}" presName="vertOne" presStyleCnt="0"/>
      <dgm:spPr/>
    </dgm:pt>
    <dgm:pt modelId="{EEAEDCC3-540E-4139-8ED4-E5105A61F30D}" type="pres">
      <dgm:prSet presAssocID="{05E9A1A7-7D5B-4179-B339-D144E4C47C4D}" presName="txOne" presStyleLbl="node0" presStyleIdx="1" presStyleCnt="2" custScaleY="34453" custLinFactNeighborY="55740">
        <dgm:presLayoutVars>
          <dgm:chPref val="3"/>
        </dgm:presLayoutVars>
      </dgm:prSet>
      <dgm:spPr/>
    </dgm:pt>
    <dgm:pt modelId="{23390E6A-8AEB-456E-8F3E-674186DBF9D9}" type="pres">
      <dgm:prSet presAssocID="{05E9A1A7-7D5B-4179-B339-D144E4C47C4D}" presName="parTransOne" presStyleCnt="0"/>
      <dgm:spPr/>
    </dgm:pt>
    <dgm:pt modelId="{A0DCE937-2BB8-44B7-8717-A87523E9B049}" type="pres">
      <dgm:prSet presAssocID="{05E9A1A7-7D5B-4179-B339-D144E4C47C4D}" presName="horzOne" presStyleCnt="0"/>
      <dgm:spPr/>
    </dgm:pt>
    <dgm:pt modelId="{C3DF773E-4EF0-48A1-BEE9-261FF8DE7AB8}" type="pres">
      <dgm:prSet presAssocID="{B3B00271-DB8B-4639-9D1B-325C6E7EC304}" presName="vertTwo" presStyleCnt="0"/>
      <dgm:spPr/>
    </dgm:pt>
    <dgm:pt modelId="{29650693-3F4C-4256-960C-FFFCD61E6D85}" type="pres">
      <dgm:prSet presAssocID="{B3B00271-DB8B-4639-9D1B-325C6E7EC304}" presName="txTwo" presStyleLbl="node2" presStyleIdx="1" presStyleCnt="2">
        <dgm:presLayoutVars>
          <dgm:chPref val="3"/>
        </dgm:presLayoutVars>
      </dgm:prSet>
      <dgm:spPr/>
    </dgm:pt>
    <dgm:pt modelId="{3B406453-53A7-4FB4-BA75-D2503F8100D9}" type="pres">
      <dgm:prSet presAssocID="{B3B00271-DB8B-4639-9D1B-325C6E7EC304}" presName="horzTwo" presStyleCnt="0"/>
      <dgm:spPr/>
    </dgm:pt>
  </dgm:ptLst>
  <dgm:cxnLst>
    <dgm:cxn modelId="{75859321-45F8-4FF7-B471-266F68F2C4E6}" srcId="{4C1C09E4-0C90-4198-B0FC-BABD77873D83}" destId="{CDC59B61-776C-420E-BCC2-4796D3F0D770}" srcOrd="0" destOrd="0" parTransId="{B53CE9A1-D2A9-4991-847F-5292CF8B830D}" sibTransId="{799E93DE-47EA-4436-89A3-144949EBBD2C}"/>
    <dgm:cxn modelId="{B886A442-C577-41B7-B710-224E481BC268}" srcId="{05E9A1A7-7D5B-4179-B339-D144E4C47C4D}" destId="{B3B00271-DB8B-4639-9D1B-325C6E7EC304}" srcOrd="0" destOrd="0" parTransId="{46471830-A5E4-48C2-88AE-D682CD6F2AA1}" sibTransId="{B0A7D7F9-9A28-4FD7-8F8D-AFB9A4DB1282}"/>
    <dgm:cxn modelId="{8FEB4C63-903C-4344-B81B-712D7AFBD637}" type="presOf" srcId="{05E9A1A7-7D5B-4179-B339-D144E4C47C4D}" destId="{EEAEDCC3-540E-4139-8ED4-E5105A61F30D}" srcOrd="0" destOrd="0" presId="urn:microsoft.com/office/officeart/2005/8/layout/hierarchy4"/>
    <dgm:cxn modelId="{E9B0D14F-D09C-491B-9568-75F14814F6E2}" srcId="{C71598F5-FD42-41E0-A983-E65F6797AE69}" destId="{4C1C09E4-0C90-4198-B0FC-BABD77873D83}" srcOrd="0" destOrd="0" parTransId="{8B4E2CE4-B692-40AE-A45B-DB3F508FA5C1}" sibTransId="{77A2181D-AE0B-425F-A746-1AE384C3A776}"/>
    <dgm:cxn modelId="{1C2B6E52-5A93-4E1E-966C-8C2C7D3545BF}" srcId="{C71598F5-FD42-41E0-A983-E65F6797AE69}" destId="{05E9A1A7-7D5B-4179-B339-D144E4C47C4D}" srcOrd="1" destOrd="0" parTransId="{C852675A-8C21-4D54-B1F3-A6977C79A365}" sibTransId="{79AEAAEA-A21D-4135-8D7C-A8853B48A1E2}"/>
    <dgm:cxn modelId="{7165A555-062E-4FE4-BB48-912F01B3514E}" type="presOf" srcId="{4C1C09E4-0C90-4198-B0FC-BABD77873D83}" destId="{4F76A644-1A0D-4C40-A74A-433E9AFFEB90}" srcOrd="0" destOrd="0" presId="urn:microsoft.com/office/officeart/2005/8/layout/hierarchy4"/>
    <dgm:cxn modelId="{10C8DAC5-2149-4502-AC7C-5FF2C1C79FF7}" type="presOf" srcId="{C71598F5-FD42-41E0-A983-E65F6797AE69}" destId="{0C94C769-5F04-46B1-B28B-5202C0FB38A7}" srcOrd="0" destOrd="0" presId="urn:microsoft.com/office/officeart/2005/8/layout/hierarchy4"/>
    <dgm:cxn modelId="{582ECBD2-26C7-43BA-9CA2-B0CC3CCE36E4}" type="presOf" srcId="{CDC59B61-776C-420E-BCC2-4796D3F0D770}" destId="{AC86E1A9-8F12-48A2-8EB7-83C0D070565F}" srcOrd="0" destOrd="0" presId="urn:microsoft.com/office/officeart/2005/8/layout/hierarchy4"/>
    <dgm:cxn modelId="{DA10D6F2-63A1-4AF6-B721-3F8B55B1CE2B}" type="presOf" srcId="{B3B00271-DB8B-4639-9D1B-325C6E7EC304}" destId="{29650693-3F4C-4256-960C-FFFCD61E6D85}" srcOrd="0" destOrd="0" presId="urn:microsoft.com/office/officeart/2005/8/layout/hierarchy4"/>
    <dgm:cxn modelId="{95782775-2B1B-44C0-9A02-8ACC7D4F5776}" type="presParOf" srcId="{0C94C769-5F04-46B1-B28B-5202C0FB38A7}" destId="{FAE0F4F5-1650-4798-80AD-B9C1106E496A}" srcOrd="0" destOrd="0" presId="urn:microsoft.com/office/officeart/2005/8/layout/hierarchy4"/>
    <dgm:cxn modelId="{235E0FD7-FE50-46E4-8DDB-403415B0FBFE}" type="presParOf" srcId="{FAE0F4F5-1650-4798-80AD-B9C1106E496A}" destId="{4F76A644-1A0D-4C40-A74A-433E9AFFEB90}" srcOrd="0" destOrd="0" presId="urn:microsoft.com/office/officeart/2005/8/layout/hierarchy4"/>
    <dgm:cxn modelId="{9C7ED270-D428-48CC-BB3E-33ACB2447B8D}" type="presParOf" srcId="{FAE0F4F5-1650-4798-80AD-B9C1106E496A}" destId="{7F52EB55-B14C-4C70-A317-0AF46BC5E7CC}" srcOrd="1" destOrd="0" presId="urn:microsoft.com/office/officeart/2005/8/layout/hierarchy4"/>
    <dgm:cxn modelId="{70FD1D60-D682-487F-8947-04CDA1DB34D2}" type="presParOf" srcId="{FAE0F4F5-1650-4798-80AD-B9C1106E496A}" destId="{19809845-EAE6-41C1-B3AC-8B089A8B0439}" srcOrd="2" destOrd="0" presId="urn:microsoft.com/office/officeart/2005/8/layout/hierarchy4"/>
    <dgm:cxn modelId="{D7C48EA6-EA8D-4FDB-9594-7884A49FF0C9}" type="presParOf" srcId="{19809845-EAE6-41C1-B3AC-8B089A8B0439}" destId="{8325B958-6CB1-4EC5-A176-3E2D600E7D01}" srcOrd="0" destOrd="0" presId="urn:microsoft.com/office/officeart/2005/8/layout/hierarchy4"/>
    <dgm:cxn modelId="{7523D711-B088-4BC0-B6C2-FDC59E4613F7}" type="presParOf" srcId="{8325B958-6CB1-4EC5-A176-3E2D600E7D01}" destId="{AC86E1A9-8F12-48A2-8EB7-83C0D070565F}" srcOrd="0" destOrd="0" presId="urn:microsoft.com/office/officeart/2005/8/layout/hierarchy4"/>
    <dgm:cxn modelId="{A0CBCC8F-835B-47A5-B93F-B0C0EE6D3846}" type="presParOf" srcId="{8325B958-6CB1-4EC5-A176-3E2D600E7D01}" destId="{79480803-1883-47F4-9741-405605AB6C14}" srcOrd="1" destOrd="0" presId="urn:microsoft.com/office/officeart/2005/8/layout/hierarchy4"/>
    <dgm:cxn modelId="{8CDC8ADF-8FF7-4F05-B366-2E4F23684304}" type="presParOf" srcId="{0C94C769-5F04-46B1-B28B-5202C0FB38A7}" destId="{D9791C7F-2348-4FEB-AE15-624EE76C81AE}" srcOrd="1" destOrd="0" presId="urn:microsoft.com/office/officeart/2005/8/layout/hierarchy4"/>
    <dgm:cxn modelId="{457F36DE-F74D-4C88-AAA7-66ABC134D8E3}" type="presParOf" srcId="{0C94C769-5F04-46B1-B28B-5202C0FB38A7}" destId="{79DBA706-B422-4632-A433-90A765D1B314}" srcOrd="2" destOrd="0" presId="urn:microsoft.com/office/officeart/2005/8/layout/hierarchy4"/>
    <dgm:cxn modelId="{3972A8ED-1EA1-4F96-9769-335BD0A6411F}" type="presParOf" srcId="{79DBA706-B422-4632-A433-90A765D1B314}" destId="{EEAEDCC3-540E-4139-8ED4-E5105A61F30D}" srcOrd="0" destOrd="0" presId="urn:microsoft.com/office/officeart/2005/8/layout/hierarchy4"/>
    <dgm:cxn modelId="{2F977F0A-EFEF-4ED2-8FD6-8F673C0A9141}" type="presParOf" srcId="{79DBA706-B422-4632-A433-90A765D1B314}" destId="{23390E6A-8AEB-456E-8F3E-674186DBF9D9}" srcOrd="1" destOrd="0" presId="urn:microsoft.com/office/officeart/2005/8/layout/hierarchy4"/>
    <dgm:cxn modelId="{1D2F403F-5599-4636-B6D2-4C7B796711D5}" type="presParOf" srcId="{79DBA706-B422-4632-A433-90A765D1B314}" destId="{A0DCE937-2BB8-44B7-8717-A87523E9B049}" srcOrd="2" destOrd="0" presId="urn:microsoft.com/office/officeart/2005/8/layout/hierarchy4"/>
    <dgm:cxn modelId="{72E01394-964E-40F8-9264-4B5FA7854B16}" type="presParOf" srcId="{A0DCE937-2BB8-44B7-8717-A87523E9B049}" destId="{C3DF773E-4EF0-48A1-BEE9-261FF8DE7AB8}" srcOrd="0" destOrd="0" presId="urn:microsoft.com/office/officeart/2005/8/layout/hierarchy4"/>
    <dgm:cxn modelId="{7E8437D1-035A-4192-AB7A-D82F3F82F2CC}" type="presParOf" srcId="{C3DF773E-4EF0-48A1-BEE9-261FF8DE7AB8}" destId="{29650693-3F4C-4256-960C-FFFCD61E6D85}" srcOrd="0" destOrd="0" presId="urn:microsoft.com/office/officeart/2005/8/layout/hierarchy4"/>
    <dgm:cxn modelId="{A36566F1-55F7-47A0-A0AA-CF5DB4D3E7A9}" type="presParOf" srcId="{C3DF773E-4EF0-48A1-BEE9-261FF8DE7AB8}" destId="{3B406453-53A7-4FB4-BA75-D2503F8100D9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76A644-1A0D-4C40-A74A-433E9AFFEB90}">
      <dsp:nvSpPr>
        <dsp:cNvPr id="0" name=""/>
        <dsp:cNvSpPr/>
      </dsp:nvSpPr>
      <dsp:spPr>
        <a:xfrm>
          <a:off x="3489" y="212594"/>
          <a:ext cx="4678838" cy="861854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Applied/weak/narrow AI</a:t>
          </a:r>
        </a:p>
      </dsp:txBody>
      <dsp:txXfrm>
        <a:off x="28732" y="237837"/>
        <a:ext cx="4628352" cy="811368"/>
      </dsp:txXfrm>
    </dsp:sp>
    <dsp:sp modelId="{AC86E1A9-8F12-48A2-8EB7-83C0D070565F}">
      <dsp:nvSpPr>
        <dsp:cNvPr id="0" name=""/>
        <dsp:cNvSpPr/>
      </dsp:nvSpPr>
      <dsp:spPr>
        <a:xfrm>
          <a:off x="3489" y="1242503"/>
          <a:ext cx="4678838" cy="2501536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800" kern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Most common form of AI.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800" kern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Designed to manage a specific task </a:t>
          </a:r>
          <a:br>
            <a:rPr lang="en-GB" sz="1800" kern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</a:br>
          <a:r>
            <a:rPr lang="en-GB" sz="1800" kern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– e.g., image recognition.</a:t>
          </a:r>
        </a:p>
      </dsp:txBody>
      <dsp:txXfrm>
        <a:off x="76756" y="1315770"/>
        <a:ext cx="4532304" cy="2355002"/>
      </dsp:txXfrm>
    </dsp:sp>
    <dsp:sp modelId="{EEAEDCC3-540E-4139-8ED4-E5105A61F30D}">
      <dsp:nvSpPr>
        <dsp:cNvPr id="0" name=""/>
        <dsp:cNvSpPr/>
      </dsp:nvSpPr>
      <dsp:spPr>
        <a:xfrm>
          <a:off x="5468372" y="212594"/>
          <a:ext cx="4678838" cy="861854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400" b="1" kern="1200" dirty="0"/>
            <a:t>Generalised AI</a:t>
          </a:r>
        </a:p>
      </dsp:txBody>
      <dsp:txXfrm>
        <a:off x="5493615" y="237837"/>
        <a:ext cx="4628352" cy="811368"/>
      </dsp:txXfrm>
    </dsp:sp>
    <dsp:sp modelId="{29650693-3F4C-4256-960C-FFFCD61E6D85}">
      <dsp:nvSpPr>
        <dsp:cNvPr id="0" name=""/>
        <dsp:cNvSpPr/>
      </dsp:nvSpPr>
      <dsp:spPr>
        <a:xfrm>
          <a:off x="5468372" y="1242503"/>
          <a:ext cx="4678838" cy="2501536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800" kern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Can evolve and improve to </a:t>
          </a:r>
          <a:br>
            <a:rPr lang="en-GB" sz="1800" kern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</a:br>
          <a:r>
            <a:rPr lang="en-GB" sz="1800" kern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handle other tasks.</a:t>
          </a:r>
          <a:endParaRPr lang="en-GB" sz="1800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800" kern="1200" dirty="0"/>
            <a:t>Emerging and developing area of AI </a:t>
          </a:r>
          <a:br>
            <a:rPr lang="en-GB" sz="1800" kern="1200" dirty="0"/>
          </a:br>
          <a:r>
            <a:rPr lang="en-GB" sz="1800" kern="1200" dirty="0"/>
            <a:t>closely linked to machine learning.</a:t>
          </a:r>
        </a:p>
      </dsp:txBody>
      <dsp:txXfrm>
        <a:off x="5541639" y="1315770"/>
        <a:ext cx="4532304" cy="23550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21/08/2022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21/08/2022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E031B-FEB2-4221-8849-89831B3F1108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2145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21/08/2022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21/08/2022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21/08/2022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21/08/2022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6.3 Artificial intelligence | Artificial intelligence (AI)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21/08/2022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21/08/2022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21/08/2022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6.3 Artificial intelligence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Artificial intelligence (AI)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074888-E2A6-4A2F-AC6A-3B59F3699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0624"/>
            <a:ext cx="12192000" cy="643737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9675800" cy="748923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 is a branch of computer science dealing with the simulation of intelligent behaviours by computers.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Most AI can be broken down into two main categories: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2757417" cy="4700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Artificial intelligence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AADE23A9-4AE0-B67C-5960-2AB1E1D65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4174229"/>
              </p:ext>
            </p:extLst>
          </p:nvPr>
        </p:nvGraphicFramePr>
        <p:xfrm>
          <a:off x="1222148" y="2608498"/>
          <a:ext cx="10150701" cy="37449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8868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4F76A644-1A0D-4C40-A74A-433E9AFFEB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graphicEl>
                                              <a:dgm id="{4F76A644-1A0D-4C40-A74A-433E9AFFEB9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EAEDCC3-540E-4139-8ED4-E5105A61F3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>
                                            <p:graphicEl>
                                              <a:dgm id="{EEAEDCC3-540E-4139-8ED4-E5105A61F3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AC86E1A9-8F12-48A2-8EB7-83C0D07056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>
                                            <p:graphicEl>
                                              <a:dgm id="{AC86E1A9-8F12-48A2-8EB7-83C0D070565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29650693-3F4C-4256-960C-FFFCD61E6D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>
                                            <p:graphicEl>
                                              <a:dgm id="{29650693-3F4C-4256-960C-FFFCD61E6D8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uiExpand="1">
        <p:bldSub>
          <a:bldDgm bld="lvl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108947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very simple terms, you can think of the main characteristics of AI as falling into the following categories: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87532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Main characteristics of artificial intelligence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A8D9574-0AD4-750A-500C-00F03E89F0C0}"/>
              </a:ext>
            </a:extLst>
          </p:cNvPr>
          <p:cNvGrpSpPr/>
          <p:nvPr/>
        </p:nvGrpSpPr>
        <p:grpSpPr>
          <a:xfrm>
            <a:off x="220675" y="1360981"/>
            <a:ext cx="2780437" cy="5379428"/>
            <a:chOff x="220675" y="1360981"/>
            <a:chExt cx="2780437" cy="5379428"/>
          </a:xfrm>
        </p:grpSpPr>
        <p:pic>
          <p:nvPicPr>
            <p:cNvPr id="7" name="Graphic 6" descr="Badge 1 with solid fill">
              <a:extLst>
                <a:ext uri="{FF2B5EF4-FFF2-40B4-BE49-F238E27FC236}">
                  <a16:creationId xmlns:a16="http://schemas.microsoft.com/office/drawing/2014/main" id="{84984B8A-9421-6DB6-FCDF-587E318BE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07531" y="1360981"/>
              <a:ext cx="1606723" cy="1606723"/>
            </a:xfrm>
            <a:prstGeom prst="rect">
              <a:avLst/>
            </a:prstGeom>
          </p:spPr>
        </p:pic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24C212C-BB34-68FE-F0D0-5AD6679F5726}"/>
                </a:ext>
              </a:extLst>
            </p:cNvPr>
            <p:cNvSpPr/>
            <p:nvPr/>
          </p:nvSpPr>
          <p:spPr>
            <a:xfrm>
              <a:off x="220675" y="2952751"/>
              <a:ext cx="2780437" cy="3787658"/>
            </a:xfrm>
            <a:prstGeom prst="roundRect">
              <a:avLst>
                <a:gd name="adj" fmla="val 6051"/>
              </a:avLst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b="1" dirty="0">
                  <a:solidFill>
                    <a:srgbClr val="C00000"/>
                  </a:solidFill>
                </a:rPr>
                <a:t>Collection of data</a:t>
              </a:r>
            </a:p>
          </p:txBody>
        </p:sp>
        <p:pic>
          <p:nvPicPr>
            <p:cNvPr id="29" name="Picture 28" descr="Icon&#10;&#10;Description automatically generated">
              <a:extLst>
                <a:ext uri="{FF2B5EF4-FFF2-40B4-BE49-F238E27FC236}">
                  <a16:creationId xmlns:a16="http://schemas.microsoft.com/office/drawing/2014/main" id="{830EAE95-C437-67D9-41B0-21A549883F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0586" y="3429000"/>
              <a:ext cx="2200616" cy="2200616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63BA511-7B99-75CF-8ADA-71EEE75C98B9}"/>
              </a:ext>
            </a:extLst>
          </p:cNvPr>
          <p:cNvGrpSpPr/>
          <p:nvPr/>
        </p:nvGrpSpPr>
        <p:grpSpPr>
          <a:xfrm>
            <a:off x="3204248" y="1377241"/>
            <a:ext cx="2780437" cy="5363168"/>
            <a:chOff x="3204248" y="1377241"/>
            <a:chExt cx="2780437" cy="5363168"/>
          </a:xfrm>
        </p:grpSpPr>
        <p:pic>
          <p:nvPicPr>
            <p:cNvPr id="15" name="Graphic 14" descr="Badge with solid fill">
              <a:extLst>
                <a:ext uri="{FF2B5EF4-FFF2-40B4-BE49-F238E27FC236}">
                  <a16:creationId xmlns:a16="http://schemas.microsoft.com/office/drawing/2014/main" id="{B336F666-EF29-0079-105C-C5FB8931778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935664" y="1377241"/>
              <a:ext cx="1606723" cy="1606723"/>
            </a:xfrm>
            <a:prstGeom prst="rect">
              <a:avLst/>
            </a:prstGeom>
          </p:spPr>
        </p:pic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347975D0-DF17-1065-11C0-C026024C35D2}"/>
                </a:ext>
              </a:extLst>
            </p:cNvPr>
            <p:cNvSpPr/>
            <p:nvPr/>
          </p:nvSpPr>
          <p:spPr>
            <a:xfrm>
              <a:off x="3204248" y="2952751"/>
              <a:ext cx="2780437" cy="3787658"/>
            </a:xfrm>
            <a:prstGeom prst="roundRect">
              <a:avLst>
                <a:gd name="adj" fmla="val 6051"/>
              </a:avLst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b="1" dirty="0">
                  <a:solidFill>
                    <a:schemeClr val="accent2"/>
                  </a:solidFill>
                </a:rPr>
                <a:t>Rules for using that data</a:t>
              </a:r>
            </a:p>
          </p:txBody>
        </p:sp>
        <p:pic>
          <p:nvPicPr>
            <p:cNvPr id="31" name="Picture 30" descr="Icon&#10;&#10;Description automatically generated">
              <a:extLst>
                <a:ext uri="{FF2B5EF4-FFF2-40B4-BE49-F238E27FC236}">
                  <a16:creationId xmlns:a16="http://schemas.microsoft.com/office/drawing/2014/main" id="{15927D5D-8DF4-05A6-EF3A-A5A50A283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67430" y="3648721"/>
              <a:ext cx="1980895" cy="1980895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ED6F102-AF1A-7A22-B358-FB7A74BA864F}"/>
              </a:ext>
            </a:extLst>
          </p:cNvPr>
          <p:cNvGrpSpPr/>
          <p:nvPr/>
        </p:nvGrpSpPr>
        <p:grpSpPr>
          <a:xfrm>
            <a:off x="6187821" y="1377241"/>
            <a:ext cx="2780437" cy="5378121"/>
            <a:chOff x="6187821" y="1377241"/>
            <a:chExt cx="2780437" cy="5378121"/>
          </a:xfrm>
        </p:grpSpPr>
        <p:pic>
          <p:nvPicPr>
            <p:cNvPr id="11" name="Graphic 10" descr="Badge 3 with solid fill">
              <a:extLst>
                <a:ext uri="{FF2B5EF4-FFF2-40B4-BE49-F238E27FC236}">
                  <a16:creationId xmlns:a16="http://schemas.microsoft.com/office/drawing/2014/main" id="{C016C2A2-49D4-4ED7-4482-71536BF65B4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774677" y="1377241"/>
              <a:ext cx="1606723" cy="1606723"/>
            </a:xfrm>
            <a:prstGeom prst="rect">
              <a:avLst/>
            </a:prstGeom>
          </p:spPr>
        </p:pic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ABCAAD1-99D3-342F-8EA9-9F2AC065A82D}"/>
                </a:ext>
              </a:extLst>
            </p:cNvPr>
            <p:cNvSpPr/>
            <p:nvPr/>
          </p:nvSpPr>
          <p:spPr>
            <a:xfrm>
              <a:off x="6187821" y="2967704"/>
              <a:ext cx="2780437" cy="3787658"/>
            </a:xfrm>
            <a:prstGeom prst="roundRect">
              <a:avLst>
                <a:gd name="adj" fmla="val 6051"/>
              </a:avLst>
            </a:pr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b="1" dirty="0">
                  <a:solidFill>
                    <a:schemeClr val="accent4"/>
                  </a:solidFill>
                </a:rPr>
                <a:t>Ability to reason</a:t>
              </a:r>
            </a:p>
          </p:txBody>
        </p:sp>
        <p:pic>
          <p:nvPicPr>
            <p:cNvPr id="33" name="Picture 32" descr="Icon&#10;&#10;Description automatically generated">
              <a:extLst>
                <a:ext uri="{FF2B5EF4-FFF2-40B4-BE49-F238E27FC236}">
                  <a16:creationId xmlns:a16="http://schemas.microsoft.com/office/drawing/2014/main" id="{2D9766DB-C0CD-990B-936A-3EA3B8D63C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84177" y="3648721"/>
              <a:ext cx="1980895" cy="1980895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EE84641-56E6-303C-AD52-FB4950F75287}"/>
              </a:ext>
            </a:extLst>
          </p:cNvPr>
          <p:cNvGrpSpPr/>
          <p:nvPr/>
        </p:nvGrpSpPr>
        <p:grpSpPr>
          <a:xfrm>
            <a:off x="9163913" y="1384128"/>
            <a:ext cx="2780437" cy="5356280"/>
            <a:chOff x="9163913" y="1384128"/>
            <a:chExt cx="2780437" cy="535628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6BAFBD7F-08F7-3C02-9EB3-1473C150702D}"/>
                </a:ext>
              </a:extLst>
            </p:cNvPr>
            <p:cNvSpPr/>
            <p:nvPr/>
          </p:nvSpPr>
          <p:spPr>
            <a:xfrm>
              <a:off x="9163913" y="2952750"/>
              <a:ext cx="2780437" cy="3787658"/>
            </a:xfrm>
            <a:prstGeom prst="roundRect">
              <a:avLst>
                <a:gd name="adj" fmla="val 6051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b="1" dirty="0">
                  <a:solidFill>
                    <a:schemeClr val="bg1">
                      <a:lumMod val="50000"/>
                    </a:schemeClr>
                  </a:solidFill>
                </a:rPr>
                <a:t>Ability to learn and adapt</a:t>
              </a:r>
            </a:p>
          </p:txBody>
        </p:sp>
        <p:pic>
          <p:nvPicPr>
            <p:cNvPr id="27" name="Graphic 26" descr="Badge 4 with solid fill">
              <a:extLst>
                <a:ext uri="{FF2B5EF4-FFF2-40B4-BE49-F238E27FC236}">
                  <a16:creationId xmlns:a16="http://schemas.microsoft.com/office/drawing/2014/main" id="{C6C45028-9413-B07B-7F62-4090A28E7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750769" y="1384128"/>
              <a:ext cx="1606723" cy="1606723"/>
            </a:xfrm>
            <a:prstGeom prst="rect">
              <a:avLst/>
            </a:prstGeom>
          </p:spPr>
        </p:pic>
        <p:pic>
          <p:nvPicPr>
            <p:cNvPr id="35" name="Picture 34" descr="Icon&#10;&#10;Description automatically generated">
              <a:extLst>
                <a:ext uri="{FF2B5EF4-FFF2-40B4-BE49-F238E27FC236}">
                  <a16:creationId xmlns:a16="http://schemas.microsoft.com/office/drawing/2014/main" id="{0FEB1B1A-3534-F20A-454D-6F0DA3C8F8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3682" y="3648720"/>
              <a:ext cx="1980896" cy="1980896"/>
            </a:xfrm>
            <a:prstGeom prst="rect">
              <a:avLst/>
            </a:prstGeom>
          </p:spPr>
        </p:pic>
      </p:grp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C192FE3-1071-F929-B818-A0DB11D27316}"/>
              </a:ext>
            </a:extLst>
          </p:cNvPr>
          <p:cNvSpPr/>
          <p:nvPr/>
        </p:nvSpPr>
        <p:spPr>
          <a:xfrm>
            <a:off x="438150" y="5791200"/>
            <a:ext cx="8343900" cy="50317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A r t i f i c i a l     I n t e l l i g e n c 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8987E89D-BBB0-F3D7-D371-8D159700D8D6}"/>
              </a:ext>
            </a:extLst>
          </p:cNvPr>
          <p:cNvSpPr/>
          <p:nvPr/>
        </p:nvSpPr>
        <p:spPr>
          <a:xfrm>
            <a:off x="9372599" y="5788750"/>
            <a:ext cx="2381251" cy="8597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Artificial intelligence</a:t>
            </a:r>
          </a:p>
          <a:p>
            <a:pPr algn="ctr"/>
            <a:r>
              <a:rPr lang="en-GB" b="1" dirty="0"/>
              <a:t>+</a:t>
            </a:r>
          </a:p>
          <a:p>
            <a:pPr algn="ctr"/>
            <a:r>
              <a:rPr lang="en-GB" b="1" dirty="0"/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40143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2A12906-E260-4F41-90D9-9054A5E720FD}"/>
              </a:ext>
            </a:extLst>
          </p:cNvPr>
          <p:cNvSpPr/>
          <p:nvPr/>
        </p:nvSpPr>
        <p:spPr>
          <a:xfrm>
            <a:off x="176565" y="523174"/>
            <a:ext cx="3875613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Artificial intelligence in action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3EF020D-507C-42AB-B1B9-A46F062A7717}"/>
              </a:ext>
            </a:extLst>
          </p:cNvPr>
          <p:cNvGrpSpPr/>
          <p:nvPr/>
        </p:nvGrpSpPr>
        <p:grpSpPr>
          <a:xfrm>
            <a:off x="2820279" y="546604"/>
            <a:ext cx="6794066" cy="5930759"/>
            <a:chOff x="4978400" y="533541"/>
            <a:chExt cx="7092705" cy="6191451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7B792C-9586-465D-90AD-10AD502F9A3B}"/>
                </a:ext>
              </a:extLst>
            </p:cNvPr>
            <p:cNvGrpSpPr/>
            <p:nvPr/>
          </p:nvGrpSpPr>
          <p:grpSpPr>
            <a:xfrm>
              <a:off x="4978400" y="533541"/>
              <a:ext cx="7092705" cy="6191451"/>
              <a:chOff x="2881425" y="1161009"/>
              <a:chExt cx="6097475" cy="5322683"/>
            </a:xfrm>
          </p:grpSpPr>
          <p:sp>
            <p:nvSpPr>
              <p:cNvPr id="21" name="Фигура">
                <a:extLst>
                  <a:ext uri="{FF2B5EF4-FFF2-40B4-BE49-F238E27FC236}">
                    <a16:creationId xmlns:a16="http://schemas.microsoft.com/office/drawing/2014/main" id="{2D24D9A9-91C2-408E-BA43-AA3188169E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0183" y="1161009"/>
                <a:ext cx="3812759" cy="4921510"/>
              </a:xfrm>
              <a:custGeom>
                <a:avLst/>
                <a:gdLst>
                  <a:gd name="T0" fmla="*/ 3301058 w 21573"/>
                  <a:gd name="T1" fmla="*/ 4260722 h 21596"/>
                  <a:gd name="T2" fmla="*/ 3301058 w 21573"/>
                  <a:gd name="T3" fmla="*/ 4260722 h 21596"/>
                  <a:gd name="T4" fmla="*/ 3301058 w 21573"/>
                  <a:gd name="T5" fmla="*/ 4260722 h 21596"/>
                  <a:gd name="T6" fmla="*/ 3301058 w 21573"/>
                  <a:gd name="T7" fmla="*/ 4260722 h 21596"/>
                  <a:gd name="T8" fmla="*/ 0 60000 65536"/>
                  <a:gd name="T9" fmla="*/ 5898240 60000 65536"/>
                  <a:gd name="T10" fmla="*/ 11796480 60000 65536"/>
                  <a:gd name="T11" fmla="*/ 1769472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573" h="21596" extrusionOk="0">
                    <a:moveTo>
                      <a:pt x="16988" y="161"/>
                    </a:moveTo>
                    <a:cubicBezTo>
                      <a:pt x="17069" y="251"/>
                      <a:pt x="17141" y="345"/>
                      <a:pt x="17202" y="444"/>
                    </a:cubicBezTo>
                    <a:cubicBezTo>
                      <a:pt x="17267" y="549"/>
                      <a:pt x="17320" y="658"/>
                      <a:pt x="17374" y="766"/>
                    </a:cubicBezTo>
                    <a:cubicBezTo>
                      <a:pt x="17491" y="1004"/>
                      <a:pt x="17609" y="1242"/>
                      <a:pt x="17727" y="1480"/>
                    </a:cubicBezTo>
                    <a:cubicBezTo>
                      <a:pt x="17950" y="1923"/>
                      <a:pt x="18175" y="2366"/>
                      <a:pt x="18393" y="2810"/>
                    </a:cubicBezTo>
                    <a:cubicBezTo>
                      <a:pt x="18832" y="3701"/>
                      <a:pt x="19244" y="4598"/>
                      <a:pt x="19627" y="5502"/>
                    </a:cubicBezTo>
                    <a:cubicBezTo>
                      <a:pt x="20487" y="7531"/>
                      <a:pt x="21207" y="9607"/>
                      <a:pt x="21466" y="11747"/>
                    </a:cubicBezTo>
                    <a:cubicBezTo>
                      <a:pt x="21573" y="12629"/>
                      <a:pt x="21600" y="13517"/>
                      <a:pt x="21547" y="14403"/>
                    </a:cubicBezTo>
                    <a:cubicBezTo>
                      <a:pt x="21135" y="13190"/>
                      <a:pt x="19991" y="12208"/>
                      <a:pt x="18480" y="11768"/>
                    </a:cubicBezTo>
                    <a:cubicBezTo>
                      <a:pt x="15508" y="10900"/>
                      <a:pt x="12440" y="12228"/>
                      <a:pt x="9862" y="13780"/>
                    </a:cubicBezTo>
                    <a:cubicBezTo>
                      <a:pt x="8949" y="14330"/>
                      <a:pt x="8061" y="14902"/>
                      <a:pt x="7209" y="15505"/>
                    </a:cubicBezTo>
                    <a:cubicBezTo>
                      <a:pt x="6338" y="16122"/>
                      <a:pt x="5507" y="16771"/>
                      <a:pt x="4695" y="17433"/>
                    </a:cubicBezTo>
                    <a:cubicBezTo>
                      <a:pt x="3057" y="18767"/>
                      <a:pt x="1490" y="20156"/>
                      <a:pt x="0" y="21596"/>
                    </a:cubicBezTo>
                    <a:lnTo>
                      <a:pt x="16000" y="234"/>
                    </a:lnTo>
                    <a:cubicBezTo>
                      <a:pt x="16115" y="85"/>
                      <a:pt x="16324" y="-4"/>
                      <a:pt x="16548" y="1"/>
                    </a:cubicBezTo>
                    <a:cubicBezTo>
                      <a:pt x="16717" y="4"/>
                      <a:pt x="16876" y="62"/>
                      <a:pt x="16988" y="16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lIns="50787" tIns="50787" rIns="50787" bIns="50787" anchor="ctr"/>
              <a:lstStyle/>
              <a:p>
                <a:endParaRPr lang="en-US" sz="1400" dirty="0">
                  <a:latin typeface="Lato Light" panose="020F0502020204030203" pitchFamily="34" charset="0"/>
                </a:endParaRPr>
              </a:p>
            </p:txBody>
          </p:sp>
          <p:sp>
            <p:nvSpPr>
              <p:cNvPr id="23" name="Фигура">
                <a:extLst>
                  <a:ext uri="{FF2B5EF4-FFF2-40B4-BE49-F238E27FC236}">
                    <a16:creationId xmlns:a16="http://schemas.microsoft.com/office/drawing/2014/main" id="{9FA3B3F5-5D17-4F2B-8B19-58C8A4B3D7FF}"/>
                  </a:ext>
                </a:extLst>
              </p:cNvPr>
              <p:cNvSpPr/>
              <p:nvPr/>
            </p:nvSpPr>
            <p:spPr bwMode="auto">
              <a:xfrm>
                <a:off x="5667008" y="1514938"/>
                <a:ext cx="3311892" cy="49348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58" h="21567" extrusionOk="0">
                    <a:moveTo>
                      <a:pt x="3512" y="0"/>
                    </a:moveTo>
                    <a:cubicBezTo>
                      <a:pt x="4175" y="1156"/>
                      <a:pt x="4788" y="2315"/>
                      <a:pt x="5355" y="3476"/>
                    </a:cubicBezTo>
                    <a:cubicBezTo>
                      <a:pt x="5923" y="4639"/>
                      <a:pt x="6444" y="5805"/>
                      <a:pt x="6856" y="6984"/>
                    </a:cubicBezTo>
                    <a:cubicBezTo>
                      <a:pt x="7297" y="8245"/>
                      <a:pt x="7619" y="9556"/>
                      <a:pt x="7767" y="10855"/>
                    </a:cubicBezTo>
                    <a:cubicBezTo>
                      <a:pt x="7914" y="12154"/>
                      <a:pt x="7886" y="13460"/>
                      <a:pt x="7238" y="14730"/>
                    </a:cubicBezTo>
                    <a:cubicBezTo>
                      <a:pt x="6912" y="15368"/>
                      <a:pt x="6429" y="15966"/>
                      <a:pt x="5737" y="16449"/>
                    </a:cubicBezTo>
                    <a:cubicBezTo>
                      <a:pt x="4261" y="17477"/>
                      <a:pt x="2052" y="17874"/>
                      <a:pt x="0" y="17469"/>
                    </a:cubicBezTo>
                    <a:cubicBezTo>
                      <a:pt x="736" y="17795"/>
                      <a:pt x="1499" y="18092"/>
                      <a:pt x="2286" y="18360"/>
                    </a:cubicBezTo>
                    <a:cubicBezTo>
                      <a:pt x="3025" y="18611"/>
                      <a:pt x="3785" y="18836"/>
                      <a:pt x="4555" y="19043"/>
                    </a:cubicBezTo>
                    <a:cubicBezTo>
                      <a:pt x="7143" y="19737"/>
                      <a:pt x="9835" y="20226"/>
                      <a:pt x="12548" y="20628"/>
                    </a:cubicBezTo>
                    <a:cubicBezTo>
                      <a:pt x="15191" y="21019"/>
                      <a:pt x="17864" y="21329"/>
                      <a:pt x="20558" y="21557"/>
                    </a:cubicBezTo>
                    <a:cubicBezTo>
                      <a:pt x="20900" y="21600"/>
                      <a:pt x="21247" y="21498"/>
                      <a:pt x="21431" y="21299"/>
                    </a:cubicBezTo>
                    <a:cubicBezTo>
                      <a:pt x="21587" y="21132"/>
                      <a:pt x="21600" y="20921"/>
                      <a:pt x="21465" y="20746"/>
                    </a:cubicBezTo>
                    <a:lnTo>
                      <a:pt x="3512" y="0"/>
                    </a:lnTo>
                    <a:close/>
                  </a:path>
                </a:pathLst>
              </a:custGeom>
              <a:solidFill>
                <a:srgbClr val="92D050"/>
              </a:solidFill>
              <a:ln w="12700" cap="flat">
                <a:noFill/>
                <a:miter lim="400000"/>
              </a:ln>
              <a:effectLst/>
            </p:spPr>
            <p:txBody>
              <a:bodyPr lIns="50787" tIns="50787" rIns="50787" bIns="50787" anchor="ctr"/>
              <a:lstStyle/>
              <a:p>
                <a:pPr algn="ctr">
                  <a:defRPr sz="3200">
                    <a:solidFill>
                      <a:srgbClr val="000000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2000" kern="0" dirty="0">
                  <a:solidFill>
                    <a:srgbClr val="00000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  <a:sym typeface="Helvetica Light"/>
                </a:endParaRPr>
              </a:p>
            </p:txBody>
          </p:sp>
          <p:sp>
            <p:nvSpPr>
              <p:cNvPr id="27" name="Фигура">
                <a:extLst>
                  <a:ext uri="{FF2B5EF4-FFF2-40B4-BE49-F238E27FC236}">
                    <a16:creationId xmlns:a16="http://schemas.microsoft.com/office/drawing/2014/main" id="{E578B4D0-2554-46FB-9928-D73450B59F3A}"/>
                  </a:ext>
                </a:extLst>
              </p:cNvPr>
              <p:cNvSpPr/>
              <p:nvPr/>
            </p:nvSpPr>
            <p:spPr bwMode="auto">
              <a:xfrm>
                <a:off x="2881425" y="4019946"/>
                <a:ext cx="5625264" cy="24637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75" h="21600" extrusionOk="0">
                    <a:moveTo>
                      <a:pt x="9295" y="0"/>
                    </a:moveTo>
                    <a:cubicBezTo>
                      <a:pt x="8433" y="1842"/>
                      <a:pt x="8085" y="4539"/>
                      <a:pt x="8321" y="7079"/>
                    </a:cubicBezTo>
                    <a:cubicBezTo>
                      <a:pt x="8604" y="10122"/>
                      <a:pt x="9656" y="12421"/>
                      <a:pt x="10863" y="14178"/>
                    </a:cubicBezTo>
                    <a:cubicBezTo>
                      <a:pt x="11665" y="15344"/>
                      <a:pt x="12514" y="16273"/>
                      <a:pt x="13379" y="17055"/>
                    </a:cubicBezTo>
                    <a:cubicBezTo>
                      <a:pt x="14701" y="18250"/>
                      <a:pt x="16077" y="19120"/>
                      <a:pt x="17471" y="19853"/>
                    </a:cubicBezTo>
                    <a:cubicBezTo>
                      <a:pt x="18819" y="20562"/>
                      <a:pt x="20187" y="21146"/>
                      <a:pt x="21575" y="21600"/>
                    </a:cubicBezTo>
                    <a:lnTo>
                      <a:pt x="372" y="21590"/>
                    </a:lnTo>
                    <a:cubicBezTo>
                      <a:pt x="215" y="21557"/>
                      <a:pt x="80" y="21320"/>
                      <a:pt x="25" y="20981"/>
                    </a:cubicBezTo>
                    <a:cubicBezTo>
                      <a:pt x="-25" y="20669"/>
                      <a:pt x="1" y="20319"/>
                      <a:pt x="94" y="20064"/>
                    </a:cubicBezTo>
                    <a:cubicBezTo>
                      <a:pt x="851" y="17813"/>
                      <a:pt x="1636" y="15613"/>
                      <a:pt x="2448" y="13466"/>
                    </a:cubicBezTo>
                    <a:cubicBezTo>
                      <a:pt x="3470" y="10769"/>
                      <a:pt x="4534" y="8159"/>
                      <a:pt x="5694" y="5782"/>
                    </a:cubicBezTo>
                    <a:cubicBezTo>
                      <a:pt x="6253" y="4638"/>
                      <a:pt x="6833" y="3549"/>
                      <a:pt x="7446" y="2560"/>
                    </a:cubicBezTo>
                    <a:cubicBezTo>
                      <a:pt x="8035" y="1611"/>
                      <a:pt x="8652" y="755"/>
                      <a:pt x="9295" y="0"/>
                    </a:cubicBezTo>
                    <a:close/>
                  </a:path>
                </a:pathLst>
              </a:custGeom>
              <a:solidFill>
                <a:srgbClr val="CEA0E0"/>
              </a:solidFill>
              <a:ln w="12700" cap="flat">
                <a:noFill/>
                <a:miter lim="400000"/>
              </a:ln>
              <a:effectLst/>
            </p:spPr>
            <p:txBody>
              <a:bodyPr lIns="50787" tIns="50787" rIns="50787" bIns="50787" anchor="ctr"/>
              <a:lstStyle/>
              <a:p>
                <a:pPr algn="ctr">
                  <a:defRPr sz="3200">
                    <a:solidFill>
                      <a:srgbClr val="000000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2000" kern="0" dirty="0">
                  <a:solidFill>
                    <a:srgbClr val="00000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  <a:sym typeface="Helvetica Light"/>
                </a:endParaRPr>
              </a:p>
            </p:txBody>
          </p:sp>
        </p:grpSp>
        <p:pic>
          <p:nvPicPr>
            <p:cNvPr id="18" name="Picture 17" descr="A close up of a sign&#10;&#10;Description automatically generated">
              <a:extLst>
                <a:ext uri="{FF2B5EF4-FFF2-40B4-BE49-F238E27FC236}">
                  <a16:creationId xmlns:a16="http://schemas.microsoft.com/office/drawing/2014/main" id="{387C53E9-2E09-4A96-ABB3-1775CA7D0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74140" y="4693502"/>
              <a:ext cx="1514038" cy="1514038"/>
            </a:xfrm>
            <a:prstGeom prst="rect">
              <a:avLst/>
            </a:prstGeom>
          </p:spPr>
        </p:pic>
        <p:pic>
          <p:nvPicPr>
            <p:cNvPr id="19" name="Picture 18" descr="A picture containing toy&#10;&#10;Description automatically generated">
              <a:extLst>
                <a:ext uri="{FF2B5EF4-FFF2-40B4-BE49-F238E27FC236}">
                  <a16:creationId xmlns:a16="http://schemas.microsoft.com/office/drawing/2014/main" id="{598D962F-CC44-4C76-8C36-8C601548B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95996" y="4821988"/>
              <a:ext cx="1789008" cy="1789008"/>
            </a:xfrm>
            <a:prstGeom prst="rect">
              <a:avLst/>
            </a:prstGeom>
          </p:spPr>
        </p:pic>
        <p:pic>
          <p:nvPicPr>
            <p:cNvPr id="20" name="Picture 19" descr="A close up of a logo&#10;&#10;Description automatically generated">
              <a:extLst>
                <a:ext uri="{FF2B5EF4-FFF2-40B4-BE49-F238E27FC236}">
                  <a16:creationId xmlns:a16="http://schemas.microsoft.com/office/drawing/2014/main" id="{681B0748-247A-4743-8812-C141963E92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1168" y="3803769"/>
              <a:ext cx="1781272" cy="1599147"/>
            </a:xfrm>
            <a:prstGeom prst="rect">
              <a:avLst/>
            </a:prstGeom>
          </p:spPr>
        </p:pic>
      </p:grpSp>
      <p:pic>
        <p:nvPicPr>
          <p:cNvPr id="28" name="Picture 27" descr="A picture containing bird&#10;&#10;Description automatically generated">
            <a:extLst>
              <a:ext uri="{FF2B5EF4-FFF2-40B4-BE49-F238E27FC236}">
                <a16:creationId xmlns:a16="http://schemas.microsoft.com/office/drawing/2014/main" id="{F9BBAB06-393A-4E91-8914-E0BFC6C5C5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9694" y="1681525"/>
            <a:ext cx="1715637" cy="1715637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8AC40B4-33F2-486E-BB6D-119873778028}"/>
              </a:ext>
            </a:extLst>
          </p:cNvPr>
          <p:cNvCxnSpPr/>
          <p:nvPr/>
        </p:nvCxnSpPr>
        <p:spPr>
          <a:xfrm flipH="1">
            <a:off x="742950" y="2000250"/>
            <a:ext cx="4637560" cy="0"/>
          </a:xfrm>
          <a:prstGeom prst="line">
            <a:avLst/>
          </a:prstGeom>
          <a:ln w="28575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309EEDE3-6E61-4336-8470-567E6F896FE5}"/>
              </a:ext>
            </a:extLst>
          </p:cNvPr>
          <p:cNvSpPr/>
          <p:nvPr/>
        </p:nvSpPr>
        <p:spPr>
          <a:xfrm>
            <a:off x="666750" y="1919287"/>
            <a:ext cx="161925" cy="161925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E347D4-D79E-43DB-9EA3-6394E98F2A80}"/>
              </a:ext>
            </a:extLst>
          </p:cNvPr>
          <p:cNvSpPr/>
          <p:nvPr/>
        </p:nvSpPr>
        <p:spPr>
          <a:xfrm>
            <a:off x="917147" y="1663893"/>
            <a:ext cx="38753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Self-driving cars</a:t>
            </a:r>
            <a:endParaRPr lang="en-GB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B6CFA25-2818-4B14-A5DD-20B54D82D0B8}"/>
              </a:ext>
            </a:extLst>
          </p:cNvPr>
          <p:cNvCxnSpPr>
            <a:cxnSpLocks/>
          </p:cNvCxnSpPr>
          <p:nvPr/>
        </p:nvCxnSpPr>
        <p:spPr>
          <a:xfrm flipH="1">
            <a:off x="1405890" y="3355252"/>
            <a:ext cx="3637456" cy="0"/>
          </a:xfrm>
          <a:prstGeom prst="line">
            <a:avLst/>
          </a:prstGeom>
          <a:ln w="28575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4672F64D-BB62-49E8-A14C-AD5DFA844C27}"/>
              </a:ext>
            </a:extLst>
          </p:cNvPr>
          <p:cNvSpPr/>
          <p:nvPr/>
        </p:nvSpPr>
        <p:spPr>
          <a:xfrm>
            <a:off x="1286307" y="3274289"/>
            <a:ext cx="161925" cy="161925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39B3734-4C3A-4623-86AF-22331AA06B88}"/>
              </a:ext>
            </a:extLst>
          </p:cNvPr>
          <p:cNvSpPr/>
          <p:nvPr/>
        </p:nvSpPr>
        <p:spPr>
          <a:xfrm>
            <a:off x="1448232" y="3020495"/>
            <a:ext cx="31038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Predicting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stock market trades</a:t>
            </a:r>
            <a:endParaRPr lang="en-GB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92875ED-8128-4434-9934-A5C5CBD42BD6}"/>
              </a:ext>
            </a:extLst>
          </p:cNvPr>
          <p:cNvSpPr/>
          <p:nvPr/>
        </p:nvSpPr>
        <p:spPr>
          <a:xfrm>
            <a:off x="615048" y="4898387"/>
            <a:ext cx="161925" cy="161925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857B2A6-0224-48B1-B4FA-17ABD68B52F0}"/>
              </a:ext>
            </a:extLst>
          </p:cNvPr>
          <p:cNvSpPr/>
          <p:nvPr/>
        </p:nvSpPr>
        <p:spPr>
          <a:xfrm>
            <a:off x="705074" y="4641179"/>
            <a:ext cx="29373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Suggesting products a user might want to purchase</a:t>
            </a:r>
            <a:endParaRPr lang="en-GB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9D35EE5-0D4C-4AEB-8080-69D32910611D}"/>
              </a:ext>
            </a:extLst>
          </p:cNvPr>
          <p:cNvCxnSpPr>
            <a:cxnSpLocks/>
          </p:cNvCxnSpPr>
          <p:nvPr/>
        </p:nvCxnSpPr>
        <p:spPr>
          <a:xfrm flipH="1">
            <a:off x="742950" y="4978944"/>
            <a:ext cx="2926080" cy="0"/>
          </a:xfrm>
          <a:prstGeom prst="line">
            <a:avLst/>
          </a:prstGeom>
          <a:ln w="28575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D559C8E5-DF5E-4840-9782-08CE934CB876}"/>
              </a:ext>
            </a:extLst>
          </p:cNvPr>
          <p:cNvSpPr/>
          <p:nvPr/>
        </p:nvSpPr>
        <p:spPr>
          <a:xfrm>
            <a:off x="11301167" y="2446224"/>
            <a:ext cx="161925" cy="161925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34FB8B9-DEA1-40CC-AE78-FC34B4EC6F92}"/>
              </a:ext>
            </a:extLst>
          </p:cNvPr>
          <p:cNvCxnSpPr>
            <a:cxnSpLocks/>
          </p:cNvCxnSpPr>
          <p:nvPr/>
        </p:nvCxnSpPr>
        <p:spPr>
          <a:xfrm flipH="1">
            <a:off x="7222515" y="2527187"/>
            <a:ext cx="4104615" cy="0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55450EA9-87C2-4C38-BD39-DC851937F6D8}"/>
              </a:ext>
            </a:extLst>
          </p:cNvPr>
          <p:cNvSpPr/>
          <p:nvPr/>
        </p:nvSpPr>
        <p:spPr>
          <a:xfrm>
            <a:off x="7582898" y="2194464"/>
            <a:ext cx="36902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Adapting revision content based on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prior successes and failures</a:t>
            </a:r>
            <a:endParaRPr lang="en-GB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53C8A51-D1FD-4D16-B84A-EC4ED402D2B3}"/>
              </a:ext>
            </a:extLst>
          </p:cNvPr>
          <p:cNvSpPr/>
          <p:nvPr/>
        </p:nvSpPr>
        <p:spPr>
          <a:xfrm>
            <a:off x="11789751" y="4221684"/>
            <a:ext cx="161925" cy="161925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1C8BC55-E912-4958-B588-11670F1E195E}"/>
              </a:ext>
            </a:extLst>
          </p:cNvPr>
          <p:cNvCxnSpPr>
            <a:cxnSpLocks/>
          </p:cNvCxnSpPr>
          <p:nvPr/>
        </p:nvCxnSpPr>
        <p:spPr>
          <a:xfrm flipH="1">
            <a:off x="7711099" y="4302647"/>
            <a:ext cx="4104615" cy="0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403948AA-D9ED-49B7-AEA0-8F53FC79E3D2}"/>
              </a:ext>
            </a:extLst>
          </p:cNvPr>
          <p:cNvSpPr/>
          <p:nvPr/>
        </p:nvSpPr>
        <p:spPr>
          <a:xfrm>
            <a:off x="8523620" y="3970214"/>
            <a:ext cx="326613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Alerting an operator about errors in manufacturing</a:t>
            </a:r>
            <a:endParaRPr lang="en-GB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365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54906" y="1887113"/>
            <a:ext cx="11251294" cy="3621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Artificial intelligence: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broad term that describes any machine programmed to think, work and react like humans.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Applied/narrow AI is designed to manage a specific task.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Generalised AI can evolve and improve to handle other tasks.</a:t>
            </a: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Artificial intelligence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 the following characteristics: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ability to collect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set of rules for using that data.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ability to reason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 artificial intelligence can be described as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machine learning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if it possesses the ability to learn and adapt.</a:t>
            </a:r>
          </a:p>
          <a:p>
            <a:pPr lvl="1"/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Artificial intelligence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3FD0CD09-84B7-48E0-802E-D529CF24E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151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</TotalTime>
  <Words>286</Words>
  <Application>Microsoft Office PowerPoint</Application>
  <PresentationFormat>Widescreen</PresentationFormat>
  <Paragraphs>39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Century Gothic</vt:lpstr>
      <vt:lpstr>Lato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140</cp:revision>
  <dcterms:created xsi:type="dcterms:W3CDTF">2019-10-14T15:21:06Z</dcterms:created>
  <dcterms:modified xsi:type="dcterms:W3CDTF">2022-08-21T14:17:40Z</dcterms:modified>
</cp:coreProperties>
</file>