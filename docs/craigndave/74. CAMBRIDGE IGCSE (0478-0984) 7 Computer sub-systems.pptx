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7" r:id="rId2"/>
    <p:sldId id="265" r:id="rId3"/>
    <p:sldId id="266" r:id="rId4"/>
    <p:sldId id="267" r:id="rId5"/>
    <p:sldId id="268" r:id="rId6"/>
    <p:sldId id="269" r:id="rId7"/>
    <p:sldId id="260" r:id="rId8"/>
    <p:sldId id="29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  <a:srgbClr val="F26521"/>
    <a:srgbClr val="FFFFFF"/>
    <a:srgbClr val="0087B1"/>
    <a:srgbClr val="000956"/>
    <a:srgbClr val="99E265"/>
    <a:srgbClr val="008C8C"/>
    <a:srgbClr val="00B2B2"/>
    <a:srgbClr val="26C9FF"/>
    <a:srgbClr val="7CD0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52" autoAdjust="0"/>
    <p:restoredTop sz="94687"/>
  </p:normalViewPr>
  <p:slideViewPr>
    <p:cSldViewPr snapToGrid="0">
      <p:cViewPr varScale="1">
        <p:scale>
          <a:sx n="101" d="100"/>
          <a:sy n="101" d="100"/>
        </p:scale>
        <p:origin x="1374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15/09/2022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800" b="1" dirty="0">
                  <a:solidFill>
                    <a:schemeClr val="bg1"/>
                  </a:solidFill>
                </a:rPr>
                <a:t>7 Algorithm design and problem-solving | Computer sub-systems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9100868" y="0"/>
              <a:ext cx="309113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46800"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7 Algorithm design and problem-solving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Computer sub-systems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A person sitting at a desk with a computer and other people in the background&#10;&#10;Description automatically generated with low confidence">
            <a:extLst>
              <a:ext uri="{FF2B5EF4-FFF2-40B4-BE49-F238E27FC236}">
                <a16:creationId xmlns:a16="http://schemas.microsoft.com/office/drawing/2014/main" id="{A0D6B924-911B-BA33-9768-5C3444D4B89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60825" y="3645156"/>
            <a:ext cx="4060822" cy="3212843"/>
          </a:xfrm>
          <a:prstGeom prst="rect">
            <a:avLst/>
          </a:prstGeom>
        </p:spPr>
      </p:pic>
      <p:pic>
        <p:nvPicPr>
          <p:cNvPr id="27" name="Picture 26" descr="A picture containing person, person, working&#10;&#10;Description automatically generated">
            <a:extLst>
              <a:ext uri="{FF2B5EF4-FFF2-40B4-BE49-F238E27FC236}">
                <a16:creationId xmlns:a16="http://schemas.microsoft.com/office/drawing/2014/main" id="{1E54B1C8-2114-1375-DC5D-0FC0DEB26EA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31176" y="418442"/>
            <a:ext cx="4060824" cy="3230760"/>
          </a:xfrm>
          <a:prstGeom prst="rect">
            <a:avLst/>
          </a:prstGeom>
        </p:spPr>
      </p:pic>
      <p:pic>
        <p:nvPicPr>
          <p:cNvPr id="25" name="Picture 24" descr="A picture containing person, outdoor, person&#10;&#10;Description automatically generated">
            <a:extLst>
              <a:ext uri="{FF2B5EF4-FFF2-40B4-BE49-F238E27FC236}">
                <a16:creationId xmlns:a16="http://schemas.microsoft.com/office/drawing/2014/main" id="{41EDE351-38DD-086D-4192-0C45CFEDCD0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73820" y="415925"/>
            <a:ext cx="4051005" cy="3220014"/>
          </a:xfrm>
          <a:prstGeom prst="rect">
            <a:avLst/>
          </a:prstGeom>
        </p:spPr>
      </p:pic>
      <p:pic>
        <p:nvPicPr>
          <p:cNvPr id="3" name="Picture 2" descr="A person wearing a hat and holding a microphone&#10;&#10;Description automatically generated with low confidence">
            <a:extLst>
              <a:ext uri="{FF2B5EF4-FFF2-40B4-BE49-F238E27FC236}">
                <a16:creationId xmlns:a16="http://schemas.microsoft.com/office/drawing/2014/main" id="{ED1084BA-F9B4-EECD-4D93-F27468C1C5C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415926"/>
            <a:ext cx="4064000" cy="3225799"/>
          </a:xfrm>
          <a:prstGeom prst="rect">
            <a:avLst/>
          </a:prstGeom>
        </p:spPr>
      </p:pic>
      <p:pic>
        <p:nvPicPr>
          <p:cNvPr id="31" name="Picture 30" descr="A picture containing text, person&#10;&#10;Description automatically generated">
            <a:extLst>
              <a:ext uri="{FF2B5EF4-FFF2-40B4-BE49-F238E27FC236}">
                <a16:creationId xmlns:a16="http://schemas.microsoft.com/office/drawing/2014/main" id="{8EDE618E-A8BA-BD05-17A5-948939DF8EDB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645155"/>
            <a:ext cx="4054182" cy="3213511"/>
          </a:xfrm>
          <a:prstGeom prst="rect">
            <a:avLst/>
          </a:prstGeom>
        </p:spPr>
      </p:pic>
      <p:pic>
        <p:nvPicPr>
          <p:cNvPr id="33" name="Picture 32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D52A2DE5-87E4-C4E7-0B61-FC3053ADDB92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43876" y="3666783"/>
            <a:ext cx="4048120" cy="320043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3036875" cy="470000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Computer sub-systems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63F2A2B-802C-9E57-3DD0-3ECA2A7C102E}"/>
              </a:ext>
            </a:extLst>
          </p:cNvPr>
          <p:cNvGrpSpPr/>
          <p:nvPr/>
        </p:nvGrpSpPr>
        <p:grpSpPr>
          <a:xfrm>
            <a:off x="0" y="415925"/>
            <a:ext cx="12192000" cy="6442075"/>
            <a:chOff x="0" y="415925"/>
            <a:chExt cx="12192000" cy="6442075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433F3B8-6DD3-0ADF-5EBA-B7DC2460F99E}"/>
                </a:ext>
              </a:extLst>
            </p:cNvPr>
            <p:cNvCxnSpPr>
              <a:cxnSpLocks/>
            </p:cNvCxnSpPr>
            <p:nvPr/>
          </p:nvCxnSpPr>
          <p:spPr>
            <a:xfrm>
              <a:off x="4067175" y="415925"/>
              <a:ext cx="0" cy="6442075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7835BE7-09D6-C9C3-2D2F-6FF4B48F5DB9}"/>
                </a:ext>
              </a:extLst>
            </p:cNvPr>
            <p:cNvCxnSpPr>
              <a:cxnSpLocks/>
            </p:cNvCxnSpPr>
            <p:nvPr/>
          </p:nvCxnSpPr>
          <p:spPr>
            <a:xfrm>
              <a:off x="8128000" y="415925"/>
              <a:ext cx="0" cy="6442075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8BD12B3-6133-F2FD-1C96-91EBB80817BC}"/>
                </a:ext>
              </a:extLst>
            </p:cNvPr>
            <p:cNvCxnSpPr/>
            <p:nvPr/>
          </p:nvCxnSpPr>
          <p:spPr>
            <a:xfrm>
              <a:off x="0" y="3635938"/>
              <a:ext cx="12192000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6" y="1052896"/>
            <a:ext cx="8582856" cy="1128514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Technology has permeated almost all aspects of our everyday life.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probably interact with dozens of computer systems during the course of a normal day.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These systems can range from small and bespoke to large and complex.</a:t>
            </a:r>
          </a:p>
        </p:txBody>
      </p:sp>
    </p:spTree>
    <p:extLst>
      <p:ext uri="{BB962C8B-B14F-4D97-AF65-F5344CB8AC3E}">
        <p14:creationId xmlns:p14="http://schemas.microsoft.com/office/powerpoint/2010/main" val="688680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B175FDA-2964-78B9-321A-90D75BA1A64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6838" y="462486"/>
            <a:ext cx="3740312" cy="37809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8D3E95-331E-13C9-90C4-D398B9EC46E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67150" y="332223"/>
            <a:ext cx="3169013" cy="40414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775ABD-EBB4-A095-1839-29975243458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86501" y="4056798"/>
            <a:ext cx="5644362" cy="27211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501DED-1AE8-1D05-96BB-7E9F15BED7C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6838" y="4285481"/>
            <a:ext cx="5778662" cy="23263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EF3027-D679-19FC-2E8B-8AF3C4C56AB7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12500" y="543961"/>
            <a:ext cx="5278106" cy="369949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3036875" cy="470000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Computer sub-systems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5" y="1052896"/>
            <a:ext cx="11666525" cy="748923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Almost all computer systems can be broken down into a set of sub-systems.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Each sub-system can typically be divided into further sub-systems until each sub-system performs a single task or action.</a:t>
            </a:r>
          </a:p>
        </p:txBody>
      </p:sp>
    </p:spTree>
    <p:extLst>
      <p:ext uri="{BB962C8B-B14F-4D97-AF65-F5344CB8AC3E}">
        <p14:creationId xmlns:p14="http://schemas.microsoft.com/office/powerpoint/2010/main" val="89657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96A30963-0122-8D6C-B030-57C1E12937A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67000" y="419100"/>
            <a:ext cx="6858000" cy="643890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DCC488A4-A8FF-AB50-EDCB-CC14A1095C2E}"/>
              </a:ext>
            </a:extLst>
          </p:cNvPr>
          <p:cNvSpPr/>
          <p:nvPr/>
        </p:nvSpPr>
        <p:spPr>
          <a:xfrm>
            <a:off x="220674" y="504512"/>
            <a:ext cx="3096457" cy="470000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Computer sub-systems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6C23D39-3D64-EC50-5C3A-E46CFD179D95}"/>
              </a:ext>
            </a:extLst>
          </p:cNvPr>
          <p:cNvSpPr/>
          <p:nvPr/>
        </p:nvSpPr>
        <p:spPr>
          <a:xfrm>
            <a:off x="220674" y="1052896"/>
            <a:ext cx="3096458" cy="1302921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Take the example of classic shooter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Space Invaders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Analysis reveals many different sub-systems in the game.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9025CE3-4C81-A59C-CDB9-AF58F621E4C4}"/>
              </a:ext>
            </a:extLst>
          </p:cNvPr>
          <p:cNvSpPr txBox="1"/>
          <p:nvPr/>
        </p:nvSpPr>
        <p:spPr>
          <a:xfrm>
            <a:off x="7730755" y="3644144"/>
            <a:ext cx="14080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chemeClr val="accent4"/>
                </a:solidFill>
              </a:rPr>
              <a:t>Title screen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D602B2-B1DE-4114-D4A7-B004280F5406}"/>
              </a:ext>
            </a:extLst>
          </p:cNvPr>
          <p:cNvSpPr txBox="1"/>
          <p:nvPr/>
        </p:nvSpPr>
        <p:spPr>
          <a:xfrm>
            <a:off x="776635" y="4214692"/>
            <a:ext cx="10327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chemeClr val="accent4"/>
                </a:solidFill>
              </a:rPr>
              <a:t>Settings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17A2521-530F-1C0F-6BC7-395C3E2BF3D8}"/>
              </a:ext>
            </a:extLst>
          </p:cNvPr>
          <p:cNvSpPr txBox="1"/>
          <p:nvPr/>
        </p:nvSpPr>
        <p:spPr>
          <a:xfrm>
            <a:off x="8606479" y="707070"/>
            <a:ext cx="9185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chemeClr val="accent4"/>
                </a:solidFill>
              </a:rPr>
              <a:t>Swarm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8BD22BD-DC45-3A58-1533-169E1C639CB0}"/>
              </a:ext>
            </a:extLst>
          </p:cNvPr>
          <p:cNvSpPr txBox="1"/>
          <p:nvPr/>
        </p:nvSpPr>
        <p:spPr>
          <a:xfrm>
            <a:off x="3595733" y="3228945"/>
            <a:ext cx="18117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chemeClr val="accent4"/>
                </a:solidFill>
              </a:rPr>
              <a:t>Check win/lose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125CDF5-689E-966E-2860-156B88B2E8CB}"/>
              </a:ext>
            </a:extLst>
          </p:cNvPr>
          <p:cNvSpPr txBox="1"/>
          <p:nvPr/>
        </p:nvSpPr>
        <p:spPr>
          <a:xfrm>
            <a:off x="7868905" y="6059155"/>
            <a:ext cx="14751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chemeClr val="accent4"/>
                </a:solidFill>
              </a:rPr>
              <a:t>Move aliens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0ED3B8E-5E99-CAA9-274C-46A313BE12AD}"/>
              </a:ext>
            </a:extLst>
          </p:cNvPr>
          <p:cNvSpPr txBox="1"/>
          <p:nvPr/>
        </p:nvSpPr>
        <p:spPr>
          <a:xfrm>
            <a:off x="1181457" y="5605049"/>
            <a:ext cx="12557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chemeClr val="accent4"/>
                </a:solidFill>
              </a:rPr>
              <a:t>Aliens fire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3A15CD2-9697-52D2-3760-AE8D2EDD33D4}"/>
              </a:ext>
            </a:extLst>
          </p:cNvPr>
          <p:cNvSpPr txBox="1"/>
          <p:nvPr/>
        </p:nvSpPr>
        <p:spPr>
          <a:xfrm>
            <a:off x="9709874" y="1473057"/>
            <a:ext cx="17655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chemeClr val="accent4"/>
                </a:solidFill>
              </a:rPr>
              <a:t>Aliens collision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E28F793-D6A7-4F19-2986-1D13B3CE46CB}"/>
              </a:ext>
            </a:extLst>
          </p:cNvPr>
          <p:cNvSpPr txBox="1"/>
          <p:nvPr/>
        </p:nvSpPr>
        <p:spPr>
          <a:xfrm>
            <a:off x="5034984" y="4112490"/>
            <a:ext cx="23044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chemeClr val="accent4"/>
                </a:solidFill>
              </a:rPr>
              <a:t>Move player missile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ED3B3BD-1E87-023C-5A3A-2EA2002DB82F}"/>
              </a:ext>
            </a:extLst>
          </p:cNvPr>
          <p:cNvSpPr txBox="1"/>
          <p:nvPr/>
        </p:nvSpPr>
        <p:spPr>
          <a:xfrm>
            <a:off x="8606478" y="4602983"/>
            <a:ext cx="13441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chemeClr val="accent4"/>
                </a:solidFill>
              </a:rPr>
              <a:t>Player ship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82C579D-0CAD-D72A-C929-77BE510A4823}"/>
              </a:ext>
            </a:extLst>
          </p:cNvPr>
          <p:cNvSpPr txBox="1"/>
          <p:nvPr/>
        </p:nvSpPr>
        <p:spPr>
          <a:xfrm>
            <a:off x="8606478" y="2360809"/>
            <a:ext cx="17756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chemeClr val="accent4"/>
                </a:solidFill>
              </a:rPr>
              <a:t>Player collision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D9AC1F9-63F3-E0D1-2726-5D901F979490}"/>
              </a:ext>
            </a:extLst>
          </p:cNvPr>
          <p:cNvSpPr txBox="1"/>
          <p:nvPr/>
        </p:nvSpPr>
        <p:spPr>
          <a:xfrm>
            <a:off x="2710162" y="4014637"/>
            <a:ext cx="15157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chemeClr val="accent4"/>
                </a:solidFill>
              </a:rPr>
              <a:t>Move player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160FD3E-81B0-36C0-6152-3E426588452D}"/>
              </a:ext>
            </a:extLst>
          </p:cNvPr>
          <p:cNvSpPr txBox="1"/>
          <p:nvPr/>
        </p:nvSpPr>
        <p:spPr>
          <a:xfrm>
            <a:off x="91030" y="3249346"/>
            <a:ext cx="13712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chemeClr val="accent4"/>
                </a:solidFill>
              </a:rPr>
              <a:t>Fire missile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6360DF9-85FC-9DE7-B8D9-40BE29B38D7D}"/>
              </a:ext>
            </a:extLst>
          </p:cNvPr>
          <p:cNvSpPr txBox="1"/>
          <p:nvPr/>
        </p:nvSpPr>
        <p:spPr>
          <a:xfrm>
            <a:off x="1809353" y="6124346"/>
            <a:ext cx="18617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chemeClr val="accent4"/>
                </a:solidFill>
              </a:rPr>
              <a:t>Missile collision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6259536-C79C-C5C5-9495-B434124BD791}"/>
              </a:ext>
            </a:extLst>
          </p:cNvPr>
          <p:cNvSpPr txBox="1"/>
          <p:nvPr/>
        </p:nvSpPr>
        <p:spPr>
          <a:xfrm>
            <a:off x="10289332" y="3028890"/>
            <a:ext cx="17942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chemeClr val="accent4"/>
                </a:solidFill>
              </a:rPr>
              <a:t>Enemy missiles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A45E4ED-DBCB-63FA-7D62-FA1A199412D0}"/>
              </a:ext>
            </a:extLst>
          </p:cNvPr>
          <p:cNvSpPr txBox="1"/>
          <p:nvPr/>
        </p:nvSpPr>
        <p:spPr>
          <a:xfrm>
            <a:off x="9709874" y="5361767"/>
            <a:ext cx="21612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chemeClr val="accent4"/>
                </a:solidFill>
              </a:rPr>
              <a:t>Move alien missile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3F0E6A6-8508-73AC-1979-C237C9E27CD7}"/>
              </a:ext>
            </a:extLst>
          </p:cNvPr>
          <p:cNvSpPr txBox="1"/>
          <p:nvPr/>
        </p:nvSpPr>
        <p:spPr>
          <a:xfrm>
            <a:off x="1191396" y="4871395"/>
            <a:ext cx="24917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chemeClr val="accent4"/>
                </a:solidFill>
              </a:rPr>
              <a:t>Alien missile collision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68D8CA2-038F-DDB5-0FE7-C92D94BD2F62}"/>
              </a:ext>
            </a:extLst>
          </p:cNvPr>
          <p:cNvSpPr txBox="1"/>
          <p:nvPr/>
        </p:nvSpPr>
        <p:spPr>
          <a:xfrm>
            <a:off x="10653647" y="865036"/>
            <a:ext cx="6396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chemeClr val="accent4"/>
                </a:solidFill>
              </a:rPr>
              <a:t>UFO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A3A15E0-9AAD-63FE-EAEF-52708CC01698}"/>
              </a:ext>
            </a:extLst>
          </p:cNvPr>
          <p:cNvSpPr txBox="1"/>
          <p:nvPr/>
        </p:nvSpPr>
        <p:spPr>
          <a:xfrm>
            <a:off x="5390839" y="6238845"/>
            <a:ext cx="1410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chemeClr val="accent4"/>
                </a:solidFill>
              </a:rPr>
              <a:t>Spawn UFO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875B8E9-1DDF-28BC-A186-A2C844287067}"/>
              </a:ext>
            </a:extLst>
          </p:cNvPr>
          <p:cNvSpPr txBox="1"/>
          <p:nvPr/>
        </p:nvSpPr>
        <p:spPr>
          <a:xfrm>
            <a:off x="10319389" y="4145725"/>
            <a:ext cx="13081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chemeClr val="accent4"/>
                </a:solidFill>
              </a:rPr>
              <a:t>Move UFO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701C4A1-5F00-05AF-CE4D-2A9053A8259A}"/>
              </a:ext>
            </a:extLst>
          </p:cNvPr>
          <p:cNvSpPr txBox="1"/>
          <p:nvPr/>
        </p:nvSpPr>
        <p:spPr>
          <a:xfrm>
            <a:off x="10289332" y="6215596"/>
            <a:ext cx="15697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chemeClr val="accent4"/>
                </a:solidFill>
              </a:rPr>
              <a:t>UFO collision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3B93A5B-4265-A9D4-57B1-9D06B52AFB0C}"/>
              </a:ext>
            </a:extLst>
          </p:cNvPr>
          <p:cNvSpPr txBox="1"/>
          <p:nvPr/>
        </p:nvSpPr>
        <p:spPr>
          <a:xfrm>
            <a:off x="1551386" y="3614527"/>
            <a:ext cx="1348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chemeClr val="accent4"/>
                </a:solidFill>
              </a:rPr>
              <a:t>Game over</a:t>
            </a:r>
          </a:p>
        </p:txBody>
      </p:sp>
    </p:spTree>
    <p:extLst>
      <p:ext uri="{BB962C8B-B14F-4D97-AF65-F5344CB8AC3E}">
        <p14:creationId xmlns:p14="http://schemas.microsoft.com/office/powerpoint/2010/main" val="2894286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0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5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drawing a diagram on a white board&#10;&#10;Description automatically generated with low confidence">
            <a:extLst>
              <a:ext uri="{FF2B5EF4-FFF2-40B4-BE49-F238E27FC236}">
                <a16:creationId xmlns:a16="http://schemas.microsoft.com/office/drawing/2014/main" id="{A5C999BC-2111-A8F9-9A7D-017333E218A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415613"/>
            <a:ext cx="10696575" cy="6442388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DCC488A4-A8FF-AB50-EDCB-CC14A1095C2E}"/>
              </a:ext>
            </a:extLst>
          </p:cNvPr>
          <p:cNvSpPr/>
          <p:nvPr/>
        </p:nvSpPr>
        <p:spPr>
          <a:xfrm>
            <a:off x="220675" y="504512"/>
            <a:ext cx="3036875" cy="470000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Computer sub-systems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FF41EC-786B-76B4-3CBD-488AC27668C8}"/>
              </a:ext>
            </a:extLst>
          </p:cNvPr>
          <p:cNvSpPr/>
          <p:nvPr/>
        </p:nvSpPr>
        <p:spPr>
          <a:xfrm>
            <a:off x="8520652" y="504513"/>
            <a:ext cx="3529637" cy="9838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Clr>
                <a:schemeClr val="tx1"/>
              </a:buClr>
            </a:pPr>
            <a:r>
              <a:rPr lang="en-GB" dirty="0">
                <a:solidFill>
                  <a:schemeClr val="tx1"/>
                </a:solidFill>
              </a:rPr>
              <a:t>One way to break the system down into its relevant sub-systems is a structured, top-down approach.</a:t>
            </a:r>
          </a:p>
        </p:txBody>
      </p:sp>
    </p:spTree>
    <p:extLst>
      <p:ext uri="{BB962C8B-B14F-4D97-AF65-F5344CB8AC3E}">
        <p14:creationId xmlns:p14="http://schemas.microsoft.com/office/powerpoint/2010/main" val="3182673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DCC488A4-A8FF-AB50-EDCB-CC14A1095C2E}"/>
              </a:ext>
            </a:extLst>
          </p:cNvPr>
          <p:cNvSpPr/>
          <p:nvPr/>
        </p:nvSpPr>
        <p:spPr>
          <a:xfrm>
            <a:off x="220675" y="504512"/>
            <a:ext cx="3036875" cy="470000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Computer sub-systems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17EAFA-37E2-B731-523F-9C065BC9B38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062182"/>
            <a:ext cx="8508992" cy="5570702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2A003AA-2A42-347D-8092-511179F44DC4}"/>
              </a:ext>
            </a:extLst>
          </p:cNvPr>
          <p:cNvGrpSpPr/>
          <p:nvPr/>
        </p:nvGrpSpPr>
        <p:grpSpPr>
          <a:xfrm>
            <a:off x="5675046" y="5245745"/>
            <a:ext cx="6355029" cy="1591452"/>
            <a:chOff x="4636821" y="5245745"/>
            <a:chExt cx="6355029" cy="1591452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28E1F6A-A64F-17A8-89AB-85B8CA0E5F94}"/>
                </a:ext>
              </a:extLst>
            </p:cNvPr>
            <p:cNvSpPr/>
            <p:nvPr/>
          </p:nvSpPr>
          <p:spPr>
            <a:xfrm>
              <a:off x="4825532" y="5412434"/>
              <a:ext cx="6166318" cy="1255066"/>
            </a:xfrm>
            <a:prstGeom prst="roundRect">
              <a:avLst>
                <a:gd name="adj" fmla="val 46766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GB" dirty="0"/>
            </a:p>
          </p:txBody>
        </p:sp>
        <p:pic>
          <p:nvPicPr>
            <p:cNvPr id="8" name="Graphic 7" descr="Information with solid fill">
              <a:extLst>
                <a:ext uri="{FF2B5EF4-FFF2-40B4-BE49-F238E27FC236}">
                  <a16:creationId xmlns:a16="http://schemas.microsoft.com/office/drawing/2014/main" id="{E8B07F7C-B6F5-94EC-4C1B-88C5F46335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636821" y="5245745"/>
              <a:ext cx="1591452" cy="1591452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6B7B3C3-782A-BF89-510B-8607900C59CD}"/>
                </a:ext>
              </a:extLst>
            </p:cNvPr>
            <p:cNvSpPr txBox="1"/>
            <p:nvPr/>
          </p:nvSpPr>
          <p:spPr>
            <a:xfrm>
              <a:off x="6228273" y="5565777"/>
              <a:ext cx="4636821" cy="9682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7000"/>
                </a:lnSpc>
              </a:pPr>
              <a:r>
                <a: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Covered in more detail in the following videos:</a:t>
              </a:r>
            </a:p>
            <a:p>
              <a:pPr marL="742950" lvl="1" indent="-285750">
                <a:lnSpc>
                  <a:spcPct val="107000"/>
                </a:lnSpc>
                <a:buFont typeface="Arial" panose="020B0604020202020204" pitchFamily="34" charset="0"/>
                <a:buChar char="•"/>
              </a:pPr>
              <a:r>
                <a:rPr lang="en-GB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7 Decomposition overview</a:t>
              </a:r>
            </a:p>
            <a:p>
              <a:pPr marL="742950" lvl="1" indent="-285750">
                <a:lnSpc>
                  <a:spcPct val="107000"/>
                </a:lnSpc>
                <a:buFont typeface="Arial" panose="020B0604020202020204" pitchFamily="34" charset="0"/>
                <a:buChar char="•"/>
              </a:pPr>
              <a:r>
                <a:rPr lang="en-GB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7 Structure diagrams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8FF14A4E-96DC-391B-67DE-A255B543E8FF}"/>
              </a:ext>
            </a:extLst>
          </p:cNvPr>
          <p:cNvSpPr/>
          <p:nvPr/>
        </p:nvSpPr>
        <p:spPr>
          <a:xfrm>
            <a:off x="8520652" y="504513"/>
            <a:ext cx="3529637" cy="9838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800"/>
              </a:spcAft>
              <a:buClr>
                <a:schemeClr val="tx1"/>
              </a:buClr>
            </a:pPr>
            <a:r>
              <a:rPr lang="en-GB" dirty="0">
                <a:solidFill>
                  <a:schemeClr val="tx1"/>
                </a:solidFill>
              </a:rPr>
              <a:t>Here is a </a:t>
            </a:r>
            <a:r>
              <a:rPr lang="en-GB" b="1" dirty="0">
                <a:solidFill>
                  <a:schemeClr val="tx1"/>
                </a:solidFill>
              </a:rPr>
              <a:t>structure diagram</a:t>
            </a:r>
            <a:r>
              <a:rPr lang="en-GB" dirty="0">
                <a:solidFill>
                  <a:schemeClr val="tx1"/>
                </a:solidFill>
              </a:rPr>
              <a:t>.</a:t>
            </a:r>
          </a:p>
          <a:p>
            <a:pPr>
              <a:spcAft>
                <a:spcPts val="800"/>
              </a:spcAft>
              <a:buClr>
                <a:schemeClr val="tx1"/>
              </a:buClr>
            </a:pPr>
            <a:r>
              <a:rPr lang="en-GB" dirty="0">
                <a:solidFill>
                  <a:schemeClr val="tx1"/>
                </a:solidFill>
              </a:rPr>
              <a:t>This is one just example of applying the analysis and design skill of </a:t>
            </a:r>
            <a:r>
              <a:rPr lang="en-GB" b="1" dirty="0">
                <a:solidFill>
                  <a:schemeClr val="tx1"/>
                </a:solidFill>
              </a:rPr>
              <a:t>decomposition</a:t>
            </a:r>
            <a:r>
              <a:rPr lang="en-GB" dirty="0">
                <a:solidFill>
                  <a:schemeClr val="tx1"/>
                </a:solidFill>
              </a:rPr>
              <a:t> to break a problem down into its various sub-problems.</a:t>
            </a:r>
          </a:p>
        </p:txBody>
      </p:sp>
    </p:spTree>
    <p:extLst>
      <p:ext uri="{BB962C8B-B14F-4D97-AF65-F5344CB8AC3E}">
        <p14:creationId xmlns:p14="http://schemas.microsoft.com/office/powerpoint/2010/main" val="3431491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54906" y="1906568"/>
            <a:ext cx="10841719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Computer systems range from small and simple to large and complex.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Almost all computer systems can be broken down into sub-systems. These sub-systems can typically be broken down into further sub-systems.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Eventually, each sub-system performs a single task or action.</a:t>
            </a:r>
          </a:p>
          <a:p>
            <a:pPr>
              <a:spcAft>
                <a:spcPts val="800"/>
              </a:spcAft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Computer sub-systems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make_notes">
            <a:extLst>
              <a:ext uri="{FF2B5EF4-FFF2-40B4-BE49-F238E27FC236}">
                <a16:creationId xmlns:a16="http://schemas.microsoft.com/office/drawing/2014/main" id="{BD928DFB-A2FA-4A6F-93FA-B0A225CDA1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3151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816</TotalTime>
  <Words>262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149</cp:revision>
  <dcterms:created xsi:type="dcterms:W3CDTF">2019-10-14T15:21:06Z</dcterms:created>
  <dcterms:modified xsi:type="dcterms:W3CDTF">2022-09-15T11:32:57Z</dcterms:modified>
</cp:coreProperties>
</file>