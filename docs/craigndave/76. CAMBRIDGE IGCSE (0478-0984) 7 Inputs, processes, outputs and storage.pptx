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9" r:id="rId3"/>
    <p:sldId id="261" r:id="rId4"/>
    <p:sldId id="262" r:id="rId5"/>
    <p:sldId id="264" r:id="rId6"/>
    <p:sldId id="266" r:id="rId7"/>
    <p:sldId id="267" r:id="rId8"/>
    <p:sldId id="268" r:id="rId9"/>
    <p:sldId id="269" r:id="rId10"/>
    <p:sldId id="270" r:id="rId11"/>
    <p:sldId id="276" r:id="rId12"/>
    <p:sldId id="271" r:id="rId13"/>
    <p:sldId id="272" r:id="rId14"/>
    <p:sldId id="273" r:id="rId15"/>
    <p:sldId id="277" r:id="rId16"/>
    <p:sldId id="278" r:id="rId17"/>
    <p:sldId id="275" r:id="rId18"/>
    <p:sldId id="263" r:id="rId19"/>
    <p:sldId id="29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FFFF"/>
    <a:srgbClr val="B0B0B0"/>
    <a:srgbClr val="F26521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9" autoAdjust="0"/>
    <p:restoredTop sz="94693"/>
  </p:normalViewPr>
  <p:slideViewPr>
    <p:cSldViewPr snapToGrid="0">
      <p:cViewPr varScale="1">
        <p:scale>
          <a:sx n="101" d="100"/>
          <a:sy n="101" d="100"/>
        </p:scale>
        <p:origin x="12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54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06CCC-BDEB-4049-98A7-D8E5CAC3FAAF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3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06CCC-BDEB-4049-98A7-D8E5CAC3FAAF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07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Inputs, processes, outputs and storage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Inputs, processes,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outputs and storage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294702" y="3606990"/>
            <a:ext cx="930523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input…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9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328BBAE-8899-4D67-A645-AA9EDDB12646}"/>
              </a:ext>
            </a:extLst>
          </p:cNvPr>
          <p:cNvSpPr/>
          <p:nvPr/>
        </p:nvSpPr>
        <p:spPr>
          <a:xfrm>
            <a:off x="1294701" y="3606990"/>
            <a:ext cx="958932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input, processes data…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2A887-6BE5-459E-9933-9F4A4219F40C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3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2E715-5044-4AD1-B0B1-0E18BCFD16B7}"/>
              </a:ext>
            </a:extLst>
          </p:cNvPr>
          <p:cNvSpPr/>
          <p:nvPr/>
        </p:nvSpPr>
        <p:spPr>
          <a:xfrm>
            <a:off x="1294702" y="3606990"/>
            <a:ext cx="959819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input, processes data and delivers output.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52DAA-72A5-4D06-AA8A-759B64791405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0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</a:p>
          <a:p>
            <a:pPr algn="ctr"/>
            <a:r>
              <a:rPr lang="en-GB" sz="2400" b="1" i="1" dirty="0"/>
              <a:t>5</a:t>
            </a:r>
            <a:endParaRPr lang="en-GB" b="1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0523C9B-3939-4288-84E3-7826B9F0EE5C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28F98-EA06-4475-8145-31C379AE3737}"/>
              </a:ext>
            </a:extLst>
          </p:cNvPr>
          <p:cNvSpPr/>
          <p:nvPr/>
        </p:nvSpPr>
        <p:spPr>
          <a:xfrm>
            <a:off x="1294702" y="3606990"/>
            <a:ext cx="959819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input, processes data and delivers output.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49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</a:p>
          <a:p>
            <a:pPr algn="ctr"/>
            <a:r>
              <a:rPr lang="en-GB" sz="2400" b="1" i="1" dirty="0"/>
              <a:t>5</a:t>
            </a:r>
            <a:endParaRPr lang="en-GB" b="1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</a:p>
          <a:p>
            <a:pPr algn="ctr"/>
            <a:r>
              <a:rPr lang="en-GB" sz="2400" b="1" i="1" dirty="0"/>
              <a:t>Multiply by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E37FF-13C4-4C33-AE22-D5C488F7AD96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CA375-C4B8-403D-AA86-08DDB0E7C1BE}"/>
              </a:ext>
            </a:extLst>
          </p:cNvPr>
          <p:cNvSpPr/>
          <p:nvPr/>
        </p:nvSpPr>
        <p:spPr>
          <a:xfrm>
            <a:off x="1294702" y="3606990"/>
            <a:ext cx="959819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input, processes data and delivers output.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62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</a:p>
          <a:p>
            <a:pPr algn="ctr"/>
            <a:r>
              <a:rPr lang="en-GB" sz="2400" b="1" i="1" dirty="0"/>
              <a:t>5</a:t>
            </a:r>
            <a:endParaRPr lang="en-GB" b="1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</a:p>
          <a:p>
            <a:pPr algn="ctr"/>
            <a:r>
              <a:rPr lang="en-GB" sz="2400" b="1" i="1" dirty="0"/>
              <a:t>Multiply by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</a:p>
          <a:p>
            <a:pPr algn="ctr"/>
            <a:r>
              <a:rPr lang="en-GB" sz="2400" b="1" i="1" dirty="0"/>
              <a:t>10</a:t>
            </a:r>
            <a:endParaRPr lang="en-GB" b="1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F3A3C18-128E-4042-BB23-0C3744D047A7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E13063-324B-4658-ABE1-91A129137EC6}"/>
              </a:ext>
            </a:extLst>
          </p:cNvPr>
          <p:cNvSpPr/>
          <p:nvPr/>
        </p:nvSpPr>
        <p:spPr>
          <a:xfrm>
            <a:off x="1294702" y="3606990"/>
            <a:ext cx="959819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electronic device that takes input, processes data and delivers output.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7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4EB521B-B0EE-4B7A-8531-5CDBE8834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57" y="3017719"/>
            <a:ext cx="2216987" cy="22169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F1AAB1-F934-45E5-89AD-C13A5400AE4F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84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3A11E8C2-02CE-4D2B-9E3F-525054B3C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57" y="3017719"/>
            <a:ext cx="2216987" cy="2216987"/>
          </a:xfrm>
          <a:prstGeom prst="rect">
            <a:avLst/>
          </a:prstGeom>
        </p:spPr>
      </p:pic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08208792-D11D-4B01-A833-B29A33E30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17" y="3337736"/>
            <a:ext cx="1576951" cy="15769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A817F38-19E9-404F-8314-DBEFBBBEC864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1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0C7211-CE37-4089-AF1C-7308DE9D209B}"/>
              </a:ext>
            </a:extLst>
          </p:cNvPr>
          <p:cNvSpPr/>
          <p:nvPr/>
        </p:nvSpPr>
        <p:spPr>
          <a:xfrm>
            <a:off x="1635658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INPUT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E660-BBAA-4027-A94E-B9A709512FC7}"/>
              </a:ext>
            </a:extLst>
          </p:cNvPr>
          <p:cNvSpPr/>
          <p:nvPr/>
        </p:nvSpPr>
        <p:spPr>
          <a:xfrm>
            <a:off x="4987506" y="2058190"/>
            <a:ext cx="2216987" cy="957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PROCESS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1DF1E-44C8-4A88-BEA2-2FC62D5FEE33}"/>
              </a:ext>
            </a:extLst>
          </p:cNvPr>
          <p:cNvSpPr/>
          <p:nvPr/>
        </p:nvSpPr>
        <p:spPr>
          <a:xfrm>
            <a:off x="8339354" y="2058189"/>
            <a:ext cx="2216987" cy="9578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OUTPUT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B17EB-6D71-4FE9-97DD-957DB95A983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52645" y="2537101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023EF-F213-4969-8E30-22F7A3E1A21C}"/>
              </a:ext>
            </a:extLst>
          </p:cNvPr>
          <p:cNvCxnSpPr/>
          <p:nvPr/>
        </p:nvCxnSpPr>
        <p:spPr>
          <a:xfrm>
            <a:off x="7204493" y="2537099"/>
            <a:ext cx="113486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2062261-BD97-4219-AC34-CD8D32F4E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57" y="3017719"/>
            <a:ext cx="2216987" cy="2216987"/>
          </a:xfrm>
          <a:prstGeom prst="rect">
            <a:avLst/>
          </a:prstGeom>
        </p:spPr>
      </p:pic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6131C443-6920-4D25-A153-56385CE6D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17" y="3337736"/>
            <a:ext cx="1576951" cy="1576951"/>
          </a:xfrm>
          <a:prstGeom prst="rect">
            <a:avLst/>
          </a:prstGeom>
        </p:spPr>
      </p:pic>
      <p:pic>
        <p:nvPicPr>
          <p:cNvPr id="3" name="Picture 2" descr="A picture containing computer&#10;&#10;Description automatically generated">
            <a:extLst>
              <a:ext uri="{FF2B5EF4-FFF2-40B4-BE49-F238E27FC236}">
                <a16:creationId xmlns:a16="http://schemas.microsoft.com/office/drawing/2014/main" id="{EF04773E-3A37-45FF-9D6C-C26A28B4A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54" y="3016009"/>
            <a:ext cx="2216987" cy="22169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804BF49-6F8C-420E-BB31-AC6344B0563C}"/>
              </a:ext>
            </a:extLst>
          </p:cNvPr>
          <p:cNvSpPr/>
          <p:nvPr/>
        </p:nvSpPr>
        <p:spPr>
          <a:xfrm>
            <a:off x="176565" y="523174"/>
            <a:ext cx="39227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7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A54CE2E-3FC3-A44F-6097-E03938994760}"/>
              </a:ext>
            </a:extLst>
          </p:cNvPr>
          <p:cNvGrpSpPr/>
          <p:nvPr/>
        </p:nvGrpSpPr>
        <p:grpSpPr>
          <a:xfrm>
            <a:off x="1635657" y="2058189"/>
            <a:ext cx="8920684" cy="3176517"/>
            <a:chOff x="1635657" y="2058189"/>
            <a:chExt cx="8920684" cy="31765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0C7211-CE37-4089-AF1C-7308DE9D209B}"/>
                </a:ext>
              </a:extLst>
            </p:cNvPr>
            <p:cNvSpPr/>
            <p:nvPr/>
          </p:nvSpPr>
          <p:spPr>
            <a:xfrm>
              <a:off x="1635658" y="2058190"/>
              <a:ext cx="2216987" cy="9578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INPUT</a:t>
              </a:r>
              <a:endParaRPr lang="en-GB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7E660-BBAA-4027-A94E-B9A709512FC7}"/>
                </a:ext>
              </a:extLst>
            </p:cNvPr>
            <p:cNvSpPr/>
            <p:nvPr/>
          </p:nvSpPr>
          <p:spPr>
            <a:xfrm>
              <a:off x="4987506" y="2058190"/>
              <a:ext cx="2216987" cy="9578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PROCESS</a:t>
              </a:r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11DF1E-44C8-4A88-BEA2-2FC62D5FEE33}"/>
                </a:ext>
              </a:extLst>
            </p:cNvPr>
            <p:cNvSpPr/>
            <p:nvPr/>
          </p:nvSpPr>
          <p:spPr>
            <a:xfrm>
              <a:off x="8339354" y="2058189"/>
              <a:ext cx="2216987" cy="957821"/>
            </a:xfrm>
            <a:prstGeom prst="rect">
              <a:avLst/>
            </a:prstGeom>
            <a:solidFill>
              <a:srgbClr val="ED7D3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OUTPUT</a:t>
              </a:r>
              <a:endParaRPr lang="en-GB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EB17EB-6D71-4FE9-97DD-957DB95A9835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>
              <a:off x="3852645" y="2537101"/>
              <a:ext cx="1134861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34023EF-F213-4969-8E30-22F7A3E1A21C}"/>
                </a:ext>
              </a:extLst>
            </p:cNvPr>
            <p:cNvCxnSpPr/>
            <p:nvPr/>
          </p:nvCxnSpPr>
          <p:spPr>
            <a:xfrm>
              <a:off x="7204493" y="2537099"/>
              <a:ext cx="1134861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&#10;&#10;Description automatically generated">
              <a:extLst>
                <a:ext uri="{FF2B5EF4-FFF2-40B4-BE49-F238E27FC236}">
                  <a16:creationId xmlns:a16="http://schemas.microsoft.com/office/drawing/2014/main" id="{C2062261-BD97-4219-AC34-CD8D32F4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5657" y="3017719"/>
              <a:ext cx="2216987" cy="2216987"/>
            </a:xfrm>
            <a:prstGeom prst="rect">
              <a:avLst/>
            </a:prstGeom>
          </p:spPr>
        </p:pic>
        <p:pic>
          <p:nvPicPr>
            <p:cNvPr id="13" name="Picture 1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131C443-6920-4D25-A153-56385CE6D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6017" y="3337736"/>
              <a:ext cx="1576951" cy="1576951"/>
            </a:xfrm>
            <a:prstGeom prst="rect">
              <a:avLst/>
            </a:prstGeom>
          </p:spPr>
        </p:pic>
        <p:pic>
          <p:nvPicPr>
            <p:cNvPr id="3" name="Picture 2" descr="A picture containing computer&#10;&#10;Description automatically generated">
              <a:extLst>
                <a:ext uri="{FF2B5EF4-FFF2-40B4-BE49-F238E27FC236}">
                  <a16:creationId xmlns:a16="http://schemas.microsoft.com/office/drawing/2014/main" id="{EF04773E-3A37-45FF-9D6C-C26A28B4A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9354" y="3016009"/>
              <a:ext cx="2216987" cy="2216987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804BF49-6F8C-420E-BB31-AC6344B0563C}"/>
              </a:ext>
            </a:extLst>
          </p:cNvPr>
          <p:cNvSpPr/>
          <p:nvPr/>
        </p:nvSpPr>
        <p:spPr>
          <a:xfrm>
            <a:off x="176565" y="523174"/>
            <a:ext cx="499104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F5771E-EA1D-D242-5EA7-A1212657952C}"/>
              </a:ext>
            </a:extLst>
          </p:cNvPr>
          <p:cNvGrpSpPr/>
          <p:nvPr/>
        </p:nvGrpSpPr>
        <p:grpSpPr>
          <a:xfrm>
            <a:off x="4026851" y="2124864"/>
            <a:ext cx="2216987" cy="3793357"/>
            <a:chOff x="4026851" y="2124864"/>
            <a:chExt cx="2216987" cy="379335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9363599-3624-6714-6E8E-9D7E0B30630A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5135345" y="2124864"/>
              <a:ext cx="0" cy="2835536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0C0DFC-7BC9-E743-E348-6827FD5EE905}"/>
                </a:ext>
              </a:extLst>
            </p:cNvPr>
            <p:cNvSpPr/>
            <p:nvPr/>
          </p:nvSpPr>
          <p:spPr>
            <a:xfrm>
              <a:off x="4026851" y="4960400"/>
              <a:ext cx="2216987" cy="95782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STORAGE</a:t>
              </a:r>
              <a:endParaRPr lang="en-GB" dirty="0"/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33B7C7A2-E51B-B394-05DE-56977BD6F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099" y="4584667"/>
            <a:ext cx="1709286" cy="170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2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 -0.130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5FCD2FB-9570-4987-AEA7-58635CA3F321}"/>
              </a:ext>
            </a:extLst>
          </p:cNvPr>
          <p:cNvSpPr/>
          <p:nvPr/>
        </p:nvSpPr>
        <p:spPr>
          <a:xfrm>
            <a:off x="176565" y="523174"/>
            <a:ext cx="499104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107282-E89E-406A-984F-CF04D899D8AB}"/>
              </a:ext>
            </a:extLst>
          </p:cNvPr>
          <p:cNvGrpSpPr/>
          <p:nvPr/>
        </p:nvGrpSpPr>
        <p:grpSpPr>
          <a:xfrm>
            <a:off x="5562600" y="523174"/>
            <a:ext cx="2467835" cy="6274988"/>
            <a:chOff x="6355416" y="523174"/>
            <a:chExt cx="2467835" cy="6274988"/>
          </a:xfrm>
        </p:grpSpPr>
        <p:pic>
          <p:nvPicPr>
            <p:cNvPr id="6" name="Picture 5" descr="A close up of a logo&#10;&#10;Description automatically generated">
              <a:extLst>
                <a:ext uri="{FF2B5EF4-FFF2-40B4-BE49-F238E27FC236}">
                  <a16:creationId xmlns:a16="http://schemas.microsoft.com/office/drawing/2014/main" id="{078B53D2-499D-4C7B-80E5-0A7489305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2577" y="523174"/>
              <a:ext cx="2153511" cy="2153511"/>
            </a:xfrm>
            <a:prstGeom prst="rect">
              <a:avLst/>
            </a:prstGeom>
          </p:spPr>
        </p:pic>
        <p:pic>
          <p:nvPicPr>
            <p:cNvPr id="14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658F963B-8A86-46AD-A58F-4ED3D0993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641164" y="4644650"/>
              <a:ext cx="2153512" cy="2153512"/>
            </a:xfrm>
            <a:prstGeom prst="rect">
              <a:avLst/>
            </a:prstGeom>
          </p:spPr>
        </p:pic>
        <p:pic>
          <p:nvPicPr>
            <p:cNvPr id="8" name="Picture 7" descr="A close up of a sign&#10;&#10;Description automatically generated">
              <a:extLst>
                <a:ext uri="{FF2B5EF4-FFF2-40B4-BE49-F238E27FC236}">
                  <a16:creationId xmlns:a16="http://schemas.microsoft.com/office/drawing/2014/main" id="{A401A8FE-F430-4EF3-870A-E5C05486D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5416" y="2491139"/>
              <a:ext cx="2467835" cy="2467835"/>
            </a:xfrm>
            <a:prstGeom prst="rect">
              <a:avLst/>
            </a:prstGeom>
          </p:spPr>
        </p:pic>
      </p:grpSp>
      <p:pic>
        <p:nvPicPr>
          <p:cNvPr id="19" name="Picture 1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C6445AC-6D59-4D63-8F62-BC336A5164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782" y="419100"/>
            <a:ext cx="3662218" cy="6438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946C41-ACDD-4C6F-9197-76F97732A028}"/>
              </a:ext>
            </a:extLst>
          </p:cNvPr>
          <p:cNvSpPr/>
          <p:nvPr/>
        </p:nvSpPr>
        <p:spPr>
          <a:xfrm>
            <a:off x="176564" y="1057547"/>
            <a:ext cx="4729526" cy="16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computer program, we need to be able to identify the inputs, 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rocesses, outputs and storage requirements of the problem.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 exam conditions, this will usually relate to a provided scenario.</a:t>
            </a:r>
          </a:p>
        </p:txBody>
      </p:sp>
    </p:spTree>
    <p:extLst>
      <p:ext uri="{BB962C8B-B14F-4D97-AF65-F5344CB8AC3E}">
        <p14:creationId xmlns:p14="http://schemas.microsoft.com/office/powerpoint/2010/main" val="1623500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4262085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“Write a program to calculate the volume of a fish tank based on its dimensions, and report the result to the user.”</a:t>
            </a:r>
            <a:endParaRPr lang="en-GB" sz="105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6B4392DF-899E-4D57-8AE1-B86027AC9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040107"/>
              </p:ext>
            </p:extLst>
          </p:nvPr>
        </p:nvGraphicFramePr>
        <p:xfrm>
          <a:off x="250317" y="2238839"/>
          <a:ext cx="4188332" cy="263912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49833">
                  <a:extLst>
                    <a:ext uri="{9D8B030D-6E8A-4147-A177-3AD203B41FA5}">
                      <a16:colId xmlns:a16="http://schemas.microsoft.com/office/drawing/2014/main" val="1146320582"/>
                    </a:ext>
                  </a:extLst>
                </a:gridCol>
                <a:gridCol w="3238499">
                  <a:extLst>
                    <a:ext uri="{9D8B030D-6E8A-4147-A177-3AD203B41FA5}">
                      <a16:colId xmlns:a16="http://schemas.microsoft.com/office/drawing/2014/main" val="1852588349"/>
                    </a:ext>
                  </a:extLst>
                </a:gridCol>
              </a:tblGrid>
              <a:tr h="862364">
                <a:tc>
                  <a:txBody>
                    <a:bodyPr/>
                    <a:lstStyle/>
                    <a:p>
                      <a:r>
                        <a:rPr lang="en-GB" b="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  <a:p>
                      <a:endParaRPr lang="en-GB" b="0" dirty="0"/>
                    </a:p>
                    <a:p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72796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82543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77938"/>
                  </a:ext>
                </a:extLst>
              </a:tr>
            </a:tbl>
          </a:graphicData>
        </a:graphic>
      </p:graphicFrame>
      <p:pic>
        <p:nvPicPr>
          <p:cNvPr id="4" name="Picture 3" descr="A picture containing text, electronics, computer, display&#10;&#10;Description automatically generated">
            <a:extLst>
              <a:ext uri="{FF2B5EF4-FFF2-40B4-BE49-F238E27FC236}">
                <a16:creationId xmlns:a16="http://schemas.microsoft.com/office/drawing/2014/main" id="{4E74A41B-C07D-AE18-2E6B-8210A321C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479" y="792083"/>
            <a:ext cx="5553895" cy="555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43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4262085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“Write a program to calculate the volume of a fish tank based on its dimensions, and report the result to the user.”</a:t>
            </a:r>
            <a:endParaRPr lang="en-GB" sz="105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FF669A-6D4A-49A0-999F-07F557509E9F}"/>
              </a:ext>
            </a:extLst>
          </p:cNvPr>
          <p:cNvCxnSpPr>
            <a:cxnSpLocks/>
          </p:cNvCxnSpPr>
          <p:nvPr/>
        </p:nvCxnSpPr>
        <p:spPr>
          <a:xfrm>
            <a:off x="5410479" y="6482448"/>
            <a:ext cx="5553895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903C51-484F-44B4-B5A1-BDB4015BB730}"/>
              </a:ext>
            </a:extLst>
          </p:cNvPr>
          <p:cNvCxnSpPr>
            <a:cxnSpLocks/>
          </p:cNvCxnSpPr>
          <p:nvPr/>
        </p:nvCxnSpPr>
        <p:spPr>
          <a:xfrm>
            <a:off x="11130648" y="1709632"/>
            <a:ext cx="0" cy="463634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B154B6-7255-4F08-BE36-4BAF70FCF4D4}"/>
              </a:ext>
            </a:extLst>
          </p:cNvPr>
          <p:cNvCxnSpPr>
            <a:cxnSpLocks/>
          </p:cNvCxnSpPr>
          <p:nvPr/>
        </p:nvCxnSpPr>
        <p:spPr>
          <a:xfrm>
            <a:off x="10236200" y="758174"/>
            <a:ext cx="595370" cy="570878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DE9D09F-33D0-4FC0-AC48-C1A19C4B805E}"/>
              </a:ext>
            </a:extLst>
          </p:cNvPr>
          <p:cNvSpPr/>
          <p:nvPr/>
        </p:nvSpPr>
        <p:spPr>
          <a:xfrm>
            <a:off x="7821475" y="6482448"/>
            <a:ext cx="8240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2CF3C8-B39B-40B9-92E5-471F3A5B27EB}"/>
              </a:ext>
            </a:extLst>
          </p:cNvPr>
          <p:cNvSpPr/>
          <p:nvPr/>
        </p:nvSpPr>
        <p:spPr>
          <a:xfrm rot="2638878">
            <a:off x="10344818" y="705291"/>
            <a:ext cx="76232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Depth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818F39-A1DF-435B-AD20-9BEFF3507E08}"/>
              </a:ext>
            </a:extLst>
          </p:cNvPr>
          <p:cNvSpPr/>
          <p:nvPr/>
        </p:nvSpPr>
        <p:spPr>
          <a:xfrm rot="5400000">
            <a:off x="10916968" y="3676690"/>
            <a:ext cx="802912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Height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296699B-B244-4A15-B75F-CCAACD24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47345"/>
              </p:ext>
            </p:extLst>
          </p:nvPr>
        </p:nvGraphicFramePr>
        <p:xfrm>
          <a:off x="250317" y="2238839"/>
          <a:ext cx="4188332" cy="263912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49833">
                  <a:extLst>
                    <a:ext uri="{9D8B030D-6E8A-4147-A177-3AD203B41FA5}">
                      <a16:colId xmlns:a16="http://schemas.microsoft.com/office/drawing/2014/main" val="1146320582"/>
                    </a:ext>
                  </a:extLst>
                </a:gridCol>
                <a:gridCol w="3238499">
                  <a:extLst>
                    <a:ext uri="{9D8B030D-6E8A-4147-A177-3AD203B41FA5}">
                      <a16:colId xmlns:a16="http://schemas.microsoft.com/office/drawing/2014/main" val="1852588349"/>
                    </a:ext>
                  </a:extLst>
                </a:gridCol>
              </a:tblGrid>
              <a:tr h="862364">
                <a:tc>
                  <a:txBody>
                    <a:bodyPr/>
                    <a:lstStyle/>
                    <a:p>
                      <a:r>
                        <a:rPr lang="en-GB" b="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Length: Real/float</a:t>
                      </a:r>
                    </a:p>
                    <a:p>
                      <a:r>
                        <a:rPr lang="en-GB" b="0" dirty="0"/>
                        <a:t>Height: Real/float</a:t>
                      </a:r>
                    </a:p>
                    <a:p>
                      <a:r>
                        <a:rPr lang="en-GB" b="0" dirty="0"/>
                        <a:t>Depth: Real/float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72796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Length x Height x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82543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Volume: Real/float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7793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text, electronics, computer, display&#10;&#10;Description automatically generated">
            <a:extLst>
              <a:ext uri="{FF2B5EF4-FFF2-40B4-BE49-F238E27FC236}">
                <a16:creationId xmlns:a16="http://schemas.microsoft.com/office/drawing/2014/main" id="{14E953ED-104B-EBF1-8A01-48308B18F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479" y="792083"/>
            <a:ext cx="5553895" cy="555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3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4350169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“Write a program to calculate the volume </a:t>
            </a:r>
            <a:b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 fish tank based on its dimensions, report the result to the user </a:t>
            </a:r>
            <a:r>
              <a:rPr lang="en-GB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write the results to a text file.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GB" sz="105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FF669A-6D4A-49A0-999F-07F557509E9F}"/>
              </a:ext>
            </a:extLst>
          </p:cNvPr>
          <p:cNvCxnSpPr>
            <a:cxnSpLocks/>
          </p:cNvCxnSpPr>
          <p:nvPr/>
        </p:nvCxnSpPr>
        <p:spPr>
          <a:xfrm>
            <a:off x="5410479" y="6482448"/>
            <a:ext cx="5553895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903C51-484F-44B4-B5A1-BDB4015BB730}"/>
              </a:ext>
            </a:extLst>
          </p:cNvPr>
          <p:cNvCxnSpPr>
            <a:cxnSpLocks/>
          </p:cNvCxnSpPr>
          <p:nvPr/>
        </p:nvCxnSpPr>
        <p:spPr>
          <a:xfrm>
            <a:off x="11130648" y="1709632"/>
            <a:ext cx="0" cy="463634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B154B6-7255-4F08-BE36-4BAF70FCF4D4}"/>
              </a:ext>
            </a:extLst>
          </p:cNvPr>
          <p:cNvCxnSpPr>
            <a:cxnSpLocks/>
          </p:cNvCxnSpPr>
          <p:nvPr/>
        </p:nvCxnSpPr>
        <p:spPr>
          <a:xfrm>
            <a:off x="10236200" y="758174"/>
            <a:ext cx="595370" cy="570878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DE9D09F-33D0-4FC0-AC48-C1A19C4B805E}"/>
              </a:ext>
            </a:extLst>
          </p:cNvPr>
          <p:cNvSpPr/>
          <p:nvPr/>
        </p:nvSpPr>
        <p:spPr>
          <a:xfrm>
            <a:off x="7821475" y="6482448"/>
            <a:ext cx="8240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2CF3C8-B39B-40B9-92E5-471F3A5B27EB}"/>
              </a:ext>
            </a:extLst>
          </p:cNvPr>
          <p:cNvSpPr/>
          <p:nvPr/>
        </p:nvSpPr>
        <p:spPr>
          <a:xfrm rot="2638878">
            <a:off x="10344818" y="705291"/>
            <a:ext cx="76232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Depth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818F39-A1DF-435B-AD20-9BEFF3507E08}"/>
              </a:ext>
            </a:extLst>
          </p:cNvPr>
          <p:cNvSpPr/>
          <p:nvPr/>
        </p:nvSpPr>
        <p:spPr>
          <a:xfrm rot="5400000">
            <a:off x="10916968" y="3676690"/>
            <a:ext cx="802912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Height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296699B-B244-4A15-B75F-CCAACD24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20069"/>
              </p:ext>
            </p:extLst>
          </p:nvPr>
        </p:nvGraphicFramePr>
        <p:xfrm>
          <a:off x="250317" y="2457914"/>
          <a:ext cx="4188332" cy="35014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49833">
                  <a:extLst>
                    <a:ext uri="{9D8B030D-6E8A-4147-A177-3AD203B41FA5}">
                      <a16:colId xmlns:a16="http://schemas.microsoft.com/office/drawing/2014/main" val="1146320582"/>
                    </a:ext>
                  </a:extLst>
                </a:gridCol>
                <a:gridCol w="3238499">
                  <a:extLst>
                    <a:ext uri="{9D8B030D-6E8A-4147-A177-3AD203B41FA5}">
                      <a16:colId xmlns:a16="http://schemas.microsoft.com/office/drawing/2014/main" val="1852588349"/>
                    </a:ext>
                  </a:extLst>
                </a:gridCol>
              </a:tblGrid>
              <a:tr h="862364">
                <a:tc>
                  <a:txBody>
                    <a:bodyPr/>
                    <a:lstStyle/>
                    <a:p>
                      <a:r>
                        <a:rPr lang="en-GB" b="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Length: Real/float</a:t>
                      </a:r>
                    </a:p>
                    <a:p>
                      <a:r>
                        <a:rPr lang="en-GB" b="0" dirty="0"/>
                        <a:t>Height: Real/float</a:t>
                      </a:r>
                    </a:p>
                    <a:p>
                      <a:r>
                        <a:rPr lang="en-GB" b="0" dirty="0"/>
                        <a:t>Depth: Real/float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72796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Length x Height x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82543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Volume: Real/float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77938"/>
                  </a:ext>
                </a:extLst>
              </a:tr>
              <a:tr h="86236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Volume: Real/float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794135"/>
                  </a:ext>
                </a:extLst>
              </a:tr>
            </a:tbl>
          </a:graphicData>
        </a:graphic>
      </p:graphicFrame>
      <p:pic>
        <p:nvPicPr>
          <p:cNvPr id="5" name="Picture 4" descr="A picture containing text, electronics, computer, display&#10;&#10;Description automatically generated">
            <a:extLst>
              <a:ext uri="{FF2B5EF4-FFF2-40B4-BE49-F238E27FC236}">
                <a16:creationId xmlns:a16="http://schemas.microsoft.com/office/drawing/2014/main" id="{14E953ED-104B-EBF1-8A01-48308B18F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479" y="792083"/>
            <a:ext cx="5553895" cy="555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96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5919436" cy="1479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7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“Write a program that asks the user for the number of students in their class and then prompts the user to enter each student’s test score within a range of 0–100. The program should then output the highest, lowest and average score to the user as well as saving there highest score to a file for future retrieval.”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296699B-B244-4A15-B75F-CCAACD24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78167"/>
              </p:ext>
            </p:extLst>
          </p:nvPr>
        </p:nvGraphicFramePr>
        <p:xfrm>
          <a:off x="250316" y="2943689"/>
          <a:ext cx="5845683" cy="375238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25688">
                  <a:extLst>
                    <a:ext uri="{9D8B030D-6E8A-4147-A177-3AD203B41FA5}">
                      <a16:colId xmlns:a16="http://schemas.microsoft.com/office/drawing/2014/main" val="1146320582"/>
                    </a:ext>
                  </a:extLst>
                </a:gridCol>
                <a:gridCol w="4519995">
                  <a:extLst>
                    <a:ext uri="{9D8B030D-6E8A-4147-A177-3AD203B41FA5}">
                      <a16:colId xmlns:a16="http://schemas.microsoft.com/office/drawing/2014/main" val="1852588349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r>
                        <a:rPr lang="en-GB" b="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572796"/>
                  </a:ext>
                </a:extLst>
              </a:tr>
              <a:tr h="1568754"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82543"/>
                  </a:ext>
                </a:extLst>
              </a:tr>
              <a:tr h="980471"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77938"/>
                  </a:ext>
                </a:extLst>
              </a:tr>
              <a:tr h="516830">
                <a:tc>
                  <a:txBody>
                    <a:bodyPr/>
                    <a:lstStyle/>
                    <a:p>
                      <a:r>
                        <a:rPr lang="en-GB" dirty="0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66153"/>
                  </a:ext>
                </a:extLst>
              </a:tr>
            </a:tbl>
          </a:graphicData>
        </a:graphic>
      </p:graphicFrame>
      <p:pic>
        <p:nvPicPr>
          <p:cNvPr id="5" name="Picture 4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A0427A2B-61A0-45E5-A572-ED6C76143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50" y="627199"/>
            <a:ext cx="5848350" cy="586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3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057547"/>
            <a:ext cx="5919436" cy="1479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7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“Write a program that asks the user for the number of students in their class and then prompts the user to enter each student’s test score within a range of 0–100. The program should then output the highest, lowest and average score to the user as well as saving there highest score to a file for future retrieval.”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processes, outputs and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296699B-B244-4A15-B75F-CCAACD24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079513"/>
              </p:ext>
            </p:extLst>
          </p:nvPr>
        </p:nvGraphicFramePr>
        <p:xfrm>
          <a:off x="250316" y="2943689"/>
          <a:ext cx="5845683" cy="375238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25688">
                  <a:extLst>
                    <a:ext uri="{9D8B030D-6E8A-4147-A177-3AD203B41FA5}">
                      <a16:colId xmlns:a16="http://schemas.microsoft.com/office/drawing/2014/main" val="1146320582"/>
                    </a:ext>
                  </a:extLst>
                </a:gridCol>
                <a:gridCol w="4519995">
                  <a:extLst>
                    <a:ext uri="{9D8B030D-6E8A-4147-A177-3AD203B41FA5}">
                      <a16:colId xmlns:a16="http://schemas.microsoft.com/office/drawing/2014/main" val="1852588349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r>
                        <a:rPr lang="en-GB" b="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NumOfStudents: Integer</a:t>
                      </a:r>
                    </a:p>
                    <a:p>
                      <a:r>
                        <a:rPr lang="en-GB" b="0" dirty="0"/>
                        <a:t>CurrentScore: 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572796"/>
                  </a:ext>
                </a:extLst>
              </a:tr>
              <a:tr h="1568754">
                <a:tc>
                  <a:txBody>
                    <a:bodyPr/>
                    <a:lstStyle/>
                    <a:p>
                      <a:r>
                        <a:rPr lang="en-GB" dirty="0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TotalScore = TotalScore + CurrentScore</a:t>
                      </a:r>
                    </a:p>
                    <a:p>
                      <a:r>
                        <a:rPr lang="en-GB" dirty="0"/>
                        <a:t>AverageScore = TotalScore / NumOfStudents</a:t>
                      </a:r>
                    </a:p>
                    <a:p>
                      <a:r>
                        <a:rPr lang="en-GB" dirty="0"/>
                        <a:t>Store the list of scores in an array: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Loop through and return the lowest score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Loop through and return the highest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82543"/>
                  </a:ext>
                </a:extLst>
              </a:tr>
              <a:tr h="980471">
                <a:tc>
                  <a:txBody>
                    <a:bodyPr/>
                    <a:lstStyle/>
                    <a:p>
                      <a:r>
                        <a:rPr lang="en-GB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LowScore: Integer</a:t>
                      </a:r>
                    </a:p>
                    <a:p>
                      <a:r>
                        <a:rPr lang="en-GB" dirty="0"/>
                        <a:t>HighScore: Integer</a:t>
                      </a:r>
                    </a:p>
                    <a:p>
                      <a:r>
                        <a:rPr lang="en-GB" dirty="0"/>
                        <a:t>AverageScore: Real/float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77938"/>
                  </a:ext>
                </a:extLst>
              </a:tr>
              <a:tr h="516830">
                <a:tc>
                  <a:txBody>
                    <a:bodyPr/>
                    <a:lstStyle/>
                    <a:p>
                      <a:r>
                        <a:rPr lang="en-GB" dirty="0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HighScore: 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766153"/>
                  </a:ext>
                </a:extLst>
              </a:tr>
            </a:tbl>
          </a:graphicData>
        </a:graphic>
      </p:graphicFrame>
      <p:pic>
        <p:nvPicPr>
          <p:cNvPr id="5" name="Picture 4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A0427A2B-61A0-45E5-A572-ED6C76143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50" y="627199"/>
            <a:ext cx="5848350" cy="586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78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678947" cy="407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tackling a problem, you need to consider any inputs, processes and outputs.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Anything that needs to be supplied to the program so it can meet its goals – often supplied by the user.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an appropriate variable name and data type for inputs.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Calculations that need to be performed while the program is running.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whether any data need to change format or data type.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what your program needs to output to the user.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what form outputs should take.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an appropriate variable name and data type for outputs.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any data that needs to be stored in files on an appropriate medium for use or retrieval in the future.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Inputs, processes and outputs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F01950FE-33B2-66EC-785D-FDE3FF5A5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081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728</Words>
  <Application>Microsoft Office PowerPoint</Application>
  <PresentationFormat>Widescreen</PresentationFormat>
  <Paragraphs>129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146</cp:revision>
  <dcterms:created xsi:type="dcterms:W3CDTF">2019-10-14T15:21:06Z</dcterms:created>
  <dcterms:modified xsi:type="dcterms:W3CDTF">2022-08-25T14:03:37Z</dcterms:modified>
</cp:coreProperties>
</file>