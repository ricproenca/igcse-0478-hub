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3" r:id="rId3"/>
    <p:sldId id="264" r:id="rId4"/>
    <p:sldId id="288" r:id="rId5"/>
    <p:sldId id="289" r:id="rId6"/>
    <p:sldId id="290" r:id="rId7"/>
    <p:sldId id="298" r:id="rId8"/>
    <p:sldId id="297" r:id="rId9"/>
    <p:sldId id="291" r:id="rId10"/>
    <p:sldId id="292" r:id="rId11"/>
    <p:sldId id="293" r:id="rId12"/>
    <p:sldId id="294" r:id="rId13"/>
    <p:sldId id="295" r:id="rId14"/>
    <p:sldId id="299" r:id="rId15"/>
    <p:sldId id="300" r:id="rId16"/>
    <p:sldId id="265" r:id="rId17"/>
    <p:sldId id="275" r:id="rId18"/>
    <p:sldId id="276" r:id="rId19"/>
    <p:sldId id="277" r:id="rId20"/>
    <p:sldId id="278" r:id="rId21"/>
    <p:sldId id="30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ED7D31"/>
    <a:srgbClr val="4472C4"/>
    <a:srgbClr val="F26521"/>
    <a:srgbClr val="FFFFFF"/>
    <a:srgbClr val="0087B1"/>
    <a:srgbClr val="000956"/>
    <a:srgbClr val="99E265"/>
    <a:srgbClr val="008C8C"/>
    <a:srgbClr val="00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77" autoAdjust="0"/>
    <p:restoredTop sz="94693"/>
  </p:normalViewPr>
  <p:slideViewPr>
    <p:cSldViewPr snapToGrid="0">
      <p:cViewPr varScale="1">
        <p:scale>
          <a:sx n="101" d="100"/>
          <a:sy n="101" d="100"/>
        </p:scale>
        <p:origin x="96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7 Algorithm design and problem-solving | Linear search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1.png"/><Relationship Id="rId5" Type="http://schemas.openxmlformats.org/officeDocument/2006/relationships/image" Target="../media/image10.tmp"/><Relationship Id="rId4" Type="http://schemas.openxmlformats.org/officeDocument/2006/relationships/image" Target="../media/image9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7 Algorithm design and problem-solving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Linear search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252145" y="1878126"/>
            <a:ext cx="4511059" cy="2410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beginning of a data set, each item is checked in turn to see if it is the one being searched for.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linear search: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Doesn’t require data to be in order.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on any type of storage device.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efficient for small data sets.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very inefficient for large data sets.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A4B8F7-9BBE-44BA-B7A5-ECCB9178AB57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B79901-181C-4B3E-AC0D-ED716E76A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8056" y="871296"/>
            <a:ext cx="7873944" cy="4929089"/>
          </a:xfrm>
          <a:prstGeom prst="rect">
            <a:avLst/>
          </a:prstGeom>
        </p:spPr>
      </p:pic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A469626E-2761-E839-2EB6-83CB58E68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1F2C891-4521-B630-93F1-982212A78088}"/>
              </a:ext>
            </a:extLst>
          </p:cNvPr>
          <p:cNvGrpSpPr/>
          <p:nvPr/>
        </p:nvGrpSpPr>
        <p:grpSpPr>
          <a:xfrm>
            <a:off x="411122" y="5364330"/>
            <a:ext cx="6198813" cy="1256789"/>
            <a:chOff x="411122" y="5364330"/>
            <a:chExt cx="6198813" cy="12567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38D906A-FF7B-09F4-ADD4-D1A76EF56E94}"/>
                </a:ext>
              </a:extLst>
            </p:cNvPr>
            <p:cNvSpPr/>
            <p:nvPr/>
          </p:nvSpPr>
          <p:spPr>
            <a:xfrm>
              <a:off x="443617" y="5366053"/>
              <a:ext cx="6166318" cy="1255066"/>
            </a:xfrm>
            <a:prstGeom prst="roundRect">
              <a:avLst>
                <a:gd name="adj" fmla="val 4676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689C39-A2EA-B571-A1C2-920AC702651D}"/>
                </a:ext>
              </a:extLst>
            </p:cNvPr>
            <p:cNvSpPr txBox="1"/>
            <p:nvPr/>
          </p:nvSpPr>
          <p:spPr>
            <a:xfrm>
              <a:off x="1846359" y="5519396"/>
              <a:ext cx="445222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Linear search </a:t>
              </a:r>
              <a:r>
                <a: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is covered in detail with fully coded examples from page 146 of our book – more information at the end of this video</a:t>
              </a:r>
              <a:r>
                <a:rPr lang="en-GB" dirty="0">
                  <a:solidFill>
                    <a:schemeClr val="accent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E70D9DB-128C-DA47-BC35-1AE70233E5A4}"/>
                </a:ext>
              </a:extLst>
            </p:cNvPr>
            <p:cNvSpPr/>
            <p:nvPr/>
          </p:nvSpPr>
          <p:spPr>
            <a:xfrm>
              <a:off x="411122" y="5364330"/>
              <a:ext cx="1255066" cy="1255066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2" name="Graphic 11" descr="Open book with solid fill">
              <a:extLst>
                <a:ext uri="{FF2B5EF4-FFF2-40B4-BE49-F238E27FC236}">
                  <a16:creationId xmlns:a16="http://schemas.microsoft.com/office/drawing/2014/main" id="{762F48DA-28A2-887D-1E68-C4F591765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0470" y="5519396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246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3D898-F281-45C2-972B-28674FEF9A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63E85AB-B6BD-4D2B-BE08-DAE2B39A1607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word search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174415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4BF398E-4250-4ED6-BB59-6079D709C98A}"/>
              </a:ext>
            </a:extLst>
          </p:cNvPr>
          <p:cNvSpPr/>
          <p:nvPr/>
        </p:nvSpPr>
        <p:spPr>
          <a:xfrm>
            <a:off x="9716209" y="446611"/>
            <a:ext cx="254945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Algorithms word search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Bubble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Flow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Insertion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3D898-F281-45C2-972B-28674FEF9A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07" y="950464"/>
            <a:ext cx="7468247" cy="59075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5115ABA-441E-4B80-8131-A529654D42DF}"/>
              </a:ext>
            </a:extLst>
          </p:cNvPr>
          <p:cNvSpPr/>
          <p:nvPr/>
        </p:nvSpPr>
        <p:spPr>
          <a:xfrm>
            <a:off x="9716209" y="1595535"/>
            <a:ext cx="1489856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10B470-904C-48CC-AFB1-2B5DB417BB92}"/>
              </a:ext>
            </a:extLst>
          </p:cNvPr>
          <p:cNvSpPr/>
          <p:nvPr/>
        </p:nvSpPr>
        <p:spPr>
          <a:xfrm>
            <a:off x="10041261" y="1595535"/>
            <a:ext cx="222414" cy="27991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CA63D-4522-41DF-BB5C-951886BB9566}"/>
              </a:ext>
            </a:extLst>
          </p:cNvPr>
          <p:cNvSpPr/>
          <p:nvPr/>
        </p:nvSpPr>
        <p:spPr>
          <a:xfrm>
            <a:off x="230085" y="1039829"/>
            <a:ext cx="217784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D590AD-F38B-476A-AE5D-4D36776D8EA7}"/>
              </a:ext>
            </a:extLst>
          </p:cNvPr>
          <p:cNvSpPr/>
          <p:nvPr/>
        </p:nvSpPr>
        <p:spPr>
          <a:xfrm>
            <a:off x="727718" y="1039829"/>
            <a:ext cx="217784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6F20B1BA-C7B9-4765-903F-DC11AA5D8CC4}"/>
              </a:ext>
            </a:extLst>
          </p:cNvPr>
          <p:cNvSpPr/>
          <p:nvPr/>
        </p:nvSpPr>
        <p:spPr>
          <a:xfrm rot="5400000">
            <a:off x="410787" y="1084002"/>
            <a:ext cx="340473" cy="471489"/>
          </a:xfrm>
          <a:prstGeom prst="arc">
            <a:avLst>
              <a:gd name="adj1" fmla="val 16200000"/>
              <a:gd name="adj2" fmla="val 5457843"/>
            </a:avLst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076CB3-5010-4EE5-B674-B5C4C3AD09AD}"/>
              </a:ext>
            </a:extLst>
          </p:cNvPr>
          <p:cNvSpPr/>
          <p:nvPr/>
        </p:nvSpPr>
        <p:spPr>
          <a:xfrm>
            <a:off x="1225351" y="1039829"/>
            <a:ext cx="217784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28AA7-9270-4FF4-ADFA-BBF5A504F1DC}"/>
              </a:ext>
            </a:extLst>
          </p:cNvPr>
          <p:cNvSpPr/>
          <p:nvPr/>
        </p:nvSpPr>
        <p:spPr>
          <a:xfrm>
            <a:off x="1722984" y="1039829"/>
            <a:ext cx="217784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337D87-0303-4FF6-BCAC-44725EF94FBA}"/>
              </a:ext>
            </a:extLst>
          </p:cNvPr>
          <p:cNvSpPr/>
          <p:nvPr/>
        </p:nvSpPr>
        <p:spPr>
          <a:xfrm>
            <a:off x="2237334" y="1039829"/>
            <a:ext cx="217784" cy="27991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EA7DF816-4BC8-4739-AFA6-E3AA095C2B3E}"/>
              </a:ext>
            </a:extLst>
          </p:cNvPr>
          <p:cNvSpPr/>
          <p:nvPr/>
        </p:nvSpPr>
        <p:spPr>
          <a:xfrm rot="5400000">
            <a:off x="908097" y="1086383"/>
            <a:ext cx="340473" cy="471489"/>
          </a:xfrm>
          <a:prstGeom prst="arc">
            <a:avLst>
              <a:gd name="adj1" fmla="val 16200000"/>
              <a:gd name="adj2" fmla="val 5457843"/>
            </a:avLst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F70C1B3C-0D65-4FBF-9C54-554D79AB4231}"/>
              </a:ext>
            </a:extLst>
          </p:cNvPr>
          <p:cNvSpPr/>
          <p:nvPr/>
        </p:nvSpPr>
        <p:spPr>
          <a:xfrm rot="5400000">
            <a:off x="1412823" y="1086382"/>
            <a:ext cx="340473" cy="471489"/>
          </a:xfrm>
          <a:prstGeom prst="arc">
            <a:avLst>
              <a:gd name="adj1" fmla="val 16200000"/>
              <a:gd name="adj2" fmla="val 5457843"/>
            </a:avLst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901B1E28-E568-4A22-AAA1-6668396E0674}"/>
              </a:ext>
            </a:extLst>
          </p:cNvPr>
          <p:cNvSpPr/>
          <p:nvPr/>
        </p:nvSpPr>
        <p:spPr>
          <a:xfrm rot="5400000">
            <a:off x="1940245" y="1086383"/>
            <a:ext cx="340473" cy="471489"/>
          </a:xfrm>
          <a:prstGeom prst="arc">
            <a:avLst>
              <a:gd name="adj1" fmla="val 16200000"/>
              <a:gd name="adj2" fmla="val 5457843"/>
            </a:avLst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743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A59D17-4BBA-49B2-8403-F6C0BF00D853}"/>
              </a:ext>
            </a:extLst>
          </p:cNvPr>
          <p:cNvSpPr/>
          <p:nvPr/>
        </p:nvSpPr>
        <p:spPr>
          <a:xfrm>
            <a:off x="176564" y="993174"/>
            <a:ext cx="32524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perform simple linear searches every day of our lives – e.g., looking for your favourite breakfast cereal on the shelves at the supermarket.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F1969C6-6E05-4DEB-A371-9F39A4F9B92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56454" y="405011"/>
            <a:ext cx="8644877" cy="6462320"/>
          </a:xfrm>
          <a:prstGeom prst="rect">
            <a:avLst/>
          </a:prstGeom>
        </p:spPr>
      </p:pic>
      <p:sp>
        <p:nvSpPr>
          <p:cNvPr id="42" name="Arc 41">
            <a:extLst>
              <a:ext uri="{FF2B5EF4-FFF2-40B4-BE49-F238E27FC236}">
                <a16:creationId xmlns:a16="http://schemas.microsoft.com/office/drawing/2014/main" id="{6D212F2C-7F7C-4E4A-A340-F153A4035F52}"/>
              </a:ext>
            </a:extLst>
          </p:cNvPr>
          <p:cNvSpPr/>
          <p:nvPr/>
        </p:nvSpPr>
        <p:spPr>
          <a:xfrm rot="11540661">
            <a:off x="6905865" y="2526041"/>
            <a:ext cx="326234" cy="564019"/>
          </a:xfrm>
          <a:prstGeom prst="arc">
            <a:avLst>
              <a:gd name="adj1" fmla="val 10512562"/>
              <a:gd name="adj2" fmla="val 0"/>
            </a:avLst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AF06A06E-1BE5-4A66-9C94-C37D3EDA82C4}"/>
              </a:ext>
            </a:extLst>
          </p:cNvPr>
          <p:cNvSpPr/>
          <p:nvPr/>
        </p:nvSpPr>
        <p:spPr>
          <a:xfrm rot="11540661">
            <a:off x="7359363" y="2589540"/>
            <a:ext cx="326234" cy="564019"/>
          </a:xfrm>
          <a:prstGeom prst="arc">
            <a:avLst>
              <a:gd name="adj1" fmla="val 10512562"/>
              <a:gd name="adj2" fmla="val 0"/>
            </a:avLst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62A2F7F1-CDB3-4B83-88BD-D54D160199DA}"/>
              </a:ext>
            </a:extLst>
          </p:cNvPr>
          <p:cNvSpPr/>
          <p:nvPr/>
        </p:nvSpPr>
        <p:spPr>
          <a:xfrm rot="11540661">
            <a:off x="7798635" y="2656216"/>
            <a:ext cx="326234" cy="564019"/>
          </a:xfrm>
          <a:prstGeom prst="arc">
            <a:avLst>
              <a:gd name="adj1" fmla="val 10512562"/>
              <a:gd name="adj2" fmla="val 0"/>
            </a:avLst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8FD9D5E2-CE4F-4F73-8E25-C5E6E1BA178D}"/>
              </a:ext>
            </a:extLst>
          </p:cNvPr>
          <p:cNvSpPr/>
          <p:nvPr/>
        </p:nvSpPr>
        <p:spPr>
          <a:xfrm rot="11540661">
            <a:off x="8263615" y="2719715"/>
            <a:ext cx="326234" cy="564019"/>
          </a:xfrm>
          <a:prstGeom prst="arc">
            <a:avLst>
              <a:gd name="adj1" fmla="val 10512562"/>
              <a:gd name="adj2" fmla="val 0"/>
            </a:avLst>
          </a:prstGeom>
          <a:ln w="5715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AAB348-6227-4103-9EAE-7B4700B64436}"/>
              </a:ext>
            </a:extLst>
          </p:cNvPr>
          <p:cNvGrpSpPr/>
          <p:nvPr/>
        </p:nvGrpSpPr>
        <p:grpSpPr>
          <a:xfrm>
            <a:off x="6779530" y="1919839"/>
            <a:ext cx="2124075" cy="1108075"/>
            <a:chOff x="447358" y="2022475"/>
            <a:chExt cx="2124075" cy="1108075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D4D6A5A-0FC0-49B6-A249-3E8362211CEE}"/>
                </a:ext>
              </a:extLst>
            </p:cNvPr>
            <p:cNvSpPr/>
            <p:nvPr/>
          </p:nvSpPr>
          <p:spPr>
            <a:xfrm>
              <a:off x="447358" y="2022475"/>
              <a:ext cx="346075" cy="869950"/>
            </a:xfrm>
            <a:custGeom>
              <a:avLst/>
              <a:gdLst>
                <a:gd name="connsiteX0" fmla="*/ 0 w 346075"/>
                <a:gd name="connsiteY0" fmla="*/ 0 h 869950"/>
                <a:gd name="connsiteX1" fmla="*/ 339725 w 346075"/>
                <a:gd name="connsiteY1" fmla="*/ 12700 h 869950"/>
                <a:gd name="connsiteX2" fmla="*/ 346075 w 346075"/>
                <a:gd name="connsiteY2" fmla="*/ 869950 h 869950"/>
                <a:gd name="connsiteX3" fmla="*/ 6350 w 346075"/>
                <a:gd name="connsiteY3" fmla="*/ 822325 h 869950"/>
                <a:gd name="connsiteX4" fmla="*/ 0 w 346075"/>
                <a:gd name="connsiteY4" fmla="*/ 0 h 86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075" h="869950">
                  <a:moveTo>
                    <a:pt x="0" y="0"/>
                  </a:moveTo>
                  <a:lnTo>
                    <a:pt x="339725" y="12700"/>
                  </a:lnTo>
                  <a:cubicBezTo>
                    <a:pt x="341842" y="298450"/>
                    <a:pt x="343958" y="584200"/>
                    <a:pt x="346075" y="869950"/>
                  </a:cubicBezTo>
                  <a:lnTo>
                    <a:pt x="6350" y="822325"/>
                  </a:lnTo>
                  <a:cubicBezTo>
                    <a:pt x="4233" y="548217"/>
                    <a:pt x="2117" y="274108"/>
                    <a:pt x="0" y="0"/>
                  </a:cubicBezTo>
                  <a:close/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A1F3254-1BDB-4564-9093-907E46BDB7AE}"/>
                </a:ext>
              </a:extLst>
            </p:cNvPr>
            <p:cNvSpPr/>
            <p:nvPr/>
          </p:nvSpPr>
          <p:spPr>
            <a:xfrm>
              <a:off x="818833" y="2044700"/>
              <a:ext cx="346075" cy="898525"/>
            </a:xfrm>
            <a:custGeom>
              <a:avLst/>
              <a:gdLst>
                <a:gd name="connsiteX0" fmla="*/ 0 w 346075"/>
                <a:gd name="connsiteY0" fmla="*/ 0 h 869950"/>
                <a:gd name="connsiteX1" fmla="*/ 339725 w 346075"/>
                <a:gd name="connsiteY1" fmla="*/ 12700 h 869950"/>
                <a:gd name="connsiteX2" fmla="*/ 346075 w 346075"/>
                <a:gd name="connsiteY2" fmla="*/ 869950 h 869950"/>
                <a:gd name="connsiteX3" fmla="*/ 6350 w 346075"/>
                <a:gd name="connsiteY3" fmla="*/ 822325 h 869950"/>
                <a:gd name="connsiteX4" fmla="*/ 0 w 346075"/>
                <a:gd name="connsiteY4" fmla="*/ 0 h 86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075" h="869950">
                  <a:moveTo>
                    <a:pt x="0" y="0"/>
                  </a:moveTo>
                  <a:lnTo>
                    <a:pt x="339725" y="12700"/>
                  </a:lnTo>
                  <a:cubicBezTo>
                    <a:pt x="341842" y="298450"/>
                    <a:pt x="343958" y="584200"/>
                    <a:pt x="346075" y="869950"/>
                  </a:cubicBezTo>
                  <a:lnTo>
                    <a:pt x="6350" y="822325"/>
                  </a:lnTo>
                  <a:cubicBezTo>
                    <a:pt x="4233" y="548217"/>
                    <a:pt x="2117" y="274108"/>
                    <a:pt x="0" y="0"/>
                  </a:cubicBezTo>
                  <a:close/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ECD25B6-CA17-4D60-9CFA-DD6340B0E5E9}"/>
                </a:ext>
              </a:extLst>
            </p:cNvPr>
            <p:cNvSpPr/>
            <p:nvPr/>
          </p:nvSpPr>
          <p:spPr>
            <a:xfrm>
              <a:off x="1190308" y="2057400"/>
              <a:ext cx="406400" cy="946150"/>
            </a:xfrm>
            <a:custGeom>
              <a:avLst/>
              <a:gdLst>
                <a:gd name="connsiteX0" fmla="*/ 0 w 346075"/>
                <a:gd name="connsiteY0" fmla="*/ 0 h 869950"/>
                <a:gd name="connsiteX1" fmla="*/ 339725 w 346075"/>
                <a:gd name="connsiteY1" fmla="*/ 12700 h 869950"/>
                <a:gd name="connsiteX2" fmla="*/ 346075 w 346075"/>
                <a:gd name="connsiteY2" fmla="*/ 869950 h 869950"/>
                <a:gd name="connsiteX3" fmla="*/ 6350 w 346075"/>
                <a:gd name="connsiteY3" fmla="*/ 822325 h 869950"/>
                <a:gd name="connsiteX4" fmla="*/ 0 w 346075"/>
                <a:gd name="connsiteY4" fmla="*/ 0 h 86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075" h="869950">
                  <a:moveTo>
                    <a:pt x="0" y="0"/>
                  </a:moveTo>
                  <a:lnTo>
                    <a:pt x="339725" y="12700"/>
                  </a:lnTo>
                  <a:cubicBezTo>
                    <a:pt x="341842" y="298450"/>
                    <a:pt x="343958" y="584200"/>
                    <a:pt x="346075" y="869950"/>
                  </a:cubicBezTo>
                  <a:lnTo>
                    <a:pt x="6350" y="822325"/>
                  </a:lnTo>
                  <a:cubicBezTo>
                    <a:pt x="4233" y="548217"/>
                    <a:pt x="2117" y="274108"/>
                    <a:pt x="0" y="0"/>
                  </a:cubicBezTo>
                  <a:close/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94A3F29-C593-4438-B4EB-828A445DFFCB}"/>
                </a:ext>
              </a:extLst>
            </p:cNvPr>
            <p:cNvSpPr/>
            <p:nvPr/>
          </p:nvSpPr>
          <p:spPr>
            <a:xfrm>
              <a:off x="1622108" y="2063750"/>
              <a:ext cx="406400" cy="1003300"/>
            </a:xfrm>
            <a:custGeom>
              <a:avLst/>
              <a:gdLst>
                <a:gd name="connsiteX0" fmla="*/ 0 w 346075"/>
                <a:gd name="connsiteY0" fmla="*/ 0 h 869950"/>
                <a:gd name="connsiteX1" fmla="*/ 339725 w 346075"/>
                <a:gd name="connsiteY1" fmla="*/ 12700 h 869950"/>
                <a:gd name="connsiteX2" fmla="*/ 346075 w 346075"/>
                <a:gd name="connsiteY2" fmla="*/ 869950 h 869950"/>
                <a:gd name="connsiteX3" fmla="*/ 6350 w 346075"/>
                <a:gd name="connsiteY3" fmla="*/ 822325 h 869950"/>
                <a:gd name="connsiteX4" fmla="*/ 0 w 346075"/>
                <a:gd name="connsiteY4" fmla="*/ 0 h 86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075" h="869950">
                  <a:moveTo>
                    <a:pt x="0" y="0"/>
                  </a:moveTo>
                  <a:lnTo>
                    <a:pt x="339725" y="12700"/>
                  </a:lnTo>
                  <a:cubicBezTo>
                    <a:pt x="341842" y="298450"/>
                    <a:pt x="343958" y="584200"/>
                    <a:pt x="346075" y="869950"/>
                  </a:cubicBezTo>
                  <a:lnTo>
                    <a:pt x="6350" y="822325"/>
                  </a:lnTo>
                  <a:cubicBezTo>
                    <a:pt x="4233" y="548217"/>
                    <a:pt x="2117" y="274108"/>
                    <a:pt x="0" y="0"/>
                  </a:cubicBezTo>
                  <a:close/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1C8CB5-1611-4095-8BD0-8CEB30D2A802}"/>
                </a:ext>
              </a:extLst>
            </p:cNvPr>
            <p:cNvSpPr/>
            <p:nvPr/>
          </p:nvSpPr>
          <p:spPr>
            <a:xfrm>
              <a:off x="2056959" y="2070100"/>
              <a:ext cx="514474" cy="1060450"/>
            </a:xfrm>
            <a:custGeom>
              <a:avLst/>
              <a:gdLst>
                <a:gd name="connsiteX0" fmla="*/ 0 w 346075"/>
                <a:gd name="connsiteY0" fmla="*/ 0 h 869950"/>
                <a:gd name="connsiteX1" fmla="*/ 339725 w 346075"/>
                <a:gd name="connsiteY1" fmla="*/ 12700 h 869950"/>
                <a:gd name="connsiteX2" fmla="*/ 346075 w 346075"/>
                <a:gd name="connsiteY2" fmla="*/ 869950 h 869950"/>
                <a:gd name="connsiteX3" fmla="*/ 6350 w 346075"/>
                <a:gd name="connsiteY3" fmla="*/ 822325 h 869950"/>
                <a:gd name="connsiteX4" fmla="*/ 0 w 346075"/>
                <a:gd name="connsiteY4" fmla="*/ 0 h 869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075" h="869950">
                  <a:moveTo>
                    <a:pt x="0" y="0"/>
                  </a:moveTo>
                  <a:lnTo>
                    <a:pt x="339725" y="12700"/>
                  </a:lnTo>
                  <a:cubicBezTo>
                    <a:pt x="341842" y="298450"/>
                    <a:pt x="343958" y="584200"/>
                    <a:pt x="346075" y="869950"/>
                  </a:cubicBezTo>
                  <a:lnTo>
                    <a:pt x="6350" y="822325"/>
                  </a:lnTo>
                  <a:cubicBezTo>
                    <a:pt x="4233" y="548217"/>
                    <a:pt x="2117" y="274108"/>
                    <a:pt x="0" y="0"/>
                  </a:cubicBezTo>
                  <a:close/>
                </a:path>
              </a:pathLst>
            </a:cu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47146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CD83773D-7A39-3064-0F6E-F5C20724D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-1" y="1010764"/>
            <a:ext cx="6662055" cy="29416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8972A-7D12-530A-E3E5-0C632DF8E9C4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32D472-CDCF-12D0-C445-55925669624A}"/>
              </a:ext>
            </a:extLst>
          </p:cNvPr>
          <p:cNvCxnSpPr/>
          <p:nvPr/>
        </p:nvCxnSpPr>
        <p:spPr>
          <a:xfrm>
            <a:off x="6858000" y="419100"/>
            <a:ext cx="0" cy="64389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0" y="897148"/>
            <a:ext cx="486727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have declared a function called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linearSearch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that takes in two parameters.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is an array of data items called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second is the item we are going to be searching for in the array, called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item_to_find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09BC230-0D52-7A07-6CC5-D888DECB31BE}"/>
              </a:ext>
            </a:extLst>
          </p:cNvPr>
          <p:cNvSpPr/>
          <p:nvPr/>
        </p:nvSpPr>
        <p:spPr>
          <a:xfrm>
            <a:off x="-2" y="6381107"/>
            <a:ext cx="6662055" cy="29416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70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CD83773D-7A39-3064-0F6E-F5C20724D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0" y="1296514"/>
            <a:ext cx="3505200" cy="47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8972A-7D12-530A-E3E5-0C632DF8E9C4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32D472-CDCF-12D0-C445-55925669624A}"/>
              </a:ext>
            </a:extLst>
          </p:cNvPr>
          <p:cNvCxnSpPr/>
          <p:nvPr/>
        </p:nvCxnSpPr>
        <p:spPr>
          <a:xfrm>
            <a:off x="6858000" y="419100"/>
            <a:ext cx="0" cy="64389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0" y="897148"/>
            <a:ext cx="48672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declare two additional local variables to use during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linearSearch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An integer that will be used to keep track of where we are in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items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array.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Boolean flag that we will set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we find the item we are searching for.</a:t>
            </a:r>
          </a:p>
        </p:txBody>
      </p:sp>
    </p:spTree>
    <p:extLst>
      <p:ext uri="{BB962C8B-B14F-4D97-AF65-F5344CB8AC3E}">
        <p14:creationId xmlns:p14="http://schemas.microsoft.com/office/powerpoint/2010/main" val="350396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CD83773D-7A39-3064-0F6E-F5C20724D6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0" y="1991839"/>
            <a:ext cx="2428875" cy="56086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78972A-7D12-530A-E3E5-0C632DF8E9C4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32D472-CDCF-12D0-C445-55925669624A}"/>
              </a:ext>
            </a:extLst>
          </p:cNvPr>
          <p:cNvCxnSpPr/>
          <p:nvPr/>
        </p:nvCxnSpPr>
        <p:spPr>
          <a:xfrm>
            <a:off x="6858000" y="419100"/>
            <a:ext cx="0" cy="64389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0" y="897148"/>
            <a:ext cx="495299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Next, we initialise starting states for local variables.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set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0, as we will be starting at the beginning of the array, position zero.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set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false,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we are yet to find the item we will be searching for.</a:t>
            </a:r>
          </a:p>
        </p:txBody>
      </p:sp>
    </p:spTree>
    <p:extLst>
      <p:ext uri="{BB962C8B-B14F-4D97-AF65-F5344CB8AC3E}">
        <p14:creationId xmlns:p14="http://schemas.microsoft.com/office/powerpoint/2010/main" val="282609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93E63-C32A-505B-A989-6735BFE8EB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F34A58-C3EA-18D0-2652-F32388F8A8ED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0" y="2697323"/>
            <a:ext cx="6381750" cy="29858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0" y="893295"/>
            <a:ext cx="495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then enter a WHILE loop until we find the item we are looking for or reach the end of the data set.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CA4F7-7FC5-4B6B-8690-0A17AD921510}"/>
              </a:ext>
            </a:extLst>
          </p:cNvPr>
          <p:cNvSpPr/>
          <p:nvPr/>
        </p:nvSpPr>
        <p:spPr>
          <a:xfrm>
            <a:off x="0" y="2697323"/>
            <a:ext cx="6381750" cy="199459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528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BB6967-2872-C794-1A18-5D6C5FECA6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0" y="2977630"/>
            <a:ext cx="4381500" cy="29858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0" y="893930"/>
            <a:ext cx="495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check if the item we are currently looking at in the array is the one we are searching for.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09ACC3-1E0C-B8C2-00B6-AAD67F2B4DC3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88358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4F421-F4C6-57D0-9B79-1FB6E268ED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15D342-FF66-7847-17D9-CD8DC599CD85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0" y="3457575"/>
            <a:ext cx="3286125" cy="27622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0" y="893295"/>
            <a:ext cx="495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is, then we set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flag to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516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DC9EEF-FD8B-7795-DFBF-EAEF394D5A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0" y="3954666"/>
            <a:ext cx="3848100" cy="2705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1" y="883770"/>
            <a:ext cx="495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isn’t, we increment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index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variable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..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388035-7A0E-AB9F-A4D0-B6883007306D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41959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8C712F-EE4F-29C4-85B8-5F6A22A4EF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5114" y="4433987"/>
            <a:ext cx="6414735" cy="27058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1" y="883770"/>
            <a:ext cx="4953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…and repeat the process.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55EB78-7629-499A-9A97-C6E5FD826A41}"/>
              </a:ext>
            </a:extLst>
          </p:cNvPr>
          <p:cNvSpPr/>
          <p:nvPr/>
        </p:nvSpPr>
        <p:spPr>
          <a:xfrm>
            <a:off x="5114" y="2717149"/>
            <a:ext cx="6414735" cy="199459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2" name="Arc 1">
            <a:extLst>
              <a:ext uri="{FF2B5EF4-FFF2-40B4-BE49-F238E27FC236}">
                <a16:creationId xmlns:a16="http://schemas.microsoft.com/office/drawing/2014/main" id="{D4AEE68B-3236-4B0C-B178-38D2399A0BF3}"/>
              </a:ext>
            </a:extLst>
          </p:cNvPr>
          <p:cNvSpPr/>
          <p:nvPr/>
        </p:nvSpPr>
        <p:spPr>
          <a:xfrm flipH="1">
            <a:off x="451817" y="2856135"/>
            <a:ext cx="330560" cy="1716618"/>
          </a:xfrm>
          <a:prstGeom prst="arc">
            <a:avLst>
              <a:gd name="adj1" fmla="val 16087313"/>
              <a:gd name="adj2" fmla="val 5288920"/>
            </a:avLst>
          </a:prstGeom>
          <a:ln w="3810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56CF5-7F5F-6BAA-FF43-E7FBF17E61C5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39420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8C712F-EE4F-29C4-85B8-5F6A22A4EF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-4410" y="4910237"/>
            <a:ext cx="5881336" cy="79523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1" y="883770"/>
            <a:ext cx="4953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Eventually, we will exit the WHILE loop.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 this point, we use an IF statement to check the value held in the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found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variable.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contains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true,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 return a message that the item was found along with its position in the array.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56CF5-7F5F-6BAA-FF43-E7FBF17E61C5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883505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8C712F-EE4F-29C4-85B8-5F6A22A4EF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94" r="3109"/>
          <a:stretch/>
        </p:blipFill>
        <p:spPr>
          <a:xfrm>
            <a:off x="6858001" y="419100"/>
            <a:ext cx="53340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4B6CDE-BB90-46A0-8827-E68D23E360EE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Linear search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D2436F-2442-4CF5-ABDA-C625FFE52E67}"/>
              </a:ext>
            </a:extLst>
          </p:cNvPr>
          <p:cNvSpPr/>
          <p:nvPr/>
        </p:nvSpPr>
        <p:spPr>
          <a:xfrm>
            <a:off x="-4410" y="5648325"/>
            <a:ext cx="5881336" cy="55245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54FC23-827E-4259-A083-D4FBFFCF00CD}"/>
              </a:ext>
            </a:extLst>
          </p:cNvPr>
          <p:cNvSpPr/>
          <p:nvPr/>
        </p:nvSpPr>
        <p:spPr>
          <a:xfrm>
            <a:off x="7239001" y="883770"/>
            <a:ext cx="4953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it contains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false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we return a message that the item could not be found.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56CF5-7F5F-6BAA-FF43-E7FBF17E61C5}"/>
              </a:ext>
            </a:extLst>
          </p:cNvPr>
          <p:cNvSpPr txBox="1"/>
          <p:nvPr/>
        </p:nvSpPr>
        <p:spPr>
          <a:xfrm>
            <a:off x="176565" y="993174"/>
            <a:ext cx="706243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FUNCTION linearSearch(items, item_to_find) RETURNS STRING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DECLARE index : INTEGER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DECLARE found : BOOLEAN</a:t>
            </a:r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False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WHILE (found = FALSE) AND (NOT </a:t>
            </a:r>
            <a:r>
              <a:rPr lang="en-GB" sz="16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end of data set)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DO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IF items[index] = item_to_find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THEN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found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True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index </a:t>
            </a:r>
            <a:r>
              <a:rPr lang="en-GB" sz="1600" dirty="0">
                <a:latin typeface="Wingdings" panose="05000000000000000000" pitchFamily="2" charset="2"/>
              </a:rPr>
              <a:t>ß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index + 1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ENDIF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ENDWHILE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600" b="0" i="0" u="none" strike="noStrike" baseline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IF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found = True </a:t>
            </a: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THEN</a:t>
            </a:r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found at position ", index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ELSE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      RETURN "Item not found"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    ENDIF </a:t>
            </a:r>
          </a:p>
          <a:p>
            <a:r>
              <a:rPr lang="en-GB" sz="1600" b="0" i="0" u="none" strike="noStrike" baseline="0" dirty="0">
                <a:solidFill>
                  <a:srgbClr val="000000"/>
                </a:solidFill>
                <a:latin typeface="Consolas" panose="020B0609020204030204" pitchFamily="49" charset="0"/>
              </a:rPr>
              <a:t>ENDFUNCTION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02428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3454301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pseudocode in these videos follows the exact style that will be used in the exams.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full set of pseudocode is defined in the syllabus: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(9-1) Computer Science – 0984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(A*-G) Computer Science – 0478 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50B5BDE-177C-FC59-3759-7C98E8449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509" y="874324"/>
            <a:ext cx="3784218" cy="5355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114935A2-CAC7-6487-CBD6-1DF896E6A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492" y="1052896"/>
            <a:ext cx="3797200" cy="5355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9" name="Audio 17">
            <a:hlinkClick r:id="" action="ppaction://media"/>
            <a:extLst>
              <a:ext uri="{FF2B5EF4-FFF2-40B4-BE49-F238E27FC236}">
                <a16:creationId xmlns:a16="http://schemas.microsoft.com/office/drawing/2014/main" id="{EDEA45B0-F80C-3E56-88FD-20A2307FB9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99396" t="-90625" r="-199396" b="-90625"/>
          <a:stretch>
            <a:fillRect/>
          </a:stretch>
        </p:blipFill>
        <p:spPr>
          <a:xfrm>
            <a:off x="9168260" y="5090729"/>
            <a:ext cx="302374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6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304800" y="1041009"/>
            <a:ext cx="698240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Essential algorithms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and data structures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D24F9B36-F559-4FBB-8A32-2DD66846EE6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4728" y="3894995"/>
            <a:ext cx="2582552" cy="1246749"/>
          </a:xfrm>
          <a:prstGeom prst="rect">
            <a:avLst/>
          </a:prstGeom>
        </p:spPr>
      </p:pic>
      <p:pic>
        <p:nvPicPr>
          <p:cNvPr id="3" name="Picture 2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32866444-B488-CB55-0A6A-CA9368AEB3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208" y="260092"/>
            <a:ext cx="4679132" cy="60359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49341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34E5322F-826A-DE90-8D22-69EF94B3A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3318">
            <a:off x="6534482" y="195522"/>
            <a:ext cx="4989843" cy="646695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8A1A80-00F3-461B-BC86-4E0D444E9A71}"/>
              </a:ext>
            </a:extLst>
          </p:cNvPr>
          <p:cNvSpPr/>
          <p:nvPr/>
        </p:nvSpPr>
        <p:spPr>
          <a:xfrm rot="21447209">
            <a:off x="10324004" y="594823"/>
            <a:ext cx="323960" cy="5563673"/>
          </a:xfrm>
          <a:prstGeom prst="rect">
            <a:avLst/>
          </a:prstGeom>
          <a:solidFill>
            <a:schemeClr val="accent4">
              <a:lumMod val="20000"/>
              <a:lumOff val="80000"/>
              <a:alpha val="25000"/>
            </a:schemeClr>
          </a:solidFill>
          <a:ln w="381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B08DC41-C9D4-731D-A170-81061B5C9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571">
            <a:off x="760731" y="233217"/>
            <a:ext cx="4924410" cy="63915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69156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text&#10;&#10;Description automatically generated with medium confidence">
            <a:extLst>
              <a:ext uri="{FF2B5EF4-FFF2-40B4-BE49-F238E27FC236}">
                <a16:creationId xmlns:a16="http://schemas.microsoft.com/office/drawing/2014/main" id="{144FE834-AAF3-391E-D447-C56DFAA39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88">
            <a:off x="869620" y="266700"/>
            <a:ext cx="4843613" cy="6324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8BD221B9-A204-8075-C02F-B27382003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488">
            <a:off x="6601759" y="265557"/>
            <a:ext cx="4882274" cy="6324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78817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1DA239E-66FF-87D5-6DC7-9276C4234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3087">
            <a:off x="718618" y="256112"/>
            <a:ext cx="4877506" cy="63457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1865D4F-F127-88BE-C425-CE855B8BB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3087">
            <a:off x="6583673" y="256112"/>
            <a:ext cx="4889722" cy="63457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85462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1580</Words>
  <Application>Microsoft Office PowerPoint</Application>
  <PresentationFormat>Widescreen</PresentationFormat>
  <Paragraphs>312</Paragraphs>
  <Slides>21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157</cp:revision>
  <dcterms:created xsi:type="dcterms:W3CDTF">2019-10-14T15:21:06Z</dcterms:created>
  <dcterms:modified xsi:type="dcterms:W3CDTF">2022-08-25T14:04:12Z</dcterms:modified>
</cp:coreProperties>
</file>