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7" r:id="rId2"/>
    <p:sldId id="263" r:id="rId3"/>
    <p:sldId id="295" r:id="rId4"/>
    <p:sldId id="296" r:id="rId5"/>
    <p:sldId id="288" r:id="rId6"/>
    <p:sldId id="292" r:id="rId7"/>
    <p:sldId id="293" r:id="rId8"/>
    <p:sldId id="289" r:id="rId9"/>
    <p:sldId id="294" r:id="rId10"/>
    <p:sldId id="290" r:id="rId11"/>
    <p:sldId id="291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4" r:id="rId33"/>
    <p:sldId id="325" r:id="rId34"/>
    <p:sldId id="315" r:id="rId35"/>
    <p:sldId id="275" r:id="rId36"/>
    <p:sldId id="327" r:id="rId37"/>
    <p:sldId id="328" r:id="rId38"/>
    <p:sldId id="329" r:id="rId39"/>
    <p:sldId id="330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 autoAdjust="0"/>
    <p:restoredTop sz="94687"/>
  </p:normalViewPr>
  <p:slideViewPr>
    <p:cSldViewPr snapToGrid="0">
      <p:cViewPr varScale="1">
        <p:scale>
          <a:sx n="101" d="100"/>
          <a:sy n="101" d="100"/>
        </p:scale>
        <p:origin x="118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B22FA-4A35-4722-B40F-F7C2D1150FB2}" type="slidenum">
              <a:rPr lang="en-GB" smtClean="0"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2754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B22FA-4A35-4722-B40F-F7C2D1150FB2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565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B22FA-4A35-4722-B40F-F7C2D1150FB2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7223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B22FA-4A35-4722-B40F-F7C2D1150FB2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9418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B22FA-4A35-4722-B40F-F7C2D1150FB2}" type="slidenum">
              <a:rPr lang="en-GB" smtClean="0"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1897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B22FA-4A35-4722-B40F-F7C2D1150FB2}" type="slidenum">
              <a:rPr lang="en-GB" smtClean="0"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9155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B22FA-4A35-4722-B40F-F7C2D1150FB2}" type="slidenum">
              <a:rPr lang="en-GB" smtClean="0"/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5757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B22FA-4A35-4722-B40F-F7C2D1150FB2}" type="slidenum">
              <a:rPr lang="en-GB" smtClean="0"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6400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B22FA-4A35-4722-B40F-F7C2D1150FB2}" type="slidenum">
              <a:rPr lang="en-GB" smtClean="0"/>
              <a:t>32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0650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B22FA-4A35-4722-B40F-F7C2D1150FB2}" type="slidenum">
              <a:rPr lang="en-GB" smtClean="0"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1949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7 Algorithm design and problem-solving | Bubble sort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9.png"/><Relationship Id="rId5" Type="http://schemas.openxmlformats.org/officeDocument/2006/relationships/image" Target="../media/image8.tmp"/><Relationship Id="rId4" Type="http://schemas.openxmlformats.org/officeDocument/2006/relationships/image" Target="../media/image7.tm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7 Algorithm design and problem-solving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Bubble sort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FC4BB-E42D-4B5A-9B89-6AD16D0263F8}"/>
              </a:ext>
            </a:extLst>
          </p:cNvPr>
          <p:cNvSpPr/>
          <p:nvPr/>
        </p:nvSpPr>
        <p:spPr>
          <a:xfrm>
            <a:off x="278233" y="1893463"/>
            <a:ext cx="586856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Sorts an unordered list of items.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Compares each item with the next and swaps them if they are out of order – in effect,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bubbling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largest (or smallest) item up to the end of the list.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Finishes when no more swaps need to be made.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most inefficient of the sorting algorithms but very easy to implement.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popular choice for very small data sets.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4B8F7-9BBE-44BA-B7A5-ECCB9178AB57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2B9EACA5-D1E4-5F5C-E53C-A5D0A9261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536E22F-A6F9-A1A1-4FD8-6E466DC441EC}"/>
              </a:ext>
            </a:extLst>
          </p:cNvPr>
          <p:cNvGrpSpPr/>
          <p:nvPr/>
        </p:nvGrpSpPr>
        <p:grpSpPr>
          <a:xfrm>
            <a:off x="411122" y="5364330"/>
            <a:ext cx="6198813" cy="1256789"/>
            <a:chOff x="411122" y="5364330"/>
            <a:chExt cx="6198813" cy="12567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9C16C9C-27A6-78B1-BAF5-E5885C66BD01}"/>
                </a:ext>
              </a:extLst>
            </p:cNvPr>
            <p:cNvSpPr/>
            <p:nvPr/>
          </p:nvSpPr>
          <p:spPr>
            <a:xfrm>
              <a:off x="443617" y="5366053"/>
              <a:ext cx="6166318" cy="1255066"/>
            </a:xfrm>
            <a:prstGeom prst="roundRect">
              <a:avLst>
                <a:gd name="adj" fmla="val 46766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5F75CE5-96F2-7179-E3A4-F4211AB90847}"/>
                </a:ext>
              </a:extLst>
            </p:cNvPr>
            <p:cNvSpPr txBox="1"/>
            <p:nvPr/>
          </p:nvSpPr>
          <p:spPr>
            <a:xfrm>
              <a:off x="1846359" y="5519396"/>
              <a:ext cx="445222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Bubble sort </a:t>
              </a: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is covered in detail with fully coded examples from page 154 of our book – more information at the end of this video</a:t>
              </a:r>
              <a:r>
                <a:rPr lang="en-GB" dirty="0">
                  <a:solidFill>
                    <a:schemeClr val="accent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D5D457A-4BDF-D1D7-01B9-C81A2EA8361A}"/>
                </a:ext>
              </a:extLst>
            </p:cNvPr>
            <p:cNvSpPr/>
            <p:nvPr/>
          </p:nvSpPr>
          <p:spPr>
            <a:xfrm>
              <a:off x="411122" y="5364330"/>
              <a:ext cx="1255066" cy="1255066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2" name="Graphic 11" descr="Open book with solid fill">
              <a:extLst>
                <a:ext uri="{FF2B5EF4-FFF2-40B4-BE49-F238E27FC236}">
                  <a16:creationId xmlns:a16="http://schemas.microsoft.com/office/drawing/2014/main" id="{776D835C-3308-D689-8667-B8FCE0323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0470" y="5519396"/>
              <a:ext cx="914400" cy="914400"/>
            </a:xfrm>
            <a:prstGeom prst="rect">
              <a:avLst/>
            </a:prstGeom>
          </p:spPr>
        </p:pic>
      </p:grpSp>
      <p:pic>
        <p:nvPicPr>
          <p:cNvPr id="16" name="Picture 15" descr="Chart&#10;&#10;Description automatically generated with low confidence">
            <a:extLst>
              <a:ext uri="{FF2B5EF4-FFF2-40B4-BE49-F238E27FC236}">
                <a16:creationId xmlns:a16="http://schemas.microsoft.com/office/drawing/2014/main" id="{157D743F-304F-0441-87E2-3DB9BA531E45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376" y="85725"/>
            <a:ext cx="70606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463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2" name="Table 2">
            <a:extLst>
              <a:ext uri="{FF2B5EF4-FFF2-40B4-BE49-F238E27FC236}">
                <a16:creationId xmlns:a16="http://schemas.microsoft.com/office/drawing/2014/main" id="{A53E1B18-091A-4AAD-8B3D-F113AE5E8990}"/>
              </a:ext>
            </a:extLst>
          </p:cNvPr>
          <p:cNvGraphicFramePr>
            <a:graphicFrameLocks noGrp="1"/>
          </p:cNvGraphicFramePr>
          <p:nvPr/>
        </p:nvGraphicFramePr>
        <p:xfrm>
          <a:off x="9933980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461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9B1F1093-4BF5-421E-97F8-F8F4C360C10D}"/>
              </a:ext>
            </a:extLst>
          </p:cNvPr>
          <p:cNvSpPr/>
          <p:nvPr/>
        </p:nvSpPr>
        <p:spPr>
          <a:xfrm>
            <a:off x="176565" y="5329893"/>
            <a:ext cx="116789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Compare the first two items.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they in the right order?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758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8" name="Table 2">
            <a:extLst>
              <a:ext uri="{FF2B5EF4-FFF2-40B4-BE49-F238E27FC236}">
                <a16:creationId xmlns:a16="http://schemas.microsoft.com/office/drawing/2014/main" id="{5AE093D7-5FAD-4177-A8A6-CE5C23FEFB32}"/>
              </a:ext>
            </a:extLst>
          </p:cNvPr>
          <p:cNvGraphicFramePr>
            <a:graphicFrameLocks noGrp="1"/>
          </p:cNvGraphicFramePr>
          <p:nvPr/>
        </p:nvGraphicFramePr>
        <p:xfrm>
          <a:off x="2970258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455D7B-607F-4475-98DD-C79BA6F5C186}"/>
              </a:ext>
            </a:extLst>
          </p:cNvPr>
          <p:cNvCxnSpPr/>
          <p:nvPr/>
        </p:nvCxnSpPr>
        <p:spPr>
          <a:xfrm>
            <a:off x="2258020" y="3853543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FAE88A8-EC8A-4D98-BEEA-12EAF567AB13}"/>
              </a:ext>
            </a:extLst>
          </p:cNvPr>
          <p:cNvCxnSpPr>
            <a:cxnSpLocks/>
          </p:cNvCxnSpPr>
          <p:nvPr/>
        </p:nvCxnSpPr>
        <p:spPr>
          <a:xfrm flipV="1">
            <a:off x="2258020" y="3893597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E7FCF3D9-B56D-4216-AD70-163F9A24FCAC}"/>
              </a:ext>
            </a:extLst>
          </p:cNvPr>
          <p:cNvSpPr/>
          <p:nvPr/>
        </p:nvSpPr>
        <p:spPr>
          <a:xfrm>
            <a:off x="176565" y="5329893"/>
            <a:ext cx="116789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are not, so swap them over.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324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8" name="Table 2">
            <a:extLst>
              <a:ext uri="{FF2B5EF4-FFF2-40B4-BE49-F238E27FC236}">
                <a16:creationId xmlns:a16="http://schemas.microsoft.com/office/drawing/2014/main" id="{5AE093D7-5FAD-4177-A8A6-CE5C23FEFB32}"/>
              </a:ext>
            </a:extLst>
          </p:cNvPr>
          <p:cNvGraphicFramePr>
            <a:graphicFrameLocks noGrp="1"/>
          </p:cNvGraphicFramePr>
          <p:nvPr/>
        </p:nvGraphicFramePr>
        <p:xfrm>
          <a:off x="2970258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455D7B-607F-4475-98DD-C79BA6F5C186}"/>
              </a:ext>
            </a:extLst>
          </p:cNvPr>
          <p:cNvCxnSpPr/>
          <p:nvPr/>
        </p:nvCxnSpPr>
        <p:spPr>
          <a:xfrm>
            <a:off x="2258020" y="3853543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FAE88A8-EC8A-4D98-BEEA-12EAF567AB13}"/>
              </a:ext>
            </a:extLst>
          </p:cNvPr>
          <p:cNvCxnSpPr>
            <a:cxnSpLocks/>
          </p:cNvCxnSpPr>
          <p:nvPr/>
        </p:nvCxnSpPr>
        <p:spPr>
          <a:xfrm flipV="1">
            <a:off x="2258020" y="3893597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2E24A0F-084A-43C6-BA14-A20D865BE582}"/>
              </a:ext>
            </a:extLst>
          </p:cNvPr>
          <p:cNvSpPr/>
          <p:nvPr/>
        </p:nvSpPr>
        <p:spPr>
          <a:xfrm>
            <a:off x="176565" y="5329893"/>
            <a:ext cx="116789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Compare the next two items.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they in the right order?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145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8" name="Table 2">
            <a:extLst>
              <a:ext uri="{FF2B5EF4-FFF2-40B4-BE49-F238E27FC236}">
                <a16:creationId xmlns:a16="http://schemas.microsoft.com/office/drawing/2014/main" id="{5AE093D7-5FAD-4177-A8A6-CE5C23FEFB32}"/>
              </a:ext>
            </a:extLst>
          </p:cNvPr>
          <p:cNvGraphicFramePr>
            <a:graphicFrameLocks noGrp="1"/>
          </p:cNvGraphicFramePr>
          <p:nvPr/>
        </p:nvGraphicFramePr>
        <p:xfrm>
          <a:off x="2970258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9" name="Table 2">
            <a:extLst>
              <a:ext uri="{FF2B5EF4-FFF2-40B4-BE49-F238E27FC236}">
                <a16:creationId xmlns:a16="http://schemas.microsoft.com/office/drawing/2014/main" id="{A1A0B9DA-D7BA-4AAA-B688-62E13100247F}"/>
              </a:ext>
            </a:extLst>
          </p:cNvPr>
          <p:cNvGraphicFramePr>
            <a:graphicFrameLocks noGrp="1"/>
          </p:cNvGraphicFramePr>
          <p:nvPr/>
        </p:nvGraphicFramePr>
        <p:xfrm>
          <a:off x="4970097" y="1528107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455D7B-607F-4475-98DD-C79BA6F5C186}"/>
              </a:ext>
            </a:extLst>
          </p:cNvPr>
          <p:cNvCxnSpPr/>
          <p:nvPr/>
        </p:nvCxnSpPr>
        <p:spPr>
          <a:xfrm>
            <a:off x="2258020" y="3853543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FAE88A8-EC8A-4D98-BEEA-12EAF567AB13}"/>
              </a:ext>
            </a:extLst>
          </p:cNvPr>
          <p:cNvCxnSpPr>
            <a:cxnSpLocks/>
          </p:cNvCxnSpPr>
          <p:nvPr/>
        </p:nvCxnSpPr>
        <p:spPr>
          <a:xfrm flipV="1">
            <a:off x="2258020" y="3893597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D9F4E8-158A-4624-BB4F-B84FA639150B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4276543" y="319346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3EC04D-DC9C-420E-91A3-BA1199167CC4}"/>
              </a:ext>
            </a:extLst>
          </p:cNvPr>
          <p:cNvCxnSpPr>
            <a:cxnSpLocks/>
          </p:cNvCxnSpPr>
          <p:nvPr/>
        </p:nvCxnSpPr>
        <p:spPr>
          <a:xfrm>
            <a:off x="4271878" y="388893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691B88C-6C96-41BB-BDF3-0E5081672FF6}"/>
              </a:ext>
            </a:extLst>
          </p:cNvPr>
          <p:cNvSpPr/>
          <p:nvPr/>
        </p:nvSpPr>
        <p:spPr>
          <a:xfrm>
            <a:off x="176565" y="5329893"/>
            <a:ext cx="116789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are in the right order,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leave them where they are.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552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8" name="Table 2">
            <a:extLst>
              <a:ext uri="{FF2B5EF4-FFF2-40B4-BE49-F238E27FC236}">
                <a16:creationId xmlns:a16="http://schemas.microsoft.com/office/drawing/2014/main" id="{5AE093D7-5FAD-4177-A8A6-CE5C23FEFB32}"/>
              </a:ext>
            </a:extLst>
          </p:cNvPr>
          <p:cNvGraphicFramePr>
            <a:graphicFrameLocks noGrp="1"/>
          </p:cNvGraphicFramePr>
          <p:nvPr/>
        </p:nvGraphicFramePr>
        <p:xfrm>
          <a:off x="2970258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9" name="Table 2">
            <a:extLst>
              <a:ext uri="{FF2B5EF4-FFF2-40B4-BE49-F238E27FC236}">
                <a16:creationId xmlns:a16="http://schemas.microsoft.com/office/drawing/2014/main" id="{A1A0B9DA-D7BA-4AAA-B688-62E13100247F}"/>
              </a:ext>
            </a:extLst>
          </p:cNvPr>
          <p:cNvGraphicFramePr>
            <a:graphicFrameLocks noGrp="1"/>
          </p:cNvGraphicFramePr>
          <p:nvPr/>
        </p:nvGraphicFramePr>
        <p:xfrm>
          <a:off x="4970097" y="1528107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455D7B-607F-4475-98DD-C79BA6F5C186}"/>
              </a:ext>
            </a:extLst>
          </p:cNvPr>
          <p:cNvCxnSpPr/>
          <p:nvPr/>
        </p:nvCxnSpPr>
        <p:spPr>
          <a:xfrm>
            <a:off x="2258020" y="3853543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FAE88A8-EC8A-4D98-BEEA-12EAF567AB13}"/>
              </a:ext>
            </a:extLst>
          </p:cNvPr>
          <p:cNvCxnSpPr>
            <a:cxnSpLocks/>
          </p:cNvCxnSpPr>
          <p:nvPr/>
        </p:nvCxnSpPr>
        <p:spPr>
          <a:xfrm flipV="1">
            <a:off x="2258020" y="3893597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D9F4E8-158A-4624-BB4F-B84FA639150B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4276543" y="319346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3EC04D-DC9C-420E-91A3-BA1199167CC4}"/>
              </a:ext>
            </a:extLst>
          </p:cNvPr>
          <p:cNvCxnSpPr>
            <a:cxnSpLocks/>
          </p:cNvCxnSpPr>
          <p:nvPr/>
        </p:nvCxnSpPr>
        <p:spPr>
          <a:xfrm>
            <a:off x="4271878" y="388893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587972E-FB49-4F6E-B827-478E90B01DC9}"/>
              </a:ext>
            </a:extLst>
          </p:cNvPr>
          <p:cNvSpPr/>
          <p:nvPr/>
        </p:nvSpPr>
        <p:spPr>
          <a:xfrm>
            <a:off x="176565" y="5329893"/>
            <a:ext cx="116789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Compare the next two items.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they in the right order?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7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8" name="Table 2">
            <a:extLst>
              <a:ext uri="{FF2B5EF4-FFF2-40B4-BE49-F238E27FC236}">
                <a16:creationId xmlns:a16="http://schemas.microsoft.com/office/drawing/2014/main" id="{5AE093D7-5FAD-4177-A8A6-CE5C23FEFB32}"/>
              </a:ext>
            </a:extLst>
          </p:cNvPr>
          <p:cNvGraphicFramePr>
            <a:graphicFrameLocks noGrp="1"/>
          </p:cNvGraphicFramePr>
          <p:nvPr/>
        </p:nvGraphicFramePr>
        <p:xfrm>
          <a:off x="2970258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9" name="Table 2">
            <a:extLst>
              <a:ext uri="{FF2B5EF4-FFF2-40B4-BE49-F238E27FC236}">
                <a16:creationId xmlns:a16="http://schemas.microsoft.com/office/drawing/2014/main" id="{A1A0B9DA-D7BA-4AAA-B688-62E13100247F}"/>
              </a:ext>
            </a:extLst>
          </p:cNvPr>
          <p:cNvGraphicFramePr>
            <a:graphicFrameLocks noGrp="1"/>
          </p:cNvGraphicFramePr>
          <p:nvPr/>
        </p:nvGraphicFramePr>
        <p:xfrm>
          <a:off x="4970097" y="1528107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30" name="Table 2">
            <a:extLst>
              <a:ext uri="{FF2B5EF4-FFF2-40B4-BE49-F238E27FC236}">
                <a16:creationId xmlns:a16="http://schemas.microsoft.com/office/drawing/2014/main" id="{346B65E1-B8AC-42C9-B080-AC241C04BC4A}"/>
              </a:ext>
            </a:extLst>
          </p:cNvPr>
          <p:cNvGraphicFramePr>
            <a:graphicFrameLocks noGrp="1"/>
          </p:cNvGraphicFramePr>
          <p:nvPr/>
        </p:nvGraphicFramePr>
        <p:xfrm>
          <a:off x="6960605" y="1528107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455D7B-607F-4475-98DD-C79BA6F5C186}"/>
              </a:ext>
            </a:extLst>
          </p:cNvPr>
          <p:cNvCxnSpPr/>
          <p:nvPr/>
        </p:nvCxnSpPr>
        <p:spPr>
          <a:xfrm>
            <a:off x="2258020" y="3853543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FAE88A8-EC8A-4D98-BEEA-12EAF567AB13}"/>
              </a:ext>
            </a:extLst>
          </p:cNvPr>
          <p:cNvCxnSpPr>
            <a:cxnSpLocks/>
          </p:cNvCxnSpPr>
          <p:nvPr/>
        </p:nvCxnSpPr>
        <p:spPr>
          <a:xfrm flipV="1">
            <a:off x="2258020" y="3893597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D9F4E8-158A-4624-BB4F-B84FA639150B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4276543" y="319346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3EC04D-DC9C-420E-91A3-BA1199167CC4}"/>
              </a:ext>
            </a:extLst>
          </p:cNvPr>
          <p:cNvCxnSpPr>
            <a:cxnSpLocks/>
          </p:cNvCxnSpPr>
          <p:nvPr/>
        </p:nvCxnSpPr>
        <p:spPr>
          <a:xfrm>
            <a:off x="4271878" y="388893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C047E93-C39B-4002-9514-F7BEE90B4285}"/>
              </a:ext>
            </a:extLst>
          </p:cNvPr>
          <p:cNvCxnSpPr>
            <a:cxnSpLocks/>
          </p:cNvCxnSpPr>
          <p:nvPr/>
        </p:nvCxnSpPr>
        <p:spPr>
          <a:xfrm>
            <a:off x="6280367" y="2511717"/>
            <a:ext cx="680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F0F9BCE-3BFD-44E4-9DF2-FB486498ECB3}"/>
              </a:ext>
            </a:extLst>
          </p:cNvPr>
          <p:cNvCxnSpPr>
            <a:cxnSpLocks/>
          </p:cNvCxnSpPr>
          <p:nvPr/>
        </p:nvCxnSpPr>
        <p:spPr>
          <a:xfrm flipV="1">
            <a:off x="6280367" y="2455731"/>
            <a:ext cx="680238" cy="7025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312FD593-B513-43B6-BD66-6A85C962B085}"/>
              </a:ext>
            </a:extLst>
          </p:cNvPr>
          <p:cNvSpPr/>
          <p:nvPr/>
        </p:nvSpPr>
        <p:spPr>
          <a:xfrm>
            <a:off x="176565" y="5329893"/>
            <a:ext cx="116789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are not, so swap them over.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7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008C8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rgbClr val="008C8C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8" name="Table 2">
            <a:extLst>
              <a:ext uri="{FF2B5EF4-FFF2-40B4-BE49-F238E27FC236}">
                <a16:creationId xmlns:a16="http://schemas.microsoft.com/office/drawing/2014/main" id="{5AE093D7-5FAD-4177-A8A6-CE5C23FEFB32}"/>
              </a:ext>
            </a:extLst>
          </p:cNvPr>
          <p:cNvGraphicFramePr>
            <a:graphicFrameLocks noGrp="1"/>
          </p:cNvGraphicFramePr>
          <p:nvPr/>
        </p:nvGraphicFramePr>
        <p:xfrm>
          <a:off x="2970258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9" name="Table 2">
            <a:extLst>
              <a:ext uri="{FF2B5EF4-FFF2-40B4-BE49-F238E27FC236}">
                <a16:creationId xmlns:a16="http://schemas.microsoft.com/office/drawing/2014/main" id="{A1A0B9DA-D7BA-4AAA-B688-62E13100247F}"/>
              </a:ext>
            </a:extLst>
          </p:cNvPr>
          <p:cNvGraphicFramePr>
            <a:graphicFrameLocks noGrp="1"/>
          </p:cNvGraphicFramePr>
          <p:nvPr/>
        </p:nvGraphicFramePr>
        <p:xfrm>
          <a:off x="4970097" y="1528107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30" name="Table 2">
            <a:extLst>
              <a:ext uri="{FF2B5EF4-FFF2-40B4-BE49-F238E27FC236}">
                <a16:creationId xmlns:a16="http://schemas.microsoft.com/office/drawing/2014/main" id="{346B65E1-B8AC-42C9-B080-AC241C04BC4A}"/>
              </a:ext>
            </a:extLst>
          </p:cNvPr>
          <p:cNvGraphicFramePr>
            <a:graphicFrameLocks noGrp="1"/>
          </p:cNvGraphicFramePr>
          <p:nvPr/>
        </p:nvGraphicFramePr>
        <p:xfrm>
          <a:off x="6960605" y="1528107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455D7B-607F-4475-98DD-C79BA6F5C186}"/>
              </a:ext>
            </a:extLst>
          </p:cNvPr>
          <p:cNvCxnSpPr/>
          <p:nvPr/>
        </p:nvCxnSpPr>
        <p:spPr>
          <a:xfrm>
            <a:off x="2258020" y="3853543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FAE88A8-EC8A-4D98-BEEA-12EAF567AB13}"/>
              </a:ext>
            </a:extLst>
          </p:cNvPr>
          <p:cNvCxnSpPr>
            <a:cxnSpLocks/>
          </p:cNvCxnSpPr>
          <p:nvPr/>
        </p:nvCxnSpPr>
        <p:spPr>
          <a:xfrm flipV="1">
            <a:off x="2258020" y="3893597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D9F4E8-158A-4624-BB4F-B84FA639150B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4276543" y="319346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3EC04D-DC9C-420E-91A3-BA1199167CC4}"/>
              </a:ext>
            </a:extLst>
          </p:cNvPr>
          <p:cNvCxnSpPr>
            <a:cxnSpLocks/>
          </p:cNvCxnSpPr>
          <p:nvPr/>
        </p:nvCxnSpPr>
        <p:spPr>
          <a:xfrm>
            <a:off x="4271878" y="388893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4CAC70E-F99B-4F03-BAA0-012D18423357}"/>
              </a:ext>
            </a:extLst>
          </p:cNvPr>
          <p:cNvCxnSpPr>
            <a:cxnSpLocks/>
          </p:cNvCxnSpPr>
          <p:nvPr/>
        </p:nvCxnSpPr>
        <p:spPr>
          <a:xfrm>
            <a:off x="6280367" y="2511717"/>
            <a:ext cx="680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8C3AD06-F1C2-4387-B503-0EF90A09A2C7}"/>
              </a:ext>
            </a:extLst>
          </p:cNvPr>
          <p:cNvCxnSpPr>
            <a:cxnSpLocks/>
          </p:cNvCxnSpPr>
          <p:nvPr/>
        </p:nvCxnSpPr>
        <p:spPr>
          <a:xfrm flipV="1">
            <a:off x="6280367" y="2455731"/>
            <a:ext cx="680238" cy="7025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F76DEB0E-89F6-4FD0-A6D3-406B573D83E4}"/>
              </a:ext>
            </a:extLst>
          </p:cNvPr>
          <p:cNvSpPr/>
          <p:nvPr/>
        </p:nvSpPr>
        <p:spPr>
          <a:xfrm>
            <a:off x="176565" y="5329893"/>
            <a:ext cx="116789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Compare the next two items.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they in the right order?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064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8" name="Table 2">
            <a:extLst>
              <a:ext uri="{FF2B5EF4-FFF2-40B4-BE49-F238E27FC236}">
                <a16:creationId xmlns:a16="http://schemas.microsoft.com/office/drawing/2014/main" id="{5AE093D7-5FAD-4177-A8A6-CE5C23FEFB32}"/>
              </a:ext>
            </a:extLst>
          </p:cNvPr>
          <p:cNvGraphicFramePr>
            <a:graphicFrameLocks noGrp="1"/>
          </p:cNvGraphicFramePr>
          <p:nvPr/>
        </p:nvGraphicFramePr>
        <p:xfrm>
          <a:off x="2970258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9" name="Table 2">
            <a:extLst>
              <a:ext uri="{FF2B5EF4-FFF2-40B4-BE49-F238E27FC236}">
                <a16:creationId xmlns:a16="http://schemas.microsoft.com/office/drawing/2014/main" id="{A1A0B9DA-D7BA-4AAA-B688-62E13100247F}"/>
              </a:ext>
            </a:extLst>
          </p:cNvPr>
          <p:cNvGraphicFramePr>
            <a:graphicFrameLocks noGrp="1"/>
          </p:cNvGraphicFramePr>
          <p:nvPr/>
        </p:nvGraphicFramePr>
        <p:xfrm>
          <a:off x="4970097" y="1528107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30" name="Table 2">
            <a:extLst>
              <a:ext uri="{FF2B5EF4-FFF2-40B4-BE49-F238E27FC236}">
                <a16:creationId xmlns:a16="http://schemas.microsoft.com/office/drawing/2014/main" id="{346B65E1-B8AC-42C9-B080-AC241C04BC4A}"/>
              </a:ext>
            </a:extLst>
          </p:cNvPr>
          <p:cNvGraphicFramePr>
            <a:graphicFrameLocks noGrp="1"/>
          </p:cNvGraphicFramePr>
          <p:nvPr/>
        </p:nvGraphicFramePr>
        <p:xfrm>
          <a:off x="6960605" y="1528107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78E3BD6F-2B43-4B43-9BC3-15AB93C0282A}"/>
              </a:ext>
            </a:extLst>
          </p:cNvPr>
          <p:cNvGraphicFramePr>
            <a:graphicFrameLocks noGrp="1"/>
          </p:cNvGraphicFramePr>
          <p:nvPr/>
        </p:nvGraphicFramePr>
        <p:xfrm>
          <a:off x="9933980" y="1537439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455D7B-607F-4475-98DD-C79BA6F5C186}"/>
              </a:ext>
            </a:extLst>
          </p:cNvPr>
          <p:cNvCxnSpPr/>
          <p:nvPr/>
        </p:nvCxnSpPr>
        <p:spPr>
          <a:xfrm>
            <a:off x="2258020" y="3853543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FAE88A8-EC8A-4D98-BEEA-12EAF567AB13}"/>
              </a:ext>
            </a:extLst>
          </p:cNvPr>
          <p:cNvCxnSpPr>
            <a:cxnSpLocks/>
          </p:cNvCxnSpPr>
          <p:nvPr/>
        </p:nvCxnSpPr>
        <p:spPr>
          <a:xfrm flipV="1">
            <a:off x="2258020" y="3893597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D9F4E8-158A-4624-BB4F-B84FA639150B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4276543" y="319346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3EC04D-DC9C-420E-91A3-BA1199167CC4}"/>
              </a:ext>
            </a:extLst>
          </p:cNvPr>
          <p:cNvCxnSpPr>
            <a:cxnSpLocks/>
          </p:cNvCxnSpPr>
          <p:nvPr/>
        </p:nvCxnSpPr>
        <p:spPr>
          <a:xfrm>
            <a:off x="4271878" y="388893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19D590E-94D0-463C-B8D1-2AAC8C1B5EFF}"/>
              </a:ext>
            </a:extLst>
          </p:cNvPr>
          <p:cNvCxnSpPr>
            <a:cxnSpLocks/>
          </p:cNvCxnSpPr>
          <p:nvPr/>
        </p:nvCxnSpPr>
        <p:spPr>
          <a:xfrm>
            <a:off x="8284617" y="1859556"/>
            <a:ext cx="1649363" cy="7387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F3F2BFC-96C9-4671-A17F-5CDFDD36679C}"/>
              </a:ext>
            </a:extLst>
          </p:cNvPr>
          <p:cNvCxnSpPr>
            <a:cxnSpLocks/>
          </p:cNvCxnSpPr>
          <p:nvPr/>
        </p:nvCxnSpPr>
        <p:spPr>
          <a:xfrm flipV="1">
            <a:off x="8284617" y="1849178"/>
            <a:ext cx="1649363" cy="7129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E11413A-E616-4AAD-8C33-53900E554242}"/>
              </a:ext>
            </a:extLst>
          </p:cNvPr>
          <p:cNvCxnSpPr>
            <a:cxnSpLocks/>
          </p:cNvCxnSpPr>
          <p:nvPr/>
        </p:nvCxnSpPr>
        <p:spPr>
          <a:xfrm>
            <a:off x="6280367" y="2511717"/>
            <a:ext cx="680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072C15F-59B7-4123-98AD-46E5D7EFB11D}"/>
              </a:ext>
            </a:extLst>
          </p:cNvPr>
          <p:cNvCxnSpPr>
            <a:cxnSpLocks/>
          </p:cNvCxnSpPr>
          <p:nvPr/>
        </p:nvCxnSpPr>
        <p:spPr>
          <a:xfrm flipV="1">
            <a:off x="6280367" y="2455731"/>
            <a:ext cx="680238" cy="7025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042F37D1-C1A2-4D8A-A5F6-6DA784950915}"/>
              </a:ext>
            </a:extLst>
          </p:cNvPr>
          <p:cNvSpPr/>
          <p:nvPr/>
        </p:nvSpPr>
        <p:spPr>
          <a:xfrm>
            <a:off x="176565" y="5329893"/>
            <a:ext cx="116789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are not, so swap them over.</a:t>
            </a:r>
            <a:endParaRPr lang="en-GB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first pass is now complete.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 be sure Weetabix is in the correct place.</a:t>
            </a:r>
          </a:p>
        </p:txBody>
      </p:sp>
    </p:spTree>
    <p:extLst>
      <p:ext uri="{BB962C8B-B14F-4D97-AF65-F5344CB8AC3E}">
        <p14:creationId xmlns:p14="http://schemas.microsoft.com/office/powerpoint/2010/main" val="3335206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9B1F1093-4BF5-421E-97F8-F8F4C360C10D}"/>
              </a:ext>
            </a:extLst>
          </p:cNvPr>
          <p:cNvSpPr/>
          <p:nvPr/>
        </p:nvSpPr>
        <p:spPr>
          <a:xfrm>
            <a:off x="176565" y="5329893"/>
            <a:ext cx="116789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Compare the first two items.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they in the right order?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794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2" name="Table 2">
            <a:extLst>
              <a:ext uri="{FF2B5EF4-FFF2-40B4-BE49-F238E27FC236}">
                <a16:creationId xmlns:a16="http://schemas.microsoft.com/office/drawing/2014/main" id="{32DC8F76-FEB7-4085-B68F-81D46FB32B91}"/>
              </a:ext>
            </a:extLst>
          </p:cNvPr>
          <p:cNvGraphicFramePr>
            <a:graphicFrameLocks noGrp="1"/>
          </p:cNvGraphicFramePr>
          <p:nvPr/>
        </p:nvGraphicFramePr>
        <p:xfrm>
          <a:off x="2960927" y="1537439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5762C53D-26F2-4A5B-9718-52277E77EEB6}"/>
              </a:ext>
            </a:extLst>
          </p:cNvPr>
          <p:cNvSpPr/>
          <p:nvPr/>
        </p:nvSpPr>
        <p:spPr>
          <a:xfrm>
            <a:off x="176565" y="5329893"/>
            <a:ext cx="116789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are in the right order,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leave them where they are.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E7548C-DB42-471F-A05F-0DE617D9A2DA}"/>
              </a:ext>
            </a:extLst>
          </p:cNvPr>
          <p:cNvCxnSpPr>
            <a:cxnSpLocks/>
          </p:cNvCxnSpPr>
          <p:nvPr/>
        </p:nvCxnSpPr>
        <p:spPr>
          <a:xfrm>
            <a:off x="2262685" y="384777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5B28DA-50F9-4213-B7F6-80B5E3266B8C}"/>
              </a:ext>
            </a:extLst>
          </p:cNvPr>
          <p:cNvCxnSpPr>
            <a:cxnSpLocks/>
          </p:cNvCxnSpPr>
          <p:nvPr/>
        </p:nvCxnSpPr>
        <p:spPr>
          <a:xfrm>
            <a:off x="2258020" y="454324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804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2" name="Table 2">
            <a:extLst>
              <a:ext uri="{FF2B5EF4-FFF2-40B4-BE49-F238E27FC236}">
                <a16:creationId xmlns:a16="http://schemas.microsoft.com/office/drawing/2014/main" id="{32DC8F76-FEB7-4085-B68F-81D46FB32B91}"/>
              </a:ext>
            </a:extLst>
          </p:cNvPr>
          <p:cNvGraphicFramePr>
            <a:graphicFrameLocks noGrp="1"/>
          </p:cNvGraphicFramePr>
          <p:nvPr/>
        </p:nvGraphicFramePr>
        <p:xfrm>
          <a:off x="2960927" y="1537439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5762C53D-26F2-4A5B-9718-52277E77EEB6}"/>
              </a:ext>
            </a:extLst>
          </p:cNvPr>
          <p:cNvSpPr/>
          <p:nvPr/>
        </p:nvSpPr>
        <p:spPr>
          <a:xfrm>
            <a:off x="176565" y="5329893"/>
            <a:ext cx="116789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Compare the next two items.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they in the right order?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E7548C-DB42-471F-A05F-0DE617D9A2DA}"/>
              </a:ext>
            </a:extLst>
          </p:cNvPr>
          <p:cNvCxnSpPr>
            <a:cxnSpLocks/>
          </p:cNvCxnSpPr>
          <p:nvPr/>
        </p:nvCxnSpPr>
        <p:spPr>
          <a:xfrm>
            <a:off x="2262685" y="384777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5B28DA-50F9-4213-B7F6-80B5E3266B8C}"/>
              </a:ext>
            </a:extLst>
          </p:cNvPr>
          <p:cNvCxnSpPr>
            <a:cxnSpLocks/>
          </p:cNvCxnSpPr>
          <p:nvPr/>
        </p:nvCxnSpPr>
        <p:spPr>
          <a:xfrm>
            <a:off x="2258020" y="454324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200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2" name="Table 2">
            <a:extLst>
              <a:ext uri="{FF2B5EF4-FFF2-40B4-BE49-F238E27FC236}">
                <a16:creationId xmlns:a16="http://schemas.microsoft.com/office/drawing/2014/main" id="{32DC8F76-FEB7-4085-B68F-81D46FB32B91}"/>
              </a:ext>
            </a:extLst>
          </p:cNvPr>
          <p:cNvGraphicFramePr>
            <a:graphicFrameLocks noGrp="1"/>
          </p:cNvGraphicFramePr>
          <p:nvPr/>
        </p:nvGraphicFramePr>
        <p:xfrm>
          <a:off x="2960927" y="1537439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E7548C-DB42-471F-A05F-0DE617D9A2DA}"/>
              </a:ext>
            </a:extLst>
          </p:cNvPr>
          <p:cNvCxnSpPr>
            <a:cxnSpLocks/>
          </p:cNvCxnSpPr>
          <p:nvPr/>
        </p:nvCxnSpPr>
        <p:spPr>
          <a:xfrm>
            <a:off x="2262685" y="384777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5B28DA-50F9-4213-B7F6-80B5E3266B8C}"/>
              </a:ext>
            </a:extLst>
          </p:cNvPr>
          <p:cNvCxnSpPr>
            <a:cxnSpLocks/>
          </p:cNvCxnSpPr>
          <p:nvPr/>
        </p:nvCxnSpPr>
        <p:spPr>
          <a:xfrm>
            <a:off x="2258020" y="454324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5C0B9176-C597-43F4-B381-C1C379DEB1A2}"/>
              </a:ext>
            </a:extLst>
          </p:cNvPr>
          <p:cNvSpPr/>
          <p:nvPr/>
        </p:nvSpPr>
        <p:spPr>
          <a:xfrm>
            <a:off x="176565" y="5329893"/>
            <a:ext cx="116789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are not, so swap them over.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Table 2">
            <a:extLst>
              <a:ext uri="{FF2B5EF4-FFF2-40B4-BE49-F238E27FC236}">
                <a16:creationId xmlns:a16="http://schemas.microsoft.com/office/drawing/2014/main" id="{AFD88B26-8637-4771-A2F9-B6FFDE2D8C80}"/>
              </a:ext>
            </a:extLst>
          </p:cNvPr>
          <p:cNvGraphicFramePr>
            <a:graphicFrameLocks noGrp="1"/>
          </p:cNvGraphicFramePr>
          <p:nvPr/>
        </p:nvGraphicFramePr>
        <p:xfrm>
          <a:off x="4970119" y="1530670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392CD1D-1C95-406C-A0FD-7D1E8A836533}"/>
              </a:ext>
            </a:extLst>
          </p:cNvPr>
          <p:cNvCxnSpPr/>
          <p:nvPr/>
        </p:nvCxnSpPr>
        <p:spPr>
          <a:xfrm>
            <a:off x="4276565" y="3166971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2ADB9C3-971B-4270-B51A-0BA1D981589E}"/>
              </a:ext>
            </a:extLst>
          </p:cNvPr>
          <p:cNvCxnSpPr>
            <a:cxnSpLocks/>
          </p:cNvCxnSpPr>
          <p:nvPr/>
        </p:nvCxnSpPr>
        <p:spPr>
          <a:xfrm flipV="1">
            <a:off x="4276565" y="3207025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603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2" name="Table 2">
            <a:extLst>
              <a:ext uri="{FF2B5EF4-FFF2-40B4-BE49-F238E27FC236}">
                <a16:creationId xmlns:a16="http://schemas.microsoft.com/office/drawing/2014/main" id="{32DC8F76-FEB7-4085-B68F-81D46FB32B91}"/>
              </a:ext>
            </a:extLst>
          </p:cNvPr>
          <p:cNvGraphicFramePr>
            <a:graphicFrameLocks noGrp="1"/>
          </p:cNvGraphicFramePr>
          <p:nvPr/>
        </p:nvGraphicFramePr>
        <p:xfrm>
          <a:off x="2960927" y="1537439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E7548C-DB42-471F-A05F-0DE617D9A2DA}"/>
              </a:ext>
            </a:extLst>
          </p:cNvPr>
          <p:cNvCxnSpPr>
            <a:cxnSpLocks/>
          </p:cNvCxnSpPr>
          <p:nvPr/>
        </p:nvCxnSpPr>
        <p:spPr>
          <a:xfrm>
            <a:off x="2262685" y="384777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5B28DA-50F9-4213-B7F6-80B5E3266B8C}"/>
              </a:ext>
            </a:extLst>
          </p:cNvPr>
          <p:cNvCxnSpPr>
            <a:cxnSpLocks/>
          </p:cNvCxnSpPr>
          <p:nvPr/>
        </p:nvCxnSpPr>
        <p:spPr>
          <a:xfrm>
            <a:off x="2258020" y="454324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">
            <a:extLst>
              <a:ext uri="{FF2B5EF4-FFF2-40B4-BE49-F238E27FC236}">
                <a16:creationId xmlns:a16="http://schemas.microsoft.com/office/drawing/2014/main" id="{AFD88B26-8637-4771-A2F9-B6FFDE2D8C80}"/>
              </a:ext>
            </a:extLst>
          </p:cNvPr>
          <p:cNvGraphicFramePr>
            <a:graphicFrameLocks noGrp="1"/>
          </p:cNvGraphicFramePr>
          <p:nvPr/>
        </p:nvGraphicFramePr>
        <p:xfrm>
          <a:off x="4970119" y="1530670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392CD1D-1C95-406C-A0FD-7D1E8A836533}"/>
              </a:ext>
            </a:extLst>
          </p:cNvPr>
          <p:cNvCxnSpPr/>
          <p:nvPr/>
        </p:nvCxnSpPr>
        <p:spPr>
          <a:xfrm>
            <a:off x="4276565" y="3166971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2ADB9C3-971B-4270-B51A-0BA1D981589E}"/>
              </a:ext>
            </a:extLst>
          </p:cNvPr>
          <p:cNvCxnSpPr>
            <a:cxnSpLocks/>
          </p:cNvCxnSpPr>
          <p:nvPr/>
        </p:nvCxnSpPr>
        <p:spPr>
          <a:xfrm flipV="1">
            <a:off x="4276565" y="3207025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B3EA329-0AC6-4DAD-8CE9-CCBA9023C0B0}"/>
              </a:ext>
            </a:extLst>
          </p:cNvPr>
          <p:cNvSpPr/>
          <p:nvPr/>
        </p:nvSpPr>
        <p:spPr>
          <a:xfrm>
            <a:off x="176565" y="5329893"/>
            <a:ext cx="116789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Compare the next two items.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they in the right order?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201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2" name="Table 2">
            <a:extLst>
              <a:ext uri="{FF2B5EF4-FFF2-40B4-BE49-F238E27FC236}">
                <a16:creationId xmlns:a16="http://schemas.microsoft.com/office/drawing/2014/main" id="{32DC8F76-FEB7-4085-B68F-81D46FB32B91}"/>
              </a:ext>
            </a:extLst>
          </p:cNvPr>
          <p:cNvGraphicFramePr>
            <a:graphicFrameLocks noGrp="1"/>
          </p:cNvGraphicFramePr>
          <p:nvPr/>
        </p:nvGraphicFramePr>
        <p:xfrm>
          <a:off x="2960927" y="1537439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E7548C-DB42-471F-A05F-0DE617D9A2DA}"/>
              </a:ext>
            </a:extLst>
          </p:cNvPr>
          <p:cNvCxnSpPr>
            <a:cxnSpLocks/>
          </p:cNvCxnSpPr>
          <p:nvPr/>
        </p:nvCxnSpPr>
        <p:spPr>
          <a:xfrm>
            <a:off x="2262685" y="384777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5B28DA-50F9-4213-B7F6-80B5E3266B8C}"/>
              </a:ext>
            </a:extLst>
          </p:cNvPr>
          <p:cNvCxnSpPr>
            <a:cxnSpLocks/>
          </p:cNvCxnSpPr>
          <p:nvPr/>
        </p:nvCxnSpPr>
        <p:spPr>
          <a:xfrm>
            <a:off x="2258020" y="454324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">
            <a:extLst>
              <a:ext uri="{FF2B5EF4-FFF2-40B4-BE49-F238E27FC236}">
                <a16:creationId xmlns:a16="http://schemas.microsoft.com/office/drawing/2014/main" id="{AFD88B26-8637-4771-A2F9-B6FFDE2D8C80}"/>
              </a:ext>
            </a:extLst>
          </p:cNvPr>
          <p:cNvGraphicFramePr>
            <a:graphicFrameLocks noGrp="1"/>
          </p:cNvGraphicFramePr>
          <p:nvPr/>
        </p:nvGraphicFramePr>
        <p:xfrm>
          <a:off x="4970119" y="1530670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392CD1D-1C95-406C-A0FD-7D1E8A836533}"/>
              </a:ext>
            </a:extLst>
          </p:cNvPr>
          <p:cNvCxnSpPr/>
          <p:nvPr/>
        </p:nvCxnSpPr>
        <p:spPr>
          <a:xfrm>
            <a:off x="4276565" y="3166971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2ADB9C3-971B-4270-B51A-0BA1D981589E}"/>
              </a:ext>
            </a:extLst>
          </p:cNvPr>
          <p:cNvCxnSpPr>
            <a:cxnSpLocks/>
          </p:cNvCxnSpPr>
          <p:nvPr/>
        </p:nvCxnSpPr>
        <p:spPr>
          <a:xfrm flipV="1">
            <a:off x="4276565" y="3207025"/>
            <a:ext cx="712238" cy="662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B59E5D2-36C6-4DC3-A750-763A68886059}"/>
              </a:ext>
            </a:extLst>
          </p:cNvPr>
          <p:cNvSpPr/>
          <p:nvPr/>
        </p:nvSpPr>
        <p:spPr>
          <a:xfrm>
            <a:off x="176565" y="5329893"/>
            <a:ext cx="116789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are not, so swap them over.</a:t>
            </a:r>
            <a:endParaRPr lang="en-GB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second pass is now complete.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 be sure Weetabix and Sugar Puffs are in the correct place.</a:t>
            </a:r>
          </a:p>
        </p:txBody>
      </p:sp>
      <p:graphicFrame>
        <p:nvGraphicFramePr>
          <p:cNvPr id="33" name="Table 2">
            <a:extLst>
              <a:ext uri="{FF2B5EF4-FFF2-40B4-BE49-F238E27FC236}">
                <a16:creationId xmlns:a16="http://schemas.microsoft.com/office/drawing/2014/main" id="{98996552-6DAB-4C98-A341-C7F5092C7091}"/>
              </a:ext>
            </a:extLst>
          </p:cNvPr>
          <p:cNvGraphicFramePr>
            <a:graphicFrameLocks noGrp="1"/>
          </p:cNvGraphicFramePr>
          <p:nvPr/>
        </p:nvGraphicFramePr>
        <p:xfrm>
          <a:off x="9933980" y="1546270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571CD35-DACD-43E4-B76C-2E0A04D07357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6278926" y="2462500"/>
            <a:ext cx="3655054" cy="7584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5EE3205-1A8D-4634-917D-6A201F525905}"/>
              </a:ext>
            </a:extLst>
          </p:cNvPr>
          <p:cNvCxnSpPr>
            <a:cxnSpLocks/>
          </p:cNvCxnSpPr>
          <p:nvPr/>
        </p:nvCxnSpPr>
        <p:spPr>
          <a:xfrm flipV="1">
            <a:off x="6278926" y="2512642"/>
            <a:ext cx="3655054" cy="6523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174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9B1F1093-4BF5-421E-97F8-F8F4C360C10D}"/>
              </a:ext>
            </a:extLst>
          </p:cNvPr>
          <p:cNvSpPr/>
          <p:nvPr/>
        </p:nvSpPr>
        <p:spPr>
          <a:xfrm>
            <a:off x="176565" y="5329893"/>
            <a:ext cx="116789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Compare the first two items.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they in the right order?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994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9B1F1093-4BF5-421E-97F8-F8F4C360C10D}"/>
              </a:ext>
            </a:extLst>
          </p:cNvPr>
          <p:cNvSpPr/>
          <p:nvPr/>
        </p:nvSpPr>
        <p:spPr>
          <a:xfrm>
            <a:off x="176565" y="5329893"/>
            <a:ext cx="116789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are in the right order,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leave them where they are.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Table 2">
            <a:extLst>
              <a:ext uri="{FF2B5EF4-FFF2-40B4-BE49-F238E27FC236}">
                <a16:creationId xmlns:a16="http://schemas.microsoft.com/office/drawing/2014/main" id="{2AEE0887-3EDB-4061-8004-47274047C958}"/>
              </a:ext>
            </a:extLst>
          </p:cNvPr>
          <p:cNvGraphicFramePr>
            <a:graphicFrameLocks noGrp="1"/>
          </p:cNvGraphicFramePr>
          <p:nvPr/>
        </p:nvGraphicFramePr>
        <p:xfrm>
          <a:off x="2960927" y="1528107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EEC91F2-940C-4FB1-9089-AF83DE332AF6}"/>
              </a:ext>
            </a:extLst>
          </p:cNvPr>
          <p:cNvCxnSpPr>
            <a:cxnSpLocks/>
          </p:cNvCxnSpPr>
          <p:nvPr/>
        </p:nvCxnSpPr>
        <p:spPr>
          <a:xfrm>
            <a:off x="2262685" y="384777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FA70FAD-A8D5-4BDC-BFCF-D2F14C3B9A3A}"/>
              </a:ext>
            </a:extLst>
          </p:cNvPr>
          <p:cNvCxnSpPr>
            <a:cxnSpLocks/>
          </p:cNvCxnSpPr>
          <p:nvPr/>
        </p:nvCxnSpPr>
        <p:spPr>
          <a:xfrm>
            <a:off x="2258020" y="454324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639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9B1F1093-4BF5-421E-97F8-F8F4C360C10D}"/>
              </a:ext>
            </a:extLst>
          </p:cNvPr>
          <p:cNvSpPr/>
          <p:nvPr/>
        </p:nvSpPr>
        <p:spPr>
          <a:xfrm>
            <a:off x="176565" y="5329893"/>
            <a:ext cx="116789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Compare the next two items.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they in the right order?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Table 2">
            <a:extLst>
              <a:ext uri="{FF2B5EF4-FFF2-40B4-BE49-F238E27FC236}">
                <a16:creationId xmlns:a16="http://schemas.microsoft.com/office/drawing/2014/main" id="{2AEE0887-3EDB-4061-8004-47274047C958}"/>
              </a:ext>
            </a:extLst>
          </p:cNvPr>
          <p:cNvGraphicFramePr>
            <a:graphicFrameLocks noGrp="1"/>
          </p:cNvGraphicFramePr>
          <p:nvPr/>
        </p:nvGraphicFramePr>
        <p:xfrm>
          <a:off x="2960927" y="1528107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EEC91F2-940C-4FB1-9089-AF83DE332AF6}"/>
              </a:ext>
            </a:extLst>
          </p:cNvPr>
          <p:cNvCxnSpPr>
            <a:cxnSpLocks/>
          </p:cNvCxnSpPr>
          <p:nvPr/>
        </p:nvCxnSpPr>
        <p:spPr>
          <a:xfrm>
            <a:off x="2262685" y="384777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FA70FAD-A8D5-4BDC-BFCF-D2F14C3B9A3A}"/>
              </a:ext>
            </a:extLst>
          </p:cNvPr>
          <p:cNvCxnSpPr>
            <a:cxnSpLocks/>
          </p:cNvCxnSpPr>
          <p:nvPr/>
        </p:nvCxnSpPr>
        <p:spPr>
          <a:xfrm>
            <a:off x="2258020" y="454324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83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22" name="Table 2">
            <a:extLst>
              <a:ext uri="{FF2B5EF4-FFF2-40B4-BE49-F238E27FC236}">
                <a16:creationId xmlns:a16="http://schemas.microsoft.com/office/drawing/2014/main" id="{2AEE0887-3EDB-4061-8004-47274047C958}"/>
              </a:ext>
            </a:extLst>
          </p:cNvPr>
          <p:cNvGraphicFramePr>
            <a:graphicFrameLocks noGrp="1"/>
          </p:cNvGraphicFramePr>
          <p:nvPr/>
        </p:nvGraphicFramePr>
        <p:xfrm>
          <a:off x="2960927" y="1528107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EEC91F2-940C-4FB1-9089-AF83DE332AF6}"/>
              </a:ext>
            </a:extLst>
          </p:cNvPr>
          <p:cNvCxnSpPr>
            <a:cxnSpLocks/>
          </p:cNvCxnSpPr>
          <p:nvPr/>
        </p:nvCxnSpPr>
        <p:spPr>
          <a:xfrm>
            <a:off x="2262685" y="384777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FA70FAD-A8D5-4BDC-BFCF-D2F14C3B9A3A}"/>
              </a:ext>
            </a:extLst>
          </p:cNvPr>
          <p:cNvCxnSpPr>
            <a:cxnSpLocks/>
          </p:cNvCxnSpPr>
          <p:nvPr/>
        </p:nvCxnSpPr>
        <p:spPr>
          <a:xfrm>
            <a:off x="2258020" y="4543241"/>
            <a:ext cx="693554" cy="9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93D8155-A544-4D68-ABDF-5D57BF6C184E}"/>
              </a:ext>
            </a:extLst>
          </p:cNvPr>
          <p:cNvSpPr/>
          <p:nvPr/>
        </p:nvSpPr>
        <p:spPr>
          <a:xfrm>
            <a:off x="176565" y="5329893"/>
            <a:ext cx="116789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are not, so swap them over.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third pass is now complete.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 be sure Weetabix, Sugar Puffs and Fruit ‘n’ Fibre are in the correct place.</a:t>
            </a:r>
          </a:p>
        </p:txBody>
      </p:sp>
      <p:graphicFrame>
        <p:nvGraphicFramePr>
          <p:cNvPr id="24" name="Table 2">
            <a:extLst>
              <a:ext uri="{FF2B5EF4-FFF2-40B4-BE49-F238E27FC236}">
                <a16:creationId xmlns:a16="http://schemas.microsoft.com/office/drawing/2014/main" id="{684D8EEF-1D4D-4E07-9A5E-F4BC447B9223}"/>
              </a:ext>
            </a:extLst>
          </p:cNvPr>
          <p:cNvGraphicFramePr>
            <a:graphicFrameLocks noGrp="1"/>
          </p:cNvGraphicFramePr>
          <p:nvPr/>
        </p:nvGraphicFramePr>
        <p:xfrm>
          <a:off x="9933980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6F576B5-485D-4D4F-ACD8-7F402DF768E7}"/>
              </a:ext>
            </a:extLst>
          </p:cNvPr>
          <p:cNvCxnSpPr>
            <a:cxnSpLocks/>
          </p:cNvCxnSpPr>
          <p:nvPr/>
        </p:nvCxnSpPr>
        <p:spPr>
          <a:xfrm>
            <a:off x="4277528" y="3156857"/>
            <a:ext cx="5646136" cy="6974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21123BE-137F-4F36-A35C-64BE19462216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4277528" y="3193461"/>
            <a:ext cx="5656452" cy="6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510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9B1F1093-4BF5-421E-97F8-F8F4C360C10D}"/>
              </a:ext>
            </a:extLst>
          </p:cNvPr>
          <p:cNvSpPr/>
          <p:nvPr/>
        </p:nvSpPr>
        <p:spPr>
          <a:xfrm>
            <a:off x="176565" y="5329893"/>
            <a:ext cx="116789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Compare the first two items.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they in the right order?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648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170B3E-BAC9-428D-92CE-D13647A01FF0}"/>
              </a:ext>
            </a:extLst>
          </p:cNvPr>
          <p:cNvGrpSpPr/>
          <p:nvPr/>
        </p:nvGrpSpPr>
        <p:grpSpPr>
          <a:xfrm>
            <a:off x="631371" y="1528107"/>
            <a:ext cx="10966582" cy="3322375"/>
            <a:chOff x="631371" y="1528107"/>
            <a:chExt cx="10966582" cy="3322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E6A43FB-14B4-489A-B6E0-418E9D82E166}"/>
                </a:ext>
              </a:extLst>
            </p:cNvPr>
            <p:cNvCxnSpPr/>
            <p:nvPr/>
          </p:nvCxnSpPr>
          <p:spPr>
            <a:xfrm>
              <a:off x="631371" y="2183363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873EE6D-BA56-4686-ADC9-63E52E272FE7}"/>
                </a:ext>
              </a:extLst>
            </p:cNvPr>
            <p:cNvCxnSpPr/>
            <p:nvPr/>
          </p:nvCxnSpPr>
          <p:spPr>
            <a:xfrm>
              <a:off x="631371" y="2858278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B09BF-4518-4B84-AD9C-2045928EE5DE}"/>
                </a:ext>
              </a:extLst>
            </p:cNvPr>
            <p:cNvCxnSpPr/>
            <p:nvPr/>
          </p:nvCxnSpPr>
          <p:spPr>
            <a:xfrm>
              <a:off x="631371" y="352386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CF3871-648E-4D29-A329-EEC1DDAB1198}"/>
                </a:ext>
              </a:extLst>
            </p:cNvPr>
            <p:cNvCxnSpPr/>
            <p:nvPr/>
          </p:nvCxnSpPr>
          <p:spPr>
            <a:xfrm>
              <a:off x="631371" y="4198776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EE64F08-9EDD-42EC-B38A-3EA7443BBCBA}"/>
                </a:ext>
              </a:extLst>
            </p:cNvPr>
            <p:cNvCxnSpPr/>
            <p:nvPr/>
          </p:nvCxnSpPr>
          <p:spPr>
            <a:xfrm>
              <a:off x="631371" y="1528107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40CA5B-799C-4CC0-8831-FE185A597F24}"/>
                </a:ext>
              </a:extLst>
            </p:cNvPr>
            <p:cNvCxnSpPr/>
            <p:nvPr/>
          </p:nvCxnSpPr>
          <p:spPr>
            <a:xfrm>
              <a:off x="631371" y="4850482"/>
              <a:ext cx="1096658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095F2D4-6384-4139-ADB4-D00FA4237370}"/>
              </a:ext>
            </a:extLst>
          </p:cNvPr>
          <p:cNvGraphicFramePr>
            <a:graphicFrameLocks noGrp="1"/>
          </p:cNvGraphicFramePr>
          <p:nvPr/>
        </p:nvGraphicFramePr>
        <p:xfrm>
          <a:off x="951735" y="1518776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802D30E7-1EC2-4CF5-BD9E-C70D21C25688}"/>
              </a:ext>
            </a:extLst>
          </p:cNvPr>
          <p:cNvGraphicFramePr>
            <a:graphicFrameLocks noGrp="1"/>
          </p:cNvGraphicFramePr>
          <p:nvPr/>
        </p:nvGraphicFramePr>
        <p:xfrm>
          <a:off x="11597953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4767F3F-8246-479B-82E4-1105C176D89B}"/>
              </a:ext>
            </a:extLst>
          </p:cNvPr>
          <p:cNvGraphicFramePr>
            <a:graphicFrameLocks noGrp="1"/>
          </p:cNvGraphicFramePr>
          <p:nvPr/>
        </p:nvGraphicFramePr>
        <p:xfrm>
          <a:off x="176565" y="1518776"/>
          <a:ext cx="454806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806">
                  <a:extLst>
                    <a:ext uri="{9D8B030D-6E8A-4147-A177-3AD203B41FA5}">
                      <a16:colId xmlns:a16="http://schemas.microsoft.com/office/drawing/2014/main" val="2033507764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83E8103C-0A6B-471A-B569-96A34F60751A}"/>
              </a:ext>
            </a:extLst>
          </p:cNvPr>
          <p:cNvSpPr/>
          <p:nvPr/>
        </p:nvSpPr>
        <p:spPr>
          <a:xfrm>
            <a:off x="176565" y="5329893"/>
            <a:ext cx="116789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are not, so swap them over.</a:t>
            </a:r>
            <a:endParaRPr lang="en-GB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fourth pass is now complete.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 be sure all the items are in the correct order.</a:t>
            </a:r>
          </a:p>
        </p:txBody>
      </p:sp>
      <p:graphicFrame>
        <p:nvGraphicFramePr>
          <p:cNvPr id="23" name="Table 2">
            <a:extLst>
              <a:ext uri="{FF2B5EF4-FFF2-40B4-BE49-F238E27FC236}">
                <a16:creationId xmlns:a16="http://schemas.microsoft.com/office/drawing/2014/main" id="{59EE8F4D-B0E2-4406-AAF5-F2BBD3FFBC9A}"/>
              </a:ext>
            </a:extLst>
          </p:cNvPr>
          <p:cNvGraphicFramePr>
            <a:graphicFrameLocks noGrp="1"/>
          </p:cNvGraphicFramePr>
          <p:nvPr/>
        </p:nvGraphicFramePr>
        <p:xfrm>
          <a:off x="9943311" y="1537439"/>
          <a:ext cx="1306285" cy="334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3365648210"/>
                    </a:ext>
                  </a:extLst>
                </a:gridCol>
              </a:tblGrid>
              <a:tr h="66987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Weetabix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103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Sugar Puffs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56824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Fruit ‘n’ Fibre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587653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Crunchy Nut Clusters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9428"/>
                  </a:ext>
                </a:extLst>
              </a:tr>
              <a:tr h="669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Cornflakes</a:t>
                      </a:r>
                      <a:endParaRPr lang="en-GB" dirty="0"/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614372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822E09-1F0A-47B7-B783-9991B5A01EEF}"/>
              </a:ext>
            </a:extLst>
          </p:cNvPr>
          <p:cNvCxnSpPr>
            <a:cxnSpLocks/>
          </p:cNvCxnSpPr>
          <p:nvPr/>
        </p:nvCxnSpPr>
        <p:spPr>
          <a:xfrm>
            <a:off x="2258020" y="3819880"/>
            <a:ext cx="7685291" cy="7295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A2F5878-E0E8-409C-846C-88AE6EC0F406}"/>
              </a:ext>
            </a:extLst>
          </p:cNvPr>
          <p:cNvCxnSpPr>
            <a:cxnSpLocks/>
          </p:cNvCxnSpPr>
          <p:nvPr/>
        </p:nvCxnSpPr>
        <p:spPr>
          <a:xfrm flipV="1">
            <a:off x="2258020" y="3857010"/>
            <a:ext cx="7685291" cy="6653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694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68E134-989D-4E65-A448-BD0ECE9C64CB}"/>
              </a:ext>
            </a:extLst>
          </p:cNvPr>
          <p:cNvSpPr/>
          <p:nvPr/>
        </p:nvSpPr>
        <p:spPr>
          <a:xfrm>
            <a:off x="176565" y="1202724"/>
            <a:ext cx="616708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FUNCTION bubbleSort(items)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n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swapped : BOOLEAN</a:t>
            </a:r>
            <a:endParaRPr lang="en-GB" sz="1600" dirty="0">
              <a:latin typeface="Consolas" panose="020B0609020204030204" pitchFamily="49" charset="0"/>
            </a:endParaRP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items.Length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&gt; 0 AND swapped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FOR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TO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IF items[index] &gt; items[index+1]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Swap(items[index], items[index+1])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ENDIF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NEXT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RETURN items 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ENDFUNCTION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CD32-175E-E9BD-8F00-1A7FD380C9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45E1342-DA15-88C1-FDDD-6B798BE48C56}"/>
              </a:ext>
            </a:extLst>
          </p:cNvPr>
          <p:cNvSpPr/>
          <p:nvPr/>
        </p:nvSpPr>
        <p:spPr>
          <a:xfrm>
            <a:off x="7239000" y="897148"/>
            <a:ext cx="48672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have declared a function called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bubbleSort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 takes in one parameter – an array of data items we want to sort, called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5805E4-24CA-60F8-80E9-A16FFAB78FF8}"/>
              </a:ext>
            </a:extLst>
          </p:cNvPr>
          <p:cNvSpPr/>
          <p:nvPr/>
        </p:nvSpPr>
        <p:spPr>
          <a:xfrm>
            <a:off x="-1" y="1220314"/>
            <a:ext cx="6662055" cy="29416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F0ABCF-6EA8-CC15-65D2-D2ADF5D3B979}"/>
              </a:ext>
            </a:extLst>
          </p:cNvPr>
          <p:cNvSpPr/>
          <p:nvPr/>
        </p:nvSpPr>
        <p:spPr>
          <a:xfrm>
            <a:off x="-2" y="5866757"/>
            <a:ext cx="6662055" cy="29416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485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68E134-989D-4E65-A448-BD0ECE9C64CB}"/>
              </a:ext>
            </a:extLst>
          </p:cNvPr>
          <p:cNvSpPr/>
          <p:nvPr/>
        </p:nvSpPr>
        <p:spPr>
          <a:xfrm>
            <a:off x="176565" y="1202724"/>
            <a:ext cx="616708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FUNCTION bubbleSort(items)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n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swapped : BOOLEAN</a:t>
            </a:r>
            <a:endParaRPr lang="en-GB" sz="1600" dirty="0">
              <a:latin typeface="Consolas" panose="020B0609020204030204" pitchFamily="49" charset="0"/>
            </a:endParaRP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items.Length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&gt; 0 AND swapped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FOR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TO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IF items[index] &gt; items[index+1]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Swap(items[index], items[index+1])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ENDIF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NEXT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RETURN items 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ENDFUNCTION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CD32-175E-E9BD-8F00-1A7FD380C9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03039A-59FD-B55D-5104-D2DC1684991C}"/>
              </a:ext>
            </a:extLst>
          </p:cNvPr>
          <p:cNvSpPr/>
          <p:nvPr/>
        </p:nvSpPr>
        <p:spPr>
          <a:xfrm>
            <a:off x="-1" y="1515589"/>
            <a:ext cx="3667125" cy="470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15D7E-F6FF-4E07-8905-B276D86C6718}"/>
              </a:ext>
            </a:extLst>
          </p:cNvPr>
          <p:cNvSpPr/>
          <p:nvPr/>
        </p:nvSpPr>
        <p:spPr>
          <a:xfrm>
            <a:off x="7239000" y="897148"/>
            <a:ext cx="486727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declare two additional local variables to use during the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bubbleSort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An integer used to keep track of how far through the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array we will need to travel on each pass through the WHILE loop.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swapped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Boolean flag we set to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if we have just performed a swap during the sort function.</a:t>
            </a:r>
          </a:p>
        </p:txBody>
      </p:sp>
    </p:spTree>
    <p:extLst>
      <p:ext uri="{BB962C8B-B14F-4D97-AF65-F5344CB8AC3E}">
        <p14:creationId xmlns:p14="http://schemas.microsoft.com/office/powerpoint/2010/main" val="2884823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68E134-989D-4E65-A448-BD0ECE9C64CB}"/>
              </a:ext>
            </a:extLst>
          </p:cNvPr>
          <p:cNvSpPr/>
          <p:nvPr/>
        </p:nvSpPr>
        <p:spPr>
          <a:xfrm>
            <a:off x="176565" y="1202724"/>
            <a:ext cx="616708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FUNCTION bubbleSort(items)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n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swapped : BOOLEAN</a:t>
            </a:r>
            <a:endParaRPr lang="en-GB" sz="1600" dirty="0">
              <a:latin typeface="Consolas" panose="020B0609020204030204" pitchFamily="49" charset="0"/>
            </a:endParaRP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items.Length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&gt; 0 AND swapped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FOR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TO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IF items[index] &gt; items[index+1]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Swap(items[index], items[index+1])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ENDIF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NEXT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RETURN items 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ENDFUNCTION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CD32-175E-E9BD-8F00-1A7FD380C9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03039A-59FD-B55D-5104-D2DC1684991C}"/>
              </a:ext>
            </a:extLst>
          </p:cNvPr>
          <p:cNvSpPr/>
          <p:nvPr/>
        </p:nvSpPr>
        <p:spPr>
          <a:xfrm>
            <a:off x="0" y="2239489"/>
            <a:ext cx="2809876" cy="470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15D7E-F6FF-4E07-8905-B276D86C6718}"/>
              </a:ext>
            </a:extLst>
          </p:cNvPr>
          <p:cNvSpPr/>
          <p:nvPr/>
        </p:nvSpPr>
        <p:spPr>
          <a:xfrm>
            <a:off x="7239000" y="897148"/>
            <a:ext cx="48672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We now set </a:t>
            </a:r>
            <a:r>
              <a:rPr lang="en-GB" i="1" dirty="0"/>
              <a:t>n</a:t>
            </a:r>
            <a:r>
              <a:rPr lang="en-GB" dirty="0"/>
              <a:t> to the length of the </a:t>
            </a:r>
            <a:r>
              <a:rPr lang="en-GB" i="1" dirty="0"/>
              <a:t>items</a:t>
            </a:r>
            <a:r>
              <a:rPr lang="en-GB" dirty="0"/>
              <a:t> array and initialise the </a:t>
            </a:r>
            <a:r>
              <a:rPr lang="en-GB" i="1" dirty="0"/>
              <a:t>swapped</a:t>
            </a:r>
            <a:r>
              <a:rPr lang="en-GB" dirty="0"/>
              <a:t> flag to </a:t>
            </a:r>
            <a:r>
              <a:rPr lang="en-GB" i="1" dirty="0"/>
              <a:t>true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2595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68E134-989D-4E65-A448-BD0ECE9C64CB}"/>
              </a:ext>
            </a:extLst>
          </p:cNvPr>
          <p:cNvSpPr/>
          <p:nvPr/>
        </p:nvSpPr>
        <p:spPr>
          <a:xfrm>
            <a:off x="176565" y="1202724"/>
            <a:ext cx="616708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FUNCTION bubbleSort(items)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n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swapped : BOOLEAN</a:t>
            </a:r>
            <a:endParaRPr lang="en-GB" sz="1600" dirty="0">
              <a:latin typeface="Consolas" panose="020B0609020204030204" pitchFamily="49" charset="0"/>
            </a:endParaRP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items.Length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&gt; 0 AND swapped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FOR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TO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IF items[index] &gt; items[index+1]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Swap(items[index], items[index+1])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ENDIF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NEXT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RETURN items 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ENDFUNCTION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CD32-175E-E9BD-8F00-1A7FD380C9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03039A-59FD-B55D-5104-D2DC1684991C}"/>
              </a:ext>
            </a:extLst>
          </p:cNvPr>
          <p:cNvSpPr/>
          <p:nvPr/>
        </p:nvSpPr>
        <p:spPr>
          <a:xfrm>
            <a:off x="-1" y="2925289"/>
            <a:ext cx="6270171" cy="28463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15D7E-F6FF-4E07-8905-B276D86C6718}"/>
              </a:ext>
            </a:extLst>
          </p:cNvPr>
          <p:cNvSpPr/>
          <p:nvPr/>
        </p:nvSpPr>
        <p:spPr>
          <a:xfrm>
            <a:off x="7239000" y="897148"/>
            <a:ext cx="48672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Now we enter a WHILE loop that will run as long as </a:t>
            </a:r>
            <a:r>
              <a:rPr lang="en-GB" i="1" dirty="0"/>
              <a:t>n</a:t>
            </a:r>
            <a:r>
              <a:rPr lang="en-GB" dirty="0"/>
              <a:t> is greater than 0 and swaps are taking place.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CB17A3-5849-52FD-C341-382849795EEC}"/>
              </a:ext>
            </a:extLst>
          </p:cNvPr>
          <p:cNvSpPr/>
          <p:nvPr/>
        </p:nvSpPr>
        <p:spPr>
          <a:xfrm>
            <a:off x="18662" y="2905125"/>
            <a:ext cx="6251509" cy="275015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2935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68E134-989D-4E65-A448-BD0ECE9C64CB}"/>
              </a:ext>
            </a:extLst>
          </p:cNvPr>
          <p:cNvSpPr/>
          <p:nvPr/>
        </p:nvSpPr>
        <p:spPr>
          <a:xfrm>
            <a:off x="176565" y="1202724"/>
            <a:ext cx="616708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FUNCTION bubbleSort(items)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n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swapped : BOOLEAN</a:t>
            </a:r>
            <a:endParaRPr lang="en-GB" sz="1600" dirty="0">
              <a:latin typeface="Consolas" panose="020B0609020204030204" pitchFamily="49" charset="0"/>
            </a:endParaRP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items.Length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&gt; 0 AND swapped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FOR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TO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IF items[index] &gt; items[index+1]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Swap(items[index], items[index+1])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ENDIF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NEXT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RETURN items 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ENDFUNCTION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CD32-175E-E9BD-8F00-1A7FD380C9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E515D7E-F6FF-4E07-8905-B276D86C6718}"/>
              </a:ext>
            </a:extLst>
          </p:cNvPr>
          <p:cNvSpPr/>
          <p:nvPr/>
        </p:nvSpPr>
        <p:spPr>
          <a:xfrm>
            <a:off x="7239000" y="897148"/>
            <a:ext cx="486727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Every time we start a new pass through the WHILE loop, we set the </a:t>
            </a:r>
            <a:r>
              <a:rPr lang="en-GB" i="1" dirty="0"/>
              <a:t>swapped</a:t>
            </a:r>
            <a:r>
              <a:rPr lang="en-GB" dirty="0"/>
              <a:t> flag to </a:t>
            </a:r>
            <a:r>
              <a:rPr lang="en-GB" i="1" dirty="0"/>
              <a:t>false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In other words, each time through the loop, we assume a swap doesn’t need to be made until we discover otherwise.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202E72-7C61-B276-477D-C0CBD2B79D85}"/>
              </a:ext>
            </a:extLst>
          </p:cNvPr>
          <p:cNvSpPr/>
          <p:nvPr/>
        </p:nvSpPr>
        <p:spPr>
          <a:xfrm>
            <a:off x="-1" y="3182464"/>
            <a:ext cx="3105151" cy="28463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734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68E134-989D-4E65-A448-BD0ECE9C64CB}"/>
              </a:ext>
            </a:extLst>
          </p:cNvPr>
          <p:cNvSpPr/>
          <p:nvPr/>
        </p:nvSpPr>
        <p:spPr>
          <a:xfrm>
            <a:off x="176565" y="1202724"/>
            <a:ext cx="616708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FUNCTION bubbleSort(items)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n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swapped : BOOLEAN</a:t>
            </a:r>
            <a:endParaRPr lang="en-GB" sz="1600" dirty="0">
              <a:latin typeface="Consolas" panose="020B0609020204030204" pitchFamily="49" charset="0"/>
            </a:endParaRP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items.Length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&gt; 0 AND swapped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FOR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TO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IF items[index] &gt; items[index+1]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Swap(items[index], items[index+1])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ENDIF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NEXT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RETURN items 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ENDFUNCTION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CD32-175E-E9BD-8F00-1A7FD380C9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E515D7E-F6FF-4E07-8905-B276D86C6718}"/>
              </a:ext>
            </a:extLst>
          </p:cNvPr>
          <p:cNvSpPr/>
          <p:nvPr/>
        </p:nvSpPr>
        <p:spPr>
          <a:xfrm>
            <a:off x="7239000" y="897148"/>
            <a:ext cx="48672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The array is zero-indexed – the first item starts at position 0, not position 1 – so we decrement the number of items to check by 1.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202E72-7C61-B276-477D-C0CBD2B79D85}"/>
              </a:ext>
            </a:extLst>
          </p:cNvPr>
          <p:cNvSpPr/>
          <p:nvPr/>
        </p:nvSpPr>
        <p:spPr>
          <a:xfrm>
            <a:off x="-1" y="3430114"/>
            <a:ext cx="2514601" cy="28463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22566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68E134-989D-4E65-A448-BD0ECE9C64CB}"/>
              </a:ext>
            </a:extLst>
          </p:cNvPr>
          <p:cNvSpPr/>
          <p:nvPr/>
        </p:nvSpPr>
        <p:spPr>
          <a:xfrm>
            <a:off x="176565" y="1202724"/>
            <a:ext cx="616708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FUNCTION bubbleSort(items)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n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swapped : BOOLEAN</a:t>
            </a:r>
            <a:endParaRPr lang="en-GB" sz="1600" dirty="0">
              <a:latin typeface="Consolas" panose="020B0609020204030204" pitchFamily="49" charset="0"/>
            </a:endParaRP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items.Length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&gt; 0 AND swapped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FOR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TO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IF items[index] &gt; items[index+1]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Swap(items[index], items[index+1])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ENDIF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NEXT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RETURN items 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ENDFUNCTION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CD32-175E-E9BD-8F00-1A7FD380C9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E515D7E-F6FF-4E07-8905-B276D86C6718}"/>
              </a:ext>
            </a:extLst>
          </p:cNvPr>
          <p:cNvSpPr/>
          <p:nvPr/>
        </p:nvSpPr>
        <p:spPr>
          <a:xfrm>
            <a:off x="7239000" y="897148"/>
            <a:ext cx="48672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Next we enter a FOR loop that will run </a:t>
            </a:r>
            <a:r>
              <a:rPr lang="en-GB" i="1" dirty="0"/>
              <a:t>n</a:t>
            </a:r>
            <a:r>
              <a:rPr lang="en-GB" dirty="0"/>
              <a:t> number of times – in other words, check every item.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DCFD8E-4CE2-CE5F-A376-847C64AE1475}"/>
              </a:ext>
            </a:extLst>
          </p:cNvPr>
          <p:cNvSpPr/>
          <p:nvPr/>
        </p:nvSpPr>
        <p:spPr>
          <a:xfrm>
            <a:off x="-1" y="3658714"/>
            <a:ext cx="6270171" cy="28463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321640-21EC-7A7F-F4D5-DC20B8715E56}"/>
              </a:ext>
            </a:extLst>
          </p:cNvPr>
          <p:cNvSpPr/>
          <p:nvPr/>
        </p:nvSpPr>
        <p:spPr>
          <a:xfrm>
            <a:off x="18662" y="3638550"/>
            <a:ext cx="6251509" cy="1781175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13990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68E134-989D-4E65-A448-BD0ECE9C64CB}"/>
              </a:ext>
            </a:extLst>
          </p:cNvPr>
          <p:cNvSpPr/>
          <p:nvPr/>
        </p:nvSpPr>
        <p:spPr>
          <a:xfrm>
            <a:off x="176565" y="1202724"/>
            <a:ext cx="616708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FUNCTION bubbleSort(items)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n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swapped : BOOLEAN</a:t>
            </a:r>
            <a:endParaRPr lang="en-GB" sz="1600" dirty="0">
              <a:latin typeface="Consolas" panose="020B0609020204030204" pitchFamily="49" charset="0"/>
            </a:endParaRP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items.Length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&gt; 0 AND swapped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FOR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TO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IF items[index] &gt; items[index+1]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Swap(items[index], items[index+1])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ENDIF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NEXT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RETURN items 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ENDFUNCTION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CD32-175E-E9BD-8F00-1A7FD380C9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E515D7E-F6FF-4E07-8905-B276D86C6718}"/>
              </a:ext>
            </a:extLst>
          </p:cNvPr>
          <p:cNvSpPr/>
          <p:nvPr/>
        </p:nvSpPr>
        <p:spPr>
          <a:xfrm>
            <a:off x="7239000" y="897148"/>
            <a:ext cx="48672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Now we use an IF statement to check an item in the array against the item next to it.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DCFD8E-4CE2-CE5F-A376-847C64AE1475}"/>
              </a:ext>
            </a:extLst>
          </p:cNvPr>
          <p:cNvSpPr/>
          <p:nvPr/>
        </p:nvSpPr>
        <p:spPr>
          <a:xfrm>
            <a:off x="-1" y="3925414"/>
            <a:ext cx="6270171" cy="28463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321640-21EC-7A7F-F4D5-DC20B8715E56}"/>
              </a:ext>
            </a:extLst>
          </p:cNvPr>
          <p:cNvSpPr/>
          <p:nvPr/>
        </p:nvSpPr>
        <p:spPr>
          <a:xfrm>
            <a:off x="18662" y="3905251"/>
            <a:ext cx="6251509" cy="1257300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050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68E134-989D-4E65-A448-BD0ECE9C64CB}"/>
              </a:ext>
            </a:extLst>
          </p:cNvPr>
          <p:cNvSpPr/>
          <p:nvPr/>
        </p:nvSpPr>
        <p:spPr>
          <a:xfrm>
            <a:off x="176565" y="1202724"/>
            <a:ext cx="616708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FUNCTION bubbleSort(items)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n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swapped : BOOLEAN</a:t>
            </a:r>
            <a:endParaRPr lang="en-GB" sz="1600" dirty="0">
              <a:latin typeface="Consolas" panose="020B0609020204030204" pitchFamily="49" charset="0"/>
            </a:endParaRP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items.Length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&gt; 0 AND swapped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FOR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TO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IF items[index] &gt; items[index+1]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Swap(items[index], items[index+1])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ENDIF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NEXT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RETURN items 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ENDFUNCTION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CD32-175E-E9BD-8F00-1A7FD380C9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E515D7E-F6FF-4E07-8905-B276D86C6718}"/>
              </a:ext>
            </a:extLst>
          </p:cNvPr>
          <p:cNvSpPr/>
          <p:nvPr/>
        </p:nvSpPr>
        <p:spPr>
          <a:xfrm>
            <a:off x="7239000" y="897148"/>
            <a:ext cx="486727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If the item is greater than the one we are comparing it to, it needs to be swapped. </a:t>
            </a:r>
          </a:p>
          <a:p>
            <a:endParaRPr lang="en-GB" dirty="0"/>
          </a:p>
          <a:p>
            <a:r>
              <a:rPr lang="en-GB" dirty="0"/>
              <a:t>Here we have used a made-up function that will perform the swap for us. Instead, we could use a temporary variable to perform the swap:</a:t>
            </a:r>
          </a:p>
          <a:p>
            <a:endParaRPr lang="en-GB" dirty="0"/>
          </a:p>
          <a:p>
            <a:r>
              <a:rPr lang="en-GB" sz="1800" dirty="0">
                <a:latin typeface="Consolas" panose="020B0609020204030204" pitchFamily="49" charset="0"/>
              </a:rPr>
              <a:t>   temp </a:t>
            </a:r>
            <a:r>
              <a:rPr lang="en-GB" sz="1800" dirty="0">
                <a:latin typeface="Wingdings" panose="05000000000000000000" pitchFamily="2" charset="2"/>
              </a:rPr>
              <a:t>ß</a:t>
            </a:r>
            <a:r>
              <a:rPr lang="en-GB" sz="1800" dirty="0">
                <a:latin typeface="Consolas" panose="020B0609020204030204" pitchFamily="49" charset="0"/>
              </a:rPr>
              <a:t> items[index]</a:t>
            </a:r>
          </a:p>
          <a:p>
            <a:r>
              <a:rPr lang="en-GB" sz="1800" dirty="0">
                <a:latin typeface="Consolas" panose="020B0609020204030204" pitchFamily="49" charset="0"/>
              </a:rPr>
              <a:t>   items[index] </a:t>
            </a:r>
            <a:r>
              <a:rPr lang="en-GB" sz="1800" dirty="0">
                <a:latin typeface="Wingdings" panose="05000000000000000000" pitchFamily="2" charset="2"/>
              </a:rPr>
              <a:t>ß</a:t>
            </a:r>
            <a:r>
              <a:rPr lang="en-GB" sz="1800" dirty="0">
                <a:latin typeface="Consolas" panose="020B0609020204030204" pitchFamily="49" charset="0"/>
              </a:rPr>
              <a:t> items[index + 1]</a:t>
            </a:r>
          </a:p>
          <a:p>
            <a:r>
              <a:rPr lang="en-GB" sz="1800" dirty="0">
                <a:latin typeface="Consolas" panose="020B0609020204030204" pitchFamily="49" charset="0"/>
              </a:rPr>
              <a:t>   items[index + 1] </a:t>
            </a:r>
            <a:r>
              <a:rPr lang="en-GB" sz="1800" dirty="0">
                <a:latin typeface="Wingdings" panose="05000000000000000000" pitchFamily="2" charset="2"/>
              </a:rPr>
              <a:t>ß</a:t>
            </a:r>
            <a:r>
              <a:rPr lang="en-GB" sz="1800" dirty="0">
                <a:latin typeface="Consolas" panose="020B0609020204030204" pitchFamily="49" charset="0"/>
              </a:rPr>
              <a:t> temp</a:t>
            </a:r>
          </a:p>
          <a:p>
            <a:endParaRPr lang="en-GB" dirty="0"/>
          </a:p>
          <a:p>
            <a:r>
              <a:rPr lang="en-GB" dirty="0"/>
              <a:t>We also set the </a:t>
            </a:r>
            <a:r>
              <a:rPr lang="en-GB" i="1" dirty="0"/>
              <a:t>swapped</a:t>
            </a:r>
            <a:r>
              <a:rPr lang="en-GB" dirty="0"/>
              <a:t> flag to </a:t>
            </a:r>
            <a:r>
              <a:rPr lang="en-GB" i="1" dirty="0"/>
              <a:t>true</a:t>
            </a:r>
            <a:r>
              <a:rPr lang="en-GB" dirty="0"/>
              <a:t> to indicate that a swap has just taken place.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DCFD8E-4CE2-CE5F-A376-847C64AE1475}"/>
              </a:ext>
            </a:extLst>
          </p:cNvPr>
          <p:cNvSpPr/>
          <p:nvPr/>
        </p:nvSpPr>
        <p:spPr>
          <a:xfrm>
            <a:off x="-1" y="4392139"/>
            <a:ext cx="6270171" cy="55133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86286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 sort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68E134-989D-4E65-A448-BD0ECE9C64CB}"/>
              </a:ext>
            </a:extLst>
          </p:cNvPr>
          <p:cNvSpPr/>
          <p:nvPr/>
        </p:nvSpPr>
        <p:spPr>
          <a:xfrm>
            <a:off x="176565" y="1202724"/>
            <a:ext cx="616708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FUNCTION bubbleSort(items)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n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swapped : BOOLEAN</a:t>
            </a:r>
            <a:endParaRPr lang="en-GB" sz="1600" dirty="0">
              <a:latin typeface="Consolas" panose="020B0609020204030204" pitchFamily="49" charset="0"/>
            </a:endParaRP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items.Length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&gt; 0 AND swapped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FOR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TO n - 1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IF items[index] &gt; items[index+1]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Swap(items[index], items[index+1])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swapped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ENDIF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NEXT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RETURN items 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ENDFUNCTION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CD32-175E-E9BD-8F00-1A7FD380C9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E515D7E-F6FF-4E07-8905-B276D86C6718}"/>
              </a:ext>
            </a:extLst>
          </p:cNvPr>
          <p:cNvSpPr/>
          <p:nvPr/>
        </p:nvSpPr>
        <p:spPr>
          <a:xfrm>
            <a:off x="7239000" y="897148"/>
            <a:ext cx="48672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When the WHILE loop is exited, we know all the data in the </a:t>
            </a:r>
            <a:r>
              <a:rPr lang="en-GB" i="1" dirty="0"/>
              <a:t>items</a:t>
            </a:r>
            <a:r>
              <a:rPr lang="en-GB" dirty="0"/>
              <a:t> array must be sorted. So, the only thing left to do is return the sorted array and exit the </a:t>
            </a:r>
            <a:r>
              <a:rPr lang="en-GB" i="1" dirty="0"/>
              <a:t>bubbleSort</a:t>
            </a:r>
            <a:r>
              <a:rPr lang="en-GB" dirty="0"/>
              <a:t> function.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DCFD8E-4CE2-CE5F-A376-847C64AE1475}"/>
              </a:ext>
            </a:extLst>
          </p:cNvPr>
          <p:cNvSpPr/>
          <p:nvPr/>
        </p:nvSpPr>
        <p:spPr>
          <a:xfrm>
            <a:off x="-1" y="5645751"/>
            <a:ext cx="2209801" cy="25022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4987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3454301" cy="2964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pseudocode in these videos follows the exact style that will be used in the exams.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full set of pseudocode is defined in the syllabus: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(9-1) Computer Science – 0984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(A*-G) Computer Science – 0478 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450B5BDE-177C-FC59-3759-7C98E8449A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509" y="874324"/>
            <a:ext cx="3784218" cy="53550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114935A2-CAC7-6487-CBD6-1DF896E6A9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492" y="1052896"/>
            <a:ext cx="3797200" cy="53550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9" name="Audio 17">
            <a:hlinkClick r:id="" action="ppaction://media"/>
            <a:extLst>
              <a:ext uri="{FF2B5EF4-FFF2-40B4-BE49-F238E27FC236}">
                <a16:creationId xmlns:a16="http://schemas.microsoft.com/office/drawing/2014/main" id="{EDEA45B0-F80C-3E56-88FD-20A2307FB9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99396" t="-90625" r="-199396" b="-90625"/>
          <a:stretch>
            <a:fillRect/>
          </a:stretch>
        </p:blipFill>
        <p:spPr>
          <a:xfrm>
            <a:off x="9168260" y="5090729"/>
            <a:ext cx="302374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09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66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304800" y="1041009"/>
            <a:ext cx="698240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Essential algorithms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and data structures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D24F9B36-F559-4FBB-8A32-2DD66846EE6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4728" y="3894995"/>
            <a:ext cx="2582552" cy="1246749"/>
          </a:xfrm>
          <a:prstGeom prst="rect">
            <a:avLst/>
          </a:prstGeom>
        </p:spPr>
      </p:pic>
      <p:pic>
        <p:nvPicPr>
          <p:cNvPr id="3" name="Picture 2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32866444-B488-CB55-0A6A-CA9368AEB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208" y="260092"/>
            <a:ext cx="4679132" cy="603593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493415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34E5322F-826A-DE90-8D22-69EF94B3A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3318">
            <a:off x="6534482" y="195522"/>
            <a:ext cx="4989843" cy="646695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28A1A80-00F3-461B-BC86-4E0D444E9A71}"/>
              </a:ext>
            </a:extLst>
          </p:cNvPr>
          <p:cNvSpPr/>
          <p:nvPr/>
        </p:nvSpPr>
        <p:spPr>
          <a:xfrm rot="21447209">
            <a:off x="10324004" y="594823"/>
            <a:ext cx="323960" cy="5563673"/>
          </a:xfrm>
          <a:prstGeom prst="rect">
            <a:avLst/>
          </a:prstGeom>
          <a:solidFill>
            <a:schemeClr val="accent4">
              <a:lumMod val="20000"/>
              <a:lumOff val="80000"/>
              <a:alpha val="25000"/>
            </a:schemeClr>
          </a:solidFill>
          <a:ln w="3810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5B08DC41-C9D4-731D-A170-81061B5C9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571">
            <a:off x="760731" y="233217"/>
            <a:ext cx="4924410" cy="639156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133300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text&#10;&#10;Description automatically generated with medium confidence">
            <a:extLst>
              <a:ext uri="{FF2B5EF4-FFF2-40B4-BE49-F238E27FC236}">
                <a16:creationId xmlns:a16="http://schemas.microsoft.com/office/drawing/2014/main" id="{144FE834-AAF3-391E-D447-C56DFAA39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488">
            <a:off x="869620" y="266700"/>
            <a:ext cx="4843613" cy="63246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6" name="Picture 5" descr="Timeline&#10;&#10;Description automatically generated">
            <a:extLst>
              <a:ext uri="{FF2B5EF4-FFF2-40B4-BE49-F238E27FC236}">
                <a16:creationId xmlns:a16="http://schemas.microsoft.com/office/drawing/2014/main" id="{8BD221B9-A204-8075-C02F-B27382003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488">
            <a:off x="6601759" y="265557"/>
            <a:ext cx="4882274" cy="63246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505301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71DA239E-66FF-87D5-6DC7-9276C4234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3087">
            <a:off x="718618" y="256112"/>
            <a:ext cx="4877506" cy="634577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A1865D4F-F127-88BE-C425-CE855B8BB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3087">
            <a:off x="6583673" y="256112"/>
            <a:ext cx="4889722" cy="634577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350347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2721</Words>
  <Application>Microsoft Office PowerPoint</Application>
  <PresentationFormat>Widescreen</PresentationFormat>
  <Paragraphs>796</Paragraphs>
  <Slides>39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Century Gothic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159</cp:revision>
  <dcterms:created xsi:type="dcterms:W3CDTF">2019-10-14T15:21:06Z</dcterms:created>
  <dcterms:modified xsi:type="dcterms:W3CDTF">2022-08-25T14:04:22Z</dcterms:modified>
</cp:coreProperties>
</file>