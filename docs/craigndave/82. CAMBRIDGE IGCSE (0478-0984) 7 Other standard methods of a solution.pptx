
<file path=[Content_Types].xml><?xml version="1.0" encoding="utf-8"?>
<Types xmlns="http://schemas.openxmlformats.org/package/2006/content-types">
  <Default Extension="m4a" ContentType="audio/mp4"/>
  <Default Extension="png" ContentType="image/png"/>
  <Default Extension="rels" ContentType="application/vnd.openxmlformats-package.relationships+xml"/>
  <Default Extension="svg" ContentType="image/svg+xml"/>
  <Default Extension="tmp" ContentType="image/p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7" r:id="rId2"/>
    <p:sldId id="265" r:id="rId3"/>
    <p:sldId id="267" r:id="rId4"/>
    <p:sldId id="270" r:id="rId5"/>
    <p:sldId id="271" r:id="rId6"/>
    <p:sldId id="268" r:id="rId7"/>
    <p:sldId id="272" r:id="rId8"/>
    <p:sldId id="273" r:id="rId9"/>
    <p:sldId id="274" r:id="rId10"/>
    <p:sldId id="269" r:id="rId11"/>
    <p:sldId id="275" r:id="rId12"/>
    <p:sldId id="276" r:id="rId13"/>
    <p:sldId id="277" r:id="rId14"/>
    <p:sldId id="278" r:id="rId15"/>
    <p:sldId id="266" r:id="rId16"/>
    <p:sldId id="33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6521"/>
    <a:srgbClr val="FFFFFF"/>
    <a:srgbClr val="0087B1"/>
    <a:srgbClr val="000956"/>
    <a:srgbClr val="99E265"/>
    <a:srgbClr val="008C8C"/>
    <a:srgbClr val="00B2B2"/>
    <a:srgbClr val="26C9FF"/>
    <a:srgbClr val="7CD0DA"/>
    <a:srgbClr val="197D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298" autoAdjust="0"/>
    <p:restoredTop sz="94687"/>
  </p:normalViewPr>
  <p:slideViewPr>
    <p:cSldViewPr snapToGrid="0">
      <p:cViewPr varScale="1">
        <p:scale>
          <a:sx n="101" d="100"/>
          <a:sy n="101" d="100"/>
        </p:scale>
        <p:origin x="1188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40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A54553-2A3F-4C94-AA62-ABFC40E07E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996737-DD0F-4016-9F43-1C3C116716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E11316-EC54-4B9D-B716-15D72C7F09B1}" type="datetimeFigureOut">
              <a:rPr lang="en-GB" smtClean="0"/>
              <a:t>25/08/2022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7A745F-1972-497D-8174-B5868433DF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CE6AC0-619C-486F-A045-23AE3DF3E3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3CFB52-3982-4249-B609-86D9E88836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1636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01D13-C50D-4862-A50B-4E5D0E7CA144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E031B-FEB2-4221-8849-89831B3F110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7644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67369-A355-4D19-AEEC-9D0100EF3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924699-1673-40E6-9241-180D779421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BE935-35F7-402A-9F4D-C68B29248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D7A12-EBDB-45B0-9FF5-F17A7EF67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C7090-3E02-4EBA-95BB-2F3FF45C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8429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77CF4-093B-4C66-A107-491AFAE19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249AB-C9F4-4A3F-A472-C5FDCF3AA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A491B-E55E-4F96-A0A2-08ABE8538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EE9C3-3BD7-499C-9C8F-E914AF0CC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A0F2C-BB77-4D20-BD01-009748E06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3006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EAB41-C5F4-4F77-8A5C-14CA38A3E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C5B807-A41F-4934-B9B5-F06B7FECF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A9AEC-9ECF-4105-84CF-CCC301ADB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A81FA-05E8-4A50-9FC5-A94F3634C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13BE1-EE3A-45AF-BF76-41B86D070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0735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01685-8ECA-46F3-BC78-B8E4D43D8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252D3-EA14-47C6-8BDF-B549E97DE4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FA317-5ECF-4693-88DD-BCA7EC391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CCA0AA-2226-49B9-8142-4F45D8CE6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F340D-9456-43F7-A764-CBD130EF6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2910B-6BBA-4043-8CD2-7AE056F14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0604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960B3-16E7-4811-A5F8-83614659A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B62EE-BCB8-429D-BB6F-89DF9F3EA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4AD67-4C0E-484D-B7FF-FB976A171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D7660E-8B38-43A5-A48D-A4523AA03A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7EFE82-A3BC-42B8-9F71-5C3C1ADD41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BD8DB3-F688-4AB2-AAFC-0E5E7F2EB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8F70DA-1B40-4425-B025-A8D06411A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95CE6D-8A51-4013-A622-D11EFBB72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5227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E232E-9E69-481F-BDD8-74F4219ED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AD69E5-4081-437F-98E4-2CAF4F5CC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B30953-0189-477F-ABF4-CE4D2ED1E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CC43C7-506A-468F-96CB-96E8683CF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9814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0CC6F3-15F4-4749-9242-EDD4FF8C5DBF}"/>
              </a:ext>
            </a:extLst>
          </p:cNvPr>
          <p:cNvSpPr/>
          <p:nvPr userDrawn="1"/>
        </p:nvSpPr>
        <p:spPr>
          <a:xfrm>
            <a:off x="10088880" y="0"/>
            <a:ext cx="2103120" cy="6858000"/>
          </a:xfrm>
          <a:prstGeom prst="rect">
            <a:avLst/>
          </a:prstGeom>
          <a:solidFill>
            <a:srgbClr val="F265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t"/>
          <a:lstStyle/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CAMBRIDGE IGCSE</a:t>
            </a:r>
          </a:p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(0478/0984)</a:t>
            </a:r>
          </a:p>
          <a:p>
            <a:pPr algn="ctr"/>
            <a:endParaRPr lang="en-GB" sz="24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B2C14A7-E460-4357-90EB-FC2CBD74FCA1}"/>
              </a:ext>
            </a:extLst>
          </p:cNvPr>
          <p:cNvSpPr/>
          <p:nvPr userDrawn="1"/>
        </p:nvSpPr>
        <p:spPr>
          <a:xfrm>
            <a:off x="8915400" y="2354373"/>
            <a:ext cx="2140171" cy="2140171"/>
          </a:xfrm>
          <a:prstGeom prst="ellipse">
            <a:avLst/>
          </a:prstGeom>
          <a:solidFill>
            <a:schemeClr val="bg1"/>
          </a:solidFill>
          <a:ln w="28575">
            <a:solidFill>
              <a:srgbClr val="F265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6" descr="A picture containing brush&#10;&#10;Description automatically generated">
            <a:extLst>
              <a:ext uri="{FF2B5EF4-FFF2-40B4-BE49-F238E27FC236}">
                <a16:creationId xmlns:a16="http://schemas.microsoft.com/office/drawing/2014/main" id="{802D9E8A-D873-49FF-AED9-2CD228DFF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" r="-3" b="-3"/>
          <a:stretch/>
        </p:blipFill>
        <p:spPr>
          <a:xfrm>
            <a:off x="9029206" y="2474254"/>
            <a:ext cx="1912560" cy="1909489"/>
          </a:xfrm>
          <a:custGeom>
            <a:avLst/>
            <a:gdLst>
              <a:gd name="connsiteX0" fmla="*/ 3028805 w 6057610"/>
              <a:gd name="connsiteY0" fmla="*/ 0 h 6057610"/>
              <a:gd name="connsiteX1" fmla="*/ 6057610 w 6057610"/>
              <a:gd name="connsiteY1" fmla="*/ 3028805 h 6057610"/>
              <a:gd name="connsiteX2" fmla="*/ 3028805 w 6057610"/>
              <a:gd name="connsiteY2" fmla="*/ 6057610 h 6057610"/>
              <a:gd name="connsiteX3" fmla="*/ 0 w 6057610"/>
              <a:gd name="connsiteY3" fmla="*/ 3028805 h 6057610"/>
              <a:gd name="connsiteX4" fmla="*/ 3028805 w 6057610"/>
              <a:gd name="connsiteY4" fmla="*/ 0 h 6057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57610" h="6057610">
                <a:moveTo>
                  <a:pt x="3028805" y="0"/>
                </a:moveTo>
                <a:cubicBezTo>
                  <a:pt x="4701568" y="0"/>
                  <a:pt x="6057610" y="1356042"/>
                  <a:pt x="6057610" y="3028805"/>
                </a:cubicBezTo>
                <a:cubicBezTo>
                  <a:pt x="6057610" y="4701568"/>
                  <a:pt x="4701568" y="6057610"/>
                  <a:pt x="3028805" y="6057610"/>
                </a:cubicBezTo>
                <a:cubicBezTo>
                  <a:pt x="1356042" y="6057610"/>
                  <a:pt x="0" y="4701568"/>
                  <a:pt x="0" y="3028805"/>
                </a:cubicBezTo>
                <a:cubicBezTo>
                  <a:pt x="0" y="1356042"/>
                  <a:pt x="1356042" y="0"/>
                  <a:pt x="3028805" y="0"/>
                </a:cubicBezTo>
                <a:close/>
              </a:path>
            </a:pathLst>
          </a:custGeom>
          <a:effectLst>
            <a:softEdge rad="0"/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FE3659E-7B75-43EA-B2D2-F180CB40635B}"/>
              </a:ext>
            </a:extLst>
          </p:cNvPr>
          <p:cNvSpPr/>
          <p:nvPr userDrawn="1"/>
        </p:nvSpPr>
        <p:spPr>
          <a:xfrm>
            <a:off x="0" y="6451184"/>
            <a:ext cx="1008887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Teacher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Student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student.craigndave.org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Smart revise: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smartrevise.co.uk </a:t>
            </a:r>
          </a:p>
        </p:txBody>
      </p:sp>
    </p:spTree>
    <p:extLst>
      <p:ext uri="{BB962C8B-B14F-4D97-AF65-F5344CB8AC3E}">
        <p14:creationId xmlns:p14="http://schemas.microsoft.com/office/powerpoint/2010/main" val="4090015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F19224-2084-4C89-AEFB-59035B0F8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8E9D01-9A95-4DC3-AD5E-0657203E7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B0936-CF61-444A-88C9-B1BE2B016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7AACC54-1682-4874-BD09-D8CF92EDAE43}"/>
              </a:ext>
            </a:extLst>
          </p:cNvPr>
          <p:cNvGrpSpPr/>
          <p:nvPr userDrawn="1"/>
        </p:nvGrpSpPr>
        <p:grpSpPr>
          <a:xfrm>
            <a:off x="-1" y="0"/>
            <a:ext cx="12192001" cy="419100"/>
            <a:chOff x="-1" y="0"/>
            <a:chExt cx="12192001" cy="5334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3B4ABA0-791C-4EF4-91E1-0A7F5B882D36}"/>
                </a:ext>
              </a:extLst>
            </p:cNvPr>
            <p:cNvSpPr/>
            <p:nvPr userDrawn="1"/>
          </p:nvSpPr>
          <p:spPr>
            <a:xfrm>
              <a:off x="-1" y="0"/>
              <a:ext cx="10095723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GB" sz="1800" b="1" dirty="0">
                  <a:solidFill>
                    <a:schemeClr val="bg1"/>
                  </a:solidFill>
                </a:rPr>
                <a:t>7 Algorithm design and problem-solving | Other standard methods of a solution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E5FF8B6-F953-41A2-8CA9-2F6F841BDD32}"/>
                </a:ext>
              </a:extLst>
            </p:cNvPr>
            <p:cNvSpPr/>
            <p:nvPr/>
          </p:nvSpPr>
          <p:spPr>
            <a:xfrm>
              <a:off x="9100868" y="0"/>
              <a:ext cx="3091132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46800" rtlCol="0" anchor="t"/>
            <a:lstStyle/>
            <a:p>
              <a:pPr algn="r"/>
              <a:r>
                <a:rPr lang="en-GB" b="1" dirty="0">
                  <a:solidFill>
                    <a:schemeClr val="bg1"/>
                  </a:solidFill>
                </a:rPr>
                <a:t>CAMBRIDGE IGCSE (0478/0984)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0910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E615E-FCEC-48A2-8A58-855AC1751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6C2E3-EFFC-4E46-8E3B-353E3410C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8F8DFF-FB25-4FDB-AE01-189095807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5E6D8-83E5-4A1F-91A5-3CC7778FD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62ED67-D636-4841-A380-71A8E2C22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ECBE11-BFFB-4E5F-95F9-EF6A83AD8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1817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13C68-F937-4619-AC2A-808BB5FBC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4D0E72-F13A-47A1-9749-F939C5B614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CE7D0-DEEB-4789-9725-4826AE9B0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52C0A-0BB5-4C36-AC67-AFCF2DC0A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906B4-69CB-471E-B443-A6DD59556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C21424-3B0E-4EEC-875D-327603D19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204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6F412-1941-41D2-AC46-E8C20860A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2A1B5D-15E6-4D4B-B6F5-E46A1A723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18167-751F-4B50-84DD-7F7377E43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10E4B-ECAF-4B58-9633-F0D2214AE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0936C-E069-45AA-8B1E-8B295D2AA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737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0BBC43-F9FB-4DC0-9192-4C6BBC0BBF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5541F-6124-45F5-9E33-C88771523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8D7AD-9B6B-4D71-A044-0A8CD107B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F19E0-2B2A-44A5-95AA-5794953B8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AE265-1899-40B9-ABCC-0F0FA6B45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9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68667-8C97-4EFE-84F3-BDAFCA0DE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6806C-F4A6-4145-8586-E1BA0D6AA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371F7-F0FF-4998-A335-671F6745CC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1381F-CB31-4B37-8E8C-1B4AD2A089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29192-27C3-435C-AA4E-0FF49DC56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7013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8.png"/><Relationship Id="rId5" Type="http://schemas.openxmlformats.org/officeDocument/2006/relationships/image" Target="../media/image7.tmp"/><Relationship Id="rId4" Type="http://schemas.openxmlformats.org/officeDocument/2006/relationships/image" Target="../media/image6.tmp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342EC1-2AFD-4406-9F14-4D674F90CAE8}"/>
              </a:ext>
            </a:extLst>
          </p:cNvPr>
          <p:cNvSpPr txBox="1"/>
          <p:nvPr/>
        </p:nvSpPr>
        <p:spPr>
          <a:xfrm>
            <a:off x="304800" y="92954"/>
            <a:ext cx="987927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  <a:ea typeface="+mj-ea"/>
                <a:cs typeface="+mj-cs"/>
              </a:rPr>
              <a:t>7 Algorithm design and problem-solving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ABF442-A178-4CA8-8D0A-DF0A8E18C046}"/>
              </a:ext>
            </a:extLst>
          </p:cNvPr>
          <p:cNvSpPr txBox="1"/>
          <p:nvPr/>
        </p:nvSpPr>
        <p:spPr>
          <a:xfrm>
            <a:off x="927652" y="1650609"/>
            <a:ext cx="6997148" cy="345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1200"/>
              </a:spcAft>
            </a:pP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Other standard methods </a:t>
            </a:r>
            <a:br>
              <a:rPr lang="en-GB" sz="4000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of a solution</a:t>
            </a:r>
            <a:endParaRPr lang="en-US" sz="4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771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89BBE4-38CA-4FFB-B9AA-E0BBB2AB22B7}"/>
              </a:ext>
            </a:extLst>
          </p:cNvPr>
          <p:cNvSpPr/>
          <p:nvPr/>
        </p:nvSpPr>
        <p:spPr>
          <a:xfrm>
            <a:off x="220675" y="1052896"/>
            <a:ext cx="558957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You need to be aware of the following standard methods that are commonly used when programming:</a:t>
            </a:r>
          </a:p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Totalling</a:t>
            </a:r>
          </a:p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Counting</a:t>
            </a:r>
          </a:p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Finding maximum, minimum and average values</a:t>
            </a:r>
          </a:p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Searching using a linear search</a:t>
            </a:r>
          </a:p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Sorting using a bubble sort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5" y="504512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Standard methods of a solution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2C35DB4-53AB-6B98-2B9E-FB5817574C13}"/>
              </a:ext>
            </a:extLst>
          </p:cNvPr>
          <p:cNvGrpSpPr/>
          <p:nvPr/>
        </p:nvGrpSpPr>
        <p:grpSpPr>
          <a:xfrm>
            <a:off x="0" y="5074295"/>
            <a:ext cx="6355029" cy="1591452"/>
            <a:chOff x="4636821" y="5245745"/>
            <a:chExt cx="6355029" cy="1591452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988F7230-5520-6DB9-4836-3C4DFB44CADD}"/>
                </a:ext>
              </a:extLst>
            </p:cNvPr>
            <p:cNvSpPr/>
            <p:nvPr/>
          </p:nvSpPr>
          <p:spPr>
            <a:xfrm>
              <a:off x="4825532" y="5412434"/>
              <a:ext cx="6166318" cy="1255066"/>
            </a:xfrm>
            <a:prstGeom prst="roundRect">
              <a:avLst>
                <a:gd name="adj" fmla="val 46766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GB" dirty="0"/>
            </a:p>
          </p:txBody>
        </p:sp>
        <p:pic>
          <p:nvPicPr>
            <p:cNvPr id="5" name="Graphic 4" descr="Information with solid fill">
              <a:extLst>
                <a:ext uri="{FF2B5EF4-FFF2-40B4-BE49-F238E27FC236}">
                  <a16:creationId xmlns:a16="http://schemas.microsoft.com/office/drawing/2014/main" id="{BD58A5D9-EC1F-EAE3-D7A5-5A3AECF9D7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36821" y="5245745"/>
              <a:ext cx="1591452" cy="1591452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0EC528D-4845-B8F2-907A-628C0D2E8B26}"/>
                </a:ext>
              </a:extLst>
            </p:cNvPr>
            <p:cNvSpPr txBox="1"/>
            <p:nvPr/>
          </p:nvSpPr>
          <p:spPr>
            <a:xfrm>
              <a:off x="6160179" y="5565777"/>
              <a:ext cx="4643978" cy="9682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7000"/>
                </a:lnSpc>
              </a:pPr>
              <a:r>
                <a:rPr lang="en-GB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Covered in more detail in the following videos:</a:t>
              </a:r>
            </a:p>
            <a:p>
              <a:pPr marL="540000" lvl="1" indent="-285750">
                <a:lnSpc>
                  <a:spcPct val="107000"/>
                </a:lnSpc>
                <a:buFont typeface="Arial" panose="020B0604020202020204" pitchFamily="34" charset="0"/>
                <a:buChar char="•"/>
              </a:pPr>
              <a:r>
                <a:rPr lang="en-GB" b="1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7 Linear search</a:t>
              </a:r>
            </a:p>
            <a:p>
              <a:pPr marL="540000" lvl="1" indent="-285750">
                <a:lnSpc>
                  <a:spcPct val="107000"/>
                </a:lnSpc>
                <a:buFont typeface="Arial" panose="020B0604020202020204" pitchFamily="34" charset="0"/>
                <a:buChar char="•"/>
              </a:pPr>
              <a:r>
                <a:rPr lang="en-GB" b="1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7 Bubble sort</a:t>
              </a:r>
            </a:p>
          </p:txBody>
        </p:sp>
      </p:grpSp>
      <p:pic>
        <p:nvPicPr>
          <p:cNvPr id="9" name="Picture 8" descr="Graphical user interface&#10;&#10;Description automatically generated">
            <a:extLst>
              <a:ext uri="{FF2B5EF4-FFF2-40B4-BE49-F238E27FC236}">
                <a16:creationId xmlns:a16="http://schemas.microsoft.com/office/drawing/2014/main" id="{29984B09-5E11-E9A4-A95E-D5DCFB353E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5029" y="0"/>
            <a:ext cx="5589575" cy="558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680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5" y="504512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Totalling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46FB30-E112-805D-BD86-0DF38866ED14}"/>
              </a:ext>
            </a:extLst>
          </p:cNvPr>
          <p:cNvSpPr/>
          <p:nvPr/>
        </p:nvSpPr>
        <p:spPr>
          <a:xfrm>
            <a:off x="220675" y="1052896"/>
            <a:ext cx="11761775" cy="10259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Totalling refers to maintaining a total that values are added to.</a:t>
            </a:r>
          </a:p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There are many situations where you might want to use totalling in your programs – for example, keeping a running total of marks awarded to a student during a test.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549133-06F3-49AB-3845-D540F4D58770}"/>
              </a:ext>
            </a:extLst>
          </p:cNvPr>
          <p:cNvSpPr/>
          <p:nvPr/>
        </p:nvSpPr>
        <p:spPr>
          <a:xfrm>
            <a:off x="220675" y="2662621"/>
            <a:ext cx="5589575" cy="1940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Total </a:t>
            </a:r>
            <a:r>
              <a:rPr lang="en-GB" dirty="0">
                <a:latin typeface="Wingdings" panose="05000000000000000000" pitchFamily="2" charset="2"/>
              </a:rPr>
              <a:t>ß</a:t>
            </a:r>
            <a:r>
              <a:rPr lang="en-GB" dirty="0">
                <a:latin typeface="Consolas" panose="020B0609020204030204" pitchFamily="49" charset="0"/>
              </a:rPr>
              <a:t> 0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FOR Counter </a:t>
            </a:r>
            <a:r>
              <a:rPr lang="en-GB" dirty="0">
                <a:latin typeface="Wingdings" panose="05000000000000000000" pitchFamily="2" charset="2"/>
              </a:rPr>
              <a:t>ß</a:t>
            </a:r>
            <a:r>
              <a:rPr lang="en-GB" dirty="0">
                <a:latin typeface="Consolas" panose="020B0609020204030204" pitchFamily="49" charset="0"/>
              </a:rPr>
              <a:t> 1 TO MaxNoOfQuestionsInTest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Total </a:t>
            </a:r>
            <a:r>
              <a:rPr lang="en-GB" dirty="0">
                <a:latin typeface="Wingdings" panose="05000000000000000000" pitchFamily="2" charset="2"/>
              </a:rPr>
              <a:t>ß</a:t>
            </a:r>
            <a:r>
              <a:rPr lang="en-GB" dirty="0">
                <a:latin typeface="Consolas" panose="020B0609020204030204" pitchFamily="49" charset="0"/>
              </a:rPr>
              <a:t> Total + StudentsTest[Counter]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NEXT counter</a:t>
            </a:r>
          </a:p>
        </p:txBody>
      </p:sp>
    </p:spTree>
    <p:extLst>
      <p:ext uri="{BB962C8B-B14F-4D97-AF65-F5344CB8AC3E}">
        <p14:creationId xmlns:p14="http://schemas.microsoft.com/office/powerpoint/2010/main" val="1691072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5" y="504512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Totalling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46FB30-E112-805D-BD86-0DF38866ED14}"/>
              </a:ext>
            </a:extLst>
          </p:cNvPr>
          <p:cNvSpPr/>
          <p:nvPr/>
        </p:nvSpPr>
        <p:spPr>
          <a:xfrm>
            <a:off x="220675" y="1052896"/>
            <a:ext cx="11761775" cy="10259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Totalling refers to maintaining a total that values are added to.</a:t>
            </a:r>
          </a:p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There are many situations where you might want to use totalling in your programs – for example, keeping a running total of marks awarded to a student during a test.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549133-06F3-49AB-3845-D540F4D58770}"/>
              </a:ext>
            </a:extLst>
          </p:cNvPr>
          <p:cNvSpPr/>
          <p:nvPr/>
        </p:nvSpPr>
        <p:spPr>
          <a:xfrm>
            <a:off x="220675" y="2662621"/>
            <a:ext cx="5589575" cy="1940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Total </a:t>
            </a:r>
            <a:r>
              <a:rPr lang="en-GB" dirty="0">
                <a:latin typeface="Wingdings" panose="05000000000000000000" pitchFamily="2" charset="2"/>
              </a:rPr>
              <a:t>ß</a:t>
            </a:r>
            <a:r>
              <a:rPr lang="en-GB" dirty="0">
                <a:latin typeface="Consolas" panose="020B0609020204030204" pitchFamily="49" charset="0"/>
              </a:rPr>
              <a:t> 0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FOR Counter </a:t>
            </a:r>
            <a:r>
              <a:rPr lang="en-GB" dirty="0">
                <a:latin typeface="Wingdings" panose="05000000000000000000" pitchFamily="2" charset="2"/>
              </a:rPr>
              <a:t>ß</a:t>
            </a:r>
            <a:r>
              <a:rPr lang="en-GB" dirty="0">
                <a:latin typeface="Consolas" panose="020B0609020204030204" pitchFamily="49" charset="0"/>
              </a:rPr>
              <a:t> 1 TO MaxNoOfQuestionsInTest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Total </a:t>
            </a:r>
            <a:r>
              <a:rPr lang="en-GB" dirty="0">
                <a:latin typeface="Wingdings" panose="05000000000000000000" pitchFamily="2" charset="2"/>
              </a:rPr>
              <a:t>ß</a:t>
            </a:r>
            <a:r>
              <a:rPr lang="en-GB" dirty="0">
                <a:latin typeface="Consolas" panose="020B0609020204030204" pitchFamily="49" charset="0"/>
              </a:rPr>
              <a:t> Total + StudentsTest[Counter]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NEXT counter</a:t>
            </a:r>
          </a:p>
        </p:txBody>
      </p:sp>
      <p:sp>
        <p:nvSpPr>
          <p:cNvPr id="11" name="Speech Bubble: Rectangle with Corners Rounded 10">
            <a:extLst>
              <a:ext uri="{FF2B5EF4-FFF2-40B4-BE49-F238E27FC236}">
                <a16:creationId xmlns:a16="http://schemas.microsoft.com/office/drawing/2014/main" id="{7679447E-BC89-8A8C-A579-A554435BF76A}"/>
              </a:ext>
            </a:extLst>
          </p:cNvPr>
          <p:cNvSpPr/>
          <p:nvPr/>
        </p:nvSpPr>
        <p:spPr>
          <a:xfrm>
            <a:off x="6200775" y="2162175"/>
            <a:ext cx="3200400" cy="923330"/>
          </a:xfrm>
          <a:prstGeom prst="wedgeRoundRectCallout">
            <a:avLst>
              <a:gd name="adj1" fmla="val -195535"/>
              <a:gd name="adj2" fmla="val 33615"/>
              <a:gd name="adj3" fmla="val 16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It is good practice to always initialise variables, so here we start by setting </a:t>
            </a:r>
            <a:r>
              <a:rPr lang="en-GB" dirty="0">
                <a:latin typeface="Consolas" panose="020B0609020204030204" pitchFamily="49" charset="0"/>
              </a:rPr>
              <a:t>total</a:t>
            </a:r>
            <a:r>
              <a:rPr lang="en-GB" dirty="0"/>
              <a:t> to zero.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B53A25E-73FA-4A0C-6538-B3D63006698B}"/>
              </a:ext>
            </a:extLst>
          </p:cNvPr>
          <p:cNvSpPr/>
          <p:nvPr/>
        </p:nvSpPr>
        <p:spPr>
          <a:xfrm>
            <a:off x="0" y="2752725"/>
            <a:ext cx="1628775" cy="35183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12400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5" y="504512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Totalling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46FB30-E112-805D-BD86-0DF38866ED14}"/>
              </a:ext>
            </a:extLst>
          </p:cNvPr>
          <p:cNvSpPr/>
          <p:nvPr/>
        </p:nvSpPr>
        <p:spPr>
          <a:xfrm>
            <a:off x="220675" y="1052896"/>
            <a:ext cx="11761775" cy="10259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Totalling refers to maintaining a total that values are added to.</a:t>
            </a:r>
          </a:p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There are many situations where you might want to use totalling in your programs – for example, keeping a running total of marks awarded to a student during a test.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549133-06F3-49AB-3845-D540F4D58770}"/>
              </a:ext>
            </a:extLst>
          </p:cNvPr>
          <p:cNvSpPr/>
          <p:nvPr/>
        </p:nvSpPr>
        <p:spPr>
          <a:xfrm>
            <a:off x="220675" y="2662621"/>
            <a:ext cx="5589575" cy="1940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Total </a:t>
            </a:r>
            <a:r>
              <a:rPr lang="en-GB" dirty="0">
                <a:latin typeface="Wingdings" panose="05000000000000000000" pitchFamily="2" charset="2"/>
              </a:rPr>
              <a:t>ß</a:t>
            </a:r>
            <a:r>
              <a:rPr lang="en-GB" dirty="0">
                <a:latin typeface="Consolas" panose="020B0609020204030204" pitchFamily="49" charset="0"/>
              </a:rPr>
              <a:t> 0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FOR Counter </a:t>
            </a:r>
            <a:r>
              <a:rPr lang="en-GB" dirty="0">
                <a:latin typeface="Wingdings" panose="05000000000000000000" pitchFamily="2" charset="2"/>
              </a:rPr>
              <a:t>ß</a:t>
            </a:r>
            <a:r>
              <a:rPr lang="en-GB" dirty="0">
                <a:latin typeface="Consolas" panose="020B0609020204030204" pitchFamily="49" charset="0"/>
              </a:rPr>
              <a:t> 1 TO MaxNoOfQuestionsInTest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Total </a:t>
            </a:r>
            <a:r>
              <a:rPr lang="en-GB" dirty="0">
                <a:latin typeface="Wingdings" panose="05000000000000000000" pitchFamily="2" charset="2"/>
              </a:rPr>
              <a:t>ß</a:t>
            </a:r>
            <a:r>
              <a:rPr lang="en-GB" dirty="0">
                <a:latin typeface="Consolas" panose="020B0609020204030204" pitchFamily="49" charset="0"/>
              </a:rPr>
              <a:t> Total + StudentsTest[Counter]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NEXT counter</a:t>
            </a:r>
          </a:p>
        </p:txBody>
      </p:sp>
      <p:sp>
        <p:nvSpPr>
          <p:cNvPr id="11" name="Speech Bubble: Rectangle with Corners Rounded 10">
            <a:extLst>
              <a:ext uri="{FF2B5EF4-FFF2-40B4-BE49-F238E27FC236}">
                <a16:creationId xmlns:a16="http://schemas.microsoft.com/office/drawing/2014/main" id="{7679447E-BC89-8A8C-A579-A554435BF76A}"/>
              </a:ext>
            </a:extLst>
          </p:cNvPr>
          <p:cNvSpPr/>
          <p:nvPr/>
        </p:nvSpPr>
        <p:spPr>
          <a:xfrm>
            <a:off x="6200775" y="2162175"/>
            <a:ext cx="3200400" cy="923330"/>
          </a:xfrm>
          <a:prstGeom prst="wedgeRoundRectCallout">
            <a:avLst>
              <a:gd name="adj1" fmla="val -195535"/>
              <a:gd name="adj2" fmla="val 33615"/>
              <a:gd name="adj3" fmla="val 16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It is good practice to always initialise variables, so here we start by setting </a:t>
            </a:r>
            <a:r>
              <a:rPr lang="en-GB" dirty="0">
                <a:latin typeface="Consolas" panose="020B0609020204030204" pitchFamily="49" charset="0"/>
              </a:rPr>
              <a:t>total</a:t>
            </a:r>
            <a:r>
              <a:rPr lang="en-GB" dirty="0"/>
              <a:t> to zero.</a:t>
            </a:r>
          </a:p>
        </p:txBody>
      </p:sp>
      <p:sp>
        <p:nvSpPr>
          <p:cNvPr id="12" name="Speech Bubble: Rectangle with Corners Rounded 11">
            <a:extLst>
              <a:ext uri="{FF2B5EF4-FFF2-40B4-BE49-F238E27FC236}">
                <a16:creationId xmlns:a16="http://schemas.microsoft.com/office/drawing/2014/main" id="{0E71740E-958E-A049-7164-341DA958F9B1}"/>
              </a:ext>
            </a:extLst>
          </p:cNvPr>
          <p:cNvSpPr/>
          <p:nvPr/>
        </p:nvSpPr>
        <p:spPr>
          <a:xfrm>
            <a:off x="6200775" y="4229100"/>
            <a:ext cx="3200400" cy="1576004"/>
          </a:xfrm>
          <a:prstGeom prst="wedgeRoundRectCallout">
            <a:avLst>
              <a:gd name="adj1" fmla="val -138095"/>
              <a:gd name="adj2" fmla="val -59093"/>
              <a:gd name="adj3" fmla="val 16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This line is performing totalling by adding together the marks held in an array called </a:t>
            </a:r>
            <a:r>
              <a:rPr lang="en-GB" dirty="0">
                <a:latin typeface="Consolas" panose="020B0609020204030204" pitchFamily="49" charset="0"/>
              </a:rPr>
              <a:t>StudentsTest</a:t>
            </a:r>
            <a:r>
              <a:rPr lang="en-GB" dirty="0"/>
              <a:t>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CC32788-9CB1-24E2-815B-CDB670A0448B}"/>
              </a:ext>
            </a:extLst>
          </p:cNvPr>
          <p:cNvSpPr/>
          <p:nvPr/>
        </p:nvSpPr>
        <p:spPr>
          <a:xfrm>
            <a:off x="0" y="3743325"/>
            <a:ext cx="5589575" cy="35183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 descr="make_notes">
            <a:extLst>
              <a:ext uri="{FF2B5EF4-FFF2-40B4-BE49-F238E27FC236}">
                <a16:creationId xmlns:a16="http://schemas.microsoft.com/office/drawing/2014/main" id="{C2E58E4F-825E-9407-7665-298056ECE6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9014" y="5535595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7042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89BBE4-38CA-4FFB-B9AA-E0BBB2AB22B7}"/>
              </a:ext>
            </a:extLst>
          </p:cNvPr>
          <p:cNvSpPr/>
          <p:nvPr/>
        </p:nvSpPr>
        <p:spPr>
          <a:xfrm>
            <a:off x="220675" y="1052896"/>
            <a:ext cx="11657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Keeping count of the number of times a particular action is performed (i.e., the number of times you iterate through a loop) is another very common action performed in programs – for example, counting up the number of students that have been awarded a pass mark in a test.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5" y="504512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Counting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CB7E0CF-6B3E-0C95-4893-A64786ABE676}"/>
              </a:ext>
            </a:extLst>
          </p:cNvPr>
          <p:cNvSpPr/>
          <p:nvPr/>
        </p:nvSpPr>
        <p:spPr>
          <a:xfrm>
            <a:off x="287350" y="2405446"/>
            <a:ext cx="5589575" cy="33855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PassCount </a:t>
            </a:r>
            <a:r>
              <a:rPr lang="en-GB" dirty="0">
                <a:latin typeface="Wingdings" panose="05000000000000000000" pitchFamily="2" charset="2"/>
              </a:rPr>
              <a:t>ß</a:t>
            </a:r>
            <a:r>
              <a:rPr lang="en-GB" dirty="0">
                <a:latin typeface="Consolas" panose="020B0609020204030204" pitchFamily="49" charset="0"/>
              </a:rPr>
              <a:t> 0</a:t>
            </a:r>
          </a:p>
          <a:p>
            <a:pPr>
              <a:spcAft>
                <a:spcPts val="1200"/>
              </a:spcAft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FOR Counter </a:t>
            </a:r>
            <a:r>
              <a:rPr lang="en-GB" dirty="0">
                <a:latin typeface="Wingdings" panose="05000000000000000000" pitchFamily="2" charset="2"/>
              </a:rPr>
              <a:t>ß</a:t>
            </a:r>
            <a:r>
              <a:rPr lang="en-GB" dirty="0">
                <a:latin typeface="Consolas" panose="020B0609020204030204" pitchFamily="49" charset="0"/>
              </a:rPr>
              <a:t> 1 TO ClassSize</a:t>
            </a:r>
          </a:p>
          <a:p>
            <a:pPr>
              <a:spcAft>
                <a:spcPts val="1200"/>
              </a:spcAft>
            </a:pPr>
            <a:r>
              <a:rPr lang="en-GB" dirty="0">
                <a:latin typeface="Consolas" panose="020B0609020204030204" pitchFamily="49" charset="0"/>
              </a:rPr>
              <a:t>    INPUT StudentMark</a:t>
            </a:r>
          </a:p>
          <a:p>
            <a:pPr>
              <a:spcAft>
                <a:spcPts val="1200"/>
              </a:spcAft>
            </a:pPr>
            <a:r>
              <a:rPr lang="en-GB" dirty="0">
                <a:latin typeface="Consolas" panose="020B0609020204030204" pitchFamily="49" charset="0"/>
              </a:rPr>
              <a:t>    IF StudentMark &gt; 50</a:t>
            </a:r>
          </a:p>
          <a:p>
            <a:pPr>
              <a:spcAft>
                <a:spcPts val="1200"/>
              </a:spcAft>
            </a:pPr>
            <a:r>
              <a:rPr lang="en-GB" dirty="0">
                <a:latin typeface="Consolas" panose="020B0609020204030204" pitchFamily="49" charset="0"/>
              </a:rPr>
              <a:t>      THEN</a:t>
            </a:r>
          </a:p>
          <a:p>
            <a:pPr>
              <a:spcAft>
                <a:spcPts val="1200"/>
              </a:spcAft>
            </a:pPr>
            <a:r>
              <a:rPr lang="en-GB" dirty="0">
                <a:latin typeface="Consolas" panose="020B0609020204030204" pitchFamily="49" charset="0"/>
              </a:rPr>
              <a:t>        PassCount </a:t>
            </a:r>
            <a:r>
              <a:rPr lang="en-GB" dirty="0">
                <a:latin typeface="Wingdings" panose="05000000000000000000" pitchFamily="2" charset="2"/>
              </a:rPr>
              <a:t>ß</a:t>
            </a:r>
            <a:r>
              <a:rPr lang="en-GB" dirty="0">
                <a:latin typeface="Consolas" panose="020B0609020204030204" pitchFamily="49" charset="0"/>
              </a:rPr>
              <a:t> PassCount + 1</a:t>
            </a:r>
          </a:p>
          <a:p>
            <a:pPr>
              <a:spcAft>
                <a:spcPts val="1200"/>
              </a:spcAft>
            </a:pPr>
            <a:r>
              <a:rPr lang="en-GB" dirty="0">
                <a:latin typeface="Consolas" panose="020B0609020204030204" pitchFamily="49" charset="0"/>
              </a:rPr>
              <a:t>    ENDIF</a:t>
            </a:r>
          </a:p>
          <a:p>
            <a:pPr>
              <a:spcAft>
                <a:spcPts val="1200"/>
              </a:spcAft>
            </a:pPr>
            <a:r>
              <a:rPr lang="en-GB" dirty="0">
                <a:latin typeface="Consolas" panose="020B0609020204030204" pitchFamily="49" charset="0"/>
              </a:rPr>
              <a:t>NEXT Counter</a:t>
            </a:r>
          </a:p>
        </p:txBody>
      </p:sp>
    </p:spTree>
    <p:extLst>
      <p:ext uri="{BB962C8B-B14F-4D97-AF65-F5344CB8AC3E}">
        <p14:creationId xmlns:p14="http://schemas.microsoft.com/office/powerpoint/2010/main" val="13029701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89BBE4-38CA-4FFB-B9AA-E0BBB2AB22B7}"/>
              </a:ext>
            </a:extLst>
          </p:cNvPr>
          <p:cNvSpPr/>
          <p:nvPr/>
        </p:nvSpPr>
        <p:spPr>
          <a:xfrm>
            <a:off x="220675" y="1052896"/>
            <a:ext cx="11657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Keeping count of the number of times a particular action is performed (i.e., the number of times you iterate through a loop) is another very common action performed in programs – for example, counting up the number of students that have been awarded a pass mark in a test.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5" y="504512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Counting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CB7E0CF-6B3E-0C95-4893-A64786ABE676}"/>
              </a:ext>
            </a:extLst>
          </p:cNvPr>
          <p:cNvSpPr/>
          <p:nvPr/>
        </p:nvSpPr>
        <p:spPr>
          <a:xfrm>
            <a:off x="287350" y="2405446"/>
            <a:ext cx="5589575" cy="33855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PassCount </a:t>
            </a:r>
            <a:r>
              <a:rPr lang="en-GB" dirty="0">
                <a:latin typeface="Wingdings" panose="05000000000000000000" pitchFamily="2" charset="2"/>
              </a:rPr>
              <a:t>ß</a:t>
            </a:r>
            <a:r>
              <a:rPr lang="en-GB" dirty="0">
                <a:latin typeface="Consolas" panose="020B0609020204030204" pitchFamily="49" charset="0"/>
              </a:rPr>
              <a:t> 0</a:t>
            </a:r>
          </a:p>
          <a:p>
            <a:pPr>
              <a:spcAft>
                <a:spcPts val="1200"/>
              </a:spcAft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FOR Counter </a:t>
            </a:r>
            <a:r>
              <a:rPr lang="en-GB" dirty="0">
                <a:latin typeface="Wingdings" panose="05000000000000000000" pitchFamily="2" charset="2"/>
              </a:rPr>
              <a:t>ß</a:t>
            </a:r>
            <a:r>
              <a:rPr lang="en-GB" dirty="0">
                <a:latin typeface="Consolas" panose="020B0609020204030204" pitchFamily="49" charset="0"/>
              </a:rPr>
              <a:t> 1 TO ClassSize</a:t>
            </a:r>
          </a:p>
          <a:p>
            <a:pPr>
              <a:spcAft>
                <a:spcPts val="1200"/>
              </a:spcAft>
            </a:pPr>
            <a:r>
              <a:rPr lang="en-GB" dirty="0">
                <a:latin typeface="Consolas" panose="020B0609020204030204" pitchFamily="49" charset="0"/>
              </a:rPr>
              <a:t>    INPUT StudentMark</a:t>
            </a:r>
          </a:p>
          <a:p>
            <a:pPr>
              <a:spcAft>
                <a:spcPts val="1200"/>
              </a:spcAft>
            </a:pPr>
            <a:r>
              <a:rPr lang="en-GB" dirty="0">
                <a:latin typeface="Consolas" panose="020B0609020204030204" pitchFamily="49" charset="0"/>
              </a:rPr>
              <a:t>    IF StudentMark &gt; 50</a:t>
            </a:r>
          </a:p>
          <a:p>
            <a:pPr>
              <a:spcAft>
                <a:spcPts val="1200"/>
              </a:spcAft>
            </a:pPr>
            <a:r>
              <a:rPr lang="en-GB" dirty="0">
                <a:latin typeface="Consolas" panose="020B0609020204030204" pitchFamily="49" charset="0"/>
              </a:rPr>
              <a:t>      THEN</a:t>
            </a:r>
          </a:p>
          <a:p>
            <a:pPr>
              <a:spcAft>
                <a:spcPts val="1200"/>
              </a:spcAft>
            </a:pPr>
            <a:r>
              <a:rPr lang="en-GB" dirty="0">
                <a:latin typeface="Consolas" panose="020B0609020204030204" pitchFamily="49" charset="0"/>
              </a:rPr>
              <a:t>        PassCount </a:t>
            </a:r>
            <a:r>
              <a:rPr lang="en-GB" dirty="0">
                <a:latin typeface="Wingdings" panose="05000000000000000000" pitchFamily="2" charset="2"/>
              </a:rPr>
              <a:t>ß</a:t>
            </a:r>
            <a:r>
              <a:rPr lang="en-GB" dirty="0">
                <a:latin typeface="Consolas" panose="020B0609020204030204" pitchFamily="49" charset="0"/>
              </a:rPr>
              <a:t> PassCount + 1</a:t>
            </a:r>
          </a:p>
          <a:p>
            <a:pPr>
              <a:spcAft>
                <a:spcPts val="1200"/>
              </a:spcAft>
            </a:pPr>
            <a:r>
              <a:rPr lang="en-GB" dirty="0">
                <a:latin typeface="Consolas" panose="020B0609020204030204" pitchFamily="49" charset="0"/>
              </a:rPr>
              <a:t>    ENDIF</a:t>
            </a:r>
          </a:p>
          <a:p>
            <a:pPr>
              <a:spcAft>
                <a:spcPts val="1200"/>
              </a:spcAft>
            </a:pPr>
            <a:r>
              <a:rPr lang="en-GB" dirty="0">
                <a:latin typeface="Consolas" panose="020B0609020204030204" pitchFamily="49" charset="0"/>
              </a:rPr>
              <a:t>NEXT Counter</a:t>
            </a:r>
          </a:p>
        </p:txBody>
      </p:sp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3E8FD28C-DBAA-ACC6-5A84-1591C3AE173A}"/>
              </a:ext>
            </a:extLst>
          </p:cNvPr>
          <p:cNvSpPr/>
          <p:nvPr/>
        </p:nvSpPr>
        <p:spPr>
          <a:xfrm>
            <a:off x="6200775" y="2162175"/>
            <a:ext cx="3600450" cy="923330"/>
          </a:xfrm>
          <a:prstGeom prst="wedgeRoundRectCallout">
            <a:avLst>
              <a:gd name="adj1" fmla="val -162499"/>
              <a:gd name="adj2" fmla="val -2491"/>
              <a:gd name="adj3" fmla="val 16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It is good practice to always initialise variables, so here we start by setting </a:t>
            </a:r>
            <a:r>
              <a:rPr lang="en-GB" dirty="0">
                <a:latin typeface="Consolas" panose="020B0609020204030204" pitchFamily="49" charset="0"/>
              </a:rPr>
              <a:t>PassCount</a:t>
            </a:r>
            <a:r>
              <a:rPr lang="en-GB" dirty="0"/>
              <a:t> to zero.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03316E-323B-2770-C789-4432BC2A8CBC}"/>
              </a:ext>
            </a:extLst>
          </p:cNvPr>
          <p:cNvSpPr/>
          <p:nvPr/>
        </p:nvSpPr>
        <p:spPr>
          <a:xfrm>
            <a:off x="0" y="2428875"/>
            <a:ext cx="2238375" cy="35183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45817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75DDF89E-F7CE-594B-683B-61440B53A1BB}"/>
              </a:ext>
            </a:extLst>
          </p:cNvPr>
          <p:cNvSpPr/>
          <p:nvPr/>
        </p:nvSpPr>
        <p:spPr>
          <a:xfrm>
            <a:off x="6315077" y="3796010"/>
            <a:ext cx="3600450" cy="923330"/>
          </a:xfrm>
          <a:prstGeom prst="wedgeRoundRectCallout">
            <a:avLst>
              <a:gd name="adj1" fmla="val -94774"/>
              <a:gd name="adj2" fmla="val -40660"/>
              <a:gd name="adj3" fmla="val 16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89BBE4-38CA-4FFB-B9AA-E0BBB2AB22B7}"/>
              </a:ext>
            </a:extLst>
          </p:cNvPr>
          <p:cNvSpPr/>
          <p:nvPr/>
        </p:nvSpPr>
        <p:spPr>
          <a:xfrm>
            <a:off x="220675" y="1052896"/>
            <a:ext cx="11657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Keeping count of the number of times a particular action is performed (i.e., the number of times you iterate through a loop) is another very common action performed in programs – for example, counting up the number of students that have been awarded a pass mark in a test.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5" y="504512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Counting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CB7E0CF-6B3E-0C95-4893-A64786ABE676}"/>
              </a:ext>
            </a:extLst>
          </p:cNvPr>
          <p:cNvSpPr/>
          <p:nvPr/>
        </p:nvSpPr>
        <p:spPr>
          <a:xfrm>
            <a:off x="287350" y="2405446"/>
            <a:ext cx="5589575" cy="33855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PassCount </a:t>
            </a:r>
            <a:r>
              <a:rPr lang="en-GB" dirty="0">
                <a:latin typeface="Wingdings" panose="05000000000000000000" pitchFamily="2" charset="2"/>
              </a:rPr>
              <a:t>ß</a:t>
            </a:r>
            <a:r>
              <a:rPr lang="en-GB" dirty="0">
                <a:latin typeface="Consolas" panose="020B0609020204030204" pitchFamily="49" charset="0"/>
              </a:rPr>
              <a:t> 0</a:t>
            </a:r>
          </a:p>
          <a:p>
            <a:pPr>
              <a:spcAft>
                <a:spcPts val="1200"/>
              </a:spcAft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FOR Counter </a:t>
            </a:r>
            <a:r>
              <a:rPr lang="en-GB" dirty="0">
                <a:latin typeface="Wingdings" panose="05000000000000000000" pitchFamily="2" charset="2"/>
              </a:rPr>
              <a:t>ß</a:t>
            </a:r>
            <a:r>
              <a:rPr lang="en-GB" dirty="0">
                <a:latin typeface="Consolas" panose="020B0609020204030204" pitchFamily="49" charset="0"/>
              </a:rPr>
              <a:t> 1 TO ClassSize</a:t>
            </a:r>
          </a:p>
          <a:p>
            <a:pPr>
              <a:spcAft>
                <a:spcPts val="1200"/>
              </a:spcAft>
            </a:pPr>
            <a:r>
              <a:rPr lang="en-GB" dirty="0">
                <a:latin typeface="Consolas" panose="020B0609020204030204" pitchFamily="49" charset="0"/>
              </a:rPr>
              <a:t>    INPUT StudentMark</a:t>
            </a:r>
          </a:p>
          <a:p>
            <a:pPr>
              <a:spcAft>
                <a:spcPts val="1200"/>
              </a:spcAft>
            </a:pPr>
            <a:r>
              <a:rPr lang="en-GB" dirty="0">
                <a:latin typeface="Consolas" panose="020B0609020204030204" pitchFamily="49" charset="0"/>
              </a:rPr>
              <a:t>    IF StudentMark &gt; 50</a:t>
            </a:r>
          </a:p>
          <a:p>
            <a:pPr>
              <a:spcAft>
                <a:spcPts val="1200"/>
              </a:spcAft>
            </a:pPr>
            <a:r>
              <a:rPr lang="en-GB" dirty="0">
                <a:latin typeface="Consolas" panose="020B0609020204030204" pitchFamily="49" charset="0"/>
              </a:rPr>
              <a:t>      THEN</a:t>
            </a:r>
          </a:p>
          <a:p>
            <a:pPr>
              <a:spcAft>
                <a:spcPts val="1200"/>
              </a:spcAft>
            </a:pPr>
            <a:r>
              <a:rPr lang="en-GB" dirty="0">
                <a:latin typeface="Consolas" panose="020B0609020204030204" pitchFamily="49" charset="0"/>
              </a:rPr>
              <a:t>        PassCount </a:t>
            </a:r>
            <a:r>
              <a:rPr lang="en-GB" dirty="0">
                <a:latin typeface="Wingdings" panose="05000000000000000000" pitchFamily="2" charset="2"/>
              </a:rPr>
              <a:t>ß</a:t>
            </a:r>
            <a:r>
              <a:rPr lang="en-GB" dirty="0">
                <a:latin typeface="Consolas" panose="020B0609020204030204" pitchFamily="49" charset="0"/>
              </a:rPr>
              <a:t> PassCount + 1</a:t>
            </a:r>
          </a:p>
          <a:p>
            <a:pPr>
              <a:spcAft>
                <a:spcPts val="1200"/>
              </a:spcAft>
            </a:pPr>
            <a:r>
              <a:rPr lang="en-GB" dirty="0">
                <a:latin typeface="Consolas" panose="020B0609020204030204" pitchFamily="49" charset="0"/>
              </a:rPr>
              <a:t>    ENDIF</a:t>
            </a:r>
          </a:p>
          <a:p>
            <a:pPr>
              <a:spcAft>
                <a:spcPts val="1200"/>
              </a:spcAft>
            </a:pPr>
            <a:r>
              <a:rPr lang="en-GB" dirty="0">
                <a:latin typeface="Consolas" panose="020B0609020204030204" pitchFamily="49" charset="0"/>
              </a:rPr>
              <a:t>NEXT Counter</a:t>
            </a:r>
          </a:p>
        </p:txBody>
      </p:sp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3E8FD28C-DBAA-ACC6-5A84-1591C3AE173A}"/>
              </a:ext>
            </a:extLst>
          </p:cNvPr>
          <p:cNvSpPr/>
          <p:nvPr/>
        </p:nvSpPr>
        <p:spPr>
          <a:xfrm>
            <a:off x="6402626" y="3796010"/>
            <a:ext cx="3451493" cy="923330"/>
          </a:xfrm>
          <a:prstGeom prst="wedgeRoundRectCallout">
            <a:avLst>
              <a:gd name="adj1" fmla="val -97944"/>
              <a:gd name="adj2" fmla="val 51174"/>
              <a:gd name="adj3" fmla="val 16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If the 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StudentMark</a:t>
            </a:r>
            <a:r>
              <a:rPr lang="en-GB" dirty="0"/>
              <a:t> input is greater than 50, we need to update the count.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03316E-323B-2770-C789-4432BC2A8CBC}"/>
              </a:ext>
            </a:extLst>
          </p:cNvPr>
          <p:cNvSpPr/>
          <p:nvPr/>
        </p:nvSpPr>
        <p:spPr>
          <a:xfrm>
            <a:off x="0" y="4543425"/>
            <a:ext cx="4838700" cy="35183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7BADBB-0F89-D1F2-FBBB-9C056C821617}"/>
              </a:ext>
            </a:extLst>
          </p:cNvPr>
          <p:cNvSpPr/>
          <p:nvPr/>
        </p:nvSpPr>
        <p:spPr>
          <a:xfrm>
            <a:off x="0" y="3694722"/>
            <a:ext cx="4838700" cy="35183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Picture 8" descr="make_notes">
            <a:extLst>
              <a:ext uri="{FF2B5EF4-FFF2-40B4-BE49-F238E27FC236}">
                <a16:creationId xmlns:a16="http://schemas.microsoft.com/office/drawing/2014/main" id="{7799D5D6-0F2F-1845-96F0-82964CA3C2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9014" y="5535595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15001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89BBE4-38CA-4FFB-B9AA-E0BBB2AB22B7}"/>
              </a:ext>
            </a:extLst>
          </p:cNvPr>
          <p:cNvSpPr/>
          <p:nvPr/>
        </p:nvSpPr>
        <p:spPr>
          <a:xfrm>
            <a:off x="220675" y="1052896"/>
            <a:ext cx="11657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can count down as well as up, and there are many reasons why you might want to do this in a program – for example, a retailer keeping track of how much stock they have left so they know when to put in an order.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5" y="504512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Counting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CB7E0CF-6B3E-0C95-4893-A64786ABE676}"/>
              </a:ext>
            </a:extLst>
          </p:cNvPr>
          <p:cNvSpPr/>
          <p:nvPr/>
        </p:nvSpPr>
        <p:spPr>
          <a:xfrm>
            <a:off x="287350" y="2405446"/>
            <a:ext cx="5589575" cy="25237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...</a:t>
            </a:r>
          </a:p>
          <a:p>
            <a:pPr>
              <a:spcAft>
                <a:spcPts val="1200"/>
              </a:spcAft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StockAvailable </a:t>
            </a:r>
            <a:r>
              <a:rPr lang="en-GB" dirty="0">
                <a:latin typeface="Wingdings" panose="05000000000000000000" pitchFamily="2" charset="2"/>
              </a:rPr>
              <a:t>ß</a:t>
            </a:r>
            <a:r>
              <a:rPr lang="en-GB" dirty="0">
                <a:latin typeface="Consolas" panose="020B0609020204030204" pitchFamily="49" charset="0"/>
              </a:rPr>
              <a:t> StockAvailable - 1</a:t>
            </a:r>
          </a:p>
          <a:p>
            <a:pPr>
              <a:spcAft>
                <a:spcPts val="1200"/>
              </a:spcAft>
            </a:pPr>
            <a:r>
              <a:rPr lang="en-GB" dirty="0">
                <a:latin typeface="Consolas" panose="020B0609020204030204" pitchFamily="49" charset="0"/>
              </a:rPr>
              <a:t>IF StockAvailable &lt; 10</a:t>
            </a:r>
          </a:p>
          <a:p>
            <a:pPr>
              <a:spcAft>
                <a:spcPts val="1200"/>
              </a:spcAft>
            </a:pPr>
            <a:r>
              <a:rPr lang="en-GB" dirty="0">
                <a:latin typeface="Consolas" panose="020B0609020204030204" pitchFamily="49" charset="0"/>
              </a:rPr>
              <a:t>      THEN</a:t>
            </a:r>
          </a:p>
          <a:p>
            <a:pPr>
              <a:spcAft>
                <a:spcPts val="1200"/>
              </a:spcAft>
            </a:pPr>
            <a:r>
              <a:rPr lang="en-GB" dirty="0">
                <a:latin typeface="Consolas" panose="020B0609020204030204" pitchFamily="49" charset="0"/>
              </a:rPr>
              <a:t>        CALL OrderNewStock()</a:t>
            </a:r>
          </a:p>
          <a:p>
            <a:pPr>
              <a:spcAft>
                <a:spcPts val="1200"/>
              </a:spcAft>
            </a:pPr>
            <a:r>
              <a:rPr lang="en-GB" dirty="0">
                <a:latin typeface="Consolas" panose="020B0609020204030204" pitchFamily="49" charset="0"/>
              </a:rPr>
              <a:t>...</a:t>
            </a:r>
          </a:p>
        </p:txBody>
      </p:sp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3E8FD28C-DBAA-ACC6-5A84-1591C3AE173A}"/>
              </a:ext>
            </a:extLst>
          </p:cNvPr>
          <p:cNvSpPr/>
          <p:nvPr/>
        </p:nvSpPr>
        <p:spPr>
          <a:xfrm>
            <a:off x="6781804" y="2852988"/>
            <a:ext cx="3600450" cy="923330"/>
          </a:xfrm>
          <a:prstGeom prst="wedgeRoundRectCallout">
            <a:avLst>
              <a:gd name="adj1" fmla="val -99801"/>
              <a:gd name="adj2" fmla="val -27249"/>
              <a:gd name="adj3" fmla="val 16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 this line, we are counting down by decreasing the value held in the </a:t>
            </a:r>
            <a:r>
              <a:rPr lang="en-GB" dirty="0">
                <a:latin typeface="Consolas" panose="020B0609020204030204" pitchFamily="49" charset="0"/>
              </a:rPr>
              <a:t>StockAvailable</a:t>
            </a:r>
            <a:r>
              <a:rPr lang="en-GB" dirty="0"/>
              <a:t> variables.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7BADBB-0F89-D1F2-FBBB-9C056C821617}"/>
              </a:ext>
            </a:extLst>
          </p:cNvPr>
          <p:cNvSpPr/>
          <p:nvPr/>
        </p:nvSpPr>
        <p:spPr>
          <a:xfrm>
            <a:off x="0" y="2852988"/>
            <a:ext cx="4991100" cy="35183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37784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5" y="504512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Maximum, minimum and average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7DA109-A05C-52D7-2ACA-D3D264668CA6}"/>
              </a:ext>
            </a:extLst>
          </p:cNvPr>
          <p:cNvSpPr/>
          <p:nvPr/>
        </p:nvSpPr>
        <p:spPr>
          <a:xfrm>
            <a:off x="220675" y="1052896"/>
            <a:ext cx="1196764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Being able to find the largest and smallest values in a data set is another common technique used in algorithms – for example, finding the highest and lowest marks awarded to students in a class.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582560-3373-F838-47A8-62B2D7210C0E}"/>
              </a:ext>
            </a:extLst>
          </p:cNvPr>
          <p:cNvSpPr/>
          <p:nvPr/>
        </p:nvSpPr>
        <p:spPr>
          <a:xfrm>
            <a:off x="3229775" y="1852401"/>
            <a:ext cx="5732450" cy="48269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MaximumMark </a:t>
            </a:r>
            <a:r>
              <a:rPr lang="en-GB" dirty="0">
                <a:latin typeface="Wingdings" panose="05000000000000000000" pitchFamily="2" charset="2"/>
              </a:rPr>
              <a:t>ß</a:t>
            </a:r>
            <a:r>
              <a:rPr lang="en-GB" dirty="0">
                <a:latin typeface="Consolas" panose="020B0609020204030204" pitchFamily="49" charset="0"/>
              </a:rPr>
              <a:t> 0</a:t>
            </a:r>
          </a:p>
          <a:p>
            <a:pPr>
              <a:spcAft>
                <a:spcPts val="1000"/>
              </a:spcAft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MinimumMark </a:t>
            </a:r>
            <a:r>
              <a:rPr lang="en-GB" dirty="0">
                <a:latin typeface="Wingdings" panose="05000000000000000000" pitchFamily="2" charset="2"/>
              </a:rPr>
              <a:t>ß</a:t>
            </a:r>
            <a:r>
              <a:rPr lang="en-GB" dirty="0">
                <a:latin typeface="Consolas" panose="020B0609020204030204" pitchFamily="49" charset="0"/>
              </a:rPr>
              <a:t> 100</a:t>
            </a:r>
          </a:p>
          <a:p>
            <a:pPr>
              <a:spcAft>
                <a:spcPts val="1000"/>
              </a:spcAft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FOR Counter </a:t>
            </a:r>
            <a:r>
              <a:rPr lang="en-GB" dirty="0">
                <a:latin typeface="Wingdings" panose="05000000000000000000" pitchFamily="2" charset="2"/>
              </a:rPr>
              <a:t>ß</a:t>
            </a:r>
            <a:r>
              <a:rPr lang="en-GB" dirty="0">
                <a:latin typeface="Consolas" panose="020B0609020204030204" pitchFamily="49" charset="0"/>
              </a:rPr>
              <a:t> 1 TO ClassSize</a:t>
            </a:r>
          </a:p>
          <a:p>
            <a:pPr>
              <a:spcAft>
                <a:spcPts val="1000"/>
              </a:spcAft>
            </a:pPr>
            <a:r>
              <a:rPr lang="en-GB" dirty="0">
                <a:latin typeface="Consolas" panose="020B0609020204030204" pitchFamily="49" charset="0"/>
              </a:rPr>
              <a:t>    IF StudentMark[Counter] &gt; MaximumMark</a:t>
            </a:r>
          </a:p>
          <a:p>
            <a:pPr>
              <a:spcAft>
                <a:spcPts val="1000"/>
              </a:spcAft>
            </a:pPr>
            <a:r>
              <a:rPr lang="en-GB" dirty="0">
                <a:latin typeface="Consolas" panose="020B0609020204030204" pitchFamily="49" charset="0"/>
              </a:rPr>
              <a:t>      THEN</a:t>
            </a:r>
          </a:p>
          <a:p>
            <a:pPr>
              <a:spcAft>
                <a:spcPts val="1000"/>
              </a:spcAft>
            </a:pPr>
            <a:r>
              <a:rPr lang="en-GB" dirty="0">
                <a:latin typeface="Consolas" panose="020B0609020204030204" pitchFamily="49" charset="0"/>
              </a:rPr>
              <a:t>        MaximumMark </a:t>
            </a:r>
            <a:r>
              <a:rPr lang="en-GB" dirty="0">
                <a:latin typeface="Wingdings" panose="05000000000000000000" pitchFamily="2" charset="2"/>
              </a:rPr>
              <a:t>ß</a:t>
            </a:r>
            <a:r>
              <a:rPr lang="en-GB" dirty="0">
                <a:latin typeface="Consolas" panose="020B0609020204030204" pitchFamily="49" charset="0"/>
              </a:rPr>
              <a:t> StudentMark[Counter]</a:t>
            </a:r>
          </a:p>
          <a:p>
            <a:pPr>
              <a:spcAft>
                <a:spcPts val="1000"/>
              </a:spcAft>
            </a:pPr>
            <a:r>
              <a:rPr lang="en-GB" dirty="0">
                <a:latin typeface="Consolas" panose="020B0609020204030204" pitchFamily="49" charset="0"/>
              </a:rPr>
              <a:t>    ENDIF</a:t>
            </a:r>
          </a:p>
          <a:p>
            <a:pPr>
              <a:spcAft>
                <a:spcPts val="1000"/>
              </a:spcAft>
            </a:pPr>
            <a:r>
              <a:rPr lang="en-GB" dirty="0">
                <a:latin typeface="Consolas" panose="020B0609020204030204" pitchFamily="49" charset="0"/>
              </a:rPr>
              <a:t>    IF StudentMark[Counter] &lt; MinimumMark</a:t>
            </a:r>
          </a:p>
          <a:p>
            <a:pPr>
              <a:spcAft>
                <a:spcPts val="1000"/>
              </a:spcAft>
            </a:pPr>
            <a:r>
              <a:rPr lang="en-GB" dirty="0">
                <a:latin typeface="Consolas" panose="020B0609020204030204" pitchFamily="49" charset="0"/>
              </a:rPr>
              <a:t>      THEN</a:t>
            </a:r>
          </a:p>
          <a:p>
            <a:pPr>
              <a:spcAft>
                <a:spcPts val="1000"/>
              </a:spcAft>
            </a:pPr>
            <a:r>
              <a:rPr lang="en-GB" dirty="0">
                <a:latin typeface="Consolas" panose="020B0609020204030204" pitchFamily="49" charset="0"/>
              </a:rPr>
              <a:t>        MinimumMark </a:t>
            </a:r>
            <a:r>
              <a:rPr lang="en-GB" dirty="0">
                <a:latin typeface="Wingdings" panose="05000000000000000000" pitchFamily="2" charset="2"/>
              </a:rPr>
              <a:t>ß</a:t>
            </a:r>
            <a:r>
              <a:rPr lang="en-GB" dirty="0">
                <a:latin typeface="Consolas" panose="020B0609020204030204" pitchFamily="49" charset="0"/>
              </a:rPr>
              <a:t> StudentMark[Counter]</a:t>
            </a:r>
          </a:p>
          <a:p>
            <a:pPr>
              <a:spcAft>
                <a:spcPts val="1000"/>
              </a:spcAft>
            </a:pPr>
            <a:r>
              <a:rPr lang="en-GB" dirty="0">
                <a:latin typeface="Consolas" panose="020B0609020204030204" pitchFamily="49" charset="0"/>
              </a:rPr>
              <a:t>    ENDIF</a:t>
            </a:r>
          </a:p>
          <a:p>
            <a:pPr>
              <a:spcAft>
                <a:spcPts val="1000"/>
              </a:spcAft>
            </a:pPr>
            <a:r>
              <a:rPr lang="en-GB" dirty="0">
                <a:latin typeface="Consolas" panose="020B0609020204030204" pitchFamily="49" charset="0"/>
              </a:rPr>
              <a:t>NEXT Counter</a:t>
            </a:r>
          </a:p>
        </p:txBody>
      </p:sp>
    </p:spTree>
    <p:extLst>
      <p:ext uri="{BB962C8B-B14F-4D97-AF65-F5344CB8AC3E}">
        <p14:creationId xmlns:p14="http://schemas.microsoft.com/office/powerpoint/2010/main" val="37575917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5" y="504512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Maximum, minimum and average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582560-3373-F838-47A8-62B2D7210C0E}"/>
              </a:ext>
            </a:extLst>
          </p:cNvPr>
          <p:cNvSpPr/>
          <p:nvPr/>
        </p:nvSpPr>
        <p:spPr>
          <a:xfrm>
            <a:off x="350380" y="1852401"/>
            <a:ext cx="5732450" cy="48269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MaximumMark </a:t>
            </a:r>
            <a:r>
              <a:rPr lang="en-GB" dirty="0">
                <a:latin typeface="Wingdings" panose="05000000000000000000" pitchFamily="2" charset="2"/>
              </a:rPr>
              <a:t>ß</a:t>
            </a:r>
            <a:r>
              <a:rPr lang="en-GB" dirty="0">
                <a:latin typeface="Consolas" panose="020B0609020204030204" pitchFamily="49" charset="0"/>
              </a:rPr>
              <a:t> 0</a:t>
            </a:r>
          </a:p>
          <a:p>
            <a:pPr>
              <a:spcAft>
                <a:spcPts val="1000"/>
              </a:spcAft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MinimumMark </a:t>
            </a:r>
            <a:r>
              <a:rPr lang="en-GB" dirty="0">
                <a:latin typeface="Wingdings" panose="05000000000000000000" pitchFamily="2" charset="2"/>
              </a:rPr>
              <a:t>ß</a:t>
            </a:r>
            <a:r>
              <a:rPr lang="en-GB" dirty="0">
                <a:latin typeface="Consolas" panose="020B0609020204030204" pitchFamily="49" charset="0"/>
              </a:rPr>
              <a:t> 100</a:t>
            </a:r>
          </a:p>
          <a:p>
            <a:pPr>
              <a:spcAft>
                <a:spcPts val="1000"/>
              </a:spcAft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FOR Counter </a:t>
            </a:r>
            <a:r>
              <a:rPr lang="en-GB" dirty="0">
                <a:latin typeface="Wingdings" panose="05000000000000000000" pitchFamily="2" charset="2"/>
              </a:rPr>
              <a:t>ß</a:t>
            </a:r>
            <a:r>
              <a:rPr lang="en-GB" dirty="0">
                <a:latin typeface="Consolas" panose="020B0609020204030204" pitchFamily="49" charset="0"/>
              </a:rPr>
              <a:t> 1 TO ClassSize</a:t>
            </a:r>
          </a:p>
          <a:p>
            <a:pPr>
              <a:spcAft>
                <a:spcPts val="1000"/>
              </a:spcAft>
            </a:pPr>
            <a:r>
              <a:rPr lang="en-GB" dirty="0">
                <a:latin typeface="Consolas" panose="020B0609020204030204" pitchFamily="49" charset="0"/>
              </a:rPr>
              <a:t>    IF StudentMark[Counter] &gt; MaximumMark</a:t>
            </a:r>
          </a:p>
          <a:p>
            <a:pPr>
              <a:spcAft>
                <a:spcPts val="1000"/>
              </a:spcAft>
            </a:pPr>
            <a:r>
              <a:rPr lang="en-GB" dirty="0">
                <a:latin typeface="Consolas" panose="020B0609020204030204" pitchFamily="49" charset="0"/>
              </a:rPr>
              <a:t>      THEN</a:t>
            </a:r>
          </a:p>
          <a:p>
            <a:pPr>
              <a:spcAft>
                <a:spcPts val="1000"/>
              </a:spcAft>
            </a:pPr>
            <a:r>
              <a:rPr lang="en-GB" dirty="0">
                <a:latin typeface="Consolas" panose="020B0609020204030204" pitchFamily="49" charset="0"/>
              </a:rPr>
              <a:t>        MaximumMark </a:t>
            </a:r>
            <a:r>
              <a:rPr lang="en-GB" dirty="0">
                <a:latin typeface="Wingdings" panose="05000000000000000000" pitchFamily="2" charset="2"/>
              </a:rPr>
              <a:t>ß</a:t>
            </a:r>
            <a:r>
              <a:rPr lang="en-GB" dirty="0">
                <a:latin typeface="Consolas" panose="020B0609020204030204" pitchFamily="49" charset="0"/>
              </a:rPr>
              <a:t> StudentMark[Counter]</a:t>
            </a:r>
          </a:p>
          <a:p>
            <a:pPr>
              <a:spcAft>
                <a:spcPts val="1000"/>
              </a:spcAft>
            </a:pPr>
            <a:r>
              <a:rPr lang="en-GB" dirty="0">
                <a:latin typeface="Consolas" panose="020B0609020204030204" pitchFamily="49" charset="0"/>
              </a:rPr>
              <a:t>    ENDIF</a:t>
            </a:r>
          </a:p>
          <a:p>
            <a:pPr>
              <a:spcAft>
                <a:spcPts val="1000"/>
              </a:spcAft>
            </a:pPr>
            <a:r>
              <a:rPr lang="en-GB" dirty="0">
                <a:latin typeface="Consolas" panose="020B0609020204030204" pitchFamily="49" charset="0"/>
              </a:rPr>
              <a:t>    IF StudentMark[Counter] &lt; MinimumMark</a:t>
            </a:r>
          </a:p>
          <a:p>
            <a:pPr>
              <a:spcAft>
                <a:spcPts val="1000"/>
              </a:spcAft>
            </a:pPr>
            <a:r>
              <a:rPr lang="en-GB" dirty="0">
                <a:latin typeface="Consolas" panose="020B0609020204030204" pitchFamily="49" charset="0"/>
              </a:rPr>
              <a:t>      THEN</a:t>
            </a:r>
          </a:p>
          <a:p>
            <a:pPr>
              <a:spcAft>
                <a:spcPts val="1000"/>
              </a:spcAft>
            </a:pPr>
            <a:r>
              <a:rPr lang="en-GB" dirty="0">
                <a:latin typeface="Consolas" panose="020B0609020204030204" pitchFamily="49" charset="0"/>
              </a:rPr>
              <a:t>        MinimumMark </a:t>
            </a:r>
            <a:r>
              <a:rPr lang="en-GB" dirty="0">
                <a:latin typeface="Wingdings" panose="05000000000000000000" pitchFamily="2" charset="2"/>
              </a:rPr>
              <a:t>ß</a:t>
            </a:r>
            <a:r>
              <a:rPr lang="en-GB" dirty="0">
                <a:latin typeface="Consolas" panose="020B0609020204030204" pitchFamily="49" charset="0"/>
              </a:rPr>
              <a:t> StudentMark[Counter]</a:t>
            </a:r>
          </a:p>
          <a:p>
            <a:pPr>
              <a:spcAft>
                <a:spcPts val="1000"/>
              </a:spcAft>
            </a:pPr>
            <a:r>
              <a:rPr lang="en-GB" dirty="0">
                <a:latin typeface="Consolas" panose="020B0609020204030204" pitchFamily="49" charset="0"/>
              </a:rPr>
              <a:t>    ENDIF</a:t>
            </a:r>
          </a:p>
          <a:p>
            <a:pPr>
              <a:spcAft>
                <a:spcPts val="1000"/>
              </a:spcAft>
            </a:pPr>
            <a:r>
              <a:rPr lang="en-GB" dirty="0">
                <a:latin typeface="Consolas" panose="020B0609020204030204" pitchFamily="49" charset="0"/>
              </a:rPr>
              <a:t>NEXT Counter</a:t>
            </a:r>
          </a:p>
        </p:txBody>
      </p:sp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378D50AD-E15A-67C4-54DA-DB5F554E891E}"/>
              </a:ext>
            </a:extLst>
          </p:cNvPr>
          <p:cNvSpPr/>
          <p:nvPr/>
        </p:nvSpPr>
        <p:spPr>
          <a:xfrm>
            <a:off x="6709024" y="1852401"/>
            <a:ext cx="2882448" cy="1576599"/>
          </a:xfrm>
          <a:prstGeom prst="wedgeRoundRectCallout">
            <a:avLst>
              <a:gd name="adj1" fmla="val -184216"/>
              <a:gd name="adj2" fmla="val -26155"/>
              <a:gd name="adj3" fmla="val 16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Initialise the maximum to the lowest possible mark and the minimum to the highest possible mark.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A806B9-B306-2F3B-A9D0-4C28A652DFAE}"/>
              </a:ext>
            </a:extLst>
          </p:cNvPr>
          <p:cNvSpPr/>
          <p:nvPr/>
        </p:nvSpPr>
        <p:spPr>
          <a:xfrm>
            <a:off x="0" y="1878695"/>
            <a:ext cx="2889107" cy="786684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1475B0-A741-CD27-93DD-C51EA94A49BA}"/>
              </a:ext>
            </a:extLst>
          </p:cNvPr>
          <p:cNvSpPr/>
          <p:nvPr/>
        </p:nvSpPr>
        <p:spPr>
          <a:xfrm>
            <a:off x="220675" y="1052896"/>
            <a:ext cx="1196764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Being able to find the largest and smallest values in a data set is another common technique used in algorithms – for example, finding the highest and lowest marks awarded to students in a class.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54480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40C0C770-689C-8084-A1BD-44636376CFE1}"/>
              </a:ext>
            </a:extLst>
          </p:cNvPr>
          <p:cNvSpPr/>
          <p:nvPr/>
        </p:nvSpPr>
        <p:spPr>
          <a:xfrm>
            <a:off x="7983347" y="3339222"/>
            <a:ext cx="3582839" cy="1962351"/>
          </a:xfrm>
          <a:prstGeom prst="wedgeRoundRectCallout">
            <a:avLst>
              <a:gd name="adj1" fmla="val -110702"/>
              <a:gd name="adj2" fmla="val 26892"/>
              <a:gd name="adj3" fmla="val 16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5" y="504512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Maximum, minimum and average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582560-3373-F838-47A8-62B2D7210C0E}"/>
              </a:ext>
            </a:extLst>
          </p:cNvPr>
          <p:cNvSpPr/>
          <p:nvPr/>
        </p:nvSpPr>
        <p:spPr>
          <a:xfrm>
            <a:off x="350380" y="1852401"/>
            <a:ext cx="5732450" cy="48269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MaximumMark </a:t>
            </a:r>
            <a:r>
              <a:rPr lang="en-GB" dirty="0">
                <a:latin typeface="Wingdings" panose="05000000000000000000" pitchFamily="2" charset="2"/>
              </a:rPr>
              <a:t>ß</a:t>
            </a:r>
            <a:r>
              <a:rPr lang="en-GB" dirty="0">
                <a:latin typeface="Consolas" panose="020B0609020204030204" pitchFamily="49" charset="0"/>
              </a:rPr>
              <a:t> 0</a:t>
            </a:r>
          </a:p>
          <a:p>
            <a:pPr>
              <a:spcAft>
                <a:spcPts val="1000"/>
              </a:spcAft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MinimumMark </a:t>
            </a:r>
            <a:r>
              <a:rPr lang="en-GB" dirty="0">
                <a:latin typeface="Wingdings" panose="05000000000000000000" pitchFamily="2" charset="2"/>
              </a:rPr>
              <a:t>ß</a:t>
            </a:r>
            <a:r>
              <a:rPr lang="en-GB" dirty="0">
                <a:latin typeface="Consolas" panose="020B0609020204030204" pitchFamily="49" charset="0"/>
              </a:rPr>
              <a:t> 100</a:t>
            </a:r>
          </a:p>
          <a:p>
            <a:pPr>
              <a:spcAft>
                <a:spcPts val="1000"/>
              </a:spcAft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FOR Counter </a:t>
            </a:r>
            <a:r>
              <a:rPr lang="en-GB" dirty="0">
                <a:latin typeface="Wingdings" panose="05000000000000000000" pitchFamily="2" charset="2"/>
              </a:rPr>
              <a:t>ß</a:t>
            </a:r>
            <a:r>
              <a:rPr lang="en-GB" dirty="0">
                <a:latin typeface="Consolas" panose="020B0609020204030204" pitchFamily="49" charset="0"/>
              </a:rPr>
              <a:t> 1 TO ClassSize</a:t>
            </a:r>
          </a:p>
          <a:p>
            <a:pPr>
              <a:spcAft>
                <a:spcPts val="1000"/>
              </a:spcAft>
            </a:pPr>
            <a:r>
              <a:rPr lang="en-GB" dirty="0">
                <a:latin typeface="Consolas" panose="020B0609020204030204" pitchFamily="49" charset="0"/>
              </a:rPr>
              <a:t>    IF StudentMark[Counter] &gt; MaximumMark</a:t>
            </a:r>
          </a:p>
          <a:p>
            <a:pPr>
              <a:spcAft>
                <a:spcPts val="1000"/>
              </a:spcAft>
            </a:pPr>
            <a:r>
              <a:rPr lang="en-GB" dirty="0">
                <a:latin typeface="Consolas" panose="020B0609020204030204" pitchFamily="49" charset="0"/>
              </a:rPr>
              <a:t>      THEN</a:t>
            </a:r>
          </a:p>
          <a:p>
            <a:pPr>
              <a:spcAft>
                <a:spcPts val="1000"/>
              </a:spcAft>
            </a:pPr>
            <a:r>
              <a:rPr lang="en-GB" dirty="0">
                <a:latin typeface="Consolas" panose="020B0609020204030204" pitchFamily="49" charset="0"/>
              </a:rPr>
              <a:t>        MaximumMark </a:t>
            </a:r>
            <a:r>
              <a:rPr lang="en-GB" dirty="0">
                <a:latin typeface="Wingdings" panose="05000000000000000000" pitchFamily="2" charset="2"/>
              </a:rPr>
              <a:t>ß</a:t>
            </a:r>
            <a:r>
              <a:rPr lang="en-GB" dirty="0">
                <a:latin typeface="Consolas" panose="020B0609020204030204" pitchFamily="49" charset="0"/>
              </a:rPr>
              <a:t> StudentMark[Counter]</a:t>
            </a:r>
          </a:p>
          <a:p>
            <a:pPr>
              <a:spcAft>
                <a:spcPts val="1000"/>
              </a:spcAft>
            </a:pPr>
            <a:r>
              <a:rPr lang="en-GB" dirty="0">
                <a:latin typeface="Consolas" panose="020B0609020204030204" pitchFamily="49" charset="0"/>
              </a:rPr>
              <a:t>    ENDIF</a:t>
            </a:r>
          </a:p>
          <a:p>
            <a:pPr>
              <a:spcAft>
                <a:spcPts val="1000"/>
              </a:spcAft>
            </a:pPr>
            <a:r>
              <a:rPr lang="en-GB" dirty="0">
                <a:latin typeface="Consolas" panose="020B0609020204030204" pitchFamily="49" charset="0"/>
              </a:rPr>
              <a:t>    IF StudentMark[Counter] &lt; MinimumMark</a:t>
            </a:r>
          </a:p>
          <a:p>
            <a:pPr>
              <a:spcAft>
                <a:spcPts val="1000"/>
              </a:spcAft>
            </a:pPr>
            <a:r>
              <a:rPr lang="en-GB" dirty="0">
                <a:latin typeface="Consolas" panose="020B0609020204030204" pitchFamily="49" charset="0"/>
              </a:rPr>
              <a:t>      THEN</a:t>
            </a:r>
          </a:p>
          <a:p>
            <a:pPr>
              <a:spcAft>
                <a:spcPts val="1000"/>
              </a:spcAft>
            </a:pPr>
            <a:r>
              <a:rPr lang="en-GB" dirty="0">
                <a:latin typeface="Consolas" panose="020B0609020204030204" pitchFamily="49" charset="0"/>
              </a:rPr>
              <a:t>        MinimumMark </a:t>
            </a:r>
            <a:r>
              <a:rPr lang="en-GB" dirty="0">
                <a:latin typeface="Wingdings" panose="05000000000000000000" pitchFamily="2" charset="2"/>
              </a:rPr>
              <a:t>ß</a:t>
            </a:r>
            <a:r>
              <a:rPr lang="en-GB" dirty="0">
                <a:latin typeface="Consolas" panose="020B0609020204030204" pitchFamily="49" charset="0"/>
              </a:rPr>
              <a:t> StudentMark[Counter]</a:t>
            </a:r>
          </a:p>
          <a:p>
            <a:pPr>
              <a:spcAft>
                <a:spcPts val="1000"/>
              </a:spcAft>
            </a:pPr>
            <a:r>
              <a:rPr lang="en-GB" dirty="0">
                <a:latin typeface="Consolas" panose="020B0609020204030204" pitchFamily="49" charset="0"/>
              </a:rPr>
              <a:t>    ENDIF</a:t>
            </a:r>
          </a:p>
          <a:p>
            <a:pPr>
              <a:spcAft>
                <a:spcPts val="1000"/>
              </a:spcAft>
            </a:pPr>
            <a:r>
              <a:rPr lang="en-GB" dirty="0">
                <a:latin typeface="Consolas" panose="020B0609020204030204" pitchFamily="49" charset="0"/>
              </a:rPr>
              <a:t>NEXT Counter</a:t>
            </a:r>
          </a:p>
        </p:txBody>
      </p:sp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378D50AD-E15A-67C4-54DA-DB5F554E891E}"/>
              </a:ext>
            </a:extLst>
          </p:cNvPr>
          <p:cNvSpPr/>
          <p:nvPr/>
        </p:nvSpPr>
        <p:spPr>
          <a:xfrm>
            <a:off x="8041715" y="3339223"/>
            <a:ext cx="3456381" cy="1962351"/>
          </a:xfrm>
          <a:prstGeom prst="wedgeRoundRectCallout">
            <a:avLst>
              <a:gd name="adj1" fmla="val -114652"/>
              <a:gd name="adj2" fmla="val -55397"/>
              <a:gd name="adj3" fmla="val 16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Check the current value in the </a:t>
            </a:r>
            <a:r>
              <a:rPr lang="en-GB" dirty="0">
                <a:latin typeface="Consolas" panose="020B0609020204030204" pitchFamily="49" charset="0"/>
              </a:rPr>
              <a:t>StudentMark</a:t>
            </a:r>
            <a:r>
              <a:rPr lang="en-GB" dirty="0"/>
              <a:t> array and see if it is higher than the value currently stored in </a:t>
            </a:r>
            <a:r>
              <a:rPr lang="en-GB" dirty="0">
                <a:latin typeface="Consolas" panose="020B0609020204030204" pitchFamily="49" charset="0"/>
              </a:rPr>
              <a:t>MaximumMark</a:t>
            </a:r>
            <a:r>
              <a:rPr lang="en-GB" dirty="0"/>
              <a:t> or lower than the value currently stored in </a:t>
            </a:r>
            <a:r>
              <a:rPr lang="en-GB" dirty="0">
                <a:latin typeface="Consolas" panose="020B0609020204030204" pitchFamily="49" charset="0"/>
              </a:rPr>
              <a:t>MinimumMark</a:t>
            </a:r>
            <a:r>
              <a:rPr lang="en-GB" dirty="0"/>
              <a:t>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A806B9-B306-2F3B-A9D0-4C28A652DFAE}"/>
              </a:ext>
            </a:extLst>
          </p:cNvPr>
          <p:cNvSpPr/>
          <p:nvPr/>
        </p:nvSpPr>
        <p:spPr>
          <a:xfrm>
            <a:off x="-21575" y="3035658"/>
            <a:ext cx="5887354" cy="39334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19002F-A7C5-9B14-0BFA-62814A4C2BF9}"/>
              </a:ext>
            </a:extLst>
          </p:cNvPr>
          <p:cNvSpPr/>
          <p:nvPr/>
        </p:nvSpPr>
        <p:spPr>
          <a:xfrm>
            <a:off x="-21575" y="4660839"/>
            <a:ext cx="5887354" cy="39334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A9ECF8D-9EFB-CCFB-4BD0-B3476AE8197D}"/>
              </a:ext>
            </a:extLst>
          </p:cNvPr>
          <p:cNvSpPr/>
          <p:nvPr/>
        </p:nvSpPr>
        <p:spPr>
          <a:xfrm>
            <a:off x="220675" y="1052896"/>
            <a:ext cx="1196764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Being able to find the largest and smallest values in a data set is another common technique used in algorithms – for example, finding the highest and lowest marks awarded to students in a class.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08352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40C0C770-689C-8084-A1BD-44636376CFE1}"/>
              </a:ext>
            </a:extLst>
          </p:cNvPr>
          <p:cNvSpPr/>
          <p:nvPr/>
        </p:nvSpPr>
        <p:spPr>
          <a:xfrm>
            <a:off x="7983347" y="3339222"/>
            <a:ext cx="3582839" cy="1962351"/>
          </a:xfrm>
          <a:prstGeom prst="wedgeRoundRectCallout">
            <a:avLst>
              <a:gd name="adj1" fmla="val -110170"/>
              <a:gd name="adj2" fmla="val 70091"/>
              <a:gd name="adj3" fmla="val 16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5" y="504512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Maximum, minimum and average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582560-3373-F838-47A8-62B2D7210C0E}"/>
              </a:ext>
            </a:extLst>
          </p:cNvPr>
          <p:cNvSpPr/>
          <p:nvPr/>
        </p:nvSpPr>
        <p:spPr>
          <a:xfrm>
            <a:off x="350380" y="1852401"/>
            <a:ext cx="5732450" cy="48269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MaximumMark </a:t>
            </a:r>
            <a:r>
              <a:rPr lang="en-GB" dirty="0">
                <a:latin typeface="Wingdings" panose="05000000000000000000" pitchFamily="2" charset="2"/>
              </a:rPr>
              <a:t>ß</a:t>
            </a:r>
            <a:r>
              <a:rPr lang="en-GB" dirty="0">
                <a:latin typeface="Consolas" panose="020B0609020204030204" pitchFamily="49" charset="0"/>
              </a:rPr>
              <a:t> 0</a:t>
            </a:r>
          </a:p>
          <a:p>
            <a:pPr>
              <a:spcAft>
                <a:spcPts val="1000"/>
              </a:spcAft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MinimumMark </a:t>
            </a:r>
            <a:r>
              <a:rPr lang="en-GB" dirty="0">
                <a:latin typeface="Wingdings" panose="05000000000000000000" pitchFamily="2" charset="2"/>
              </a:rPr>
              <a:t>ß</a:t>
            </a:r>
            <a:r>
              <a:rPr lang="en-GB" dirty="0">
                <a:latin typeface="Consolas" panose="020B0609020204030204" pitchFamily="49" charset="0"/>
              </a:rPr>
              <a:t> 100</a:t>
            </a:r>
          </a:p>
          <a:p>
            <a:pPr>
              <a:spcAft>
                <a:spcPts val="1000"/>
              </a:spcAft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FOR Counter </a:t>
            </a:r>
            <a:r>
              <a:rPr lang="en-GB" dirty="0">
                <a:latin typeface="Wingdings" panose="05000000000000000000" pitchFamily="2" charset="2"/>
              </a:rPr>
              <a:t>ß</a:t>
            </a:r>
            <a:r>
              <a:rPr lang="en-GB" dirty="0">
                <a:latin typeface="Consolas" panose="020B0609020204030204" pitchFamily="49" charset="0"/>
              </a:rPr>
              <a:t> 1 TO ClassSize</a:t>
            </a:r>
          </a:p>
          <a:p>
            <a:pPr>
              <a:spcAft>
                <a:spcPts val="1000"/>
              </a:spcAft>
            </a:pPr>
            <a:r>
              <a:rPr lang="en-GB" dirty="0">
                <a:latin typeface="Consolas" panose="020B0609020204030204" pitchFamily="49" charset="0"/>
              </a:rPr>
              <a:t>    IF StudentMark[Counter] &gt; MaximumMark</a:t>
            </a:r>
          </a:p>
          <a:p>
            <a:pPr>
              <a:spcAft>
                <a:spcPts val="1000"/>
              </a:spcAft>
            </a:pPr>
            <a:r>
              <a:rPr lang="en-GB" dirty="0">
                <a:latin typeface="Consolas" panose="020B0609020204030204" pitchFamily="49" charset="0"/>
              </a:rPr>
              <a:t>      THEN</a:t>
            </a:r>
          </a:p>
          <a:p>
            <a:pPr>
              <a:spcAft>
                <a:spcPts val="1000"/>
              </a:spcAft>
            </a:pPr>
            <a:r>
              <a:rPr lang="en-GB" dirty="0">
                <a:latin typeface="Consolas" panose="020B0609020204030204" pitchFamily="49" charset="0"/>
              </a:rPr>
              <a:t>        MaximumMark </a:t>
            </a:r>
            <a:r>
              <a:rPr lang="en-GB" dirty="0">
                <a:latin typeface="Wingdings" panose="05000000000000000000" pitchFamily="2" charset="2"/>
              </a:rPr>
              <a:t>ß</a:t>
            </a:r>
            <a:r>
              <a:rPr lang="en-GB" dirty="0">
                <a:latin typeface="Consolas" panose="020B0609020204030204" pitchFamily="49" charset="0"/>
              </a:rPr>
              <a:t> StudentMark[Counter]</a:t>
            </a:r>
          </a:p>
          <a:p>
            <a:pPr>
              <a:spcAft>
                <a:spcPts val="1000"/>
              </a:spcAft>
            </a:pPr>
            <a:r>
              <a:rPr lang="en-GB" dirty="0">
                <a:latin typeface="Consolas" panose="020B0609020204030204" pitchFamily="49" charset="0"/>
              </a:rPr>
              <a:t>    ENDIF</a:t>
            </a:r>
          </a:p>
          <a:p>
            <a:pPr>
              <a:spcAft>
                <a:spcPts val="1000"/>
              </a:spcAft>
            </a:pPr>
            <a:r>
              <a:rPr lang="en-GB" dirty="0">
                <a:latin typeface="Consolas" panose="020B0609020204030204" pitchFamily="49" charset="0"/>
              </a:rPr>
              <a:t>    IF StudentMark[Counter] &lt; MinimumMark</a:t>
            </a:r>
          </a:p>
          <a:p>
            <a:pPr>
              <a:spcAft>
                <a:spcPts val="1000"/>
              </a:spcAft>
            </a:pPr>
            <a:r>
              <a:rPr lang="en-GB" dirty="0">
                <a:latin typeface="Consolas" panose="020B0609020204030204" pitchFamily="49" charset="0"/>
              </a:rPr>
              <a:t>      THEN</a:t>
            </a:r>
          </a:p>
          <a:p>
            <a:pPr>
              <a:spcAft>
                <a:spcPts val="1000"/>
              </a:spcAft>
            </a:pPr>
            <a:r>
              <a:rPr lang="en-GB" dirty="0">
                <a:latin typeface="Consolas" panose="020B0609020204030204" pitchFamily="49" charset="0"/>
              </a:rPr>
              <a:t>        MinimumMark </a:t>
            </a:r>
            <a:r>
              <a:rPr lang="en-GB" dirty="0">
                <a:latin typeface="Wingdings" panose="05000000000000000000" pitchFamily="2" charset="2"/>
              </a:rPr>
              <a:t>ß</a:t>
            </a:r>
            <a:r>
              <a:rPr lang="en-GB" dirty="0">
                <a:latin typeface="Consolas" panose="020B0609020204030204" pitchFamily="49" charset="0"/>
              </a:rPr>
              <a:t> StudentMark[Counter]</a:t>
            </a:r>
          </a:p>
          <a:p>
            <a:pPr>
              <a:spcAft>
                <a:spcPts val="1000"/>
              </a:spcAft>
            </a:pPr>
            <a:r>
              <a:rPr lang="en-GB" dirty="0">
                <a:latin typeface="Consolas" panose="020B0609020204030204" pitchFamily="49" charset="0"/>
              </a:rPr>
              <a:t>    ENDIF</a:t>
            </a:r>
          </a:p>
          <a:p>
            <a:pPr>
              <a:spcAft>
                <a:spcPts val="1000"/>
              </a:spcAft>
            </a:pPr>
            <a:r>
              <a:rPr lang="en-GB" dirty="0">
                <a:latin typeface="Consolas" panose="020B0609020204030204" pitchFamily="49" charset="0"/>
              </a:rPr>
              <a:t>NEXT Counter</a:t>
            </a:r>
          </a:p>
        </p:txBody>
      </p:sp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378D50AD-E15A-67C4-54DA-DB5F554E891E}"/>
              </a:ext>
            </a:extLst>
          </p:cNvPr>
          <p:cNvSpPr/>
          <p:nvPr/>
        </p:nvSpPr>
        <p:spPr>
          <a:xfrm>
            <a:off x="8138992" y="3339223"/>
            <a:ext cx="3271555" cy="1962351"/>
          </a:xfrm>
          <a:prstGeom prst="wedgeRoundRectCallout">
            <a:avLst>
              <a:gd name="adj1" fmla="val -120900"/>
              <a:gd name="adj2" fmla="val -13168"/>
              <a:gd name="adj3" fmla="val 16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If either of these statements are true, replace the maximum or minimum mark currently stored with the new one.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A806B9-B306-2F3B-A9D0-4C28A652DFAE}"/>
              </a:ext>
            </a:extLst>
          </p:cNvPr>
          <p:cNvSpPr/>
          <p:nvPr/>
        </p:nvSpPr>
        <p:spPr>
          <a:xfrm>
            <a:off x="-21575" y="3845283"/>
            <a:ext cx="5887354" cy="39334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19002F-A7C5-9B14-0BFA-62814A4C2BF9}"/>
              </a:ext>
            </a:extLst>
          </p:cNvPr>
          <p:cNvSpPr/>
          <p:nvPr/>
        </p:nvSpPr>
        <p:spPr>
          <a:xfrm>
            <a:off x="-21575" y="5470464"/>
            <a:ext cx="5887354" cy="39334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Picture 8" descr="make_notes">
            <a:extLst>
              <a:ext uri="{FF2B5EF4-FFF2-40B4-BE49-F238E27FC236}">
                <a16:creationId xmlns:a16="http://schemas.microsoft.com/office/drawing/2014/main" id="{527D706B-4FC0-70C3-BD76-9CBBE16B5C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9014" y="5535595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28F51F3-EE38-465D-8B3E-B1C5217C98B2}"/>
              </a:ext>
            </a:extLst>
          </p:cNvPr>
          <p:cNvSpPr/>
          <p:nvPr/>
        </p:nvSpPr>
        <p:spPr>
          <a:xfrm>
            <a:off x="220675" y="1052896"/>
            <a:ext cx="1196764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Being able to find the largest and smallest values in a data set is another common technique used in algorithms – for example, finding the highest and lowest marks awarded to students in a class.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81579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5" y="504512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Maximum, minimum and average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7DA109-A05C-52D7-2ACA-D3D264668CA6}"/>
              </a:ext>
            </a:extLst>
          </p:cNvPr>
          <p:cNvSpPr/>
          <p:nvPr/>
        </p:nvSpPr>
        <p:spPr>
          <a:xfrm>
            <a:off x="220675" y="1052896"/>
            <a:ext cx="1162094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Following on from the totalling method we looked at earlier, it is also very common to calculate the average (mean) of a set of values – for example, the average number of marks achieved in a test.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582560-3373-F838-47A8-62B2D7210C0E}"/>
              </a:ext>
            </a:extLst>
          </p:cNvPr>
          <p:cNvSpPr/>
          <p:nvPr/>
        </p:nvSpPr>
        <p:spPr>
          <a:xfrm>
            <a:off x="350380" y="1852401"/>
            <a:ext cx="5732450" cy="24331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Total </a:t>
            </a:r>
            <a:r>
              <a:rPr lang="en-GB" dirty="0">
                <a:latin typeface="Wingdings" panose="05000000000000000000" pitchFamily="2" charset="2"/>
              </a:rPr>
              <a:t>ß</a:t>
            </a:r>
            <a:r>
              <a:rPr lang="en-GB" dirty="0">
                <a:latin typeface="Consolas" panose="020B0609020204030204" pitchFamily="49" charset="0"/>
              </a:rPr>
              <a:t> 0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FOR Counter </a:t>
            </a:r>
            <a:r>
              <a:rPr lang="en-GB" dirty="0">
                <a:latin typeface="Wingdings" panose="05000000000000000000" pitchFamily="2" charset="2"/>
              </a:rPr>
              <a:t>ß</a:t>
            </a:r>
            <a:r>
              <a:rPr lang="en-GB" dirty="0">
                <a:latin typeface="Consolas" panose="020B0609020204030204" pitchFamily="49" charset="0"/>
              </a:rPr>
              <a:t> 1 TO MaxNoOfQuestionsInTest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Total </a:t>
            </a:r>
            <a:r>
              <a:rPr lang="en-GB" dirty="0">
                <a:latin typeface="Wingdings" panose="05000000000000000000" pitchFamily="2" charset="2"/>
              </a:rPr>
              <a:t>ß</a:t>
            </a:r>
            <a:r>
              <a:rPr lang="en-GB" dirty="0">
                <a:latin typeface="Consolas" panose="020B0609020204030204" pitchFamily="49" charset="0"/>
              </a:rPr>
              <a:t> Total + StudentsTest[Counter]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NEXT counter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Average </a:t>
            </a:r>
            <a:r>
              <a:rPr lang="en-GB" dirty="0">
                <a:latin typeface="Wingdings" panose="05000000000000000000" pitchFamily="2" charset="2"/>
              </a:rPr>
              <a:t>ß</a:t>
            </a:r>
            <a:r>
              <a:rPr lang="en-GB" dirty="0">
                <a:latin typeface="Consolas" panose="020B0609020204030204" pitchFamily="49" charset="0"/>
              </a:rPr>
              <a:t> Total / MaxNoOfQuestionsInTest</a:t>
            </a:r>
            <a:endParaRPr lang="en-GB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DFC674-2338-E845-FD89-EEC57D2B63A0}"/>
              </a:ext>
            </a:extLst>
          </p:cNvPr>
          <p:cNvSpPr/>
          <p:nvPr/>
        </p:nvSpPr>
        <p:spPr>
          <a:xfrm>
            <a:off x="0" y="3892161"/>
            <a:ext cx="5887354" cy="39334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BE09F665-18EE-DF11-A513-5DA82AFAAC37}"/>
              </a:ext>
            </a:extLst>
          </p:cNvPr>
          <p:cNvSpPr/>
          <p:nvPr/>
        </p:nvSpPr>
        <p:spPr>
          <a:xfrm>
            <a:off x="7583297" y="3282073"/>
            <a:ext cx="2358371" cy="1366127"/>
          </a:xfrm>
          <a:prstGeom prst="wedgeRoundRectCallout">
            <a:avLst>
              <a:gd name="adj1" fmla="val -124030"/>
              <a:gd name="adj2" fmla="val 9099"/>
              <a:gd name="adj3" fmla="val 16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Here we calculate the average from the total after the loop has completed.</a:t>
            </a:r>
          </a:p>
        </p:txBody>
      </p:sp>
      <p:pic>
        <p:nvPicPr>
          <p:cNvPr id="11" name="Picture 10" descr="make_notes">
            <a:extLst>
              <a:ext uri="{FF2B5EF4-FFF2-40B4-BE49-F238E27FC236}">
                <a16:creationId xmlns:a16="http://schemas.microsoft.com/office/drawing/2014/main" id="{32EA267C-4CE2-A4B6-B8C0-EB442AE32B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9014" y="5535595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96593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89BBE4-38CA-4FFB-B9AA-E0BBB2AB22B7}"/>
              </a:ext>
            </a:extLst>
          </p:cNvPr>
          <p:cNvSpPr/>
          <p:nvPr/>
        </p:nvSpPr>
        <p:spPr>
          <a:xfrm>
            <a:off x="220675" y="1052896"/>
            <a:ext cx="3576526" cy="29649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pseudocode in these videos follows the exact style that will be used in the exams.</a:t>
            </a: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full set of pseudocode is defined in the syllabus:</a:t>
            </a:r>
          </a:p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Cambridge IGCSE (9-1) Computer Science – 0984</a:t>
            </a:r>
          </a:p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Cambridge IGCSE (A*-G) Computer Science – 0478 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5" y="504512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Cambridge IGCSE pseudocode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Diagram&#10;&#10;Description automatically generated">
            <a:extLst>
              <a:ext uri="{FF2B5EF4-FFF2-40B4-BE49-F238E27FC236}">
                <a16:creationId xmlns:a16="http://schemas.microsoft.com/office/drawing/2014/main" id="{450B5BDE-177C-FC59-3759-7C98E8449A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9509" y="874324"/>
            <a:ext cx="3784218" cy="535502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7" name="Picture 6" descr="Diagram&#10;&#10;Description automatically generated">
            <a:extLst>
              <a:ext uri="{FF2B5EF4-FFF2-40B4-BE49-F238E27FC236}">
                <a16:creationId xmlns:a16="http://schemas.microsoft.com/office/drawing/2014/main" id="{114935A2-CAC7-6487-CBD6-1DF896E6A90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2492" y="1052896"/>
            <a:ext cx="3797200" cy="535502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9" name="Audio 17">
            <a:hlinkClick r:id="" action="ppaction://media"/>
            <a:extLst>
              <a:ext uri="{FF2B5EF4-FFF2-40B4-BE49-F238E27FC236}">
                <a16:creationId xmlns:a16="http://schemas.microsoft.com/office/drawing/2014/main" id="{EDEA45B0-F80C-3E56-88FD-20A2307FB9B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99396" t="-90625" r="-199396" b="-90625"/>
          <a:stretch>
            <a:fillRect/>
          </a:stretch>
        </p:blipFill>
        <p:spPr>
          <a:xfrm>
            <a:off x="9168260" y="5090729"/>
            <a:ext cx="3023740" cy="170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814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664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2947853-E1EE-4D77-9DC1-BD14C2A80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625" y="-28575"/>
            <a:ext cx="12239625" cy="688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8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860</TotalTime>
  <Words>1278</Words>
  <Application>Microsoft Office PowerPoint</Application>
  <PresentationFormat>Widescreen</PresentationFormat>
  <Paragraphs>149</Paragraphs>
  <Slides>16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Calibri Light</vt:lpstr>
      <vt:lpstr>Century Gothic</vt:lpstr>
      <vt:lpstr>Consolas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Craig Sargent</dc:creator>
  <cp:lastModifiedBy>Craig Sargent</cp:lastModifiedBy>
  <cp:revision>160</cp:revision>
  <dcterms:created xsi:type="dcterms:W3CDTF">2019-10-14T15:21:06Z</dcterms:created>
  <dcterms:modified xsi:type="dcterms:W3CDTF">2022-08-25T15:10:13Z</dcterms:modified>
</cp:coreProperties>
</file>