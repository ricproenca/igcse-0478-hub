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7" r:id="rId2"/>
    <p:sldId id="269" r:id="rId3"/>
    <p:sldId id="270" r:id="rId4"/>
    <p:sldId id="282" r:id="rId5"/>
    <p:sldId id="283" r:id="rId6"/>
    <p:sldId id="274" r:id="rId7"/>
    <p:sldId id="275" r:id="rId8"/>
    <p:sldId id="284" r:id="rId9"/>
    <p:sldId id="277" r:id="rId10"/>
    <p:sldId id="278" r:id="rId11"/>
    <p:sldId id="279" r:id="rId12"/>
    <p:sldId id="280" r:id="rId13"/>
    <p:sldId id="281" r:id="rId14"/>
    <p:sldId id="266" r:id="rId15"/>
    <p:sldId id="33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98" autoAdjust="0"/>
    <p:restoredTop sz="94687"/>
  </p:normalViewPr>
  <p:slideViewPr>
    <p:cSldViewPr snapToGrid="0">
      <p:cViewPr varScale="1">
        <p:scale>
          <a:sx n="101" d="100"/>
          <a:sy n="101" d="100"/>
        </p:scale>
        <p:origin x="118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28/08/2022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800" b="1" dirty="0">
                  <a:solidFill>
                    <a:schemeClr val="bg1"/>
                  </a:solidFill>
                </a:rPr>
                <a:t>7 Algorithm design and problem-solving | Suitable test data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46800"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7 Algorithm design and problem-solving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Suitable test data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88EA8A-8C1A-434A-88D8-E0A4CF8FD388}"/>
              </a:ext>
            </a:extLst>
          </p:cNvPr>
          <p:cNvSpPr/>
          <p:nvPr/>
        </p:nvSpPr>
        <p:spPr>
          <a:xfrm>
            <a:off x="175877" y="502359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Suitable test data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78AC70-0DDA-46CC-BE79-0FCE07E40AFA}"/>
              </a:ext>
            </a:extLst>
          </p:cNvPr>
          <p:cNvSpPr/>
          <p:nvPr/>
        </p:nvSpPr>
        <p:spPr>
          <a:xfrm>
            <a:off x="175878" y="1080733"/>
            <a:ext cx="33163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Let’s look at range of suitable test data for this simple program.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581980D-347F-4D6F-B98E-819AAB2F0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546" y="637406"/>
            <a:ext cx="8248073" cy="4065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949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88EA8A-8C1A-434A-88D8-E0A4CF8FD388}"/>
              </a:ext>
            </a:extLst>
          </p:cNvPr>
          <p:cNvSpPr/>
          <p:nvPr/>
        </p:nvSpPr>
        <p:spPr>
          <a:xfrm>
            <a:off x="175877" y="502359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Suitable test data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C5ECFE8B-4073-4A53-9D07-E04F4E32B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926932"/>
              </p:ext>
            </p:extLst>
          </p:nvPr>
        </p:nvGraphicFramePr>
        <p:xfrm>
          <a:off x="265864" y="1050287"/>
          <a:ext cx="5401512" cy="565963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62811">
                  <a:extLst>
                    <a:ext uri="{9D8B030D-6E8A-4147-A177-3AD203B41FA5}">
                      <a16:colId xmlns:a16="http://schemas.microsoft.com/office/drawing/2014/main" val="3661411868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87944290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799902747"/>
                    </a:ext>
                  </a:extLst>
                </a:gridCol>
                <a:gridCol w="2273301">
                  <a:extLst>
                    <a:ext uri="{9D8B030D-6E8A-4147-A177-3AD203B41FA5}">
                      <a16:colId xmlns:a16="http://schemas.microsoft.com/office/drawing/2014/main" val="2559919269"/>
                    </a:ext>
                  </a:extLst>
                </a:gridCol>
              </a:tblGrid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Type of 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Expected 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6210765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Reject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5074033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Normal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Accept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9522212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Abnormal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Reject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174400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Abnormal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Reject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2978213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Abnormal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Reject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5293162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Extreme data Boundary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Accept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68224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Extreme data Boundary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Accept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391390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Boundary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Reject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0524937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Boundary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Reject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835567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CEB0E310-742E-45C0-A691-030359071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802" y="658112"/>
            <a:ext cx="5834334" cy="287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378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88EA8A-8C1A-434A-88D8-E0A4CF8FD388}"/>
              </a:ext>
            </a:extLst>
          </p:cNvPr>
          <p:cNvSpPr/>
          <p:nvPr/>
        </p:nvSpPr>
        <p:spPr>
          <a:xfrm>
            <a:off x="175877" y="502359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Suitable test data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C5ECFE8B-4073-4A53-9D07-E04F4E32B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6033429"/>
              </p:ext>
            </p:extLst>
          </p:nvPr>
        </p:nvGraphicFramePr>
        <p:xfrm>
          <a:off x="265864" y="1050287"/>
          <a:ext cx="5401512" cy="565963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62811">
                  <a:extLst>
                    <a:ext uri="{9D8B030D-6E8A-4147-A177-3AD203B41FA5}">
                      <a16:colId xmlns:a16="http://schemas.microsoft.com/office/drawing/2014/main" val="3661411868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87944290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799902747"/>
                    </a:ext>
                  </a:extLst>
                </a:gridCol>
                <a:gridCol w="2273301">
                  <a:extLst>
                    <a:ext uri="{9D8B030D-6E8A-4147-A177-3AD203B41FA5}">
                      <a16:colId xmlns:a16="http://schemas.microsoft.com/office/drawing/2014/main" val="2559919269"/>
                    </a:ext>
                  </a:extLst>
                </a:gridCol>
              </a:tblGrid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Type of 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Expected 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6210765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 data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Reject input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074033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Normal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Accept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9522212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Abnormal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Reject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174400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Abnormal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Reject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2978213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Abnormal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Reject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5293162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Extreme data Boundary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Accept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68224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Extreme data Boundary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Accept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391390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Boundary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Reject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0524937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Boundary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Reject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835567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34ECCD91-5B7C-40D8-BD73-439CC7E32575}"/>
              </a:ext>
            </a:extLst>
          </p:cNvPr>
          <p:cNvSpPr/>
          <p:nvPr/>
        </p:nvSpPr>
        <p:spPr>
          <a:xfrm>
            <a:off x="6091802" y="3787457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b="1" dirty="0"/>
              <a:t>No data</a:t>
            </a:r>
          </a:p>
          <a:p>
            <a:r>
              <a:rPr lang="en-GB" dirty="0"/>
              <a:t>You should always check the special case of no data being entered – this isn’t strictly invalid or abnormal data, but it certainly isn’t what you want the user to do.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1648DA-30B8-4F23-948F-7F0595986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802" y="658112"/>
            <a:ext cx="5834334" cy="287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885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88EA8A-8C1A-434A-88D8-E0A4CF8FD388}"/>
              </a:ext>
            </a:extLst>
          </p:cNvPr>
          <p:cNvSpPr/>
          <p:nvPr/>
        </p:nvSpPr>
        <p:spPr>
          <a:xfrm>
            <a:off x="175877" y="502359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Suitable test data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89E7F1-C8B7-43D7-900C-468673E14DEF}"/>
              </a:ext>
            </a:extLst>
          </p:cNvPr>
          <p:cNvSpPr/>
          <p:nvPr/>
        </p:nvSpPr>
        <p:spPr>
          <a:xfrm>
            <a:off x="6091802" y="378745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b="1" dirty="0"/>
              <a:t>Abnormal data</a:t>
            </a:r>
          </a:p>
          <a:p>
            <a:r>
              <a:rPr lang="en-GB" dirty="0"/>
              <a:t>Data that should be rejected by the program.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273EE9-72D5-4E33-A5B8-852786B2D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802" y="658112"/>
            <a:ext cx="5834334" cy="2875662"/>
          </a:xfrm>
          <a:prstGeom prst="rect">
            <a:avLst/>
          </a:prstGeom>
        </p:spPr>
      </p:pic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A08DB1C7-8CF6-7045-90F3-CC096E89E3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552689"/>
              </p:ext>
            </p:extLst>
          </p:nvPr>
        </p:nvGraphicFramePr>
        <p:xfrm>
          <a:off x="265864" y="1050287"/>
          <a:ext cx="5401512" cy="565963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62811">
                  <a:extLst>
                    <a:ext uri="{9D8B030D-6E8A-4147-A177-3AD203B41FA5}">
                      <a16:colId xmlns:a16="http://schemas.microsoft.com/office/drawing/2014/main" val="3661411868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87944290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799902747"/>
                    </a:ext>
                  </a:extLst>
                </a:gridCol>
                <a:gridCol w="2273301">
                  <a:extLst>
                    <a:ext uri="{9D8B030D-6E8A-4147-A177-3AD203B41FA5}">
                      <a16:colId xmlns:a16="http://schemas.microsoft.com/office/drawing/2014/main" val="2559919269"/>
                    </a:ext>
                  </a:extLst>
                </a:gridCol>
              </a:tblGrid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Type of 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Expected 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6210765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Reject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5074033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Normal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Accept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9522212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Abnormal data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Reject input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74400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Abnormal data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#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Reject input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978213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Abnormal data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-6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Reject input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293162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Extreme data Boundary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Accept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68224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Extreme data Boundary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Accept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391390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Boundary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Reject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0524937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Boundary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Reject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8355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6398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88EA8A-8C1A-434A-88D8-E0A4CF8FD388}"/>
              </a:ext>
            </a:extLst>
          </p:cNvPr>
          <p:cNvSpPr/>
          <p:nvPr/>
        </p:nvSpPr>
        <p:spPr>
          <a:xfrm>
            <a:off x="175877" y="502359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Suitable test data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C5ECFE8B-4073-4A53-9D07-E04F4E32B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1901318"/>
              </p:ext>
            </p:extLst>
          </p:nvPr>
        </p:nvGraphicFramePr>
        <p:xfrm>
          <a:off x="265864" y="1050287"/>
          <a:ext cx="5401512" cy="565963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62811">
                  <a:extLst>
                    <a:ext uri="{9D8B030D-6E8A-4147-A177-3AD203B41FA5}">
                      <a16:colId xmlns:a16="http://schemas.microsoft.com/office/drawing/2014/main" val="3661411868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87944290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799902747"/>
                    </a:ext>
                  </a:extLst>
                </a:gridCol>
                <a:gridCol w="2273301">
                  <a:extLst>
                    <a:ext uri="{9D8B030D-6E8A-4147-A177-3AD203B41FA5}">
                      <a16:colId xmlns:a16="http://schemas.microsoft.com/office/drawing/2014/main" val="2559919269"/>
                    </a:ext>
                  </a:extLst>
                </a:gridCol>
              </a:tblGrid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Type of 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Expected 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6210765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Reject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5074033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Normal data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Accept input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9522212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Abnormal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Reject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174400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Abnormal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Reject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2978213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Abnormal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Reject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5293162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Extreme data Boundary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Accept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68224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Extreme data Boundary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Accept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391390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Boundary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Reject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0524937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Boundary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Reject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835567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5502437-64C0-4796-BB02-AE825AAB8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802" y="658112"/>
            <a:ext cx="5834334" cy="287566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32B9FE0-1CB6-BF4F-831B-CC599F25E87C}"/>
              </a:ext>
            </a:extLst>
          </p:cNvPr>
          <p:cNvSpPr/>
          <p:nvPr/>
        </p:nvSpPr>
        <p:spPr>
          <a:xfrm>
            <a:off x="6096000" y="378745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b="1" dirty="0"/>
              <a:t>Normal data</a:t>
            </a:r>
          </a:p>
          <a:p>
            <a:r>
              <a:rPr lang="en-GB" dirty="0"/>
              <a:t>Data that should be accepted without causing errors.</a:t>
            </a:r>
          </a:p>
        </p:txBody>
      </p:sp>
    </p:spTree>
    <p:extLst>
      <p:ext uri="{BB962C8B-B14F-4D97-AF65-F5344CB8AC3E}">
        <p14:creationId xmlns:p14="http://schemas.microsoft.com/office/powerpoint/2010/main" val="3174422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88EA8A-8C1A-434A-88D8-E0A4CF8FD388}"/>
              </a:ext>
            </a:extLst>
          </p:cNvPr>
          <p:cNvSpPr/>
          <p:nvPr/>
        </p:nvSpPr>
        <p:spPr>
          <a:xfrm>
            <a:off x="175877" y="502359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Suitable test data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C5ECFE8B-4073-4A53-9D07-E04F4E32B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055095"/>
              </p:ext>
            </p:extLst>
          </p:nvPr>
        </p:nvGraphicFramePr>
        <p:xfrm>
          <a:off x="265864" y="1050287"/>
          <a:ext cx="5401512" cy="565963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62811">
                  <a:extLst>
                    <a:ext uri="{9D8B030D-6E8A-4147-A177-3AD203B41FA5}">
                      <a16:colId xmlns:a16="http://schemas.microsoft.com/office/drawing/2014/main" val="3661411868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87944290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799902747"/>
                    </a:ext>
                  </a:extLst>
                </a:gridCol>
                <a:gridCol w="2273301">
                  <a:extLst>
                    <a:ext uri="{9D8B030D-6E8A-4147-A177-3AD203B41FA5}">
                      <a16:colId xmlns:a16="http://schemas.microsoft.com/office/drawing/2014/main" val="2559919269"/>
                    </a:ext>
                  </a:extLst>
                </a:gridCol>
              </a:tblGrid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Type of 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Expected 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6210765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Reject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5074033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Normal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Accept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9522212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Abnormal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Reject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174400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Abnormal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Reject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2978213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Abnormal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Reject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5293162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Extreme data Boundary data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Accept input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68224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Extreme data Boundary data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Accept input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391390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Boundary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Reject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0524937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Boundary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Reject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835567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186B116-1C95-4828-BC77-BDD514E6E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802" y="658112"/>
            <a:ext cx="5834334" cy="287566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730C211-7808-BA4C-9EB8-65E8CDCBCB4F}"/>
              </a:ext>
            </a:extLst>
          </p:cNvPr>
          <p:cNvSpPr/>
          <p:nvPr/>
        </p:nvSpPr>
        <p:spPr>
          <a:xfrm>
            <a:off x="6096000" y="378745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b="1" dirty="0"/>
              <a:t>Extreme data</a:t>
            </a:r>
          </a:p>
          <a:p>
            <a:r>
              <a:rPr lang="en-GB" dirty="0"/>
              <a:t>Data that is the largest/smallest acceptable value.</a:t>
            </a:r>
          </a:p>
        </p:txBody>
      </p:sp>
    </p:spTree>
    <p:extLst>
      <p:ext uri="{BB962C8B-B14F-4D97-AF65-F5344CB8AC3E}">
        <p14:creationId xmlns:p14="http://schemas.microsoft.com/office/powerpoint/2010/main" val="1220756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88EA8A-8C1A-434A-88D8-E0A4CF8FD388}"/>
              </a:ext>
            </a:extLst>
          </p:cNvPr>
          <p:cNvSpPr/>
          <p:nvPr/>
        </p:nvSpPr>
        <p:spPr>
          <a:xfrm>
            <a:off x="175877" y="502359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Suitable test data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C5ECFE8B-4073-4A53-9D07-E04F4E32B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058341"/>
              </p:ext>
            </p:extLst>
          </p:nvPr>
        </p:nvGraphicFramePr>
        <p:xfrm>
          <a:off x="265864" y="1050287"/>
          <a:ext cx="5401512" cy="565963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62811">
                  <a:extLst>
                    <a:ext uri="{9D8B030D-6E8A-4147-A177-3AD203B41FA5}">
                      <a16:colId xmlns:a16="http://schemas.microsoft.com/office/drawing/2014/main" val="3661411868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87944290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799902747"/>
                    </a:ext>
                  </a:extLst>
                </a:gridCol>
                <a:gridCol w="2273301">
                  <a:extLst>
                    <a:ext uri="{9D8B030D-6E8A-4147-A177-3AD203B41FA5}">
                      <a16:colId xmlns:a16="http://schemas.microsoft.com/office/drawing/2014/main" val="2559919269"/>
                    </a:ext>
                  </a:extLst>
                </a:gridCol>
              </a:tblGrid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Type of 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Expected 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6210765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Reject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5074033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Normal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Accept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9522212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Abnormal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Reject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174400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Abnormal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Reject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2978213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Abnormal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Reject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5293162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Extreme data Boundary data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Accept input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68224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Extreme data Boundary data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Accept input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391390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Boundary data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Reject input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524937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Boundary data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Reject input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35567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186B116-1C95-4828-BC77-BDD514E6E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802" y="658112"/>
            <a:ext cx="5834334" cy="287566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730C211-7808-BA4C-9EB8-65E8CDCBCB4F}"/>
              </a:ext>
            </a:extLst>
          </p:cNvPr>
          <p:cNvSpPr/>
          <p:nvPr/>
        </p:nvSpPr>
        <p:spPr>
          <a:xfrm>
            <a:off x="6096000" y="3787457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b="1" dirty="0"/>
              <a:t>Boundary data</a:t>
            </a:r>
          </a:p>
          <a:p>
            <a:r>
              <a:rPr lang="en-GB" dirty="0"/>
              <a:t>Data that is the largest/smallest acceptable value as well as the corresponding smallest/largest rejected value.</a:t>
            </a:r>
          </a:p>
        </p:txBody>
      </p:sp>
    </p:spTree>
    <p:extLst>
      <p:ext uri="{BB962C8B-B14F-4D97-AF65-F5344CB8AC3E}">
        <p14:creationId xmlns:p14="http://schemas.microsoft.com/office/powerpoint/2010/main" val="1724142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88EA8A-8C1A-434A-88D8-E0A4CF8FD388}"/>
              </a:ext>
            </a:extLst>
          </p:cNvPr>
          <p:cNvSpPr/>
          <p:nvPr/>
        </p:nvSpPr>
        <p:spPr>
          <a:xfrm>
            <a:off x="175877" y="502359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Suitable test data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78AC70-0DDA-46CC-BE79-0FCE07E40AFA}"/>
              </a:ext>
            </a:extLst>
          </p:cNvPr>
          <p:cNvSpPr/>
          <p:nvPr/>
        </p:nvSpPr>
        <p:spPr>
          <a:xfrm>
            <a:off x="175877" y="1080733"/>
            <a:ext cx="48628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What data could be used for this car park ticket machine software?</a:t>
            </a:r>
          </a:p>
        </p:txBody>
      </p:sp>
      <p:pic>
        <p:nvPicPr>
          <p:cNvPr id="3" name="Picture 2" descr="A sign on the side of a building&#10;&#10;Description automatically generated">
            <a:extLst>
              <a:ext uri="{FF2B5EF4-FFF2-40B4-BE49-F238E27FC236}">
                <a16:creationId xmlns:a16="http://schemas.microsoft.com/office/drawing/2014/main" id="{FD95C499-623D-438B-B942-049BFB683F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055"/>
          <a:stretch/>
        </p:blipFill>
        <p:spPr>
          <a:xfrm>
            <a:off x="5476875" y="416634"/>
            <a:ext cx="6715125" cy="644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162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88EA8A-8C1A-434A-88D8-E0A4CF8FD388}"/>
              </a:ext>
            </a:extLst>
          </p:cNvPr>
          <p:cNvSpPr/>
          <p:nvPr/>
        </p:nvSpPr>
        <p:spPr>
          <a:xfrm>
            <a:off x="175877" y="502359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Suitable test data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78AC70-0DDA-46CC-BE79-0FCE07E40AFA}"/>
              </a:ext>
            </a:extLst>
          </p:cNvPr>
          <p:cNvSpPr/>
          <p:nvPr/>
        </p:nvSpPr>
        <p:spPr>
          <a:xfrm>
            <a:off x="175877" y="1080733"/>
            <a:ext cx="48628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What data could be used for this car park ticket machine software?</a:t>
            </a:r>
          </a:p>
        </p:txBody>
      </p:sp>
      <p:pic>
        <p:nvPicPr>
          <p:cNvPr id="3" name="Picture 2" descr="A sign on the side of a building&#10;&#10;Description automatically generated">
            <a:extLst>
              <a:ext uri="{FF2B5EF4-FFF2-40B4-BE49-F238E27FC236}">
                <a16:creationId xmlns:a16="http://schemas.microsoft.com/office/drawing/2014/main" id="{FD95C499-623D-438B-B942-049BFB683F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055"/>
          <a:stretch/>
        </p:blipFill>
        <p:spPr>
          <a:xfrm>
            <a:off x="5476875" y="416634"/>
            <a:ext cx="6715125" cy="644154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4D4D70C-C87C-4343-A802-8C2F71D5D0A9}"/>
              </a:ext>
            </a:extLst>
          </p:cNvPr>
          <p:cNvSpPr/>
          <p:nvPr/>
        </p:nvSpPr>
        <p:spPr>
          <a:xfrm>
            <a:off x="6381750" y="4705349"/>
            <a:ext cx="2428875" cy="1819275"/>
          </a:xfrm>
          <a:prstGeom prst="rect">
            <a:avLst/>
          </a:prstGeom>
          <a:noFill/>
          <a:ln w="57150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3963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88EA8A-8C1A-434A-88D8-E0A4CF8FD388}"/>
              </a:ext>
            </a:extLst>
          </p:cNvPr>
          <p:cNvSpPr/>
          <p:nvPr/>
        </p:nvSpPr>
        <p:spPr>
          <a:xfrm>
            <a:off x="175877" y="502359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Suitable test data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78AC70-0DDA-46CC-BE79-0FCE07E40AFA}"/>
              </a:ext>
            </a:extLst>
          </p:cNvPr>
          <p:cNvSpPr/>
          <p:nvPr/>
        </p:nvSpPr>
        <p:spPr>
          <a:xfrm>
            <a:off x="175877" y="1080733"/>
            <a:ext cx="48628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What data could be used for this car park ticket machine software?</a:t>
            </a:r>
          </a:p>
        </p:txBody>
      </p:sp>
      <p:pic>
        <p:nvPicPr>
          <p:cNvPr id="3" name="Picture 2" descr="A sign on the side of a building&#10;&#10;Description automatically generated">
            <a:extLst>
              <a:ext uri="{FF2B5EF4-FFF2-40B4-BE49-F238E27FC236}">
                <a16:creationId xmlns:a16="http://schemas.microsoft.com/office/drawing/2014/main" id="{FD95C499-623D-438B-B942-049BFB683F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055"/>
          <a:stretch/>
        </p:blipFill>
        <p:spPr>
          <a:xfrm>
            <a:off x="5476875" y="416634"/>
            <a:ext cx="6715125" cy="644154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4D4D70C-C87C-4343-A802-8C2F71D5D0A9}"/>
              </a:ext>
            </a:extLst>
          </p:cNvPr>
          <p:cNvSpPr/>
          <p:nvPr/>
        </p:nvSpPr>
        <p:spPr>
          <a:xfrm>
            <a:off x="8867775" y="4733925"/>
            <a:ext cx="2143125" cy="1790699"/>
          </a:xfrm>
          <a:prstGeom prst="rect">
            <a:avLst/>
          </a:prstGeom>
          <a:noFill/>
          <a:ln w="57150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5636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88EA8A-8C1A-434A-88D8-E0A4CF8FD388}"/>
              </a:ext>
            </a:extLst>
          </p:cNvPr>
          <p:cNvSpPr/>
          <p:nvPr/>
        </p:nvSpPr>
        <p:spPr>
          <a:xfrm>
            <a:off x="175877" y="502359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008C8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Suitable test data</a:t>
            </a:r>
            <a:endParaRPr lang="en-GB" sz="1200" dirty="0">
              <a:solidFill>
                <a:srgbClr val="008C8C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78AC70-0DDA-46CC-BE79-0FCE07E40AFA}"/>
              </a:ext>
            </a:extLst>
          </p:cNvPr>
          <p:cNvSpPr/>
          <p:nvPr/>
        </p:nvSpPr>
        <p:spPr>
          <a:xfrm>
            <a:off x="175877" y="1080733"/>
            <a:ext cx="48628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What data could be used for this car park ticket machine software?</a:t>
            </a:r>
          </a:p>
        </p:txBody>
      </p:sp>
      <p:pic>
        <p:nvPicPr>
          <p:cNvPr id="3" name="Picture 2" descr="A sign on the side of a building&#10;&#10;Description automatically generated">
            <a:extLst>
              <a:ext uri="{FF2B5EF4-FFF2-40B4-BE49-F238E27FC236}">
                <a16:creationId xmlns:a16="http://schemas.microsoft.com/office/drawing/2014/main" id="{FD95C499-623D-438B-B942-049BFB683F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055"/>
          <a:stretch/>
        </p:blipFill>
        <p:spPr>
          <a:xfrm>
            <a:off x="5476875" y="416634"/>
            <a:ext cx="6715125" cy="644154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4D4D70C-C87C-4343-A802-8C2F71D5D0A9}"/>
              </a:ext>
            </a:extLst>
          </p:cNvPr>
          <p:cNvSpPr/>
          <p:nvPr/>
        </p:nvSpPr>
        <p:spPr>
          <a:xfrm>
            <a:off x="6400800" y="3637408"/>
            <a:ext cx="4619625" cy="696468"/>
          </a:xfrm>
          <a:prstGeom prst="rect">
            <a:avLst/>
          </a:prstGeom>
          <a:noFill/>
          <a:ln w="57150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9425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88EA8A-8C1A-434A-88D8-E0A4CF8FD388}"/>
              </a:ext>
            </a:extLst>
          </p:cNvPr>
          <p:cNvSpPr/>
          <p:nvPr/>
        </p:nvSpPr>
        <p:spPr>
          <a:xfrm>
            <a:off x="175877" y="502359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Suitable test data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78AC70-0DDA-46CC-BE79-0FCE07E40AFA}"/>
              </a:ext>
            </a:extLst>
          </p:cNvPr>
          <p:cNvSpPr/>
          <p:nvPr/>
        </p:nvSpPr>
        <p:spPr>
          <a:xfrm>
            <a:off x="175877" y="1080733"/>
            <a:ext cx="486284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What data could be used for this car park ticket machine software?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/>
              <a:t>½ hour parking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/>
              <a:t>1 hour parking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/>
              <a:t>1 ½ hour parking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/>
              <a:t>Sunday parking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/>
              <a:t>Evening parking past 7pm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/>
              <a:t>Parking before 9:30am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/>
              <a:t>Parking after 9:30am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/>
              <a:t>Parking during invalid opening hours</a:t>
            </a:r>
          </a:p>
        </p:txBody>
      </p:sp>
      <p:pic>
        <p:nvPicPr>
          <p:cNvPr id="3" name="Picture 2" descr="A sign on the side of a building&#10;&#10;Description automatically generated">
            <a:extLst>
              <a:ext uri="{FF2B5EF4-FFF2-40B4-BE49-F238E27FC236}">
                <a16:creationId xmlns:a16="http://schemas.microsoft.com/office/drawing/2014/main" id="{FD95C499-623D-438B-B942-049BFB683F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055"/>
          <a:stretch/>
        </p:blipFill>
        <p:spPr>
          <a:xfrm>
            <a:off x="5476875" y="416634"/>
            <a:ext cx="6715125" cy="644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7200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6CC389D-689C-47B0-9D84-7D9ED9028C71}"/>
              </a:ext>
            </a:extLst>
          </p:cNvPr>
          <p:cNvSpPr/>
          <p:nvPr/>
        </p:nvSpPr>
        <p:spPr>
          <a:xfrm>
            <a:off x="1517631" y="523174"/>
            <a:ext cx="483744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Suitable test data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EF227C-0D82-4267-8CF9-4E4A8735984A}"/>
              </a:ext>
            </a:extLst>
          </p:cNvPr>
          <p:cNvSpPr/>
          <p:nvPr/>
        </p:nvSpPr>
        <p:spPr>
          <a:xfrm>
            <a:off x="254906" y="1855572"/>
            <a:ext cx="1130977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Test data needs to include a range of: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Normal</a:t>
            </a:r>
            <a:r>
              <a:rPr lang="en-GB" dirty="0"/>
              <a:t> inputs: Data that should be accepted without causing errors.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Abnormal</a:t>
            </a:r>
            <a:r>
              <a:rPr lang="en-GB" dirty="0"/>
              <a:t> inputs: Data that should be rejected by the program – includes no input when one is expected.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Boundary</a:t>
            </a:r>
            <a:r>
              <a:rPr lang="en-GB" dirty="0"/>
              <a:t> inputs: Data that is the largest/smallest acceptable value as well as the corresponding smallest/largest rejected value.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Extreme data</a:t>
            </a:r>
            <a:r>
              <a:rPr lang="en-GB" dirty="0"/>
              <a:t>: Data that is the largest/smallest acceptable value.</a:t>
            </a:r>
          </a:p>
        </p:txBody>
      </p:sp>
      <p:pic>
        <p:nvPicPr>
          <p:cNvPr id="2" name="Picture 2" descr="make_notes">
            <a:extLst>
              <a:ext uri="{FF2B5EF4-FFF2-40B4-BE49-F238E27FC236}">
                <a16:creationId xmlns:a16="http://schemas.microsoft.com/office/drawing/2014/main" id="{FA77E88C-E9D6-9A84-8BF5-55FBC1ABA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3616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</TotalTime>
  <Words>716</Words>
  <Application>Microsoft Office PowerPoint</Application>
  <PresentationFormat>Widescreen</PresentationFormat>
  <Paragraphs>278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147</cp:revision>
  <dcterms:created xsi:type="dcterms:W3CDTF">2019-10-14T15:21:06Z</dcterms:created>
  <dcterms:modified xsi:type="dcterms:W3CDTF">2022-08-28T09:50:14Z</dcterms:modified>
</cp:coreProperties>
</file>