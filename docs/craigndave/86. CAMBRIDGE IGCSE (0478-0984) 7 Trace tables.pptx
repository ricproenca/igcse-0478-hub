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7" r:id="rId2"/>
    <p:sldId id="263" r:id="rId3"/>
    <p:sldId id="266" r:id="rId4"/>
    <p:sldId id="284" r:id="rId5"/>
    <p:sldId id="285" r:id="rId6"/>
    <p:sldId id="286" r:id="rId7"/>
    <p:sldId id="261" r:id="rId8"/>
    <p:sldId id="287" r:id="rId9"/>
    <p:sldId id="264" r:id="rId10"/>
    <p:sldId id="288" r:id="rId11"/>
    <p:sldId id="289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33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52" autoAdjust="0"/>
    <p:restoredTop sz="94687"/>
  </p:normalViewPr>
  <p:slideViewPr>
    <p:cSldViewPr snapToGrid="0">
      <p:cViewPr varScale="1">
        <p:scale>
          <a:sx n="113" d="100"/>
          <a:sy n="113" d="100"/>
        </p:scale>
        <p:origin x="79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28/08/2022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7105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4990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793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3431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3258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2986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4332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80765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64079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32426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38855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43318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37931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96189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20061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67557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31344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40954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58885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34587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96159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BA4FB-BBAB-458E-ACCC-D57659C1B008}" type="slidenum">
              <a:rPr lang="en-GB" smtClean="0"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2747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7 Algorithm design and problem-solving | Trace tables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28/08/2022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7 Algorithm design and problem-solving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Trace tables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6FC4BB-E42D-4B5A-9B89-6AD16D0263F8}"/>
              </a:ext>
            </a:extLst>
          </p:cNvPr>
          <p:cNvSpPr/>
          <p:nvPr/>
        </p:nvSpPr>
        <p:spPr>
          <a:xfrm>
            <a:off x="404198" y="1887113"/>
            <a:ext cx="5510220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Tracing execution: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vital skill for understanding program flow and testing the accuracy of an algorithm for logic. 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involves examining a printed extract of program code and running thorough the program: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Take each line at a time and write the current state of each variable in a trace table.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Note down any output the program produces.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Each variable present in the program should have its own column in the trace table.</a:t>
            </a:r>
          </a:p>
          <a:p>
            <a:pPr marL="54000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new row should be added under any column if the state of a variable changes.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Trace tables are an excellent way to track down logic errors in a problem.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A4B8F7-9BBE-44BA-B7A5-ECCB9178AB57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Trace tables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6AC38C6E-0BED-4DEA-9B74-161395172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3004" y="611347"/>
            <a:ext cx="5892583" cy="5892583"/>
          </a:xfrm>
          <a:prstGeom prst="rect">
            <a:avLst/>
          </a:prstGeom>
        </p:spPr>
      </p:pic>
      <p:pic>
        <p:nvPicPr>
          <p:cNvPr id="2" name="Picture 2" descr="make_notes">
            <a:extLst>
              <a:ext uri="{FF2B5EF4-FFF2-40B4-BE49-F238E27FC236}">
                <a16:creationId xmlns:a16="http://schemas.microsoft.com/office/drawing/2014/main" id="{E34FACB6-7CAA-4EE2-5976-A46A19A48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2463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DC0F6F-63F7-42F9-BCD4-04F380D2B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2" y="849345"/>
            <a:ext cx="5118772" cy="268247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0471BC7-9907-419F-B342-BE3D55519EF9}"/>
              </a:ext>
            </a:extLst>
          </p:cNvPr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/>
              </a:rPr>
              <a:t>number = print("Enter a number")</a:t>
            </a:r>
          </a:p>
          <a:p>
            <a:r>
              <a:rPr lang="en-GB" dirty="0">
                <a:latin typeface="Consolas"/>
              </a:rPr>
              <a:t>total = 1</a:t>
            </a:r>
          </a:p>
          <a:p>
            <a:r>
              <a:rPr lang="en-GB" dirty="0">
                <a:latin typeface="Consolas"/>
              </a:rPr>
              <a:t>for counter = 1 to number</a:t>
            </a:r>
          </a:p>
          <a:p>
            <a:r>
              <a:rPr lang="en-GB" dirty="0">
                <a:latin typeface="Consolas"/>
              </a:rPr>
              <a:t>   total = total * counter</a:t>
            </a:r>
          </a:p>
          <a:p>
            <a:r>
              <a:rPr lang="en-GB" dirty="0">
                <a:latin typeface="Consolas"/>
              </a:rPr>
              <a:t>next counter</a:t>
            </a:r>
          </a:p>
          <a:p>
            <a:r>
              <a:rPr lang="en-GB" dirty="0">
                <a:latin typeface="Consolas"/>
              </a:rPr>
              <a:t>output(total)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B04C36-A3CE-4F1E-8433-51F0464C1BBD}"/>
              </a:ext>
            </a:extLst>
          </p:cNvPr>
          <p:cNvSpPr/>
          <p:nvPr/>
        </p:nvSpPr>
        <p:spPr>
          <a:xfrm>
            <a:off x="1173468" y="3990462"/>
            <a:ext cx="52937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Start by identifying any variables in the program and put each one in its own column to create a trace table.</a:t>
            </a:r>
          </a:p>
        </p:txBody>
      </p:sp>
    </p:spTree>
    <p:extLst>
      <p:ext uri="{BB962C8B-B14F-4D97-AF65-F5344CB8AC3E}">
        <p14:creationId xmlns:p14="http://schemas.microsoft.com/office/powerpoint/2010/main" val="206237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DC0F6F-63F7-42F9-BCD4-04F380D2B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2" y="849345"/>
            <a:ext cx="5118772" cy="268247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0471BC7-9907-419F-B342-BE3D55519EF9}"/>
              </a:ext>
            </a:extLst>
          </p:cNvPr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/>
              </a:rPr>
              <a:t>number = print("Enter a number")</a:t>
            </a:r>
          </a:p>
          <a:p>
            <a:r>
              <a:rPr lang="en-GB" dirty="0">
                <a:latin typeface="Consolas"/>
              </a:rPr>
              <a:t>total = 1</a:t>
            </a:r>
          </a:p>
          <a:p>
            <a:r>
              <a:rPr lang="en-GB" dirty="0">
                <a:latin typeface="Consolas"/>
              </a:rPr>
              <a:t>for counter = 1 to number</a:t>
            </a:r>
          </a:p>
          <a:p>
            <a:r>
              <a:rPr lang="en-GB" dirty="0">
                <a:latin typeface="Consolas"/>
              </a:rPr>
              <a:t>   total = total * counter</a:t>
            </a:r>
          </a:p>
          <a:p>
            <a:r>
              <a:rPr lang="en-GB" dirty="0">
                <a:latin typeface="Consolas"/>
              </a:rPr>
              <a:t>next counter</a:t>
            </a:r>
          </a:p>
          <a:p>
            <a:r>
              <a:rPr lang="en-GB" dirty="0">
                <a:latin typeface="Consolas"/>
              </a:rPr>
              <a:t>output(total)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B04C36-A3CE-4F1E-8433-51F0464C1BBD}"/>
              </a:ext>
            </a:extLst>
          </p:cNvPr>
          <p:cNvSpPr/>
          <p:nvPr/>
        </p:nvSpPr>
        <p:spPr>
          <a:xfrm>
            <a:off x="1173468" y="3990462"/>
            <a:ext cx="52937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Start by identifying any variables in the program and put each one in its own column to create a trace table.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5AE8D5-5756-4D54-B7BA-A68BF1DA7443}"/>
              </a:ext>
            </a:extLst>
          </p:cNvPr>
          <p:cNvSpPr/>
          <p:nvPr/>
        </p:nvSpPr>
        <p:spPr>
          <a:xfrm>
            <a:off x="1362075" y="1358392"/>
            <a:ext cx="847725" cy="289434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172FDF-7A53-4A5B-A9D0-C9641E29714A}"/>
              </a:ext>
            </a:extLst>
          </p:cNvPr>
          <p:cNvSpPr/>
          <p:nvPr/>
        </p:nvSpPr>
        <p:spPr>
          <a:xfrm>
            <a:off x="3759538" y="1901147"/>
            <a:ext cx="847725" cy="289434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5E3F770-98F4-4F7D-9AC6-36AE949A0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984021"/>
              </p:ext>
            </p:extLst>
          </p:nvPr>
        </p:nvGraphicFramePr>
        <p:xfrm>
          <a:off x="9136121" y="832629"/>
          <a:ext cx="2554605" cy="30024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1535">
                  <a:extLst>
                    <a:ext uri="{9D8B030D-6E8A-4147-A177-3AD203B41FA5}">
                      <a16:colId xmlns:a16="http://schemas.microsoft.com/office/drawing/2014/main" val="1236554670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3767075624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727340639"/>
                    </a:ext>
                  </a:extLst>
                </a:gridCol>
              </a:tblGrid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number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counter</a:t>
                      </a:r>
                    </a:p>
                  </a:txBody>
                  <a:tcPr marL="91406" marR="91406" marT="45727" marB="4572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marL="91406" marR="91406" marT="45727" marB="4572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458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461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DC0F6F-63F7-42F9-BCD4-04F380D2B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2" y="849345"/>
            <a:ext cx="5118772" cy="268247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0471BC7-9907-419F-B342-BE3D55519EF9}"/>
              </a:ext>
            </a:extLst>
          </p:cNvPr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/>
              </a:rPr>
              <a:t>number = print("Enter a number")</a:t>
            </a:r>
          </a:p>
          <a:p>
            <a:r>
              <a:rPr lang="en-GB" dirty="0">
                <a:latin typeface="Consolas"/>
              </a:rPr>
              <a:t>total = 1</a:t>
            </a:r>
          </a:p>
          <a:p>
            <a:r>
              <a:rPr lang="en-GB" dirty="0">
                <a:latin typeface="Consolas"/>
              </a:rPr>
              <a:t>for counter = 1 to number</a:t>
            </a:r>
          </a:p>
          <a:p>
            <a:r>
              <a:rPr lang="en-GB" dirty="0">
                <a:latin typeface="Consolas"/>
              </a:rPr>
              <a:t>   total = total * counter</a:t>
            </a:r>
          </a:p>
          <a:p>
            <a:r>
              <a:rPr lang="en-GB" dirty="0">
                <a:latin typeface="Consolas"/>
              </a:rPr>
              <a:t>next counter</a:t>
            </a:r>
          </a:p>
          <a:p>
            <a:r>
              <a:rPr lang="en-GB" dirty="0">
                <a:latin typeface="Consolas"/>
              </a:rPr>
              <a:t>output(total)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B04C36-A3CE-4F1E-8433-51F0464C1BBD}"/>
              </a:ext>
            </a:extLst>
          </p:cNvPr>
          <p:cNvSpPr/>
          <p:nvPr/>
        </p:nvSpPr>
        <p:spPr>
          <a:xfrm>
            <a:off x="1173468" y="3990462"/>
            <a:ext cx="52937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Start by identifying any variables in the program and put each one in its own column to create a trace table.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5AE8D5-5756-4D54-B7BA-A68BF1DA7443}"/>
              </a:ext>
            </a:extLst>
          </p:cNvPr>
          <p:cNvSpPr/>
          <p:nvPr/>
        </p:nvSpPr>
        <p:spPr>
          <a:xfrm>
            <a:off x="1866900" y="1906719"/>
            <a:ext cx="990600" cy="289434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4CE4082-338B-4126-AF03-6EA08BE95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180835"/>
              </p:ext>
            </p:extLst>
          </p:nvPr>
        </p:nvGraphicFramePr>
        <p:xfrm>
          <a:off x="9136121" y="832629"/>
          <a:ext cx="2554605" cy="30024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1535">
                  <a:extLst>
                    <a:ext uri="{9D8B030D-6E8A-4147-A177-3AD203B41FA5}">
                      <a16:colId xmlns:a16="http://schemas.microsoft.com/office/drawing/2014/main" val="1236554670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3767075624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727340639"/>
                    </a:ext>
                  </a:extLst>
                </a:gridCol>
              </a:tblGrid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number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counter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marL="91406" marR="91406" marT="45727" marB="4572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458879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ECA497AD-BB95-452B-A43F-AE2C92FF2B9C}"/>
              </a:ext>
            </a:extLst>
          </p:cNvPr>
          <p:cNvSpPr/>
          <p:nvPr/>
        </p:nvSpPr>
        <p:spPr>
          <a:xfrm>
            <a:off x="1990725" y="2461515"/>
            <a:ext cx="990600" cy="289434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B6FAEB-62F4-6604-DF4B-071D1005CB40}"/>
              </a:ext>
            </a:extLst>
          </p:cNvPr>
          <p:cNvSpPr/>
          <p:nvPr/>
        </p:nvSpPr>
        <p:spPr>
          <a:xfrm>
            <a:off x="3759538" y="2190581"/>
            <a:ext cx="990600" cy="289434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3946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DC0F6F-63F7-42F9-BCD4-04F380D2B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2" y="849345"/>
            <a:ext cx="5118772" cy="268247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0471BC7-9907-419F-B342-BE3D55519EF9}"/>
              </a:ext>
            </a:extLst>
          </p:cNvPr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/>
              </a:rPr>
              <a:t>number = print("Enter a number")</a:t>
            </a:r>
          </a:p>
          <a:p>
            <a:r>
              <a:rPr lang="en-GB" dirty="0">
                <a:latin typeface="Consolas"/>
              </a:rPr>
              <a:t>total = 1</a:t>
            </a:r>
          </a:p>
          <a:p>
            <a:r>
              <a:rPr lang="en-GB" dirty="0">
                <a:latin typeface="Consolas"/>
              </a:rPr>
              <a:t>for counter = 1 to number</a:t>
            </a:r>
          </a:p>
          <a:p>
            <a:r>
              <a:rPr lang="en-GB" dirty="0">
                <a:latin typeface="Consolas"/>
              </a:rPr>
              <a:t>   total = total * counter</a:t>
            </a:r>
          </a:p>
          <a:p>
            <a:r>
              <a:rPr lang="en-GB" dirty="0">
                <a:latin typeface="Consolas"/>
              </a:rPr>
              <a:t>next counter</a:t>
            </a:r>
          </a:p>
          <a:p>
            <a:r>
              <a:rPr lang="en-GB" dirty="0">
                <a:latin typeface="Consolas"/>
              </a:rPr>
              <a:t>output(total)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B04C36-A3CE-4F1E-8433-51F0464C1BBD}"/>
              </a:ext>
            </a:extLst>
          </p:cNvPr>
          <p:cNvSpPr/>
          <p:nvPr/>
        </p:nvSpPr>
        <p:spPr>
          <a:xfrm>
            <a:off x="1173468" y="3990462"/>
            <a:ext cx="52937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Start by identifying any variables in the program and put each one in its own column to create a trace table.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5AE8D5-5756-4D54-B7BA-A68BF1DA7443}"/>
              </a:ext>
            </a:extLst>
          </p:cNvPr>
          <p:cNvSpPr/>
          <p:nvPr/>
        </p:nvSpPr>
        <p:spPr>
          <a:xfrm>
            <a:off x="1325866" y="1632774"/>
            <a:ext cx="760109" cy="289434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FEB3800-A777-4644-AFC8-B9EE6908A9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941530"/>
              </p:ext>
            </p:extLst>
          </p:nvPr>
        </p:nvGraphicFramePr>
        <p:xfrm>
          <a:off x="9136121" y="832629"/>
          <a:ext cx="2554605" cy="30024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1535">
                  <a:extLst>
                    <a:ext uri="{9D8B030D-6E8A-4147-A177-3AD203B41FA5}">
                      <a16:colId xmlns:a16="http://schemas.microsoft.com/office/drawing/2014/main" val="1236554670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3767075624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727340639"/>
                    </a:ext>
                  </a:extLst>
                </a:gridCol>
              </a:tblGrid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number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counter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885458879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4720E575-92DE-486D-B753-8D535FCC71FE}"/>
              </a:ext>
            </a:extLst>
          </p:cNvPr>
          <p:cNvSpPr/>
          <p:nvPr/>
        </p:nvSpPr>
        <p:spPr>
          <a:xfrm>
            <a:off x="1705920" y="2170065"/>
            <a:ext cx="760109" cy="289434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DFD5A7-10C2-4569-AC49-049CC34B275D}"/>
              </a:ext>
            </a:extLst>
          </p:cNvPr>
          <p:cNvSpPr/>
          <p:nvPr/>
        </p:nvSpPr>
        <p:spPr>
          <a:xfrm>
            <a:off x="2734464" y="2173919"/>
            <a:ext cx="760109" cy="289434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D92A8A-B9FE-4FCD-B90B-EB3D48D47A88}"/>
              </a:ext>
            </a:extLst>
          </p:cNvPr>
          <p:cNvSpPr/>
          <p:nvPr/>
        </p:nvSpPr>
        <p:spPr>
          <a:xfrm>
            <a:off x="2229639" y="2731192"/>
            <a:ext cx="760109" cy="289434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2505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D8CC179-6EFA-4DD3-A2EB-41209A4C5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2" y="849345"/>
            <a:ext cx="5118772" cy="268247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D1E827E-63D6-4ED3-99E3-73B267DD9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762488"/>
              </p:ext>
            </p:extLst>
          </p:nvPr>
        </p:nvGraphicFramePr>
        <p:xfrm>
          <a:off x="9136121" y="832629"/>
          <a:ext cx="2554605" cy="30024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1535">
                  <a:extLst>
                    <a:ext uri="{9D8B030D-6E8A-4147-A177-3AD203B41FA5}">
                      <a16:colId xmlns:a16="http://schemas.microsoft.com/office/drawing/2014/main" val="1236554670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3767075624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727340639"/>
                    </a:ext>
                  </a:extLst>
                </a:gridCol>
              </a:tblGrid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number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counter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885458879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5FA4FB0-9445-49AE-AD78-15606EA00C98}"/>
              </a:ext>
            </a:extLst>
          </p:cNvPr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/>
              </a:rPr>
              <a:t>number = print("Enter a number")</a:t>
            </a:r>
          </a:p>
          <a:p>
            <a:r>
              <a:rPr lang="en-GB" dirty="0">
                <a:latin typeface="Consolas"/>
              </a:rPr>
              <a:t>total = 1</a:t>
            </a:r>
          </a:p>
          <a:p>
            <a:r>
              <a:rPr lang="en-GB" dirty="0">
                <a:latin typeface="Consolas"/>
              </a:rPr>
              <a:t>for counter = 1 to number</a:t>
            </a:r>
          </a:p>
          <a:p>
            <a:r>
              <a:rPr lang="en-GB" dirty="0">
                <a:latin typeface="Consolas"/>
              </a:rPr>
              <a:t>   total = total * counter</a:t>
            </a:r>
          </a:p>
          <a:p>
            <a:r>
              <a:rPr lang="en-GB" dirty="0">
                <a:latin typeface="Consolas"/>
              </a:rPr>
              <a:t>next counter</a:t>
            </a:r>
          </a:p>
          <a:p>
            <a:r>
              <a:rPr lang="en-GB" dirty="0">
                <a:latin typeface="Consolas"/>
              </a:rPr>
              <a:t>output(total)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D3E78-15E3-4A62-90BD-1D990224EBB8}"/>
              </a:ext>
            </a:extLst>
          </p:cNvPr>
          <p:cNvSpPr txBox="1"/>
          <p:nvPr/>
        </p:nvSpPr>
        <p:spPr>
          <a:xfrm>
            <a:off x="9136120" y="4328829"/>
            <a:ext cx="2554605" cy="163121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endParaRPr lang="en-GB" sz="2000" dirty="0">
              <a:ln>
                <a:solidFill>
                  <a:schemeClr val="bg1"/>
                </a:solidFill>
              </a:ln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endParaRPr lang="en-GB" sz="2000" dirty="0">
              <a:ln>
                <a:solidFill>
                  <a:schemeClr val="bg1"/>
                </a:solidFill>
              </a:ln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0E9504-D232-49D3-81CA-B8072BDFB87E}"/>
              </a:ext>
            </a:extLst>
          </p:cNvPr>
          <p:cNvSpPr/>
          <p:nvPr/>
        </p:nvSpPr>
        <p:spPr>
          <a:xfrm>
            <a:off x="9026997" y="3965937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window: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7B4CD1-5F05-4092-A332-DE0BEF0C42D6}"/>
              </a:ext>
            </a:extLst>
          </p:cNvPr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When the first line of code executes – 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number = print("Enter a number")</a:t>
            </a:r>
            <a:r>
              <a:rPr lang="en-GB" dirty="0"/>
              <a:t> – a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ssume the user enters the integer 5.</a:t>
            </a:r>
          </a:p>
        </p:txBody>
      </p:sp>
    </p:spTree>
    <p:extLst>
      <p:ext uri="{BB962C8B-B14F-4D97-AF65-F5344CB8AC3E}">
        <p14:creationId xmlns:p14="http://schemas.microsoft.com/office/powerpoint/2010/main" val="703337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6C3BEF6-76DF-4EA6-97CC-1F446990F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2" y="849345"/>
            <a:ext cx="5118772" cy="268247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D1E827E-63D6-4ED3-99E3-73B267DD9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620878"/>
              </p:ext>
            </p:extLst>
          </p:nvPr>
        </p:nvGraphicFramePr>
        <p:xfrm>
          <a:off x="9136121" y="832629"/>
          <a:ext cx="2554605" cy="30024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1535">
                  <a:extLst>
                    <a:ext uri="{9D8B030D-6E8A-4147-A177-3AD203B41FA5}">
                      <a16:colId xmlns:a16="http://schemas.microsoft.com/office/drawing/2014/main" val="1236554670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3767075624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727340639"/>
                    </a:ext>
                  </a:extLst>
                </a:gridCol>
              </a:tblGrid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number</a:t>
                      </a:r>
                    </a:p>
                  </a:txBody>
                  <a:tcPr marL="91406" marR="91406" marT="45727" marB="45727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counter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 marL="91406" marR="91406" marT="45727" marB="45727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885458879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5FA4FB0-9445-49AE-AD78-15606EA00C98}"/>
              </a:ext>
            </a:extLst>
          </p:cNvPr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/>
              </a:rPr>
              <a:t>number = print("Enter a number")</a:t>
            </a:r>
          </a:p>
          <a:p>
            <a:r>
              <a:rPr lang="en-GB" dirty="0">
                <a:latin typeface="Consolas"/>
              </a:rPr>
              <a:t>total = 1</a:t>
            </a:r>
          </a:p>
          <a:p>
            <a:r>
              <a:rPr lang="en-GB" dirty="0">
                <a:latin typeface="Consolas"/>
              </a:rPr>
              <a:t>for counter = 1 to number</a:t>
            </a:r>
          </a:p>
          <a:p>
            <a:r>
              <a:rPr lang="en-GB" dirty="0">
                <a:latin typeface="Consolas"/>
              </a:rPr>
              <a:t>   total = total * counter</a:t>
            </a:r>
          </a:p>
          <a:p>
            <a:r>
              <a:rPr lang="en-GB" dirty="0">
                <a:latin typeface="Consolas"/>
              </a:rPr>
              <a:t>next counter</a:t>
            </a:r>
          </a:p>
          <a:p>
            <a:r>
              <a:rPr lang="en-GB" dirty="0">
                <a:latin typeface="Consolas"/>
              </a:rPr>
              <a:t>output(total)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D3E78-15E3-4A62-90BD-1D990224EBB8}"/>
              </a:ext>
            </a:extLst>
          </p:cNvPr>
          <p:cNvSpPr txBox="1"/>
          <p:nvPr/>
        </p:nvSpPr>
        <p:spPr>
          <a:xfrm>
            <a:off x="9136120" y="4328829"/>
            <a:ext cx="2554605" cy="163121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Enter a number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5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0E9504-D232-49D3-81CA-B8072BDFB87E}"/>
              </a:ext>
            </a:extLst>
          </p:cNvPr>
          <p:cNvSpPr/>
          <p:nvPr/>
        </p:nvSpPr>
        <p:spPr>
          <a:xfrm>
            <a:off x="9026997" y="3965937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window: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DFA30B-C146-41E3-8D41-8E4174C237B2}"/>
              </a:ext>
            </a:extLst>
          </p:cNvPr>
          <p:cNvSpPr/>
          <p:nvPr/>
        </p:nvSpPr>
        <p:spPr>
          <a:xfrm>
            <a:off x="1200151" y="1373292"/>
            <a:ext cx="4600575" cy="28047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43D6E2-FCF0-412F-B864-7129A00EA49B}"/>
              </a:ext>
            </a:extLst>
          </p:cNvPr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When the first line of code executes – 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number = print("Enter a number")</a:t>
            </a:r>
            <a:r>
              <a:rPr lang="en-GB" dirty="0"/>
              <a:t> – a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ssume the user enters the integer 5.</a:t>
            </a:r>
          </a:p>
        </p:txBody>
      </p:sp>
    </p:spTree>
    <p:extLst>
      <p:ext uri="{BB962C8B-B14F-4D97-AF65-F5344CB8AC3E}">
        <p14:creationId xmlns:p14="http://schemas.microsoft.com/office/powerpoint/2010/main" val="782591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5603C72-CBE8-4351-B32E-4AF474034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2" y="849345"/>
            <a:ext cx="5118772" cy="268247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D1E827E-63D6-4ED3-99E3-73B267DD9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871285"/>
              </p:ext>
            </p:extLst>
          </p:nvPr>
        </p:nvGraphicFramePr>
        <p:xfrm>
          <a:off x="9136119" y="832629"/>
          <a:ext cx="2554605" cy="30024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1535">
                  <a:extLst>
                    <a:ext uri="{9D8B030D-6E8A-4147-A177-3AD203B41FA5}">
                      <a16:colId xmlns:a16="http://schemas.microsoft.com/office/drawing/2014/main" val="1236554670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3767075624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727340639"/>
                    </a:ext>
                  </a:extLst>
                </a:gridCol>
              </a:tblGrid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number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counter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marL="91406" marR="91406" marT="45727" marB="45727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marL="91406" marR="91406" marT="45727" marB="45727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885458879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5FA4FB0-9445-49AE-AD78-15606EA00C98}"/>
              </a:ext>
            </a:extLst>
          </p:cNvPr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/>
              </a:rPr>
              <a:t>number = print("Enter a number")</a:t>
            </a:r>
          </a:p>
          <a:p>
            <a:r>
              <a:rPr lang="en-GB" dirty="0">
                <a:latin typeface="Consolas"/>
              </a:rPr>
              <a:t>total = 1</a:t>
            </a:r>
          </a:p>
          <a:p>
            <a:r>
              <a:rPr lang="en-GB" dirty="0">
                <a:latin typeface="Consolas"/>
              </a:rPr>
              <a:t>for counter = 1 to number</a:t>
            </a:r>
          </a:p>
          <a:p>
            <a:r>
              <a:rPr lang="en-GB" dirty="0">
                <a:latin typeface="Consolas"/>
              </a:rPr>
              <a:t>   total = total * counter</a:t>
            </a:r>
          </a:p>
          <a:p>
            <a:r>
              <a:rPr lang="en-GB" dirty="0">
                <a:latin typeface="Consolas"/>
              </a:rPr>
              <a:t>next counter</a:t>
            </a:r>
          </a:p>
          <a:p>
            <a:r>
              <a:rPr lang="en-GB" dirty="0">
                <a:latin typeface="Consolas"/>
              </a:rPr>
              <a:t>output(total)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D3E78-15E3-4A62-90BD-1D990224EBB8}"/>
              </a:ext>
            </a:extLst>
          </p:cNvPr>
          <p:cNvSpPr txBox="1"/>
          <p:nvPr/>
        </p:nvSpPr>
        <p:spPr>
          <a:xfrm>
            <a:off x="9136118" y="4328829"/>
            <a:ext cx="2554605" cy="163121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Enter a number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5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0E9504-D232-49D3-81CA-B8072BDFB87E}"/>
              </a:ext>
            </a:extLst>
          </p:cNvPr>
          <p:cNvSpPr/>
          <p:nvPr/>
        </p:nvSpPr>
        <p:spPr>
          <a:xfrm>
            <a:off x="9026995" y="3965937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window: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DFA30B-C146-41E3-8D41-8E4174C237B2}"/>
              </a:ext>
            </a:extLst>
          </p:cNvPr>
          <p:cNvSpPr/>
          <p:nvPr/>
        </p:nvSpPr>
        <p:spPr>
          <a:xfrm>
            <a:off x="1200151" y="1639992"/>
            <a:ext cx="4600575" cy="28047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623F4A-E751-431E-91E3-BA8AD18A5B50}"/>
              </a:ext>
            </a:extLst>
          </p:cNvPr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When the first line of code executes – 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number = print("Enter a number")</a:t>
            </a:r>
            <a:r>
              <a:rPr lang="en-GB" dirty="0"/>
              <a:t> – a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ssume the user enters the integer 5.</a:t>
            </a:r>
          </a:p>
        </p:txBody>
      </p:sp>
    </p:spTree>
    <p:extLst>
      <p:ext uri="{BB962C8B-B14F-4D97-AF65-F5344CB8AC3E}">
        <p14:creationId xmlns:p14="http://schemas.microsoft.com/office/powerpoint/2010/main" val="427030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8438488-C017-49B4-AF6F-7F4E2C8AA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2" y="849345"/>
            <a:ext cx="5118772" cy="268247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D1E827E-63D6-4ED3-99E3-73B267DD9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297112"/>
              </p:ext>
            </p:extLst>
          </p:nvPr>
        </p:nvGraphicFramePr>
        <p:xfrm>
          <a:off x="9136121" y="832629"/>
          <a:ext cx="2554605" cy="30024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1535">
                  <a:extLst>
                    <a:ext uri="{9D8B030D-6E8A-4147-A177-3AD203B41FA5}">
                      <a16:colId xmlns:a16="http://schemas.microsoft.com/office/drawing/2014/main" val="1236554670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3767075624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727340639"/>
                    </a:ext>
                  </a:extLst>
                </a:gridCol>
              </a:tblGrid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number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counter</a:t>
                      </a:r>
                    </a:p>
                  </a:txBody>
                  <a:tcPr marL="91406" marR="91406" marT="45727" marB="45727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marL="91406" marR="91406" marT="45727" marB="45727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885458879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5FA4FB0-9445-49AE-AD78-15606EA00C98}"/>
              </a:ext>
            </a:extLst>
          </p:cNvPr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/>
              </a:rPr>
              <a:t>number = print("Enter a number")</a:t>
            </a:r>
          </a:p>
          <a:p>
            <a:r>
              <a:rPr lang="en-GB" dirty="0">
                <a:latin typeface="Consolas"/>
              </a:rPr>
              <a:t>total = 1</a:t>
            </a:r>
          </a:p>
          <a:p>
            <a:r>
              <a:rPr lang="en-GB" dirty="0">
                <a:latin typeface="Consolas"/>
              </a:rPr>
              <a:t>for counter = 1 to number</a:t>
            </a:r>
          </a:p>
          <a:p>
            <a:r>
              <a:rPr lang="en-GB" dirty="0">
                <a:latin typeface="Consolas"/>
              </a:rPr>
              <a:t>   total = total * counter</a:t>
            </a:r>
          </a:p>
          <a:p>
            <a:r>
              <a:rPr lang="en-GB" dirty="0">
                <a:latin typeface="Consolas"/>
              </a:rPr>
              <a:t>next counter</a:t>
            </a:r>
          </a:p>
          <a:p>
            <a:r>
              <a:rPr lang="en-GB" dirty="0">
                <a:latin typeface="Consolas"/>
              </a:rPr>
              <a:t>output(total)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D3E78-15E3-4A62-90BD-1D990224EBB8}"/>
              </a:ext>
            </a:extLst>
          </p:cNvPr>
          <p:cNvSpPr txBox="1"/>
          <p:nvPr/>
        </p:nvSpPr>
        <p:spPr>
          <a:xfrm>
            <a:off x="9136120" y="4328829"/>
            <a:ext cx="2554605" cy="163121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Enter a number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5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0E9504-D232-49D3-81CA-B8072BDFB87E}"/>
              </a:ext>
            </a:extLst>
          </p:cNvPr>
          <p:cNvSpPr/>
          <p:nvPr/>
        </p:nvSpPr>
        <p:spPr>
          <a:xfrm>
            <a:off x="9026997" y="3965937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window: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DFA30B-C146-41E3-8D41-8E4174C237B2}"/>
              </a:ext>
            </a:extLst>
          </p:cNvPr>
          <p:cNvSpPr/>
          <p:nvPr/>
        </p:nvSpPr>
        <p:spPr>
          <a:xfrm>
            <a:off x="1200151" y="1916217"/>
            <a:ext cx="4600575" cy="28047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A4B4D-6C27-469B-8877-EDB372CFF272}"/>
              </a:ext>
            </a:extLst>
          </p:cNvPr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When the first line of code executes – 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number = print("Enter a number")</a:t>
            </a:r>
            <a:r>
              <a:rPr lang="en-GB" dirty="0"/>
              <a:t> – a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ssume the user enters the integer 5.</a:t>
            </a:r>
          </a:p>
        </p:txBody>
      </p:sp>
    </p:spTree>
    <p:extLst>
      <p:ext uri="{BB962C8B-B14F-4D97-AF65-F5344CB8AC3E}">
        <p14:creationId xmlns:p14="http://schemas.microsoft.com/office/powerpoint/2010/main" val="3033906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019ECE3-C45B-4857-B7F8-A3AD4049F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2" y="849345"/>
            <a:ext cx="5118772" cy="268247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D1E827E-63D6-4ED3-99E3-73B267DD9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491469"/>
              </p:ext>
            </p:extLst>
          </p:nvPr>
        </p:nvGraphicFramePr>
        <p:xfrm>
          <a:off x="9136121" y="832629"/>
          <a:ext cx="2554605" cy="30024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1535">
                  <a:extLst>
                    <a:ext uri="{9D8B030D-6E8A-4147-A177-3AD203B41FA5}">
                      <a16:colId xmlns:a16="http://schemas.microsoft.com/office/drawing/2014/main" val="1236554670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3767075624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727340639"/>
                    </a:ext>
                  </a:extLst>
                </a:gridCol>
              </a:tblGrid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number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counter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marL="91406" marR="91406" marT="45727" marB="45727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marL="91406" marR="91406" marT="45727" marB="45727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885458879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5FA4FB0-9445-49AE-AD78-15606EA00C98}"/>
              </a:ext>
            </a:extLst>
          </p:cNvPr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/>
              </a:rPr>
              <a:t>number = print("Enter a number")</a:t>
            </a:r>
          </a:p>
          <a:p>
            <a:r>
              <a:rPr lang="en-GB" dirty="0">
                <a:latin typeface="Consolas"/>
              </a:rPr>
              <a:t>total = 1</a:t>
            </a:r>
          </a:p>
          <a:p>
            <a:r>
              <a:rPr lang="en-GB" dirty="0">
                <a:latin typeface="Consolas"/>
              </a:rPr>
              <a:t>for counter = 1 to number</a:t>
            </a:r>
          </a:p>
          <a:p>
            <a:r>
              <a:rPr lang="en-GB" dirty="0">
                <a:latin typeface="Consolas"/>
              </a:rPr>
              <a:t>   total = total * counter</a:t>
            </a:r>
          </a:p>
          <a:p>
            <a:r>
              <a:rPr lang="en-GB" dirty="0">
                <a:latin typeface="Consolas"/>
              </a:rPr>
              <a:t>next counter</a:t>
            </a:r>
          </a:p>
          <a:p>
            <a:r>
              <a:rPr lang="en-GB" dirty="0">
                <a:latin typeface="Consolas"/>
              </a:rPr>
              <a:t>output(total)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D3E78-15E3-4A62-90BD-1D990224EBB8}"/>
              </a:ext>
            </a:extLst>
          </p:cNvPr>
          <p:cNvSpPr txBox="1"/>
          <p:nvPr/>
        </p:nvSpPr>
        <p:spPr>
          <a:xfrm>
            <a:off x="9136120" y="4328829"/>
            <a:ext cx="2554605" cy="163121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Enter a number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5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0E9504-D232-49D3-81CA-B8072BDFB87E}"/>
              </a:ext>
            </a:extLst>
          </p:cNvPr>
          <p:cNvSpPr/>
          <p:nvPr/>
        </p:nvSpPr>
        <p:spPr>
          <a:xfrm>
            <a:off x="9026997" y="3965937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window: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DFA30B-C146-41E3-8D41-8E4174C237B2}"/>
              </a:ext>
            </a:extLst>
          </p:cNvPr>
          <p:cNvSpPr/>
          <p:nvPr/>
        </p:nvSpPr>
        <p:spPr>
          <a:xfrm>
            <a:off x="1200151" y="2192442"/>
            <a:ext cx="4600575" cy="28047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B2C982-D4AC-4E4A-8D7B-A5DAE00501EA}"/>
              </a:ext>
            </a:extLst>
          </p:cNvPr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When the first line of code executes – 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number = print("Enter a number")</a:t>
            </a:r>
            <a:r>
              <a:rPr lang="en-GB" dirty="0"/>
              <a:t> – a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ssume the user enters the integer 5.</a:t>
            </a:r>
          </a:p>
        </p:txBody>
      </p:sp>
    </p:spTree>
    <p:extLst>
      <p:ext uri="{BB962C8B-B14F-4D97-AF65-F5344CB8AC3E}">
        <p14:creationId xmlns:p14="http://schemas.microsoft.com/office/powerpoint/2010/main" val="4270533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9C42076-2721-4954-9CEA-1EACE71DC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2" y="849345"/>
            <a:ext cx="5118772" cy="268247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D1E827E-63D6-4ED3-99E3-73B267DD9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484363"/>
              </p:ext>
            </p:extLst>
          </p:nvPr>
        </p:nvGraphicFramePr>
        <p:xfrm>
          <a:off x="9136121" y="832629"/>
          <a:ext cx="2554605" cy="30024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1535">
                  <a:extLst>
                    <a:ext uri="{9D8B030D-6E8A-4147-A177-3AD203B41FA5}">
                      <a16:colId xmlns:a16="http://schemas.microsoft.com/office/drawing/2014/main" val="1236554670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3767075624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727340639"/>
                    </a:ext>
                  </a:extLst>
                </a:gridCol>
              </a:tblGrid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number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counter</a:t>
                      </a:r>
                    </a:p>
                  </a:txBody>
                  <a:tcPr marL="91406" marR="91406" marT="45727" marB="45727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 marL="91406" marR="91406" marT="45727" marB="45727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885458879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5FA4FB0-9445-49AE-AD78-15606EA00C98}"/>
              </a:ext>
            </a:extLst>
          </p:cNvPr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/>
              </a:rPr>
              <a:t>number = print("Enter a number")</a:t>
            </a:r>
          </a:p>
          <a:p>
            <a:r>
              <a:rPr lang="en-GB" dirty="0">
                <a:latin typeface="Consolas"/>
              </a:rPr>
              <a:t>total = 1</a:t>
            </a:r>
          </a:p>
          <a:p>
            <a:r>
              <a:rPr lang="en-GB" dirty="0">
                <a:latin typeface="Consolas"/>
              </a:rPr>
              <a:t>for counter = 1 to number</a:t>
            </a:r>
          </a:p>
          <a:p>
            <a:r>
              <a:rPr lang="en-GB" dirty="0">
                <a:latin typeface="Consolas"/>
              </a:rPr>
              <a:t>   total = total * counter</a:t>
            </a:r>
          </a:p>
          <a:p>
            <a:r>
              <a:rPr lang="en-GB" dirty="0">
                <a:latin typeface="Consolas"/>
              </a:rPr>
              <a:t>next counter</a:t>
            </a:r>
          </a:p>
          <a:p>
            <a:r>
              <a:rPr lang="en-GB" dirty="0">
                <a:latin typeface="Consolas"/>
              </a:rPr>
              <a:t>output(total)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D3E78-15E3-4A62-90BD-1D990224EBB8}"/>
              </a:ext>
            </a:extLst>
          </p:cNvPr>
          <p:cNvSpPr txBox="1"/>
          <p:nvPr/>
        </p:nvSpPr>
        <p:spPr>
          <a:xfrm>
            <a:off x="9136120" y="4328829"/>
            <a:ext cx="2554605" cy="163121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Enter a number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5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0E9504-D232-49D3-81CA-B8072BDFB87E}"/>
              </a:ext>
            </a:extLst>
          </p:cNvPr>
          <p:cNvSpPr/>
          <p:nvPr/>
        </p:nvSpPr>
        <p:spPr>
          <a:xfrm>
            <a:off x="9026997" y="3965937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window: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DFA30B-C146-41E3-8D41-8E4174C237B2}"/>
              </a:ext>
            </a:extLst>
          </p:cNvPr>
          <p:cNvSpPr/>
          <p:nvPr/>
        </p:nvSpPr>
        <p:spPr>
          <a:xfrm>
            <a:off x="1200151" y="2440092"/>
            <a:ext cx="4600575" cy="28047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36D89A-FE60-415A-9650-BB152B3BE0A3}"/>
              </a:ext>
            </a:extLst>
          </p:cNvPr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When the first line of code executes – 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number = print("Enter a number")</a:t>
            </a:r>
            <a:r>
              <a:rPr lang="en-GB" dirty="0"/>
              <a:t> – a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ssume the user enters the integer 5.</a:t>
            </a:r>
          </a:p>
        </p:txBody>
      </p:sp>
    </p:spTree>
    <p:extLst>
      <p:ext uri="{BB962C8B-B14F-4D97-AF65-F5344CB8AC3E}">
        <p14:creationId xmlns:p14="http://schemas.microsoft.com/office/powerpoint/2010/main" val="2484523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2C7C748-AFCC-4AB0-B6A7-14A371E1F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2" y="849345"/>
            <a:ext cx="5118772" cy="268247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D1E827E-63D6-4ED3-99E3-73B267DD9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134701"/>
              </p:ext>
            </p:extLst>
          </p:nvPr>
        </p:nvGraphicFramePr>
        <p:xfrm>
          <a:off x="9136120" y="832629"/>
          <a:ext cx="2554605" cy="30024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1535">
                  <a:extLst>
                    <a:ext uri="{9D8B030D-6E8A-4147-A177-3AD203B41FA5}">
                      <a16:colId xmlns:a16="http://schemas.microsoft.com/office/drawing/2014/main" val="1236554670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3767075624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727340639"/>
                    </a:ext>
                  </a:extLst>
                </a:gridCol>
              </a:tblGrid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number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counter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885458879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5FA4FB0-9445-49AE-AD78-15606EA00C98}"/>
              </a:ext>
            </a:extLst>
          </p:cNvPr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/>
              </a:rPr>
              <a:t>number = print("Enter a number")</a:t>
            </a:r>
          </a:p>
          <a:p>
            <a:r>
              <a:rPr lang="en-GB" dirty="0">
                <a:latin typeface="Consolas"/>
              </a:rPr>
              <a:t>total = 1</a:t>
            </a:r>
          </a:p>
          <a:p>
            <a:r>
              <a:rPr lang="en-GB" dirty="0">
                <a:latin typeface="Consolas"/>
              </a:rPr>
              <a:t>for counter = 1 to number</a:t>
            </a:r>
          </a:p>
          <a:p>
            <a:r>
              <a:rPr lang="en-GB" dirty="0">
                <a:latin typeface="Consolas"/>
              </a:rPr>
              <a:t>   total = total * counter</a:t>
            </a:r>
          </a:p>
          <a:p>
            <a:r>
              <a:rPr lang="en-GB" dirty="0">
                <a:latin typeface="Consolas"/>
              </a:rPr>
              <a:t>next counter</a:t>
            </a:r>
          </a:p>
          <a:p>
            <a:r>
              <a:rPr lang="en-GB" dirty="0">
                <a:latin typeface="Consolas"/>
              </a:rPr>
              <a:t>output(total)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D3E78-15E3-4A62-90BD-1D990224EBB8}"/>
              </a:ext>
            </a:extLst>
          </p:cNvPr>
          <p:cNvSpPr txBox="1"/>
          <p:nvPr/>
        </p:nvSpPr>
        <p:spPr>
          <a:xfrm>
            <a:off x="9136119" y="4328829"/>
            <a:ext cx="2554605" cy="163121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Enter a number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5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0E9504-D232-49D3-81CA-B8072BDFB87E}"/>
              </a:ext>
            </a:extLst>
          </p:cNvPr>
          <p:cNvSpPr/>
          <p:nvPr/>
        </p:nvSpPr>
        <p:spPr>
          <a:xfrm>
            <a:off x="9026996" y="3965937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window: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DFA30B-C146-41E3-8D41-8E4174C237B2}"/>
              </a:ext>
            </a:extLst>
          </p:cNvPr>
          <p:cNvSpPr/>
          <p:nvPr/>
        </p:nvSpPr>
        <p:spPr>
          <a:xfrm>
            <a:off x="1200151" y="1906692"/>
            <a:ext cx="4600575" cy="28047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CB8027-8241-471F-BEC0-7695E6993EFA}"/>
              </a:ext>
            </a:extLst>
          </p:cNvPr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When the first line of code executes – 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number = print("Enter a number")</a:t>
            </a:r>
            <a:r>
              <a:rPr lang="en-GB" dirty="0"/>
              <a:t> – a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ssume the user enters the integer 5.</a:t>
            </a:r>
          </a:p>
        </p:txBody>
      </p:sp>
    </p:spTree>
    <p:extLst>
      <p:ext uri="{BB962C8B-B14F-4D97-AF65-F5344CB8AC3E}">
        <p14:creationId xmlns:p14="http://schemas.microsoft.com/office/powerpoint/2010/main" val="3707024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4B84D99-CC53-42A4-9F7F-6ADAEF507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2" y="849345"/>
            <a:ext cx="5118772" cy="268247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D1E827E-63D6-4ED3-99E3-73B267DD9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946796"/>
              </p:ext>
            </p:extLst>
          </p:nvPr>
        </p:nvGraphicFramePr>
        <p:xfrm>
          <a:off x="9136120" y="832629"/>
          <a:ext cx="2554605" cy="30024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1535">
                  <a:extLst>
                    <a:ext uri="{9D8B030D-6E8A-4147-A177-3AD203B41FA5}">
                      <a16:colId xmlns:a16="http://schemas.microsoft.com/office/drawing/2014/main" val="1236554670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3767075624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727340639"/>
                    </a:ext>
                  </a:extLst>
                </a:gridCol>
              </a:tblGrid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number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counter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marL="91406" marR="91406" marT="45727" marB="45727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 marL="91406" marR="91406" marT="45727" marB="45727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885458879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5FA4FB0-9445-49AE-AD78-15606EA00C98}"/>
              </a:ext>
            </a:extLst>
          </p:cNvPr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/>
              </a:rPr>
              <a:t>number = print("Enter a number")</a:t>
            </a:r>
          </a:p>
          <a:p>
            <a:r>
              <a:rPr lang="en-GB" dirty="0">
                <a:latin typeface="Consolas"/>
              </a:rPr>
              <a:t>total = 1</a:t>
            </a:r>
          </a:p>
          <a:p>
            <a:r>
              <a:rPr lang="en-GB" dirty="0">
                <a:latin typeface="Consolas"/>
              </a:rPr>
              <a:t>for counter = 1 to number</a:t>
            </a:r>
          </a:p>
          <a:p>
            <a:r>
              <a:rPr lang="en-GB" dirty="0">
                <a:latin typeface="Consolas"/>
              </a:rPr>
              <a:t>   total = total * counter</a:t>
            </a:r>
          </a:p>
          <a:p>
            <a:r>
              <a:rPr lang="en-GB" dirty="0">
                <a:latin typeface="Consolas"/>
              </a:rPr>
              <a:t>next counter</a:t>
            </a:r>
          </a:p>
          <a:p>
            <a:r>
              <a:rPr lang="en-GB" dirty="0">
                <a:latin typeface="Consolas"/>
              </a:rPr>
              <a:t>output(total)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D3E78-15E3-4A62-90BD-1D990224EBB8}"/>
              </a:ext>
            </a:extLst>
          </p:cNvPr>
          <p:cNvSpPr txBox="1"/>
          <p:nvPr/>
        </p:nvSpPr>
        <p:spPr>
          <a:xfrm>
            <a:off x="9136119" y="4328829"/>
            <a:ext cx="2554605" cy="163121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Enter a number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5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0E9504-D232-49D3-81CA-B8072BDFB87E}"/>
              </a:ext>
            </a:extLst>
          </p:cNvPr>
          <p:cNvSpPr/>
          <p:nvPr/>
        </p:nvSpPr>
        <p:spPr>
          <a:xfrm>
            <a:off x="9026996" y="3965937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window: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DFA30B-C146-41E3-8D41-8E4174C237B2}"/>
              </a:ext>
            </a:extLst>
          </p:cNvPr>
          <p:cNvSpPr/>
          <p:nvPr/>
        </p:nvSpPr>
        <p:spPr>
          <a:xfrm>
            <a:off x="1200151" y="2182917"/>
            <a:ext cx="4600575" cy="28047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A0BF71-13F7-4BD9-924D-ACCC7C09C3CD}"/>
              </a:ext>
            </a:extLst>
          </p:cNvPr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When the first line of code executes – 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number = print("Enter a number")</a:t>
            </a:r>
            <a:r>
              <a:rPr lang="en-GB" dirty="0"/>
              <a:t> – a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ssume the user enters the integer 5.</a:t>
            </a:r>
          </a:p>
        </p:txBody>
      </p:sp>
    </p:spTree>
    <p:extLst>
      <p:ext uri="{BB962C8B-B14F-4D97-AF65-F5344CB8AC3E}">
        <p14:creationId xmlns:p14="http://schemas.microsoft.com/office/powerpoint/2010/main" val="574054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6D6CD73-4EF6-439A-84E4-7DBE66EDD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2" y="849345"/>
            <a:ext cx="5118772" cy="268247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D1E827E-63D6-4ED3-99E3-73B267DD9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316194"/>
              </p:ext>
            </p:extLst>
          </p:nvPr>
        </p:nvGraphicFramePr>
        <p:xfrm>
          <a:off x="9136120" y="832629"/>
          <a:ext cx="2554605" cy="30024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1535">
                  <a:extLst>
                    <a:ext uri="{9D8B030D-6E8A-4147-A177-3AD203B41FA5}">
                      <a16:colId xmlns:a16="http://schemas.microsoft.com/office/drawing/2014/main" val="1236554670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3767075624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727340639"/>
                    </a:ext>
                  </a:extLst>
                </a:gridCol>
              </a:tblGrid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number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counter</a:t>
                      </a:r>
                    </a:p>
                  </a:txBody>
                  <a:tcPr marL="91406" marR="91406" marT="45727" marB="45727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 marL="91406" marR="91406" marT="45727" marB="45727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885458879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5FA4FB0-9445-49AE-AD78-15606EA00C98}"/>
              </a:ext>
            </a:extLst>
          </p:cNvPr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/>
              </a:rPr>
              <a:t>number = print("Enter a number")</a:t>
            </a:r>
          </a:p>
          <a:p>
            <a:r>
              <a:rPr lang="en-GB" dirty="0">
                <a:latin typeface="Consolas"/>
              </a:rPr>
              <a:t>total = 1</a:t>
            </a:r>
          </a:p>
          <a:p>
            <a:r>
              <a:rPr lang="en-GB" dirty="0">
                <a:latin typeface="Consolas"/>
              </a:rPr>
              <a:t>for counter = 1 to number</a:t>
            </a:r>
          </a:p>
          <a:p>
            <a:r>
              <a:rPr lang="en-GB" dirty="0">
                <a:latin typeface="Consolas"/>
              </a:rPr>
              <a:t>   total = total * counter</a:t>
            </a:r>
          </a:p>
          <a:p>
            <a:r>
              <a:rPr lang="en-GB" dirty="0">
                <a:latin typeface="Consolas"/>
              </a:rPr>
              <a:t>next counter</a:t>
            </a:r>
          </a:p>
          <a:p>
            <a:r>
              <a:rPr lang="en-GB" dirty="0">
                <a:latin typeface="Consolas"/>
              </a:rPr>
              <a:t>output(total)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D3E78-15E3-4A62-90BD-1D990224EBB8}"/>
              </a:ext>
            </a:extLst>
          </p:cNvPr>
          <p:cNvSpPr txBox="1"/>
          <p:nvPr/>
        </p:nvSpPr>
        <p:spPr>
          <a:xfrm>
            <a:off x="9136119" y="4328829"/>
            <a:ext cx="2554605" cy="163121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Enter a number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5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0E9504-D232-49D3-81CA-B8072BDFB87E}"/>
              </a:ext>
            </a:extLst>
          </p:cNvPr>
          <p:cNvSpPr/>
          <p:nvPr/>
        </p:nvSpPr>
        <p:spPr>
          <a:xfrm>
            <a:off x="9026996" y="3965937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window: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DFA30B-C146-41E3-8D41-8E4174C237B2}"/>
              </a:ext>
            </a:extLst>
          </p:cNvPr>
          <p:cNvSpPr/>
          <p:nvPr/>
        </p:nvSpPr>
        <p:spPr>
          <a:xfrm>
            <a:off x="1200151" y="2487717"/>
            <a:ext cx="4600575" cy="28047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C1C8C-E0BB-42FD-AD1B-AEF03305499F}"/>
              </a:ext>
            </a:extLst>
          </p:cNvPr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When the first line of code executes – 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number = print("Enter a number")</a:t>
            </a:r>
            <a:r>
              <a:rPr lang="en-GB" dirty="0"/>
              <a:t> – a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ssume the user enters the integer 5.</a:t>
            </a:r>
          </a:p>
        </p:txBody>
      </p:sp>
    </p:spTree>
    <p:extLst>
      <p:ext uri="{BB962C8B-B14F-4D97-AF65-F5344CB8AC3E}">
        <p14:creationId xmlns:p14="http://schemas.microsoft.com/office/powerpoint/2010/main" val="1150009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BFCB5A8-1C1C-49C1-86E9-A83B386C5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2" y="849345"/>
            <a:ext cx="5118772" cy="268247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D1E827E-63D6-4ED3-99E3-73B267DD9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459989"/>
              </p:ext>
            </p:extLst>
          </p:nvPr>
        </p:nvGraphicFramePr>
        <p:xfrm>
          <a:off x="9136120" y="832629"/>
          <a:ext cx="2554605" cy="30024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1535">
                  <a:extLst>
                    <a:ext uri="{9D8B030D-6E8A-4147-A177-3AD203B41FA5}">
                      <a16:colId xmlns:a16="http://schemas.microsoft.com/office/drawing/2014/main" val="1236554670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3767075624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727340639"/>
                    </a:ext>
                  </a:extLst>
                </a:gridCol>
              </a:tblGrid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number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counter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885458879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5FA4FB0-9445-49AE-AD78-15606EA00C98}"/>
              </a:ext>
            </a:extLst>
          </p:cNvPr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/>
              </a:rPr>
              <a:t>number = print("Enter a number")</a:t>
            </a:r>
          </a:p>
          <a:p>
            <a:r>
              <a:rPr lang="en-GB" dirty="0">
                <a:latin typeface="Consolas"/>
              </a:rPr>
              <a:t>total = 1</a:t>
            </a:r>
          </a:p>
          <a:p>
            <a:r>
              <a:rPr lang="en-GB" dirty="0">
                <a:latin typeface="Consolas"/>
              </a:rPr>
              <a:t>for counter = 1 to number</a:t>
            </a:r>
          </a:p>
          <a:p>
            <a:r>
              <a:rPr lang="en-GB" dirty="0">
                <a:latin typeface="Consolas"/>
              </a:rPr>
              <a:t>   total = total * counter</a:t>
            </a:r>
          </a:p>
          <a:p>
            <a:r>
              <a:rPr lang="en-GB" dirty="0">
                <a:latin typeface="Consolas"/>
              </a:rPr>
              <a:t>next counter</a:t>
            </a:r>
          </a:p>
          <a:p>
            <a:r>
              <a:rPr lang="en-GB" dirty="0">
                <a:latin typeface="Consolas"/>
              </a:rPr>
              <a:t>output(total)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D3E78-15E3-4A62-90BD-1D990224EBB8}"/>
              </a:ext>
            </a:extLst>
          </p:cNvPr>
          <p:cNvSpPr txBox="1"/>
          <p:nvPr/>
        </p:nvSpPr>
        <p:spPr>
          <a:xfrm>
            <a:off x="9136119" y="4328829"/>
            <a:ext cx="2554605" cy="163121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Enter a number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5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0E9504-D232-49D3-81CA-B8072BDFB87E}"/>
              </a:ext>
            </a:extLst>
          </p:cNvPr>
          <p:cNvSpPr/>
          <p:nvPr/>
        </p:nvSpPr>
        <p:spPr>
          <a:xfrm>
            <a:off x="9026996" y="3965937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window: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DFA30B-C146-41E3-8D41-8E4174C237B2}"/>
              </a:ext>
            </a:extLst>
          </p:cNvPr>
          <p:cNvSpPr/>
          <p:nvPr/>
        </p:nvSpPr>
        <p:spPr>
          <a:xfrm>
            <a:off x="1200151" y="1925742"/>
            <a:ext cx="4600575" cy="28047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68ABB3-11B9-488F-A929-D0158D1096F0}"/>
              </a:ext>
            </a:extLst>
          </p:cNvPr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When the first line of code executes – 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number = print("Enter a number")</a:t>
            </a:r>
            <a:r>
              <a:rPr lang="en-GB" dirty="0"/>
              <a:t> – a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ssume the user enters the integer 5.</a:t>
            </a:r>
          </a:p>
        </p:txBody>
      </p:sp>
    </p:spTree>
    <p:extLst>
      <p:ext uri="{BB962C8B-B14F-4D97-AF65-F5344CB8AC3E}">
        <p14:creationId xmlns:p14="http://schemas.microsoft.com/office/powerpoint/2010/main" val="3677690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1789678-D73D-4F8D-9DCF-05FA878F0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2" y="849345"/>
            <a:ext cx="5118772" cy="268247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D1E827E-63D6-4ED3-99E3-73B267DD9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201275"/>
              </p:ext>
            </p:extLst>
          </p:nvPr>
        </p:nvGraphicFramePr>
        <p:xfrm>
          <a:off x="9136120" y="832629"/>
          <a:ext cx="2554605" cy="30024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1535">
                  <a:extLst>
                    <a:ext uri="{9D8B030D-6E8A-4147-A177-3AD203B41FA5}">
                      <a16:colId xmlns:a16="http://schemas.microsoft.com/office/drawing/2014/main" val="1236554670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3767075624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727340639"/>
                    </a:ext>
                  </a:extLst>
                </a:gridCol>
              </a:tblGrid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number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counter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marL="91406" marR="91406" marT="45727" marB="45727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 marL="91406" marR="91406" marT="45727" marB="45727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885458879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5FA4FB0-9445-49AE-AD78-15606EA00C98}"/>
              </a:ext>
            </a:extLst>
          </p:cNvPr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/>
              </a:rPr>
              <a:t>number = print("Enter a number")</a:t>
            </a:r>
          </a:p>
          <a:p>
            <a:r>
              <a:rPr lang="en-GB" dirty="0">
                <a:latin typeface="Consolas"/>
              </a:rPr>
              <a:t>total = 1</a:t>
            </a:r>
          </a:p>
          <a:p>
            <a:r>
              <a:rPr lang="en-GB" dirty="0">
                <a:latin typeface="Consolas"/>
              </a:rPr>
              <a:t>for counter = 1 to number</a:t>
            </a:r>
          </a:p>
          <a:p>
            <a:r>
              <a:rPr lang="en-GB" dirty="0">
                <a:latin typeface="Consolas"/>
              </a:rPr>
              <a:t>   total = total * counter</a:t>
            </a:r>
          </a:p>
          <a:p>
            <a:r>
              <a:rPr lang="en-GB" dirty="0">
                <a:latin typeface="Consolas"/>
              </a:rPr>
              <a:t>next counter</a:t>
            </a:r>
          </a:p>
          <a:p>
            <a:r>
              <a:rPr lang="en-GB" dirty="0">
                <a:latin typeface="Consolas"/>
              </a:rPr>
              <a:t>output(total)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D3E78-15E3-4A62-90BD-1D990224EBB8}"/>
              </a:ext>
            </a:extLst>
          </p:cNvPr>
          <p:cNvSpPr txBox="1"/>
          <p:nvPr/>
        </p:nvSpPr>
        <p:spPr>
          <a:xfrm>
            <a:off x="9136119" y="4328829"/>
            <a:ext cx="2554605" cy="163121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Enter a number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5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0E9504-D232-49D3-81CA-B8072BDFB87E}"/>
              </a:ext>
            </a:extLst>
          </p:cNvPr>
          <p:cNvSpPr/>
          <p:nvPr/>
        </p:nvSpPr>
        <p:spPr>
          <a:xfrm>
            <a:off x="9026996" y="3965937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window: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DFA30B-C146-41E3-8D41-8E4174C237B2}"/>
              </a:ext>
            </a:extLst>
          </p:cNvPr>
          <p:cNvSpPr/>
          <p:nvPr/>
        </p:nvSpPr>
        <p:spPr>
          <a:xfrm>
            <a:off x="1200151" y="2173392"/>
            <a:ext cx="4600575" cy="28047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A40E0F-7613-4798-8EA5-1C9A21892082}"/>
              </a:ext>
            </a:extLst>
          </p:cNvPr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When the first line of code executes – 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number = print("Enter a number")</a:t>
            </a:r>
            <a:r>
              <a:rPr lang="en-GB" dirty="0"/>
              <a:t> – a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ssume the user enters the integer 5.</a:t>
            </a:r>
          </a:p>
        </p:txBody>
      </p:sp>
    </p:spTree>
    <p:extLst>
      <p:ext uri="{BB962C8B-B14F-4D97-AF65-F5344CB8AC3E}">
        <p14:creationId xmlns:p14="http://schemas.microsoft.com/office/powerpoint/2010/main" val="337156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84DAD19-81A7-4A64-827A-4E0782B75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2" y="849345"/>
            <a:ext cx="5118772" cy="268247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D1E827E-63D6-4ED3-99E3-73B267DD9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955891"/>
              </p:ext>
            </p:extLst>
          </p:nvPr>
        </p:nvGraphicFramePr>
        <p:xfrm>
          <a:off x="9136122" y="836636"/>
          <a:ext cx="2554605" cy="30024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1535">
                  <a:extLst>
                    <a:ext uri="{9D8B030D-6E8A-4147-A177-3AD203B41FA5}">
                      <a16:colId xmlns:a16="http://schemas.microsoft.com/office/drawing/2014/main" val="1236554670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3767075624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727340639"/>
                    </a:ext>
                  </a:extLst>
                </a:gridCol>
              </a:tblGrid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number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counter</a:t>
                      </a:r>
                    </a:p>
                  </a:txBody>
                  <a:tcPr marL="91406" marR="91406" marT="45727" marB="45727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 marL="91406" marR="91406" marT="45727" marB="45727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885458879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5FA4FB0-9445-49AE-AD78-15606EA00C98}"/>
              </a:ext>
            </a:extLst>
          </p:cNvPr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/>
              </a:rPr>
              <a:t>number = print("Enter a number")</a:t>
            </a:r>
          </a:p>
          <a:p>
            <a:r>
              <a:rPr lang="en-GB" dirty="0">
                <a:latin typeface="Consolas"/>
              </a:rPr>
              <a:t>total = 1</a:t>
            </a:r>
          </a:p>
          <a:p>
            <a:r>
              <a:rPr lang="en-GB" dirty="0">
                <a:latin typeface="Consolas"/>
              </a:rPr>
              <a:t>for counter = 1 to number</a:t>
            </a:r>
          </a:p>
          <a:p>
            <a:r>
              <a:rPr lang="en-GB" dirty="0">
                <a:latin typeface="Consolas"/>
              </a:rPr>
              <a:t>   total = total * counter</a:t>
            </a:r>
          </a:p>
          <a:p>
            <a:r>
              <a:rPr lang="en-GB" dirty="0">
                <a:latin typeface="Consolas"/>
              </a:rPr>
              <a:t>next counter</a:t>
            </a:r>
          </a:p>
          <a:p>
            <a:r>
              <a:rPr lang="en-GB" dirty="0">
                <a:latin typeface="Consolas"/>
              </a:rPr>
              <a:t>output(total)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D3E78-15E3-4A62-90BD-1D990224EBB8}"/>
              </a:ext>
            </a:extLst>
          </p:cNvPr>
          <p:cNvSpPr txBox="1"/>
          <p:nvPr/>
        </p:nvSpPr>
        <p:spPr>
          <a:xfrm>
            <a:off x="9136121" y="4332836"/>
            <a:ext cx="2554605" cy="163121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Enter a number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5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0E9504-D232-49D3-81CA-B8072BDFB87E}"/>
              </a:ext>
            </a:extLst>
          </p:cNvPr>
          <p:cNvSpPr/>
          <p:nvPr/>
        </p:nvSpPr>
        <p:spPr>
          <a:xfrm>
            <a:off x="9026998" y="3969944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window: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DFA30B-C146-41E3-8D41-8E4174C237B2}"/>
              </a:ext>
            </a:extLst>
          </p:cNvPr>
          <p:cNvSpPr/>
          <p:nvPr/>
        </p:nvSpPr>
        <p:spPr>
          <a:xfrm>
            <a:off x="1200151" y="2459142"/>
            <a:ext cx="4600575" cy="28047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5D4BC5-0DB3-4AF9-9240-0A5F012E2E7F}"/>
              </a:ext>
            </a:extLst>
          </p:cNvPr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When the first line of code executes – 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number = print("Enter a number")</a:t>
            </a:r>
            <a:r>
              <a:rPr lang="en-GB" dirty="0"/>
              <a:t> – a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ssume the user enters the integer 5.</a:t>
            </a:r>
          </a:p>
        </p:txBody>
      </p:sp>
    </p:spTree>
    <p:extLst>
      <p:ext uri="{BB962C8B-B14F-4D97-AF65-F5344CB8AC3E}">
        <p14:creationId xmlns:p14="http://schemas.microsoft.com/office/powerpoint/2010/main" val="380653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01855BE-4C34-43F6-8275-ADF2E3552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2" y="849345"/>
            <a:ext cx="5118772" cy="268247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D1E827E-63D6-4ED3-99E3-73B267DD9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969916"/>
              </p:ext>
            </p:extLst>
          </p:nvPr>
        </p:nvGraphicFramePr>
        <p:xfrm>
          <a:off x="9136120" y="832629"/>
          <a:ext cx="2554605" cy="30024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1535">
                  <a:extLst>
                    <a:ext uri="{9D8B030D-6E8A-4147-A177-3AD203B41FA5}">
                      <a16:colId xmlns:a16="http://schemas.microsoft.com/office/drawing/2014/main" val="1236554670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3767075624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727340639"/>
                    </a:ext>
                  </a:extLst>
                </a:gridCol>
              </a:tblGrid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number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counter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885458879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5FA4FB0-9445-49AE-AD78-15606EA00C98}"/>
              </a:ext>
            </a:extLst>
          </p:cNvPr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/>
              </a:rPr>
              <a:t>number = print("Enter a number")</a:t>
            </a:r>
          </a:p>
          <a:p>
            <a:r>
              <a:rPr lang="en-GB" dirty="0">
                <a:latin typeface="Consolas"/>
              </a:rPr>
              <a:t>total = 1</a:t>
            </a:r>
          </a:p>
          <a:p>
            <a:r>
              <a:rPr lang="en-GB" dirty="0">
                <a:latin typeface="Consolas"/>
              </a:rPr>
              <a:t>for counter = 1 to number</a:t>
            </a:r>
          </a:p>
          <a:p>
            <a:r>
              <a:rPr lang="en-GB" dirty="0">
                <a:latin typeface="Consolas"/>
              </a:rPr>
              <a:t>   total = total * counter</a:t>
            </a:r>
          </a:p>
          <a:p>
            <a:r>
              <a:rPr lang="en-GB" dirty="0">
                <a:latin typeface="Consolas"/>
              </a:rPr>
              <a:t>next counter</a:t>
            </a:r>
          </a:p>
          <a:p>
            <a:r>
              <a:rPr lang="en-GB" dirty="0">
                <a:latin typeface="Consolas"/>
              </a:rPr>
              <a:t>output(total)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D3E78-15E3-4A62-90BD-1D990224EBB8}"/>
              </a:ext>
            </a:extLst>
          </p:cNvPr>
          <p:cNvSpPr txBox="1"/>
          <p:nvPr/>
        </p:nvSpPr>
        <p:spPr>
          <a:xfrm>
            <a:off x="9136119" y="4328829"/>
            <a:ext cx="2554605" cy="163121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Enter a number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5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0E9504-D232-49D3-81CA-B8072BDFB87E}"/>
              </a:ext>
            </a:extLst>
          </p:cNvPr>
          <p:cNvSpPr/>
          <p:nvPr/>
        </p:nvSpPr>
        <p:spPr>
          <a:xfrm>
            <a:off x="9026996" y="3965937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window: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DFA30B-C146-41E3-8D41-8E4174C237B2}"/>
              </a:ext>
            </a:extLst>
          </p:cNvPr>
          <p:cNvSpPr/>
          <p:nvPr/>
        </p:nvSpPr>
        <p:spPr>
          <a:xfrm>
            <a:off x="1200151" y="1897167"/>
            <a:ext cx="4600575" cy="28047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684FA3-C7F2-4ABC-BE26-AF6CEBD94532}"/>
              </a:ext>
            </a:extLst>
          </p:cNvPr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When the first line of code executes – 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number = print("Enter a number")</a:t>
            </a:r>
            <a:r>
              <a:rPr lang="en-GB" dirty="0"/>
              <a:t> – a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ssume the user enters the integer 5.</a:t>
            </a:r>
          </a:p>
        </p:txBody>
      </p:sp>
    </p:spTree>
    <p:extLst>
      <p:ext uri="{BB962C8B-B14F-4D97-AF65-F5344CB8AC3E}">
        <p14:creationId xmlns:p14="http://schemas.microsoft.com/office/powerpoint/2010/main" val="3381800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5E3DA4-372C-4645-824A-456064905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2" y="849345"/>
            <a:ext cx="5118772" cy="268247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D1E827E-63D6-4ED3-99E3-73B267DD9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986054"/>
              </p:ext>
            </p:extLst>
          </p:nvPr>
        </p:nvGraphicFramePr>
        <p:xfrm>
          <a:off x="9138452" y="832047"/>
          <a:ext cx="2554605" cy="30024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1535">
                  <a:extLst>
                    <a:ext uri="{9D8B030D-6E8A-4147-A177-3AD203B41FA5}">
                      <a16:colId xmlns:a16="http://schemas.microsoft.com/office/drawing/2014/main" val="1236554670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3767075624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727340639"/>
                    </a:ext>
                  </a:extLst>
                </a:gridCol>
              </a:tblGrid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number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counter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marL="91406" marR="91406" marT="45727" marB="45727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marL="91406" marR="91406" marT="45727" marB="45727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885458879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5FA4FB0-9445-49AE-AD78-15606EA00C98}"/>
              </a:ext>
            </a:extLst>
          </p:cNvPr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/>
              </a:rPr>
              <a:t>number = print("Enter a number")</a:t>
            </a:r>
          </a:p>
          <a:p>
            <a:r>
              <a:rPr lang="en-GB" dirty="0">
                <a:latin typeface="Consolas"/>
              </a:rPr>
              <a:t>total = 1</a:t>
            </a:r>
          </a:p>
          <a:p>
            <a:r>
              <a:rPr lang="en-GB" dirty="0">
                <a:latin typeface="Consolas"/>
              </a:rPr>
              <a:t>for counter = 1 to number</a:t>
            </a:r>
          </a:p>
          <a:p>
            <a:r>
              <a:rPr lang="en-GB" dirty="0">
                <a:latin typeface="Consolas"/>
              </a:rPr>
              <a:t>   total = total * counter</a:t>
            </a:r>
          </a:p>
          <a:p>
            <a:r>
              <a:rPr lang="en-GB" dirty="0">
                <a:latin typeface="Consolas"/>
              </a:rPr>
              <a:t>next counter</a:t>
            </a:r>
          </a:p>
          <a:p>
            <a:r>
              <a:rPr lang="en-GB" dirty="0">
                <a:latin typeface="Consolas"/>
              </a:rPr>
              <a:t>output(total)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D3E78-15E3-4A62-90BD-1D990224EBB8}"/>
              </a:ext>
            </a:extLst>
          </p:cNvPr>
          <p:cNvSpPr txBox="1"/>
          <p:nvPr/>
        </p:nvSpPr>
        <p:spPr>
          <a:xfrm>
            <a:off x="9138451" y="4328247"/>
            <a:ext cx="2554605" cy="163121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Enter a number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5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0E9504-D232-49D3-81CA-B8072BDFB87E}"/>
              </a:ext>
            </a:extLst>
          </p:cNvPr>
          <p:cNvSpPr/>
          <p:nvPr/>
        </p:nvSpPr>
        <p:spPr>
          <a:xfrm>
            <a:off x="9029328" y="3965355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window: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DFA30B-C146-41E3-8D41-8E4174C237B2}"/>
              </a:ext>
            </a:extLst>
          </p:cNvPr>
          <p:cNvSpPr/>
          <p:nvPr/>
        </p:nvSpPr>
        <p:spPr>
          <a:xfrm>
            <a:off x="1200151" y="2182917"/>
            <a:ext cx="4600575" cy="28047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9870AC-1562-4E2E-A218-7379B9CD5DFA}"/>
              </a:ext>
            </a:extLst>
          </p:cNvPr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When the first line of code executes – 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number = print("Enter a number")</a:t>
            </a:r>
            <a:r>
              <a:rPr lang="en-GB" dirty="0"/>
              <a:t> – a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ssume the user enters the integer 5.</a:t>
            </a:r>
          </a:p>
        </p:txBody>
      </p:sp>
    </p:spTree>
    <p:extLst>
      <p:ext uri="{BB962C8B-B14F-4D97-AF65-F5344CB8AC3E}">
        <p14:creationId xmlns:p14="http://schemas.microsoft.com/office/powerpoint/2010/main" val="2843835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289EEF6-F984-458D-ADAD-250E20554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2" y="849345"/>
            <a:ext cx="5118772" cy="268247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D1E827E-63D6-4ED3-99E3-73B267DD9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626752"/>
              </p:ext>
            </p:extLst>
          </p:nvPr>
        </p:nvGraphicFramePr>
        <p:xfrm>
          <a:off x="9137980" y="832047"/>
          <a:ext cx="2554605" cy="30024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1535">
                  <a:extLst>
                    <a:ext uri="{9D8B030D-6E8A-4147-A177-3AD203B41FA5}">
                      <a16:colId xmlns:a16="http://schemas.microsoft.com/office/drawing/2014/main" val="1236554670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3767075624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727340639"/>
                    </a:ext>
                  </a:extLst>
                </a:gridCol>
              </a:tblGrid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number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counter</a:t>
                      </a:r>
                    </a:p>
                  </a:txBody>
                  <a:tcPr marL="91406" marR="91406" marT="45727" marB="45727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 marL="91406" marR="91406" marT="45727" marB="45727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885458879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5FA4FB0-9445-49AE-AD78-15606EA00C98}"/>
              </a:ext>
            </a:extLst>
          </p:cNvPr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/>
              </a:rPr>
              <a:t>number = print("Enter a number")</a:t>
            </a:r>
          </a:p>
          <a:p>
            <a:r>
              <a:rPr lang="en-GB" dirty="0">
                <a:latin typeface="Consolas"/>
              </a:rPr>
              <a:t>total = 1</a:t>
            </a:r>
          </a:p>
          <a:p>
            <a:r>
              <a:rPr lang="en-GB" dirty="0">
                <a:latin typeface="Consolas"/>
              </a:rPr>
              <a:t>for counter = 1 to number</a:t>
            </a:r>
          </a:p>
          <a:p>
            <a:r>
              <a:rPr lang="en-GB" dirty="0">
                <a:latin typeface="Consolas"/>
              </a:rPr>
              <a:t>   total = total * counter</a:t>
            </a:r>
          </a:p>
          <a:p>
            <a:r>
              <a:rPr lang="en-GB" dirty="0">
                <a:latin typeface="Consolas"/>
              </a:rPr>
              <a:t>next counter</a:t>
            </a:r>
          </a:p>
          <a:p>
            <a:r>
              <a:rPr lang="en-GB" dirty="0">
                <a:latin typeface="Consolas"/>
              </a:rPr>
              <a:t>output(total)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D3E78-15E3-4A62-90BD-1D990224EBB8}"/>
              </a:ext>
            </a:extLst>
          </p:cNvPr>
          <p:cNvSpPr txBox="1"/>
          <p:nvPr/>
        </p:nvSpPr>
        <p:spPr>
          <a:xfrm>
            <a:off x="9137979" y="4328247"/>
            <a:ext cx="2554605" cy="163121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Enter a number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5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0E9504-D232-49D3-81CA-B8072BDFB87E}"/>
              </a:ext>
            </a:extLst>
          </p:cNvPr>
          <p:cNvSpPr/>
          <p:nvPr/>
        </p:nvSpPr>
        <p:spPr>
          <a:xfrm>
            <a:off x="9028856" y="3965355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window: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DFA30B-C146-41E3-8D41-8E4174C237B2}"/>
              </a:ext>
            </a:extLst>
          </p:cNvPr>
          <p:cNvSpPr/>
          <p:nvPr/>
        </p:nvSpPr>
        <p:spPr>
          <a:xfrm>
            <a:off x="1200151" y="2478192"/>
            <a:ext cx="4600575" cy="28047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824B36-FF13-4294-AB7C-08FE79311AE6}"/>
              </a:ext>
            </a:extLst>
          </p:cNvPr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When the first line of code executes – 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number = print("Enter a number")</a:t>
            </a:r>
            <a:r>
              <a:rPr lang="en-GB" dirty="0"/>
              <a:t> – a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ssume the user enters the integer 5.</a:t>
            </a:r>
          </a:p>
        </p:txBody>
      </p:sp>
    </p:spTree>
    <p:extLst>
      <p:ext uri="{BB962C8B-B14F-4D97-AF65-F5344CB8AC3E}">
        <p14:creationId xmlns:p14="http://schemas.microsoft.com/office/powerpoint/2010/main" val="806109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C8DA936-20EC-4049-B309-B4C8E8D66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2" y="849345"/>
            <a:ext cx="5118772" cy="268247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D1E827E-63D6-4ED3-99E3-73B267DD9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268446"/>
              </p:ext>
            </p:extLst>
          </p:nvPr>
        </p:nvGraphicFramePr>
        <p:xfrm>
          <a:off x="9137980" y="832047"/>
          <a:ext cx="2554605" cy="30024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1535">
                  <a:extLst>
                    <a:ext uri="{9D8B030D-6E8A-4147-A177-3AD203B41FA5}">
                      <a16:colId xmlns:a16="http://schemas.microsoft.com/office/drawing/2014/main" val="1236554670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3767075624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727340639"/>
                    </a:ext>
                  </a:extLst>
                </a:gridCol>
              </a:tblGrid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number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counter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885458879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5FA4FB0-9445-49AE-AD78-15606EA00C98}"/>
              </a:ext>
            </a:extLst>
          </p:cNvPr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/>
              </a:rPr>
              <a:t>number = print("Enter a number")</a:t>
            </a:r>
          </a:p>
          <a:p>
            <a:r>
              <a:rPr lang="en-GB" dirty="0">
                <a:latin typeface="Consolas"/>
              </a:rPr>
              <a:t>total = 1</a:t>
            </a:r>
          </a:p>
          <a:p>
            <a:r>
              <a:rPr lang="en-GB" dirty="0">
                <a:latin typeface="Consolas"/>
              </a:rPr>
              <a:t>for counter = 1 to number</a:t>
            </a:r>
          </a:p>
          <a:p>
            <a:r>
              <a:rPr lang="en-GB" dirty="0">
                <a:latin typeface="Consolas"/>
              </a:rPr>
              <a:t>   total = total * counter</a:t>
            </a:r>
          </a:p>
          <a:p>
            <a:r>
              <a:rPr lang="en-GB" dirty="0">
                <a:latin typeface="Consolas"/>
              </a:rPr>
              <a:t>next counter</a:t>
            </a:r>
          </a:p>
          <a:p>
            <a:r>
              <a:rPr lang="en-GB" dirty="0">
                <a:latin typeface="Consolas"/>
              </a:rPr>
              <a:t>output(total)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D3E78-15E3-4A62-90BD-1D990224EBB8}"/>
              </a:ext>
            </a:extLst>
          </p:cNvPr>
          <p:cNvSpPr txBox="1"/>
          <p:nvPr/>
        </p:nvSpPr>
        <p:spPr>
          <a:xfrm>
            <a:off x="9137979" y="4328247"/>
            <a:ext cx="2554605" cy="163121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Enter a number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5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0E9504-D232-49D3-81CA-B8072BDFB87E}"/>
              </a:ext>
            </a:extLst>
          </p:cNvPr>
          <p:cNvSpPr/>
          <p:nvPr/>
        </p:nvSpPr>
        <p:spPr>
          <a:xfrm>
            <a:off x="9028856" y="3965355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window: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DFA30B-C146-41E3-8D41-8E4174C237B2}"/>
              </a:ext>
            </a:extLst>
          </p:cNvPr>
          <p:cNvSpPr/>
          <p:nvPr/>
        </p:nvSpPr>
        <p:spPr>
          <a:xfrm>
            <a:off x="1200151" y="1916217"/>
            <a:ext cx="4600575" cy="28047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5BB846-5392-4E97-9EA9-DDFDC1DEDEF4}"/>
              </a:ext>
            </a:extLst>
          </p:cNvPr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When the first line of code executes – 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number = print("Enter a number")</a:t>
            </a:r>
            <a:r>
              <a:rPr lang="en-GB" dirty="0"/>
              <a:t> – a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ssume the user enters the integer 5.</a:t>
            </a:r>
          </a:p>
        </p:txBody>
      </p:sp>
    </p:spTree>
    <p:extLst>
      <p:ext uri="{BB962C8B-B14F-4D97-AF65-F5344CB8AC3E}">
        <p14:creationId xmlns:p14="http://schemas.microsoft.com/office/powerpoint/2010/main" val="42049002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AF9DA40-A40D-44D4-AB7F-F1A0B6F43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2" y="849345"/>
            <a:ext cx="5118772" cy="268247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D1E827E-63D6-4ED3-99E3-73B267DD9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439946"/>
              </p:ext>
            </p:extLst>
          </p:nvPr>
        </p:nvGraphicFramePr>
        <p:xfrm>
          <a:off x="9137980" y="832047"/>
          <a:ext cx="2554605" cy="30024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1535">
                  <a:extLst>
                    <a:ext uri="{9D8B030D-6E8A-4147-A177-3AD203B41FA5}">
                      <a16:colId xmlns:a16="http://schemas.microsoft.com/office/drawing/2014/main" val="1236554670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3767075624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727340639"/>
                    </a:ext>
                  </a:extLst>
                </a:gridCol>
              </a:tblGrid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number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counter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marL="91406" marR="91406" marT="45727" marB="45727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C00000"/>
                          </a:solidFill>
                        </a:rPr>
                        <a:t>120</a:t>
                      </a:r>
                    </a:p>
                  </a:txBody>
                  <a:tcPr marL="91406" marR="91406" marT="45727" marB="45727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885458879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5FA4FB0-9445-49AE-AD78-15606EA00C98}"/>
              </a:ext>
            </a:extLst>
          </p:cNvPr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/>
              </a:rPr>
              <a:t>number = print("Enter a number")</a:t>
            </a:r>
          </a:p>
          <a:p>
            <a:r>
              <a:rPr lang="en-GB" dirty="0">
                <a:latin typeface="Consolas"/>
              </a:rPr>
              <a:t>total = 1</a:t>
            </a:r>
          </a:p>
          <a:p>
            <a:r>
              <a:rPr lang="en-GB" dirty="0">
                <a:latin typeface="Consolas"/>
              </a:rPr>
              <a:t>for counter = 1 to number</a:t>
            </a:r>
          </a:p>
          <a:p>
            <a:r>
              <a:rPr lang="en-GB" dirty="0">
                <a:latin typeface="Consolas"/>
              </a:rPr>
              <a:t>   total = total * counter</a:t>
            </a:r>
          </a:p>
          <a:p>
            <a:r>
              <a:rPr lang="en-GB" dirty="0">
                <a:latin typeface="Consolas"/>
              </a:rPr>
              <a:t>next counter</a:t>
            </a:r>
          </a:p>
          <a:p>
            <a:r>
              <a:rPr lang="en-GB" dirty="0">
                <a:latin typeface="Consolas"/>
              </a:rPr>
              <a:t>output(total)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D3E78-15E3-4A62-90BD-1D990224EBB8}"/>
              </a:ext>
            </a:extLst>
          </p:cNvPr>
          <p:cNvSpPr txBox="1"/>
          <p:nvPr/>
        </p:nvSpPr>
        <p:spPr>
          <a:xfrm>
            <a:off x="9137979" y="4328247"/>
            <a:ext cx="2554605" cy="163121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Enter a number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5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0E9504-D232-49D3-81CA-B8072BDFB87E}"/>
              </a:ext>
            </a:extLst>
          </p:cNvPr>
          <p:cNvSpPr/>
          <p:nvPr/>
        </p:nvSpPr>
        <p:spPr>
          <a:xfrm>
            <a:off x="9028856" y="3965355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window: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DFA30B-C146-41E3-8D41-8E4174C237B2}"/>
              </a:ext>
            </a:extLst>
          </p:cNvPr>
          <p:cNvSpPr/>
          <p:nvPr/>
        </p:nvSpPr>
        <p:spPr>
          <a:xfrm>
            <a:off x="1200151" y="2173392"/>
            <a:ext cx="4600575" cy="28047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9E130C-E2E9-4837-98AE-094B93D218C3}"/>
              </a:ext>
            </a:extLst>
          </p:cNvPr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When the first line of code executes – 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number = print("Enter a number")</a:t>
            </a:r>
            <a:r>
              <a:rPr lang="en-GB" dirty="0"/>
              <a:t> – a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ssume the user enters the integer 5.</a:t>
            </a:r>
          </a:p>
        </p:txBody>
      </p:sp>
    </p:spTree>
    <p:extLst>
      <p:ext uri="{BB962C8B-B14F-4D97-AF65-F5344CB8AC3E}">
        <p14:creationId xmlns:p14="http://schemas.microsoft.com/office/powerpoint/2010/main" val="34131765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5D31A46-17EE-423D-BEA3-6D70F53EC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2" y="849345"/>
            <a:ext cx="5118772" cy="268247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D1E827E-63D6-4ED3-99E3-73B267DD9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966732"/>
              </p:ext>
            </p:extLst>
          </p:nvPr>
        </p:nvGraphicFramePr>
        <p:xfrm>
          <a:off x="9137980" y="832047"/>
          <a:ext cx="2554605" cy="30024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1535">
                  <a:extLst>
                    <a:ext uri="{9D8B030D-6E8A-4147-A177-3AD203B41FA5}">
                      <a16:colId xmlns:a16="http://schemas.microsoft.com/office/drawing/2014/main" val="1236554670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3767075624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727340639"/>
                    </a:ext>
                  </a:extLst>
                </a:gridCol>
              </a:tblGrid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number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counter</a:t>
                      </a:r>
                    </a:p>
                  </a:txBody>
                  <a:tcPr marL="91406" marR="91406" marT="45727" marB="45727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 marL="91406" marR="91406" marT="45727" marB="45727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120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885458879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5FA4FB0-9445-49AE-AD78-15606EA00C98}"/>
              </a:ext>
            </a:extLst>
          </p:cNvPr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/>
              </a:rPr>
              <a:t>number = print("Enter a number")</a:t>
            </a:r>
          </a:p>
          <a:p>
            <a:r>
              <a:rPr lang="en-GB" dirty="0">
                <a:latin typeface="Consolas"/>
              </a:rPr>
              <a:t>total = 1</a:t>
            </a:r>
          </a:p>
          <a:p>
            <a:r>
              <a:rPr lang="en-GB" dirty="0">
                <a:latin typeface="Consolas"/>
              </a:rPr>
              <a:t>for counter = 1 to number</a:t>
            </a:r>
          </a:p>
          <a:p>
            <a:r>
              <a:rPr lang="en-GB" dirty="0">
                <a:latin typeface="Consolas"/>
              </a:rPr>
              <a:t>   total = total * counter</a:t>
            </a:r>
          </a:p>
          <a:p>
            <a:r>
              <a:rPr lang="en-GB" dirty="0">
                <a:latin typeface="Consolas"/>
              </a:rPr>
              <a:t>next counter</a:t>
            </a:r>
          </a:p>
          <a:p>
            <a:r>
              <a:rPr lang="en-GB" dirty="0">
                <a:latin typeface="Consolas"/>
              </a:rPr>
              <a:t>output(total)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D3E78-15E3-4A62-90BD-1D990224EBB8}"/>
              </a:ext>
            </a:extLst>
          </p:cNvPr>
          <p:cNvSpPr txBox="1"/>
          <p:nvPr/>
        </p:nvSpPr>
        <p:spPr>
          <a:xfrm>
            <a:off x="9137979" y="4328247"/>
            <a:ext cx="2554605" cy="163121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Enter a number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5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0E9504-D232-49D3-81CA-B8072BDFB87E}"/>
              </a:ext>
            </a:extLst>
          </p:cNvPr>
          <p:cNvSpPr/>
          <p:nvPr/>
        </p:nvSpPr>
        <p:spPr>
          <a:xfrm>
            <a:off x="9028856" y="3965355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window: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DFA30B-C146-41E3-8D41-8E4174C237B2}"/>
              </a:ext>
            </a:extLst>
          </p:cNvPr>
          <p:cNvSpPr/>
          <p:nvPr/>
        </p:nvSpPr>
        <p:spPr>
          <a:xfrm>
            <a:off x="1200151" y="2478192"/>
            <a:ext cx="4600575" cy="28047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531F19-4135-4DD6-AB4C-3E162F1E0D1F}"/>
              </a:ext>
            </a:extLst>
          </p:cNvPr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When the first line of code executes – 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number = print("Enter a number")</a:t>
            </a:r>
            <a:r>
              <a:rPr lang="en-GB" dirty="0"/>
              <a:t> – a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ssume the user enters the integer 5.</a:t>
            </a:r>
          </a:p>
        </p:txBody>
      </p:sp>
    </p:spTree>
    <p:extLst>
      <p:ext uri="{BB962C8B-B14F-4D97-AF65-F5344CB8AC3E}">
        <p14:creationId xmlns:p14="http://schemas.microsoft.com/office/powerpoint/2010/main" val="5219689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9B37490-C9D1-40B9-823E-86FFFE3D7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2" y="849345"/>
            <a:ext cx="5118772" cy="268247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D1E827E-63D6-4ED3-99E3-73B267DD9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01175"/>
              </p:ext>
            </p:extLst>
          </p:nvPr>
        </p:nvGraphicFramePr>
        <p:xfrm>
          <a:off x="9137980" y="832047"/>
          <a:ext cx="2554605" cy="30024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1535">
                  <a:extLst>
                    <a:ext uri="{9D8B030D-6E8A-4147-A177-3AD203B41FA5}">
                      <a16:colId xmlns:a16="http://schemas.microsoft.com/office/drawing/2014/main" val="1236554670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3767075624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727340639"/>
                    </a:ext>
                  </a:extLst>
                </a:gridCol>
              </a:tblGrid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number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counter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120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885458879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5FA4FB0-9445-49AE-AD78-15606EA00C98}"/>
              </a:ext>
            </a:extLst>
          </p:cNvPr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/>
              </a:rPr>
              <a:t>number = print("Enter a number")</a:t>
            </a:r>
          </a:p>
          <a:p>
            <a:r>
              <a:rPr lang="en-GB" dirty="0">
                <a:latin typeface="Consolas"/>
              </a:rPr>
              <a:t>total = 1</a:t>
            </a:r>
          </a:p>
          <a:p>
            <a:r>
              <a:rPr lang="en-GB" dirty="0">
                <a:latin typeface="Consolas"/>
              </a:rPr>
              <a:t>for counter = 1 to number</a:t>
            </a:r>
          </a:p>
          <a:p>
            <a:r>
              <a:rPr lang="en-GB" dirty="0">
                <a:latin typeface="Consolas"/>
              </a:rPr>
              <a:t>   total = total * counter</a:t>
            </a:r>
          </a:p>
          <a:p>
            <a:r>
              <a:rPr lang="en-GB" dirty="0">
                <a:latin typeface="Consolas"/>
              </a:rPr>
              <a:t>next counter</a:t>
            </a:r>
          </a:p>
          <a:p>
            <a:r>
              <a:rPr lang="en-GB" dirty="0">
                <a:latin typeface="Consolas"/>
              </a:rPr>
              <a:t>output(total)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D3E78-15E3-4A62-90BD-1D990224EBB8}"/>
              </a:ext>
            </a:extLst>
          </p:cNvPr>
          <p:cNvSpPr txBox="1"/>
          <p:nvPr/>
        </p:nvSpPr>
        <p:spPr>
          <a:xfrm>
            <a:off x="9137979" y="4328247"/>
            <a:ext cx="2554605" cy="163121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Enter a number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5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0E9504-D232-49D3-81CA-B8072BDFB87E}"/>
              </a:ext>
            </a:extLst>
          </p:cNvPr>
          <p:cNvSpPr/>
          <p:nvPr/>
        </p:nvSpPr>
        <p:spPr>
          <a:xfrm>
            <a:off x="9028856" y="3965355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window: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DFA30B-C146-41E3-8D41-8E4174C237B2}"/>
              </a:ext>
            </a:extLst>
          </p:cNvPr>
          <p:cNvSpPr/>
          <p:nvPr/>
        </p:nvSpPr>
        <p:spPr>
          <a:xfrm>
            <a:off x="1200151" y="1906692"/>
            <a:ext cx="4600575" cy="28047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91E314-15A3-4AAD-8F48-15DFAC374307}"/>
              </a:ext>
            </a:extLst>
          </p:cNvPr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When the first line of code executes – 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number = print("Enter a number")</a:t>
            </a:r>
            <a:r>
              <a:rPr lang="en-GB" dirty="0"/>
              <a:t> – a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ssume the user enters the integer 5.</a:t>
            </a:r>
          </a:p>
        </p:txBody>
      </p:sp>
    </p:spTree>
    <p:extLst>
      <p:ext uri="{BB962C8B-B14F-4D97-AF65-F5344CB8AC3E}">
        <p14:creationId xmlns:p14="http://schemas.microsoft.com/office/powerpoint/2010/main" val="2679340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1BDA02E-624E-4860-9559-064AFC822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2" y="849345"/>
            <a:ext cx="5118772" cy="268247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D1E827E-63D6-4ED3-99E3-73B267DD9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134364"/>
              </p:ext>
            </p:extLst>
          </p:nvPr>
        </p:nvGraphicFramePr>
        <p:xfrm>
          <a:off x="9137980" y="832047"/>
          <a:ext cx="2554605" cy="30024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1535">
                  <a:extLst>
                    <a:ext uri="{9D8B030D-6E8A-4147-A177-3AD203B41FA5}">
                      <a16:colId xmlns:a16="http://schemas.microsoft.com/office/drawing/2014/main" val="1236554670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3767075624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727340639"/>
                    </a:ext>
                  </a:extLst>
                </a:gridCol>
              </a:tblGrid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number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counter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120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885458879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5FA4FB0-9445-49AE-AD78-15606EA00C98}"/>
              </a:ext>
            </a:extLst>
          </p:cNvPr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/>
              </a:rPr>
              <a:t>number = print("Enter a number")</a:t>
            </a:r>
          </a:p>
          <a:p>
            <a:r>
              <a:rPr lang="en-GB" dirty="0">
                <a:latin typeface="Consolas"/>
              </a:rPr>
              <a:t>total = 1</a:t>
            </a:r>
          </a:p>
          <a:p>
            <a:r>
              <a:rPr lang="en-GB" dirty="0">
                <a:latin typeface="Consolas"/>
              </a:rPr>
              <a:t>for counter = 1 to number</a:t>
            </a:r>
          </a:p>
          <a:p>
            <a:r>
              <a:rPr lang="en-GB" dirty="0">
                <a:latin typeface="Consolas"/>
              </a:rPr>
              <a:t>   total = total * counter</a:t>
            </a:r>
          </a:p>
          <a:p>
            <a:r>
              <a:rPr lang="en-GB" dirty="0">
                <a:latin typeface="Consolas"/>
              </a:rPr>
              <a:t>next counter</a:t>
            </a:r>
          </a:p>
          <a:p>
            <a:r>
              <a:rPr lang="en-GB" dirty="0">
                <a:latin typeface="Consolas"/>
              </a:rPr>
              <a:t>output(total)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D3E78-15E3-4A62-90BD-1D990224EBB8}"/>
              </a:ext>
            </a:extLst>
          </p:cNvPr>
          <p:cNvSpPr txBox="1"/>
          <p:nvPr/>
        </p:nvSpPr>
        <p:spPr>
          <a:xfrm>
            <a:off x="9137979" y="4328247"/>
            <a:ext cx="2554605" cy="163121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Enter a number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5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120</a:t>
            </a: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0E9504-D232-49D3-81CA-B8072BDFB87E}"/>
              </a:ext>
            </a:extLst>
          </p:cNvPr>
          <p:cNvSpPr/>
          <p:nvPr/>
        </p:nvSpPr>
        <p:spPr>
          <a:xfrm>
            <a:off x="9028856" y="3965355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window: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DFA30B-C146-41E3-8D41-8E4174C237B2}"/>
              </a:ext>
            </a:extLst>
          </p:cNvPr>
          <p:cNvSpPr/>
          <p:nvPr/>
        </p:nvSpPr>
        <p:spPr>
          <a:xfrm>
            <a:off x="1200151" y="2735367"/>
            <a:ext cx="4600575" cy="28047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E41FA6-325E-4B8B-8116-F9E0B96CDA41}"/>
              </a:ext>
            </a:extLst>
          </p:cNvPr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When the first line of code executes – 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number = print("Enter a number")</a:t>
            </a:r>
            <a:r>
              <a:rPr lang="en-GB" dirty="0"/>
              <a:t> – a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ssume the user enters the integer 5.</a:t>
            </a:r>
          </a:p>
        </p:txBody>
      </p:sp>
    </p:spTree>
    <p:extLst>
      <p:ext uri="{BB962C8B-B14F-4D97-AF65-F5344CB8AC3E}">
        <p14:creationId xmlns:p14="http://schemas.microsoft.com/office/powerpoint/2010/main" val="26082907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CE7F81A-8499-43F5-9AB0-2B106837A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2" y="849345"/>
            <a:ext cx="5118772" cy="268247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D1E827E-63D6-4ED3-99E3-73B267DD9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32773"/>
              </p:ext>
            </p:extLst>
          </p:nvPr>
        </p:nvGraphicFramePr>
        <p:xfrm>
          <a:off x="9137980" y="832047"/>
          <a:ext cx="2554605" cy="30024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1535">
                  <a:extLst>
                    <a:ext uri="{9D8B030D-6E8A-4147-A177-3AD203B41FA5}">
                      <a16:colId xmlns:a16="http://schemas.microsoft.com/office/drawing/2014/main" val="1236554670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3767075624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727340639"/>
                    </a:ext>
                  </a:extLst>
                </a:gridCol>
              </a:tblGrid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number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counter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120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885458879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5FA4FB0-9445-49AE-AD78-15606EA00C98}"/>
              </a:ext>
            </a:extLst>
          </p:cNvPr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/>
              </a:rPr>
              <a:t>number = print("Enter a number")</a:t>
            </a:r>
          </a:p>
          <a:p>
            <a:r>
              <a:rPr lang="en-GB" dirty="0">
                <a:latin typeface="Consolas"/>
              </a:rPr>
              <a:t>total = 1</a:t>
            </a:r>
          </a:p>
          <a:p>
            <a:r>
              <a:rPr lang="en-GB" dirty="0">
                <a:latin typeface="Consolas"/>
              </a:rPr>
              <a:t>for counter = 1 to number</a:t>
            </a:r>
          </a:p>
          <a:p>
            <a:r>
              <a:rPr lang="en-GB" dirty="0">
                <a:latin typeface="Consolas"/>
              </a:rPr>
              <a:t>   total = total * counter</a:t>
            </a:r>
          </a:p>
          <a:p>
            <a:r>
              <a:rPr lang="en-GB" dirty="0">
                <a:latin typeface="Consolas"/>
              </a:rPr>
              <a:t>next counter</a:t>
            </a:r>
          </a:p>
          <a:p>
            <a:r>
              <a:rPr lang="en-GB" dirty="0">
                <a:latin typeface="Consolas"/>
              </a:rPr>
              <a:t>output(total)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D3E78-15E3-4A62-90BD-1D990224EBB8}"/>
              </a:ext>
            </a:extLst>
          </p:cNvPr>
          <p:cNvSpPr txBox="1"/>
          <p:nvPr/>
        </p:nvSpPr>
        <p:spPr>
          <a:xfrm>
            <a:off x="9137979" y="4328247"/>
            <a:ext cx="2554605" cy="163121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Enter a number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5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120</a:t>
            </a: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0E9504-D232-49D3-81CA-B8072BDFB87E}"/>
              </a:ext>
            </a:extLst>
          </p:cNvPr>
          <p:cNvSpPr/>
          <p:nvPr/>
        </p:nvSpPr>
        <p:spPr>
          <a:xfrm>
            <a:off x="9028856" y="3965355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window: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B3A86CB4-83E2-4E76-AC7A-F786C85E82B4}"/>
              </a:ext>
            </a:extLst>
          </p:cNvPr>
          <p:cNvSpPr/>
          <p:nvPr/>
        </p:nvSpPr>
        <p:spPr>
          <a:xfrm>
            <a:off x="4580611" y="3183663"/>
            <a:ext cx="3476625" cy="1872504"/>
          </a:xfrm>
          <a:prstGeom prst="wedgeRoundRectCallout">
            <a:avLst>
              <a:gd name="adj1" fmla="val -80833"/>
              <a:gd name="adj2" fmla="val -71791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b="1" dirty="0"/>
              <a:t>So, what is this program doing?</a:t>
            </a:r>
          </a:p>
          <a:p>
            <a:pPr algn="ctr"/>
            <a:endParaRPr lang="en-GB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B2A050-1772-46A7-9D74-6D4DDA5F9230}"/>
              </a:ext>
            </a:extLst>
          </p:cNvPr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When the first line of code executes – 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number = print("Enter a number")</a:t>
            </a:r>
            <a:r>
              <a:rPr lang="en-GB" dirty="0"/>
              <a:t> – a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ssume the user enters the integer 5.</a:t>
            </a:r>
          </a:p>
        </p:txBody>
      </p:sp>
    </p:spTree>
    <p:extLst>
      <p:ext uri="{BB962C8B-B14F-4D97-AF65-F5344CB8AC3E}">
        <p14:creationId xmlns:p14="http://schemas.microsoft.com/office/powerpoint/2010/main" val="11879477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40C31B4-2306-4625-BCD0-952EB1683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2" y="849345"/>
            <a:ext cx="5118772" cy="268247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D1E827E-63D6-4ED3-99E3-73B267DD9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012611"/>
              </p:ext>
            </p:extLst>
          </p:nvPr>
        </p:nvGraphicFramePr>
        <p:xfrm>
          <a:off x="9137980" y="832047"/>
          <a:ext cx="2554605" cy="30024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1535">
                  <a:extLst>
                    <a:ext uri="{9D8B030D-6E8A-4147-A177-3AD203B41FA5}">
                      <a16:colId xmlns:a16="http://schemas.microsoft.com/office/drawing/2014/main" val="1236554670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3767075624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727340639"/>
                    </a:ext>
                  </a:extLst>
                </a:gridCol>
              </a:tblGrid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number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counter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tx1"/>
                          </a:solidFill>
                        </a:rPr>
                        <a:t>120</a:t>
                      </a: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80"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06" marR="91406" marT="45727" marB="45727"/>
                </a:tc>
                <a:extLst>
                  <a:ext uri="{0D108BD9-81ED-4DB2-BD59-A6C34878D82A}">
                    <a16:rowId xmlns:a16="http://schemas.microsoft.com/office/drawing/2014/main" val="1885458879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5FA4FB0-9445-49AE-AD78-15606EA00C98}"/>
              </a:ext>
            </a:extLst>
          </p:cNvPr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/>
              </a:rPr>
              <a:t>number = print("Enter a number")</a:t>
            </a:r>
          </a:p>
          <a:p>
            <a:r>
              <a:rPr lang="en-GB" dirty="0">
                <a:latin typeface="Consolas"/>
              </a:rPr>
              <a:t>total = 1</a:t>
            </a:r>
          </a:p>
          <a:p>
            <a:r>
              <a:rPr lang="en-GB" dirty="0">
                <a:latin typeface="Consolas"/>
              </a:rPr>
              <a:t>for counter = 1 to number</a:t>
            </a:r>
          </a:p>
          <a:p>
            <a:r>
              <a:rPr lang="en-GB" dirty="0">
                <a:latin typeface="Consolas"/>
              </a:rPr>
              <a:t>   total = total * counter</a:t>
            </a:r>
          </a:p>
          <a:p>
            <a:r>
              <a:rPr lang="en-GB" dirty="0">
                <a:latin typeface="Consolas"/>
              </a:rPr>
              <a:t>next counter</a:t>
            </a:r>
          </a:p>
          <a:p>
            <a:r>
              <a:rPr lang="en-GB" dirty="0">
                <a:latin typeface="Consolas"/>
              </a:rPr>
              <a:t>output(total)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5D3E78-15E3-4A62-90BD-1D990224EBB8}"/>
              </a:ext>
            </a:extLst>
          </p:cNvPr>
          <p:cNvSpPr txBox="1"/>
          <p:nvPr/>
        </p:nvSpPr>
        <p:spPr>
          <a:xfrm>
            <a:off x="9137979" y="4328247"/>
            <a:ext cx="2554605" cy="163121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Enter a number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5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120</a:t>
            </a: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GB" sz="2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0E9504-D232-49D3-81CA-B8072BDFB87E}"/>
              </a:ext>
            </a:extLst>
          </p:cNvPr>
          <p:cNvSpPr/>
          <p:nvPr/>
        </p:nvSpPr>
        <p:spPr>
          <a:xfrm>
            <a:off x="9028856" y="3965355"/>
            <a:ext cx="1973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Output window:</a:t>
            </a:r>
            <a:endParaRPr lang="de-DE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peech Bubble: Rectangle with Corners Rounded 18">
            <a:extLst>
              <a:ext uri="{FF2B5EF4-FFF2-40B4-BE49-F238E27FC236}">
                <a16:creationId xmlns:a16="http://schemas.microsoft.com/office/drawing/2014/main" id="{27FD441B-549B-4570-A374-AD1B00C6EF39}"/>
              </a:ext>
            </a:extLst>
          </p:cNvPr>
          <p:cNvSpPr/>
          <p:nvPr/>
        </p:nvSpPr>
        <p:spPr>
          <a:xfrm>
            <a:off x="4580611" y="3183663"/>
            <a:ext cx="3476625" cy="1872504"/>
          </a:xfrm>
          <a:prstGeom prst="wedgeRoundRectCallout">
            <a:avLst>
              <a:gd name="adj1" fmla="val -80833"/>
              <a:gd name="adj2" fmla="val -71791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b="1" dirty="0"/>
              <a:t>What is this program doing?</a:t>
            </a:r>
          </a:p>
          <a:p>
            <a:pPr algn="ctr"/>
            <a:endParaRPr lang="en-GB" b="1" dirty="0"/>
          </a:p>
          <a:p>
            <a:pPr algn="ctr"/>
            <a:r>
              <a:rPr lang="en-GB" dirty="0"/>
              <a:t>It is outputting the factorial of the number entered.</a:t>
            </a:r>
          </a:p>
          <a:p>
            <a:pPr algn="ctr"/>
            <a:endParaRPr lang="en-GB" i="1" dirty="0"/>
          </a:p>
          <a:p>
            <a:pPr algn="ctr"/>
            <a:r>
              <a:rPr lang="en-GB" i="1" dirty="0"/>
              <a:t>Factorial 5 = 1*2*3*4*5 = 120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9698CC-6C82-4AAF-825B-CDEA4D145281}"/>
              </a:ext>
            </a:extLst>
          </p:cNvPr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When the first line of code executes – </a:t>
            </a:r>
            <a:r>
              <a:rPr lang="en-GB" dirty="0">
                <a:highlight>
                  <a:srgbClr val="C0C0C0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number = print("Enter a number")</a:t>
            </a:r>
            <a:r>
              <a:rPr lang="en-GB" dirty="0"/>
              <a:t> – a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ssume the user enters the integer 5.</a:t>
            </a:r>
          </a:p>
        </p:txBody>
      </p:sp>
    </p:spTree>
    <p:extLst>
      <p:ext uri="{BB962C8B-B14F-4D97-AF65-F5344CB8AC3E}">
        <p14:creationId xmlns:p14="http://schemas.microsoft.com/office/powerpoint/2010/main" val="854972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2073</Words>
  <Application>Microsoft Office PowerPoint</Application>
  <PresentationFormat>Widescreen</PresentationFormat>
  <Paragraphs>602</Paragraphs>
  <Slides>29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Century Gothic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154</cp:revision>
  <dcterms:created xsi:type="dcterms:W3CDTF">2019-10-14T15:21:06Z</dcterms:created>
  <dcterms:modified xsi:type="dcterms:W3CDTF">2022-08-28T09:50:28Z</dcterms:modified>
</cp:coreProperties>
</file>