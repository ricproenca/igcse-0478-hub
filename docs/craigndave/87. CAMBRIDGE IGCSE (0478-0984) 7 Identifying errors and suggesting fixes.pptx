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6" r:id="rId3"/>
    <p:sldId id="263" r:id="rId4"/>
    <p:sldId id="264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33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87"/>
  </p:normalViewPr>
  <p:slideViewPr>
    <p:cSldViewPr snapToGrid="0">
      <p:cViewPr varScale="1">
        <p:scale>
          <a:sx n="113" d="100"/>
          <a:sy n="113" d="100"/>
        </p:scale>
        <p:origin x="70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28/08/2022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Identifying errors and suggesting fixes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Identifying errors and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suggesting fixes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9C22E348-7C7F-4696-94E2-2E08E53EE7B8}"/>
              </a:ext>
            </a:extLst>
          </p:cNvPr>
          <p:cNvGrpSpPr/>
          <p:nvPr/>
        </p:nvGrpSpPr>
        <p:grpSpPr>
          <a:xfrm>
            <a:off x="595748" y="611347"/>
            <a:ext cx="10888687" cy="5862877"/>
            <a:chOff x="1323539" y="611347"/>
            <a:chExt cx="10888687" cy="586287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EAE90F-ACBD-44DB-B7C3-0F9A5435655C}"/>
                </a:ext>
              </a:extLst>
            </p:cNvPr>
            <p:cNvSpPr/>
            <p:nvPr/>
          </p:nvSpPr>
          <p:spPr>
            <a:xfrm>
              <a:off x="1887892" y="2303888"/>
              <a:ext cx="170439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b="1" dirty="0"/>
                <a:t>Syntax errors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C70A2CF-2E35-4EB5-983E-EC05054DC1C3}"/>
                </a:ext>
              </a:extLst>
            </p:cNvPr>
            <p:cNvGrpSpPr/>
            <p:nvPr/>
          </p:nvGrpSpPr>
          <p:grpSpPr>
            <a:xfrm>
              <a:off x="1323539" y="611347"/>
              <a:ext cx="10888687" cy="5862877"/>
              <a:chOff x="1323539" y="611347"/>
              <a:chExt cx="10888687" cy="586287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57B1D17D-CD98-44AA-888D-969943963F37}"/>
                  </a:ext>
                </a:extLst>
              </p:cNvPr>
              <p:cNvGrpSpPr/>
              <p:nvPr/>
            </p:nvGrpSpPr>
            <p:grpSpPr>
              <a:xfrm>
                <a:off x="1323539" y="611347"/>
                <a:ext cx="10888687" cy="5862877"/>
                <a:chOff x="1323539" y="611347"/>
                <a:chExt cx="10888687" cy="5862877"/>
              </a:xfrm>
            </p:grpSpPr>
            <p:sp>
              <p:nvSpPr>
                <p:cNvPr id="16" name="Arc 15">
                  <a:extLst>
                    <a:ext uri="{FF2B5EF4-FFF2-40B4-BE49-F238E27FC236}">
                      <a16:creationId xmlns:a16="http://schemas.microsoft.com/office/drawing/2014/main" id="{69CD3751-270A-4FD3-A871-ED96C819B952}"/>
                    </a:ext>
                  </a:extLst>
                </p:cNvPr>
                <p:cNvSpPr/>
                <p:nvPr/>
              </p:nvSpPr>
              <p:spPr>
                <a:xfrm rot="5400000" flipH="1">
                  <a:off x="6619390" y="1488216"/>
                  <a:ext cx="1726108" cy="2646034"/>
                </a:xfrm>
                <a:prstGeom prst="arc">
                  <a:avLst>
                    <a:gd name="adj1" fmla="val 16200000"/>
                    <a:gd name="adj2" fmla="val 230129"/>
                  </a:avLst>
                </a:prstGeom>
                <a:ln w="762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" name="Arc 10">
                  <a:extLst>
                    <a:ext uri="{FF2B5EF4-FFF2-40B4-BE49-F238E27FC236}">
                      <a16:creationId xmlns:a16="http://schemas.microsoft.com/office/drawing/2014/main" id="{0D47E831-9AB8-41F4-BB4B-F0E03C97AB07}"/>
                    </a:ext>
                  </a:extLst>
                </p:cNvPr>
                <p:cNvSpPr/>
                <p:nvPr/>
              </p:nvSpPr>
              <p:spPr>
                <a:xfrm rot="16200000">
                  <a:off x="3822114" y="1511252"/>
                  <a:ext cx="1726108" cy="2646034"/>
                </a:xfrm>
                <a:prstGeom prst="arc">
                  <a:avLst>
                    <a:gd name="adj1" fmla="val 16200000"/>
                    <a:gd name="adj2" fmla="val 230129"/>
                  </a:avLst>
                </a:prstGeom>
                <a:ln w="762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AFADD19E-952B-4D8F-A635-CCBBA33F3275}"/>
                    </a:ext>
                  </a:extLst>
                </p:cNvPr>
                <p:cNvSpPr/>
                <p:nvPr/>
              </p:nvSpPr>
              <p:spPr>
                <a:xfrm>
                  <a:off x="1323539" y="5273895"/>
                  <a:ext cx="3614040" cy="120032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dirty="0"/>
                    <a:t>Syntax errors are errors that break the grammatical rules of the programming language and prevent it from being run or translated.</a:t>
                  </a:r>
                </a:p>
              </p:txBody>
            </p:sp>
            <p:pic>
              <p:nvPicPr>
                <p:cNvPr id="4" name="Picture 3" descr="A picture containing clock&#10;&#10;Description automatically generated">
                  <a:extLst>
                    <a:ext uri="{FF2B5EF4-FFF2-40B4-BE49-F238E27FC236}">
                      <a16:creationId xmlns:a16="http://schemas.microsoft.com/office/drawing/2014/main" id="{A02DC9EE-AE04-43E9-B4C7-FCFCD80E85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6131" y="611347"/>
                  <a:ext cx="2719737" cy="2719737"/>
                </a:xfrm>
                <a:prstGeom prst="rect">
                  <a:avLst/>
                </a:prstGeom>
              </p:spPr>
            </p:pic>
            <p:pic>
              <p:nvPicPr>
                <p:cNvPr id="7" name="Picture 6" descr="A close up of a sign&#10;&#10;Description automatically generated">
                  <a:extLst>
                    <a:ext uri="{FF2B5EF4-FFF2-40B4-BE49-F238E27FC236}">
                      <a16:creationId xmlns:a16="http://schemas.microsoft.com/office/drawing/2014/main" id="{E6DCF4CC-CB63-4AD1-9551-0C7E5926FD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557795" y="2575304"/>
                  <a:ext cx="3502221" cy="2498834"/>
                </a:xfrm>
                <a:prstGeom prst="rect">
                  <a:avLst/>
                </a:prstGeom>
              </p:spPr>
            </p:pic>
            <p:pic>
              <p:nvPicPr>
                <p:cNvPr id="10" name="Picture 9" descr="A close up of a sign&#10;&#10;Description automatically generated">
                  <a:extLst>
                    <a:ext uri="{FF2B5EF4-FFF2-40B4-BE49-F238E27FC236}">
                      <a16:creationId xmlns:a16="http://schemas.microsoft.com/office/drawing/2014/main" id="{A3D371F2-4491-4961-9686-AE726266E7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11290" y="2673220"/>
                  <a:ext cx="2238539" cy="2498834"/>
                </a:xfrm>
                <a:prstGeom prst="rect">
                  <a:avLst/>
                </a:prstGeom>
              </p:spPr>
            </p:pic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C59E3B2F-EDBC-4F70-BB8C-5759DB3F98B0}"/>
                    </a:ext>
                  </a:extLst>
                </p:cNvPr>
                <p:cNvSpPr/>
                <p:nvPr/>
              </p:nvSpPr>
              <p:spPr>
                <a:xfrm>
                  <a:off x="8710005" y="5273895"/>
                  <a:ext cx="3502221" cy="9233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dirty="0"/>
                    <a:t>Logic errors are errors that produce unexpected output but won’t stop the program running.</a:t>
                  </a:r>
                </a:p>
              </p:txBody>
            </p:sp>
          </p:grp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0C7CD4D-A514-4CD3-81CC-460F78A466CC}"/>
                  </a:ext>
                </a:extLst>
              </p:cNvPr>
              <p:cNvSpPr/>
              <p:nvPr/>
            </p:nvSpPr>
            <p:spPr>
              <a:xfrm>
                <a:off x="9812692" y="3027010"/>
                <a:ext cx="170439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b="1" dirty="0"/>
                  <a:t>Logic errors</a:t>
                </a:r>
              </a:p>
            </p:txBody>
          </p:sp>
        </p:grpSp>
      </p:grpSp>
      <p:pic>
        <p:nvPicPr>
          <p:cNvPr id="3" name="Picture 2" descr="make_notes">
            <a:extLst>
              <a:ext uri="{FF2B5EF4-FFF2-40B4-BE49-F238E27FC236}">
                <a16:creationId xmlns:a16="http://schemas.microsoft.com/office/drawing/2014/main" id="{C8FB0263-EBAE-CD49-64E7-F367E1F78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664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0195B60-F90A-3ADB-1B4E-F836E4CA7713}"/>
              </a:ext>
            </a:extLst>
          </p:cNvPr>
          <p:cNvSpPr/>
          <p:nvPr/>
        </p:nvSpPr>
        <p:spPr>
          <a:xfrm>
            <a:off x="270589" y="523174"/>
            <a:ext cx="639146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errors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252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270589" y="523174"/>
            <a:ext cx="639146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errors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9CC1C-F2D4-4A2C-B4E1-E1A7B726753E}"/>
              </a:ext>
            </a:extLst>
          </p:cNvPr>
          <p:cNvSpPr/>
          <p:nvPr/>
        </p:nvSpPr>
        <p:spPr>
          <a:xfrm>
            <a:off x="270589" y="993174"/>
            <a:ext cx="7784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See if you can spot the errors in this program and suggest how they can be fixed.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0BFBA84-12A2-483A-A892-CCA2704E1440}"/>
              </a:ext>
            </a:extLst>
          </p:cNvPr>
          <p:cNvSpPr txBox="1">
            <a:spLocks/>
          </p:cNvSpPr>
          <p:nvPr/>
        </p:nvSpPr>
        <p:spPr>
          <a:xfrm>
            <a:off x="1539111" y="1747216"/>
            <a:ext cx="8964488" cy="4587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//program to work out if you are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CONSTANT VotingAge </a:t>
            </a:r>
            <a:r>
              <a:rPr lang="en-GB" sz="2000" dirty="0">
                <a:latin typeface="Wingdings" panose="05000000000000000000" pitchFamily="2" charset="2"/>
              </a:rPr>
              <a:t>ß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 "How hold are you?"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INPUT YourAge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IF (YourAge &lt;= VotingAge)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not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</a:p>
        </p:txBody>
      </p:sp>
    </p:spTree>
    <p:extLst>
      <p:ext uri="{BB962C8B-B14F-4D97-AF65-F5344CB8AC3E}">
        <p14:creationId xmlns:p14="http://schemas.microsoft.com/office/powerpoint/2010/main" val="254884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92F14-FBE1-F239-0E46-05EE31730BC5}"/>
              </a:ext>
            </a:extLst>
          </p:cNvPr>
          <p:cNvSpPr txBox="1">
            <a:spLocks/>
          </p:cNvSpPr>
          <p:nvPr/>
        </p:nvSpPr>
        <p:spPr>
          <a:xfrm>
            <a:off x="1539111" y="1747216"/>
            <a:ext cx="8964488" cy="4587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//program to work out if you are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CONSTANT VotingAge </a:t>
            </a:r>
            <a:r>
              <a:rPr lang="en-GB" sz="2000" dirty="0">
                <a:latin typeface="Wingdings" panose="05000000000000000000" pitchFamily="2" charset="2"/>
              </a:rPr>
              <a:t>ß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 "How hold are you?"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INPUT YourAge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IF (YourAge &lt;= VotingAge)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not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270589" y="523174"/>
            <a:ext cx="639146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Syntax errors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9CC1C-F2D4-4A2C-B4E1-E1A7B726753E}"/>
              </a:ext>
            </a:extLst>
          </p:cNvPr>
          <p:cNvSpPr/>
          <p:nvPr/>
        </p:nvSpPr>
        <p:spPr>
          <a:xfrm>
            <a:off x="270588" y="993174"/>
            <a:ext cx="115404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Here we have missed out an essential key word – this is a </a:t>
            </a:r>
            <a:r>
              <a:rPr lang="en-GB" b="1" dirty="0"/>
              <a:t>syntax </a:t>
            </a:r>
            <a:r>
              <a:rPr lang="en-GB" dirty="0"/>
              <a:t>error, which will prevent the program from running.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4D8F0D25-FED4-41A6-AC75-FD02501472F5}"/>
              </a:ext>
            </a:extLst>
          </p:cNvPr>
          <p:cNvSpPr/>
          <p:nvPr/>
        </p:nvSpPr>
        <p:spPr>
          <a:xfrm>
            <a:off x="1818068" y="4277501"/>
            <a:ext cx="982282" cy="43204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D0AABB-EB30-4888-B73D-E1269393E3FE}"/>
              </a:ext>
            </a:extLst>
          </p:cNvPr>
          <p:cNvSpPr/>
          <p:nvPr/>
        </p:nvSpPr>
        <p:spPr>
          <a:xfrm>
            <a:off x="2809875" y="4267976"/>
            <a:ext cx="76937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We have missed the key word THEN, which goes with the IF statement</a:t>
            </a:r>
          </a:p>
        </p:txBody>
      </p:sp>
    </p:spTree>
    <p:extLst>
      <p:ext uri="{BB962C8B-B14F-4D97-AF65-F5344CB8AC3E}">
        <p14:creationId xmlns:p14="http://schemas.microsoft.com/office/powerpoint/2010/main" val="289863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92F14-FBE1-F239-0E46-05EE31730BC5}"/>
              </a:ext>
            </a:extLst>
          </p:cNvPr>
          <p:cNvSpPr txBox="1">
            <a:spLocks/>
          </p:cNvSpPr>
          <p:nvPr/>
        </p:nvSpPr>
        <p:spPr>
          <a:xfrm>
            <a:off x="1539111" y="1747216"/>
            <a:ext cx="8964488" cy="4587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//program to work out if you are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CONSTANT VotingAge </a:t>
            </a:r>
            <a:r>
              <a:rPr lang="en-GB" sz="2000" dirty="0">
                <a:latin typeface="Wingdings" panose="05000000000000000000" pitchFamily="2" charset="2"/>
              </a:rPr>
              <a:t>ß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 "How hold are you?"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INPUT YourAge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IF (YourAge &lt;= VotingAge)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not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270589" y="523174"/>
            <a:ext cx="639146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Syntax errors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9CC1C-F2D4-4A2C-B4E1-E1A7B726753E}"/>
              </a:ext>
            </a:extLst>
          </p:cNvPr>
          <p:cNvSpPr/>
          <p:nvPr/>
        </p:nvSpPr>
        <p:spPr>
          <a:xfrm>
            <a:off x="270588" y="993174"/>
            <a:ext cx="113118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Here we have missed out an essential key word – this is a </a:t>
            </a:r>
            <a:r>
              <a:rPr lang="en-GB" b="1" dirty="0"/>
              <a:t>syntax </a:t>
            </a:r>
            <a:r>
              <a:rPr lang="en-GB" dirty="0"/>
              <a:t>error, which will prevent the program from running.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8C4BFE-B834-40F8-0A2F-E390A857CA95}"/>
              </a:ext>
            </a:extLst>
          </p:cNvPr>
          <p:cNvSpPr/>
          <p:nvPr/>
        </p:nvSpPr>
        <p:spPr>
          <a:xfrm>
            <a:off x="1809750" y="4286250"/>
            <a:ext cx="809625" cy="352425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880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92F14-FBE1-F239-0E46-05EE31730BC5}"/>
              </a:ext>
            </a:extLst>
          </p:cNvPr>
          <p:cNvSpPr txBox="1">
            <a:spLocks/>
          </p:cNvSpPr>
          <p:nvPr/>
        </p:nvSpPr>
        <p:spPr>
          <a:xfrm>
            <a:off x="1539111" y="1747216"/>
            <a:ext cx="8964488" cy="4587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//program to work out if you are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CONSTANT VotingAge </a:t>
            </a:r>
            <a:r>
              <a:rPr lang="en-GB" sz="2000" dirty="0">
                <a:latin typeface="Wingdings" panose="05000000000000000000" pitchFamily="2" charset="2"/>
              </a:rPr>
              <a:t>ß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 "How hold are you?"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INPUT YourAge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IF (YourAge &lt;= VotingAge)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THEN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not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270589" y="523174"/>
            <a:ext cx="639146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Syntax errors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9CC1C-F2D4-4A2C-B4E1-E1A7B726753E}"/>
              </a:ext>
            </a:extLst>
          </p:cNvPr>
          <p:cNvSpPr/>
          <p:nvPr/>
        </p:nvSpPr>
        <p:spPr>
          <a:xfrm>
            <a:off x="270589" y="993174"/>
            <a:ext cx="78392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There is still one </a:t>
            </a:r>
            <a:r>
              <a:rPr lang="en-GB" b="1" dirty="0"/>
              <a:t>syntax</a:t>
            </a:r>
            <a:r>
              <a:rPr lang="en-GB" dirty="0"/>
              <a:t> error remaining – can you spot it?</a:t>
            </a:r>
          </a:p>
        </p:txBody>
      </p:sp>
    </p:spTree>
    <p:extLst>
      <p:ext uri="{BB962C8B-B14F-4D97-AF65-F5344CB8AC3E}">
        <p14:creationId xmlns:p14="http://schemas.microsoft.com/office/powerpoint/2010/main" val="3346531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92F14-FBE1-F239-0E46-05EE31730BC5}"/>
              </a:ext>
            </a:extLst>
          </p:cNvPr>
          <p:cNvSpPr txBox="1">
            <a:spLocks/>
          </p:cNvSpPr>
          <p:nvPr/>
        </p:nvSpPr>
        <p:spPr>
          <a:xfrm>
            <a:off x="1539111" y="1747216"/>
            <a:ext cx="8964488" cy="4587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//program to work out if you are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CONSTANT VotingAge </a:t>
            </a:r>
            <a:r>
              <a:rPr lang="en-GB" sz="2000" dirty="0">
                <a:latin typeface="Wingdings" panose="05000000000000000000" pitchFamily="2" charset="2"/>
              </a:rPr>
              <a:t>ß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 "How hold are you?"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INPUT YourAge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IF (YourAge &lt;= VotingAge)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THEN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not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270589" y="523174"/>
            <a:ext cx="639146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Syntax errors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9CC1C-F2D4-4A2C-B4E1-E1A7B726753E}"/>
              </a:ext>
            </a:extLst>
          </p:cNvPr>
          <p:cNvSpPr/>
          <p:nvPr/>
        </p:nvSpPr>
        <p:spPr>
          <a:xfrm>
            <a:off x="270588" y="993174"/>
            <a:ext cx="10968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We are missing the double quotes on the end of the output line – this is a </a:t>
            </a:r>
            <a:r>
              <a:rPr lang="en-GB" b="1" dirty="0"/>
              <a:t>syntax </a:t>
            </a:r>
            <a:r>
              <a:rPr lang="en-GB" dirty="0"/>
              <a:t>error, which will prevent the program from running.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AA30D89-E43F-90E0-1151-59F341B4420F}"/>
              </a:ext>
            </a:extLst>
          </p:cNvPr>
          <p:cNvSpPr/>
          <p:nvPr/>
        </p:nvSpPr>
        <p:spPr>
          <a:xfrm>
            <a:off x="7514018" y="5471690"/>
            <a:ext cx="443208" cy="43204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C2D66-B22C-05CC-F55C-EDDB740FF219}"/>
              </a:ext>
            </a:extLst>
          </p:cNvPr>
          <p:cNvSpPr/>
          <p:nvPr/>
        </p:nvSpPr>
        <p:spPr>
          <a:xfrm>
            <a:off x="7957226" y="5471690"/>
            <a:ext cx="28171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Missing double quotes</a:t>
            </a:r>
          </a:p>
        </p:txBody>
      </p:sp>
    </p:spTree>
    <p:extLst>
      <p:ext uri="{BB962C8B-B14F-4D97-AF65-F5344CB8AC3E}">
        <p14:creationId xmlns:p14="http://schemas.microsoft.com/office/powerpoint/2010/main" val="2502071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92F14-FBE1-F239-0E46-05EE31730BC5}"/>
              </a:ext>
            </a:extLst>
          </p:cNvPr>
          <p:cNvSpPr txBox="1">
            <a:spLocks/>
          </p:cNvSpPr>
          <p:nvPr/>
        </p:nvSpPr>
        <p:spPr>
          <a:xfrm>
            <a:off x="1539111" y="1747216"/>
            <a:ext cx="8964488" cy="4587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//program to work out if you are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CONSTANT VotingAge </a:t>
            </a:r>
            <a:r>
              <a:rPr lang="en-GB" sz="2000" dirty="0">
                <a:latin typeface="Wingdings" panose="05000000000000000000" pitchFamily="2" charset="2"/>
              </a:rPr>
              <a:t>ß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 "How hold are you?"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INPUT YourAge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IF (YourAge &lt;= VotingAge)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THEN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not old enough to vote</a:t>
            </a:r>
            <a:r>
              <a:rPr lang="en-GB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270589" y="523174"/>
            <a:ext cx="639146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Syntax errors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9CC1C-F2D4-4A2C-B4E1-E1A7B726753E}"/>
              </a:ext>
            </a:extLst>
          </p:cNvPr>
          <p:cNvSpPr/>
          <p:nvPr/>
        </p:nvSpPr>
        <p:spPr>
          <a:xfrm>
            <a:off x="270589" y="993174"/>
            <a:ext cx="109974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We are missing the double quotes on the end of the output line – this is a </a:t>
            </a:r>
            <a:r>
              <a:rPr lang="en-GB" b="1" dirty="0"/>
              <a:t>syntax </a:t>
            </a:r>
            <a:r>
              <a:rPr lang="en-GB" dirty="0"/>
              <a:t>error, which will prevent the program from running.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71B21B-E6A1-A7F6-A2B9-271BEFBB6B46}"/>
              </a:ext>
            </a:extLst>
          </p:cNvPr>
          <p:cNvSpPr/>
          <p:nvPr/>
        </p:nvSpPr>
        <p:spPr>
          <a:xfrm>
            <a:off x="7467600" y="5502876"/>
            <a:ext cx="219075" cy="352425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94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92F14-FBE1-F239-0E46-05EE31730BC5}"/>
              </a:ext>
            </a:extLst>
          </p:cNvPr>
          <p:cNvSpPr txBox="1">
            <a:spLocks/>
          </p:cNvSpPr>
          <p:nvPr/>
        </p:nvSpPr>
        <p:spPr>
          <a:xfrm>
            <a:off x="1539111" y="1747216"/>
            <a:ext cx="8964488" cy="4587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//program to work out if you are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CONSTANT VotingAge </a:t>
            </a:r>
            <a:r>
              <a:rPr lang="en-GB" sz="2000" dirty="0">
                <a:latin typeface="Wingdings" panose="05000000000000000000" pitchFamily="2" charset="2"/>
              </a:rPr>
              <a:t>ß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 "How hold are you?"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INPUT YourAge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IF (YourAge &lt;= VotingAge)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THEN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not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270589" y="523174"/>
            <a:ext cx="639146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Syntax errors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9CC1C-F2D4-4A2C-B4E1-E1A7B726753E}"/>
              </a:ext>
            </a:extLst>
          </p:cNvPr>
          <p:cNvSpPr/>
          <p:nvPr/>
        </p:nvSpPr>
        <p:spPr>
          <a:xfrm>
            <a:off x="270588" y="993174"/>
            <a:ext cx="111594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All the </a:t>
            </a:r>
            <a:r>
              <a:rPr lang="en-GB" b="1" dirty="0"/>
              <a:t>syntax</a:t>
            </a:r>
            <a:r>
              <a:rPr lang="en-GB" dirty="0"/>
              <a:t> errors have now be fixed, so the program will run. However, it won’t behave as expected because a </a:t>
            </a:r>
            <a:r>
              <a:rPr lang="en-GB" b="1" dirty="0"/>
              <a:t>logical</a:t>
            </a:r>
            <a:r>
              <a:rPr lang="en-GB" dirty="0"/>
              <a:t> error remains – can you spot it?</a:t>
            </a:r>
          </a:p>
        </p:txBody>
      </p:sp>
    </p:spTree>
    <p:extLst>
      <p:ext uri="{BB962C8B-B14F-4D97-AF65-F5344CB8AC3E}">
        <p14:creationId xmlns:p14="http://schemas.microsoft.com/office/powerpoint/2010/main" val="162990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92F14-FBE1-F239-0E46-05EE31730BC5}"/>
              </a:ext>
            </a:extLst>
          </p:cNvPr>
          <p:cNvSpPr txBox="1">
            <a:spLocks/>
          </p:cNvSpPr>
          <p:nvPr/>
        </p:nvSpPr>
        <p:spPr>
          <a:xfrm>
            <a:off x="1539111" y="1747216"/>
            <a:ext cx="8964488" cy="4587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//program to work out if you are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CONSTANT VotingAge </a:t>
            </a:r>
            <a:r>
              <a:rPr lang="en-GB" sz="2000" dirty="0">
                <a:latin typeface="Wingdings" panose="05000000000000000000" pitchFamily="2" charset="2"/>
              </a:rPr>
              <a:t>ß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 "How hold are you?"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INPUT YourAge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IF (YourAge &lt;= VotingAge)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THEN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not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270589" y="523174"/>
            <a:ext cx="639146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errors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9CC1C-F2D4-4A2C-B4E1-E1A7B726753E}"/>
              </a:ext>
            </a:extLst>
          </p:cNvPr>
          <p:cNvSpPr/>
          <p:nvPr/>
        </p:nvSpPr>
        <p:spPr>
          <a:xfrm>
            <a:off x="270588" y="993174"/>
            <a:ext cx="115273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We used the wrong comparison operator – this is a </a:t>
            </a:r>
            <a:r>
              <a:rPr lang="en-GB" b="1" dirty="0"/>
              <a:t>logical </a:t>
            </a:r>
            <a:r>
              <a:rPr lang="en-GB" dirty="0"/>
              <a:t>error. The program would run, but it would not behave as expected, allowing only people </a:t>
            </a:r>
            <a:r>
              <a:rPr lang="en-GB" i="1" dirty="0"/>
              <a:t>under</a:t>
            </a:r>
            <a:r>
              <a:rPr lang="en-GB" dirty="0"/>
              <a:t> the age of 18 to vote.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FF762B-AB1D-9B23-30AB-A585D5AACEEE}"/>
              </a:ext>
            </a:extLst>
          </p:cNvPr>
          <p:cNvSpPr/>
          <p:nvPr/>
        </p:nvSpPr>
        <p:spPr>
          <a:xfrm>
            <a:off x="3171242" y="3852565"/>
            <a:ext cx="587827" cy="43204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B8E5E2-2C8F-B5D3-E672-FCC5B22A3C66}"/>
              </a:ext>
            </a:extLst>
          </p:cNvPr>
          <p:cNvSpPr/>
          <p:nvPr/>
        </p:nvSpPr>
        <p:spPr>
          <a:xfrm>
            <a:off x="3759069" y="3457575"/>
            <a:ext cx="80388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i="1" dirty="0">
                <a:solidFill>
                  <a:srgbClr val="C00000"/>
                </a:solidFill>
              </a:rPr>
              <a:t>&lt;= voting_age</a:t>
            </a:r>
            <a:r>
              <a:rPr lang="en-GB" sz="2000" b="1" dirty="0">
                <a:solidFill>
                  <a:srgbClr val="C00000"/>
                </a:solidFill>
              </a:rPr>
              <a:t> will only permit users aged 18 or </a:t>
            </a:r>
            <a:r>
              <a:rPr lang="en-GB" sz="2000" b="1" i="1" dirty="0">
                <a:solidFill>
                  <a:srgbClr val="C00000"/>
                </a:solidFill>
              </a:rPr>
              <a:t>under </a:t>
            </a:r>
            <a:r>
              <a:rPr lang="en-GB" sz="2000" b="1" dirty="0">
                <a:solidFill>
                  <a:srgbClr val="C00000"/>
                </a:solidFill>
              </a:rPr>
              <a:t>to vote</a:t>
            </a:r>
          </a:p>
        </p:txBody>
      </p:sp>
    </p:spTree>
    <p:extLst>
      <p:ext uri="{BB962C8B-B14F-4D97-AF65-F5344CB8AC3E}">
        <p14:creationId xmlns:p14="http://schemas.microsoft.com/office/powerpoint/2010/main" val="3113708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92F14-FBE1-F239-0E46-05EE31730BC5}"/>
              </a:ext>
            </a:extLst>
          </p:cNvPr>
          <p:cNvSpPr txBox="1">
            <a:spLocks/>
          </p:cNvSpPr>
          <p:nvPr/>
        </p:nvSpPr>
        <p:spPr>
          <a:xfrm>
            <a:off x="1539111" y="1747216"/>
            <a:ext cx="8964488" cy="4587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//program to work out if you are old enough to vote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CONSTANT VotingAge </a:t>
            </a:r>
            <a:r>
              <a:rPr lang="en-GB" sz="2000" dirty="0">
                <a:latin typeface="Wingdings" panose="05000000000000000000" pitchFamily="2" charset="2"/>
              </a:rPr>
              <a:t>ß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 "How hold are you?"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INPUT YourAge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IF (YourAge </a:t>
            </a:r>
            <a:r>
              <a:rPr lang="en-GB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&gt;=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VotingAge) 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THEN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OUTPUT "You are not old enough to vote"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270589" y="523174"/>
            <a:ext cx="639146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errors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9CC1C-F2D4-4A2C-B4E1-E1A7B726753E}"/>
              </a:ext>
            </a:extLst>
          </p:cNvPr>
          <p:cNvSpPr/>
          <p:nvPr/>
        </p:nvSpPr>
        <p:spPr>
          <a:xfrm>
            <a:off x="270588" y="993174"/>
            <a:ext cx="112165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We used the wrong comparison operator – this is a </a:t>
            </a:r>
            <a:r>
              <a:rPr lang="en-GB" b="1" dirty="0"/>
              <a:t>logical </a:t>
            </a:r>
            <a:r>
              <a:rPr lang="en-GB" dirty="0"/>
              <a:t>error. The program would run, but it would not behave as expected, allowing only people </a:t>
            </a:r>
            <a:r>
              <a:rPr lang="en-GB" i="1" dirty="0"/>
              <a:t>under</a:t>
            </a:r>
            <a:r>
              <a:rPr lang="en-GB" dirty="0"/>
              <a:t> the age of 18 to vote.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9AC2F7-48DC-1EB1-6E02-9DA48E1E4540}"/>
              </a:ext>
            </a:extLst>
          </p:cNvPr>
          <p:cNvSpPr/>
          <p:nvPr/>
        </p:nvSpPr>
        <p:spPr>
          <a:xfrm>
            <a:off x="3219450" y="3893383"/>
            <a:ext cx="485775" cy="352425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904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853</Words>
  <Application>Microsoft Office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149</cp:revision>
  <dcterms:created xsi:type="dcterms:W3CDTF">2019-10-14T15:21:06Z</dcterms:created>
  <dcterms:modified xsi:type="dcterms:W3CDTF">2022-08-28T09:50:40Z</dcterms:modified>
</cp:coreProperties>
</file>