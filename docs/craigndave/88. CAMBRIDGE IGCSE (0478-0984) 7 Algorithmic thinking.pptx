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57" r:id="rId2"/>
    <p:sldId id="264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301" r:id="rId28"/>
    <p:sldId id="302" r:id="rId29"/>
    <p:sldId id="290" r:id="rId30"/>
    <p:sldId id="291" r:id="rId31"/>
    <p:sldId id="292" r:id="rId32"/>
    <p:sldId id="293" r:id="rId33"/>
    <p:sldId id="294" r:id="rId34"/>
    <p:sldId id="295" r:id="rId35"/>
    <p:sldId id="297" r:id="rId36"/>
    <p:sldId id="298" r:id="rId37"/>
    <p:sldId id="299" r:id="rId38"/>
    <p:sldId id="300" r:id="rId39"/>
    <p:sldId id="330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98" autoAdjust="0"/>
    <p:restoredTop sz="94687"/>
  </p:normalViewPr>
  <p:slideViewPr>
    <p:cSldViewPr snapToGrid="0">
      <p:cViewPr varScale="1">
        <p:scale>
          <a:sx n="113" d="100"/>
          <a:sy n="113" d="100"/>
        </p:scale>
        <p:origin x="81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28/08/2022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84B6B-8958-41EA-BF2E-7CD243C03BEC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6415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800" b="1" dirty="0">
                  <a:solidFill>
                    <a:schemeClr val="bg1"/>
                  </a:solidFill>
                </a:rPr>
                <a:t>7 Algorithm design and problem-solving | Algorithmic thinking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46800"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7 Algorithm design and problem-solving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Algorithmic thinking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06FC4BB-E42D-4B5A-9B89-6AD16D0263F8}"/>
              </a:ext>
            </a:extLst>
          </p:cNvPr>
          <p:cNvSpPr/>
          <p:nvPr/>
        </p:nvSpPr>
        <p:spPr>
          <a:xfrm>
            <a:off x="254906" y="1812956"/>
            <a:ext cx="5445503" cy="22365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Algorithmic thinking is a way of getting to a solution by identifying the individual steps required.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By creating a set of rules, an algorithm – when followed precisely – will lead to an answer. For example, in school, we all learn algorithms for doing multiplication. 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a human (or a computer) follows these rules precisely, the answer to any multiplication problem can be found.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A4B8F7-9BBE-44BA-B7A5-ECCB9178AB57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Algorithmic thinking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E350440C-A250-406B-A8EF-58B750842B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299" y="519780"/>
            <a:ext cx="6981981" cy="69819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55557A9-860B-4B2E-808F-B4D7A9F83C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9191" y="898133"/>
            <a:ext cx="4505267" cy="4044629"/>
          </a:xfrm>
          <a:prstGeom prst="rect">
            <a:avLst/>
          </a:prstGeom>
        </p:spPr>
      </p:pic>
      <p:pic>
        <p:nvPicPr>
          <p:cNvPr id="2" name="Picture 2" descr="make_notes">
            <a:extLst>
              <a:ext uri="{FF2B5EF4-FFF2-40B4-BE49-F238E27FC236}">
                <a16:creationId xmlns:a16="http://schemas.microsoft.com/office/drawing/2014/main" id="{BCB4060C-02C9-14FD-1B07-6FF33CB9D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947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Algorithmic thinking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555016-DB73-449C-A074-8F7AF367C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07" y="950464"/>
            <a:ext cx="7468247" cy="590753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E405A7A-DD82-48E9-A365-EBDFE350C28B}"/>
              </a:ext>
            </a:extLst>
          </p:cNvPr>
          <p:cNvSpPr/>
          <p:nvPr/>
        </p:nvSpPr>
        <p:spPr>
          <a:xfrm>
            <a:off x="9716209" y="446611"/>
            <a:ext cx="254945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Word search for key terms: Algorithm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Abstraction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Binary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Decomposition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 diagram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Insertion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Pseudocode</a:t>
            </a:r>
          </a:p>
        </p:txBody>
      </p:sp>
    </p:spTree>
    <p:extLst>
      <p:ext uri="{BB962C8B-B14F-4D97-AF65-F5344CB8AC3E}">
        <p14:creationId xmlns:p14="http://schemas.microsoft.com/office/powerpoint/2010/main" val="4003233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Algorithmic thinking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555016-DB73-449C-A074-8F7AF367C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07" y="950464"/>
            <a:ext cx="7468247" cy="590753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B91BE14-E94B-419F-AEC5-561DF49BDB9E}"/>
              </a:ext>
            </a:extLst>
          </p:cNvPr>
          <p:cNvSpPr/>
          <p:nvPr/>
        </p:nvSpPr>
        <p:spPr>
          <a:xfrm>
            <a:off x="9716209" y="446611"/>
            <a:ext cx="254945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Word search for key terms: Algorithm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Abstraction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Binary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Decomposition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 diagram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Insertion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Pseudocode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CDA59F-289A-4584-8179-62AD284DA74D}"/>
              </a:ext>
            </a:extLst>
          </p:cNvPr>
          <p:cNvSpPr/>
          <p:nvPr/>
        </p:nvSpPr>
        <p:spPr>
          <a:xfrm>
            <a:off x="9716209" y="1595535"/>
            <a:ext cx="1489856" cy="27991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7E941A-D214-4ACF-A565-AAB367889BEC}"/>
              </a:ext>
            </a:extLst>
          </p:cNvPr>
          <p:cNvSpPr/>
          <p:nvPr/>
        </p:nvSpPr>
        <p:spPr>
          <a:xfrm>
            <a:off x="10041261" y="1595535"/>
            <a:ext cx="222414" cy="27991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CBDB43-CCBB-4324-A8BB-BDC75EB03E9F}"/>
              </a:ext>
            </a:extLst>
          </p:cNvPr>
          <p:cNvSpPr/>
          <p:nvPr/>
        </p:nvSpPr>
        <p:spPr>
          <a:xfrm>
            <a:off x="5172201" y="2960914"/>
            <a:ext cx="332860" cy="32346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248689-CE8A-4563-A9A4-F70FA34263CE}"/>
              </a:ext>
            </a:extLst>
          </p:cNvPr>
          <p:cNvSpPr/>
          <p:nvPr/>
        </p:nvSpPr>
        <p:spPr>
          <a:xfrm>
            <a:off x="4662127" y="4876799"/>
            <a:ext cx="332860" cy="32346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7CF502-60F5-433A-A37E-9552526C9467}"/>
              </a:ext>
            </a:extLst>
          </p:cNvPr>
          <p:cNvSpPr/>
          <p:nvPr/>
        </p:nvSpPr>
        <p:spPr>
          <a:xfrm>
            <a:off x="8306899" y="4507467"/>
            <a:ext cx="34687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Find instances of the letter A.</a:t>
            </a:r>
          </a:p>
        </p:txBody>
      </p:sp>
    </p:spTree>
    <p:extLst>
      <p:ext uri="{BB962C8B-B14F-4D97-AF65-F5344CB8AC3E}">
        <p14:creationId xmlns:p14="http://schemas.microsoft.com/office/powerpoint/2010/main" val="1199026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Algorithmic thinking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555016-DB73-449C-A074-8F7AF367C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07" y="950464"/>
            <a:ext cx="7468247" cy="590753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B91BE14-E94B-419F-AEC5-561DF49BDB9E}"/>
              </a:ext>
            </a:extLst>
          </p:cNvPr>
          <p:cNvSpPr/>
          <p:nvPr/>
        </p:nvSpPr>
        <p:spPr>
          <a:xfrm>
            <a:off x="9716209" y="446611"/>
            <a:ext cx="254945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Word search for key terms: Algorithm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Abstraction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Binary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Decomposition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 diagram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Insertion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Pseudocode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CDA59F-289A-4584-8179-62AD284DA74D}"/>
              </a:ext>
            </a:extLst>
          </p:cNvPr>
          <p:cNvSpPr/>
          <p:nvPr/>
        </p:nvSpPr>
        <p:spPr>
          <a:xfrm>
            <a:off x="9716209" y="1595535"/>
            <a:ext cx="1489856" cy="27991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7E941A-D214-4ACF-A565-AAB367889BEC}"/>
              </a:ext>
            </a:extLst>
          </p:cNvPr>
          <p:cNvSpPr/>
          <p:nvPr/>
        </p:nvSpPr>
        <p:spPr>
          <a:xfrm>
            <a:off x="10041261" y="1595535"/>
            <a:ext cx="222414" cy="27991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CBDB43-CCBB-4324-A8BB-BDC75EB03E9F}"/>
              </a:ext>
            </a:extLst>
          </p:cNvPr>
          <p:cNvSpPr/>
          <p:nvPr/>
        </p:nvSpPr>
        <p:spPr>
          <a:xfrm>
            <a:off x="5172201" y="2960914"/>
            <a:ext cx="332860" cy="32346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248689-CE8A-4563-A9A4-F70FA34263CE}"/>
              </a:ext>
            </a:extLst>
          </p:cNvPr>
          <p:cNvSpPr/>
          <p:nvPr/>
        </p:nvSpPr>
        <p:spPr>
          <a:xfrm>
            <a:off x="4662127" y="4876799"/>
            <a:ext cx="332860" cy="32346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7CF502-60F5-433A-A37E-9552526C9467}"/>
              </a:ext>
            </a:extLst>
          </p:cNvPr>
          <p:cNvSpPr/>
          <p:nvPr/>
        </p:nvSpPr>
        <p:spPr>
          <a:xfrm>
            <a:off x="8306898" y="4507467"/>
            <a:ext cx="338499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Find instances of the letter A.</a:t>
            </a:r>
          </a:p>
          <a:p>
            <a:pPr marL="342900" indent="-342900"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Check surrounding letters – are any of these the next letter we need?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60D1D09-A98A-421B-84CE-D7936B16FF82}"/>
              </a:ext>
            </a:extLst>
          </p:cNvPr>
          <p:cNvGrpSpPr/>
          <p:nvPr/>
        </p:nvGrpSpPr>
        <p:grpSpPr>
          <a:xfrm>
            <a:off x="4664657" y="2554514"/>
            <a:ext cx="1357057" cy="1107687"/>
            <a:chOff x="4692650" y="2554514"/>
            <a:chExt cx="1357057" cy="1107687"/>
          </a:xfrm>
          <a:solidFill>
            <a:schemeClr val="accent4">
              <a:alpha val="50000"/>
            </a:schemeClr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0713D7-40BD-4CCB-AF60-94484EF937EA}"/>
                </a:ext>
              </a:extLst>
            </p:cNvPr>
            <p:cNvSpPr/>
            <p:nvPr/>
          </p:nvSpPr>
          <p:spPr>
            <a:xfrm>
              <a:off x="4692650" y="2554514"/>
              <a:ext cx="1355725" cy="32346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7F0E850-1031-4B68-9D2D-93C11881FCDF}"/>
                </a:ext>
              </a:extLst>
            </p:cNvPr>
            <p:cNvSpPr/>
            <p:nvPr/>
          </p:nvSpPr>
          <p:spPr>
            <a:xfrm>
              <a:off x="4692650" y="3338739"/>
              <a:ext cx="1355725" cy="32346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6A93BF7-7F92-40C8-AFFC-19F3B43268D1}"/>
                </a:ext>
              </a:extLst>
            </p:cNvPr>
            <p:cNvSpPr/>
            <p:nvPr/>
          </p:nvSpPr>
          <p:spPr>
            <a:xfrm>
              <a:off x="4692650" y="2877975"/>
              <a:ext cx="332861" cy="46076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B3AA521-1105-4D9B-B50D-28833AE3C834}"/>
                </a:ext>
              </a:extLst>
            </p:cNvPr>
            <p:cNvSpPr/>
            <p:nvPr/>
          </p:nvSpPr>
          <p:spPr>
            <a:xfrm>
              <a:off x="5716846" y="2877975"/>
              <a:ext cx="332861" cy="46076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16FC9CC-C766-4CD3-B467-B9502A00E56A}"/>
              </a:ext>
            </a:extLst>
          </p:cNvPr>
          <p:cNvGrpSpPr/>
          <p:nvPr/>
        </p:nvGrpSpPr>
        <p:grpSpPr>
          <a:xfrm>
            <a:off x="4150028" y="4484686"/>
            <a:ext cx="1357057" cy="1107687"/>
            <a:chOff x="4692650" y="2554514"/>
            <a:chExt cx="1357057" cy="1107687"/>
          </a:xfrm>
          <a:solidFill>
            <a:schemeClr val="accent4">
              <a:alpha val="50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B2E120F-4D5B-42A5-85BA-4BBBAF60DE38}"/>
                </a:ext>
              </a:extLst>
            </p:cNvPr>
            <p:cNvSpPr/>
            <p:nvPr/>
          </p:nvSpPr>
          <p:spPr>
            <a:xfrm>
              <a:off x="4692650" y="2554514"/>
              <a:ext cx="1355725" cy="32346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C391A2D-8926-4BC3-8B94-7DCC42910F81}"/>
                </a:ext>
              </a:extLst>
            </p:cNvPr>
            <p:cNvSpPr/>
            <p:nvPr/>
          </p:nvSpPr>
          <p:spPr>
            <a:xfrm>
              <a:off x="4692650" y="3338739"/>
              <a:ext cx="1355725" cy="32346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10210D8-EB28-4446-8F73-17A89BF9CC5D}"/>
                </a:ext>
              </a:extLst>
            </p:cNvPr>
            <p:cNvSpPr/>
            <p:nvPr/>
          </p:nvSpPr>
          <p:spPr>
            <a:xfrm>
              <a:off x="4692650" y="2877975"/>
              <a:ext cx="332861" cy="46076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4789030-B37A-40A3-B7AE-79EE8FE351E9}"/>
                </a:ext>
              </a:extLst>
            </p:cNvPr>
            <p:cNvSpPr/>
            <p:nvPr/>
          </p:nvSpPr>
          <p:spPr>
            <a:xfrm>
              <a:off x="5716846" y="2877975"/>
              <a:ext cx="332861" cy="46076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70394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Algorithmic thinking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555016-DB73-449C-A074-8F7AF367C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07" y="950464"/>
            <a:ext cx="7468247" cy="590753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B91BE14-E94B-419F-AEC5-561DF49BDB9E}"/>
              </a:ext>
            </a:extLst>
          </p:cNvPr>
          <p:cNvSpPr/>
          <p:nvPr/>
        </p:nvSpPr>
        <p:spPr>
          <a:xfrm>
            <a:off x="9716209" y="446611"/>
            <a:ext cx="254945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Word search for key terms: Algorithm</a:t>
            </a:r>
          </a:p>
          <a:p>
            <a:endParaRPr lang="en-GB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Abstraction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Binary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Decomposition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 diagram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Insertion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Pseudocode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CDA59F-289A-4584-8179-62AD284DA74D}"/>
              </a:ext>
            </a:extLst>
          </p:cNvPr>
          <p:cNvSpPr/>
          <p:nvPr/>
        </p:nvSpPr>
        <p:spPr>
          <a:xfrm>
            <a:off x="9716209" y="1595535"/>
            <a:ext cx="1489856" cy="27991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7E941A-D214-4ACF-A565-AAB367889BEC}"/>
              </a:ext>
            </a:extLst>
          </p:cNvPr>
          <p:cNvSpPr/>
          <p:nvPr/>
        </p:nvSpPr>
        <p:spPr>
          <a:xfrm>
            <a:off x="10041261" y="1595535"/>
            <a:ext cx="222414" cy="27991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248689-CE8A-4563-A9A4-F70FA34263CE}"/>
              </a:ext>
            </a:extLst>
          </p:cNvPr>
          <p:cNvSpPr/>
          <p:nvPr/>
        </p:nvSpPr>
        <p:spPr>
          <a:xfrm>
            <a:off x="176565" y="1021167"/>
            <a:ext cx="332860" cy="32346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7CF502-60F5-433A-A37E-9552526C9467}"/>
              </a:ext>
            </a:extLst>
          </p:cNvPr>
          <p:cNvSpPr/>
          <p:nvPr/>
        </p:nvSpPr>
        <p:spPr>
          <a:xfrm>
            <a:off x="8306898" y="4507467"/>
            <a:ext cx="3669201" cy="18569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Randomly trying to find the letter A is not a very logical thing for a program to do.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would be better off starting from the top-left and working logically until we find the letter A.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7763C1-583F-41F3-9332-B9293CD21777}"/>
              </a:ext>
            </a:extLst>
          </p:cNvPr>
          <p:cNvSpPr/>
          <p:nvPr/>
        </p:nvSpPr>
        <p:spPr>
          <a:xfrm>
            <a:off x="528651" y="1040557"/>
            <a:ext cx="1983567" cy="283417"/>
          </a:xfrm>
          <a:prstGeom prst="rect">
            <a:avLst/>
          </a:prstGeom>
          <a:noFill/>
          <a:ln w="19050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315A04F-49D3-4BE5-B87B-F1921877C6D1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540556" y="1182267"/>
            <a:ext cx="1647812" cy="12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92FFC42B-19F2-41C8-AE77-AA01087FB627}"/>
              </a:ext>
            </a:extLst>
          </p:cNvPr>
          <p:cNvSpPr/>
          <p:nvPr/>
        </p:nvSpPr>
        <p:spPr>
          <a:xfrm>
            <a:off x="2188368" y="1047895"/>
            <a:ext cx="312425" cy="26898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3673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Algorithmic thinking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555016-DB73-449C-A074-8F7AF367C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07" y="950464"/>
            <a:ext cx="7468247" cy="590753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B91BE14-E94B-419F-AEC5-561DF49BDB9E}"/>
              </a:ext>
            </a:extLst>
          </p:cNvPr>
          <p:cNvSpPr/>
          <p:nvPr/>
        </p:nvSpPr>
        <p:spPr>
          <a:xfrm>
            <a:off x="9716209" y="446611"/>
            <a:ext cx="254945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Word search for key terms: Algorithm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Abstraction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Binary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Decomposition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 diagram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Insertion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Pseudocode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CDA59F-289A-4584-8179-62AD284DA74D}"/>
              </a:ext>
            </a:extLst>
          </p:cNvPr>
          <p:cNvSpPr/>
          <p:nvPr/>
        </p:nvSpPr>
        <p:spPr>
          <a:xfrm>
            <a:off x="9716209" y="1595535"/>
            <a:ext cx="1489856" cy="27991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7E941A-D214-4ACF-A565-AAB367889BEC}"/>
              </a:ext>
            </a:extLst>
          </p:cNvPr>
          <p:cNvSpPr/>
          <p:nvPr/>
        </p:nvSpPr>
        <p:spPr>
          <a:xfrm>
            <a:off x="10041261" y="1595535"/>
            <a:ext cx="222414" cy="27991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7CF502-60F5-433A-A37E-9552526C9467}"/>
              </a:ext>
            </a:extLst>
          </p:cNvPr>
          <p:cNvSpPr/>
          <p:nvPr/>
        </p:nvSpPr>
        <p:spPr>
          <a:xfrm>
            <a:off x="8306898" y="4507467"/>
            <a:ext cx="366920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 that point, we could check the surrounding letters to see if any of them are the next letter we need.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FFC42B-19F2-41C8-AE77-AA01087FB627}"/>
              </a:ext>
            </a:extLst>
          </p:cNvPr>
          <p:cNvSpPr/>
          <p:nvPr/>
        </p:nvSpPr>
        <p:spPr>
          <a:xfrm>
            <a:off x="2188368" y="1047895"/>
            <a:ext cx="312425" cy="26898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816F68D-F9B1-46E3-9961-9DD2B631B1B4}"/>
              </a:ext>
            </a:extLst>
          </p:cNvPr>
          <p:cNvGrpSpPr/>
          <p:nvPr/>
        </p:nvGrpSpPr>
        <p:grpSpPr>
          <a:xfrm>
            <a:off x="1666051" y="1047896"/>
            <a:ext cx="1357057" cy="753424"/>
            <a:chOff x="4692650" y="2585315"/>
            <a:chExt cx="1357057" cy="753424"/>
          </a:xfrm>
          <a:solidFill>
            <a:schemeClr val="accent4">
              <a:alpha val="50000"/>
            </a:schemeClr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4AE4E3E-6951-419D-9686-08B51BA6AA4F}"/>
                </a:ext>
              </a:extLst>
            </p:cNvPr>
            <p:cNvSpPr/>
            <p:nvPr/>
          </p:nvSpPr>
          <p:spPr>
            <a:xfrm>
              <a:off x="4693982" y="3015277"/>
              <a:ext cx="1355725" cy="32346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48705DF-9938-4444-ABC6-AAE69C75D5B4}"/>
                </a:ext>
              </a:extLst>
            </p:cNvPr>
            <p:cNvSpPr/>
            <p:nvPr/>
          </p:nvSpPr>
          <p:spPr>
            <a:xfrm>
              <a:off x="4692650" y="2585315"/>
              <a:ext cx="332861" cy="42996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DD7AF83-5D0D-42AF-80AD-2B989A4BA76E}"/>
                </a:ext>
              </a:extLst>
            </p:cNvPr>
            <p:cNvSpPr/>
            <p:nvPr/>
          </p:nvSpPr>
          <p:spPr>
            <a:xfrm>
              <a:off x="5716846" y="2585315"/>
              <a:ext cx="332861" cy="42996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2034498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Algorithmic thinking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555016-DB73-449C-A074-8F7AF367C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07" y="950464"/>
            <a:ext cx="7468247" cy="590753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B91BE14-E94B-419F-AEC5-561DF49BDB9E}"/>
              </a:ext>
            </a:extLst>
          </p:cNvPr>
          <p:cNvSpPr/>
          <p:nvPr/>
        </p:nvSpPr>
        <p:spPr>
          <a:xfrm>
            <a:off x="9716209" y="446611"/>
            <a:ext cx="254945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Word search for key terms: Algorithm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Abstraction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Binary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Decomposition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 diagram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Insertion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Pseudocode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CDA59F-289A-4584-8179-62AD284DA74D}"/>
              </a:ext>
            </a:extLst>
          </p:cNvPr>
          <p:cNvSpPr/>
          <p:nvPr/>
        </p:nvSpPr>
        <p:spPr>
          <a:xfrm>
            <a:off x="9716209" y="1595535"/>
            <a:ext cx="1489856" cy="27991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7E941A-D214-4ACF-A565-AAB367889BEC}"/>
              </a:ext>
            </a:extLst>
          </p:cNvPr>
          <p:cNvSpPr/>
          <p:nvPr/>
        </p:nvSpPr>
        <p:spPr>
          <a:xfrm>
            <a:off x="10041261" y="1595535"/>
            <a:ext cx="222414" cy="27991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7CF502-60F5-433A-A37E-9552526C9467}"/>
              </a:ext>
            </a:extLst>
          </p:cNvPr>
          <p:cNvSpPr/>
          <p:nvPr/>
        </p:nvSpPr>
        <p:spPr>
          <a:xfrm>
            <a:off x="8306898" y="4507467"/>
            <a:ext cx="366920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So, a more logical approach is to try all the letters in a row, followed by all the rows in the table.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FFC42B-19F2-41C8-AE77-AA01087FB627}"/>
              </a:ext>
            </a:extLst>
          </p:cNvPr>
          <p:cNvSpPr/>
          <p:nvPr/>
        </p:nvSpPr>
        <p:spPr>
          <a:xfrm>
            <a:off x="2188368" y="1047895"/>
            <a:ext cx="312425" cy="26898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816F68D-F9B1-46E3-9961-9DD2B631B1B4}"/>
              </a:ext>
            </a:extLst>
          </p:cNvPr>
          <p:cNvGrpSpPr/>
          <p:nvPr/>
        </p:nvGrpSpPr>
        <p:grpSpPr>
          <a:xfrm>
            <a:off x="1666051" y="1047896"/>
            <a:ext cx="1357057" cy="753424"/>
            <a:chOff x="4692650" y="2585315"/>
            <a:chExt cx="1357057" cy="753424"/>
          </a:xfrm>
          <a:solidFill>
            <a:schemeClr val="accent4">
              <a:alpha val="50000"/>
            </a:schemeClr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4AE4E3E-6951-419D-9686-08B51BA6AA4F}"/>
                </a:ext>
              </a:extLst>
            </p:cNvPr>
            <p:cNvSpPr/>
            <p:nvPr/>
          </p:nvSpPr>
          <p:spPr>
            <a:xfrm>
              <a:off x="4693982" y="3015277"/>
              <a:ext cx="1355725" cy="32346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48705DF-9938-4444-ABC6-AAE69C75D5B4}"/>
                </a:ext>
              </a:extLst>
            </p:cNvPr>
            <p:cNvSpPr/>
            <p:nvPr/>
          </p:nvSpPr>
          <p:spPr>
            <a:xfrm>
              <a:off x="4692650" y="2585315"/>
              <a:ext cx="332861" cy="42996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DD7AF83-5D0D-42AF-80AD-2B989A4BA76E}"/>
                </a:ext>
              </a:extLst>
            </p:cNvPr>
            <p:cNvSpPr/>
            <p:nvPr/>
          </p:nvSpPr>
          <p:spPr>
            <a:xfrm>
              <a:off x="5716846" y="2585315"/>
              <a:ext cx="332861" cy="42996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780968-C38C-4481-9814-C1A115E9D7C4}"/>
              </a:ext>
            </a:extLst>
          </p:cNvPr>
          <p:cNvCxnSpPr>
            <a:cxnSpLocks/>
          </p:cNvCxnSpPr>
          <p:nvPr/>
        </p:nvCxnSpPr>
        <p:spPr>
          <a:xfrm>
            <a:off x="540556" y="1182267"/>
            <a:ext cx="6653346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6F30BB8C-8744-4EA2-9822-5EA04BD07987}"/>
              </a:ext>
            </a:extLst>
          </p:cNvPr>
          <p:cNvSpPr/>
          <p:nvPr/>
        </p:nvSpPr>
        <p:spPr>
          <a:xfrm>
            <a:off x="176565" y="1021167"/>
            <a:ext cx="332860" cy="32346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61D7E1-5C4D-42D0-8AC9-B1BFD182BEB1}"/>
              </a:ext>
            </a:extLst>
          </p:cNvPr>
          <p:cNvSpPr/>
          <p:nvPr/>
        </p:nvSpPr>
        <p:spPr>
          <a:xfrm>
            <a:off x="528651" y="1040557"/>
            <a:ext cx="1983567" cy="283417"/>
          </a:xfrm>
          <a:prstGeom prst="rect">
            <a:avLst/>
          </a:prstGeom>
          <a:noFill/>
          <a:ln w="19050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870430B-D806-4E9A-9D38-C990E0D884F8}"/>
              </a:ext>
            </a:extLst>
          </p:cNvPr>
          <p:cNvSpPr/>
          <p:nvPr/>
        </p:nvSpPr>
        <p:spPr>
          <a:xfrm>
            <a:off x="5188146" y="1058489"/>
            <a:ext cx="312425" cy="26898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E44121F-278B-4096-8327-0816DE9A7FA8}"/>
              </a:ext>
            </a:extLst>
          </p:cNvPr>
          <p:cNvGrpSpPr/>
          <p:nvPr/>
        </p:nvGrpSpPr>
        <p:grpSpPr>
          <a:xfrm>
            <a:off x="4663548" y="1021167"/>
            <a:ext cx="1357057" cy="753424"/>
            <a:chOff x="4692650" y="2585315"/>
            <a:chExt cx="1357057" cy="753424"/>
          </a:xfrm>
          <a:solidFill>
            <a:schemeClr val="accent4">
              <a:alpha val="50000"/>
            </a:schemeClr>
          </a:solidFill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EC44F23-02F0-46C2-8DC1-07BFE766F80C}"/>
                </a:ext>
              </a:extLst>
            </p:cNvPr>
            <p:cNvSpPr/>
            <p:nvPr/>
          </p:nvSpPr>
          <p:spPr>
            <a:xfrm>
              <a:off x="4693982" y="3015277"/>
              <a:ext cx="1355725" cy="32346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759DDEA-D08C-45E4-99C4-DBAD78FCA2E2}"/>
                </a:ext>
              </a:extLst>
            </p:cNvPr>
            <p:cNvSpPr/>
            <p:nvPr/>
          </p:nvSpPr>
          <p:spPr>
            <a:xfrm>
              <a:off x="4692650" y="2585315"/>
              <a:ext cx="332861" cy="42996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94B059C-E6DA-423A-8A69-1A0DC49AB384}"/>
                </a:ext>
              </a:extLst>
            </p:cNvPr>
            <p:cNvSpPr/>
            <p:nvPr/>
          </p:nvSpPr>
          <p:spPr>
            <a:xfrm>
              <a:off x="5716846" y="2585315"/>
              <a:ext cx="332861" cy="42996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397796CD-DCF9-49A2-9714-7F862E9DE90D}"/>
              </a:ext>
            </a:extLst>
          </p:cNvPr>
          <p:cNvSpPr/>
          <p:nvPr/>
        </p:nvSpPr>
        <p:spPr>
          <a:xfrm>
            <a:off x="185896" y="1423355"/>
            <a:ext cx="332860" cy="32346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A8811EB-1336-4A3F-9EF6-213048BA9EB1}"/>
              </a:ext>
            </a:extLst>
          </p:cNvPr>
          <p:cNvSpPr/>
          <p:nvPr/>
        </p:nvSpPr>
        <p:spPr>
          <a:xfrm>
            <a:off x="528651" y="1442745"/>
            <a:ext cx="6515961" cy="283417"/>
          </a:xfrm>
          <a:prstGeom prst="rect">
            <a:avLst/>
          </a:prstGeom>
          <a:noFill/>
          <a:ln w="19050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60F1DC8-AB03-42ED-9904-861DC635EA7F}"/>
              </a:ext>
            </a:extLst>
          </p:cNvPr>
          <p:cNvSpPr/>
          <p:nvPr/>
        </p:nvSpPr>
        <p:spPr>
          <a:xfrm>
            <a:off x="6713525" y="1452611"/>
            <a:ext cx="312425" cy="26898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92501FB-39CD-4C07-BE61-F34BEBE0F4A9}"/>
              </a:ext>
            </a:extLst>
          </p:cNvPr>
          <p:cNvGrpSpPr/>
          <p:nvPr/>
        </p:nvGrpSpPr>
        <p:grpSpPr>
          <a:xfrm>
            <a:off x="6132258" y="1047895"/>
            <a:ext cx="1357057" cy="1107687"/>
            <a:chOff x="4692650" y="2554514"/>
            <a:chExt cx="1357057" cy="1107687"/>
          </a:xfrm>
          <a:solidFill>
            <a:schemeClr val="accent4">
              <a:alpha val="50000"/>
            </a:schemeClr>
          </a:solidFill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01625FF-6BD8-4025-95D9-84CC3C5BD9BB}"/>
                </a:ext>
              </a:extLst>
            </p:cNvPr>
            <p:cNvSpPr/>
            <p:nvPr/>
          </p:nvSpPr>
          <p:spPr>
            <a:xfrm>
              <a:off x="4692650" y="2554514"/>
              <a:ext cx="1355725" cy="32346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10BB350-23D0-459F-B49F-B687EF19D82A}"/>
                </a:ext>
              </a:extLst>
            </p:cNvPr>
            <p:cNvSpPr/>
            <p:nvPr/>
          </p:nvSpPr>
          <p:spPr>
            <a:xfrm>
              <a:off x="4692650" y="3338739"/>
              <a:ext cx="1355725" cy="32346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45F5AA5-A434-4D0E-B68E-F1A58F204FD6}"/>
                </a:ext>
              </a:extLst>
            </p:cNvPr>
            <p:cNvSpPr/>
            <p:nvPr/>
          </p:nvSpPr>
          <p:spPr>
            <a:xfrm>
              <a:off x="4692650" y="2877975"/>
              <a:ext cx="332861" cy="46076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6F7C14F-AA7F-428D-9E7E-85AA2A0FB962}"/>
                </a:ext>
              </a:extLst>
            </p:cNvPr>
            <p:cNvSpPr/>
            <p:nvPr/>
          </p:nvSpPr>
          <p:spPr>
            <a:xfrm>
              <a:off x="5716846" y="2877975"/>
              <a:ext cx="332861" cy="46076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5F05834-DDC7-4D9F-9BD6-5977D6F7D0E4}"/>
              </a:ext>
            </a:extLst>
          </p:cNvPr>
          <p:cNvCxnSpPr>
            <a:cxnSpLocks/>
          </p:cNvCxnSpPr>
          <p:nvPr/>
        </p:nvCxnSpPr>
        <p:spPr>
          <a:xfrm>
            <a:off x="540556" y="1595924"/>
            <a:ext cx="6653346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78382813-3132-4260-AAB3-6FB8158DD8A8}"/>
              </a:ext>
            </a:extLst>
          </p:cNvPr>
          <p:cNvSpPr/>
          <p:nvPr/>
        </p:nvSpPr>
        <p:spPr>
          <a:xfrm>
            <a:off x="185277" y="1780352"/>
            <a:ext cx="332860" cy="32346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7878356-10E4-470E-9B1F-EE554173878E}"/>
              </a:ext>
            </a:extLst>
          </p:cNvPr>
          <p:cNvCxnSpPr>
            <a:cxnSpLocks/>
          </p:cNvCxnSpPr>
          <p:nvPr/>
        </p:nvCxnSpPr>
        <p:spPr>
          <a:xfrm>
            <a:off x="528651" y="1942083"/>
            <a:ext cx="6653346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2422064-029E-4D90-8245-76AAE59F1CB0}"/>
              </a:ext>
            </a:extLst>
          </p:cNvPr>
          <p:cNvSpPr/>
          <p:nvPr/>
        </p:nvSpPr>
        <p:spPr>
          <a:xfrm>
            <a:off x="185841" y="2174107"/>
            <a:ext cx="332860" cy="32346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9CDEF95-BF1D-4947-82D1-B02D8A85DE56}"/>
              </a:ext>
            </a:extLst>
          </p:cNvPr>
          <p:cNvCxnSpPr>
            <a:cxnSpLocks/>
          </p:cNvCxnSpPr>
          <p:nvPr/>
        </p:nvCxnSpPr>
        <p:spPr>
          <a:xfrm>
            <a:off x="529215" y="2335838"/>
            <a:ext cx="6653346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1FCC2587-7CD4-4E7E-BDF2-E0A440E4C76B}"/>
              </a:ext>
            </a:extLst>
          </p:cNvPr>
          <p:cNvSpPr/>
          <p:nvPr/>
        </p:nvSpPr>
        <p:spPr>
          <a:xfrm>
            <a:off x="195791" y="2566876"/>
            <a:ext cx="332860" cy="32346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95E4A2E-44CF-4ADF-899F-14BA629971E9}"/>
              </a:ext>
            </a:extLst>
          </p:cNvPr>
          <p:cNvSpPr/>
          <p:nvPr/>
        </p:nvSpPr>
        <p:spPr>
          <a:xfrm>
            <a:off x="547878" y="2586266"/>
            <a:ext cx="963226" cy="283417"/>
          </a:xfrm>
          <a:prstGeom prst="rect">
            <a:avLst/>
          </a:prstGeom>
          <a:noFill/>
          <a:ln w="19050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4D07D75-4C18-41E5-80F5-8E9A75067167}"/>
              </a:ext>
            </a:extLst>
          </p:cNvPr>
          <p:cNvSpPr/>
          <p:nvPr/>
        </p:nvSpPr>
        <p:spPr>
          <a:xfrm>
            <a:off x="1198678" y="2592388"/>
            <a:ext cx="312425" cy="26898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D4B53EF-F69D-449D-8CCE-64F06A1996C4}"/>
              </a:ext>
            </a:extLst>
          </p:cNvPr>
          <p:cNvCxnSpPr>
            <a:cxnSpLocks/>
          </p:cNvCxnSpPr>
          <p:nvPr/>
        </p:nvCxnSpPr>
        <p:spPr>
          <a:xfrm>
            <a:off x="547878" y="2721503"/>
            <a:ext cx="6653346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0819866-B30D-44E1-B72F-338E8DCDBDA1}"/>
              </a:ext>
            </a:extLst>
          </p:cNvPr>
          <p:cNvGrpSpPr/>
          <p:nvPr/>
        </p:nvGrpSpPr>
        <p:grpSpPr>
          <a:xfrm>
            <a:off x="676361" y="2174130"/>
            <a:ext cx="1357057" cy="1107687"/>
            <a:chOff x="4692650" y="2554514"/>
            <a:chExt cx="1357057" cy="1107687"/>
          </a:xfrm>
          <a:solidFill>
            <a:schemeClr val="accent4">
              <a:alpha val="50000"/>
            </a:schemeClr>
          </a:solidFill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6B3873E7-36DA-4030-9A10-3DD63C86E74F}"/>
                </a:ext>
              </a:extLst>
            </p:cNvPr>
            <p:cNvSpPr/>
            <p:nvPr/>
          </p:nvSpPr>
          <p:spPr>
            <a:xfrm>
              <a:off x="4692650" y="2554514"/>
              <a:ext cx="1355725" cy="32346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DA56FC4-7E9F-46E8-82C4-C27324FFB822}"/>
                </a:ext>
              </a:extLst>
            </p:cNvPr>
            <p:cNvSpPr/>
            <p:nvPr/>
          </p:nvSpPr>
          <p:spPr>
            <a:xfrm>
              <a:off x="4692650" y="3338739"/>
              <a:ext cx="1355725" cy="32346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90356E8-5972-403A-B873-69DA0FB80418}"/>
                </a:ext>
              </a:extLst>
            </p:cNvPr>
            <p:cNvSpPr/>
            <p:nvPr/>
          </p:nvSpPr>
          <p:spPr>
            <a:xfrm>
              <a:off x="4692650" y="2877975"/>
              <a:ext cx="332861" cy="46076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D034388-3AED-45B1-A082-790C3E5A8387}"/>
                </a:ext>
              </a:extLst>
            </p:cNvPr>
            <p:cNvSpPr/>
            <p:nvPr/>
          </p:nvSpPr>
          <p:spPr>
            <a:xfrm>
              <a:off x="5716846" y="2877975"/>
              <a:ext cx="332861" cy="46076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90EE61D-37E5-4C31-8C17-1A4936DF0634}"/>
              </a:ext>
            </a:extLst>
          </p:cNvPr>
          <p:cNvCxnSpPr>
            <a:cxnSpLocks/>
          </p:cNvCxnSpPr>
          <p:nvPr/>
        </p:nvCxnSpPr>
        <p:spPr>
          <a:xfrm>
            <a:off x="187845" y="1209626"/>
            <a:ext cx="0" cy="536845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3904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Algorithmic thinking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555016-DB73-449C-A074-8F7AF367C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07" y="950464"/>
            <a:ext cx="7468247" cy="590753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B91BE14-E94B-419F-AEC5-561DF49BDB9E}"/>
              </a:ext>
            </a:extLst>
          </p:cNvPr>
          <p:cNvSpPr/>
          <p:nvPr/>
        </p:nvSpPr>
        <p:spPr>
          <a:xfrm>
            <a:off x="9716209" y="446611"/>
            <a:ext cx="254945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Word search for key terms: Algorithm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Abstraction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Binary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Decomposition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 diagram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Insertion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Pseudocode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CDA59F-289A-4584-8179-62AD284DA74D}"/>
              </a:ext>
            </a:extLst>
          </p:cNvPr>
          <p:cNvSpPr/>
          <p:nvPr/>
        </p:nvSpPr>
        <p:spPr>
          <a:xfrm>
            <a:off x="9716209" y="1595535"/>
            <a:ext cx="1489856" cy="27991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7E941A-D214-4ACF-A565-AAB367889BEC}"/>
              </a:ext>
            </a:extLst>
          </p:cNvPr>
          <p:cNvSpPr/>
          <p:nvPr/>
        </p:nvSpPr>
        <p:spPr>
          <a:xfrm>
            <a:off x="10041261" y="1595535"/>
            <a:ext cx="222414" cy="27991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7CF502-60F5-433A-A37E-9552526C9467}"/>
              </a:ext>
            </a:extLst>
          </p:cNvPr>
          <p:cNvSpPr/>
          <p:nvPr/>
        </p:nvSpPr>
        <p:spPr>
          <a:xfrm>
            <a:off x="8306899" y="4507467"/>
            <a:ext cx="379989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Using this approach, we will eventually find an instance of A that is connected to an instance of L, followed by G, O, R, I, T, H, and finally, M.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9813B5-0170-42EF-9CD4-C252EC0FEA20}"/>
              </a:ext>
            </a:extLst>
          </p:cNvPr>
          <p:cNvSpPr/>
          <p:nvPr/>
        </p:nvSpPr>
        <p:spPr>
          <a:xfrm>
            <a:off x="175403" y="2944244"/>
            <a:ext cx="332860" cy="32346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705131-8F76-4ADD-A619-BD02F07F735F}"/>
              </a:ext>
            </a:extLst>
          </p:cNvPr>
          <p:cNvSpPr/>
          <p:nvPr/>
        </p:nvSpPr>
        <p:spPr>
          <a:xfrm>
            <a:off x="518158" y="2963634"/>
            <a:ext cx="6515961" cy="283417"/>
          </a:xfrm>
          <a:prstGeom prst="rect">
            <a:avLst/>
          </a:prstGeom>
          <a:noFill/>
          <a:ln w="19050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3ACF6C5-5256-476E-BD4A-5E43929B3F69}"/>
              </a:ext>
            </a:extLst>
          </p:cNvPr>
          <p:cNvGrpSpPr/>
          <p:nvPr/>
        </p:nvGrpSpPr>
        <p:grpSpPr>
          <a:xfrm>
            <a:off x="6121765" y="2568784"/>
            <a:ext cx="1407432" cy="4151100"/>
            <a:chOff x="4692650" y="2554514"/>
            <a:chExt cx="1407432" cy="4151100"/>
          </a:xfrm>
          <a:solidFill>
            <a:schemeClr val="accent4">
              <a:alpha val="50000"/>
            </a:schemeClr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065D8EB-357E-49C9-9B8A-97EB1775CD93}"/>
                </a:ext>
              </a:extLst>
            </p:cNvPr>
            <p:cNvSpPr/>
            <p:nvPr/>
          </p:nvSpPr>
          <p:spPr>
            <a:xfrm>
              <a:off x="4692650" y="2554514"/>
              <a:ext cx="1407432" cy="32346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6FB392F-C760-4490-B5B7-55A23FF49E80}"/>
                </a:ext>
              </a:extLst>
            </p:cNvPr>
            <p:cNvSpPr/>
            <p:nvPr/>
          </p:nvSpPr>
          <p:spPr>
            <a:xfrm>
              <a:off x="5115703" y="3338738"/>
              <a:ext cx="601137" cy="33668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DE07CCA-B3F4-449E-ACE7-A97C806302AE}"/>
                </a:ext>
              </a:extLst>
            </p:cNvPr>
            <p:cNvSpPr/>
            <p:nvPr/>
          </p:nvSpPr>
          <p:spPr>
            <a:xfrm>
              <a:off x="4692650" y="2877975"/>
              <a:ext cx="423053" cy="382763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E13B920-D793-4D3E-865C-C18B7D36CFBD}"/>
                </a:ext>
              </a:extLst>
            </p:cNvPr>
            <p:cNvSpPr/>
            <p:nvPr/>
          </p:nvSpPr>
          <p:spPr>
            <a:xfrm>
              <a:off x="5716846" y="2877975"/>
              <a:ext cx="383236" cy="382763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24DFB9D-5D35-451D-A6E2-2FFC9147998A}"/>
              </a:ext>
            </a:extLst>
          </p:cNvPr>
          <p:cNvCxnSpPr>
            <a:cxnSpLocks/>
          </p:cNvCxnSpPr>
          <p:nvPr/>
        </p:nvCxnSpPr>
        <p:spPr>
          <a:xfrm>
            <a:off x="530063" y="3116813"/>
            <a:ext cx="6166321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E273E1D1-6CD9-4D12-9B0E-AC3080D76F12}"/>
              </a:ext>
            </a:extLst>
          </p:cNvPr>
          <p:cNvSpPr/>
          <p:nvPr/>
        </p:nvSpPr>
        <p:spPr>
          <a:xfrm>
            <a:off x="6696384" y="2972871"/>
            <a:ext cx="332860" cy="338982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BB9A242-1961-4BF6-92AD-410E1E8517C4}"/>
              </a:ext>
            </a:extLst>
          </p:cNvPr>
          <p:cNvCxnSpPr>
            <a:cxnSpLocks/>
          </p:cNvCxnSpPr>
          <p:nvPr/>
        </p:nvCxnSpPr>
        <p:spPr>
          <a:xfrm>
            <a:off x="6748091" y="3267706"/>
            <a:ext cx="0" cy="309498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9286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Decomposition of solving a word search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7CF502-60F5-433A-A37E-9552526C9467}"/>
              </a:ext>
            </a:extLst>
          </p:cNvPr>
          <p:cNvSpPr/>
          <p:nvPr/>
        </p:nvSpPr>
        <p:spPr>
          <a:xfrm>
            <a:off x="176565" y="1176439"/>
            <a:ext cx="11580006" cy="4618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 every word to find in the wordsearch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FOR every letter in the grid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IF grid[letter] = first letter of the word THEN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FOR all the letters adjacent to the letter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IF grid[adjacent letter] = second letter of the word THEN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FOR the word.LENGTH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check all the letters in the same direction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IF a letter does not match THEN the word is not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IF there are no more letters to check THEN the word is not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IF all the letters match THEN the word is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OUTPUT where the word was found</a:t>
            </a:r>
          </a:p>
        </p:txBody>
      </p:sp>
    </p:spTree>
    <p:extLst>
      <p:ext uri="{BB962C8B-B14F-4D97-AF65-F5344CB8AC3E}">
        <p14:creationId xmlns:p14="http://schemas.microsoft.com/office/powerpoint/2010/main" val="4016178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Decomposition of solving a word search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7CF502-60F5-433A-A37E-9552526C9467}"/>
              </a:ext>
            </a:extLst>
          </p:cNvPr>
          <p:cNvSpPr/>
          <p:nvPr/>
        </p:nvSpPr>
        <p:spPr>
          <a:xfrm>
            <a:off x="176565" y="1176439"/>
            <a:ext cx="11580006" cy="4618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 every word to find in the wordsearch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FOR every letter in the grid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IF grid[letter] = first letter of the word THEN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FOR all the letters adjacent to the letter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IF grid[adjacent letter] = second letter of the word THEN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FOR the word.LENGTH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check all the letters in the same direction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IF a letter does not match THEN the word is not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IF there are no more letters to check THEN the word is not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IF all the letters match THEN the word is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OUTPUT where the word was found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D016E9-74BE-4C1B-9C2D-8E28CA1C6C45}"/>
              </a:ext>
            </a:extLst>
          </p:cNvPr>
          <p:cNvSpPr/>
          <p:nvPr/>
        </p:nvSpPr>
        <p:spPr>
          <a:xfrm>
            <a:off x="176564" y="1315617"/>
            <a:ext cx="5272513" cy="27991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7763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Decomposition of solving a word search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7CF502-60F5-433A-A37E-9552526C9467}"/>
              </a:ext>
            </a:extLst>
          </p:cNvPr>
          <p:cNvSpPr/>
          <p:nvPr/>
        </p:nvSpPr>
        <p:spPr>
          <a:xfrm>
            <a:off x="176565" y="1176439"/>
            <a:ext cx="11580006" cy="4618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 every word to find in the wordsearch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FOR every letter in the grid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IF grid[letter] = first letter of the word THEN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FOR all the letters adjacent to the letter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IF grid[adjacent letter] = second letter of the word THEN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FOR the word.LENGTH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check all the letters in the same direction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IF a letter does not match THEN the word is not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IF there are no more letters to check THEN the word is not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IF all the letters match THEN the word is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OUTPUT where the word was found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D016E9-74BE-4C1B-9C2D-8E28CA1C6C45}"/>
              </a:ext>
            </a:extLst>
          </p:cNvPr>
          <p:cNvSpPr/>
          <p:nvPr/>
        </p:nvSpPr>
        <p:spPr>
          <a:xfrm>
            <a:off x="559119" y="1716833"/>
            <a:ext cx="3704971" cy="27991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812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Decomposition of solving a word search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7CF502-60F5-433A-A37E-9552526C9467}"/>
              </a:ext>
            </a:extLst>
          </p:cNvPr>
          <p:cNvSpPr/>
          <p:nvPr/>
        </p:nvSpPr>
        <p:spPr>
          <a:xfrm>
            <a:off x="176565" y="1176439"/>
            <a:ext cx="11580006" cy="4618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 every word to find in the wordsearch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FOR every letter in the grid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IF grid[letter] = first letter of the word THEN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FOR all the letters adjacent to the letter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IF grid[adjacent letter] = second letter of the word THEN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FOR the word.LENGTH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check all the letters in the same direction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IF a letter does not match THEN the word is not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IF there are no more letters to check THEN the word is not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IF all the letters match THEN the word is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OUTPUT where the word was found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D016E9-74BE-4C1B-9C2D-8E28CA1C6C45}"/>
              </a:ext>
            </a:extLst>
          </p:cNvPr>
          <p:cNvSpPr/>
          <p:nvPr/>
        </p:nvSpPr>
        <p:spPr>
          <a:xfrm>
            <a:off x="913683" y="2136711"/>
            <a:ext cx="6084276" cy="27991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7831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Decomposition of solving a word search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7CF502-60F5-433A-A37E-9552526C9467}"/>
              </a:ext>
            </a:extLst>
          </p:cNvPr>
          <p:cNvSpPr/>
          <p:nvPr/>
        </p:nvSpPr>
        <p:spPr>
          <a:xfrm>
            <a:off x="176565" y="1176439"/>
            <a:ext cx="11580006" cy="4618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 every word to find in the wordsearch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FOR every letter in the grid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IF grid[letter] = first letter of the word THEN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FOR all the letters adjacent to the letter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IF grid[adjacent letter] = second letter of the word THEN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FOR the word.LENGTH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check all the letters in the same direction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IF a letter does not match THEN the word is not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IF there are no more letters to check THEN the word is not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IF all the letters match THEN the word is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OUTPUT where the word was found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D016E9-74BE-4C1B-9C2D-8E28CA1C6C45}"/>
              </a:ext>
            </a:extLst>
          </p:cNvPr>
          <p:cNvSpPr/>
          <p:nvPr/>
        </p:nvSpPr>
        <p:spPr>
          <a:xfrm>
            <a:off x="951004" y="2537927"/>
            <a:ext cx="6177583" cy="27991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5491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Decomposition of solving a word search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7CF502-60F5-433A-A37E-9552526C9467}"/>
              </a:ext>
            </a:extLst>
          </p:cNvPr>
          <p:cNvSpPr/>
          <p:nvPr/>
        </p:nvSpPr>
        <p:spPr>
          <a:xfrm>
            <a:off x="176565" y="1176439"/>
            <a:ext cx="11580006" cy="4618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 every word to find in the wordsearch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FOR every letter in the grid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IF grid[letter] = first letter of the word THEN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FOR all the letters adjacent to the letter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IF grid[adjacent letter] = second letter of the word THEN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FOR the word.LENGTH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check all the letters in the same direction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IF a letter does not match THEN the word is not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IF there are no more letters to check THEN the word is not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IF all the letters match THEN the word is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OUTPUT where the word was found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D016E9-74BE-4C1B-9C2D-8E28CA1C6C45}"/>
              </a:ext>
            </a:extLst>
          </p:cNvPr>
          <p:cNvSpPr/>
          <p:nvPr/>
        </p:nvSpPr>
        <p:spPr>
          <a:xfrm>
            <a:off x="1333559" y="2948474"/>
            <a:ext cx="7371902" cy="27991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51346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Decomposition of solving a word search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7CF502-60F5-433A-A37E-9552526C9467}"/>
              </a:ext>
            </a:extLst>
          </p:cNvPr>
          <p:cNvSpPr/>
          <p:nvPr/>
        </p:nvSpPr>
        <p:spPr>
          <a:xfrm>
            <a:off x="176565" y="1176439"/>
            <a:ext cx="11580006" cy="4618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 every word to find in the wordsearch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FOR every letter in the grid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IF grid[letter] = first letter of the word THEN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FOR all the letters adjacent to the letter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IF grid[adjacent letter] = second letter of the word THEN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FOR the word.LENGTH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check all the letters in the same direction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IF a letter does not match THEN the word is not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IF there are no more letters to check THEN the word is not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IF all the letters match THEN the word is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OUTPUT where the word was found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D016E9-74BE-4C1B-9C2D-8E28CA1C6C45}"/>
              </a:ext>
            </a:extLst>
          </p:cNvPr>
          <p:cNvSpPr/>
          <p:nvPr/>
        </p:nvSpPr>
        <p:spPr>
          <a:xfrm>
            <a:off x="1669461" y="3364300"/>
            <a:ext cx="2678604" cy="27991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79183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Decomposition of solving a word search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7CF502-60F5-433A-A37E-9552526C9467}"/>
              </a:ext>
            </a:extLst>
          </p:cNvPr>
          <p:cNvSpPr/>
          <p:nvPr/>
        </p:nvSpPr>
        <p:spPr>
          <a:xfrm>
            <a:off x="176565" y="1176439"/>
            <a:ext cx="11580006" cy="4618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 every word to find in the wordsearch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FOR every letter in the grid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IF grid[letter] = first letter of the word THEN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FOR all the letters adjacent to the letter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IF grid[adjacent letter] = second letter of the word THEN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FOR the word.LENGTH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check all the letters in the same direction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IF a letter does not match THEN the word is not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IF there are no more letters to check THEN the word is not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IF all the letters match THEN the word is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OUTPUT where the word was found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D016E9-74BE-4C1B-9C2D-8E28CA1C6C45}"/>
              </a:ext>
            </a:extLst>
          </p:cNvPr>
          <p:cNvSpPr/>
          <p:nvPr/>
        </p:nvSpPr>
        <p:spPr>
          <a:xfrm>
            <a:off x="2080009" y="3793509"/>
            <a:ext cx="5617746" cy="27991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2191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Decomposition of solving a word search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7CF502-60F5-433A-A37E-9552526C9467}"/>
              </a:ext>
            </a:extLst>
          </p:cNvPr>
          <p:cNvSpPr/>
          <p:nvPr/>
        </p:nvSpPr>
        <p:spPr>
          <a:xfrm>
            <a:off x="176565" y="1176439"/>
            <a:ext cx="11580006" cy="4618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 every word to find in the wordsearch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FOR every letter in the grid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IF grid[letter] = first letter of the word THEN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FOR all the letters adjacent to the letter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IF grid[adjacent letter] = second letter of the word THEN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FOR the word.LENGTH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check all the letters in the same direction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IF a letter does not match THEN the word is not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IF there are no more letters to check THEN the word is not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IF all the letters match THEN the word is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OUTPUT where the word was found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D016E9-74BE-4C1B-9C2D-8E28CA1C6C45}"/>
              </a:ext>
            </a:extLst>
          </p:cNvPr>
          <p:cNvSpPr/>
          <p:nvPr/>
        </p:nvSpPr>
        <p:spPr>
          <a:xfrm>
            <a:off x="2098669" y="4176064"/>
            <a:ext cx="6849387" cy="27991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71444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Decomposition of solving a word search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7CF502-60F5-433A-A37E-9552526C9467}"/>
              </a:ext>
            </a:extLst>
          </p:cNvPr>
          <p:cNvSpPr/>
          <p:nvPr/>
        </p:nvSpPr>
        <p:spPr>
          <a:xfrm>
            <a:off x="176565" y="1176439"/>
            <a:ext cx="11580006" cy="4618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 every word to find in the wordsearch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FOR every letter in the grid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IF grid[letter] = first letter of the word THEN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FOR all the letters adjacent to the letter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IF grid[adjacent letter] = second letter of the word THEN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FOR the word.LENGTH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check all the letters in the same direction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IF a letter does not match THEN the word is not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IF there are no more letters to check THEN the word is not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IF all the letters match THEN the word is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OUTPUT where the word was found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D016E9-74BE-4C1B-9C2D-8E28CA1C6C45}"/>
              </a:ext>
            </a:extLst>
          </p:cNvPr>
          <p:cNvSpPr/>
          <p:nvPr/>
        </p:nvSpPr>
        <p:spPr>
          <a:xfrm>
            <a:off x="2098669" y="4595942"/>
            <a:ext cx="8174335" cy="27991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55723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Decomposition of solving a word search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7CF502-60F5-433A-A37E-9552526C9467}"/>
              </a:ext>
            </a:extLst>
          </p:cNvPr>
          <p:cNvSpPr/>
          <p:nvPr/>
        </p:nvSpPr>
        <p:spPr>
          <a:xfrm>
            <a:off x="176565" y="1176439"/>
            <a:ext cx="11580006" cy="4618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 every word to find in the wordsearch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FOR every letter in the grid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IF grid[letter] = first letter of the word THEN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FOR all the letters adjacent to the letter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IF grid[adjacent letter] = second letter of the word THEN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FOR the word.LENGTH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check all the letters in the same direction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IF a letter does not match THEN the word is not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IF there are no more letters to check THEN the word is not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IF all the letters match THEN the word is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OUTPUT where the word was found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D016E9-74BE-4C1B-9C2D-8E28CA1C6C45}"/>
              </a:ext>
            </a:extLst>
          </p:cNvPr>
          <p:cNvSpPr/>
          <p:nvPr/>
        </p:nvSpPr>
        <p:spPr>
          <a:xfrm>
            <a:off x="2089338" y="5025150"/>
            <a:ext cx="6093609" cy="27991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54774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Decomposition of solving a word search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7CF502-60F5-433A-A37E-9552526C9467}"/>
              </a:ext>
            </a:extLst>
          </p:cNvPr>
          <p:cNvSpPr/>
          <p:nvPr/>
        </p:nvSpPr>
        <p:spPr>
          <a:xfrm>
            <a:off x="176565" y="1176439"/>
            <a:ext cx="11580006" cy="4618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 every word to find in the wordsearch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FOR every letter in the grid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IF grid[letter] = first letter of the word THEN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FOR all the letters adjacent to the letter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IF grid[adjacent letter] = second letter of the word THEN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FOR the word.LENGTH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check all the letters in the same direction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IF a letter does not match THEN the word is not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IF there are no more letters to check THEN the word is not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IF all the letters match THEN the word is found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OUTPUT where the word was found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D016E9-74BE-4C1B-9C2D-8E28CA1C6C45}"/>
              </a:ext>
            </a:extLst>
          </p:cNvPr>
          <p:cNvSpPr/>
          <p:nvPr/>
        </p:nvSpPr>
        <p:spPr>
          <a:xfrm>
            <a:off x="1314898" y="5429636"/>
            <a:ext cx="4068866" cy="27991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12642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Algorithmic thinking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picture containing large, black, side, white&#10;&#10;Description automatically generated">
            <a:extLst>
              <a:ext uri="{FF2B5EF4-FFF2-40B4-BE49-F238E27FC236}">
                <a16:creationId xmlns:a16="http://schemas.microsoft.com/office/drawing/2014/main" id="{560BFFB8-2D0F-4017-8EAC-FEF506F0E4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928" y="410617"/>
            <a:ext cx="7380514" cy="65313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EDA9550-B895-E188-DF8A-0E8707969879}"/>
              </a:ext>
            </a:extLst>
          </p:cNvPr>
          <p:cNvSpPr/>
          <p:nvPr/>
        </p:nvSpPr>
        <p:spPr>
          <a:xfrm>
            <a:off x="176565" y="1105731"/>
            <a:ext cx="4230065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So, how can we store this data?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Abstraction allows us to think about what's important and what's not important.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be able to: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Store the letters.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Store the location of letters in relation to all the other letters.</a:t>
            </a:r>
          </a:p>
          <a:p>
            <a:pPr marL="54000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Refer to each letter.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Therefore, we need to number them. Simple X-Y coordinates could be helpful. </a:t>
            </a:r>
          </a:p>
        </p:txBody>
      </p:sp>
    </p:spTree>
    <p:extLst>
      <p:ext uri="{BB962C8B-B14F-4D97-AF65-F5344CB8AC3E}">
        <p14:creationId xmlns:p14="http://schemas.microsoft.com/office/powerpoint/2010/main" val="1877000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Algorithmic thinking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picture containing large, black, side, white&#10;&#10;Description automatically generated">
            <a:extLst>
              <a:ext uri="{FF2B5EF4-FFF2-40B4-BE49-F238E27FC236}">
                <a16:creationId xmlns:a16="http://schemas.microsoft.com/office/drawing/2014/main" id="{560BFFB8-2D0F-4017-8EAC-FEF506F0E4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928" y="410617"/>
            <a:ext cx="7380514" cy="6531358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E4CF58EB-C90C-422D-9048-00675D4EF620}"/>
              </a:ext>
            </a:extLst>
          </p:cNvPr>
          <p:cNvSpPr/>
          <p:nvPr/>
        </p:nvSpPr>
        <p:spPr>
          <a:xfrm>
            <a:off x="176565" y="1105731"/>
            <a:ext cx="4230065" cy="38266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So, how can we store this data?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Abstraction allows us to think about what's important and what's not important.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be able to: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Store the letters.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Store the location of letters in relation to all the other letters.</a:t>
            </a:r>
          </a:p>
          <a:p>
            <a:pPr marL="54000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Refer to each letter.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Therefore, we need to number them. Simple X-Y coordinates could be helpful. 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example, we could refer to this instance of D as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 = 7, y = 5.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4E12CA-CF39-48A2-A501-58DF4DC69DB3}"/>
              </a:ext>
            </a:extLst>
          </p:cNvPr>
          <p:cNvSpPr/>
          <p:nvPr/>
        </p:nvSpPr>
        <p:spPr>
          <a:xfrm>
            <a:off x="8733452" y="3085138"/>
            <a:ext cx="439257" cy="36252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F58B44-5BF1-4A82-9F43-D0ED7C35BAAE}"/>
              </a:ext>
            </a:extLst>
          </p:cNvPr>
          <p:cNvSpPr/>
          <p:nvPr/>
        </p:nvSpPr>
        <p:spPr>
          <a:xfrm>
            <a:off x="5262465" y="3075807"/>
            <a:ext cx="3910244" cy="371854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FD7143-FEF0-4ED4-8EFA-11B4931019B3}"/>
              </a:ext>
            </a:extLst>
          </p:cNvPr>
          <p:cNvSpPr/>
          <p:nvPr/>
        </p:nvSpPr>
        <p:spPr>
          <a:xfrm rot="5400000">
            <a:off x="7621310" y="1914925"/>
            <a:ext cx="2635547" cy="429926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C72536-402E-4ED1-9B06-E64241144EFF}"/>
              </a:ext>
            </a:extLst>
          </p:cNvPr>
          <p:cNvSpPr/>
          <p:nvPr/>
        </p:nvSpPr>
        <p:spPr>
          <a:xfrm>
            <a:off x="8724120" y="812113"/>
            <a:ext cx="439257" cy="36252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56C7E4-D1DA-4BEC-B632-5EE556DDBAC4}"/>
              </a:ext>
            </a:extLst>
          </p:cNvPr>
          <p:cNvSpPr/>
          <p:nvPr/>
        </p:nvSpPr>
        <p:spPr>
          <a:xfrm>
            <a:off x="5262465" y="3071194"/>
            <a:ext cx="439257" cy="36252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30895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Algorithmic</a:t>
            </a:r>
            <a:r>
              <a:rPr lang="en-GB" sz="2400" dirty="0">
                <a:solidFill>
                  <a:srgbClr val="008C8C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thinking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4CF58EB-C90C-422D-9048-00675D4EF620}"/>
              </a:ext>
            </a:extLst>
          </p:cNvPr>
          <p:cNvSpPr/>
          <p:nvPr/>
        </p:nvSpPr>
        <p:spPr>
          <a:xfrm>
            <a:off x="176565" y="1105731"/>
            <a:ext cx="4648354" cy="3067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Abstraction also allows us to realise that: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size of the grid is not important.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words are not important.</a:t>
            </a:r>
          </a:p>
          <a:p>
            <a:pPr marL="54000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individual letters are not important.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important is: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word we are currently looking for.</a:t>
            </a:r>
          </a:p>
          <a:p>
            <a:pPr marL="54000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letters for that word in the grid.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 the other letters are irrelevant – this allows us to simplify the grid for the purposes of programming and testing.</a:t>
            </a:r>
          </a:p>
        </p:txBody>
      </p:sp>
      <p:pic>
        <p:nvPicPr>
          <p:cNvPr id="12" name="Picture 11" descr="A screen shot of a clock&#10;&#10;Description automatically generated">
            <a:extLst>
              <a:ext uri="{FF2B5EF4-FFF2-40B4-BE49-F238E27FC236}">
                <a16:creationId xmlns:a16="http://schemas.microsoft.com/office/drawing/2014/main" id="{4E0A64DE-083E-4B96-9818-B9F21072BB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3982" y="1747023"/>
            <a:ext cx="3812129" cy="3480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6475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DE6D4ED5-890B-45ED-8F21-45005EFE0C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544" y="1236360"/>
            <a:ext cx="10650369" cy="450196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Algorithmic thinking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screen shot of a clock&#10;&#10;Description automatically generated">
            <a:extLst>
              <a:ext uri="{FF2B5EF4-FFF2-40B4-BE49-F238E27FC236}">
                <a16:creationId xmlns:a16="http://schemas.microsoft.com/office/drawing/2014/main" id="{BDAFBEE8-542E-44A8-B723-EEC46D7766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3982" y="1747023"/>
            <a:ext cx="3812129" cy="3480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4831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C9B6F374-004C-4620-B6BB-0C5AEF326D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544" y="1236360"/>
            <a:ext cx="10650369" cy="450196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Algorithmic thinking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screen shot of a clock&#10;&#10;Description automatically generated">
            <a:extLst>
              <a:ext uri="{FF2B5EF4-FFF2-40B4-BE49-F238E27FC236}">
                <a16:creationId xmlns:a16="http://schemas.microsoft.com/office/drawing/2014/main" id="{BDAFBEE8-542E-44A8-B723-EEC46D7766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3982" y="1747023"/>
            <a:ext cx="3812129" cy="348063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5C772B3-14F2-41C2-8EC0-7D88289E3063}"/>
              </a:ext>
            </a:extLst>
          </p:cNvPr>
          <p:cNvSpPr/>
          <p:nvPr/>
        </p:nvSpPr>
        <p:spPr>
          <a:xfrm>
            <a:off x="8350898" y="3010490"/>
            <a:ext cx="2473328" cy="2140007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9317F38-6747-44DE-BC83-9E5119AFF9C7}"/>
              </a:ext>
            </a:extLst>
          </p:cNvPr>
          <p:cNvCxnSpPr/>
          <p:nvPr/>
        </p:nvCxnSpPr>
        <p:spPr>
          <a:xfrm>
            <a:off x="2323322" y="1940767"/>
            <a:ext cx="0" cy="287382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BEAAFEA-E536-4904-AF8E-1EC92870B4F2}"/>
              </a:ext>
            </a:extLst>
          </p:cNvPr>
          <p:cNvCxnSpPr>
            <a:endCxn id="9" idx="1"/>
          </p:cNvCxnSpPr>
          <p:nvPr/>
        </p:nvCxnSpPr>
        <p:spPr>
          <a:xfrm>
            <a:off x="2323322" y="3097763"/>
            <a:ext cx="6027576" cy="982731"/>
          </a:xfrm>
          <a:prstGeom prst="line">
            <a:avLst/>
          </a:prstGeom>
          <a:ln w="5715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8A5A7A1-0E61-46F1-8717-842FC8D3C5F6}"/>
              </a:ext>
            </a:extLst>
          </p:cNvPr>
          <p:cNvSpPr/>
          <p:nvPr/>
        </p:nvSpPr>
        <p:spPr>
          <a:xfrm>
            <a:off x="176565" y="1183485"/>
            <a:ext cx="6485487" cy="4700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50D5C3-4713-48E3-9EC5-F154867F26AC}"/>
              </a:ext>
            </a:extLst>
          </p:cNvPr>
          <p:cNvSpPr/>
          <p:nvPr/>
        </p:nvSpPr>
        <p:spPr>
          <a:xfrm>
            <a:off x="176565" y="1879094"/>
            <a:ext cx="2048642" cy="302880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20562B-310F-46BB-90C3-661BCA71203B}"/>
              </a:ext>
            </a:extLst>
          </p:cNvPr>
          <p:cNvSpPr/>
          <p:nvPr/>
        </p:nvSpPr>
        <p:spPr>
          <a:xfrm>
            <a:off x="2464978" y="4261571"/>
            <a:ext cx="36310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Python, the grid can be represented as a list within in a list.</a:t>
            </a:r>
          </a:p>
        </p:txBody>
      </p:sp>
    </p:spTree>
    <p:extLst>
      <p:ext uri="{BB962C8B-B14F-4D97-AF65-F5344CB8AC3E}">
        <p14:creationId xmlns:p14="http://schemas.microsoft.com/office/powerpoint/2010/main" val="6101052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C9B6F374-004C-4620-B6BB-0C5AEF326D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544" y="1236360"/>
            <a:ext cx="10650369" cy="450196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Algorithmic thinking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screen shot of a clock&#10;&#10;Description automatically generated">
            <a:extLst>
              <a:ext uri="{FF2B5EF4-FFF2-40B4-BE49-F238E27FC236}">
                <a16:creationId xmlns:a16="http://schemas.microsoft.com/office/drawing/2014/main" id="{BDAFBEE8-542E-44A8-B723-EEC46D7766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3982" y="1747023"/>
            <a:ext cx="3812129" cy="348063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5C772B3-14F2-41C2-8EC0-7D88289E3063}"/>
              </a:ext>
            </a:extLst>
          </p:cNvPr>
          <p:cNvSpPr/>
          <p:nvPr/>
        </p:nvSpPr>
        <p:spPr>
          <a:xfrm rot="18715833">
            <a:off x="9178148" y="2721439"/>
            <a:ext cx="747165" cy="2671449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9317F38-6747-44DE-BC83-9E5119AFF9C7}"/>
              </a:ext>
            </a:extLst>
          </p:cNvPr>
          <p:cNvCxnSpPr>
            <a:cxnSpLocks/>
          </p:cNvCxnSpPr>
          <p:nvPr/>
        </p:nvCxnSpPr>
        <p:spPr>
          <a:xfrm>
            <a:off x="1828799" y="5150497"/>
            <a:ext cx="0" cy="366911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BEAAFEA-E536-4904-AF8E-1EC92870B4F2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1828799" y="4335093"/>
            <a:ext cx="7473293" cy="997354"/>
          </a:xfrm>
          <a:prstGeom prst="line">
            <a:avLst/>
          </a:prstGeom>
          <a:ln w="5715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A50D5C3-4713-48E3-9EC5-F154867F26AC}"/>
              </a:ext>
            </a:extLst>
          </p:cNvPr>
          <p:cNvSpPr/>
          <p:nvPr/>
        </p:nvSpPr>
        <p:spPr>
          <a:xfrm>
            <a:off x="176565" y="5150497"/>
            <a:ext cx="1530937" cy="36389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20562B-310F-46BB-90C3-661BCA71203B}"/>
              </a:ext>
            </a:extLst>
          </p:cNvPr>
          <p:cNvSpPr/>
          <p:nvPr/>
        </p:nvSpPr>
        <p:spPr>
          <a:xfrm>
            <a:off x="2464978" y="4261571"/>
            <a:ext cx="29560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word to find can be stored in a variable.</a:t>
            </a:r>
          </a:p>
        </p:txBody>
      </p:sp>
    </p:spTree>
    <p:extLst>
      <p:ext uri="{BB962C8B-B14F-4D97-AF65-F5344CB8AC3E}">
        <p14:creationId xmlns:p14="http://schemas.microsoft.com/office/powerpoint/2010/main" val="8566216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Algorithmic thinking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screen shot of a clock&#10;&#10;Description automatically generated">
            <a:extLst>
              <a:ext uri="{FF2B5EF4-FFF2-40B4-BE49-F238E27FC236}">
                <a16:creationId xmlns:a16="http://schemas.microsoft.com/office/drawing/2014/main" id="{BDAFBEE8-542E-44A8-B723-EEC46D7766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3982" y="1747023"/>
            <a:ext cx="3812129" cy="348063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320562B-310F-46BB-90C3-661BCA71203B}"/>
              </a:ext>
            </a:extLst>
          </p:cNvPr>
          <p:cNvSpPr/>
          <p:nvPr/>
        </p:nvSpPr>
        <p:spPr>
          <a:xfrm>
            <a:off x="176564" y="1100692"/>
            <a:ext cx="3812130" cy="2790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can we look at every single letter in the grid in an efficient way?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Two FOR loops – one nested inside the other – allow us to look at every column and every row.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Why is a FOR loop a good choice?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know the bounds of the grid.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They are fixed – in this example, 0 to 2.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147E431-EEE2-4EF5-BDF4-984F176D86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2811"/>
          <a:stretch/>
        </p:blipFill>
        <p:spPr>
          <a:xfrm>
            <a:off x="4387605" y="523175"/>
            <a:ext cx="6437448" cy="57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3332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Algorithmic thinking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screen shot of a clock&#10;&#10;Description automatically generated">
            <a:extLst>
              <a:ext uri="{FF2B5EF4-FFF2-40B4-BE49-F238E27FC236}">
                <a16:creationId xmlns:a16="http://schemas.microsoft.com/office/drawing/2014/main" id="{BDAFBEE8-542E-44A8-B723-EEC46D7766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3982" y="1747023"/>
            <a:ext cx="3812129" cy="348063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320562B-310F-46BB-90C3-661BCA71203B}"/>
              </a:ext>
            </a:extLst>
          </p:cNvPr>
          <p:cNvSpPr/>
          <p:nvPr/>
        </p:nvSpPr>
        <p:spPr>
          <a:xfrm>
            <a:off x="176564" y="1100692"/>
            <a:ext cx="3525423" cy="3795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can make use of the fact that every letter of a string has an index: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So, we need to check if 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word[0]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matches a letter in the grid.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can use an IF statement to perform this check.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147E431-EEE2-4EF5-BDF4-984F176D8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7605" y="523174"/>
            <a:ext cx="6437448" cy="122384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A7E38F5-6432-44AE-A4D1-BF1FA1B84B0D}"/>
              </a:ext>
            </a:extLst>
          </p:cNvPr>
          <p:cNvSpPr/>
          <p:nvPr/>
        </p:nvSpPr>
        <p:spPr>
          <a:xfrm>
            <a:off x="532649" y="1903277"/>
            <a:ext cx="186647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word = "abc"</a:t>
            </a:r>
          </a:p>
          <a:p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word[0] = a</a:t>
            </a:r>
          </a:p>
          <a:p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word[1] = b</a:t>
            </a:r>
          </a:p>
          <a:p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word[2] = 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36F72D-2DDC-4A13-860D-A212873D3046}"/>
              </a:ext>
            </a:extLst>
          </p:cNvPr>
          <p:cNvSpPr/>
          <p:nvPr/>
        </p:nvSpPr>
        <p:spPr>
          <a:xfrm>
            <a:off x="5321499" y="1100692"/>
            <a:ext cx="3542584" cy="37354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02470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Algorithmic thinking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20562B-310F-46BB-90C3-661BCA71203B}"/>
              </a:ext>
            </a:extLst>
          </p:cNvPr>
          <p:cNvSpPr/>
          <p:nvPr/>
        </p:nvSpPr>
        <p:spPr>
          <a:xfrm>
            <a:off x="176564" y="1100692"/>
            <a:ext cx="3756243" cy="21339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Once we have found the first letter, we need to expand the search to all adjacent letters.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 we are storing the letters in a list and those lists are indexed with numbers, performing this adjacent search becomes quite easy.</a:t>
            </a:r>
          </a:p>
        </p:txBody>
      </p:sp>
      <p:pic>
        <p:nvPicPr>
          <p:cNvPr id="4" name="Picture 3" descr="A picture containing ready, pizza, large&#10;&#10;Description automatically generated">
            <a:extLst>
              <a:ext uri="{FF2B5EF4-FFF2-40B4-BE49-F238E27FC236}">
                <a16:creationId xmlns:a16="http://schemas.microsoft.com/office/drawing/2014/main" id="{25CB5F5B-4602-4B38-ABED-05CCF9F08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8659" y="3095517"/>
            <a:ext cx="3886742" cy="2943636"/>
          </a:xfrm>
          <a:prstGeom prst="rect">
            <a:avLst/>
          </a:prstGeom>
        </p:spPr>
      </p:pic>
      <p:pic>
        <p:nvPicPr>
          <p:cNvPr id="9" name="Picture 8" descr="A picture containing knife&#10;&#10;Description automatically generated">
            <a:extLst>
              <a:ext uri="{FF2B5EF4-FFF2-40B4-BE49-F238E27FC236}">
                <a16:creationId xmlns:a16="http://schemas.microsoft.com/office/drawing/2014/main" id="{E1CAC1EE-14E8-4140-BE0B-8AE4D41C044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438"/>
          <a:stretch/>
        </p:blipFill>
        <p:spPr>
          <a:xfrm>
            <a:off x="5028659" y="444905"/>
            <a:ext cx="6505727" cy="2425299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9539E801-1F00-4903-B1E2-90047F8B95B0}"/>
              </a:ext>
            </a:extLst>
          </p:cNvPr>
          <p:cNvGrpSpPr/>
          <p:nvPr/>
        </p:nvGrpSpPr>
        <p:grpSpPr>
          <a:xfrm>
            <a:off x="6424614" y="4098925"/>
            <a:ext cx="1066801" cy="923925"/>
            <a:chOff x="6424614" y="4098925"/>
            <a:chExt cx="1066801" cy="923925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F043FA-76EB-4A15-B5A4-5071728CA3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72300" y="4098925"/>
              <a:ext cx="0" cy="263525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1713295-301A-4B53-AD9C-A6D28E9116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72300" y="4759325"/>
              <a:ext cx="0" cy="263525"/>
            </a:xfrm>
            <a:prstGeom prst="line">
              <a:avLst/>
            </a:prstGeom>
            <a:ln w="28575"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E96E768-1999-4469-819E-7564F7D97D77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359652" y="4435477"/>
              <a:ext cx="0" cy="263525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3B20BCF-7CAE-4D8D-A156-74D4A3BE36A2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6556377" y="4435476"/>
              <a:ext cx="0" cy="263525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C6BEB23-448F-4409-929C-AAE518EBB4F6}"/>
                </a:ext>
              </a:extLst>
            </p:cNvPr>
            <p:cNvGrpSpPr/>
            <p:nvPr/>
          </p:nvGrpSpPr>
          <p:grpSpPr>
            <a:xfrm>
              <a:off x="6470651" y="4159309"/>
              <a:ext cx="1020764" cy="203141"/>
              <a:chOff x="6470651" y="4159309"/>
              <a:chExt cx="1020764" cy="203141"/>
            </a:xfrm>
          </p:grpSpPr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4B142636-67BB-4E93-9CBF-891B9BBC1C4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470651" y="4165601"/>
                <a:ext cx="217489" cy="196849"/>
              </a:xfrm>
              <a:prstGeom prst="line">
                <a:avLst/>
              </a:prstGeom>
              <a:ln w="28575">
                <a:solidFill>
                  <a:srgbClr val="C0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70AF0113-1A89-4CDC-903C-87EE8989DAA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73926" y="4159309"/>
                <a:ext cx="217489" cy="196849"/>
              </a:xfrm>
              <a:prstGeom prst="line">
                <a:avLst/>
              </a:prstGeom>
              <a:ln w="28575">
                <a:solidFill>
                  <a:srgbClr val="C0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B2AC791-D4DE-420B-BD65-38A1C16DF42E}"/>
                </a:ext>
              </a:extLst>
            </p:cNvPr>
            <p:cNvGrpSpPr/>
            <p:nvPr/>
          </p:nvGrpSpPr>
          <p:grpSpPr>
            <a:xfrm flipV="1">
              <a:off x="6470651" y="4753033"/>
              <a:ext cx="1020764" cy="203141"/>
              <a:chOff x="6470651" y="4159309"/>
              <a:chExt cx="1020764" cy="203141"/>
            </a:xfrm>
          </p:grpSpPr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34C9159A-7C33-4A8D-93F8-22FDC70E088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470651" y="4165601"/>
                <a:ext cx="217489" cy="196849"/>
              </a:xfrm>
              <a:prstGeom prst="line">
                <a:avLst/>
              </a:prstGeom>
              <a:ln w="28575">
                <a:solidFill>
                  <a:srgbClr val="C0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2B14FF75-7366-4122-B0F1-58CC532265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73926" y="4159309"/>
                <a:ext cx="217489" cy="196849"/>
              </a:xfrm>
              <a:prstGeom prst="line">
                <a:avLst/>
              </a:prstGeom>
              <a:ln w="28575">
                <a:solidFill>
                  <a:srgbClr val="C0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7003A1DF-CAFD-4F81-893A-0BD8524EFE80}"/>
              </a:ext>
            </a:extLst>
          </p:cNvPr>
          <p:cNvSpPr/>
          <p:nvPr/>
        </p:nvSpPr>
        <p:spPr>
          <a:xfrm>
            <a:off x="6556377" y="2110012"/>
            <a:ext cx="3542584" cy="77885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201066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Algorithmic thinking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20562B-310F-46BB-90C3-661BCA71203B}"/>
              </a:ext>
            </a:extLst>
          </p:cNvPr>
          <p:cNvSpPr/>
          <p:nvPr/>
        </p:nvSpPr>
        <p:spPr>
          <a:xfrm>
            <a:off x="176564" y="1100692"/>
            <a:ext cx="3756243" cy="3067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Once we have found the first letter, we need to expand the search to all adjacent letters.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 we are storing the letters in a list and those lists are indexed with numbers, performing this adjacent search becomes quite easy.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adjacent letters can be referred to by their coordinates relative to the letter we are currently on.</a:t>
            </a:r>
          </a:p>
        </p:txBody>
      </p:sp>
      <p:pic>
        <p:nvPicPr>
          <p:cNvPr id="4" name="Picture 3" descr="A picture containing ready, pizza, large&#10;&#10;Description automatically generated">
            <a:extLst>
              <a:ext uri="{FF2B5EF4-FFF2-40B4-BE49-F238E27FC236}">
                <a16:creationId xmlns:a16="http://schemas.microsoft.com/office/drawing/2014/main" id="{25CB5F5B-4602-4B38-ABED-05CCF9F08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8659" y="3095517"/>
            <a:ext cx="3886742" cy="2943636"/>
          </a:xfrm>
          <a:prstGeom prst="rect">
            <a:avLst/>
          </a:prstGeom>
        </p:spPr>
      </p:pic>
      <p:pic>
        <p:nvPicPr>
          <p:cNvPr id="9" name="Picture 8" descr="A picture containing knife&#10;&#10;Description automatically generated">
            <a:extLst>
              <a:ext uri="{FF2B5EF4-FFF2-40B4-BE49-F238E27FC236}">
                <a16:creationId xmlns:a16="http://schemas.microsoft.com/office/drawing/2014/main" id="{E1CAC1EE-14E8-4140-BE0B-8AE4D41C044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438"/>
          <a:stretch/>
        </p:blipFill>
        <p:spPr>
          <a:xfrm>
            <a:off x="5028659" y="444905"/>
            <a:ext cx="6505727" cy="2425299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B142636-67BB-4E93-9CBF-891B9BBC1C48}"/>
              </a:ext>
            </a:extLst>
          </p:cNvPr>
          <p:cNvCxnSpPr>
            <a:cxnSpLocks/>
          </p:cNvCxnSpPr>
          <p:nvPr/>
        </p:nvCxnSpPr>
        <p:spPr>
          <a:xfrm flipH="1" flipV="1">
            <a:off x="6470652" y="4165602"/>
            <a:ext cx="304684" cy="275769"/>
          </a:xfrm>
          <a:prstGeom prst="line">
            <a:avLst/>
          </a:prstGeom>
          <a:ln w="2857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7003A1DF-CAFD-4F81-893A-0BD8524EFE80}"/>
              </a:ext>
            </a:extLst>
          </p:cNvPr>
          <p:cNvSpPr/>
          <p:nvPr/>
        </p:nvSpPr>
        <p:spPr>
          <a:xfrm>
            <a:off x="6556377" y="2110012"/>
            <a:ext cx="3542584" cy="77885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59B975C-0ECB-48E2-A3D7-FC9D6E228951}"/>
              </a:ext>
            </a:extLst>
          </p:cNvPr>
          <p:cNvSpPr/>
          <p:nvPr/>
        </p:nvSpPr>
        <p:spPr>
          <a:xfrm>
            <a:off x="5744697" y="3598319"/>
            <a:ext cx="917360" cy="764132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31714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525F25EF-5859-4630-8C14-B3CA2CA014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042"/>
          <a:stretch/>
        </p:blipFill>
        <p:spPr>
          <a:xfrm>
            <a:off x="3157771" y="455469"/>
            <a:ext cx="9034229" cy="233438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Algorithmic thinking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20562B-310F-46BB-90C3-661BCA71203B}"/>
              </a:ext>
            </a:extLst>
          </p:cNvPr>
          <p:cNvSpPr/>
          <p:nvPr/>
        </p:nvSpPr>
        <p:spPr>
          <a:xfrm>
            <a:off x="176565" y="1100692"/>
            <a:ext cx="32291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must be careful that we don’t try to check cell locations beyond the edge of the grid – this would cause an error.</a:t>
            </a:r>
          </a:p>
        </p:txBody>
      </p:sp>
      <p:pic>
        <p:nvPicPr>
          <p:cNvPr id="10" name="Picture 9" descr="A screen shot of a clock&#10;&#10;Description automatically generated">
            <a:extLst>
              <a:ext uri="{FF2B5EF4-FFF2-40B4-BE49-F238E27FC236}">
                <a16:creationId xmlns:a16="http://schemas.microsoft.com/office/drawing/2014/main" id="{656DB889-C634-4623-A8EF-251DADEAFA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512" y="2854187"/>
            <a:ext cx="3812129" cy="3480639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7003A1DF-CAFD-4F81-893A-0BD8524EFE80}"/>
              </a:ext>
            </a:extLst>
          </p:cNvPr>
          <p:cNvSpPr/>
          <p:nvPr/>
        </p:nvSpPr>
        <p:spPr>
          <a:xfrm>
            <a:off x="5320512" y="2463515"/>
            <a:ext cx="6871488" cy="33566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9780D-D1B1-4A47-8362-0F4E7E3D5B56}"/>
              </a:ext>
            </a:extLst>
          </p:cNvPr>
          <p:cNvSpPr/>
          <p:nvPr/>
        </p:nvSpPr>
        <p:spPr>
          <a:xfrm>
            <a:off x="8371621" y="5535697"/>
            <a:ext cx="723695" cy="62449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E56AA1-7909-40E2-B270-3460D4570CE7}"/>
              </a:ext>
            </a:extLst>
          </p:cNvPr>
          <p:cNvSpPr/>
          <p:nvPr/>
        </p:nvSpPr>
        <p:spPr>
          <a:xfrm>
            <a:off x="8362307" y="4883704"/>
            <a:ext cx="723695" cy="624491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9F08B0-A009-4EE5-99E4-F86053A8AFD4}"/>
              </a:ext>
            </a:extLst>
          </p:cNvPr>
          <p:cNvSpPr/>
          <p:nvPr/>
        </p:nvSpPr>
        <p:spPr>
          <a:xfrm>
            <a:off x="7609639" y="4877018"/>
            <a:ext cx="723695" cy="624491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C1F58F-2C95-4969-9F74-7FAC8D67A159}"/>
              </a:ext>
            </a:extLst>
          </p:cNvPr>
          <p:cNvSpPr/>
          <p:nvPr/>
        </p:nvSpPr>
        <p:spPr>
          <a:xfrm>
            <a:off x="7609638" y="5537851"/>
            <a:ext cx="723695" cy="624491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D9A0E0-2A1C-4D9A-9733-15700D3FD12E}"/>
              </a:ext>
            </a:extLst>
          </p:cNvPr>
          <p:cNvSpPr/>
          <p:nvPr/>
        </p:nvSpPr>
        <p:spPr>
          <a:xfrm>
            <a:off x="9123792" y="4875355"/>
            <a:ext cx="723695" cy="624491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73E130-D96B-42E9-BBD5-306C9966CA0B}"/>
              </a:ext>
            </a:extLst>
          </p:cNvPr>
          <p:cNvSpPr/>
          <p:nvPr/>
        </p:nvSpPr>
        <p:spPr>
          <a:xfrm>
            <a:off x="9123791" y="5536188"/>
            <a:ext cx="723695" cy="624491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B6D9B15-688E-4290-8B9A-D288BFDFEE15}"/>
              </a:ext>
            </a:extLst>
          </p:cNvPr>
          <p:cNvSpPr/>
          <p:nvPr/>
        </p:nvSpPr>
        <p:spPr>
          <a:xfrm>
            <a:off x="8362306" y="6199171"/>
            <a:ext cx="723695" cy="624491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99A7B2-EB57-498C-8A86-F9FF835AFEC3}"/>
              </a:ext>
            </a:extLst>
          </p:cNvPr>
          <p:cNvSpPr/>
          <p:nvPr/>
        </p:nvSpPr>
        <p:spPr>
          <a:xfrm>
            <a:off x="7609638" y="6192485"/>
            <a:ext cx="723695" cy="624491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097C7F-B0DE-4CC5-A488-B88FE77219DA}"/>
              </a:ext>
            </a:extLst>
          </p:cNvPr>
          <p:cNvSpPr/>
          <p:nvPr/>
        </p:nvSpPr>
        <p:spPr>
          <a:xfrm>
            <a:off x="9112958" y="6189840"/>
            <a:ext cx="723695" cy="624491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8819F8D-160A-4512-A99A-A12187E79F9F}"/>
              </a:ext>
            </a:extLst>
          </p:cNvPr>
          <p:cNvGrpSpPr/>
          <p:nvPr/>
        </p:nvGrpSpPr>
        <p:grpSpPr>
          <a:xfrm>
            <a:off x="8099486" y="5318942"/>
            <a:ext cx="1203132" cy="1041997"/>
            <a:chOff x="6424614" y="4098925"/>
            <a:chExt cx="1066801" cy="923925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43E6010-292E-45E3-A7D9-9139C18748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72300" y="4098925"/>
              <a:ext cx="0" cy="263525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C8E1A02-7F6E-49BD-9616-AE1B16510F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72300" y="4759325"/>
              <a:ext cx="0" cy="263525"/>
            </a:xfrm>
            <a:prstGeom prst="line">
              <a:avLst/>
            </a:prstGeom>
            <a:ln w="28575"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CA308B5-7446-4DC9-9816-3CC8BD216D9A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359652" y="4435477"/>
              <a:ext cx="0" cy="263525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E3990B7-1881-4D6D-92B8-847D1CF21DA4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6556377" y="4435476"/>
              <a:ext cx="0" cy="263525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69BA9808-1CC6-4DA7-9F0B-C7634051ABDF}"/>
                </a:ext>
              </a:extLst>
            </p:cNvPr>
            <p:cNvGrpSpPr/>
            <p:nvPr/>
          </p:nvGrpSpPr>
          <p:grpSpPr>
            <a:xfrm>
              <a:off x="6470651" y="4159309"/>
              <a:ext cx="1020764" cy="203141"/>
              <a:chOff x="6470651" y="4159309"/>
              <a:chExt cx="1020764" cy="203141"/>
            </a:xfrm>
          </p:grpSpPr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03D7A89F-BB64-4BCD-86CE-257C43C3A53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470651" y="4165601"/>
                <a:ext cx="217489" cy="196849"/>
              </a:xfrm>
              <a:prstGeom prst="line">
                <a:avLst/>
              </a:prstGeom>
              <a:ln w="28575">
                <a:solidFill>
                  <a:srgbClr val="C0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0FDD22B7-635E-4110-BD75-B514DAEB13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73926" y="4159309"/>
                <a:ext cx="217489" cy="196849"/>
              </a:xfrm>
              <a:prstGeom prst="line">
                <a:avLst/>
              </a:prstGeom>
              <a:ln w="28575">
                <a:solidFill>
                  <a:srgbClr val="C0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853206A-592A-4901-BEBC-B100EA6A04D6}"/>
                </a:ext>
              </a:extLst>
            </p:cNvPr>
            <p:cNvGrpSpPr/>
            <p:nvPr/>
          </p:nvGrpSpPr>
          <p:grpSpPr>
            <a:xfrm flipV="1">
              <a:off x="6470651" y="4753033"/>
              <a:ext cx="1020764" cy="203141"/>
              <a:chOff x="6470651" y="4159309"/>
              <a:chExt cx="1020764" cy="203141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ECD8AFEB-C2AB-4454-94D7-D325E04819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470651" y="4165601"/>
                <a:ext cx="217489" cy="196849"/>
              </a:xfrm>
              <a:prstGeom prst="line">
                <a:avLst/>
              </a:prstGeom>
              <a:ln w="28575">
                <a:solidFill>
                  <a:srgbClr val="C0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1830306B-8624-4F45-9F47-4ADBC18E630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73926" y="4159309"/>
                <a:ext cx="217489" cy="196849"/>
              </a:xfrm>
              <a:prstGeom prst="line">
                <a:avLst/>
              </a:prstGeom>
              <a:ln w="28575">
                <a:solidFill>
                  <a:srgbClr val="C0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1441115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6912FE87-D323-4033-BC22-193B64EE2BD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50"/>
          <a:stretch/>
        </p:blipFill>
        <p:spPr>
          <a:xfrm>
            <a:off x="1444868" y="931727"/>
            <a:ext cx="10600457" cy="294363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Algorithmic thinking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20562B-310F-46BB-90C3-661BCA71203B}"/>
              </a:ext>
            </a:extLst>
          </p:cNvPr>
          <p:cNvSpPr/>
          <p:nvPr/>
        </p:nvSpPr>
        <p:spPr>
          <a:xfrm>
            <a:off x="190202" y="3748659"/>
            <a:ext cx="3520663" cy="1579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Now we can check if the letter in the offset position matches the second letter in the word.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Make sure not to check the original first letter while doing this.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03A1DF-CAFD-4F81-893A-0BD8524EFE80}"/>
              </a:ext>
            </a:extLst>
          </p:cNvPr>
          <p:cNvSpPr/>
          <p:nvPr/>
        </p:nvSpPr>
        <p:spPr>
          <a:xfrm>
            <a:off x="3958243" y="3118672"/>
            <a:ext cx="8087082" cy="33566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6" name="Picture 35" descr="A picture containing ready, pizza, large&#10;&#10;Description automatically generated">
            <a:extLst>
              <a:ext uri="{FF2B5EF4-FFF2-40B4-BE49-F238E27FC236}">
                <a16:creationId xmlns:a16="http://schemas.microsoft.com/office/drawing/2014/main" id="{ABBEE519-445A-44B3-AE81-AA2D19D811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5183" y="3748659"/>
            <a:ext cx="3886742" cy="294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334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6912FE87-D323-4033-BC22-193B64EE2BD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50"/>
          <a:stretch/>
        </p:blipFill>
        <p:spPr>
          <a:xfrm>
            <a:off x="1444868" y="931727"/>
            <a:ext cx="10600457" cy="294363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Algorithmic thinking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20562B-310F-46BB-90C3-661BCA71203B}"/>
              </a:ext>
            </a:extLst>
          </p:cNvPr>
          <p:cNvSpPr/>
          <p:nvPr/>
        </p:nvSpPr>
        <p:spPr>
          <a:xfrm>
            <a:off x="190202" y="3748659"/>
            <a:ext cx="363126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we find a matching letter, we need to continue checking letters in that direction up to the number of letters in the word we are looking for.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03A1DF-CAFD-4F81-893A-0BD8524EFE80}"/>
              </a:ext>
            </a:extLst>
          </p:cNvPr>
          <p:cNvSpPr/>
          <p:nvPr/>
        </p:nvSpPr>
        <p:spPr>
          <a:xfrm>
            <a:off x="3958243" y="3118672"/>
            <a:ext cx="8087082" cy="33566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6" name="Picture 35" descr="A picture containing ready, pizza, large&#10;&#10;Description automatically generated">
            <a:extLst>
              <a:ext uri="{FF2B5EF4-FFF2-40B4-BE49-F238E27FC236}">
                <a16:creationId xmlns:a16="http://schemas.microsoft.com/office/drawing/2014/main" id="{ABBEE519-445A-44B3-AE81-AA2D19D811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5183" y="3748659"/>
            <a:ext cx="3886742" cy="294363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9AFC824-745A-4DF9-836F-E22F2085974B}"/>
              </a:ext>
            </a:extLst>
          </p:cNvPr>
          <p:cNvSpPr/>
          <p:nvPr/>
        </p:nvSpPr>
        <p:spPr>
          <a:xfrm>
            <a:off x="6019874" y="3748659"/>
            <a:ext cx="917360" cy="1831179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DEF0EC5-48E6-40F7-80B9-D5AB26E6E92A}"/>
              </a:ext>
            </a:extLst>
          </p:cNvPr>
          <p:cNvCxnSpPr>
            <a:cxnSpLocks/>
          </p:cNvCxnSpPr>
          <p:nvPr/>
        </p:nvCxnSpPr>
        <p:spPr>
          <a:xfrm flipV="1">
            <a:off x="6223518" y="3875363"/>
            <a:ext cx="0" cy="1350625"/>
          </a:xfrm>
          <a:prstGeom prst="line">
            <a:avLst/>
          </a:prstGeom>
          <a:ln w="5715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17585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3F323A87-4077-4C71-BFBB-D44CF3E2A72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70"/>
          <a:stretch/>
        </p:blipFill>
        <p:spPr>
          <a:xfrm>
            <a:off x="1450626" y="932128"/>
            <a:ext cx="10653826" cy="473115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Algorithmic thinking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03A1DF-CAFD-4F81-893A-0BD8524EFE80}"/>
              </a:ext>
            </a:extLst>
          </p:cNvPr>
          <p:cNvSpPr/>
          <p:nvPr/>
        </p:nvSpPr>
        <p:spPr>
          <a:xfrm>
            <a:off x="4363154" y="3901689"/>
            <a:ext cx="3610947" cy="176159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9751FB-9054-46C1-A2BA-50E20D739945}"/>
              </a:ext>
            </a:extLst>
          </p:cNvPr>
          <p:cNvSpPr/>
          <p:nvPr/>
        </p:nvSpPr>
        <p:spPr>
          <a:xfrm>
            <a:off x="190202" y="3826481"/>
            <a:ext cx="3858015" cy="18569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 this point, we only need to change one of the variables to check all the remaining letters in the word.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do this, we introduce two other variables –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which we increment in the appropriate direction.</a:t>
            </a:r>
          </a:p>
        </p:txBody>
      </p:sp>
    </p:spTree>
    <p:extLst>
      <p:ext uri="{BB962C8B-B14F-4D97-AF65-F5344CB8AC3E}">
        <p14:creationId xmlns:p14="http://schemas.microsoft.com/office/powerpoint/2010/main" val="38543883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AFB17213-2501-401F-998B-76ED256F6BA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95"/>
          <a:stretch/>
        </p:blipFill>
        <p:spPr>
          <a:xfrm>
            <a:off x="1450622" y="932128"/>
            <a:ext cx="10653826" cy="541696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Algorithmic thinking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9751FB-9054-46C1-A2BA-50E20D739945}"/>
              </a:ext>
            </a:extLst>
          </p:cNvPr>
          <p:cNvSpPr/>
          <p:nvPr/>
        </p:nvSpPr>
        <p:spPr>
          <a:xfrm>
            <a:off x="414224" y="3749503"/>
            <a:ext cx="2902908" cy="2410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check these additional letters until: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reach the edge of the grid; or</a:t>
            </a:r>
          </a:p>
          <a:p>
            <a:pPr marL="54000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reach the end of the word.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 a check to stay in the bounds of the grid.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03A1DF-CAFD-4F81-893A-0BD8524EFE80}"/>
              </a:ext>
            </a:extLst>
          </p:cNvPr>
          <p:cNvSpPr/>
          <p:nvPr/>
        </p:nvSpPr>
        <p:spPr>
          <a:xfrm>
            <a:off x="4797024" y="6083160"/>
            <a:ext cx="6485492" cy="31724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75608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Algorithmic thinking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9751FB-9054-46C1-A2BA-50E20D739945}"/>
              </a:ext>
            </a:extLst>
          </p:cNvPr>
          <p:cNvSpPr/>
          <p:nvPr/>
        </p:nvSpPr>
        <p:spPr>
          <a:xfrm>
            <a:off x="176564" y="1126757"/>
            <a:ext cx="36497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final thing to code is a sensible output to the user.</a:t>
            </a:r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357C1480-D93E-4222-8E32-751206C345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62"/>
          <a:stretch/>
        </p:blipFill>
        <p:spPr>
          <a:xfrm>
            <a:off x="4018024" y="523174"/>
            <a:ext cx="7869176" cy="618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7762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Algorithmic thinking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9751FB-9054-46C1-A2BA-50E20D739945}"/>
              </a:ext>
            </a:extLst>
          </p:cNvPr>
          <p:cNvSpPr/>
          <p:nvPr/>
        </p:nvSpPr>
        <p:spPr>
          <a:xfrm>
            <a:off x="176565" y="1126757"/>
            <a:ext cx="5484934" cy="25135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approach we have taken here could be used to tackle a range of problems.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Break the problem down.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Think about what data is important/not important.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Consider the relevant data structures.</a:t>
            </a:r>
          </a:p>
          <a:p>
            <a:pPr marL="54000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Tackle each part of the problem step by step.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Algorithmic thinking takes practice.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more you do it, the better you will become.</a:t>
            </a: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1DE1318B-8A8F-41F6-BBBC-1EFFD39DE0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299" y="519780"/>
            <a:ext cx="6981981" cy="69819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6A2EB0-8952-4BB7-A149-09923D5EA6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9191" y="898133"/>
            <a:ext cx="4505267" cy="404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8845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791</TotalTime>
  <Words>2588</Words>
  <Application>Microsoft Office PowerPoint</Application>
  <PresentationFormat>Widescreen</PresentationFormat>
  <Paragraphs>335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Calibri</vt:lpstr>
      <vt:lpstr>Calibri Light</vt:lpstr>
      <vt:lpstr>Century Gothic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157</cp:revision>
  <dcterms:created xsi:type="dcterms:W3CDTF">2019-10-14T15:21:06Z</dcterms:created>
  <dcterms:modified xsi:type="dcterms:W3CDTF">2022-08-28T09:50:52Z</dcterms:modified>
</cp:coreProperties>
</file>