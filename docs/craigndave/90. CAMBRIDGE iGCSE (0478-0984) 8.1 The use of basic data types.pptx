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3" r:id="rId3"/>
    <p:sldId id="266" r:id="rId4"/>
    <p:sldId id="265" r:id="rId5"/>
    <p:sldId id="274" r:id="rId6"/>
    <p:sldId id="275" r:id="rId7"/>
    <p:sldId id="276" r:id="rId8"/>
    <p:sldId id="271" r:id="rId9"/>
    <p:sldId id="272" r:id="rId10"/>
    <p:sldId id="260" r:id="rId11"/>
    <p:sldId id="33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52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272" y="102"/>
      </p:cViewPr>
      <p:guideLst>
        <p:guide orient="horz" pos="213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70FC7-A0DE-4209-995A-DA8D1386A12A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3342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70FC7-A0DE-4209-995A-DA8D1386A12A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973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70FC7-A0DE-4209-995A-DA8D1386A12A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8007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70FC7-A0DE-4209-995A-DA8D1386A12A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9120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B70FC7-A0DE-4209-995A-DA8D1386A12A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639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The use of basic data types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31/08/2022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use of basic data types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5A-86D7-4D45-A67A-ED938836A313}"/>
              </a:ext>
            </a:extLst>
          </p:cNvPr>
          <p:cNvSpPr/>
          <p:nvPr/>
        </p:nvSpPr>
        <p:spPr>
          <a:xfrm>
            <a:off x="176565" y="993174"/>
            <a:ext cx="11701110" cy="748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constants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hold data. This data comes in a variety of forms, known as its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need to be aware of the following five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exam.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DD015C3-07D2-71D3-0DEF-1438AB69F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315920"/>
              </p:ext>
            </p:extLst>
          </p:nvPr>
        </p:nvGraphicFramePr>
        <p:xfrm>
          <a:off x="279399" y="2148416"/>
          <a:ext cx="11598275" cy="41198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1251">
                  <a:extLst>
                    <a:ext uri="{9D8B030D-6E8A-4147-A177-3AD203B41FA5}">
                      <a16:colId xmlns:a16="http://schemas.microsoft.com/office/drawing/2014/main" val="3687589637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50768870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1359776426"/>
                    </a:ext>
                  </a:extLst>
                </a:gridCol>
                <a:gridCol w="3623944">
                  <a:extLst>
                    <a:ext uri="{9D8B030D-6E8A-4147-A177-3AD203B41FA5}">
                      <a16:colId xmlns:a16="http://schemas.microsoft.com/office/drawing/2014/main" val="109378356"/>
                    </a:ext>
                  </a:extLst>
                </a:gridCol>
                <a:gridCol w="2319655">
                  <a:extLst>
                    <a:ext uri="{9D8B030D-6E8A-4147-A177-3AD203B41FA5}">
                      <a16:colId xmlns:a16="http://schemas.microsoft.com/office/drawing/2014/main" val="41464124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Pseudocode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7884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Whole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Written as normal in denary.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	100</a:t>
                      </a:r>
                    </a:p>
                    <a:p>
                      <a:r>
                        <a:rPr lang="en-GB" dirty="0"/>
                        <a:t>-12	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824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Number capable of containing a fraction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Always has at least one digit on either side of the decimal point with zeroes added as necessary.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3.14	-5.0</a:t>
                      </a:r>
                    </a:p>
                    <a:p>
                      <a:r>
                        <a:rPr lang="en-GB" dirty="0"/>
                        <a:t>0.0	0.225</a:t>
                      </a:r>
                    </a:p>
                    <a:p>
                      <a:r>
                        <a:rPr lang="en-GB" dirty="0"/>
                        <a:t>-3.99	134.0098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70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Single 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Enclosed in single quotes.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'x'	'C'</a:t>
                      </a:r>
                    </a:p>
                    <a:p>
                      <a:r>
                        <a:rPr lang="en-GB" dirty="0"/>
                        <a:t>'7'	'@'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83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Sequence of characters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Enclosed in double quotes. A string may contain no characters (i.e., an empty string).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"Craig"	""</a:t>
                      </a:r>
                    </a:p>
                    <a:p>
                      <a:r>
                        <a:rPr lang="en-GB" dirty="0"/>
                        <a:t>"This is a string!"</a:t>
                      </a:r>
                    </a:p>
                    <a:p>
                      <a:r>
                        <a:rPr lang="en-GB" dirty="0"/>
                        <a:t>"Your score is 9,312"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783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Logical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TRUE</a:t>
                      </a:r>
                    </a:p>
                    <a:p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2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540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5A-86D7-4D45-A67A-ED938836A313}"/>
              </a:ext>
            </a:extLst>
          </p:cNvPr>
          <p:cNvSpPr/>
          <p:nvPr/>
        </p:nvSpPr>
        <p:spPr>
          <a:xfrm>
            <a:off x="176564" y="993174"/>
            <a:ext cx="627287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uses a different amount of memory. 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optimise your programs, you should use correct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example, there is no point storing the whole number 22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 data type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and takes up less memory.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DA55FCF-40F0-6E87-47C8-65389CFAB36A}"/>
              </a:ext>
            </a:extLst>
          </p:cNvPr>
          <p:cNvGrpSpPr/>
          <p:nvPr/>
        </p:nvGrpSpPr>
        <p:grpSpPr>
          <a:xfrm>
            <a:off x="3136330" y="1463174"/>
            <a:ext cx="8296446" cy="4166942"/>
            <a:chOff x="6378607" y="3585627"/>
            <a:chExt cx="4741683" cy="2381540"/>
          </a:xfrm>
        </p:grpSpPr>
        <p:sp>
          <p:nvSpPr>
            <p:cNvPr id="2" name="Cube 1">
              <a:extLst>
                <a:ext uri="{FF2B5EF4-FFF2-40B4-BE49-F238E27FC236}">
                  <a16:creationId xmlns:a16="http://schemas.microsoft.com/office/drawing/2014/main" id="{29F1115F-830A-49A7-B97A-A467F27DA72E}"/>
                </a:ext>
              </a:extLst>
            </p:cNvPr>
            <p:cNvSpPr/>
            <p:nvPr/>
          </p:nvSpPr>
          <p:spPr>
            <a:xfrm>
              <a:off x="6378607" y="4732255"/>
              <a:ext cx="1234912" cy="1234912"/>
            </a:xfrm>
            <a:prstGeom prst="cube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/>
                <a:t>22</a:t>
              </a:r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89137EAC-8C2B-4396-A789-8B2259E83E0A}"/>
                </a:ext>
              </a:extLst>
            </p:cNvPr>
            <p:cNvSpPr/>
            <p:nvPr/>
          </p:nvSpPr>
          <p:spPr>
            <a:xfrm>
              <a:off x="8738750" y="3585627"/>
              <a:ext cx="2381540" cy="2381540"/>
            </a:xfrm>
            <a:prstGeom prst="cube">
              <a:avLst/>
            </a:prstGeom>
            <a:solidFill>
              <a:schemeClr val="accent2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6000" b="1" dirty="0"/>
                <a:t>22.0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9E2F2AD4-B3BD-4A26-827D-8C39EEB2FD00}"/>
              </a:ext>
            </a:extLst>
          </p:cNvPr>
          <p:cNvSpPr/>
          <p:nvPr/>
        </p:nvSpPr>
        <p:spPr>
          <a:xfrm>
            <a:off x="3136330" y="5680160"/>
            <a:ext cx="15975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A33DC-A5CB-4A29-B14E-2F5A3B27600F}"/>
              </a:ext>
            </a:extLst>
          </p:cNvPr>
          <p:cNvSpPr/>
          <p:nvPr/>
        </p:nvSpPr>
        <p:spPr>
          <a:xfrm>
            <a:off x="7265834" y="5680160"/>
            <a:ext cx="3116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</a:t>
            </a:r>
          </a:p>
        </p:txBody>
      </p:sp>
    </p:spTree>
    <p:extLst>
      <p:ext uri="{BB962C8B-B14F-4D97-AF65-F5344CB8AC3E}">
        <p14:creationId xmlns:p14="http://schemas.microsoft.com/office/powerpoint/2010/main" val="26039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64466" y="979468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5A-86D7-4D45-A67A-ED938836A313}"/>
              </a:ext>
            </a:extLst>
          </p:cNvPr>
          <p:cNvSpPr/>
          <p:nvPr/>
        </p:nvSpPr>
        <p:spPr>
          <a:xfrm>
            <a:off x="6511282" y="523174"/>
            <a:ext cx="56801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Beat the Dice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player rolls two dice.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order of the dice is determined by the value.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highest value comes first.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example, if a 4 and 6 are rolled, the result is 64.</a:t>
            </a: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AD2CC416-A613-84AF-9FF4-FE57B4841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240030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64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64466" y="979468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5A-86D7-4D45-A67A-ED938836A313}"/>
              </a:ext>
            </a:extLst>
          </p:cNvPr>
          <p:cNvSpPr/>
          <p:nvPr/>
        </p:nvSpPr>
        <p:spPr>
          <a:xfrm>
            <a:off x="6562082" y="523174"/>
            <a:ext cx="54654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two variables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06EE4-A526-4235-A76A-D9FBCC9CDDFE}"/>
              </a:ext>
            </a:extLst>
          </p:cNvPr>
          <p:cNvSpPr/>
          <p:nvPr/>
        </p:nvSpPr>
        <p:spPr>
          <a:xfrm>
            <a:off x="0" y="3808429"/>
            <a:ext cx="2809188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E4428-0817-38E9-9C49-DEA48593F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240030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28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64466" y="979468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91595A-86D7-4D45-A67A-ED938836A313}"/>
              </a:ext>
            </a:extLst>
          </p:cNvPr>
          <p:cNvSpPr/>
          <p:nvPr/>
        </p:nvSpPr>
        <p:spPr>
          <a:xfrm>
            <a:off x="6562082" y="523174"/>
            <a:ext cx="5465452" cy="1405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are using two variables called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know they are always going to be numbers 1–6.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will only ever be whole numbers, we are using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 data type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store them.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06EE4-A526-4235-A76A-D9FBCC9CDDFE}"/>
              </a:ext>
            </a:extLst>
          </p:cNvPr>
          <p:cNvSpPr/>
          <p:nvPr/>
        </p:nvSpPr>
        <p:spPr>
          <a:xfrm>
            <a:off x="0" y="3808429"/>
            <a:ext cx="2809188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88E017-EBA0-4166-BF0A-881EB4DBCAE3}"/>
              </a:ext>
            </a:extLst>
          </p:cNvPr>
          <p:cNvSpPr/>
          <p:nvPr/>
        </p:nvSpPr>
        <p:spPr>
          <a:xfrm>
            <a:off x="-1" y="1427650"/>
            <a:ext cx="3252247" cy="28802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43C194-FD9C-B3F6-6518-2DD487B7405D}"/>
              </a:ext>
            </a:extLst>
          </p:cNvPr>
          <p:cNvSpPr/>
          <p:nvPr/>
        </p:nvSpPr>
        <p:spPr>
          <a:xfrm>
            <a:off x="22385" y="993173"/>
            <a:ext cx="3229861" cy="702409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576F031C-F2D3-27E9-5DC4-0F6E55849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675" y="2400300"/>
            <a:ext cx="4219270" cy="421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1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 and casting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64466" y="979468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E06EE4-A526-4235-A76A-D9FBCC9CDDFE}"/>
              </a:ext>
            </a:extLst>
          </p:cNvPr>
          <p:cNvSpPr/>
          <p:nvPr/>
        </p:nvSpPr>
        <p:spPr>
          <a:xfrm>
            <a:off x="-1" y="2413262"/>
            <a:ext cx="3384223" cy="92382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AFED0-C61D-44B6-8AF4-8798DD876A48}"/>
              </a:ext>
            </a:extLst>
          </p:cNvPr>
          <p:cNvSpPr/>
          <p:nvPr/>
        </p:nvSpPr>
        <p:spPr>
          <a:xfrm>
            <a:off x="1583703" y="4471216"/>
            <a:ext cx="386499" cy="470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57671-EF46-4FB7-91CF-BC1426093C38}"/>
              </a:ext>
            </a:extLst>
          </p:cNvPr>
          <p:cNvSpPr/>
          <p:nvPr/>
        </p:nvSpPr>
        <p:spPr>
          <a:xfrm>
            <a:off x="6562082" y="523174"/>
            <a:ext cx="5465452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then compare the numbers. Depending on which is greater, we concatenate (join) them.</a:t>
            </a:r>
          </a:p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concatenate the numbers and not simply add them together, they need to be stored as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type: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8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5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13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 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dice1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dice 2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“85”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804FEE4-9C51-04B1-DC7C-AEDEFE24B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474" y="3752849"/>
            <a:ext cx="2895295" cy="289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11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4320790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types and casting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164466" y="979468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AFED0-C61D-44B6-8AF4-8798DD876A48}"/>
              </a:ext>
            </a:extLst>
          </p:cNvPr>
          <p:cNvSpPr/>
          <p:nvPr/>
        </p:nvSpPr>
        <p:spPr>
          <a:xfrm>
            <a:off x="1489435" y="2604708"/>
            <a:ext cx="386499" cy="72295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857671-EF46-4FB7-91CF-BC1426093C38}"/>
              </a:ext>
            </a:extLst>
          </p:cNvPr>
          <p:cNvSpPr/>
          <p:nvPr/>
        </p:nvSpPr>
        <p:spPr>
          <a:xfrm>
            <a:off x="6562082" y="523174"/>
            <a:ext cx="5465452" cy="2236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easy to convert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data types back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indeed, other data types – so we can perform arithmetic operations on the values.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often ask users to enter numbers via the keyboard, but those values are input as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characters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even though we often want to store them internally as numbers.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So, we need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cast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(convert) them to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71ACE1-8D04-42BD-81DD-89050CBA15B3}"/>
              </a:ext>
            </a:extLst>
          </p:cNvPr>
          <p:cNvSpPr/>
          <p:nvPr/>
        </p:nvSpPr>
        <p:spPr>
          <a:xfrm>
            <a:off x="6562082" y="3254703"/>
            <a:ext cx="54654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choice =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(input(</a:t>
            </a:r>
            <a:r>
              <a:rPr lang="en-GB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"Enter your choice:"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))</a:t>
            </a: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5FD680D4-C1B2-6947-BD75-3D774EC5AEE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02"/>
          <a:stretch/>
        </p:blipFill>
        <p:spPr>
          <a:xfrm>
            <a:off x="7078454" y="3718679"/>
            <a:ext cx="4169192" cy="313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323419-F2A9-8CD9-7B2E-21BBD7BD4B44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27F41-6D4F-9742-C4D1-F27FFA143695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35AFB6-C7FE-A4FA-5CED-9538FC8E2AAC}"/>
              </a:ext>
            </a:extLst>
          </p:cNvPr>
          <p:cNvGrpSpPr/>
          <p:nvPr/>
        </p:nvGrpSpPr>
        <p:grpSpPr>
          <a:xfrm>
            <a:off x="307657" y="1950851"/>
            <a:ext cx="5521644" cy="2982130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59C7E12-FDB7-80FC-C079-3F9B228DD12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INTEGER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Whole number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REAL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Number capable of containing a fractional part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CHAR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Single character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STRING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Sequence of characters</a:t>
              </a:r>
            </a:p>
            <a:p>
              <a:pPr algn="l"/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nsolas" panose="020B0609020204030204" pitchFamily="49" charset="0"/>
                </a:rPr>
                <a:t>BOOLEAN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CourierNewPSMT"/>
                </a:rPr>
                <a:t> </a:t>
              </a:r>
              <a:r>
                <a:rPr lang="en-GB" sz="1800" b="0" i="0" u="none" strike="noStrike" baseline="0" dirty="0">
                  <a:solidFill>
                    <a:schemeClr val="tx1"/>
                  </a:solidFill>
                  <a:latin typeface="BlissPro-Light"/>
                </a:rPr>
                <a:t>Logical values</a:t>
              </a:r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536AFB-3879-9F9B-2E1F-5D369054F4B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Data types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563C06-75C2-8B63-0012-4F2F4F1F4CDC}"/>
              </a:ext>
            </a:extLst>
          </p:cNvPr>
          <p:cNvGrpSpPr/>
          <p:nvPr/>
        </p:nvGrpSpPr>
        <p:grpSpPr>
          <a:xfrm>
            <a:off x="6358163" y="1937935"/>
            <a:ext cx="5521644" cy="2982130"/>
            <a:chOff x="115335" y="1049783"/>
            <a:chExt cx="5795610" cy="36486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0705E4-D37A-A6AB-E519-752ADAA0E9DF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&lt;identifier&gt; : &lt;data type&gt;</a:t>
              </a: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endParaRPr lang="en-GB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Counter : INTEGER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DECALRE TotalToPay: REAL</a:t>
              </a: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DECLARE GameOver : BOOLEAN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3166F4-1B19-F2A1-C560-A2128ED86A11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Declaring data types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262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Title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948620F2-5F79-4657-A900-C12A9DA6D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07D58FD-ACA2-E9AD-FA7B-F49DDFC84C8E}"/>
              </a:ext>
            </a:extLst>
          </p:cNvPr>
          <p:cNvSpPr/>
          <p:nvPr/>
        </p:nvSpPr>
        <p:spPr>
          <a:xfrm>
            <a:off x="404196" y="1887113"/>
            <a:ext cx="5191061" cy="3518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Positive or negative whole number (e.g., 6)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total = total + score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used for telephone numbers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only when arithmetic needs to be performed on the data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with a decimal part (e.g., 6.5)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Sometimes called float (floating point)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cost = total + vat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D369F0-7F21-5810-3769-B18E30ECBCC8}"/>
              </a:ext>
            </a:extLst>
          </p:cNvPr>
          <p:cNvSpPr/>
          <p:nvPr/>
        </p:nvSpPr>
        <p:spPr>
          <a:xfrm>
            <a:off x="6325801" y="1887113"/>
            <a:ext cx="5462003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alphanumeric character (e.g., “1” or “a”)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for menu choices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choice = input(“Enter your choice:”)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String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alphanumeric characters (e.g., “Craig”)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for words and telephone numbers</a:t>
            </a:r>
          </a:p>
          <a:p>
            <a:pPr marL="54000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forename = “Craig”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Boolean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Variable that can be in one of two states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 or False</a:t>
            </a:r>
          </a:p>
          <a:p>
            <a:pPr marL="54000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Use: playerAlive = True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E1623-F48C-3617-40DA-CAD81485BAAB}"/>
              </a:ext>
            </a:extLst>
          </p:cNvPr>
          <p:cNvSpPr/>
          <p:nvPr/>
        </p:nvSpPr>
        <p:spPr>
          <a:xfrm>
            <a:off x="404196" y="6150160"/>
            <a:ext cx="69654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i="1" dirty="0"/>
              <a:t>Most languages support other data types such as dates and pictures.</a:t>
            </a:r>
          </a:p>
        </p:txBody>
      </p:sp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1600</Words>
  <Application>Microsoft Office PowerPoint</Application>
  <PresentationFormat>Widescreen</PresentationFormat>
  <Paragraphs>257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BlissPro-Light</vt:lpstr>
      <vt:lpstr>Calibri</vt:lpstr>
      <vt:lpstr>Calibri Light</vt:lpstr>
      <vt:lpstr>Century Gothic</vt:lpstr>
      <vt:lpstr>Consolas</vt:lpstr>
      <vt:lpstr>CourierNewPSMT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177</cp:revision>
  <dcterms:created xsi:type="dcterms:W3CDTF">2019-10-14T15:21:06Z</dcterms:created>
  <dcterms:modified xsi:type="dcterms:W3CDTF">2022-08-31T14:32:33Z</dcterms:modified>
</cp:coreProperties>
</file>