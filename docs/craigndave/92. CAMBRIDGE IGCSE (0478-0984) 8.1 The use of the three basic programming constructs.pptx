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7" r:id="rId2"/>
    <p:sldId id="267" r:id="rId3"/>
    <p:sldId id="263" r:id="rId4"/>
    <p:sldId id="270" r:id="rId5"/>
    <p:sldId id="277" r:id="rId6"/>
    <p:sldId id="271" r:id="rId7"/>
    <p:sldId id="272" r:id="rId8"/>
    <p:sldId id="275" r:id="rId9"/>
    <p:sldId id="278" r:id="rId10"/>
    <p:sldId id="279" r:id="rId11"/>
    <p:sldId id="273" r:id="rId12"/>
    <p:sldId id="276" r:id="rId13"/>
    <p:sldId id="274" r:id="rId14"/>
    <p:sldId id="33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52" autoAdjust="0"/>
    <p:restoredTop sz="94694"/>
  </p:normalViewPr>
  <p:slideViewPr>
    <p:cSldViewPr snapToGrid="0">
      <p:cViewPr varScale="1">
        <p:scale>
          <a:sx n="101" d="100"/>
          <a:sy n="101" d="100"/>
        </p:scale>
        <p:origin x="127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31/08/2022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8537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812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8.1 Programming | The use of the three basic programming constructs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8.1 Programming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The use of the three basic programming constructs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Beat the Dice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0BC452-34D2-44D3-8FD0-771997A00EDE}"/>
              </a:ext>
            </a:extLst>
          </p:cNvPr>
          <p:cNvSpPr/>
          <p:nvPr/>
        </p:nvSpPr>
        <p:spPr>
          <a:xfrm>
            <a:off x="176565" y="993174"/>
            <a:ext cx="59907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simple game for young children learning to compare one- and two-digit numbers: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Players roll two dice.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Doubles do not count and must be rolled again.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score is the value of the highest and lowest dice combined, highest first (e.g., 5 and 7 = 75).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9C8DDCB9-478F-1A65-A9ED-246FF440EF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950" y="628650"/>
            <a:ext cx="4219270" cy="421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011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6FC4BB-E42D-4B5A-9B89-6AD16D0263F8}"/>
              </a:ext>
            </a:extLst>
          </p:cNvPr>
          <p:cNvSpPr/>
          <p:nvPr/>
        </p:nvSpPr>
        <p:spPr>
          <a:xfrm>
            <a:off x="1517631" y="1025206"/>
            <a:ext cx="49275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Sequence means executing instructions in order, one after the other.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CC389D-689C-47B0-9D84-7D9ED9028C71}"/>
              </a:ext>
            </a:extLst>
          </p:cNvPr>
          <p:cNvSpPr/>
          <p:nvPr/>
        </p:nvSpPr>
        <p:spPr>
          <a:xfrm>
            <a:off x="1517631" y="523174"/>
            <a:ext cx="2979723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Sequence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DB2FEE55-1150-461A-9DC8-5A9745779FD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149" y="393921"/>
            <a:ext cx="1402202" cy="1743607"/>
          </a:xfrm>
          <a:prstGeom prst="rect">
            <a:avLst/>
          </a:prstGeom>
        </p:spPr>
      </p:pic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166B6161-D8E8-48F3-A646-D8B430092C4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490" y="607667"/>
            <a:ext cx="1088514" cy="1240906"/>
          </a:xfrm>
          <a:prstGeom prst="rect">
            <a:avLst/>
          </a:prstGeom>
        </p:spPr>
      </p:pic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FEE679BB-FC44-4463-AD95-8EEB07B5B75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192" y="393921"/>
            <a:ext cx="1566808" cy="155461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90E147B-56A5-4550-BDC9-84DE8CD13B6C}"/>
              </a:ext>
            </a:extLst>
          </p:cNvPr>
          <p:cNvSpPr txBox="1"/>
          <p:nvPr/>
        </p:nvSpPr>
        <p:spPr>
          <a:xfrm>
            <a:off x="318502" y="1936178"/>
            <a:ext cx="875750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#Import libraries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import</a:t>
            </a:r>
            <a:r>
              <a:rPr lang="en-GB" dirty="0">
                <a:latin typeface="Consolas" panose="020B0609020204030204" pitchFamily="49" charset="0"/>
              </a:rPr>
              <a:t> random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#Constants</a:t>
            </a:r>
          </a:p>
          <a:p>
            <a:r>
              <a:rPr lang="en-GB" dirty="0">
                <a:latin typeface="Consolas" panose="020B0609020204030204" pitchFamily="49" charset="0"/>
              </a:rPr>
              <a:t>rolls_per_player = 2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#Initialise varilables</a:t>
            </a:r>
          </a:p>
          <a:p>
            <a:r>
              <a:rPr lang="en-GB" dirty="0">
                <a:latin typeface="Consolas" panose="020B0609020204030204" pitchFamily="49" charset="0"/>
              </a:rPr>
              <a:t>total = 0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#Output the dice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"dice 1:"</a:t>
            </a:r>
            <a:r>
              <a:rPr lang="en-GB" dirty="0">
                <a:latin typeface="Consolas" panose="020B0609020204030204" pitchFamily="49" charset="0"/>
              </a:rPr>
              <a:t>,dice1)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"dice 2:"</a:t>
            </a:r>
            <a:r>
              <a:rPr lang="en-GB" dirty="0">
                <a:latin typeface="Consolas" panose="020B0609020204030204" pitchFamily="49" charset="0"/>
              </a:rPr>
              <a:t>,dice2)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#Cast the dice values from integers to strings ready for changing the order of the dice</a:t>
            </a:r>
          </a:p>
          <a:p>
            <a:r>
              <a:rPr lang="en-GB" dirty="0">
                <a:latin typeface="Consolas" panose="020B0609020204030204" pitchFamily="49" charset="0"/>
              </a:rPr>
              <a:t>dice1_string = </a:t>
            </a:r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str</a:t>
            </a:r>
            <a:r>
              <a:rPr lang="en-GB" dirty="0">
                <a:latin typeface="Consolas" panose="020B0609020204030204" pitchFamily="49" charset="0"/>
              </a:rPr>
              <a:t>(dice1)</a:t>
            </a:r>
          </a:p>
          <a:p>
            <a:r>
              <a:rPr lang="en-GB" dirty="0">
                <a:latin typeface="Consolas" panose="020B0609020204030204" pitchFamily="49" charset="0"/>
              </a:rPr>
              <a:t>dice2_string = </a:t>
            </a:r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str</a:t>
            </a:r>
            <a:r>
              <a:rPr lang="en-GB" dirty="0">
                <a:latin typeface="Consolas" panose="020B0609020204030204" pitchFamily="49" charset="0"/>
              </a:rPr>
              <a:t>(dice2)</a:t>
            </a:r>
          </a:p>
          <a:p>
            <a:endParaRPr lang="en-GB" dirty="0">
              <a:latin typeface="Consolas" panose="020B0609020204030204" pitchFamily="49" charset="0"/>
            </a:endParaRPr>
          </a:p>
        </p:txBody>
      </p:sp>
      <p:pic>
        <p:nvPicPr>
          <p:cNvPr id="2" name="Picture 2" descr="make_notes">
            <a:extLst>
              <a:ext uri="{FF2B5EF4-FFF2-40B4-BE49-F238E27FC236}">
                <a16:creationId xmlns:a16="http://schemas.microsoft.com/office/drawing/2014/main" id="{8444DD2A-BF70-EC06-DEDF-6DDEE83CC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622ACC-0547-75EE-6705-7DD39C44175C}"/>
              </a:ext>
            </a:extLst>
          </p:cNvPr>
          <p:cNvCxnSpPr/>
          <p:nvPr/>
        </p:nvCxnSpPr>
        <p:spPr>
          <a:xfrm>
            <a:off x="207281" y="2047875"/>
            <a:ext cx="0" cy="4562475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877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CC389D-689C-47B0-9D84-7D9ED9028C71}"/>
              </a:ext>
            </a:extLst>
          </p:cNvPr>
          <p:cNvSpPr/>
          <p:nvPr/>
        </p:nvSpPr>
        <p:spPr>
          <a:xfrm>
            <a:off x="1517631" y="523174"/>
            <a:ext cx="2979723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Selection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(branching)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9734E8C2-1D3F-4EC5-ABAE-95F285507D1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149" y="393921"/>
            <a:ext cx="1402202" cy="1743607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3613DE4A-7AE4-44F1-9276-55CB3CE4DCB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490" y="607667"/>
            <a:ext cx="1088514" cy="1240906"/>
          </a:xfrm>
          <a:prstGeom prst="rect">
            <a:avLst/>
          </a:prstGeom>
        </p:spPr>
      </p:pic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EC335845-D4C7-4CA6-B5C4-D212C32B872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192" y="393921"/>
            <a:ext cx="1566808" cy="155461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17C077C-56BB-42CD-BB79-55C177CB0812}"/>
              </a:ext>
            </a:extLst>
          </p:cNvPr>
          <p:cNvSpPr/>
          <p:nvPr/>
        </p:nvSpPr>
        <p:spPr>
          <a:xfrm>
            <a:off x="1517631" y="1025206"/>
            <a:ext cx="49275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Selection means a program will branch depending on certain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A4E894-FB55-42CD-91FD-AF9B8596869F}"/>
              </a:ext>
            </a:extLst>
          </p:cNvPr>
          <p:cNvSpPr txBox="1"/>
          <p:nvPr/>
        </p:nvSpPr>
        <p:spPr>
          <a:xfrm>
            <a:off x="318502" y="1936178"/>
            <a:ext cx="875750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#Change the order of the dice to the highest value first and join the values together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dice1 &gt; dice2:</a:t>
            </a:r>
          </a:p>
          <a:p>
            <a:r>
              <a:rPr lang="en-GB" dirty="0">
                <a:latin typeface="Consolas" panose="020B0609020204030204" pitchFamily="49" charset="0"/>
              </a:rPr>
              <a:t>   roll_value = dice1_string + dice2_string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latin typeface="Consolas" panose="020B0609020204030204" pitchFamily="49" charset="0"/>
              </a:rPr>
              <a:t>   roll_value = dice2_string + dice1_string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endParaRPr lang="en-GB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#Output the value of the dice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user input == roll_value: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   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"You worked it out correctly.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"</a:t>
            </a:r>
            <a:r>
              <a:rPr lang="en-GB" b="1" dirty="0">
                <a:latin typeface="Consolas" panose="020B0609020204030204" pitchFamily="49" charset="0"/>
              </a:rPr>
              <a:t>)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   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"No, the value of the roll is:"</a:t>
            </a:r>
            <a:r>
              <a:rPr lang="en-GB" dirty="0">
                <a:latin typeface="Consolas" panose="020B0609020204030204" pitchFamily="49" charset="0"/>
              </a:rPr>
              <a:t>,roll_value)</a:t>
            </a:r>
          </a:p>
          <a:p>
            <a:endParaRPr lang="en-GB" sz="700" b="1" dirty="0">
              <a:latin typeface="Consolas" panose="020B0609020204030204" pitchFamily="49" charset="0"/>
            </a:endParaRPr>
          </a:p>
        </p:txBody>
      </p:sp>
      <p:pic>
        <p:nvPicPr>
          <p:cNvPr id="2" name="Picture 2" descr="make_notes">
            <a:extLst>
              <a:ext uri="{FF2B5EF4-FFF2-40B4-BE49-F238E27FC236}">
                <a16:creationId xmlns:a16="http://schemas.microsoft.com/office/drawing/2014/main" id="{270601E9-A642-FB92-C859-4F39007BD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1F20D0B-BFB3-90E9-6650-81D786B6A42F}"/>
              </a:ext>
            </a:extLst>
          </p:cNvPr>
          <p:cNvSpPr/>
          <p:nvPr/>
        </p:nvSpPr>
        <p:spPr>
          <a:xfrm>
            <a:off x="0" y="2513171"/>
            <a:ext cx="2809188" cy="31432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E82FC1A-8EB3-8895-AAD5-1CD113753D3B}"/>
              </a:ext>
            </a:extLst>
          </p:cNvPr>
          <p:cNvSpPr/>
          <p:nvPr/>
        </p:nvSpPr>
        <p:spPr>
          <a:xfrm>
            <a:off x="51802" y="2514600"/>
            <a:ext cx="314325" cy="3143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72818B-B184-C343-DCFC-3D890C476AE4}"/>
              </a:ext>
            </a:extLst>
          </p:cNvPr>
          <p:cNvSpPr/>
          <p:nvPr/>
        </p:nvSpPr>
        <p:spPr>
          <a:xfrm>
            <a:off x="-1" y="4703921"/>
            <a:ext cx="4010025" cy="31432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FF47B0F-D3D3-C0E8-92BB-7BDB4C587A98}"/>
              </a:ext>
            </a:extLst>
          </p:cNvPr>
          <p:cNvSpPr/>
          <p:nvPr/>
        </p:nvSpPr>
        <p:spPr>
          <a:xfrm>
            <a:off x="51802" y="4705350"/>
            <a:ext cx="314325" cy="3143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FA057AF-8DDC-88FB-59C2-8D21714167DA}"/>
              </a:ext>
            </a:extLst>
          </p:cNvPr>
          <p:cNvGrpSpPr/>
          <p:nvPr/>
        </p:nvGrpSpPr>
        <p:grpSpPr>
          <a:xfrm>
            <a:off x="209550" y="2679700"/>
            <a:ext cx="543927" cy="857250"/>
            <a:chOff x="209550" y="2679700"/>
            <a:chExt cx="543927" cy="85725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18F74B1-2CD8-96DD-5E34-F15E50E80E13}"/>
                </a:ext>
              </a:extLst>
            </p:cNvPr>
            <p:cNvCxnSpPr>
              <a:cxnSpLocks/>
            </p:cNvCxnSpPr>
            <p:nvPr/>
          </p:nvCxnSpPr>
          <p:spPr>
            <a:xfrm>
              <a:off x="209550" y="2679700"/>
              <a:ext cx="0" cy="85725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17C2F00-2EE9-528F-53CF-58413A596382}"/>
                </a:ext>
              </a:extLst>
            </p:cNvPr>
            <p:cNvCxnSpPr>
              <a:cxnSpLocks/>
            </p:cNvCxnSpPr>
            <p:nvPr/>
          </p:nvCxnSpPr>
          <p:spPr>
            <a:xfrm>
              <a:off x="215900" y="2974975"/>
              <a:ext cx="537577" cy="0"/>
            </a:xfrm>
            <a:prstGeom prst="line">
              <a:avLst/>
            </a:prstGeom>
            <a:ln w="76200">
              <a:solidFill>
                <a:srgbClr val="C00000"/>
              </a:solidFill>
              <a:headEnd type="diamond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36A534B-35C3-078A-E032-63A890BECD00}"/>
                </a:ext>
              </a:extLst>
            </p:cNvPr>
            <p:cNvCxnSpPr>
              <a:cxnSpLocks/>
            </p:cNvCxnSpPr>
            <p:nvPr/>
          </p:nvCxnSpPr>
          <p:spPr>
            <a:xfrm>
              <a:off x="209550" y="3536950"/>
              <a:ext cx="537577" cy="0"/>
            </a:xfrm>
            <a:prstGeom prst="line">
              <a:avLst/>
            </a:prstGeom>
            <a:ln w="76200">
              <a:solidFill>
                <a:srgbClr val="C00000"/>
              </a:solidFill>
              <a:headEnd type="diamond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14DB113-3843-9858-7805-7AC864C54023}"/>
              </a:ext>
            </a:extLst>
          </p:cNvPr>
          <p:cNvGrpSpPr/>
          <p:nvPr/>
        </p:nvGrpSpPr>
        <p:grpSpPr>
          <a:xfrm>
            <a:off x="215900" y="4873111"/>
            <a:ext cx="543927" cy="857250"/>
            <a:chOff x="209550" y="2679700"/>
            <a:chExt cx="543927" cy="85725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83D0CEC-B6B5-57A7-8464-2EFA2A2177B3}"/>
                </a:ext>
              </a:extLst>
            </p:cNvPr>
            <p:cNvCxnSpPr>
              <a:cxnSpLocks/>
            </p:cNvCxnSpPr>
            <p:nvPr/>
          </p:nvCxnSpPr>
          <p:spPr>
            <a:xfrm>
              <a:off x="209550" y="2679700"/>
              <a:ext cx="0" cy="85725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45C3586-F8F5-B7C1-5262-FFD1F16160F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00" y="2974975"/>
              <a:ext cx="537577" cy="0"/>
            </a:xfrm>
            <a:prstGeom prst="line">
              <a:avLst/>
            </a:prstGeom>
            <a:ln w="76200">
              <a:solidFill>
                <a:srgbClr val="C00000"/>
              </a:solidFill>
              <a:headEnd type="diamond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9B02CB2-028E-A92A-A8E3-F1E836A70325}"/>
                </a:ext>
              </a:extLst>
            </p:cNvPr>
            <p:cNvCxnSpPr>
              <a:cxnSpLocks/>
            </p:cNvCxnSpPr>
            <p:nvPr/>
          </p:nvCxnSpPr>
          <p:spPr>
            <a:xfrm>
              <a:off x="209550" y="3536950"/>
              <a:ext cx="537577" cy="0"/>
            </a:xfrm>
            <a:prstGeom prst="line">
              <a:avLst/>
            </a:prstGeom>
            <a:ln w="76200">
              <a:solidFill>
                <a:srgbClr val="C00000"/>
              </a:solidFill>
              <a:headEnd type="diamond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5906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CC389D-689C-47B0-9D84-7D9ED9028C71}"/>
              </a:ext>
            </a:extLst>
          </p:cNvPr>
          <p:cNvSpPr/>
          <p:nvPr/>
        </p:nvSpPr>
        <p:spPr>
          <a:xfrm>
            <a:off x="1517631" y="523174"/>
            <a:ext cx="2979723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Selection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(branching)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9734E8C2-1D3F-4EC5-ABAE-95F285507D1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149" y="393921"/>
            <a:ext cx="1402202" cy="1743607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3613DE4A-7AE4-44F1-9276-55CB3CE4DCB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490" y="607667"/>
            <a:ext cx="1088514" cy="1240906"/>
          </a:xfrm>
          <a:prstGeom prst="rect">
            <a:avLst/>
          </a:prstGeom>
        </p:spPr>
      </p:pic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EC335845-D4C7-4CA6-B5C4-D212C32B872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192" y="393921"/>
            <a:ext cx="1566808" cy="155461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17C077C-56BB-42CD-BB79-55C177CB0812}"/>
              </a:ext>
            </a:extLst>
          </p:cNvPr>
          <p:cNvSpPr/>
          <p:nvPr/>
        </p:nvSpPr>
        <p:spPr>
          <a:xfrm>
            <a:off x="1517631" y="1025206"/>
            <a:ext cx="49275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Selection means a program will branch depending on certain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A4E894-FB55-42CD-91FD-AF9B8596869F}"/>
              </a:ext>
            </a:extLst>
          </p:cNvPr>
          <p:cNvSpPr txBox="1"/>
          <p:nvPr/>
        </p:nvSpPr>
        <p:spPr>
          <a:xfrm>
            <a:off x="318502" y="1936178"/>
            <a:ext cx="8757501" cy="380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#Ask the user for their membership type and set their club price</a:t>
            </a:r>
          </a:p>
          <a:p>
            <a:r>
              <a:rPr lang="en-GB" sz="18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MemberType = </a:t>
            </a:r>
            <a:r>
              <a:rPr lang="en-GB" sz="18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8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"What type of membership do you have?"</a:t>
            </a:r>
            <a:r>
              <a:rPr lang="en-GB" sz="18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Match MemberType:</a:t>
            </a:r>
          </a:p>
          <a:p>
            <a:r>
              <a:rPr lang="en-GB" sz="18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case 'Child':</a:t>
            </a:r>
          </a:p>
          <a:p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ClubPrice = 5.0</a:t>
            </a:r>
          </a:p>
          <a:p>
            <a:r>
              <a:rPr lang="en-GB" sz="18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case 'Adult'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18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ClubPrice = 10.0</a:t>
            </a:r>
            <a:endParaRPr lang="en-GB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8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case 'Senior':</a:t>
            </a:r>
          </a:p>
          <a:p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ClubPrice = 6.50</a:t>
            </a:r>
          </a:p>
          <a:p>
            <a:r>
              <a:rPr lang="en-GB" sz="18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case _:</a:t>
            </a:r>
          </a:p>
          <a:p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Invalid membership type</a:t>
            </a: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endParaRPr lang="en-GB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endParaRPr lang="en-GB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GB" dirty="0">
              <a:latin typeface="Consolas" panose="020B0609020204030204" pitchFamily="49" charset="0"/>
            </a:endParaRPr>
          </a:p>
          <a:p>
            <a:endParaRPr lang="en-GB" sz="700" b="1" dirty="0">
              <a:latin typeface="Consolas" panose="020B0609020204030204" pitchFamily="49" charset="0"/>
            </a:endParaRPr>
          </a:p>
        </p:txBody>
      </p:sp>
      <p:pic>
        <p:nvPicPr>
          <p:cNvPr id="2" name="Picture 2" descr="make_notes">
            <a:extLst>
              <a:ext uri="{FF2B5EF4-FFF2-40B4-BE49-F238E27FC236}">
                <a16:creationId xmlns:a16="http://schemas.microsoft.com/office/drawing/2014/main" id="{270601E9-A642-FB92-C859-4F39007BD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1F20D0B-BFB3-90E9-6650-81D786B6A42F}"/>
              </a:ext>
            </a:extLst>
          </p:cNvPr>
          <p:cNvSpPr/>
          <p:nvPr/>
        </p:nvSpPr>
        <p:spPr>
          <a:xfrm>
            <a:off x="0" y="2525931"/>
            <a:ext cx="2809188" cy="31432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E82FC1A-8EB3-8895-AAD5-1CD113753D3B}"/>
              </a:ext>
            </a:extLst>
          </p:cNvPr>
          <p:cNvSpPr/>
          <p:nvPr/>
        </p:nvSpPr>
        <p:spPr>
          <a:xfrm>
            <a:off x="51802" y="2527360"/>
            <a:ext cx="314325" cy="3143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18F74B1-2CD8-96DD-5E34-F15E50E80E13}"/>
              </a:ext>
            </a:extLst>
          </p:cNvPr>
          <p:cNvCxnSpPr>
            <a:cxnSpLocks/>
          </p:cNvCxnSpPr>
          <p:nvPr/>
        </p:nvCxnSpPr>
        <p:spPr>
          <a:xfrm>
            <a:off x="210456" y="2777474"/>
            <a:ext cx="0" cy="186120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17C2F00-2EE9-528F-53CF-58413A596382}"/>
              </a:ext>
            </a:extLst>
          </p:cNvPr>
          <p:cNvCxnSpPr>
            <a:cxnSpLocks/>
          </p:cNvCxnSpPr>
          <p:nvPr/>
        </p:nvCxnSpPr>
        <p:spPr>
          <a:xfrm>
            <a:off x="216806" y="2964799"/>
            <a:ext cx="537577" cy="0"/>
          </a:xfrm>
          <a:prstGeom prst="line">
            <a:avLst/>
          </a:prstGeom>
          <a:ln w="76200">
            <a:solidFill>
              <a:srgbClr val="C00000"/>
            </a:soli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6A534B-35C3-078A-E032-63A890BECD00}"/>
              </a:ext>
            </a:extLst>
          </p:cNvPr>
          <p:cNvCxnSpPr>
            <a:cxnSpLocks/>
          </p:cNvCxnSpPr>
          <p:nvPr/>
        </p:nvCxnSpPr>
        <p:spPr>
          <a:xfrm>
            <a:off x="210457" y="4632325"/>
            <a:ext cx="543926" cy="0"/>
          </a:xfrm>
          <a:prstGeom prst="line">
            <a:avLst/>
          </a:prstGeom>
          <a:ln w="76200">
            <a:solidFill>
              <a:srgbClr val="C00000"/>
            </a:soli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7C7B8AC-C6C1-D431-52F4-55076091B948}"/>
              </a:ext>
            </a:extLst>
          </p:cNvPr>
          <p:cNvCxnSpPr>
            <a:cxnSpLocks/>
          </p:cNvCxnSpPr>
          <p:nvPr/>
        </p:nvCxnSpPr>
        <p:spPr>
          <a:xfrm>
            <a:off x="216806" y="3510899"/>
            <a:ext cx="537577" cy="0"/>
          </a:xfrm>
          <a:prstGeom prst="line">
            <a:avLst/>
          </a:prstGeom>
          <a:ln w="76200">
            <a:solidFill>
              <a:srgbClr val="C00000"/>
            </a:soli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C280FC4-B4AA-18CB-2A32-D167E3329663}"/>
              </a:ext>
            </a:extLst>
          </p:cNvPr>
          <p:cNvCxnSpPr>
            <a:cxnSpLocks/>
          </p:cNvCxnSpPr>
          <p:nvPr/>
        </p:nvCxnSpPr>
        <p:spPr>
          <a:xfrm>
            <a:off x="210456" y="4063349"/>
            <a:ext cx="537577" cy="0"/>
          </a:xfrm>
          <a:prstGeom prst="line">
            <a:avLst/>
          </a:prstGeom>
          <a:ln w="76200">
            <a:solidFill>
              <a:srgbClr val="C00000"/>
            </a:soli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F64FCD8-DB3A-5045-2ADD-985A0A2E120E}"/>
              </a:ext>
            </a:extLst>
          </p:cNvPr>
          <p:cNvSpPr/>
          <p:nvPr/>
        </p:nvSpPr>
        <p:spPr>
          <a:xfrm>
            <a:off x="188710" y="5240984"/>
            <a:ext cx="11684788" cy="1255066"/>
          </a:xfrm>
          <a:prstGeom prst="roundRect">
            <a:avLst>
              <a:gd name="adj" fmla="val 46766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pic>
        <p:nvPicPr>
          <p:cNvPr id="49" name="Graphic 48" descr="Information with solid fill">
            <a:extLst>
              <a:ext uri="{FF2B5EF4-FFF2-40B4-BE49-F238E27FC236}">
                <a16:creationId xmlns:a16="http://schemas.microsoft.com/office/drawing/2014/main" id="{E6228D61-153C-86CC-FEE3-5930CB0C3E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5074295"/>
            <a:ext cx="1591452" cy="159145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4EC6475-A06E-6315-87CE-B19F51509D9F}"/>
              </a:ext>
            </a:extLst>
          </p:cNvPr>
          <p:cNvSpPr txBox="1"/>
          <p:nvPr/>
        </p:nvSpPr>
        <p:spPr>
          <a:xfrm>
            <a:off x="1591452" y="5413377"/>
            <a:ext cx="9790923" cy="96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are using Python’s match statement in the above example. Other languages use similar concepts, but they are all implemented differently – the exam board refers to these as CASE statements. Make sure to check out the pseudocode example shown later in this video.</a:t>
            </a: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E25B991F-8E0C-A610-E499-EF90D1AB5DF5}"/>
              </a:ext>
            </a:extLst>
          </p:cNvPr>
          <p:cNvSpPr/>
          <p:nvPr/>
        </p:nvSpPr>
        <p:spPr>
          <a:xfrm>
            <a:off x="4190886" y="3001866"/>
            <a:ext cx="3042618" cy="1038753"/>
          </a:xfrm>
          <a:prstGeom prst="wedgeRoundRectCallout">
            <a:avLst>
              <a:gd name="adj1" fmla="val -90312"/>
              <a:gd name="adj2" fmla="val -80630"/>
              <a:gd name="adj3" fmla="val 1666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i="1" dirty="0">
                <a:solidFill>
                  <a:schemeClr val="accent2">
                    <a:lumMod val="75000"/>
                  </a:schemeClr>
                </a:solidFill>
              </a:rPr>
              <a:t>Match (CASE) statements allow one of several branches of code to be executed, depending on the value of the variable.</a:t>
            </a:r>
          </a:p>
        </p:txBody>
      </p:sp>
    </p:spTree>
    <p:extLst>
      <p:ext uri="{BB962C8B-B14F-4D97-AF65-F5344CB8AC3E}">
        <p14:creationId xmlns:p14="http://schemas.microsoft.com/office/powerpoint/2010/main" val="443683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CC389D-689C-47B0-9D84-7D9ED9028C71}"/>
              </a:ext>
            </a:extLst>
          </p:cNvPr>
          <p:cNvSpPr/>
          <p:nvPr/>
        </p:nvSpPr>
        <p:spPr>
          <a:xfrm>
            <a:off x="1517631" y="523174"/>
            <a:ext cx="2979723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Iteration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(looping)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AEBC07-26DC-4B08-9BCF-2A102030EF79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149" y="393921"/>
            <a:ext cx="1402202" cy="1743607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5DB1509E-63A2-452F-90AD-FBE0467A1CF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490" y="607667"/>
            <a:ext cx="1088514" cy="1240906"/>
          </a:xfrm>
          <a:prstGeom prst="rect">
            <a:avLst/>
          </a:prstGeom>
        </p:spPr>
      </p:pic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B663451C-4175-43E6-81EA-BABA7BAFCE3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192" y="393921"/>
            <a:ext cx="1566808" cy="155461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8553C48-4CE2-4397-A627-1D93CC0B4541}"/>
              </a:ext>
            </a:extLst>
          </p:cNvPr>
          <p:cNvSpPr txBox="1"/>
          <p:nvPr/>
        </p:nvSpPr>
        <p:spPr>
          <a:xfrm>
            <a:off x="318503" y="1936178"/>
            <a:ext cx="705384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#Roll the dice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for</a:t>
            </a:r>
            <a:r>
              <a:rPr lang="en-GB" dirty="0">
                <a:latin typeface="Consolas" panose="020B0609020204030204" pitchFamily="49" charset="0"/>
              </a:rPr>
              <a:t> rolls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in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range</a:t>
            </a:r>
            <a:r>
              <a:rPr lang="en-GB" dirty="0">
                <a:latin typeface="Consolas" panose="020B0609020204030204" pitchFamily="49" charset="0"/>
              </a:rPr>
              <a:t>(rolls_per_player):</a:t>
            </a:r>
          </a:p>
          <a:p>
            <a:r>
              <a:rPr lang="en-GB" dirty="0">
                <a:latin typeface="Consolas" panose="020B0609020204030204" pitchFamily="49" charset="0"/>
              </a:rPr>
              <a:t>   dice1 = 0</a:t>
            </a:r>
          </a:p>
          <a:p>
            <a:r>
              <a:rPr lang="en-GB" dirty="0">
                <a:latin typeface="Consolas" panose="020B0609020204030204" pitchFamily="49" charset="0"/>
              </a:rPr>
              <a:t>   dice2 = 0</a:t>
            </a:r>
          </a:p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   #Handle the possibility of a double throw</a:t>
            </a:r>
          </a:p>
          <a:p>
            <a:r>
              <a:rPr lang="en-GB" dirty="0">
                <a:latin typeface="Consolas" panose="020B0609020204030204" pitchFamily="49" charset="0"/>
              </a:rPr>
              <a:t>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dice == dice2:</a:t>
            </a:r>
          </a:p>
          <a:p>
            <a:r>
              <a:rPr lang="en-GB" dirty="0">
                <a:latin typeface="Consolas" panose="020B0609020204030204" pitchFamily="49" charset="0"/>
              </a:rPr>
              <a:t>      dice1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dice2 = random.randint(1,6)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   #Output the dice</a:t>
            </a:r>
          </a:p>
          <a:p>
            <a:r>
              <a:rPr lang="en-GB" dirty="0">
                <a:latin typeface="Consolas" panose="020B0609020204030204" pitchFamily="49" charset="0"/>
              </a:rPr>
              <a:t>   </a:t>
            </a:r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"dice 1:"</a:t>
            </a:r>
            <a:r>
              <a:rPr lang="en-GB" dirty="0">
                <a:latin typeface="Consolas" panose="020B0609020204030204" pitchFamily="49" charset="0"/>
              </a:rPr>
              <a:t>,dice1)</a:t>
            </a:r>
          </a:p>
          <a:p>
            <a:r>
              <a:rPr lang="en-GB" dirty="0">
                <a:latin typeface="Consolas" panose="020B0609020204030204" pitchFamily="49" charset="0"/>
              </a:rPr>
              <a:t>   </a:t>
            </a:r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"dice 2:"</a:t>
            </a:r>
            <a:r>
              <a:rPr lang="en-GB" dirty="0">
                <a:latin typeface="Consolas" panose="020B0609020204030204" pitchFamily="49" charset="0"/>
              </a:rPr>
              <a:t>,dice2)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loop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(also known as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count-controlled loop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used when the required number of iterations is known ahead of execution.</a:t>
            </a:r>
          </a:p>
          <a:p>
            <a:endParaRPr lang="en-GB" dirty="0">
              <a:latin typeface="Consolas" panose="020B0609020204030204" pitchFamily="49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822FDB-3778-4EEC-A89E-BA9FDABEB4FB}"/>
              </a:ext>
            </a:extLst>
          </p:cNvPr>
          <p:cNvSpPr/>
          <p:nvPr/>
        </p:nvSpPr>
        <p:spPr>
          <a:xfrm>
            <a:off x="1517631" y="1025206"/>
            <a:ext cx="49275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Iteration, sometimes called looping, means repeating sections of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make_notes">
            <a:extLst>
              <a:ext uri="{FF2B5EF4-FFF2-40B4-BE49-F238E27FC236}">
                <a16:creationId xmlns:a16="http://schemas.microsoft.com/office/drawing/2014/main" id="{FBE90BAA-0EDD-2FFB-BCA1-417A03A73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068F623-A935-EF8B-EB8C-49CF9617BA48}"/>
              </a:ext>
            </a:extLst>
          </p:cNvPr>
          <p:cNvSpPr/>
          <p:nvPr/>
        </p:nvSpPr>
        <p:spPr>
          <a:xfrm>
            <a:off x="-1" y="2236946"/>
            <a:ext cx="6096001" cy="31432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DD163F7-595E-1B50-86F2-E27E8769F41E}"/>
              </a:ext>
            </a:extLst>
          </p:cNvPr>
          <p:cNvSpPr/>
          <p:nvPr/>
        </p:nvSpPr>
        <p:spPr>
          <a:xfrm>
            <a:off x="51802" y="2238375"/>
            <a:ext cx="314325" cy="3143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E1B5AD-DD30-EB36-456D-A0433736A938}"/>
              </a:ext>
            </a:extLst>
          </p:cNvPr>
          <p:cNvCxnSpPr>
            <a:cxnSpLocks/>
          </p:cNvCxnSpPr>
          <p:nvPr/>
        </p:nvCxnSpPr>
        <p:spPr>
          <a:xfrm>
            <a:off x="6623549" y="2403633"/>
            <a:ext cx="0" cy="27793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09F1D5E-8E38-6706-ECFE-4F9FD3C02B3B}"/>
              </a:ext>
            </a:extLst>
          </p:cNvPr>
          <p:cNvCxnSpPr>
            <a:cxnSpLocks/>
          </p:cNvCxnSpPr>
          <p:nvPr/>
        </p:nvCxnSpPr>
        <p:spPr>
          <a:xfrm flipH="1">
            <a:off x="6080624" y="2394108"/>
            <a:ext cx="537577" cy="0"/>
          </a:xfrm>
          <a:prstGeom prst="line">
            <a:avLst/>
          </a:prstGeom>
          <a:ln w="76200">
            <a:solidFill>
              <a:srgbClr val="C00000"/>
            </a:soli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E01D9B4-BAA0-43FB-2EFC-16C52D9C1F4D}"/>
              </a:ext>
            </a:extLst>
          </p:cNvPr>
          <p:cNvCxnSpPr>
            <a:cxnSpLocks/>
          </p:cNvCxnSpPr>
          <p:nvPr/>
        </p:nvCxnSpPr>
        <p:spPr>
          <a:xfrm>
            <a:off x="6099674" y="5154456"/>
            <a:ext cx="537577" cy="0"/>
          </a:xfrm>
          <a:prstGeom prst="line">
            <a:avLst/>
          </a:prstGeom>
          <a:ln w="76200">
            <a:solidFill>
              <a:srgbClr val="C00000"/>
            </a:soli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263E25B-A332-5BA3-9F68-2C7494CE24EC}"/>
              </a:ext>
            </a:extLst>
          </p:cNvPr>
          <p:cNvSpPr/>
          <p:nvPr/>
        </p:nvSpPr>
        <p:spPr>
          <a:xfrm>
            <a:off x="19050" y="2249304"/>
            <a:ext cx="6076950" cy="3151370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616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CC389D-689C-47B0-9D84-7D9ED9028C71}"/>
              </a:ext>
            </a:extLst>
          </p:cNvPr>
          <p:cNvSpPr/>
          <p:nvPr/>
        </p:nvSpPr>
        <p:spPr>
          <a:xfrm>
            <a:off x="1517631" y="523174"/>
            <a:ext cx="2979723" cy="778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Iteration (looping)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200" dirty="0">
              <a:solidFill>
                <a:srgbClr val="008C8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AEBC07-26DC-4B08-9BCF-2A102030EF7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149" y="393921"/>
            <a:ext cx="1402202" cy="1743607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5DB1509E-63A2-452F-90AD-FBE0467A1CF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490" y="607667"/>
            <a:ext cx="1088514" cy="1240906"/>
          </a:xfrm>
          <a:prstGeom prst="rect">
            <a:avLst/>
          </a:prstGeom>
        </p:spPr>
      </p:pic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B663451C-4175-43E6-81EA-BABA7BAFCE3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192" y="393921"/>
            <a:ext cx="1566808" cy="15546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510555-0983-4C15-9CE3-8E1F82558748}"/>
              </a:ext>
            </a:extLst>
          </p:cNvPr>
          <p:cNvSpPr txBox="1"/>
          <p:nvPr/>
        </p:nvSpPr>
        <p:spPr>
          <a:xfrm>
            <a:off x="318503" y="1936178"/>
            <a:ext cx="11554994" cy="2564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REPEAT loop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(also known as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post-condition loop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used when the required number of iterations is not known ahead of execution because the variable used to determine when the iteration ends is changing within the iteration itself.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REPEAT loop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will always execute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 least once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the check is performed at the end of the loop.</a:t>
            </a:r>
          </a:p>
          <a:p>
            <a:r>
              <a:rPr lang="en-GB" dirty="0">
                <a:latin typeface="Consolas" panose="020B0609020204030204" pitchFamily="49" charset="0"/>
              </a:rPr>
              <a:t>REPEAT</a:t>
            </a:r>
          </a:p>
          <a:p>
            <a:r>
              <a:rPr lang="en-GB" dirty="0">
                <a:latin typeface="Consolas" panose="020B0609020204030204" pitchFamily="49" charset="0"/>
              </a:rPr>
              <a:t>    OUTPUT "Please enter the password"</a:t>
            </a:r>
          </a:p>
          <a:p>
            <a:r>
              <a:rPr lang="en-GB" dirty="0">
                <a:latin typeface="Consolas" panose="020B0609020204030204" pitchFamily="49" charset="0"/>
              </a:rPr>
              <a:t>    INPUT Password</a:t>
            </a:r>
          </a:p>
          <a:p>
            <a:r>
              <a:rPr lang="en-GB" dirty="0">
                <a:latin typeface="Consolas" panose="020B0609020204030204" pitchFamily="49" charset="0"/>
              </a:rPr>
              <a:t>UNTIL Password = "Secret"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FAAC5D-50A7-474C-9579-50C4EAC8C90F}"/>
              </a:ext>
            </a:extLst>
          </p:cNvPr>
          <p:cNvSpPr/>
          <p:nvPr/>
        </p:nvSpPr>
        <p:spPr>
          <a:xfrm>
            <a:off x="1517631" y="1025206"/>
            <a:ext cx="49275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Iteration, sometimes called looping, means repeating sections of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make_notes">
            <a:extLst>
              <a:ext uri="{FF2B5EF4-FFF2-40B4-BE49-F238E27FC236}">
                <a16:creationId xmlns:a16="http://schemas.microsoft.com/office/drawing/2014/main" id="{90DFC045-4FE7-EE75-F78F-E3D54C7D2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2B1AD60-59B2-CF33-7A59-FBC31F2EF280}"/>
              </a:ext>
            </a:extLst>
          </p:cNvPr>
          <p:cNvSpPr/>
          <p:nvPr/>
        </p:nvSpPr>
        <p:spPr>
          <a:xfrm>
            <a:off x="-1" y="3875246"/>
            <a:ext cx="6096001" cy="31432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025440D-6511-E34C-9166-FD2B22AE0922}"/>
              </a:ext>
            </a:extLst>
          </p:cNvPr>
          <p:cNvSpPr/>
          <p:nvPr/>
        </p:nvSpPr>
        <p:spPr>
          <a:xfrm>
            <a:off x="51802" y="3876675"/>
            <a:ext cx="314325" cy="3143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09BE7B-8EE7-EEB3-ACE6-10F0EBF8A405}"/>
              </a:ext>
            </a:extLst>
          </p:cNvPr>
          <p:cNvSpPr/>
          <p:nvPr/>
        </p:nvSpPr>
        <p:spPr>
          <a:xfrm>
            <a:off x="19050" y="3033421"/>
            <a:ext cx="6076950" cy="1156149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075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C510555-0983-4C15-9CE3-8E1F82558748}"/>
              </a:ext>
            </a:extLst>
          </p:cNvPr>
          <p:cNvSpPr txBox="1"/>
          <p:nvPr/>
        </p:nvSpPr>
        <p:spPr>
          <a:xfrm>
            <a:off x="318503" y="1936178"/>
            <a:ext cx="11554994" cy="4965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REPEAT loop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(also known as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post-condition loop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used when the required number of iterations is not known ahead of execution because the variable used to determine when the iteration ends is changing within the iteration itself.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REPEAT loop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will always execute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 least once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the check is performed at the end of the loop.</a:t>
            </a:r>
          </a:p>
          <a:p>
            <a:r>
              <a:rPr lang="en-GB" dirty="0">
                <a:latin typeface="Consolas" panose="020B0609020204030204" pitchFamily="49" charset="0"/>
              </a:rPr>
              <a:t>REPEAT</a:t>
            </a:r>
          </a:p>
          <a:p>
            <a:r>
              <a:rPr lang="en-GB" dirty="0">
                <a:latin typeface="Consolas" panose="020B0609020204030204" pitchFamily="49" charset="0"/>
              </a:rPr>
              <a:t>    OUTPUT "Please enter the password"</a:t>
            </a:r>
          </a:p>
          <a:p>
            <a:r>
              <a:rPr lang="en-GB" dirty="0">
                <a:latin typeface="Consolas" panose="020B0609020204030204" pitchFamily="49" charset="0"/>
              </a:rPr>
              <a:t>    INPUT Password</a:t>
            </a:r>
          </a:p>
          <a:p>
            <a:pPr>
              <a:spcAft>
                <a:spcPts val="400"/>
              </a:spcAft>
            </a:pPr>
            <a:r>
              <a:rPr lang="en-GB" dirty="0">
                <a:latin typeface="Consolas" panose="020B0609020204030204" pitchFamily="49" charset="0"/>
              </a:rPr>
              <a:t>UNTIL Password = "Secret"</a:t>
            </a:r>
          </a:p>
          <a:p>
            <a:pPr>
              <a:spcAft>
                <a:spcPts val="4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WHILE loop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(also known as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pre-condition loop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an alternative to REPEAT where the condition is checked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before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entering the loop, this means the loop might execute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zero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times if the condition is FALSE at the start of the first iteration.</a:t>
            </a:r>
          </a:p>
          <a:p>
            <a:r>
              <a:rPr lang="en-GB" dirty="0">
                <a:latin typeface="Consolas" panose="020B0609020204030204" pitchFamily="49" charset="0"/>
              </a:rPr>
              <a:t>WHILE Number &gt; 9 DO</a:t>
            </a:r>
          </a:p>
          <a:p>
            <a:r>
              <a:rPr lang="en-GB" dirty="0">
                <a:latin typeface="Consolas" panose="020B0609020204030204" pitchFamily="49" charset="0"/>
              </a:rPr>
              <a:t>    Number</a:t>
            </a:r>
            <a:r>
              <a:rPr lang="en-GB" dirty="0">
                <a:latin typeface="Wingdings" panose="05000000000000000000" pitchFamily="2" charset="2"/>
              </a:rPr>
              <a:t> ß </a:t>
            </a:r>
            <a:r>
              <a:rPr lang="en-GB" dirty="0">
                <a:latin typeface="Consolas" panose="020B0609020204030204" pitchFamily="49" charset="0"/>
              </a:rPr>
              <a:t>Number - 1</a:t>
            </a:r>
          </a:p>
          <a:p>
            <a:r>
              <a:rPr lang="en-GB" dirty="0">
                <a:latin typeface="Consolas" panose="020B0609020204030204" pitchFamily="49" charset="0"/>
              </a:rPr>
              <a:t>ENDWHILE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CC389D-689C-47B0-9D84-7D9ED9028C71}"/>
              </a:ext>
            </a:extLst>
          </p:cNvPr>
          <p:cNvSpPr/>
          <p:nvPr/>
        </p:nvSpPr>
        <p:spPr>
          <a:xfrm>
            <a:off x="1517631" y="523174"/>
            <a:ext cx="2979723" cy="778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Iteration (looping)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200" dirty="0">
              <a:solidFill>
                <a:srgbClr val="008C8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AEBC07-26DC-4B08-9BCF-2A102030EF79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149" y="393921"/>
            <a:ext cx="1402202" cy="1743607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5DB1509E-63A2-452F-90AD-FBE0467A1CF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490" y="607667"/>
            <a:ext cx="1088514" cy="1240906"/>
          </a:xfrm>
          <a:prstGeom prst="rect">
            <a:avLst/>
          </a:prstGeom>
        </p:spPr>
      </p:pic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B663451C-4175-43E6-81EA-BABA7BAFCE3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192" y="393921"/>
            <a:ext cx="1566808" cy="1554615"/>
          </a:xfrm>
          <a:prstGeom prst="rect">
            <a:avLst/>
          </a:prstGeom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60F02EB7-14FE-499F-B56A-998A64CB1CD9}"/>
              </a:ext>
            </a:extLst>
          </p:cNvPr>
          <p:cNvSpPr/>
          <p:nvPr/>
        </p:nvSpPr>
        <p:spPr>
          <a:xfrm>
            <a:off x="6338181" y="3298082"/>
            <a:ext cx="3042618" cy="1038753"/>
          </a:xfrm>
          <a:prstGeom prst="wedgeRoundRectCallout">
            <a:avLst>
              <a:gd name="adj1" fmla="val -56502"/>
              <a:gd name="adj2" fmla="val -22861"/>
              <a:gd name="adj3" fmla="val 1666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i="1" dirty="0">
                <a:solidFill>
                  <a:schemeClr val="accent2">
                    <a:lumMod val="75000"/>
                  </a:schemeClr>
                </a:solidFill>
              </a:rPr>
              <a:t>Although the language you are learning may not utilise these commands, you still need to be aware of them for the exam.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FAAC5D-50A7-474C-9579-50C4EAC8C90F}"/>
              </a:ext>
            </a:extLst>
          </p:cNvPr>
          <p:cNvSpPr/>
          <p:nvPr/>
        </p:nvSpPr>
        <p:spPr>
          <a:xfrm>
            <a:off x="1517631" y="1025206"/>
            <a:ext cx="49275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Iteration, sometimes called looping, means repeating sections of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make_notes">
            <a:extLst>
              <a:ext uri="{FF2B5EF4-FFF2-40B4-BE49-F238E27FC236}">
                <a16:creationId xmlns:a16="http://schemas.microsoft.com/office/drawing/2014/main" id="{90DFC045-4FE7-EE75-F78F-E3D54C7D2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AB82224-4058-83E6-2C77-C15717FEE18D}"/>
              </a:ext>
            </a:extLst>
          </p:cNvPr>
          <p:cNvSpPr/>
          <p:nvPr/>
        </p:nvSpPr>
        <p:spPr>
          <a:xfrm>
            <a:off x="-1" y="5532596"/>
            <a:ext cx="3943351" cy="31432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E76338E-1F99-01C4-3600-2A8638C0265E}"/>
              </a:ext>
            </a:extLst>
          </p:cNvPr>
          <p:cNvSpPr/>
          <p:nvPr/>
        </p:nvSpPr>
        <p:spPr>
          <a:xfrm>
            <a:off x="51802" y="5534025"/>
            <a:ext cx="314325" cy="3143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784E9E-ECCF-49B0-8F45-9C2CCF052242}"/>
              </a:ext>
            </a:extLst>
          </p:cNvPr>
          <p:cNvSpPr/>
          <p:nvPr/>
        </p:nvSpPr>
        <p:spPr>
          <a:xfrm>
            <a:off x="19050" y="3033421"/>
            <a:ext cx="6076950" cy="1156149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6AC60E-A663-8CFD-4432-4AA0519A6A5F}"/>
              </a:ext>
            </a:extLst>
          </p:cNvPr>
          <p:cNvSpPr/>
          <p:nvPr/>
        </p:nvSpPr>
        <p:spPr>
          <a:xfrm>
            <a:off x="0" y="5531166"/>
            <a:ext cx="3943350" cy="898209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CC948E-591C-B2C9-DFD6-41683F669A12}"/>
              </a:ext>
            </a:extLst>
          </p:cNvPr>
          <p:cNvSpPr/>
          <p:nvPr/>
        </p:nvSpPr>
        <p:spPr>
          <a:xfrm>
            <a:off x="-1" y="3875246"/>
            <a:ext cx="6096001" cy="31432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E1652E4-054C-6E27-4A70-1652C9F38415}"/>
              </a:ext>
            </a:extLst>
          </p:cNvPr>
          <p:cNvSpPr/>
          <p:nvPr/>
        </p:nvSpPr>
        <p:spPr>
          <a:xfrm>
            <a:off x="51802" y="3876675"/>
            <a:ext cx="314325" cy="3143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7250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F323419-F2A9-8CD9-7B2E-21BBD7BD4B44}"/>
              </a:ext>
            </a:extLst>
          </p:cNvPr>
          <p:cNvSpPr/>
          <p:nvPr/>
        </p:nvSpPr>
        <p:spPr>
          <a:xfrm>
            <a:off x="176564" y="523174"/>
            <a:ext cx="517648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pseudocode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C27F41-6D4F-9742-C4D1-F27FFA143695}"/>
              </a:ext>
            </a:extLst>
          </p:cNvPr>
          <p:cNvSpPr/>
          <p:nvPr/>
        </p:nvSpPr>
        <p:spPr>
          <a:xfrm>
            <a:off x="176564" y="993174"/>
            <a:ext cx="114725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an example of how these concepts will look in exam papers following the Cambridge IGCSE pseudocode format, which is listed towards the back of the syllabus.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9C7E12-FDB7-80FC-C079-3F9B228DD126}"/>
              </a:ext>
            </a:extLst>
          </p:cNvPr>
          <p:cNvSpPr/>
          <p:nvPr/>
        </p:nvSpPr>
        <p:spPr>
          <a:xfrm>
            <a:off x="307657" y="1950850"/>
            <a:ext cx="5521644" cy="4526149"/>
          </a:xfrm>
          <a:prstGeom prst="roundRect">
            <a:avLst>
              <a:gd name="adj" fmla="val 5148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IF &lt;condition&gt;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THEN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  &lt;statements&gt;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ENDIF</a:t>
            </a: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IF password = "secret"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THEN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  OUTPUT "Password correct"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ENDIF</a:t>
            </a:r>
          </a:p>
          <a:p>
            <a:r>
              <a:rPr lang="en-GB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A536AFB-3879-9F9B-2E1F-5D369054F4B4}"/>
              </a:ext>
            </a:extLst>
          </p:cNvPr>
          <p:cNvSpPr/>
          <p:nvPr/>
        </p:nvSpPr>
        <p:spPr>
          <a:xfrm>
            <a:off x="312193" y="1950851"/>
            <a:ext cx="5517108" cy="303614"/>
          </a:xfrm>
          <a:prstGeom prst="roundRect">
            <a:avLst>
              <a:gd name="adj" fmla="val 29488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IF statements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F0705E4-D37A-A6AB-E519-752ADAA0E9DF}"/>
              </a:ext>
            </a:extLst>
          </p:cNvPr>
          <p:cNvSpPr/>
          <p:nvPr/>
        </p:nvSpPr>
        <p:spPr>
          <a:xfrm>
            <a:off x="6358163" y="1937935"/>
            <a:ext cx="5521644" cy="4539064"/>
          </a:xfrm>
          <a:prstGeom prst="roundRect">
            <a:avLst>
              <a:gd name="adj" fmla="val 5148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IF &lt;condition&gt;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THEN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  &lt;statements&gt;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ELSE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  &lt;statements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ENDIF</a:t>
            </a: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IF Age &gt;= 18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THEN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  OUTPUT "You are old enough to vote"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ELSE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  OUTPUT "You are not of voting age"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ENDIF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F3166F4-1B19-F2A1-C560-A2128ED86A11}"/>
              </a:ext>
            </a:extLst>
          </p:cNvPr>
          <p:cNvSpPr/>
          <p:nvPr/>
        </p:nvSpPr>
        <p:spPr>
          <a:xfrm>
            <a:off x="6362699" y="1937935"/>
            <a:ext cx="5517108" cy="303614"/>
          </a:xfrm>
          <a:prstGeom prst="roundRect">
            <a:avLst>
              <a:gd name="adj" fmla="val 2948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IF…ELSE statements</a:t>
            </a:r>
          </a:p>
        </p:txBody>
      </p:sp>
    </p:spTree>
    <p:extLst>
      <p:ext uri="{BB962C8B-B14F-4D97-AF65-F5344CB8AC3E}">
        <p14:creationId xmlns:p14="http://schemas.microsoft.com/office/powerpoint/2010/main" val="3975466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9C7E12-FDB7-80FC-C079-3F9B228DD126}"/>
              </a:ext>
            </a:extLst>
          </p:cNvPr>
          <p:cNvSpPr/>
          <p:nvPr/>
        </p:nvSpPr>
        <p:spPr>
          <a:xfrm>
            <a:off x="307657" y="1950850"/>
            <a:ext cx="5521644" cy="4526149"/>
          </a:xfrm>
          <a:prstGeom prst="roundRect">
            <a:avLst>
              <a:gd name="adj" fmla="val 5148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CASE OF &lt;identifier&gt;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&lt;value 1&gt; : &lt;statement&gt;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&lt;value 2&gt; : &lt;statement&gt;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...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ENDCASE</a:t>
            </a: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</a:rPr>
              <a:t>An 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OTHERWISE </a:t>
            </a: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clause can be the last case:</a:t>
            </a:r>
          </a:p>
          <a:p>
            <a:endParaRPr lang="en-GB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CASE OF &lt;identifier&gt;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&lt;value 1&gt; : &lt;statement&gt;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&lt;value 2&gt; : &lt;statement&gt;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...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OTHERWISE &lt;statement&gt; 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ENDCASE</a:t>
            </a:r>
          </a:p>
          <a:p>
            <a:endParaRPr lang="en-GB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A536AFB-3879-9F9B-2E1F-5D369054F4B4}"/>
              </a:ext>
            </a:extLst>
          </p:cNvPr>
          <p:cNvSpPr/>
          <p:nvPr/>
        </p:nvSpPr>
        <p:spPr>
          <a:xfrm>
            <a:off x="312193" y="1950851"/>
            <a:ext cx="5517108" cy="303614"/>
          </a:xfrm>
          <a:prstGeom prst="roundRect">
            <a:avLst>
              <a:gd name="adj" fmla="val 29488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CASE statements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F0705E4-D37A-A6AB-E519-752ADAA0E9DF}"/>
              </a:ext>
            </a:extLst>
          </p:cNvPr>
          <p:cNvSpPr/>
          <p:nvPr/>
        </p:nvSpPr>
        <p:spPr>
          <a:xfrm>
            <a:off x="6358163" y="1937935"/>
            <a:ext cx="5521644" cy="4539064"/>
          </a:xfrm>
          <a:prstGeom prst="roundRect">
            <a:avLst>
              <a:gd name="adj" fmla="val 5148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INPUT Move</a:t>
            </a: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CASE OF Move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'W' : Position </a:t>
            </a:r>
            <a:r>
              <a:rPr lang="en-GB" dirty="0">
                <a:solidFill>
                  <a:schemeClr val="tx1"/>
                </a:solidFill>
                <a:latin typeface="Wingdings" panose="05000000000000000000" pitchFamily="2" charset="2"/>
              </a:rPr>
              <a:t>ß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Position - 10 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'E' : Position </a:t>
            </a:r>
            <a:r>
              <a:rPr lang="en-GB" dirty="0">
                <a:solidFill>
                  <a:schemeClr val="tx1"/>
                </a:solidFill>
                <a:latin typeface="Wingdings" panose="05000000000000000000" pitchFamily="2" charset="2"/>
              </a:rPr>
              <a:t>ß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Position + 10 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'A' : Position </a:t>
            </a:r>
            <a:r>
              <a:rPr lang="en-GB" dirty="0">
                <a:solidFill>
                  <a:schemeClr val="tx1"/>
                </a:solidFill>
                <a:latin typeface="Wingdings" panose="05000000000000000000" pitchFamily="2" charset="2"/>
              </a:rPr>
              <a:t>ß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Position - 1 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'D' : Position </a:t>
            </a:r>
            <a:r>
              <a:rPr lang="en-GB" dirty="0">
                <a:solidFill>
                  <a:schemeClr val="tx1"/>
                </a:solidFill>
                <a:latin typeface="Wingdings" panose="05000000000000000000" pitchFamily="2" charset="2"/>
              </a:rPr>
              <a:t>ß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Position + 1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OTHERWISE OUTPUT "Error" 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ENDCASE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F3166F4-1B19-F2A1-C560-A2128ED86A11}"/>
              </a:ext>
            </a:extLst>
          </p:cNvPr>
          <p:cNvSpPr/>
          <p:nvPr/>
        </p:nvSpPr>
        <p:spPr>
          <a:xfrm>
            <a:off x="6362699" y="1937935"/>
            <a:ext cx="5517108" cy="303614"/>
          </a:xfrm>
          <a:prstGeom prst="roundRect">
            <a:avLst>
              <a:gd name="adj" fmla="val 2948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CASE statements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A0E193-3DE5-1359-15B8-0EB40688C8CD}"/>
              </a:ext>
            </a:extLst>
          </p:cNvPr>
          <p:cNvSpPr/>
          <p:nvPr/>
        </p:nvSpPr>
        <p:spPr>
          <a:xfrm>
            <a:off x="176564" y="523174"/>
            <a:ext cx="517648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pseudocode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F71E0B-532B-1FF0-8072-BCC6779972B7}"/>
              </a:ext>
            </a:extLst>
          </p:cNvPr>
          <p:cNvSpPr/>
          <p:nvPr/>
        </p:nvSpPr>
        <p:spPr>
          <a:xfrm>
            <a:off x="176564" y="993174"/>
            <a:ext cx="114725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an example of how these concepts will look in exam papers following the Cambridge IGCSE pseudocode format, which is listed towards the back of the syllabus.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582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9C7E12-FDB7-80FC-C079-3F9B228DD126}"/>
              </a:ext>
            </a:extLst>
          </p:cNvPr>
          <p:cNvSpPr/>
          <p:nvPr/>
        </p:nvSpPr>
        <p:spPr>
          <a:xfrm>
            <a:off x="307657" y="1950850"/>
            <a:ext cx="8150543" cy="4383975"/>
          </a:xfrm>
          <a:prstGeom prst="roundRect">
            <a:avLst>
              <a:gd name="adj" fmla="val 5148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FOR &lt;identifier&gt; </a:t>
            </a:r>
            <a:r>
              <a:rPr lang="en-GB" dirty="0">
                <a:solidFill>
                  <a:schemeClr val="tx1"/>
                </a:solidFill>
                <a:latin typeface="Wingdings" panose="05000000000000000000" pitchFamily="2" charset="2"/>
              </a:rPr>
              <a:t>ß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&lt;value1&gt; TO &lt;value2&gt;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  &lt;statements&gt;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NEXT &lt;identifier&gt;</a:t>
            </a: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FOR Counter </a:t>
            </a:r>
            <a:r>
              <a:rPr lang="en-GB" dirty="0">
                <a:solidFill>
                  <a:schemeClr val="tx1"/>
                </a:solidFill>
                <a:latin typeface="Wingdings" panose="05000000000000000000" pitchFamily="2" charset="2"/>
              </a:rPr>
              <a:t>ß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1 TO 10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  OUTPUT Counter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NEXT Counter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A536AFB-3879-9F9B-2E1F-5D369054F4B4}"/>
              </a:ext>
            </a:extLst>
          </p:cNvPr>
          <p:cNvSpPr/>
          <p:nvPr/>
        </p:nvSpPr>
        <p:spPr>
          <a:xfrm>
            <a:off x="312192" y="1950851"/>
            <a:ext cx="8146007" cy="303614"/>
          </a:xfrm>
          <a:prstGeom prst="roundRect">
            <a:avLst>
              <a:gd name="adj" fmla="val 29488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Count-controlled FOR loop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02AC15-82A2-023E-0432-0C9262188FD5}"/>
              </a:ext>
            </a:extLst>
          </p:cNvPr>
          <p:cNvSpPr txBox="1"/>
          <p:nvPr/>
        </p:nvSpPr>
        <p:spPr>
          <a:xfrm>
            <a:off x="8897993" y="2451498"/>
            <a:ext cx="2554605" cy="317009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1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2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3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4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6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7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8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9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6BED6A-07EE-57A8-DD34-C826985E1622}"/>
              </a:ext>
            </a:extLst>
          </p:cNvPr>
          <p:cNvSpPr/>
          <p:nvPr/>
        </p:nvSpPr>
        <p:spPr>
          <a:xfrm>
            <a:off x="8788870" y="2088606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BF487E-5463-460C-748F-3AFC8E5075BD}"/>
              </a:ext>
            </a:extLst>
          </p:cNvPr>
          <p:cNvSpPr/>
          <p:nvPr/>
        </p:nvSpPr>
        <p:spPr>
          <a:xfrm>
            <a:off x="176564" y="523174"/>
            <a:ext cx="517648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pseudocode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DC41A9-2DB6-F9CA-5275-1AC96F7C6D59}"/>
              </a:ext>
            </a:extLst>
          </p:cNvPr>
          <p:cNvSpPr/>
          <p:nvPr/>
        </p:nvSpPr>
        <p:spPr>
          <a:xfrm>
            <a:off x="176564" y="993174"/>
            <a:ext cx="114725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an example of how these concepts will look in exam papers following the Cambridge IGCSE pseudocode format, which is listed towards the back of the syllabus.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262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9C7E12-FDB7-80FC-C079-3F9B228DD126}"/>
              </a:ext>
            </a:extLst>
          </p:cNvPr>
          <p:cNvSpPr/>
          <p:nvPr/>
        </p:nvSpPr>
        <p:spPr>
          <a:xfrm>
            <a:off x="307657" y="1950850"/>
            <a:ext cx="8150543" cy="4383975"/>
          </a:xfrm>
          <a:prstGeom prst="roundRect">
            <a:avLst>
              <a:gd name="adj" fmla="val 5148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FOR &lt;identifier&gt; </a:t>
            </a:r>
            <a:r>
              <a:rPr lang="en-GB" dirty="0">
                <a:solidFill>
                  <a:schemeClr val="tx1"/>
                </a:solidFill>
                <a:latin typeface="Wingdings" panose="05000000000000000000" pitchFamily="2" charset="2"/>
              </a:rPr>
              <a:t>ß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&lt;value1&gt; TO &lt;value2&gt; STEP &lt;increment&gt;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  &lt;statements&gt;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NEXT &lt;identifier&gt;</a:t>
            </a: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FOR Counter </a:t>
            </a:r>
            <a:r>
              <a:rPr lang="en-GB" dirty="0">
                <a:solidFill>
                  <a:schemeClr val="tx1"/>
                </a:solidFill>
                <a:latin typeface="Wingdings" panose="05000000000000000000" pitchFamily="2" charset="2"/>
              </a:rPr>
              <a:t>ß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1 TO 10 STEP 2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  OUTPUT Counter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NEXT Counter</a:t>
            </a: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FOR Counter </a:t>
            </a:r>
            <a:r>
              <a:rPr lang="en-GB" dirty="0">
                <a:solidFill>
                  <a:schemeClr val="tx1"/>
                </a:solidFill>
                <a:latin typeface="Wingdings" panose="05000000000000000000" pitchFamily="2" charset="2"/>
              </a:rPr>
              <a:t>ß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10 TO 1 STEP -2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  OUTPUT Counter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NEXT Counter</a:t>
            </a: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A536AFB-3879-9F9B-2E1F-5D369054F4B4}"/>
              </a:ext>
            </a:extLst>
          </p:cNvPr>
          <p:cNvSpPr/>
          <p:nvPr/>
        </p:nvSpPr>
        <p:spPr>
          <a:xfrm>
            <a:off x="312192" y="1950851"/>
            <a:ext cx="8146007" cy="303614"/>
          </a:xfrm>
          <a:prstGeom prst="roundRect">
            <a:avLst>
              <a:gd name="adj" fmla="val 29488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Count-controlled FOR loop with a step increment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02AC15-82A2-023E-0432-0C9262188FD5}"/>
              </a:ext>
            </a:extLst>
          </p:cNvPr>
          <p:cNvSpPr txBox="1"/>
          <p:nvPr/>
        </p:nvSpPr>
        <p:spPr>
          <a:xfrm>
            <a:off x="8897993" y="2451498"/>
            <a:ext cx="2554605" cy="163121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1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3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7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6BED6A-07EE-57A8-DD34-C826985E1622}"/>
              </a:ext>
            </a:extLst>
          </p:cNvPr>
          <p:cNvSpPr/>
          <p:nvPr/>
        </p:nvSpPr>
        <p:spPr>
          <a:xfrm>
            <a:off x="8788870" y="2088606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EC1FF6-6F02-95B3-79DF-29D190BC1088}"/>
              </a:ext>
            </a:extLst>
          </p:cNvPr>
          <p:cNvSpPr txBox="1"/>
          <p:nvPr/>
        </p:nvSpPr>
        <p:spPr>
          <a:xfrm>
            <a:off x="8897993" y="4537473"/>
            <a:ext cx="2554605" cy="163121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10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8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6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4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87184A-F931-97A8-40DD-77D4F941D9BB}"/>
              </a:ext>
            </a:extLst>
          </p:cNvPr>
          <p:cNvSpPr/>
          <p:nvPr/>
        </p:nvSpPr>
        <p:spPr>
          <a:xfrm>
            <a:off x="8788870" y="4174581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ED9D4F-B86A-B54B-EA07-097379CA475E}"/>
              </a:ext>
            </a:extLst>
          </p:cNvPr>
          <p:cNvSpPr/>
          <p:nvPr/>
        </p:nvSpPr>
        <p:spPr>
          <a:xfrm>
            <a:off x="176564" y="523174"/>
            <a:ext cx="517648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pseudocode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C7D375-F251-5999-4CC2-8FF4B5573E84}"/>
              </a:ext>
            </a:extLst>
          </p:cNvPr>
          <p:cNvSpPr/>
          <p:nvPr/>
        </p:nvSpPr>
        <p:spPr>
          <a:xfrm>
            <a:off x="176564" y="993174"/>
            <a:ext cx="114725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an example of how these concepts will look in exam papers following the Cambridge IGCSE pseudocode format, which is listed towards the back of the syllabus.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512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335AFB6-C7FE-A4FA-5CED-9538FC8E2AAC}"/>
              </a:ext>
            </a:extLst>
          </p:cNvPr>
          <p:cNvGrpSpPr/>
          <p:nvPr/>
        </p:nvGrpSpPr>
        <p:grpSpPr>
          <a:xfrm>
            <a:off x="307657" y="1950851"/>
            <a:ext cx="5521644" cy="2982130"/>
            <a:chOff x="115335" y="1049783"/>
            <a:chExt cx="5795610" cy="364866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59C7E12-FDB7-80FC-C079-3F9B228DD126}"/>
                </a:ext>
              </a:extLst>
            </p:cNvPr>
            <p:cNvSpPr/>
            <p:nvPr/>
          </p:nvSpPr>
          <p:spPr>
            <a:xfrm>
              <a:off x="115335" y="1049783"/>
              <a:ext cx="5795610" cy="3648665"/>
            </a:xfrm>
            <a:prstGeom prst="roundRect">
              <a:avLst>
                <a:gd name="adj" fmla="val 5148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GB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REPEAT</a:t>
              </a:r>
            </a:p>
            <a:p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&lt;statements&gt;</a:t>
              </a:r>
            </a:p>
            <a:p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UNTIL &lt;condition&gt;</a:t>
              </a:r>
            </a:p>
            <a:p>
              <a:endParaRPr lang="en-GB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endParaRPr lang="en-GB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REPEAT</a:t>
              </a:r>
            </a:p>
            <a:p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OUTPUT "Please enter the password"</a:t>
              </a:r>
            </a:p>
            <a:p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INPUT Password</a:t>
              </a:r>
            </a:p>
            <a:p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UNTIL Password = "Secret"</a:t>
              </a:r>
            </a:p>
            <a:p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A536AFB-3879-9F9B-2E1F-5D369054F4B4}"/>
                </a:ext>
              </a:extLst>
            </p:cNvPr>
            <p:cNvSpPr/>
            <p:nvPr/>
          </p:nvSpPr>
          <p:spPr>
            <a:xfrm>
              <a:off x="120096" y="1049783"/>
              <a:ext cx="5790849" cy="371475"/>
            </a:xfrm>
            <a:prstGeom prst="roundRect">
              <a:avLst>
                <a:gd name="adj" fmla="val 29488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chemeClr val="tx1"/>
                  </a:solidFill>
                </a:rPr>
                <a:t>Post-condition REPEAT loop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563C06-75C2-8B63-0012-4F2F4F1F4CDC}"/>
              </a:ext>
            </a:extLst>
          </p:cNvPr>
          <p:cNvGrpSpPr/>
          <p:nvPr/>
        </p:nvGrpSpPr>
        <p:grpSpPr>
          <a:xfrm>
            <a:off x="6358163" y="1937935"/>
            <a:ext cx="5521644" cy="2982130"/>
            <a:chOff x="115335" y="1049783"/>
            <a:chExt cx="5795610" cy="364866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F0705E4-D37A-A6AB-E519-752ADAA0E9DF}"/>
                </a:ext>
              </a:extLst>
            </p:cNvPr>
            <p:cNvSpPr/>
            <p:nvPr/>
          </p:nvSpPr>
          <p:spPr>
            <a:xfrm>
              <a:off x="115335" y="1049783"/>
              <a:ext cx="5795610" cy="3648665"/>
            </a:xfrm>
            <a:prstGeom prst="roundRect">
              <a:avLst>
                <a:gd name="adj" fmla="val 5148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GB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WHILE &lt;condition&gt; DO</a:t>
              </a:r>
            </a:p>
            <a:p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&lt;statements&gt;</a:t>
              </a:r>
            </a:p>
            <a:p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ENDWHILE</a:t>
              </a:r>
            </a:p>
            <a:p>
              <a:endParaRPr lang="en-GB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endParaRPr lang="en-GB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WHILE Number &gt; 9 DO</a:t>
              </a:r>
            </a:p>
            <a:p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Number</a:t>
              </a:r>
              <a:r>
                <a:rPr lang="en-GB" dirty="0">
                  <a:solidFill>
                    <a:schemeClr val="tx1"/>
                  </a:solidFill>
                  <a:latin typeface="Wingdings" panose="05000000000000000000" pitchFamily="2" charset="2"/>
                </a:rPr>
                <a:t> ß </a:t>
              </a:r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Number - 1</a:t>
              </a:r>
            </a:p>
            <a:p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ENDWHILE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F3166F4-1B19-F2A1-C560-A2128ED86A11}"/>
                </a:ext>
              </a:extLst>
            </p:cNvPr>
            <p:cNvSpPr/>
            <p:nvPr/>
          </p:nvSpPr>
          <p:spPr>
            <a:xfrm>
              <a:off x="120096" y="1049783"/>
              <a:ext cx="5790849" cy="371475"/>
            </a:xfrm>
            <a:prstGeom prst="roundRect">
              <a:avLst>
                <a:gd name="adj" fmla="val 2948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chemeClr val="tx1"/>
                  </a:solidFill>
                </a:rPr>
                <a:t>Pre-condition WHILE loop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4AD3CAB-7E6A-BD28-692A-5EDFC8604589}"/>
              </a:ext>
            </a:extLst>
          </p:cNvPr>
          <p:cNvSpPr/>
          <p:nvPr/>
        </p:nvSpPr>
        <p:spPr>
          <a:xfrm>
            <a:off x="176564" y="523174"/>
            <a:ext cx="517648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pseudocode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B41674-71E3-5462-C43A-90E6F8EE9604}"/>
              </a:ext>
            </a:extLst>
          </p:cNvPr>
          <p:cNvSpPr/>
          <p:nvPr/>
        </p:nvSpPr>
        <p:spPr>
          <a:xfrm>
            <a:off x="176564" y="993174"/>
            <a:ext cx="114725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an example of how these concepts will look in exam papers following the Cambridge IGCSE pseudocode format, which is listed towards the back of the syllabus.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362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</TotalTime>
  <Words>1339</Words>
  <Application>Microsoft Office PowerPoint</Application>
  <PresentationFormat>Widescreen</PresentationFormat>
  <Paragraphs>236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Century Gothic</vt:lpstr>
      <vt:lpstr>Consolas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186</cp:revision>
  <dcterms:created xsi:type="dcterms:W3CDTF">2019-10-14T15:21:06Z</dcterms:created>
  <dcterms:modified xsi:type="dcterms:W3CDTF">2022-08-31T14:32:52Z</dcterms:modified>
</cp:coreProperties>
</file>