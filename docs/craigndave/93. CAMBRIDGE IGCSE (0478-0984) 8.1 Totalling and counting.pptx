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7" r:id="rId2"/>
    <p:sldId id="265" r:id="rId3"/>
    <p:sldId id="266" r:id="rId4"/>
    <p:sldId id="275" r:id="rId5"/>
    <p:sldId id="274" r:id="rId6"/>
    <p:sldId id="33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9E7"/>
    <a:srgbClr val="FFE1E1"/>
    <a:srgbClr val="F26521"/>
    <a:srgbClr val="FFFFFF"/>
    <a:srgbClr val="0087B1"/>
    <a:srgbClr val="000956"/>
    <a:srgbClr val="99E265"/>
    <a:srgbClr val="008C8C"/>
    <a:srgbClr val="00B2B2"/>
    <a:srgbClr val="26C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298" autoAdjust="0"/>
    <p:restoredTop sz="94694"/>
  </p:normalViewPr>
  <p:slideViewPr>
    <p:cSldViewPr snapToGrid="0">
      <p:cViewPr varScale="1">
        <p:scale>
          <a:sx n="101" d="100"/>
          <a:sy n="101" d="100"/>
        </p:scale>
        <p:origin x="1188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40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A54553-2A3F-4C94-AA62-ABFC40E07E5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996737-DD0F-4016-9F43-1C3C116716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E11316-EC54-4B9D-B716-15D72C7F09B1}" type="datetimeFigureOut">
              <a:rPr lang="en-GB" smtClean="0"/>
              <a:t>01/09/2022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7A745F-1972-497D-8174-B5868433DF0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CE6AC0-619C-486F-A045-23AE3DF3E3C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3CFB52-3982-4249-B609-86D9E88836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51636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001D13-C50D-4862-A50B-4E5D0E7CA144}" type="datetimeFigureOut">
              <a:rPr lang="en-GB" smtClean="0"/>
              <a:t>01/09/2022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0E031B-FEB2-4221-8849-89831B3F110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7644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67369-A355-4D19-AEEC-9D0100EF3C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924699-1673-40E6-9241-180D779421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BE935-35F7-402A-9F4D-C68B29248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01/09/2022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D7A12-EBDB-45B0-9FF5-F17A7EF67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C7090-3E02-4EBA-95BB-2F3FF45C1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8429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77CF4-093B-4C66-A107-491AFAE19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249AB-C9F4-4A3F-A472-C5FDCF3AA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A491B-E55E-4F96-A0A2-08ABE8538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01/09/2022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EE9C3-3BD7-499C-9C8F-E914AF0CC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A0F2C-BB77-4D20-BD01-009748E06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3006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EAB41-C5F4-4F77-8A5C-14CA38A3E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C5B807-A41F-4934-B9B5-F06B7FECF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A9AEC-9ECF-4105-84CF-CCC301ADB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01/09/2022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A81FA-05E8-4A50-9FC5-A94F3634C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13BE1-EE3A-45AF-BF76-41B86D070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0735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01685-8ECA-46F3-BC78-B8E4D43D8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252D3-EA14-47C6-8BDF-B549E97DE4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FA317-5ECF-4693-88DD-BCA7EC3919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CCA0AA-2226-49B9-8142-4F45D8CE6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01/09/2022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7F340D-9456-43F7-A764-CBD130EF6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2910B-6BBA-4043-8CD2-7AE056F14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0604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960B3-16E7-4811-A5F8-83614659A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DB62EE-BCB8-429D-BB6F-89DF9F3EA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34AD67-4C0E-484D-B7FF-FB976A1710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D7660E-8B38-43A5-A48D-A4523AA03A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7EFE82-A3BC-42B8-9F71-5C3C1ADD41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BD8DB3-F688-4AB2-AAFC-0E5E7F2EB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01/09/2022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8F70DA-1B40-4425-B025-A8D06411A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95CE6D-8A51-4013-A622-D11EFBB72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05227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E232E-9E69-481F-BDD8-74F4219ED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AD69E5-4081-437F-98E4-2CAF4F5CC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01/09/2022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B30953-0189-477F-ABF4-CE4D2ED1E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CC43C7-506A-468F-96CB-96E8683CF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9814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0CC6F3-15F4-4749-9242-EDD4FF8C5DBF}"/>
              </a:ext>
            </a:extLst>
          </p:cNvPr>
          <p:cNvSpPr/>
          <p:nvPr userDrawn="1"/>
        </p:nvSpPr>
        <p:spPr>
          <a:xfrm>
            <a:off x="10088880" y="0"/>
            <a:ext cx="2103120" cy="6858000"/>
          </a:xfrm>
          <a:prstGeom prst="rect">
            <a:avLst/>
          </a:prstGeom>
          <a:solidFill>
            <a:srgbClr val="F265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rtlCol="0" anchor="t"/>
          <a:lstStyle/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CAMBRIDGE IGCSE</a:t>
            </a:r>
          </a:p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(0478/0984)</a:t>
            </a:r>
          </a:p>
          <a:p>
            <a:pPr algn="ctr"/>
            <a:endParaRPr lang="en-GB" sz="24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B2C14A7-E460-4357-90EB-FC2CBD74FCA1}"/>
              </a:ext>
            </a:extLst>
          </p:cNvPr>
          <p:cNvSpPr/>
          <p:nvPr userDrawn="1"/>
        </p:nvSpPr>
        <p:spPr>
          <a:xfrm>
            <a:off x="8915400" y="2354373"/>
            <a:ext cx="2140171" cy="2140171"/>
          </a:xfrm>
          <a:prstGeom prst="ellipse">
            <a:avLst/>
          </a:prstGeom>
          <a:solidFill>
            <a:schemeClr val="bg1"/>
          </a:solidFill>
          <a:ln w="28575">
            <a:solidFill>
              <a:srgbClr val="F265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7" name="Picture 6" descr="A picture containing brush&#10;&#10;Description automatically generated">
            <a:extLst>
              <a:ext uri="{FF2B5EF4-FFF2-40B4-BE49-F238E27FC236}">
                <a16:creationId xmlns:a16="http://schemas.microsoft.com/office/drawing/2014/main" id="{802D9E8A-D873-49FF-AED9-2CD228DFF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" r="-3" b="-3"/>
          <a:stretch/>
        </p:blipFill>
        <p:spPr>
          <a:xfrm>
            <a:off x="9029206" y="2474254"/>
            <a:ext cx="1912560" cy="1909489"/>
          </a:xfrm>
          <a:custGeom>
            <a:avLst/>
            <a:gdLst>
              <a:gd name="connsiteX0" fmla="*/ 3028805 w 6057610"/>
              <a:gd name="connsiteY0" fmla="*/ 0 h 6057610"/>
              <a:gd name="connsiteX1" fmla="*/ 6057610 w 6057610"/>
              <a:gd name="connsiteY1" fmla="*/ 3028805 h 6057610"/>
              <a:gd name="connsiteX2" fmla="*/ 3028805 w 6057610"/>
              <a:gd name="connsiteY2" fmla="*/ 6057610 h 6057610"/>
              <a:gd name="connsiteX3" fmla="*/ 0 w 6057610"/>
              <a:gd name="connsiteY3" fmla="*/ 3028805 h 6057610"/>
              <a:gd name="connsiteX4" fmla="*/ 3028805 w 6057610"/>
              <a:gd name="connsiteY4" fmla="*/ 0 h 6057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57610" h="6057610">
                <a:moveTo>
                  <a:pt x="3028805" y="0"/>
                </a:moveTo>
                <a:cubicBezTo>
                  <a:pt x="4701568" y="0"/>
                  <a:pt x="6057610" y="1356042"/>
                  <a:pt x="6057610" y="3028805"/>
                </a:cubicBezTo>
                <a:cubicBezTo>
                  <a:pt x="6057610" y="4701568"/>
                  <a:pt x="4701568" y="6057610"/>
                  <a:pt x="3028805" y="6057610"/>
                </a:cubicBezTo>
                <a:cubicBezTo>
                  <a:pt x="1356042" y="6057610"/>
                  <a:pt x="0" y="4701568"/>
                  <a:pt x="0" y="3028805"/>
                </a:cubicBezTo>
                <a:cubicBezTo>
                  <a:pt x="0" y="1356042"/>
                  <a:pt x="1356042" y="0"/>
                  <a:pt x="3028805" y="0"/>
                </a:cubicBezTo>
                <a:close/>
              </a:path>
            </a:pathLst>
          </a:custGeom>
          <a:effectLst>
            <a:softEdge rad="0"/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FE3659E-7B75-43EA-B2D2-F180CB40635B}"/>
              </a:ext>
            </a:extLst>
          </p:cNvPr>
          <p:cNvSpPr/>
          <p:nvPr userDrawn="1"/>
        </p:nvSpPr>
        <p:spPr>
          <a:xfrm>
            <a:off x="0" y="6451184"/>
            <a:ext cx="1008887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Teacher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Student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student.craigndave.org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Smart revise: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smartrevise.co.uk </a:t>
            </a:r>
          </a:p>
        </p:txBody>
      </p:sp>
    </p:spTree>
    <p:extLst>
      <p:ext uri="{BB962C8B-B14F-4D97-AF65-F5344CB8AC3E}">
        <p14:creationId xmlns:p14="http://schemas.microsoft.com/office/powerpoint/2010/main" val="4090015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F19224-2084-4C89-AEFB-59035B0F8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01/09/2022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8E9D01-9A95-4DC3-AD5E-0657203E7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B0936-CF61-444A-88C9-B1BE2B016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7AACC54-1682-4874-BD09-D8CF92EDAE43}"/>
              </a:ext>
            </a:extLst>
          </p:cNvPr>
          <p:cNvGrpSpPr/>
          <p:nvPr userDrawn="1"/>
        </p:nvGrpSpPr>
        <p:grpSpPr>
          <a:xfrm>
            <a:off x="-1" y="0"/>
            <a:ext cx="12192001" cy="419100"/>
            <a:chOff x="-1" y="0"/>
            <a:chExt cx="12192001" cy="5334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3B4ABA0-791C-4EF4-91E1-0A7F5B882D36}"/>
                </a:ext>
              </a:extLst>
            </p:cNvPr>
            <p:cNvSpPr/>
            <p:nvPr userDrawn="1"/>
          </p:nvSpPr>
          <p:spPr>
            <a:xfrm>
              <a:off x="-1" y="0"/>
              <a:ext cx="10095723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GB" sz="1800" b="1" dirty="0">
                  <a:solidFill>
                    <a:schemeClr val="bg1"/>
                  </a:solidFill>
                </a:rPr>
                <a:t>8.1 Programming | Totalling and counting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E5FF8B6-F953-41A2-8CA9-2F6F841BDD32}"/>
                </a:ext>
              </a:extLst>
            </p:cNvPr>
            <p:cNvSpPr/>
            <p:nvPr/>
          </p:nvSpPr>
          <p:spPr>
            <a:xfrm>
              <a:off x="9100868" y="0"/>
              <a:ext cx="3091132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46800" rtlCol="0" anchor="t"/>
            <a:lstStyle/>
            <a:p>
              <a:pPr algn="r"/>
              <a:r>
                <a:rPr lang="en-GB" b="1" dirty="0">
                  <a:solidFill>
                    <a:schemeClr val="bg1"/>
                  </a:solidFill>
                </a:rPr>
                <a:t>CAMBRIDGE IGCSE (0478/0984)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0910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E615E-FCEC-48A2-8A58-855AC1751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6C2E3-EFFC-4E46-8E3B-353E3410C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8F8DFF-FB25-4FDB-AE01-189095807A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5E6D8-83E5-4A1F-91A5-3CC7778FD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01/09/2022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62ED67-D636-4841-A380-71A8E2C22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ECBE11-BFFB-4E5F-95F9-EF6A83AD8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1817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13C68-F937-4619-AC2A-808BB5FBC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4D0E72-F13A-47A1-9749-F939C5B614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CE7D0-DEEB-4789-9725-4826AE9B0A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52C0A-0BB5-4C36-AC67-AFCF2DC0A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01/09/2022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1906B4-69CB-471E-B443-A6DD59556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C21424-3B0E-4EEC-875D-327603D19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8204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6F412-1941-41D2-AC46-E8C20860A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2A1B5D-15E6-4D4B-B6F5-E46A1A7234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18167-751F-4B50-84DD-7F7377E43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01/09/2022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10E4B-ECAF-4B58-9633-F0D2214AE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0936C-E069-45AA-8B1E-8B295D2AA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7371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0BBC43-F9FB-4DC0-9192-4C6BBC0BBF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65541F-6124-45F5-9E33-C887715233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8D7AD-9B6B-4D71-A044-0A8CD107B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01/09/2022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F19E0-2B2A-44A5-95AA-5794953B8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AE265-1899-40B9-ABCC-0F0FA6B45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9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68667-8C97-4EFE-84F3-BDAFCA0DE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6806C-F4A6-4145-8586-E1BA0D6AA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371F7-F0FF-4998-A335-671F6745CC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EBD5A5-95A5-4ED6-B746-12AF9CEAF3AB}" type="datetimeFigureOut">
              <a:rPr lang="en-GB" smtClean="0"/>
              <a:t>01/09/2022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1381F-CB31-4B37-8E8C-1B4AD2A089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B29192-27C3-435C-AA4E-0FF49DC56D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7013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342EC1-2AFD-4406-9F14-4D674F90CAE8}"/>
              </a:ext>
            </a:extLst>
          </p:cNvPr>
          <p:cNvSpPr txBox="1"/>
          <p:nvPr/>
        </p:nvSpPr>
        <p:spPr>
          <a:xfrm>
            <a:off x="304800" y="92954"/>
            <a:ext cx="987927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  <a:ea typeface="+mj-ea"/>
                <a:cs typeface="+mj-cs"/>
              </a:rPr>
              <a:t>8.1 Programming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ABF442-A178-4CA8-8D0A-DF0A8E18C046}"/>
              </a:ext>
            </a:extLst>
          </p:cNvPr>
          <p:cNvSpPr txBox="1"/>
          <p:nvPr/>
        </p:nvSpPr>
        <p:spPr>
          <a:xfrm>
            <a:off x="927652" y="1650609"/>
            <a:ext cx="6997148" cy="3450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1200"/>
              </a:spcAft>
            </a:pPr>
            <a:r>
              <a:rPr lang="en-GB" sz="4000" dirty="0">
                <a:solidFill>
                  <a:schemeClr val="accent2">
                    <a:lumMod val="75000"/>
                  </a:schemeClr>
                </a:solidFill>
              </a:rPr>
              <a:t>Totalling and counting</a:t>
            </a:r>
            <a:endParaRPr lang="en-US" sz="40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3771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989BBE4-38CA-4FFB-B9AA-E0BBB2AB22B7}"/>
              </a:ext>
            </a:extLst>
          </p:cNvPr>
          <p:cNvSpPr/>
          <p:nvPr/>
        </p:nvSpPr>
        <p:spPr>
          <a:xfrm>
            <a:off x="220675" y="1052896"/>
            <a:ext cx="11466500" cy="1508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Totalling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en-GB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counting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were introduced in a previous video in Topic 7 titled </a:t>
            </a:r>
            <a:r>
              <a:rPr lang="en-GB" i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Other standard methods of a solution.</a:t>
            </a:r>
          </a:p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this video, we will look at how these concepts can be implemented in various programming languages.</a:t>
            </a:r>
          </a:p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 will remind you of the Cambridge IGCSE pseudocode at the end of this video.</a:t>
            </a:r>
          </a:p>
          <a:p>
            <a:pPr>
              <a:spcAft>
                <a:spcPts val="800"/>
              </a:spcAft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220675" y="504512"/>
            <a:ext cx="529371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Totalling and counting</a:t>
            </a: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A collage of hands&#10;&#10;Description automatically generated with low confidence">
            <a:extLst>
              <a:ext uri="{FF2B5EF4-FFF2-40B4-BE49-F238E27FC236}">
                <a16:creationId xmlns:a16="http://schemas.microsoft.com/office/drawing/2014/main" id="{D721BEE2-832D-BB17-A03F-83F659D2FC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19907"/>
            <a:ext cx="12192000" cy="3638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6809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962AF152-CE3B-2140-FDC7-2D8D4A5BF2E4}"/>
              </a:ext>
            </a:extLst>
          </p:cNvPr>
          <p:cNvGrpSpPr/>
          <p:nvPr/>
        </p:nvGrpSpPr>
        <p:grpSpPr>
          <a:xfrm>
            <a:off x="352" y="419062"/>
            <a:ext cx="12191648" cy="6438938"/>
            <a:chOff x="352" y="419062"/>
            <a:chExt cx="12191648" cy="6019876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33639C78-A8E0-F7F2-DEC3-872C42406C16}"/>
                </a:ext>
              </a:extLst>
            </p:cNvPr>
            <p:cNvSpPr/>
            <p:nvPr/>
          </p:nvSpPr>
          <p:spPr>
            <a:xfrm>
              <a:off x="352" y="419062"/>
              <a:ext cx="6095647" cy="3009938"/>
            </a:xfrm>
            <a:prstGeom prst="rect">
              <a:avLst/>
            </a:prstGeom>
            <a:solidFill>
              <a:srgbClr val="FFF9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53FE0B7-3B86-FA08-C307-2DCA5D673459}"/>
                </a:ext>
              </a:extLst>
            </p:cNvPr>
            <p:cNvSpPr/>
            <p:nvPr/>
          </p:nvSpPr>
          <p:spPr>
            <a:xfrm>
              <a:off x="6095999" y="419062"/>
              <a:ext cx="6095647" cy="3009938"/>
            </a:xfrm>
            <a:prstGeom prst="rect">
              <a:avLst/>
            </a:prstGeom>
            <a:solidFill>
              <a:srgbClr val="FFE1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EFC8A86-4DA5-BBDD-2978-D7095B02C78F}"/>
                </a:ext>
              </a:extLst>
            </p:cNvPr>
            <p:cNvSpPr/>
            <p:nvPr/>
          </p:nvSpPr>
          <p:spPr>
            <a:xfrm>
              <a:off x="706" y="3429000"/>
              <a:ext cx="6095647" cy="3009938"/>
            </a:xfrm>
            <a:prstGeom prst="rect">
              <a:avLst/>
            </a:prstGeom>
            <a:solidFill>
              <a:srgbClr val="FFE1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F53F325-E539-F396-62E8-4CFC952E4923}"/>
                </a:ext>
              </a:extLst>
            </p:cNvPr>
            <p:cNvSpPr/>
            <p:nvPr/>
          </p:nvSpPr>
          <p:spPr>
            <a:xfrm>
              <a:off x="6096353" y="3429000"/>
              <a:ext cx="6095647" cy="3009938"/>
            </a:xfrm>
            <a:prstGeom prst="rect">
              <a:avLst/>
            </a:prstGeom>
            <a:solidFill>
              <a:srgbClr val="FFF9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220675" y="504512"/>
            <a:ext cx="529371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Totalling</a:t>
            </a: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8F68434-BE9C-FC5D-434C-0DECE30BF5A5}"/>
              </a:ext>
            </a:extLst>
          </p:cNvPr>
          <p:cNvSpPr/>
          <p:nvPr/>
        </p:nvSpPr>
        <p:spPr>
          <a:xfrm>
            <a:off x="3789859" y="513936"/>
            <a:ext cx="2148840" cy="470000"/>
          </a:xfrm>
          <a:prstGeom prst="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Python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691CDB-C62E-4BD5-C069-248BA1CDCDF7}"/>
              </a:ext>
            </a:extLst>
          </p:cNvPr>
          <p:cNvSpPr/>
          <p:nvPr/>
        </p:nvSpPr>
        <p:spPr>
          <a:xfrm>
            <a:off x="6283121" y="513936"/>
            <a:ext cx="2148840" cy="470000"/>
          </a:xfrm>
          <a:prstGeom prst="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Visual Basic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067205D-32B2-3D5D-3F90-06AB4695A3E6}"/>
              </a:ext>
            </a:extLst>
          </p:cNvPr>
          <p:cNvSpPr/>
          <p:nvPr/>
        </p:nvSpPr>
        <p:spPr>
          <a:xfrm>
            <a:off x="3789859" y="3733405"/>
            <a:ext cx="2148840" cy="470000"/>
          </a:xfrm>
          <a:prstGeom prst="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C#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456A2C-A43E-4411-1755-1D132616CD80}"/>
              </a:ext>
            </a:extLst>
          </p:cNvPr>
          <p:cNvSpPr/>
          <p:nvPr/>
        </p:nvSpPr>
        <p:spPr>
          <a:xfrm>
            <a:off x="6283121" y="3733405"/>
            <a:ext cx="2148840" cy="470000"/>
          </a:xfrm>
          <a:prstGeom prst="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Java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0DBABC-DF84-259F-3513-17C8BB35B278}"/>
              </a:ext>
            </a:extLst>
          </p:cNvPr>
          <p:cNvSpPr txBox="1"/>
          <p:nvPr/>
        </p:nvSpPr>
        <p:spPr>
          <a:xfrm>
            <a:off x="189164" y="1750214"/>
            <a:ext cx="5718024" cy="3740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TotalMark = TotalMark + CurrentQuestionMark </a:t>
            </a:r>
            <a:endParaRPr lang="en-GB" sz="18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100ABD-4F37-0130-F6E9-FFB492112583}"/>
              </a:ext>
            </a:extLst>
          </p:cNvPr>
          <p:cNvSpPr txBox="1"/>
          <p:nvPr/>
        </p:nvSpPr>
        <p:spPr>
          <a:xfrm>
            <a:off x="6389939" y="1772909"/>
            <a:ext cx="5718024" cy="3740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TotalMark = TotalMark + CurrentQuestionMark </a:t>
            </a:r>
            <a:endParaRPr lang="en-GB" sz="18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7F59582-0DF5-D14D-93A0-58C2F3E711D0}"/>
              </a:ext>
            </a:extLst>
          </p:cNvPr>
          <p:cNvSpPr txBox="1"/>
          <p:nvPr/>
        </p:nvSpPr>
        <p:spPr>
          <a:xfrm>
            <a:off x="220675" y="5107445"/>
            <a:ext cx="5718024" cy="3740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TotalMark = TotalMark + CurrentQuestionMark; </a:t>
            </a:r>
            <a:endParaRPr lang="en-GB" sz="18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1295678-9272-82AA-FD06-B81E07F7E2B4}"/>
              </a:ext>
            </a:extLst>
          </p:cNvPr>
          <p:cNvSpPr txBox="1"/>
          <p:nvPr/>
        </p:nvSpPr>
        <p:spPr>
          <a:xfrm>
            <a:off x="6421450" y="5130140"/>
            <a:ext cx="5718024" cy="3740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TotalMark = TotalMark + CurrentQuestionMark; </a:t>
            </a:r>
            <a:endParaRPr lang="en-GB" sz="18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09867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962AF152-CE3B-2140-FDC7-2D8D4A5BF2E4}"/>
              </a:ext>
            </a:extLst>
          </p:cNvPr>
          <p:cNvGrpSpPr/>
          <p:nvPr/>
        </p:nvGrpSpPr>
        <p:grpSpPr>
          <a:xfrm>
            <a:off x="352" y="419062"/>
            <a:ext cx="12191648" cy="6438938"/>
            <a:chOff x="352" y="419062"/>
            <a:chExt cx="12191648" cy="6019876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33639C78-A8E0-F7F2-DEC3-872C42406C16}"/>
                </a:ext>
              </a:extLst>
            </p:cNvPr>
            <p:cNvSpPr/>
            <p:nvPr/>
          </p:nvSpPr>
          <p:spPr>
            <a:xfrm>
              <a:off x="352" y="419062"/>
              <a:ext cx="6095647" cy="3009938"/>
            </a:xfrm>
            <a:prstGeom prst="rect">
              <a:avLst/>
            </a:prstGeom>
            <a:solidFill>
              <a:srgbClr val="FFF9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53FE0B7-3B86-FA08-C307-2DCA5D673459}"/>
                </a:ext>
              </a:extLst>
            </p:cNvPr>
            <p:cNvSpPr/>
            <p:nvPr/>
          </p:nvSpPr>
          <p:spPr>
            <a:xfrm>
              <a:off x="6095999" y="419062"/>
              <a:ext cx="6095647" cy="3009938"/>
            </a:xfrm>
            <a:prstGeom prst="rect">
              <a:avLst/>
            </a:prstGeom>
            <a:solidFill>
              <a:srgbClr val="FFE1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EFC8A86-4DA5-BBDD-2978-D7095B02C78F}"/>
                </a:ext>
              </a:extLst>
            </p:cNvPr>
            <p:cNvSpPr/>
            <p:nvPr/>
          </p:nvSpPr>
          <p:spPr>
            <a:xfrm>
              <a:off x="706" y="3429000"/>
              <a:ext cx="6095647" cy="3009938"/>
            </a:xfrm>
            <a:prstGeom prst="rect">
              <a:avLst/>
            </a:prstGeom>
            <a:solidFill>
              <a:srgbClr val="FFE1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F53F325-E539-F396-62E8-4CFC952E4923}"/>
                </a:ext>
              </a:extLst>
            </p:cNvPr>
            <p:cNvSpPr/>
            <p:nvPr/>
          </p:nvSpPr>
          <p:spPr>
            <a:xfrm>
              <a:off x="6096353" y="3429000"/>
              <a:ext cx="6095647" cy="3009938"/>
            </a:xfrm>
            <a:prstGeom prst="rect">
              <a:avLst/>
            </a:prstGeom>
            <a:solidFill>
              <a:srgbClr val="FFF9E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220675" y="504512"/>
            <a:ext cx="529371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Counting</a:t>
            </a:r>
            <a:endParaRPr lang="en-GB" sz="1200" dirty="0">
              <a:solidFill>
                <a:srgbClr val="0087B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8F68434-BE9C-FC5D-434C-0DECE30BF5A5}"/>
              </a:ext>
            </a:extLst>
          </p:cNvPr>
          <p:cNvSpPr/>
          <p:nvPr/>
        </p:nvSpPr>
        <p:spPr>
          <a:xfrm>
            <a:off x="3789859" y="513936"/>
            <a:ext cx="2148840" cy="470000"/>
          </a:xfrm>
          <a:prstGeom prst="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Python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691CDB-C62E-4BD5-C069-248BA1CDCDF7}"/>
              </a:ext>
            </a:extLst>
          </p:cNvPr>
          <p:cNvSpPr/>
          <p:nvPr/>
        </p:nvSpPr>
        <p:spPr>
          <a:xfrm>
            <a:off x="6283121" y="513936"/>
            <a:ext cx="2148840" cy="470000"/>
          </a:xfrm>
          <a:prstGeom prst="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Visual Basic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067205D-32B2-3D5D-3F90-06AB4695A3E6}"/>
              </a:ext>
            </a:extLst>
          </p:cNvPr>
          <p:cNvSpPr/>
          <p:nvPr/>
        </p:nvSpPr>
        <p:spPr>
          <a:xfrm>
            <a:off x="3789859" y="3733405"/>
            <a:ext cx="2148840" cy="470000"/>
          </a:xfrm>
          <a:prstGeom prst="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C#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456A2C-A43E-4411-1755-1D132616CD80}"/>
              </a:ext>
            </a:extLst>
          </p:cNvPr>
          <p:cNvSpPr/>
          <p:nvPr/>
        </p:nvSpPr>
        <p:spPr>
          <a:xfrm>
            <a:off x="6283121" y="3733405"/>
            <a:ext cx="2148840" cy="470000"/>
          </a:xfrm>
          <a:prstGeom prst="rect">
            <a:avLst/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Java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0DBABC-DF84-259F-3513-17C8BB35B278}"/>
              </a:ext>
            </a:extLst>
          </p:cNvPr>
          <p:cNvSpPr txBox="1"/>
          <p:nvPr/>
        </p:nvSpPr>
        <p:spPr>
          <a:xfrm>
            <a:off x="299325" y="1540664"/>
            <a:ext cx="5718024" cy="1171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NumberOfStudents = NumberOfStudents +1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GB" sz="18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NumberOfStudents +=1</a:t>
            </a:r>
            <a:endParaRPr lang="en-GB" sz="18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B00158-5F57-C027-FBA1-F3C2E1FE8281}"/>
              </a:ext>
            </a:extLst>
          </p:cNvPr>
          <p:cNvSpPr txBox="1"/>
          <p:nvPr/>
        </p:nvSpPr>
        <p:spPr>
          <a:xfrm>
            <a:off x="6630922" y="1540664"/>
            <a:ext cx="5718024" cy="1171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NumberOfStudents = NumberOfStudents +1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GB" sz="18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NumberOfStudents +=1</a:t>
            </a:r>
            <a:endParaRPr lang="en-GB" sz="18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C8DEE48-3242-C0EB-E572-320F5AC358EF}"/>
              </a:ext>
            </a:extLst>
          </p:cNvPr>
          <p:cNvSpPr txBox="1"/>
          <p:nvPr/>
        </p:nvSpPr>
        <p:spPr>
          <a:xfrm>
            <a:off x="299325" y="4790645"/>
            <a:ext cx="5718024" cy="15708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NumberOfStudents = NumberOfStudents +1;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GB" sz="18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800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NumberOfStudents += 1;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NumberOfStudents++;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0C9E2A9-66EA-2B3B-77CA-946347883628}"/>
              </a:ext>
            </a:extLst>
          </p:cNvPr>
          <p:cNvSpPr txBox="1"/>
          <p:nvPr/>
        </p:nvSpPr>
        <p:spPr>
          <a:xfrm>
            <a:off x="6630922" y="4790645"/>
            <a:ext cx="5718024" cy="1171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NumberOfStudents = NumberOfStudents +1;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GB" sz="18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latin typeface="Consolas" panose="020B06090202040302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NumberOfStudents ++;</a:t>
            </a:r>
            <a:endParaRPr lang="en-GB" sz="1800" dirty="0">
              <a:latin typeface="Consolas" panose="020B06090202040302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8249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F323419-F2A9-8CD9-7B2E-21BBD7BD4B44}"/>
              </a:ext>
            </a:extLst>
          </p:cNvPr>
          <p:cNvSpPr/>
          <p:nvPr/>
        </p:nvSpPr>
        <p:spPr>
          <a:xfrm>
            <a:off x="176564" y="523174"/>
            <a:ext cx="517648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Cambridge IGCSE pseudocode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C27F41-6D4F-9742-C4D1-F27FFA143695}"/>
              </a:ext>
            </a:extLst>
          </p:cNvPr>
          <p:cNvSpPr/>
          <p:nvPr/>
        </p:nvSpPr>
        <p:spPr>
          <a:xfrm>
            <a:off x="176564" y="993174"/>
            <a:ext cx="1147251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Here is an example of how these concepts will look in exam papers following the Cambridge IGCSE pseudocode format, which is listed towards the back of the syllabus.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GB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335AFB6-C7FE-A4FA-5CED-9538FC8E2AAC}"/>
              </a:ext>
            </a:extLst>
          </p:cNvPr>
          <p:cNvGrpSpPr/>
          <p:nvPr/>
        </p:nvGrpSpPr>
        <p:grpSpPr>
          <a:xfrm>
            <a:off x="307657" y="1950851"/>
            <a:ext cx="5521644" cy="2982130"/>
            <a:chOff x="115335" y="1049783"/>
            <a:chExt cx="5795610" cy="3648665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F59C7E12-FDB7-80FC-C079-3F9B228DD126}"/>
                </a:ext>
              </a:extLst>
            </p:cNvPr>
            <p:cNvSpPr/>
            <p:nvPr/>
          </p:nvSpPr>
          <p:spPr>
            <a:xfrm>
              <a:off x="115335" y="1049783"/>
              <a:ext cx="5795610" cy="3648665"/>
            </a:xfrm>
            <a:prstGeom prst="roundRect">
              <a:avLst>
                <a:gd name="adj" fmla="val 5148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GB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>
                <a:lnSpc>
                  <a:spcPct val="150000"/>
                </a:lnSpc>
                <a:spcAft>
                  <a:spcPts val="600"/>
                </a:spcAft>
              </a:pPr>
              <a:r>
                <a:rPr lang="en-GB" dirty="0">
                  <a:solidFill>
                    <a:schemeClr val="tx1"/>
                  </a:solidFill>
                  <a:latin typeface="Consolas" panose="020B06090202040302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Total </a:t>
              </a:r>
              <a:r>
                <a:rPr lang="en-GB" dirty="0">
                  <a:solidFill>
                    <a:schemeClr val="tx1"/>
                  </a:solidFill>
                  <a:latin typeface="Wingdings" panose="05000000000000000000" pitchFamily="2" charset="2"/>
                </a:rPr>
                <a:t>ß</a:t>
              </a:r>
              <a:r>
                <a:rPr lang="en-GB" dirty="0">
                  <a:solidFill>
                    <a:schemeClr val="tx1"/>
                  </a:solidFill>
                  <a:latin typeface="Consolas" panose="020B0609020204030204" pitchFamily="49" charset="0"/>
                </a:rPr>
                <a:t> 0</a:t>
              </a:r>
            </a:p>
            <a:p>
              <a:pPr>
                <a:lnSpc>
                  <a:spcPct val="150000"/>
                </a:lnSpc>
                <a:spcAft>
                  <a:spcPts val="600"/>
                </a:spcAft>
              </a:pPr>
              <a:r>
                <a:rPr lang="en-GB" dirty="0">
                  <a:solidFill>
                    <a:schemeClr val="tx1"/>
                  </a:solidFill>
                  <a:latin typeface="Consolas" panose="020B06090202040302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FOR Counter </a:t>
              </a:r>
              <a:r>
                <a:rPr lang="en-GB" dirty="0">
                  <a:solidFill>
                    <a:schemeClr val="tx1"/>
                  </a:solidFill>
                  <a:latin typeface="Wingdings" panose="05000000000000000000" pitchFamily="2" charset="2"/>
                </a:rPr>
                <a:t>ß</a:t>
              </a:r>
              <a:r>
                <a:rPr lang="en-GB" dirty="0">
                  <a:solidFill>
                    <a:schemeClr val="tx1"/>
                  </a:solidFill>
                  <a:latin typeface="Consolas" panose="020B0609020204030204" pitchFamily="49" charset="0"/>
                </a:rPr>
                <a:t> 1 TO MaxNoOfQuestionsInTest</a:t>
              </a:r>
            </a:p>
            <a:p>
              <a:pPr>
                <a:lnSpc>
                  <a:spcPct val="150000"/>
                </a:lnSpc>
                <a:spcAft>
                  <a:spcPts val="600"/>
                </a:spcAft>
              </a:pPr>
              <a:r>
                <a:rPr lang="en-GB" dirty="0">
                  <a:solidFill>
                    <a:schemeClr val="tx1"/>
                  </a:solidFill>
                  <a:latin typeface="Consolas" panose="020B06090202040302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    Total </a:t>
              </a:r>
              <a:r>
                <a:rPr lang="en-GB" dirty="0">
                  <a:solidFill>
                    <a:schemeClr val="tx1"/>
                  </a:solidFill>
                  <a:latin typeface="Wingdings" panose="05000000000000000000" pitchFamily="2" charset="2"/>
                </a:rPr>
                <a:t>ß</a:t>
              </a:r>
              <a:r>
                <a:rPr lang="en-GB" dirty="0">
                  <a:solidFill>
                    <a:schemeClr val="tx1"/>
                  </a:solidFill>
                  <a:latin typeface="Consolas" panose="020B0609020204030204" pitchFamily="49" charset="0"/>
                </a:rPr>
                <a:t> Total + StudentsTest[Counter]</a:t>
              </a:r>
            </a:p>
            <a:p>
              <a:pPr>
                <a:lnSpc>
                  <a:spcPct val="150000"/>
                </a:lnSpc>
                <a:spcAft>
                  <a:spcPts val="600"/>
                </a:spcAft>
              </a:pPr>
              <a:r>
                <a:rPr lang="en-GB" dirty="0">
                  <a:solidFill>
                    <a:schemeClr val="tx1"/>
                  </a:solidFill>
                  <a:latin typeface="Consolas" panose="020B06090202040302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NEXT counter</a:t>
              </a:r>
            </a:p>
            <a:p>
              <a:endParaRPr lang="en-GB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r>
                <a:rPr lang="en-GB" sz="2000" dirty="0">
                  <a:solidFill>
                    <a:schemeClr val="tx1"/>
                  </a:solidFill>
                  <a:latin typeface="Consolas" panose="020B0609020204030204" pitchFamily="49" charset="0"/>
                </a:rPr>
                <a:t>    </a:t>
              </a: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7A536AFB-3879-9F9B-2E1F-5D369054F4B4}"/>
                </a:ext>
              </a:extLst>
            </p:cNvPr>
            <p:cNvSpPr/>
            <p:nvPr/>
          </p:nvSpPr>
          <p:spPr>
            <a:xfrm>
              <a:off x="120096" y="1049783"/>
              <a:ext cx="5790849" cy="371475"/>
            </a:xfrm>
            <a:prstGeom prst="roundRect">
              <a:avLst>
                <a:gd name="adj" fmla="val 29488"/>
              </a:avLst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000" b="1" dirty="0">
                  <a:solidFill>
                    <a:schemeClr val="tx1"/>
                  </a:solidFill>
                </a:rPr>
                <a:t>Totalling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2563C06-75C2-8B63-0012-4F2F4F1F4CDC}"/>
              </a:ext>
            </a:extLst>
          </p:cNvPr>
          <p:cNvGrpSpPr/>
          <p:nvPr/>
        </p:nvGrpSpPr>
        <p:grpSpPr>
          <a:xfrm>
            <a:off x="6358163" y="1937935"/>
            <a:ext cx="5521644" cy="3786590"/>
            <a:chOff x="115335" y="1049783"/>
            <a:chExt cx="5795610" cy="4632930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0F0705E4-D37A-A6AB-E519-752ADAA0E9DF}"/>
                </a:ext>
              </a:extLst>
            </p:cNvPr>
            <p:cNvSpPr/>
            <p:nvPr/>
          </p:nvSpPr>
          <p:spPr>
            <a:xfrm>
              <a:off x="115335" y="1049783"/>
              <a:ext cx="5795610" cy="4632930"/>
            </a:xfrm>
            <a:prstGeom prst="roundRect">
              <a:avLst>
                <a:gd name="adj" fmla="val 5148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endParaRPr lang="en-GB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  <a:p>
              <a:pPr>
                <a:spcAft>
                  <a:spcPts val="1200"/>
                </a:spcAft>
              </a:pPr>
              <a:r>
                <a:rPr lang="en-GB" dirty="0">
                  <a:solidFill>
                    <a:schemeClr val="tx1"/>
                  </a:solidFill>
                  <a:latin typeface="Consolas" panose="020B06090202040302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PassCount </a:t>
              </a:r>
              <a:r>
                <a:rPr lang="en-GB" dirty="0">
                  <a:solidFill>
                    <a:schemeClr val="tx1"/>
                  </a:solidFill>
                  <a:latin typeface="Wingdings" panose="05000000000000000000" pitchFamily="2" charset="2"/>
                </a:rPr>
                <a:t>ß</a:t>
              </a:r>
              <a:r>
                <a:rPr lang="en-GB" dirty="0">
                  <a:solidFill>
                    <a:schemeClr val="tx1"/>
                  </a:solidFill>
                  <a:latin typeface="Consolas" panose="020B0609020204030204" pitchFamily="49" charset="0"/>
                </a:rPr>
                <a:t> 0</a:t>
              </a:r>
            </a:p>
            <a:p>
              <a:pPr>
                <a:spcAft>
                  <a:spcPts val="1200"/>
                </a:spcAft>
              </a:pPr>
              <a:r>
                <a:rPr lang="en-GB" dirty="0">
                  <a:solidFill>
                    <a:schemeClr val="tx1"/>
                  </a:solidFill>
                  <a:latin typeface="Consolas" panose="020B0609020204030204" pitchFamily="49" charset="0"/>
                  <a:ea typeface="Calibri" panose="020F0502020204030204" pitchFamily="34" charset="0"/>
                  <a:cs typeface="Times New Roman" panose="02020603050405020304" pitchFamily="18" charset="0"/>
                </a:rPr>
                <a:t>FOR Counter </a:t>
              </a:r>
              <a:r>
                <a:rPr lang="en-GB" dirty="0">
                  <a:solidFill>
                    <a:schemeClr val="tx1"/>
                  </a:solidFill>
                  <a:latin typeface="Wingdings" panose="05000000000000000000" pitchFamily="2" charset="2"/>
                </a:rPr>
                <a:t>ß</a:t>
              </a:r>
              <a:r>
                <a:rPr lang="en-GB" dirty="0">
                  <a:solidFill>
                    <a:schemeClr val="tx1"/>
                  </a:solidFill>
                  <a:latin typeface="Consolas" panose="020B0609020204030204" pitchFamily="49" charset="0"/>
                </a:rPr>
                <a:t> 1 TO ClassSize</a:t>
              </a:r>
            </a:p>
            <a:p>
              <a:pPr>
                <a:spcAft>
                  <a:spcPts val="1200"/>
                </a:spcAft>
              </a:pPr>
              <a:r>
                <a:rPr lang="en-GB" dirty="0">
                  <a:solidFill>
                    <a:schemeClr val="tx1"/>
                  </a:solidFill>
                  <a:latin typeface="Consolas" panose="020B0609020204030204" pitchFamily="49" charset="0"/>
                </a:rPr>
                <a:t>    INPUT StudentMark</a:t>
              </a:r>
            </a:p>
            <a:p>
              <a:pPr>
                <a:spcAft>
                  <a:spcPts val="1200"/>
                </a:spcAft>
              </a:pPr>
              <a:r>
                <a:rPr lang="en-GB" dirty="0">
                  <a:solidFill>
                    <a:schemeClr val="tx1"/>
                  </a:solidFill>
                  <a:latin typeface="Consolas" panose="020B0609020204030204" pitchFamily="49" charset="0"/>
                </a:rPr>
                <a:t>    IF StudentMark &gt; 50</a:t>
              </a:r>
            </a:p>
            <a:p>
              <a:pPr>
                <a:spcAft>
                  <a:spcPts val="1200"/>
                </a:spcAft>
              </a:pPr>
              <a:r>
                <a:rPr lang="en-GB" dirty="0">
                  <a:solidFill>
                    <a:schemeClr val="tx1"/>
                  </a:solidFill>
                  <a:latin typeface="Consolas" panose="020B0609020204030204" pitchFamily="49" charset="0"/>
                </a:rPr>
                <a:t>      THEN</a:t>
              </a:r>
            </a:p>
            <a:p>
              <a:pPr>
                <a:spcAft>
                  <a:spcPts val="1200"/>
                </a:spcAft>
              </a:pPr>
              <a:r>
                <a:rPr lang="en-GB" dirty="0">
                  <a:solidFill>
                    <a:schemeClr val="tx1"/>
                  </a:solidFill>
                  <a:latin typeface="Consolas" panose="020B0609020204030204" pitchFamily="49" charset="0"/>
                </a:rPr>
                <a:t>        PassCount </a:t>
              </a:r>
              <a:r>
                <a:rPr lang="en-GB" dirty="0">
                  <a:solidFill>
                    <a:schemeClr val="tx1"/>
                  </a:solidFill>
                  <a:latin typeface="Wingdings" panose="05000000000000000000" pitchFamily="2" charset="2"/>
                </a:rPr>
                <a:t>ß</a:t>
              </a:r>
              <a:r>
                <a:rPr lang="en-GB" dirty="0">
                  <a:solidFill>
                    <a:schemeClr val="tx1"/>
                  </a:solidFill>
                  <a:latin typeface="Consolas" panose="020B0609020204030204" pitchFamily="49" charset="0"/>
                </a:rPr>
                <a:t> PassCount + 1</a:t>
              </a:r>
            </a:p>
            <a:p>
              <a:pPr>
                <a:spcAft>
                  <a:spcPts val="1200"/>
                </a:spcAft>
              </a:pPr>
              <a:r>
                <a:rPr lang="en-GB" dirty="0">
                  <a:solidFill>
                    <a:schemeClr val="tx1"/>
                  </a:solidFill>
                  <a:latin typeface="Consolas" panose="020B0609020204030204" pitchFamily="49" charset="0"/>
                </a:rPr>
                <a:t>    ENDIF</a:t>
              </a:r>
            </a:p>
            <a:p>
              <a:pPr>
                <a:spcAft>
                  <a:spcPts val="1200"/>
                </a:spcAft>
              </a:pPr>
              <a:r>
                <a:rPr lang="en-GB" dirty="0">
                  <a:solidFill>
                    <a:schemeClr val="tx1"/>
                  </a:solidFill>
                  <a:latin typeface="Consolas" panose="020B0609020204030204" pitchFamily="49" charset="0"/>
                </a:rPr>
                <a:t>NEXT Counter</a:t>
              </a:r>
            </a:p>
            <a:p>
              <a:endParaRPr lang="en-GB" dirty="0">
                <a:solidFill>
                  <a:schemeClr val="tx1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9F3166F4-1B19-F2A1-C560-A2128ED86A11}"/>
                </a:ext>
              </a:extLst>
            </p:cNvPr>
            <p:cNvSpPr/>
            <p:nvPr/>
          </p:nvSpPr>
          <p:spPr>
            <a:xfrm>
              <a:off x="120096" y="1049783"/>
              <a:ext cx="5790849" cy="371475"/>
            </a:xfrm>
            <a:prstGeom prst="roundRect">
              <a:avLst>
                <a:gd name="adj" fmla="val 29488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000" b="1" dirty="0">
                  <a:solidFill>
                    <a:schemeClr val="tx1"/>
                  </a:solidFill>
                </a:rPr>
                <a:t>Counting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62362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2947853-E1EE-4D77-9DC1-BD14C2A80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625" y="-28575"/>
            <a:ext cx="12239625" cy="688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8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772</TotalTime>
  <Words>220</Words>
  <Application>Microsoft Office PowerPoint</Application>
  <PresentationFormat>Widescreen</PresentationFormat>
  <Paragraphs>53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Calibri</vt:lpstr>
      <vt:lpstr>Calibri Light</vt:lpstr>
      <vt:lpstr>Century Gothic</vt:lpstr>
      <vt:lpstr>Consolas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Craig Sargent</dc:creator>
  <cp:lastModifiedBy>Craig Sargent</cp:lastModifiedBy>
  <cp:revision>160</cp:revision>
  <dcterms:created xsi:type="dcterms:W3CDTF">2019-10-14T15:21:06Z</dcterms:created>
  <dcterms:modified xsi:type="dcterms:W3CDTF">2022-09-01T10:08:06Z</dcterms:modified>
</cp:coreProperties>
</file>