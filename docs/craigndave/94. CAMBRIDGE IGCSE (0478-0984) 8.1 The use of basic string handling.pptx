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268" r:id="rId3"/>
    <p:sldId id="269" r:id="rId4"/>
    <p:sldId id="266" r:id="rId5"/>
    <p:sldId id="271" r:id="rId6"/>
    <p:sldId id="272" r:id="rId7"/>
    <p:sldId id="273" r:id="rId8"/>
    <p:sldId id="263" r:id="rId9"/>
    <p:sldId id="33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298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94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01/09/2022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8.1 Programming | The use of basic string handling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8.1 Programming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The use of basic string handling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echinoderm, brittle star&#10;&#10;Description automatically generated">
            <a:extLst>
              <a:ext uri="{FF2B5EF4-FFF2-40B4-BE49-F238E27FC236}">
                <a16:creationId xmlns:a16="http://schemas.microsoft.com/office/drawing/2014/main" id="{3BBB212F-A644-7B18-E7FB-853B4B7392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3832"/>
            <a:ext cx="12192000" cy="518948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String manipulation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C8B014-4356-4E65-9524-3A035DBF5A90}"/>
              </a:ext>
            </a:extLst>
          </p:cNvPr>
          <p:cNvSpPr/>
          <p:nvPr/>
        </p:nvSpPr>
        <p:spPr>
          <a:xfrm>
            <a:off x="176565" y="1130026"/>
            <a:ext cx="10634310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String manipulation is the act of manipulating,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extracting or changing the characters in a string variable.</a:t>
            </a:r>
            <a:endParaRPr lang="en-GB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597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String manipulation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76565" y="1130026"/>
            <a:ext cx="5024085" cy="42396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 1: An online form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Regardless of how the user inputs their first and last names,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program</a:t>
            </a: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should store the names internally with the first letter as a capital and the rest in lower case.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So, “crAIG SARGEnt” would become “Craig Sargent”.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could be achieved by the following steps: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1: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Extract the first letter from the input and convert it to upper case.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2: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Extract all the remaining letters and convert them to lower case.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3: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the two parts back together.</a:t>
            </a:r>
          </a:p>
          <a:p>
            <a:pPr marL="28575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endParaRPr lang="en-GB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A screenshot of a cell phone&#10;&#10;Description automatically generated">
            <a:extLst>
              <a:ext uri="{FF2B5EF4-FFF2-40B4-BE49-F238E27FC236}">
                <a16:creationId xmlns:a16="http://schemas.microsoft.com/office/drawing/2014/main" id="{2717FB46-66BE-442E-9BA4-B05CEB531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901" y="396240"/>
            <a:ext cx="6896100" cy="64759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45917C5-267C-4DA1-8155-3B11B26C39DF}"/>
              </a:ext>
            </a:extLst>
          </p:cNvPr>
          <p:cNvSpPr/>
          <p:nvPr/>
        </p:nvSpPr>
        <p:spPr>
          <a:xfrm>
            <a:off x="7448550" y="1492250"/>
            <a:ext cx="47625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D2A34D-1BA2-492F-888D-6A2796C6F5B1}"/>
              </a:ext>
            </a:extLst>
          </p:cNvPr>
          <p:cNvSpPr txBox="1"/>
          <p:nvPr/>
        </p:nvSpPr>
        <p:spPr>
          <a:xfrm>
            <a:off x="7375525" y="1386861"/>
            <a:ext cx="7168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crAIg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8888A3-DC4D-4689-AF0C-F3585908FEF0}"/>
              </a:ext>
            </a:extLst>
          </p:cNvPr>
          <p:cNvSpPr txBox="1"/>
          <p:nvPr/>
        </p:nvSpPr>
        <p:spPr>
          <a:xfrm>
            <a:off x="7375525" y="2180513"/>
            <a:ext cx="1093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SARGEnt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808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String manipulation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5E8D675E-710F-41CA-BB66-CEE531C628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00"/>
          <a:stretch/>
        </p:blipFill>
        <p:spPr>
          <a:xfrm>
            <a:off x="5489998" y="424206"/>
            <a:ext cx="6702001" cy="643379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3EB32FF-D84F-4EBA-9336-7A44C2264306}"/>
              </a:ext>
            </a:extLst>
          </p:cNvPr>
          <p:cNvSpPr/>
          <p:nvPr/>
        </p:nvSpPr>
        <p:spPr>
          <a:xfrm>
            <a:off x="176565" y="1130026"/>
            <a:ext cx="5024085" cy="2552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 2: Text parsing</a:t>
            </a:r>
          </a:p>
          <a:p>
            <a:pPr>
              <a:lnSpc>
                <a:spcPct val="107000"/>
              </a:lnSpc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can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 phrases into</a:t>
            </a: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search engines like “6cm in inches”.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search engine then parses this text string and provides a sensible output.</a:t>
            </a:r>
          </a:p>
          <a:p>
            <a:pPr marL="54000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Extract the number 6.</a:t>
            </a:r>
          </a:p>
          <a:p>
            <a:pPr marL="54000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Extract the characters “cm”.</a:t>
            </a:r>
          </a:p>
          <a:p>
            <a:pPr marL="54000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Extract the characters “inches”.</a:t>
            </a:r>
          </a:p>
          <a:p>
            <a:pPr marL="28575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endParaRPr lang="en-GB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ADBFC97-8DE5-4CD5-BF31-C4656BA4B8B5}"/>
              </a:ext>
            </a:extLst>
          </p:cNvPr>
          <p:cNvSpPr/>
          <p:nvPr/>
        </p:nvSpPr>
        <p:spPr>
          <a:xfrm>
            <a:off x="5307291" y="523174"/>
            <a:ext cx="1684061" cy="606852"/>
          </a:xfrm>
          <a:prstGeom prst="round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60B483A-1DA9-46C8-BEEE-021B7A45C2BA}"/>
              </a:ext>
            </a:extLst>
          </p:cNvPr>
          <p:cNvSpPr/>
          <p:nvPr/>
        </p:nvSpPr>
        <p:spPr>
          <a:xfrm>
            <a:off x="5799056" y="2589214"/>
            <a:ext cx="4532721" cy="974117"/>
          </a:xfrm>
          <a:prstGeom prst="round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66977C6-FD62-4C6D-8BA3-6AB1774B7B67}"/>
              </a:ext>
            </a:extLst>
          </p:cNvPr>
          <p:cNvCxnSpPr/>
          <p:nvPr/>
        </p:nvCxnSpPr>
        <p:spPr>
          <a:xfrm>
            <a:off x="6193293" y="1130026"/>
            <a:ext cx="1734649" cy="147177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305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C871B550-4FC9-419E-94BB-0BD4F6846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429745"/>
              </p:ext>
            </p:extLst>
          </p:nvPr>
        </p:nvGraphicFramePr>
        <p:xfrm>
          <a:off x="378338" y="1607622"/>
          <a:ext cx="4436190" cy="52811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218095">
                  <a:extLst>
                    <a:ext uri="{9D8B030D-6E8A-4147-A177-3AD203B41FA5}">
                      <a16:colId xmlns:a16="http://schemas.microsoft.com/office/drawing/2014/main" val="3030531774"/>
                    </a:ext>
                  </a:extLst>
                </a:gridCol>
                <a:gridCol w="2218095">
                  <a:extLst>
                    <a:ext uri="{9D8B030D-6E8A-4147-A177-3AD203B41FA5}">
                      <a16:colId xmlns:a16="http://schemas.microsoft.com/office/drawing/2014/main" val="4093540431"/>
                    </a:ext>
                  </a:extLst>
                </a:gridCol>
              </a:tblGrid>
              <a:tr h="2640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effectLst/>
                        </a:rPr>
                        <a:t>Concept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effectLst/>
                        </a:rPr>
                        <a:t>Keyword/Symbol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54762"/>
                  </a:ext>
                </a:extLst>
              </a:tr>
              <a:tr h="2640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String length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effectLst/>
                          <a:latin typeface="Consolas" panose="020B0609020204030204" pitchFamily="49" charset="0"/>
                        </a:rPr>
                        <a:t>len()</a:t>
                      </a:r>
                      <a:endParaRPr lang="en-GB" sz="14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8657070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E533DA19-E49B-4AB4-B25C-E68ADAFEB17A}"/>
              </a:ext>
            </a:extLst>
          </p:cNvPr>
          <p:cNvSpPr/>
          <p:nvPr/>
        </p:nvSpPr>
        <p:spPr>
          <a:xfrm>
            <a:off x="295268" y="1232070"/>
            <a:ext cx="3004073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get the length of a string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4B9DFA-7609-4B98-AF48-482DCF6C3405}"/>
              </a:ext>
            </a:extLst>
          </p:cNvPr>
          <p:cNvSpPr/>
          <p:nvPr/>
        </p:nvSpPr>
        <p:spPr>
          <a:xfrm>
            <a:off x="372700" y="2190093"/>
            <a:ext cx="2332690" cy="3191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C00000"/>
                </a:solidFill>
                <a:latin typeface="Courier"/>
                <a:ea typeface="Calibri" panose="020F0502020204030204" pitchFamily="34" charset="0"/>
                <a:cs typeface="Courier"/>
              </a:rPr>
              <a:t>length = len(string)</a:t>
            </a:r>
            <a:endParaRPr lang="en-GB" sz="14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C2C3ACD-6595-450E-876C-748DF3CA4871}"/>
              </a:ext>
            </a:extLst>
          </p:cNvPr>
          <p:cNvSpPr/>
          <p:nvPr/>
        </p:nvSpPr>
        <p:spPr>
          <a:xfrm>
            <a:off x="4808350" y="1828901"/>
            <a:ext cx="56656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Returns the length of a string.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7A07059-A3FD-4D4B-BCA5-FF679EBD283C}"/>
              </a:ext>
            </a:extLst>
          </p:cNvPr>
          <p:cNvSpPr/>
          <p:nvPr/>
        </p:nvSpPr>
        <p:spPr>
          <a:xfrm>
            <a:off x="2705390" y="2159127"/>
            <a:ext cx="4321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e.g., if string was “Hello”, length would be 5.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90CDDF-1D95-DEB9-5912-FB055B1DD4FF}"/>
              </a:ext>
            </a:extLst>
          </p:cNvPr>
          <p:cNvSpPr/>
          <p:nvPr/>
        </p:nvSpPr>
        <p:spPr>
          <a:xfrm>
            <a:off x="176565" y="523174"/>
            <a:ext cx="5348746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String manipulation commands (Python)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197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C871B550-4FC9-419E-94BB-0BD4F6846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13488"/>
              </p:ext>
            </p:extLst>
          </p:nvPr>
        </p:nvGraphicFramePr>
        <p:xfrm>
          <a:off x="378338" y="1607622"/>
          <a:ext cx="4436190" cy="52811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218095">
                  <a:extLst>
                    <a:ext uri="{9D8B030D-6E8A-4147-A177-3AD203B41FA5}">
                      <a16:colId xmlns:a16="http://schemas.microsoft.com/office/drawing/2014/main" val="3030531774"/>
                    </a:ext>
                  </a:extLst>
                </a:gridCol>
                <a:gridCol w="2218095">
                  <a:extLst>
                    <a:ext uri="{9D8B030D-6E8A-4147-A177-3AD203B41FA5}">
                      <a16:colId xmlns:a16="http://schemas.microsoft.com/office/drawing/2014/main" val="4093540431"/>
                    </a:ext>
                  </a:extLst>
                </a:gridCol>
              </a:tblGrid>
              <a:tr h="2640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effectLst/>
                        </a:rPr>
                        <a:t>Concept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effectLst/>
                        </a:rPr>
                        <a:t>Keyword/Symbol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54762"/>
                  </a:ext>
                </a:extLst>
              </a:tr>
              <a:tr h="2640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String length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effectLst/>
                          <a:latin typeface="Consolas" panose="020B0609020204030204" pitchFamily="49" charset="0"/>
                        </a:rPr>
                        <a:t>len()</a:t>
                      </a:r>
                      <a:endParaRPr lang="en-GB" sz="14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8657070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E533DA19-E49B-4AB4-B25C-E68ADAFEB17A}"/>
              </a:ext>
            </a:extLst>
          </p:cNvPr>
          <p:cNvSpPr/>
          <p:nvPr/>
        </p:nvSpPr>
        <p:spPr>
          <a:xfrm>
            <a:off x="295268" y="1232070"/>
            <a:ext cx="3004073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get the length of a string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Table 3">
            <a:extLst>
              <a:ext uri="{FF2B5EF4-FFF2-40B4-BE49-F238E27FC236}">
                <a16:creationId xmlns:a16="http://schemas.microsoft.com/office/drawing/2014/main" id="{6C58E19D-0DEA-4EBE-8379-E5768990DFC7}"/>
              </a:ext>
            </a:extLst>
          </p:cNvPr>
          <p:cNvGraphicFramePr>
            <a:graphicFrameLocks noGrp="1"/>
          </p:cNvGraphicFramePr>
          <p:nvPr/>
        </p:nvGraphicFramePr>
        <p:xfrm>
          <a:off x="378338" y="3165971"/>
          <a:ext cx="4436190" cy="792165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218095">
                  <a:extLst>
                    <a:ext uri="{9D8B030D-6E8A-4147-A177-3AD203B41FA5}">
                      <a16:colId xmlns:a16="http://schemas.microsoft.com/office/drawing/2014/main" val="3030531774"/>
                    </a:ext>
                  </a:extLst>
                </a:gridCol>
                <a:gridCol w="2218095">
                  <a:extLst>
                    <a:ext uri="{9D8B030D-6E8A-4147-A177-3AD203B41FA5}">
                      <a16:colId xmlns:a16="http://schemas.microsoft.com/office/drawing/2014/main" val="4093540431"/>
                    </a:ext>
                  </a:extLst>
                </a:gridCol>
              </a:tblGrid>
              <a:tr h="2640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effectLst/>
                        </a:rPr>
                        <a:t>Concept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effectLst/>
                        </a:rPr>
                        <a:t>Keyword/Symbol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54762"/>
                  </a:ext>
                </a:extLst>
              </a:tr>
              <a:tr h="2640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Uppercase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effectLst/>
                          <a:latin typeface="Consolas" panose="020B0609020204030204" pitchFamily="49" charset="0"/>
                        </a:rPr>
                        <a:t>.upper</a:t>
                      </a:r>
                      <a:endParaRPr lang="en-GB" sz="14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8657070"/>
                  </a:ext>
                </a:extLst>
              </a:tr>
              <a:tr h="2640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Lowercase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effectLst/>
                          <a:latin typeface="Consolas" panose="020B0609020204030204" pitchFamily="49" charset="0"/>
                        </a:rPr>
                        <a:t>.lower</a:t>
                      </a:r>
                      <a:endParaRPr lang="en-GB" sz="1400" b="1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3432658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867FE6E2-5DFB-40CE-9AC7-9525316DC553}"/>
              </a:ext>
            </a:extLst>
          </p:cNvPr>
          <p:cNvSpPr/>
          <p:nvPr/>
        </p:nvSpPr>
        <p:spPr>
          <a:xfrm>
            <a:off x="295268" y="2790419"/>
            <a:ext cx="3004073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cases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4B9DFA-7609-4B98-AF48-482DCF6C3405}"/>
              </a:ext>
            </a:extLst>
          </p:cNvPr>
          <p:cNvSpPr/>
          <p:nvPr/>
        </p:nvSpPr>
        <p:spPr>
          <a:xfrm>
            <a:off x="372700" y="2190093"/>
            <a:ext cx="2332690" cy="3191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C00000"/>
                </a:solidFill>
                <a:latin typeface="Courier"/>
                <a:ea typeface="Calibri" panose="020F0502020204030204" pitchFamily="34" charset="0"/>
                <a:cs typeface="Courier"/>
              </a:rPr>
              <a:t>length = len(string)</a:t>
            </a:r>
            <a:endParaRPr lang="en-GB" sz="14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185702-0535-4789-A4F6-6879CD07CC0B}"/>
              </a:ext>
            </a:extLst>
          </p:cNvPr>
          <p:cNvSpPr/>
          <p:nvPr/>
        </p:nvSpPr>
        <p:spPr>
          <a:xfrm>
            <a:off x="378337" y="4019604"/>
            <a:ext cx="2762295" cy="5496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C00000"/>
                </a:solidFill>
                <a:latin typeface="Courier"/>
                <a:ea typeface="Calibri" panose="020F0502020204030204" pitchFamily="34" charset="0"/>
                <a:cs typeface="Courier"/>
              </a:rPr>
              <a:t>ustring = string.upper()</a:t>
            </a:r>
          </a:p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C00000"/>
                </a:solidFill>
                <a:latin typeface="Courier"/>
                <a:ea typeface="Calibri" panose="020F0502020204030204" pitchFamily="34" charset="0"/>
                <a:cs typeface="Courier"/>
              </a:rPr>
              <a:t>lstring = string.lower()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C2C3ACD-6595-450E-876C-748DF3CA4871}"/>
              </a:ext>
            </a:extLst>
          </p:cNvPr>
          <p:cNvSpPr/>
          <p:nvPr/>
        </p:nvSpPr>
        <p:spPr>
          <a:xfrm>
            <a:off x="4808350" y="1828901"/>
            <a:ext cx="56656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Returns the length of a string.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736DF0-C48D-4AD3-9095-11BAB4EB1F72}"/>
              </a:ext>
            </a:extLst>
          </p:cNvPr>
          <p:cNvSpPr/>
          <p:nvPr/>
        </p:nvSpPr>
        <p:spPr>
          <a:xfrm>
            <a:off x="4808350" y="3495193"/>
            <a:ext cx="56656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Returns the string in upper case or lower case.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7A07059-A3FD-4D4B-BCA5-FF679EBD283C}"/>
              </a:ext>
            </a:extLst>
          </p:cNvPr>
          <p:cNvSpPr/>
          <p:nvPr/>
        </p:nvSpPr>
        <p:spPr>
          <a:xfrm>
            <a:off x="2705390" y="2159127"/>
            <a:ext cx="4321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e.g., if string was “Hello”, length would be 5.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19D7B33-361A-4ABE-804B-08992877083A}"/>
              </a:ext>
            </a:extLst>
          </p:cNvPr>
          <p:cNvSpPr/>
          <p:nvPr/>
        </p:nvSpPr>
        <p:spPr>
          <a:xfrm>
            <a:off x="3139267" y="3973040"/>
            <a:ext cx="51055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e.g., if string was “Hello”, ustring would be “HELLO”.</a:t>
            </a:r>
          </a:p>
          <a:p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e.g., if string was “Hello”, lstring would be “hello”.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B02D6E-E941-0D3D-EF75-441C31C5A554}"/>
              </a:ext>
            </a:extLst>
          </p:cNvPr>
          <p:cNvSpPr/>
          <p:nvPr/>
        </p:nvSpPr>
        <p:spPr>
          <a:xfrm>
            <a:off x="176565" y="523174"/>
            <a:ext cx="5348746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String manipulation commands (Python)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616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C871B550-4FC9-419E-94BB-0BD4F6846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552514"/>
              </p:ext>
            </p:extLst>
          </p:nvPr>
        </p:nvGraphicFramePr>
        <p:xfrm>
          <a:off x="378338" y="1607622"/>
          <a:ext cx="4436190" cy="52811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218095">
                  <a:extLst>
                    <a:ext uri="{9D8B030D-6E8A-4147-A177-3AD203B41FA5}">
                      <a16:colId xmlns:a16="http://schemas.microsoft.com/office/drawing/2014/main" val="3030531774"/>
                    </a:ext>
                  </a:extLst>
                </a:gridCol>
                <a:gridCol w="2218095">
                  <a:extLst>
                    <a:ext uri="{9D8B030D-6E8A-4147-A177-3AD203B41FA5}">
                      <a16:colId xmlns:a16="http://schemas.microsoft.com/office/drawing/2014/main" val="4093540431"/>
                    </a:ext>
                  </a:extLst>
                </a:gridCol>
              </a:tblGrid>
              <a:tr h="2640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effectLst/>
                        </a:rPr>
                        <a:t>Concept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effectLst/>
                        </a:rPr>
                        <a:t>Keyword/Symbol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54762"/>
                  </a:ext>
                </a:extLst>
              </a:tr>
              <a:tr h="2640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String length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effectLst/>
                          <a:latin typeface="Consolas" panose="020B0609020204030204" pitchFamily="49" charset="0"/>
                        </a:rPr>
                        <a:t>len()</a:t>
                      </a:r>
                      <a:endParaRPr lang="en-GB" sz="14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8657070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E533DA19-E49B-4AB4-B25C-E68ADAFEB17A}"/>
              </a:ext>
            </a:extLst>
          </p:cNvPr>
          <p:cNvSpPr/>
          <p:nvPr/>
        </p:nvSpPr>
        <p:spPr>
          <a:xfrm>
            <a:off x="295268" y="1232070"/>
            <a:ext cx="3004073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get the length of a string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3">
            <a:extLst>
              <a:ext uri="{FF2B5EF4-FFF2-40B4-BE49-F238E27FC236}">
                <a16:creationId xmlns:a16="http://schemas.microsoft.com/office/drawing/2014/main" id="{1B1A328D-94E2-4DA4-AA70-FC77AA636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515593"/>
              </p:ext>
            </p:extLst>
          </p:nvPr>
        </p:nvGraphicFramePr>
        <p:xfrm>
          <a:off x="378338" y="5235519"/>
          <a:ext cx="4436190" cy="52811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218095">
                  <a:extLst>
                    <a:ext uri="{9D8B030D-6E8A-4147-A177-3AD203B41FA5}">
                      <a16:colId xmlns:a16="http://schemas.microsoft.com/office/drawing/2014/main" val="3030531774"/>
                    </a:ext>
                  </a:extLst>
                </a:gridCol>
                <a:gridCol w="2218095">
                  <a:extLst>
                    <a:ext uri="{9D8B030D-6E8A-4147-A177-3AD203B41FA5}">
                      <a16:colId xmlns:a16="http://schemas.microsoft.com/office/drawing/2014/main" val="4093540431"/>
                    </a:ext>
                  </a:extLst>
                </a:gridCol>
              </a:tblGrid>
              <a:tr h="2640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effectLst/>
                        </a:rPr>
                        <a:t>Concept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effectLst/>
                        </a:rPr>
                        <a:t>Keyword/Symbol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54762"/>
                  </a:ext>
                </a:extLst>
              </a:tr>
              <a:tr h="2640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Substrings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effectLst/>
                          <a:latin typeface="Consolas" panose="020B0609020204030204" pitchFamily="49" charset="0"/>
                        </a:rPr>
                        <a:t>string[</a:t>
                      </a:r>
                      <a:r>
                        <a:rPr lang="en-GB" sz="1400" b="1" dirty="0" err="1">
                          <a:effectLst/>
                          <a:latin typeface="Consolas" panose="020B0609020204030204" pitchFamily="49" charset="0"/>
                        </a:rPr>
                        <a:t>x:x</a:t>
                      </a:r>
                      <a:r>
                        <a:rPr lang="en-GB" sz="1400" b="1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GB" sz="14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865707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C195ED95-FC5B-4D61-B4E9-321AB8616E54}"/>
              </a:ext>
            </a:extLst>
          </p:cNvPr>
          <p:cNvSpPr/>
          <p:nvPr/>
        </p:nvSpPr>
        <p:spPr>
          <a:xfrm>
            <a:off x="295268" y="4859967"/>
            <a:ext cx="3004073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get a substring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Table 3">
            <a:extLst>
              <a:ext uri="{FF2B5EF4-FFF2-40B4-BE49-F238E27FC236}">
                <a16:creationId xmlns:a16="http://schemas.microsoft.com/office/drawing/2014/main" id="{6C58E19D-0DEA-4EBE-8379-E5768990DFC7}"/>
              </a:ext>
            </a:extLst>
          </p:cNvPr>
          <p:cNvGraphicFramePr>
            <a:graphicFrameLocks noGrp="1"/>
          </p:cNvGraphicFramePr>
          <p:nvPr/>
        </p:nvGraphicFramePr>
        <p:xfrm>
          <a:off x="378338" y="3165971"/>
          <a:ext cx="4436190" cy="792165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218095">
                  <a:extLst>
                    <a:ext uri="{9D8B030D-6E8A-4147-A177-3AD203B41FA5}">
                      <a16:colId xmlns:a16="http://schemas.microsoft.com/office/drawing/2014/main" val="3030531774"/>
                    </a:ext>
                  </a:extLst>
                </a:gridCol>
                <a:gridCol w="2218095">
                  <a:extLst>
                    <a:ext uri="{9D8B030D-6E8A-4147-A177-3AD203B41FA5}">
                      <a16:colId xmlns:a16="http://schemas.microsoft.com/office/drawing/2014/main" val="4093540431"/>
                    </a:ext>
                  </a:extLst>
                </a:gridCol>
              </a:tblGrid>
              <a:tr h="2640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effectLst/>
                        </a:rPr>
                        <a:t>Concept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effectLst/>
                        </a:rPr>
                        <a:t>Keyword/Symbol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54762"/>
                  </a:ext>
                </a:extLst>
              </a:tr>
              <a:tr h="2640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Uppercase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effectLst/>
                          <a:latin typeface="Consolas" panose="020B0609020204030204" pitchFamily="49" charset="0"/>
                        </a:rPr>
                        <a:t>.upper</a:t>
                      </a:r>
                      <a:endParaRPr lang="en-GB" sz="14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8657070"/>
                  </a:ext>
                </a:extLst>
              </a:tr>
              <a:tr h="2640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Lowercase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effectLst/>
                          <a:latin typeface="Consolas" panose="020B0609020204030204" pitchFamily="49" charset="0"/>
                        </a:rPr>
                        <a:t>.lower</a:t>
                      </a:r>
                      <a:endParaRPr lang="en-GB" sz="1400" b="1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3432658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867FE6E2-5DFB-40CE-9AC7-9525316DC553}"/>
              </a:ext>
            </a:extLst>
          </p:cNvPr>
          <p:cNvSpPr/>
          <p:nvPr/>
        </p:nvSpPr>
        <p:spPr>
          <a:xfrm>
            <a:off x="295268" y="2790419"/>
            <a:ext cx="3004073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cases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4B9DFA-7609-4B98-AF48-482DCF6C3405}"/>
              </a:ext>
            </a:extLst>
          </p:cNvPr>
          <p:cNvSpPr/>
          <p:nvPr/>
        </p:nvSpPr>
        <p:spPr>
          <a:xfrm>
            <a:off x="372700" y="2190093"/>
            <a:ext cx="2332690" cy="3191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C00000"/>
                </a:solidFill>
                <a:latin typeface="Courier"/>
                <a:ea typeface="Calibri" panose="020F0502020204030204" pitchFamily="34" charset="0"/>
                <a:cs typeface="Courier"/>
              </a:rPr>
              <a:t>length = len(string)</a:t>
            </a:r>
            <a:endParaRPr lang="en-GB" sz="14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6386F3-8216-44F4-BE25-CCBE6B8BD82E}"/>
              </a:ext>
            </a:extLst>
          </p:cNvPr>
          <p:cNvSpPr/>
          <p:nvPr/>
        </p:nvSpPr>
        <p:spPr>
          <a:xfrm>
            <a:off x="371144" y="5932112"/>
            <a:ext cx="2225289" cy="3191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C00000"/>
                </a:solidFill>
                <a:latin typeface="Courier"/>
                <a:ea typeface="Calibri" panose="020F0502020204030204" pitchFamily="34" charset="0"/>
                <a:cs typeface="Courier"/>
              </a:rPr>
              <a:t>chars = string[2:3]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185702-0535-4789-A4F6-6879CD07CC0B}"/>
              </a:ext>
            </a:extLst>
          </p:cNvPr>
          <p:cNvSpPr/>
          <p:nvPr/>
        </p:nvSpPr>
        <p:spPr>
          <a:xfrm>
            <a:off x="378337" y="4019604"/>
            <a:ext cx="2762295" cy="5496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C00000"/>
                </a:solidFill>
                <a:latin typeface="Courier"/>
                <a:ea typeface="Calibri" panose="020F0502020204030204" pitchFamily="34" charset="0"/>
                <a:cs typeface="Courier"/>
              </a:rPr>
              <a:t>ustring = string.upper()</a:t>
            </a:r>
          </a:p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C00000"/>
                </a:solidFill>
                <a:latin typeface="Courier"/>
                <a:ea typeface="Calibri" panose="020F0502020204030204" pitchFamily="34" charset="0"/>
                <a:cs typeface="Courier"/>
              </a:rPr>
              <a:t>lstring = string.lower()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C2C3ACD-6595-450E-876C-748DF3CA4871}"/>
              </a:ext>
            </a:extLst>
          </p:cNvPr>
          <p:cNvSpPr/>
          <p:nvPr/>
        </p:nvSpPr>
        <p:spPr>
          <a:xfrm>
            <a:off x="4808350" y="1828901"/>
            <a:ext cx="56656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Returns the length of a string.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736DF0-C48D-4AD3-9095-11BAB4EB1F72}"/>
              </a:ext>
            </a:extLst>
          </p:cNvPr>
          <p:cNvSpPr/>
          <p:nvPr/>
        </p:nvSpPr>
        <p:spPr>
          <a:xfrm>
            <a:off x="4808350" y="3495193"/>
            <a:ext cx="56656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Returns the string in upper case or lower case.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7A07059-A3FD-4D4B-BCA5-FF679EBD283C}"/>
              </a:ext>
            </a:extLst>
          </p:cNvPr>
          <p:cNvSpPr/>
          <p:nvPr/>
        </p:nvSpPr>
        <p:spPr>
          <a:xfrm>
            <a:off x="2705390" y="2159127"/>
            <a:ext cx="4321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e.g., if string was “Hello”, length would be 5.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19D7B33-361A-4ABE-804B-08992877083A}"/>
              </a:ext>
            </a:extLst>
          </p:cNvPr>
          <p:cNvSpPr/>
          <p:nvPr/>
        </p:nvSpPr>
        <p:spPr>
          <a:xfrm>
            <a:off x="3139267" y="3973040"/>
            <a:ext cx="51055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e.g., if string was “Hello”, ustring would be “HELLO”.</a:t>
            </a:r>
          </a:p>
          <a:p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e.g., if string was “Hello”, lstring would be “hello”.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9F505A3-C9EB-47E4-A750-90C0164ED384}"/>
              </a:ext>
            </a:extLst>
          </p:cNvPr>
          <p:cNvSpPr/>
          <p:nvPr/>
        </p:nvSpPr>
        <p:spPr>
          <a:xfrm>
            <a:off x="4808350" y="5177266"/>
            <a:ext cx="72217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Returns part of a string, starting at the character of the first parameter and counting up by the number in the second parameter.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AE0F826-8CF9-416D-BC3C-FAF77203AB45}"/>
              </a:ext>
            </a:extLst>
          </p:cNvPr>
          <p:cNvSpPr/>
          <p:nvPr/>
        </p:nvSpPr>
        <p:spPr>
          <a:xfrm>
            <a:off x="2705390" y="5893906"/>
            <a:ext cx="43504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e.g., if string was “Hello”, chars would be “l”.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65CD73-A0DD-81C7-9757-9CDF7E2BEDE5}"/>
              </a:ext>
            </a:extLst>
          </p:cNvPr>
          <p:cNvSpPr/>
          <p:nvPr/>
        </p:nvSpPr>
        <p:spPr>
          <a:xfrm>
            <a:off x="176565" y="523174"/>
            <a:ext cx="5348746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String manipulation commands (Python)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897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CC389D-689C-47B0-9D84-7D9ED9028C71}"/>
              </a:ext>
            </a:extLst>
          </p:cNvPr>
          <p:cNvSpPr/>
          <p:nvPr/>
        </p:nvSpPr>
        <p:spPr>
          <a:xfrm>
            <a:off x="1517631" y="523174"/>
            <a:ext cx="4383548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String manipulation commands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make_notes">
            <a:extLst>
              <a:ext uri="{FF2B5EF4-FFF2-40B4-BE49-F238E27FC236}">
                <a16:creationId xmlns:a16="http://schemas.microsoft.com/office/drawing/2014/main" id="{88E477ED-72C8-7994-FE63-9C67718B3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165D3FF-A230-BC84-D3BF-70DF816209E8}"/>
              </a:ext>
            </a:extLst>
          </p:cNvPr>
          <p:cNvSpPr/>
          <p:nvPr/>
        </p:nvSpPr>
        <p:spPr>
          <a:xfrm>
            <a:off x="1517631" y="993174"/>
            <a:ext cx="101314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an example of how these concepts will look in exam papers following the Cambridge IGCSE pseudocode format, which is listed towards the back of the syllabus.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B3CFB09-3604-5EBA-0BED-A481A0E95D5E}"/>
              </a:ext>
            </a:extLst>
          </p:cNvPr>
          <p:cNvGrpSpPr/>
          <p:nvPr/>
        </p:nvGrpSpPr>
        <p:grpSpPr>
          <a:xfrm>
            <a:off x="307657" y="1950851"/>
            <a:ext cx="5521644" cy="4295802"/>
            <a:chOff x="115335" y="1049783"/>
            <a:chExt cx="5795610" cy="5255955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5111CA4-920A-0D8A-2A3F-43B6AEC6DC35}"/>
                </a:ext>
              </a:extLst>
            </p:cNvPr>
            <p:cNvSpPr/>
            <p:nvPr/>
          </p:nvSpPr>
          <p:spPr>
            <a:xfrm>
              <a:off x="115335" y="1049783"/>
              <a:ext cx="5795610" cy="5255955"/>
            </a:xfrm>
            <a:prstGeom prst="roundRect">
              <a:avLst>
                <a:gd name="adj" fmla="val 5148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GB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GB" sz="1600" dirty="0">
                  <a:solidFill>
                    <a:schemeClr val="tx1"/>
                  </a:solidFill>
                  <a:latin typeface="Consolas" panose="020B06090202040302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LENGTH (&lt;identifier&gt;)</a:t>
              </a:r>
            </a:p>
            <a:p>
              <a:r>
                <a:rPr lang="en-GB" sz="1200" dirty="0">
                  <a:solidFill>
                    <a:schemeClr val="tx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Returns the integer value representing the length of string. </a:t>
              </a:r>
            </a:p>
            <a:p>
              <a:r>
                <a:rPr lang="en-GB" sz="1200" dirty="0">
                  <a:solidFill>
                    <a:schemeClr val="tx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The identifier should be of data type string.</a:t>
              </a:r>
            </a:p>
            <a:p>
              <a:endParaRPr lang="en-GB" sz="16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r>
                <a:rPr lang="en-GB" sz="1600" dirty="0">
                  <a:solidFill>
                    <a:schemeClr val="tx1"/>
                  </a:solidFill>
                  <a:latin typeface="Consolas" panose="020B06090202040302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LCASE (&lt;identifier&gt;)</a:t>
              </a:r>
            </a:p>
            <a:p>
              <a:r>
                <a:rPr lang="en-GB" sz="1200" dirty="0">
                  <a:solidFill>
                    <a:schemeClr val="tx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Returns the string/character with all characters in lower case. </a:t>
              </a:r>
            </a:p>
            <a:p>
              <a:r>
                <a:rPr lang="en-GB" sz="1200" dirty="0">
                  <a:solidFill>
                    <a:schemeClr val="tx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The identifier should be of data type string or char.</a:t>
              </a:r>
            </a:p>
            <a:p>
              <a:endParaRPr lang="en-GB" sz="16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r>
                <a:rPr lang="en-GB" sz="1600" dirty="0">
                  <a:solidFill>
                    <a:schemeClr val="tx1"/>
                  </a:solidFill>
                  <a:latin typeface="Consolas" panose="020B06090202040302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UCASE (&lt;identifier&gt;)</a:t>
              </a:r>
            </a:p>
            <a:p>
              <a:r>
                <a:rPr lang="en-GB" sz="1200" dirty="0">
                  <a:solidFill>
                    <a:schemeClr val="tx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Returns the string/character with all characters in upper case. </a:t>
              </a:r>
            </a:p>
            <a:p>
              <a:r>
                <a:rPr lang="en-GB" sz="1200" dirty="0">
                  <a:solidFill>
                    <a:schemeClr val="tx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The identifier should be of data type string or char.</a:t>
              </a:r>
            </a:p>
            <a:p>
              <a:endParaRPr lang="en-GB" sz="16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r>
                <a:rPr lang="en-GB" sz="1600" dirty="0">
                  <a:solidFill>
                    <a:schemeClr val="tx1"/>
                  </a:solidFill>
                  <a:latin typeface="Consolas" panose="020B06090202040302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SUBSTRING (&lt;identifier&gt;, &lt;start&gt;, &lt;length&gt;)</a:t>
              </a:r>
            </a:p>
            <a:p>
              <a:r>
                <a:rPr lang="en-GB" sz="1200" dirty="0">
                  <a:solidFill>
                    <a:schemeClr val="tx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Returns a string of length &lt;</a:t>
              </a:r>
              <a:r>
                <a:rPr lang="en-GB" sz="1200" dirty="0">
                  <a:solidFill>
                    <a:schemeClr val="tx1"/>
                  </a:solidFill>
                  <a:latin typeface="Consolas" panose="020B06090202040302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length&gt;</a:t>
              </a:r>
              <a:r>
                <a:rPr lang="en-GB" sz="1200" dirty="0">
                  <a:solidFill>
                    <a:schemeClr val="tx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 starting at position &lt;</a:t>
              </a:r>
              <a:r>
                <a:rPr lang="en-GB" sz="1200" dirty="0">
                  <a:solidFill>
                    <a:schemeClr val="tx1"/>
                  </a:solidFill>
                  <a:latin typeface="Consolas" panose="020B06090202040302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start&gt;</a:t>
              </a:r>
              <a:r>
                <a:rPr lang="en-GB" sz="1200" dirty="0">
                  <a:solidFill>
                    <a:schemeClr val="tx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. </a:t>
              </a:r>
            </a:p>
            <a:p>
              <a:r>
                <a:rPr lang="en-GB" sz="1200" dirty="0">
                  <a:solidFill>
                    <a:schemeClr val="tx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The identifier should be of data type string, length and start should be positive and data type integer.</a:t>
              </a:r>
            </a:p>
            <a:p>
              <a:endParaRPr lang="en-GB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GB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47F0110-9C78-74B0-6EB6-0FAF00E10596}"/>
                </a:ext>
              </a:extLst>
            </p:cNvPr>
            <p:cNvSpPr/>
            <p:nvPr/>
          </p:nvSpPr>
          <p:spPr>
            <a:xfrm>
              <a:off x="120096" y="1049783"/>
              <a:ext cx="5790849" cy="371475"/>
            </a:xfrm>
            <a:prstGeom prst="roundRect">
              <a:avLst>
                <a:gd name="adj" fmla="val 29488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b="1" dirty="0">
                  <a:solidFill>
                    <a:schemeClr val="tx1"/>
                  </a:solidFill>
                </a:rPr>
                <a:t>String operations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8FB670F-C391-8F0F-7234-F08B57B0D133}"/>
              </a:ext>
            </a:extLst>
          </p:cNvPr>
          <p:cNvGrpSpPr/>
          <p:nvPr/>
        </p:nvGrpSpPr>
        <p:grpSpPr>
          <a:xfrm>
            <a:off x="6358163" y="1937935"/>
            <a:ext cx="5521644" cy="4308718"/>
            <a:chOff x="115335" y="1049783"/>
            <a:chExt cx="5795610" cy="527175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C3F63745-29B0-F8F4-BD9C-F5EF6E3AD933}"/>
                </a:ext>
              </a:extLst>
            </p:cNvPr>
            <p:cNvSpPr/>
            <p:nvPr/>
          </p:nvSpPr>
          <p:spPr>
            <a:xfrm>
              <a:off x="115335" y="1049783"/>
              <a:ext cx="5795610" cy="5271759"/>
            </a:xfrm>
            <a:prstGeom prst="roundRect">
              <a:avLst>
                <a:gd name="adj" fmla="val 5148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GB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l"/>
              <a:r>
                <a:rPr lang="en-GB" sz="1800" b="0" i="0" u="none" strike="noStrike" baseline="0" dirty="0">
                  <a:solidFill>
                    <a:schemeClr val="tx1"/>
                  </a:solidFill>
                  <a:latin typeface="CourierNewPSMT"/>
                </a:rPr>
                <a:t>LENGTH("Happy Days") </a:t>
              </a:r>
            </a:p>
            <a:p>
              <a:pPr algn="l"/>
              <a:r>
                <a:rPr lang="en-GB" sz="1800" b="0" i="0" u="none" strike="noStrike" baseline="0" dirty="0">
                  <a:solidFill>
                    <a:schemeClr val="tx1"/>
                  </a:solidFill>
                </a:rPr>
                <a:t>will return </a:t>
              </a:r>
              <a:r>
                <a:rPr lang="en-GB" sz="1800" b="0" i="0" u="none" strike="noStrike" baseline="0" dirty="0">
                  <a:solidFill>
                    <a:schemeClr val="tx1"/>
                  </a:solidFill>
                  <a:latin typeface="CourierNewPSMT"/>
                </a:rPr>
                <a:t>10</a:t>
              </a:r>
            </a:p>
            <a:p>
              <a:pPr algn="l"/>
              <a:endParaRPr lang="en-GB" sz="1800" b="0" i="0" u="none" strike="noStrike" baseline="0" dirty="0">
                <a:solidFill>
                  <a:schemeClr val="tx1"/>
                </a:solidFill>
                <a:latin typeface="CourierNewPSMT"/>
              </a:endParaRPr>
            </a:p>
            <a:p>
              <a:pPr algn="l"/>
              <a:r>
                <a:rPr lang="en-GB" sz="1800" b="0" i="0" u="none" strike="noStrike" baseline="0" dirty="0">
                  <a:solidFill>
                    <a:schemeClr val="tx1"/>
                  </a:solidFill>
                  <a:latin typeface="CourierNewPSMT"/>
                </a:rPr>
                <a:t>LCASE(ꞌWꞌ) </a:t>
              </a:r>
            </a:p>
            <a:p>
              <a:pPr algn="l"/>
              <a:r>
                <a:rPr lang="en-GB" sz="1800" b="0" i="0" u="none" strike="noStrike" baseline="0" dirty="0">
                  <a:solidFill>
                    <a:schemeClr val="tx1"/>
                  </a:solidFill>
                </a:rPr>
                <a:t>will return</a:t>
              </a:r>
              <a:r>
                <a:rPr lang="en-GB" sz="1800" b="0" i="0" u="none" strike="noStrike" baseline="0" dirty="0">
                  <a:solidFill>
                    <a:schemeClr val="tx1"/>
                  </a:solidFill>
                  <a:latin typeface="BlissPro-Light"/>
                </a:rPr>
                <a:t> </a:t>
              </a:r>
              <a:r>
                <a:rPr lang="en-GB" sz="1800" b="0" i="0" u="none" strike="noStrike" baseline="0" dirty="0">
                  <a:solidFill>
                    <a:schemeClr val="tx1"/>
                  </a:solidFill>
                  <a:latin typeface="CourierNewPSMT"/>
                </a:rPr>
                <a:t>ꞌwꞌ</a:t>
              </a:r>
            </a:p>
            <a:p>
              <a:pPr algn="l"/>
              <a:endParaRPr lang="en-GB" sz="1800" b="0" i="0" u="none" strike="noStrike" baseline="0" dirty="0">
                <a:solidFill>
                  <a:schemeClr val="tx1"/>
                </a:solidFill>
                <a:latin typeface="CourierNewPSMT"/>
              </a:endParaRPr>
            </a:p>
            <a:p>
              <a:pPr algn="l"/>
              <a:r>
                <a:rPr lang="en-GB" sz="1800" b="0" i="0" u="none" strike="noStrike" baseline="0" dirty="0">
                  <a:solidFill>
                    <a:schemeClr val="tx1"/>
                  </a:solidFill>
                  <a:latin typeface="CourierNewPSMT"/>
                </a:rPr>
                <a:t>UCASE("Happy") </a:t>
              </a:r>
            </a:p>
            <a:p>
              <a:pPr algn="l"/>
              <a:r>
                <a:rPr lang="en-GB" sz="1800" b="0" i="0" u="none" strike="noStrike" baseline="0" dirty="0">
                  <a:solidFill>
                    <a:schemeClr val="tx1"/>
                  </a:solidFill>
                </a:rPr>
                <a:t>will return </a:t>
              </a:r>
              <a:r>
                <a:rPr lang="en-GB" sz="1800" b="0" i="0" u="none" strike="noStrike" baseline="0" dirty="0">
                  <a:solidFill>
                    <a:schemeClr val="tx1"/>
                  </a:solidFill>
                  <a:latin typeface="CourierNewPSMT"/>
                </a:rPr>
                <a:t>"HAPPY"</a:t>
              </a:r>
            </a:p>
            <a:p>
              <a:pPr algn="l"/>
              <a:endParaRPr lang="en-GB" sz="1800" b="0" i="0" u="none" strike="noStrike" baseline="0" dirty="0">
                <a:solidFill>
                  <a:schemeClr val="tx1"/>
                </a:solidFill>
                <a:latin typeface="CourierNewPSMT"/>
              </a:endParaRPr>
            </a:p>
            <a:p>
              <a:pPr algn="l"/>
              <a:r>
                <a:rPr lang="en-GB" sz="1800" b="0" i="0" u="none" strike="noStrike" baseline="0" dirty="0">
                  <a:solidFill>
                    <a:schemeClr val="tx1"/>
                  </a:solidFill>
                  <a:latin typeface="CourierNewPSMT"/>
                </a:rPr>
                <a:t>SUBSTRING("Happy Days", 1, 5) </a:t>
              </a:r>
            </a:p>
            <a:p>
              <a:pPr algn="l"/>
              <a:r>
                <a:rPr lang="en-GB" sz="1800" b="0" i="0" u="none" strike="noStrike" baseline="0" dirty="0">
                  <a:solidFill>
                    <a:schemeClr val="tx1"/>
                  </a:solidFill>
                </a:rPr>
                <a:t>will return </a:t>
              </a:r>
              <a:r>
                <a:rPr lang="en-GB" sz="1800" b="0" i="0" u="none" strike="noStrike" baseline="0" dirty="0">
                  <a:solidFill>
                    <a:schemeClr val="tx1"/>
                  </a:solidFill>
                  <a:latin typeface="CourierNewPSMT"/>
                </a:rPr>
                <a:t>"Happy"</a:t>
              </a:r>
              <a:endParaRPr lang="en-GB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endParaRPr lang="en-GB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8E8941F-352D-A937-2AD7-BB5BD01680AB}"/>
                </a:ext>
              </a:extLst>
            </p:cNvPr>
            <p:cNvSpPr/>
            <p:nvPr/>
          </p:nvSpPr>
          <p:spPr>
            <a:xfrm>
              <a:off x="120096" y="1049783"/>
              <a:ext cx="5790849" cy="371475"/>
            </a:xfrm>
            <a:prstGeom prst="roundRect">
              <a:avLst>
                <a:gd name="adj" fmla="val 2948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b="1" dirty="0">
                  <a:solidFill>
                    <a:schemeClr val="tx1"/>
                  </a:solidFill>
                </a:rPr>
                <a:t>String operations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2463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</TotalTime>
  <Words>723</Words>
  <Application>Microsoft Office PowerPoint</Application>
  <PresentationFormat>Widescreen</PresentationFormat>
  <Paragraphs>113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BlissPro-Light</vt:lpstr>
      <vt:lpstr>Calibri</vt:lpstr>
      <vt:lpstr>Calibri Light</vt:lpstr>
      <vt:lpstr>Century Gothic</vt:lpstr>
      <vt:lpstr>Consolas</vt:lpstr>
      <vt:lpstr>Courier</vt:lpstr>
      <vt:lpstr>CourierNewPSMT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164</cp:revision>
  <dcterms:created xsi:type="dcterms:W3CDTF">2019-10-14T15:21:06Z</dcterms:created>
  <dcterms:modified xsi:type="dcterms:W3CDTF">2022-09-01T10:08:22Z</dcterms:modified>
</cp:coreProperties>
</file>