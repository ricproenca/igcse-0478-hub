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66" r:id="rId3"/>
    <p:sldId id="273" r:id="rId4"/>
    <p:sldId id="265" r:id="rId5"/>
    <p:sldId id="274" r:id="rId6"/>
    <p:sldId id="275" r:id="rId7"/>
    <p:sldId id="276" r:id="rId8"/>
    <p:sldId id="277" r:id="rId9"/>
    <p:sldId id="33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94"/>
  </p:normalViewPr>
  <p:slideViewPr>
    <p:cSldViewPr snapToGrid="0">
      <p:cViewPr varScale="1">
        <p:scale>
          <a:sx n="101" d="100"/>
          <a:sy n="101" d="100"/>
        </p:scale>
        <p:origin x="1188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8.1 Programming | Using nested statements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8.1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Using nested statements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note about this video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BA786D-22BD-911C-776D-969FB3737500}"/>
              </a:ext>
            </a:extLst>
          </p:cNvPr>
          <p:cNvGrpSpPr/>
          <p:nvPr/>
        </p:nvGrpSpPr>
        <p:grpSpPr>
          <a:xfrm>
            <a:off x="216286" y="1231322"/>
            <a:ext cx="7101690" cy="5477490"/>
            <a:chOff x="4706243" y="2443259"/>
            <a:chExt cx="2761389" cy="212984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22B1096-5228-ACE7-E906-D330F9970F9E}"/>
                </a:ext>
              </a:extLst>
            </p:cNvPr>
            <p:cNvSpPr/>
            <p:nvPr/>
          </p:nvSpPr>
          <p:spPr>
            <a:xfrm>
              <a:off x="5611944" y="4295125"/>
              <a:ext cx="948406" cy="277977"/>
            </a:xfrm>
            <a:custGeom>
              <a:avLst/>
              <a:gdLst>
                <a:gd name="connsiteX0" fmla="*/ 857888 w 948406"/>
                <a:gd name="connsiteY0" fmla="*/ 261502 h 277977"/>
                <a:gd name="connsiteX1" fmla="*/ 813306 w 948406"/>
                <a:gd name="connsiteY1" fmla="*/ 232241 h 277977"/>
                <a:gd name="connsiteX2" fmla="*/ 782990 w 948406"/>
                <a:gd name="connsiteY2" fmla="*/ 0 h 277977"/>
                <a:gd name="connsiteX3" fmla="*/ 165416 w 948406"/>
                <a:gd name="connsiteY3" fmla="*/ 0 h 277977"/>
                <a:gd name="connsiteX4" fmla="*/ 135101 w 948406"/>
                <a:gd name="connsiteY4" fmla="*/ 232241 h 277977"/>
                <a:gd name="connsiteX5" fmla="*/ 90517 w 948406"/>
                <a:gd name="connsiteY5" fmla="*/ 261502 h 277977"/>
                <a:gd name="connsiteX6" fmla="*/ 0 w 948406"/>
                <a:gd name="connsiteY6" fmla="*/ 277978 h 277977"/>
                <a:gd name="connsiteX7" fmla="*/ 948406 w 948406"/>
                <a:gd name="connsiteY7" fmla="*/ 277978 h 277977"/>
                <a:gd name="connsiteX8" fmla="*/ 857888 w 948406"/>
                <a:gd name="connsiteY8" fmla="*/ 261502 h 27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8406" h="277977">
                  <a:moveTo>
                    <a:pt x="857888" y="261502"/>
                  </a:moveTo>
                  <a:cubicBezTo>
                    <a:pt x="826420" y="255307"/>
                    <a:pt x="818611" y="254912"/>
                    <a:pt x="813306" y="232241"/>
                  </a:cubicBezTo>
                  <a:cubicBezTo>
                    <a:pt x="808000" y="209571"/>
                    <a:pt x="782990" y="0"/>
                    <a:pt x="782990" y="0"/>
                  </a:cubicBezTo>
                  <a:lnTo>
                    <a:pt x="165416" y="0"/>
                  </a:lnTo>
                  <a:cubicBezTo>
                    <a:pt x="165416" y="0"/>
                    <a:pt x="140373" y="209604"/>
                    <a:pt x="135101" y="232241"/>
                  </a:cubicBezTo>
                  <a:cubicBezTo>
                    <a:pt x="129828" y="254879"/>
                    <a:pt x="121920" y="255307"/>
                    <a:pt x="90517" y="261502"/>
                  </a:cubicBezTo>
                  <a:cubicBezTo>
                    <a:pt x="59115" y="267697"/>
                    <a:pt x="0" y="273496"/>
                    <a:pt x="0" y="277978"/>
                  </a:cubicBezTo>
                  <a:lnTo>
                    <a:pt x="948406" y="277978"/>
                  </a:lnTo>
                  <a:cubicBezTo>
                    <a:pt x="948406" y="273496"/>
                    <a:pt x="889357" y="267730"/>
                    <a:pt x="857888" y="261502"/>
                  </a:cubicBezTo>
                  <a:close/>
                </a:path>
              </a:pathLst>
            </a:custGeom>
            <a:solidFill>
              <a:srgbClr val="C9CCD2"/>
            </a:solidFill>
            <a:ln w="32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1A5E4D1-4BDB-0E8E-87F5-B5417DEDAE03}"/>
                </a:ext>
              </a:extLst>
            </p:cNvPr>
            <p:cNvSpPr/>
            <p:nvPr/>
          </p:nvSpPr>
          <p:spPr>
            <a:xfrm>
              <a:off x="4706243" y="4073363"/>
              <a:ext cx="2761389" cy="221696"/>
            </a:xfrm>
            <a:custGeom>
              <a:avLst/>
              <a:gdLst>
                <a:gd name="connsiteX0" fmla="*/ 0 w 2761389"/>
                <a:gd name="connsiteY0" fmla="*/ 0 h 221696"/>
                <a:gd name="connsiteX1" fmla="*/ 0 w 2761389"/>
                <a:gd name="connsiteY1" fmla="*/ 146469 h 221696"/>
                <a:gd name="connsiteX2" fmla="*/ 75228 w 2761389"/>
                <a:gd name="connsiteY2" fmla="*/ 221697 h 221696"/>
                <a:gd name="connsiteX3" fmla="*/ 2686128 w 2761389"/>
                <a:gd name="connsiteY3" fmla="*/ 221697 h 221696"/>
                <a:gd name="connsiteX4" fmla="*/ 2761389 w 2761389"/>
                <a:gd name="connsiteY4" fmla="*/ 146469 h 221696"/>
                <a:gd name="connsiteX5" fmla="*/ 2761389 w 2761389"/>
                <a:gd name="connsiteY5" fmla="*/ 0 h 22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1389" h="221696">
                  <a:moveTo>
                    <a:pt x="0" y="0"/>
                  </a:moveTo>
                  <a:lnTo>
                    <a:pt x="0" y="146469"/>
                  </a:lnTo>
                  <a:cubicBezTo>
                    <a:pt x="132" y="187964"/>
                    <a:pt x="33742" y="221571"/>
                    <a:pt x="75228" y="221697"/>
                  </a:cubicBezTo>
                  <a:lnTo>
                    <a:pt x="2686128" y="221697"/>
                  </a:lnTo>
                  <a:cubicBezTo>
                    <a:pt x="2727614" y="221571"/>
                    <a:pt x="2761257" y="187968"/>
                    <a:pt x="2761389" y="146469"/>
                  </a:cubicBezTo>
                  <a:lnTo>
                    <a:pt x="2761389" y="0"/>
                  </a:lnTo>
                  <a:close/>
                </a:path>
              </a:pathLst>
            </a:custGeom>
            <a:solidFill>
              <a:srgbClr val="B0B5BA"/>
            </a:solidFill>
            <a:ln w="32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E0F3088-AB4E-CD92-23C0-F7DD57836CD6}"/>
                </a:ext>
              </a:extLst>
            </p:cNvPr>
            <p:cNvSpPr/>
            <p:nvPr/>
          </p:nvSpPr>
          <p:spPr>
            <a:xfrm>
              <a:off x="4706243" y="2443259"/>
              <a:ext cx="2761389" cy="1629905"/>
            </a:xfrm>
            <a:custGeom>
              <a:avLst/>
              <a:gdLst>
                <a:gd name="connsiteX0" fmla="*/ 0 w 2761389"/>
                <a:gd name="connsiteY0" fmla="*/ 1629906 h 1629905"/>
                <a:gd name="connsiteX1" fmla="*/ 0 w 2761389"/>
                <a:gd name="connsiteY1" fmla="*/ 68737 h 1629905"/>
                <a:gd name="connsiteX2" fmla="*/ 68736 w 2761389"/>
                <a:gd name="connsiteY2" fmla="*/ 0 h 1629905"/>
                <a:gd name="connsiteX3" fmla="*/ 2692652 w 2761389"/>
                <a:gd name="connsiteY3" fmla="*/ 0 h 1629905"/>
                <a:gd name="connsiteX4" fmla="*/ 2761389 w 2761389"/>
                <a:gd name="connsiteY4" fmla="*/ 68737 h 1629905"/>
                <a:gd name="connsiteX5" fmla="*/ 2761389 w 2761389"/>
                <a:gd name="connsiteY5" fmla="*/ 1629906 h 1629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61389" h="1629905">
                  <a:moveTo>
                    <a:pt x="0" y="1629906"/>
                  </a:moveTo>
                  <a:lnTo>
                    <a:pt x="0" y="68737"/>
                  </a:lnTo>
                  <a:cubicBezTo>
                    <a:pt x="66" y="30796"/>
                    <a:pt x="30809" y="56"/>
                    <a:pt x="68736" y="0"/>
                  </a:cubicBezTo>
                  <a:lnTo>
                    <a:pt x="2692652" y="0"/>
                  </a:lnTo>
                  <a:cubicBezTo>
                    <a:pt x="2730580" y="56"/>
                    <a:pt x="2761323" y="30796"/>
                    <a:pt x="2761389" y="68737"/>
                  </a:cubicBezTo>
                  <a:lnTo>
                    <a:pt x="2761389" y="1629906"/>
                  </a:lnTo>
                  <a:close/>
                </a:path>
              </a:pathLst>
            </a:custGeom>
            <a:solidFill>
              <a:srgbClr val="000000"/>
            </a:solidFill>
            <a:ln w="32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23F331F-10D5-CB96-A13B-196DAC974BDD}"/>
                </a:ext>
              </a:extLst>
            </p:cNvPr>
            <p:cNvSpPr/>
            <p:nvPr/>
          </p:nvSpPr>
          <p:spPr>
            <a:xfrm>
              <a:off x="4822100" y="2555228"/>
              <a:ext cx="2529609" cy="1397104"/>
            </a:xfrm>
            <a:custGeom>
              <a:avLst/>
              <a:gdLst>
                <a:gd name="connsiteX0" fmla="*/ 0 w 2529609"/>
                <a:gd name="connsiteY0" fmla="*/ 0 h 1397104"/>
                <a:gd name="connsiteX1" fmla="*/ 2529610 w 2529609"/>
                <a:gd name="connsiteY1" fmla="*/ 0 h 1397104"/>
                <a:gd name="connsiteX2" fmla="*/ 2529610 w 2529609"/>
                <a:gd name="connsiteY2" fmla="*/ 1397104 h 1397104"/>
                <a:gd name="connsiteX3" fmla="*/ 0 w 2529609"/>
                <a:gd name="connsiteY3" fmla="*/ 1397104 h 139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9609" h="1397104">
                  <a:moveTo>
                    <a:pt x="0" y="0"/>
                  </a:moveTo>
                  <a:lnTo>
                    <a:pt x="2529610" y="0"/>
                  </a:lnTo>
                  <a:lnTo>
                    <a:pt x="2529610" y="1397104"/>
                  </a:lnTo>
                  <a:lnTo>
                    <a:pt x="0" y="1397104"/>
                  </a:lnTo>
                  <a:close/>
                </a:path>
              </a:pathLst>
            </a:custGeom>
            <a:solidFill>
              <a:srgbClr val="FFFFFF"/>
            </a:solidFill>
            <a:ln w="32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78332D1-89EA-5E61-4EC2-56F0A5AFE854}"/>
              </a:ext>
            </a:extLst>
          </p:cNvPr>
          <p:cNvSpPr/>
          <p:nvPr/>
        </p:nvSpPr>
        <p:spPr>
          <a:xfrm>
            <a:off x="8520652" y="1075981"/>
            <a:ext cx="3529637" cy="563319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This video describes the use of nested statements.</a:t>
            </a:r>
          </a:p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It assumes you have already watched and are comfortable with the content of the following video, </a:t>
            </a:r>
            <a:r>
              <a:rPr lang="en-GB" i="1" dirty="0">
                <a:solidFill>
                  <a:schemeClr val="tx1"/>
                </a:solidFill>
              </a:rPr>
              <a:t>8.1 The use of the three basic programming constructs.</a:t>
            </a:r>
          </a:p>
          <a:p>
            <a:pPr lvl="1">
              <a:spcAft>
                <a:spcPts val="800"/>
              </a:spcAft>
            </a:pP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CABAAB96-FD41-80CE-A91B-EAC1B287E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45" y="1480670"/>
            <a:ext cx="6505602" cy="3659401"/>
          </a:xfrm>
          <a:prstGeom prst="rect">
            <a:avLst/>
          </a:prstGeom>
        </p:spPr>
      </p:pic>
      <p:pic>
        <p:nvPicPr>
          <p:cNvPr id="12" name="Graphic 11" descr="Play">
            <a:extLst>
              <a:ext uri="{FF2B5EF4-FFF2-40B4-BE49-F238E27FC236}">
                <a16:creationId xmlns:a16="http://schemas.microsoft.com/office/drawing/2014/main" id="{B7E72C7D-F9EA-0F6F-EAC2-9B5BAAB18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5098" y="2711875"/>
            <a:ext cx="1637760" cy="16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431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517631" y="523174"/>
            <a:ext cx="2979723" cy="778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Nested structures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solidFill>
                <a:srgbClr val="008C8C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5DB1509E-63A2-452F-90AD-FBE0467A1CF6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490" y="607667"/>
            <a:ext cx="1088514" cy="1240906"/>
          </a:xfrm>
          <a:prstGeom prst="rect">
            <a:avLst/>
          </a:prstGeom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B663451C-4175-43E6-81EA-BABA7BAFCE3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192" y="393921"/>
            <a:ext cx="1566808" cy="15546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C5A0002-1B9E-421D-8659-3004B18D0C92}"/>
              </a:ext>
            </a:extLst>
          </p:cNvPr>
          <p:cNvSpPr/>
          <p:nvPr/>
        </p:nvSpPr>
        <p:spPr>
          <a:xfrm>
            <a:off x="1250016" y="2879221"/>
            <a:ext cx="3802044" cy="2956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WHILE NotSolved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</a:t>
            </a:r>
            <a:r>
              <a:rPr lang="en-GB" i="1" dirty="0">
                <a:latin typeface="Consolas" panose="020B0609020204030204" pitchFamily="49" charset="0"/>
              </a:rPr>
              <a:t>… instructions here…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FOR i </a:t>
            </a:r>
            <a:r>
              <a:rPr lang="en-GB" dirty="0">
                <a:latin typeface="Wingdings" panose="05000000000000000000" pitchFamily="2" charset="2"/>
              </a:rPr>
              <a:t>ß</a:t>
            </a:r>
            <a:r>
              <a:rPr lang="en-GB" dirty="0">
                <a:latin typeface="Consolas" panose="020B0609020204030204" pitchFamily="49" charset="0"/>
              </a:rPr>
              <a:t> 1 TO 5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   </a:t>
            </a:r>
            <a:r>
              <a:rPr lang="en-GB" i="1" dirty="0">
                <a:latin typeface="Consolas" panose="020B0609020204030204" pitchFamily="49" charset="0"/>
              </a:rPr>
              <a:t>… instructions here…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ENDFOR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</a:t>
            </a:r>
            <a:r>
              <a:rPr lang="en-GB" i="1" dirty="0">
                <a:latin typeface="Consolas" panose="020B0609020204030204" pitchFamily="49" charset="0"/>
              </a:rPr>
              <a:t>… instructions here…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ENDWHILE</a:t>
            </a:r>
          </a:p>
        </p:txBody>
      </p:sp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43692875-0CCF-4725-A238-4EA14F57C0F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149" y="393921"/>
            <a:ext cx="1402202" cy="174360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4FFDAA4-D126-4032-9FDF-8FE06C342990}"/>
              </a:ext>
            </a:extLst>
          </p:cNvPr>
          <p:cNvSpPr/>
          <p:nvPr/>
        </p:nvSpPr>
        <p:spPr>
          <a:xfrm>
            <a:off x="7477344" y="2856260"/>
            <a:ext cx="4066956" cy="3233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IF GameWon </a:t>
            </a:r>
          </a:p>
          <a:p>
            <a:r>
              <a:rPr lang="en-GB" dirty="0">
                <a:latin typeface="Consolas" panose="020B0609020204030204" pitchFamily="49" charset="0"/>
              </a:rPr>
              <a:t> 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… instructions here…</a:t>
            </a:r>
          </a:p>
          <a:p>
            <a:r>
              <a:rPr lang="en-GB" dirty="0">
                <a:latin typeface="Consolas" panose="020B0609020204030204" pitchFamily="49" charset="0"/>
              </a:rPr>
              <a:t>   IF Score &gt; HighScore </a:t>
            </a:r>
          </a:p>
          <a:p>
            <a:r>
              <a:rPr lang="en-GB" dirty="0">
                <a:latin typeface="Consolas" panose="020B0609020204030204" pitchFamily="49" charset="0"/>
              </a:rPr>
              <a:t>    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   … instructions here…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ENDIF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… instructions here…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ENDIF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2AB577-1F12-4184-899D-DB6B95A1CD61}"/>
              </a:ext>
            </a:extLst>
          </p:cNvPr>
          <p:cNvSpPr/>
          <p:nvPr/>
        </p:nvSpPr>
        <p:spPr>
          <a:xfrm>
            <a:off x="1131570" y="2879221"/>
            <a:ext cx="3920490" cy="3087239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19CFCD-8F64-4CBD-9786-312A1C66171E}"/>
              </a:ext>
            </a:extLst>
          </p:cNvPr>
          <p:cNvSpPr/>
          <p:nvPr/>
        </p:nvSpPr>
        <p:spPr>
          <a:xfrm>
            <a:off x="7324944" y="2879221"/>
            <a:ext cx="3920490" cy="3233321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60BFF0-2DAA-4057-BB73-2F4ABA750307}"/>
              </a:ext>
            </a:extLst>
          </p:cNvPr>
          <p:cNvSpPr/>
          <p:nvPr/>
        </p:nvSpPr>
        <p:spPr>
          <a:xfrm>
            <a:off x="1623060" y="3802551"/>
            <a:ext cx="3291840" cy="1203789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E69B0-B98C-4C42-9579-0E2E8E80D761}"/>
              </a:ext>
            </a:extLst>
          </p:cNvPr>
          <p:cNvSpPr/>
          <p:nvPr/>
        </p:nvSpPr>
        <p:spPr>
          <a:xfrm>
            <a:off x="7864902" y="3821600"/>
            <a:ext cx="3291840" cy="141715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EA9F2-F6C1-4501-B2B6-4973EAEC8F1F}"/>
              </a:ext>
            </a:extLst>
          </p:cNvPr>
          <p:cNvSpPr/>
          <p:nvPr/>
        </p:nvSpPr>
        <p:spPr>
          <a:xfrm>
            <a:off x="1517631" y="1025206"/>
            <a:ext cx="53117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Nesting means putting one statement inside another – this can be achieved with iteration and selection statements, or a mix of both.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A1238FAA-BB03-4B56-D6C4-19957855F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56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844707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Nested statement examples using Cambridge IGCSE pseudocode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C4C51-2F0C-B900-DEC5-1B00DF2F395D}"/>
              </a:ext>
            </a:extLst>
          </p:cNvPr>
          <p:cNvSpPr/>
          <p:nvPr/>
        </p:nvSpPr>
        <p:spPr>
          <a:xfrm>
            <a:off x="506425" y="1262446"/>
            <a:ext cx="1076165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IF ChallengerScore &gt; ChampionScore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THEN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IF ChallengerScore &gt; HighestScore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THEN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  OUTPUT ChallengerName, " is champion and highest scorer"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ELSE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  OUTPUT Player1Name, " is the new champion"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ENDIF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ELSE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OUTPUT ChampionName, " is still the champion"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IF ChampionScore &gt; HighestScore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THEN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  OUTPUT ChampionName, " is also the highest scorer"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ENDIF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ENDIF</a:t>
            </a:r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506425" y="1262446"/>
            <a:ext cx="1076165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IF ChallengerScore &gt; ChampionScore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THEN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IF ChallengerScore &gt; HighestScore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THEN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  OUTPUT ChallengerName, " is champion and highest scorer"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ELSE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  OUTPUT Player1Name, " is the new champion"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ENDIF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ELSE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OUTPUT ChampionName, " is still the champion"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IF ChampionScore &gt; HighestScore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THEN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  OUTPUT ChampionName, " is also the highest scorer"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ENDIF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ENDIF</a:t>
            </a:r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844707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Nested statement examples using Cambridge IGCSE pseudocode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8AC0ADB-4393-A451-6C10-780172C5964F}"/>
              </a:ext>
            </a:extLst>
          </p:cNvPr>
          <p:cNvGrpSpPr/>
          <p:nvPr/>
        </p:nvGrpSpPr>
        <p:grpSpPr>
          <a:xfrm>
            <a:off x="134950" y="1262446"/>
            <a:ext cx="8675675" cy="5233604"/>
            <a:chOff x="134950" y="1262446"/>
            <a:chExt cx="8675675" cy="523360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19A7BD3-858A-AFE4-F2C7-912CFF11C1FA}"/>
                </a:ext>
              </a:extLst>
            </p:cNvPr>
            <p:cNvSpPr/>
            <p:nvPr/>
          </p:nvSpPr>
          <p:spPr>
            <a:xfrm>
              <a:off x="506425" y="1262446"/>
              <a:ext cx="8304200" cy="5233604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6258C2A-A218-90B2-90F4-3B992D81E841}"/>
                </a:ext>
              </a:extLst>
            </p:cNvPr>
            <p:cNvSpPr/>
            <p:nvPr/>
          </p:nvSpPr>
          <p:spPr>
            <a:xfrm>
              <a:off x="506425" y="1262446"/>
              <a:ext cx="8304200" cy="663162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B6DD6FA-4767-26F6-51A9-DB518FC9327F}"/>
                </a:ext>
              </a:extLst>
            </p:cNvPr>
            <p:cNvSpPr/>
            <p:nvPr/>
          </p:nvSpPr>
          <p:spPr>
            <a:xfrm>
              <a:off x="506425" y="4058063"/>
              <a:ext cx="8304200" cy="366329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888B50D-54A9-4567-2E8F-BCF3EFF05D5F}"/>
                </a:ext>
              </a:extLst>
            </p:cNvPr>
            <p:cNvSpPr/>
            <p:nvPr/>
          </p:nvSpPr>
          <p:spPr>
            <a:xfrm>
              <a:off x="506425" y="6200775"/>
              <a:ext cx="8304200" cy="295275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4F52C1-A87F-9813-9ED1-967532D39744}"/>
                </a:ext>
              </a:extLst>
            </p:cNvPr>
            <p:cNvSpPr/>
            <p:nvPr/>
          </p:nvSpPr>
          <p:spPr>
            <a:xfrm>
              <a:off x="134950" y="1328944"/>
              <a:ext cx="314325" cy="3143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FC62AFC-1CAF-E77C-48FD-7F262862C5AD}"/>
                </a:ext>
              </a:extLst>
            </p:cNvPr>
            <p:cNvCxnSpPr>
              <a:cxnSpLocks/>
            </p:cNvCxnSpPr>
            <p:nvPr/>
          </p:nvCxnSpPr>
          <p:spPr>
            <a:xfrm>
              <a:off x="292698" y="1494044"/>
              <a:ext cx="0" cy="2782681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7EEC74F-6119-CACF-007F-295088B395B7}"/>
                </a:ext>
              </a:extLst>
            </p:cNvPr>
            <p:cNvCxnSpPr>
              <a:cxnSpLocks/>
            </p:cNvCxnSpPr>
            <p:nvPr/>
          </p:nvCxnSpPr>
          <p:spPr>
            <a:xfrm>
              <a:off x="299048" y="1789319"/>
              <a:ext cx="5375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1BDB5A0-31A0-1695-07F3-CAC2ABC8134A}"/>
                </a:ext>
              </a:extLst>
            </p:cNvPr>
            <p:cNvCxnSpPr>
              <a:cxnSpLocks/>
            </p:cNvCxnSpPr>
            <p:nvPr/>
          </p:nvCxnSpPr>
          <p:spPr>
            <a:xfrm>
              <a:off x="283173" y="4256294"/>
              <a:ext cx="5375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26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506425" y="1262446"/>
            <a:ext cx="1076165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IF ChallengerScore &gt; ChampionScore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THEN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IF ChallengerScore &gt; HighestScore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THEN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  OUTPUT ChallengerName, " is champion and highest scorer"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ELSE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  OUTPUT Player1Name, " is the new champion"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ENDIF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ELSE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OUTPUT ChampionName, " is still the champion"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IF ChampionScore &gt; HighestScore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THEN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    OUTPUT ChampionName, " is also the highest scorer"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    ENDIF</a:t>
            </a:r>
          </a:p>
          <a:p>
            <a:pPr algn="l">
              <a:spcAft>
                <a:spcPts val="600"/>
              </a:spcAft>
            </a:pPr>
            <a:r>
              <a:rPr lang="en-GB" sz="1800" b="0" i="0" u="none" strike="noStrike" baseline="0" dirty="0">
                <a:latin typeface="Consolas" panose="020B0609020204030204" pitchFamily="49" charset="0"/>
              </a:rPr>
              <a:t>ENDIF</a:t>
            </a:r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844707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Nested statement examples using Cambridge IGCSE pseudocode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9A7BD3-858A-AFE4-F2C7-912CFF11C1FA}"/>
              </a:ext>
            </a:extLst>
          </p:cNvPr>
          <p:cNvSpPr/>
          <p:nvPr/>
        </p:nvSpPr>
        <p:spPr>
          <a:xfrm>
            <a:off x="506425" y="1262446"/>
            <a:ext cx="8304200" cy="523360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58C2A-A218-90B2-90F4-3B992D81E841}"/>
              </a:ext>
            </a:extLst>
          </p:cNvPr>
          <p:cNvSpPr/>
          <p:nvPr/>
        </p:nvSpPr>
        <p:spPr>
          <a:xfrm>
            <a:off x="506425" y="1262446"/>
            <a:ext cx="8304200" cy="663162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6DD6FA-4767-26F6-51A9-DB518FC9327F}"/>
              </a:ext>
            </a:extLst>
          </p:cNvPr>
          <p:cNvSpPr/>
          <p:nvPr/>
        </p:nvSpPr>
        <p:spPr>
          <a:xfrm>
            <a:off x="506425" y="4058063"/>
            <a:ext cx="8304200" cy="366329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88B50D-54A9-4567-2E8F-BCF3EFF05D5F}"/>
              </a:ext>
            </a:extLst>
          </p:cNvPr>
          <p:cNvSpPr/>
          <p:nvPr/>
        </p:nvSpPr>
        <p:spPr>
          <a:xfrm>
            <a:off x="506425" y="6200776"/>
            <a:ext cx="8304200" cy="295274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4F52C1-A87F-9813-9ED1-967532D39744}"/>
              </a:ext>
            </a:extLst>
          </p:cNvPr>
          <p:cNvSpPr/>
          <p:nvPr/>
        </p:nvSpPr>
        <p:spPr>
          <a:xfrm>
            <a:off x="134950" y="1328944"/>
            <a:ext cx="314325" cy="3143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C62AFC-1CAF-E77C-48FD-7F262862C5AD}"/>
              </a:ext>
            </a:extLst>
          </p:cNvPr>
          <p:cNvCxnSpPr>
            <a:cxnSpLocks/>
          </p:cNvCxnSpPr>
          <p:nvPr/>
        </p:nvCxnSpPr>
        <p:spPr>
          <a:xfrm>
            <a:off x="292698" y="1494044"/>
            <a:ext cx="0" cy="278268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EEC74F-6119-CACF-007F-295088B395B7}"/>
              </a:ext>
            </a:extLst>
          </p:cNvPr>
          <p:cNvCxnSpPr>
            <a:cxnSpLocks/>
          </p:cNvCxnSpPr>
          <p:nvPr/>
        </p:nvCxnSpPr>
        <p:spPr>
          <a:xfrm>
            <a:off x="299048" y="1789319"/>
            <a:ext cx="537577" cy="0"/>
          </a:xfrm>
          <a:prstGeom prst="line">
            <a:avLst/>
          </a:prstGeom>
          <a:ln w="76200"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BDB5A0-31A0-1695-07F3-CAC2ABC8134A}"/>
              </a:ext>
            </a:extLst>
          </p:cNvPr>
          <p:cNvCxnSpPr>
            <a:cxnSpLocks/>
          </p:cNvCxnSpPr>
          <p:nvPr/>
        </p:nvCxnSpPr>
        <p:spPr>
          <a:xfrm>
            <a:off x="283173" y="4256294"/>
            <a:ext cx="537577" cy="0"/>
          </a:xfrm>
          <a:prstGeom prst="line">
            <a:avLst/>
          </a:prstGeom>
          <a:ln w="76200">
            <a:solidFill>
              <a:srgbClr val="C00000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C775A60-DD09-430B-C2BE-79981C4173AB}"/>
              </a:ext>
            </a:extLst>
          </p:cNvPr>
          <p:cNvGrpSpPr/>
          <p:nvPr/>
        </p:nvGrpSpPr>
        <p:grpSpPr>
          <a:xfrm>
            <a:off x="650302" y="1962150"/>
            <a:ext cx="8017448" cy="2057813"/>
            <a:chOff x="650302" y="1962150"/>
            <a:chExt cx="8017448" cy="205781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6EF51BC-42A1-C61A-25B1-0BA0F8B89DFE}"/>
                </a:ext>
              </a:extLst>
            </p:cNvPr>
            <p:cNvGrpSpPr/>
            <p:nvPr/>
          </p:nvGrpSpPr>
          <p:grpSpPr>
            <a:xfrm>
              <a:off x="1028125" y="1962150"/>
              <a:ext cx="7639625" cy="2057813"/>
              <a:chOff x="1028125" y="1962150"/>
              <a:chExt cx="7639625" cy="2057813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AC39189-6081-90DC-C751-82EB6F2D14C9}"/>
                  </a:ext>
                </a:extLst>
              </p:cNvPr>
              <p:cNvSpPr/>
              <p:nvPr/>
            </p:nvSpPr>
            <p:spPr>
              <a:xfrm>
                <a:off x="1028127" y="1962150"/>
                <a:ext cx="7639623" cy="2057813"/>
              </a:xfrm>
              <a:prstGeom prst="rect">
                <a:avLst/>
              </a:prstGeom>
              <a:noFill/>
              <a:ln w="28575"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939ACFC-D71C-C21E-C16A-261C5055A0BE}"/>
                  </a:ext>
                </a:extLst>
              </p:cNvPr>
              <p:cNvSpPr/>
              <p:nvPr/>
            </p:nvSpPr>
            <p:spPr>
              <a:xfrm>
                <a:off x="1028126" y="1962150"/>
                <a:ext cx="7639623" cy="663162"/>
              </a:xfrm>
              <a:prstGeom prst="rect">
                <a:avLst/>
              </a:pr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1ED0B02-E8EF-0C24-2FE0-86FC67891589}"/>
                  </a:ext>
                </a:extLst>
              </p:cNvPr>
              <p:cNvSpPr/>
              <p:nvPr/>
            </p:nvSpPr>
            <p:spPr>
              <a:xfrm>
                <a:off x="1028125" y="3044270"/>
                <a:ext cx="7639623" cy="314089"/>
              </a:xfrm>
              <a:prstGeom prst="rect">
                <a:avLst/>
              </a:pr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1D00E4D-01D1-63CB-372E-FE354C0C0252}"/>
                  </a:ext>
                </a:extLst>
              </p:cNvPr>
              <p:cNvSpPr/>
              <p:nvPr/>
            </p:nvSpPr>
            <p:spPr>
              <a:xfrm>
                <a:off x="1028125" y="3705874"/>
                <a:ext cx="7639623" cy="314089"/>
              </a:xfrm>
              <a:prstGeom prst="rect">
                <a:avLst/>
              </a:pr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56FB24B-D0A0-6A89-247E-34DC4B843B17}"/>
                </a:ext>
              </a:extLst>
            </p:cNvPr>
            <p:cNvSpPr/>
            <p:nvPr/>
          </p:nvSpPr>
          <p:spPr>
            <a:xfrm>
              <a:off x="650302" y="2042788"/>
              <a:ext cx="314325" cy="3143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29486CB-F51E-AAD4-C36B-FD626C21BD93}"/>
                </a:ext>
              </a:extLst>
            </p:cNvPr>
            <p:cNvCxnSpPr>
              <a:cxnSpLocks/>
            </p:cNvCxnSpPr>
            <p:nvPr/>
          </p:nvCxnSpPr>
          <p:spPr>
            <a:xfrm>
              <a:off x="808050" y="2207888"/>
              <a:ext cx="0" cy="1049662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8493025-F723-6CFD-8FE8-AD2A9D2BD11D}"/>
                </a:ext>
              </a:extLst>
            </p:cNvPr>
            <p:cNvCxnSpPr>
              <a:cxnSpLocks/>
            </p:cNvCxnSpPr>
            <p:nvPr/>
          </p:nvCxnSpPr>
          <p:spPr>
            <a:xfrm>
              <a:off x="814400" y="2503163"/>
              <a:ext cx="5375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53A55BE-F1AB-EAB2-082E-DAA13286728A}"/>
                </a:ext>
              </a:extLst>
            </p:cNvPr>
            <p:cNvCxnSpPr>
              <a:cxnSpLocks/>
            </p:cNvCxnSpPr>
            <p:nvPr/>
          </p:nvCxnSpPr>
          <p:spPr>
            <a:xfrm>
              <a:off x="808050" y="3188963"/>
              <a:ext cx="5375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37B6ED-E467-E826-BFDB-F610129887D3}"/>
              </a:ext>
            </a:extLst>
          </p:cNvPr>
          <p:cNvGrpSpPr/>
          <p:nvPr/>
        </p:nvGrpSpPr>
        <p:grpSpPr>
          <a:xfrm>
            <a:off x="659827" y="4785752"/>
            <a:ext cx="8007921" cy="1358109"/>
            <a:chOff x="659827" y="4785752"/>
            <a:chExt cx="8007921" cy="135810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FB4E27C-DD03-8F36-C908-AEB01A09E6BD}"/>
                </a:ext>
              </a:extLst>
            </p:cNvPr>
            <p:cNvSpPr/>
            <p:nvPr/>
          </p:nvSpPr>
          <p:spPr>
            <a:xfrm>
              <a:off x="1028123" y="5829772"/>
              <a:ext cx="7639623" cy="314089"/>
            </a:xfrm>
            <a:prstGeom prst="rect">
              <a:avLst/>
            </a:prstGeom>
            <a:solidFill>
              <a:schemeClr val="accent4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0B25376-EEF7-3799-6645-7F5A3CDEEFBB}"/>
                </a:ext>
              </a:extLst>
            </p:cNvPr>
            <p:cNvGrpSpPr/>
            <p:nvPr/>
          </p:nvGrpSpPr>
          <p:grpSpPr>
            <a:xfrm>
              <a:off x="659827" y="4785752"/>
              <a:ext cx="8007921" cy="1343969"/>
              <a:chOff x="659827" y="4785752"/>
              <a:chExt cx="8007921" cy="1343969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B6CA214-8A7D-4AE3-DB7D-F98EC7120538}"/>
                  </a:ext>
                </a:extLst>
              </p:cNvPr>
              <p:cNvSpPr/>
              <p:nvPr/>
            </p:nvSpPr>
            <p:spPr>
              <a:xfrm>
                <a:off x="1028125" y="4785752"/>
                <a:ext cx="7639623" cy="1343969"/>
              </a:xfrm>
              <a:prstGeom prst="rect">
                <a:avLst/>
              </a:prstGeom>
              <a:noFill/>
              <a:ln w="28575">
                <a:solidFill>
                  <a:schemeClr val="accent4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119171BE-7AB6-8A49-9C0B-2E9CF49A1EBC}"/>
                  </a:ext>
                </a:extLst>
              </p:cNvPr>
              <p:cNvGrpSpPr/>
              <p:nvPr/>
            </p:nvGrpSpPr>
            <p:grpSpPr>
              <a:xfrm>
                <a:off x="659827" y="4785752"/>
                <a:ext cx="8007920" cy="663162"/>
                <a:chOff x="659827" y="4785752"/>
                <a:chExt cx="8007920" cy="663162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61ECA21-D663-F099-8429-C028A3CFCE83}"/>
                    </a:ext>
                  </a:extLst>
                </p:cNvPr>
                <p:cNvSpPr/>
                <p:nvPr/>
              </p:nvSpPr>
              <p:spPr>
                <a:xfrm>
                  <a:off x="1028124" y="4785752"/>
                  <a:ext cx="7639623" cy="663162"/>
                </a:xfrm>
                <a:prstGeom prst="rect">
                  <a:avLst/>
                </a:prstGeom>
                <a:solidFill>
                  <a:schemeClr val="accent4"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C6C0E06F-53DF-6745-F8E8-319BECAA7E60}"/>
                    </a:ext>
                  </a:extLst>
                </p:cNvPr>
                <p:cNvSpPr/>
                <p:nvPr/>
              </p:nvSpPr>
              <p:spPr>
                <a:xfrm>
                  <a:off x="659827" y="4831806"/>
                  <a:ext cx="314325" cy="3143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72ECE863-E128-8785-986E-4B908667F9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7575" y="4996906"/>
                  <a:ext cx="0" cy="295275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0655E61F-00D4-7E09-4F9E-DAEE6F8C79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3925" y="5292181"/>
                  <a:ext cx="537577" cy="0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  <a:headEnd type="diamond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76875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844707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Nested statement examples using Cambridge IGCSE pseudocode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C4C51-2F0C-B900-DEC5-1B00DF2F395D}"/>
              </a:ext>
            </a:extLst>
          </p:cNvPr>
          <p:cNvSpPr/>
          <p:nvPr/>
        </p:nvSpPr>
        <p:spPr>
          <a:xfrm>
            <a:off x="515950" y="2158588"/>
            <a:ext cx="4656125" cy="2540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FOR Table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1 TO 12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FOR N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1 TO 12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    Answer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Tables * 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     OUTPUT Answer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 NEXT N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NEXT Table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58E467-0FCF-751A-5CBC-D46EA507080D}"/>
              </a:ext>
            </a:extLst>
          </p:cNvPr>
          <p:cNvSpPr/>
          <p:nvPr/>
        </p:nvSpPr>
        <p:spPr>
          <a:xfrm>
            <a:off x="220675" y="1052896"/>
            <a:ext cx="11466500" cy="1025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we see an example of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loop nested inside another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loop.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simple program displays all the multiplication tables between 1 and 12.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6188C24-A68C-9A1E-F91A-E348B388399F}"/>
              </a:ext>
            </a:extLst>
          </p:cNvPr>
          <p:cNvGrpSpPr/>
          <p:nvPr/>
        </p:nvGrpSpPr>
        <p:grpSpPr>
          <a:xfrm>
            <a:off x="496900" y="2266950"/>
            <a:ext cx="5726599" cy="2371725"/>
            <a:chOff x="496900" y="2266950"/>
            <a:chExt cx="5726599" cy="237172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2D2663-836A-94DB-0C0B-1D801AEEBD01}"/>
                </a:ext>
              </a:extLst>
            </p:cNvPr>
            <p:cNvSpPr/>
            <p:nvPr/>
          </p:nvSpPr>
          <p:spPr>
            <a:xfrm>
              <a:off x="506425" y="2266950"/>
              <a:ext cx="5160950" cy="2362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78D803A-F968-E806-A135-32E7497940EE}"/>
                </a:ext>
              </a:extLst>
            </p:cNvPr>
            <p:cNvSpPr/>
            <p:nvPr/>
          </p:nvSpPr>
          <p:spPr>
            <a:xfrm>
              <a:off x="515950" y="2266950"/>
              <a:ext cx="5151425" cy="285750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564103-A939-BCA6-327A-36998D0497D5}"/>
                </a:ext>
              </a:extLst>
            </p:cNvPr>
            <p:cNvSpPr/>
            <p:nvPr/>
          </p:nvSpPr>
          <p:spPr>
            <a:xfrm>
              <a:off x="496900" y="4352925"/>
              <a:ext cx="5170475" cy="285750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11F72E-CDA9-608B-5C1A-1F0AB7A1A19E}"/>
                </a:ext>
              </a:extLst>
            </p:cNvPr>
            <p:cNvCxnSpPr>
              <a:cxnSpLocks/>
            </p:cNvCxnSpPr>
            <p:nvPr/>
          </p:nvCxnSpPr>
          <p:spPr>
            <a:xfrm>
              <a:off x="6223499" y="2413158"/>
              <a:ext cx="0" cy="2074548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7EC0366-56D4-3831-9C8A-A79FFAACC5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80574" y="2413158"/>
              <a:ext cx="5375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EF11F31-D940-F238-99D1-87E6AA6C34F2}"/>
                </a:ext>
              </a:extLst>
            </p:cNvPr>
            <p:cNvCxnSpPr>
              <a:cxnSpLocks/>
            </p:cNvCxnSpPr>
            <p:nvPr/>
          </p:nvCxnSpPr>
          <p:spPr>
            <a:xfrm>
              <a:off x="5794874" y="4459131"/>
              <a:ext cx="4232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EA6F1F-01B2-D1C1-E599-C6B94E32332F}"/>
              </a:ext>
            </a:extLst>
          </p:cNvPr>
          <p:cNvGrpSpPr/>
          <p:nvPr/>
        </p:nvGrpSpPr>
        <p:grpSpPr>
          <a:xfrm>
            <a:off x="1057201" y="2703882"/>
            <a:ext cx="3699448" cy="1496643"/>
            <a:chOff x="1057201" y="2703882"/>
            <a:chExt cx="3699448" cy="149664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E32EDA-713C-CD12-875D-FBC8AA557900}"/>
                </a:ext>
              </a:extLst>
            </p:cNvPr>
            <p:cNvSpPr/>
            <p:nvPr/>
          </p:nvSpPr>
          <p:spPr>
            <a:xfrm>
              <a:off x="1057201" y="2703882"/>
              <a:ext cx="3143324" cy="1496643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3B5EDD5-C723-88F1-1174-ECD9D34F65C2}"/>
                </a:ext>
              </a:extLst>
            </p:cNvPr>
            <p:cNvSpPr/>
            <p:nvPr/>
          </p:nvSpPr>
          <p:spPr>
            <a:xfrm>
              <a:off x="1077424" y="2703882"/>
              <a:ext cx="3142152" cy="285750"/>
            </a:xfrm>
            <a:prstGeom prst="rect">
              <a:avLst/>
            </a:prstGeom>
            <a:solidFill>
              <a:schemeClr val="accent4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EB56AF1-9581-AEB1-2EDF-C32909E5502D}"/>
                </a:ext>
              </a:extLst>
            </p:cNvPr>
            <p:cNvSpPr/>
            <p:nvPr/>
          </p:nvSpPr>
          <p:spPr>
            <a:xfrm>
              <a:off x="1067898" y="3914775"/>
              <a:ext cx="3142152" cy="285750"/>
            </a:xfrm>
            <a:prstGeom prst="rect">
              <a:avLst/>
            </a:prstGeom>
            <a:solidFill>
              <a:schemeClr val="accent4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B05A3ED-D3DA-8BDF-48EA-CE5DC7C40E7D}"/>
                </a:ext>
              </a:extLst>
            </p:cNvPr>
            <p:cNvCxnSpPr>
              <a:cxnSpLocks/>
            </p:cNvCxnSpPr>
            <p:nvPr/>
          </p:nvCxnSpPr>
          <p:spPr>
            <a:xfrm>
              <a:off x="4756649" y="2840352"/>
              <a:ext cx="0" cy="1236348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27A0D72-28FA-D517-097D-F60BB8BBB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3724" y="2840352"/>
              <a:ext cx="5375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AF8F710-7E0F-2B4E-5866-9385132256D9}"/>
                </a:ext>
              </a:extLst>
            </p:cNvPr>
            <p:cNvCxnSpPr>
              <a:cxnSpLocks/>
            </p:cNvCxnSpPr>
            <p:nvPr/>
          </p:nvCxnSpPr>
          <p:spPr>
            <a:xfrm>
              <a:off x="4328024" y="4048125"/>
              <a:ext cx="4232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120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844707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Nested statement examples using Cambridge IGCSE pseudocode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C4C51-2F0C-B900-DEC5-1B00DF2F395D}"/>
              </a:ext>
            </a:extLst>
          </p:cNvPr>
          <p:cNvSpPr/>
          <p:nvPr/>
        </p:nvSpPr>
        <p:spPr>
          <a:xfrm>
            <a:off x="515949" y="2387188"/>
            <a:ext cx="5770549" cy="4202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FOR Table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1 TO 12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FOR N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1 TO 12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     IF Table = 12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      THEN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         OUTPUT </a:t>
            </a:r>
            <a:r>
              <a:rPr lang="en-GB" sz="1800" b="0" i="0" u="none" strike="noStrike" baseline="0" dirty="0">
                <a:latin typeface="Consolas" panose="020B0609020204030204" pitchFamily="49" charset="0"/>
              </a:rPr>
              <a:t>"</a:t>
            </a:r>
            <a:r>
              <a:rPr lang="en-GB" dirty="0">
                <a:latin typeface="Consolas" panose="020B0609020204030204" pitchFamily="49" charset="0"/>
              </a:rPr>
              <a:t>Final set of tables</a:t>
            </a:r>
            <a:r>
              <a:rPr lang="en-GB" sz="1800" b="0" i="0" u="none" strike="noStrike" baseline="0" dirty="0">
                <a:latin typeface="Consolas" panose="020B0609020204030204" pitchFamily="49" charset="0"/>
              </a:rPr>
              <a:t>"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     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ENDIF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    Answer </a:t>
            </a:r>
            <a:r>
              <a:rPr lang="en-GB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Tables * 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     OUTPUT Answer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nsolas" panose="020B0609020204030204" pitchFamily="49" charset="0"/>
              </a:rPr>
              <a:t>    NEXT N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NEXT Table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58E467-0FCF-751A-5CBC-D46EA507080D}"/>
              </a:ext>
            </a:extLst>
          </p:cNvPr>
          <p:cNvSpPr/>
          <p:nvPr/>
        </p:nvSpPr>
        <p:spPr>
          <a:xfrm>
            <a:off x="220675" y="1052896"/>
            <a:ext cx="11466500" cy="1025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Although you can nest statements within statements to many levels, you will not be expected to write more than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most complex nest statement in the exam will be something like the following example: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D9F71E8-E1B7-DC00-B0E2-DC2D49714CC4}"/>
              </a:ext>
            </a:extLst>
          </p:cNvPr>
          <p:cNvGrpSpPr/>
          <p:nvPr/>
        </p:nvGrpSpPr>
        <p:grpSpPr>
          <a:xfrm>
            <a:off x="520674" y="2511174"/>
            <a:ext cx="6785001" cy="3994402"/>
            <a:chOff x="520674" y="2511174"/>
            <a:chExt cx="6785001" cy="399440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2D2663-836A-94DB-0C0B-1D801AEEBD01}"/>
                </a:ext>
              </a:extLst>
            </p:cNvPr>
            <p:cNvSpPr/>
            <p:nvPr/>
          </p:nvSpPr>
          <p:spPr>
            <a:xfrm>
              <a:off x="530199" y="2511174"/>
              <a:ext cx="6203976" cy="399440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78D803A-F968-E806-A135-32E7497940EE}"/>
                </a:ext>
              </a:extLst>
            </p:cNvPr>
            <p:cNvSpPr/>
            <p:nvPr/>
          </p:nvSpPr>
          <p:spPr>
            <a:xfrm>
              <a:off x="539725" y="2511174"/>
              <a:ext cx="6203976" cy="285750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564103-A939-BCA6-327A-36998D0497D5}"/>
                </a:ext>
              </a:extLst>
            </p:cNvPr>
            <p:cNvSpPr/>
            <p:nvPr/>
          </p:nvSpPr>
          <p:spPr>
            <a:xfrm>
              <a:off x="520674" y="6219823"/>
              <a:ext cx="6223026" cy="285751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11F72E-CDA9-608B-5C1A-1F0AB7A1A19E}"/>
                </a:ext>
              </a:extLst>
            </p:cNvPr>
            <p:cNvCxnSpPr>
              <a:cxnSpLocks/>
            </p:cNvCxnSpPr>
            <p:nvPr/>
          </p:nvCxnSpPr>
          <p:spPr>
            <a:xfrm>
              <a:off x="7305675" y="2654049"/>
              <a:ext cx="0" cy="3703323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7EC0366-56D4-3831-9C8A-A79FFAACC5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2750" y="2654049"/>
              <a:ext cx="5375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EF11F31-D940-F238-99D1-87E6AA6C34F2}"/>
                </a:ext>
              </a:extLst>
            </p:cNvPr>
            <p:cNvCxnSpPr>
              <a:cxnSpLocks/>
            </p:cNvCxnSpPr>
            <p:nvPr/>
          </p:nvCxnSpPr>
          <p:spPr>
            <a:xfrm>
              <a:off x="6877050" y="6357372"/>
              <a:ext cx="4232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750995-6F0A-C8C7-90D8-05D7436164FF}"/>
              </a:ext>
            </a:extLst>
          </p:cNvPr>
          <p:cNvGrpSpPr/>
          <p:nvPr/>
        </p:nvGrpSpPr>
        <p:grpSpPr>
          <a:xfrm>
            <a:off x="1045525" y="2949485"/>
            <a:ext cx="5212397" cy="3125418"/>
            <a:chOff x="1045525" y="2949485"/>
            <a:chExt cx="5212397" cy="312541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E32EDA-713C-CD12-875D-FBC8AA557900}"/>
                </a:ext>
              </a:extLst>
            </p:cNvPr>
            <p:cNvSpPr/>
            <p:nvPr/>
          </p:nvSpPr>
          <p:spPr>
            <a:xfrm>
              <a:off x="1045525" y="2949485"/>
              <a:ext cx="4659949" cy="3117940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3B5EDD5-C723-88F1-1174-ECD9D34F65C2}"/>
                </a:ext>
              </a:extLst>
            </p:cNvPr>
            <p:cNvSpPr/>
            <p:nvPr/>
          </p:nvSpPr>
          <p:spPr>
            <a:xfrm>
              <a:off x="1065748" y="2949485"/>
              <a:ext cx="4639725" cy="285750"/>
            </a:xfrm>
            <a:prstGeom prst="rect">
              <a:avLst/>
            </a:prstGeom>
            <a:solidFill>
              <a:schemeClr val="accent4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EB56AF1-9581-AEB1-2EDF-C32909E5502D}"/>
                </a:ext>
              </a:extLst>
            </p:cNvPr>
            <p:cNvSpPr/>
            <p:nvPr/>
          </p:nvSpPr>
          <p:spPr>
            <a:xfrm>
              <a:off x="1056222" y="5789153"/>
              <a:ext cx="4639725" cy="285750"/>
            </a:xfrm>
            <a:prstGeom prst="rect">
              <a:avLst/>
            </a:prstGeom>
            <a:solidFill>
              <a:schemeClr val="accent4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B05A3ED-D3DA-8BDF-48EA-CE5DC7C40E7D}"/>
                </a:ext>
              </a:extLst>
            </p:cNvPr>
            <p:cNvCxnSpPr>
              <a:cxnSpLocks/>
            </p:cNvCxnSpPr>
            <p:nvPr/>
          </p:nvCxnSpPr>
          <p:spPr>
            <a:xfrm>
              <a:off x="6257922" y="3138675"/>
              <a:ext cx="0" cy="2779398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27A0D72-28FA-D517-097D-F60BB8BBB5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4997" y="3138675"/>
              <a:ext cx="5375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AF8F710-7E0F-2B4E-5866-9385132256D9}"/>
                </a:ext>
              </a:extLst>
            </p:cNvPr>
            <p:cNvCxnSpPr>
              <a:cxnSpLocks/>
            </p:cNvCxnSpPr>
            <p:nvPr/>
          </p:nvCxnSpPr>
          <p:spPr>
            <a:xfrm>
              <a:off x="5829297" y="5918073"/>
              <a:ext cx="4232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07AFF37-BA70-CCBF-7039-DA68D49020D6}"/>
              </a:ext>
            </a:extLst>
          </p:cNvPr>
          <p:cNvGrpSpPr/>
          <p:nvPr/>
        </p:nvGrpSpPr>
        <p:grpSpPr>
          <a:xfrm>
            <a:off x="1166292" y="3359058"/>
            <a:ext cx="4443933" cy="1496643"/>
            <a:chOff x="1166292" y="3359058"/>
            <a:chExt cx="4443933" cy="149664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A30A212-D742-9580-A7C0-B3D7FB4AEFE2}"/>
                </a:ext>
              </a:extLst>
            </p:cNvPr>
            <p:cNvSpPr/>
            <p:nvPr/>
          </p:nvSpPr>
          <p:spPr>
            <a:xfrm>
              <a:off x="1560895" y="3359058"/>
              <a:ext cx="4049330" cy="1496643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FC5D66E-242F-13AD-A136-75136B047140}"/>
                </a:ext>
              </a:extLst>
            </p:cNvPr>
            <p:cNvSpPr/>
            <p:nvPr/>
          </p:nvSpPr>
          <p:spPr>
            <a:xfrm>
              <a:off x="1581117" y="3359058"/>
              <a:ext cx="4029107" cy="285750"/>
            </a:xfrm>
            <a:prstGeom prst="rect">
              <a:avLst/>
            </a:prstGeom>
            <a:solidFill>
              <a:srgbClr val="C0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0B3DD8B-A276-B1DC-0B30-AE667BA052FB}"/>
                </a:ext>
              </a:extLst>
            </p:cNvPr>
            <p:cNvSpPr/>
            <p:nvPr/>
          </p:nvSpPr>
          <p:spPr>
            <a:xfrm>
              <a:off x="1571591" y="4569951"/>
              <a:ext cx="4029107" cy="285750"/>
            </a:xfrm>
            <a:prstGeom prst="rect">
              <a:avLst/>
            </a:prstGeom>
            <a:solidFill>
              <a:srgbClr val="C0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6D702F4-0299-7B2D-7CDA-0FA9723D4F48}"/>
                </a:ext>
              </a:extLst>
            </p:cNvPr>
            <p:cNvSpPr/>
            <p:nvPr/>
          </p:nvSpPr>
          <p:spPr>
            <a:xfrm>
              <a:off x="1166292" y="3390900"/>
              <a:ext cx="314325" cy="31432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0DA09B7-BC5B-5489-45E8-6B0B32EEE5C3}"/>
                </a:ext>
              </a:extLst>
            </p:cNvPr>
            <p:cNvCxnSpPr>
              <a:cxnSpLocks/>
            </p:cNvCxnSpPr>
            <p:nvPr/>
          </p:nvCxnSpPr>
          <p:spPr>
            <a:xfrm>
              <a:off x="1324040" y="3594100"/>
              <a:ext cx="0" cy="295275"/>
            </a:xfrm>
            <a:prstGeom prst="line">
              <a:avLst/>
            </a:prstGeom>
            <a:ln w="762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4A09C17-1EB1-85C1-02BD-75E19330FEA6}"/>
                </a:ext>
              </a:extLst>
            </p:cNvPr>
            <p:cNvCxnSpPr>
              <a:cxnSpLocks/>
            </p:cNvCxnSpPr>
            <p:nvPr/>
          </p:nvCxnSpPr>
          <p:spPr>
            <a:xfrm>
              <a:off x="1330390" y="3889375"/>
              <a:ext cx="537577" cy="0"/>
            </a:xfrm>
            <a:prstGeom prst="line">
              <a:avLst/>
            </a:prstGeom>
            <a:ln w="76200">
              <a:solidFill>
                <a:srgbClr val="C00000"/>
              </a:solidFill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78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513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172</cp:revision>
  <dcterms:created xsi:type="dcterms:W3CDTF">2019-10-14T15:21:06Z</dcterms:created>
  <dcterms:modified xsi:type="dcterms:W3CDTF">2022-09-01T10:08:56Z</dcterms:modified>
</cp:coreProperties>
</file>