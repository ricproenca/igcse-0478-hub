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7" r:id="rId2"/>
    <p:sldId id="266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76" r:id="rId11"/>
    <p:sldId id="265" r:id="rId12"/>
    <p:sldId id="277" r:id="rId13"/>
    <p:sldId id="278" r:id="rId14"/>
    <p:sldId id="279" r:id="rId15"/>
    <p:sldId id="263" r:id="rId16"/>
    <p:sldId id="33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6521"/>
    <a:srgbClr val="FFFFFF"/>
    <a:srgbClr val="0087B1"/>
    <a:srgbClr val="000956"/>
    <a:srgbClr val="99E265"/>
    <a:srgbClr val="008C8C"/>
    <a:srgbClr val="00B2B2"/>
    <a:srgbClr val="26C9FF"/>
    <a:srgbClr val="7CD0DA"/>
    <a:srgbClr val="197D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298" autoAdjust="0"/>
    <p:restoredTop sz="94694"/>
  </p:normalViewPr>
  <p:slideViewPr>
    <p:cSldViewPr snapToGrid="0">
      <p:cViewPr varScale="1">
        <p:scale>
          <a:sx n="101" d="100"/>
          <a:sy n="101" d="100"/>
        </p:scale>
        <p:origin x="1188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40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A54553-2A3F-4C94-AA62-ABFC40E07E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996737-DD0F-4016-9F43-1C3C116716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E11316-EC54-4B9D-B716-15D72C7F09B1}" type="datetimeFigureOut">
              <a:rPr lang="en-GB" smtClean="0"/>
              <a:t>01/09/2022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7A745F-1972-497D-8174-B5868433DF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CE6AC0-619C-486F-A045-23AE3DF3E3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3CFB52-3982-4249-B609-86D9E88836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51636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01D13-C50D-4862-A50B-4E5D0E7CA144}" type="datetimeFigureOut">
              <a:rPr lang="en-GB" smtClean="0"/>
              <a:t>01/09/2022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E031B-FEB2-4221-8849-89831B3F110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7644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835B4C-A5D2-42F9-926E-BF278F6D2519}" type="slidenum">
              <a:rPr lang="en-GB" smtClean="0"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864753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835B4C-A5D2-42F9-926E-BF278F6D2519}" type="slidenum">
              <a:rPr lang="en-GB" smtClean="0"/>
              <a:t>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065424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67369-A355-4D19-AEEC-9D0100EF3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924699-1673-40E6-9241-180D779421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BE935-35F7-402A-9F4D-C68B29248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01/09/2022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D7A12-EBDB-45B0-9FF5-F17A7EF67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C7090-3E02-4EBA-95BB-2F3FF45C1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8429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77CF4-093B-4C66-A107-491AFAE19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249AB-C9F4-4A3F-A472-C5FDCF3AA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A491B-E55E-4F96-A0A2-08ABE8538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01/09/2022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EE9C3-3BD7-499C-9C8F-E914AF0CC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A0F2C-BB77-4D20-BD01-009748E06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3006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EAB41-C5F4-4F77-8A5C-14CA38A3E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C5B807-A41F-4934-B9B5-F06B7FECF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A9AEC-9ECF-4105-84CF-CCC301ADB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01/09/2022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A81FA-05E8-4A50-9FC5-A94F3634C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13BE1-EE3A-45AF-BF76-41B86D070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0735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01685-8ECA-46F3-BC78-B8E4D43D8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252D3-EA14-47C6-8BDF-B549E97DE4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FA317-5ECF-4693-88DD-BCA7EC391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CCA0AA-2226-49B9-8142-4F45D8CE6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01/09/2022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F340D-9456-43F7-A764-CBD130EF6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2910B-6BBA-4043-8CD2-7AE056F14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0604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960B3-16E7-4811-A5F8-83614659A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B62EE-BCB8-429D-BB6F-89DF9F3EA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4AD67-4C0E-484D-B7FF-FB976A1710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D7660E-8B38-43A5-A48D-A4523AA03A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7EFE82-A3BC-42B8-9F71-5C3C1ADD41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BD8DB3-F688-4AB2-AAFC-0E5E7F2EB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01/09/2022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8F70DA-1B40-4425-B025-A8D06411A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95CE6D-8A51-4013-A622-D11EFBB72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5227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E232E-9E69-481F-BDD8-74F4219ED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AD69E5-4081-437F-98E4-2CAF4F5CC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01/09/2022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B30953-0189-477F-ABF4-CE4D2ED1E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CC43C7-506A-468F-96CB-96E8683CF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9814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0CC6F3-15F4-4749-9242-EDD4FF8C5DBF}"/>
              </a:ext>
            </a:extLst>
          </p:cNvPr>
          <p:cNvSpPr/>
          <p:nvPr userDrawn="1"/>
        </p:nvSpPr>
        <p:spPr>
          <a:xfrm>
            <a:off x="10088880" y="0"/>
            <a:ext cx="2103120" cy="6858000"/>
          </a:xfrm>
          <a:prstGeom prst="rect">
            <a:avLst/>
          </a:prstGeom>
          <a:solidFill>
            <a:srgbClr val="F265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t"/>
          <a:lstStyle/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CAMBRIDGE IGCSE</a:t>
            </a:r>
          </a:p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(0478/0984)</a:t>
            </a:r>
          </a:p>
          <a:p>
            <a:pPr algn="ctr"/>
            <a:endParaRPr lang="en-GB" sz="24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B2C14A7-E460-4357-90EB-FC2CBD74FCA1}"/>
              </a:ext>
            </a:extLst>
          </p:cNvPr>
          <p:cNvSpPr/>
          <p:nvPr userDrawn="1"/>
        </p:nvSpPr>
        <p:spPr>
          <a:xfrm>
            <a:off x="8915400" y="2354373"/>
            <a:ext cx="2140171" cy="2140171"/>
          </a:xfrm>
          <a:prstGeom prst="ellipse">
            <a:avLst/>
          </a:prstGeom>
          <a:solidFill>
            <a:schemeClr val="bg1"/>
          </a:solidFill>
          <a:ln w="28575">
            <a:solidFill>
              <a:srgbClr val="F265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Picture 6" descr="A picture containing brush&#10;&#10;Description automatically generated">
            <a:extLst>
              <a:ext uri="{FF2B5EF4-FFF2-40B4-BE49-F238E27FC236}">
                <a16:creationId xmlns:a16="http://schemas.microsoft.com/office/drawing/2014/main" id="{802D9E8A-D873-49FF-AED9-2CD228DFF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" r="-3" b="-3"/>
          <a:stretch/>
        </p:blipFill>
        <p:spPr>
          <a:xfrm>
            <a:off x="9029206" y="2474254"/>
            <a:ext cx="1912560" cy="1909489"/>
          </a:xfrm>
          <a:custGeom>
            <a:avLst/>
            <a:gdLst>
              <a:gd name="connsiteX0" fmla="*/ 3028805 w 6057610"/>
              <a:gd name="connsiteY0" fmla="*/ 0 h 6057610"/>
              <a:gd name="connsiteX1" fmla="*/ 6057610 w 6057610"/>
              <a:gd name="connsiteY1" fmla="*/ 3028805 h 6057610"/>
              <a:gd name="connsiteX2" fmla="*/ 3028805 w 6057610"/>
              <a:gd name="connsiteY2" fmla="*/ 6057610 h 6057610"/>
              <a:gd name="connsiteX3" fmla="*/ 0 w 6057610"/>
              <a:gd name="connsiteY3" fmla="*/ 3028805 h 6057610"/>
              <a:gd name="connsiteX4" fmla="*/ 3028805 w 6057610"/>
              <a:gd name="connsiteY4" fmla="*/ 0 h 6057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57610" h="6057610">
                <a:moveTo>
                  <a:pt x="3028805" y="0"/>
                </a:moveTo>
                <a:cubicBezTo>
                  <a:pt x="4701568" y="0"/>
                  <a:pt x="6057610" y="1356042"/>
                  <a:pt x="6057610" y="3028805"/>
                </a:cubicBezTo>
                <a:cubicBezTo>
                  <a:pt x="6057610" y="4701568"/>
                  <a:pt x="4701568" y="6057610"/>
                  <a:pt x="3028805" y="6057610"/>
                </a:cubicBezTo>
                <a:cubicBezTo>
                  <a:pt x="1356042" y="6057610"/>
                  <a:pt x="0" y="4701568"/>
                  <a:pt x="0" y="3028805"/>
                </a:cubicBezTo>
                <a:cubicBezTo>
                  <a:pt x="0" y="1356042"/>
                  <a:pt x="1356042" y="0"/>
                  <a:pt x="3028805" y="0"/>
                </a:cubicBezTo>
                <a:close/>
              </a:path>
            </a:pathLst>
          </a:custGeom>
          <a:effectLst>
            <a:softEdge rad="0"/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FE3659E-7B75-43EA-B2D2-F180CB40635B}"/>
              </a:ext>
            </a:extLst>
          </p:cNvPr>
          <p:cNvSpPr/>
          <p:nvPr userDrawn="1"/>
        </p:nvSpPr>
        <p:spPr>
          <a:xfrm>
            <a:off x="0" y="6451184"/>
            <a:ext cx="1008887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Teacher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Student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student.craigndave.org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Smart revise: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smartrevise.co.uk </a:t>
            </a:r>
          </a:p>
        </p:txBody>
      </p:sp>
    </p:spTree>
    <p:extLst>
      <p:ext uri="{BB962C8B-B14F-4D97-AF65-F5344CB8AC3E}">
        <p14:creationId xmlns:p14="http://schemas.microsoft.com/office/powerpoint/2010/main" val="4090015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F19224-2084-4C89-AEFB-59035B0F8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01/09/2022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8E9D01-9A95-4DC3-AD5E-0657203E7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B0936-CF61-444A-88C9-B1BE2B016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7AACC54-1682-4874-BD09-D8CF92EDAE43}"/>
              </a:ext>
            </a:extLst>
          </p:cNvPr>
          <p:cNvGrpSpPr/>
          <p:nvPr userDrawn="1"/>
        </p:nvGrpSpPr>
        <p:grpSpPr>
          <a:xfrm>
            <a:off x="-1" y="0"/>
            <a:ext cx="12192001" cy="419100"/>
            <a:chOff x="-1" y="0"/>
            <a:chExt cx="12192001" cy="5334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3B4ABA0-791C-4EF4-91E1-0A7F5B882D36}"/>
                </a:ext>
              </a:extLst>
            </p:cNvPr>
            <p:cNvSpPr/>
            <p:nvPr userDrawn="1"/>
          </p:nvSpPr>
          <p:spPr>
            <a:xfrm>
              <a:off x="-1" y="0"/>
              <a:ext cx="10095723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GB" sz="1800" b="1" dirty="0">
                  <a:solidFill>
                    <a:schemeClr val="bg1"/>
                  </a:solidFill>
                </a:rPr>
                <a:t>8.1 Programming | Procedures, functions and parameters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E5FF8B6-F953-41A2-8CA9-2F6F841BDD32}"/>
                </a:ext>
              </a:extLst>
            </p:cNvPr>
            <p:cNvSpPr/>
            <p:nvPr/>
          </p:nvSpPr>
          <p:spPr>
            <a:xfrm>
              <a:off x="9100868" y="0"/>
              <a:ext cx="3091132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46800" rtlCol="0" anchor="t"/>
            <a:lstStyle/>
            <a:p>
              <a:pPr algn="r"/>
              <a:r>
                <a:rPr lang="en-GB" b="1" dirty="0">
                  <a:solidFill>
                    <a:schemeClr val="bg1"/>
                  </a:solidFill>
                </a:rPr>
                <a:t>CAMBRIDGE IGCSE (0478/0984)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0910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E615E-FCEC-48A2-8A58-855AC1751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6C2E3-EFFC-4E46-8E3B-353E3410C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8F8DFF-FB25-4FDB-AE01-189095807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5E6D8-83E5-4A1F-91A5-3CC7778FD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01/09/2022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62ED67-D636-4841-A380-71A8E2C22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ECBE11-BFFB-4E5F-95F9-EF6A83AD8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1817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13C68-F937-4619-AC2A-808BB5FBC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4D0E72-F13A-47A1-9749-F939C5B614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CE7D0-DEEB-4789-9725-4826AE9B0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52C0A-0BB5-4C36-AC67-AFCF2DC0A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01/09/2022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1906B4-69CB-471E-B443-A6DD59556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C21424-3B0E-4EEC-875D-327603D19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204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6F412-1941-41D2-AC46-E8C20860A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2A1B5D-15E6-4D4B-B6F5-E46A1A723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18167-751F-4B50-84DD-7F7377E43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01/09/2022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10E4B-ECAF-4B58-9633-F0D2214AE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0936C-E069-45AA-8B1E-8B295D2AA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737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0BBC43-F9FB-4DC0-9192-4C6BBC0BBF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5541F-6124-45F5-9E33-C88771523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8D7AD-9B6B-4D71-A044-0A8CD107B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01/09/2022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F19E0-2B2A-44A5-95AA-5794953B8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AE265-1899-40B9-ABCC-0F0FA6B45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9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68667-8C97-4EFE-84F3-BDAFCA0DE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6806C-F4A6-4145-8586-E1BA0D6AA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371F7-F0FF-4998-A335-671F6745CC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EBD5A5-95A5-4ED6-B746-12AF9CEAF3AB}" type="datetimeFigureOut">
              <a:rPr lang="en-GB" smtClean="0"/>
              <a:t>01/09/2022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1381F-CB31-4B37-8E8C-1B4AD2A089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29192-27C3-435C-AA4E-0FF49DC56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7013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342EC1-2AFD-4406-9F14-4D674F90CAE8}"/>
              </a:ext>
            </a:extLst>
          </p:cNvPr>
          <p:cNvSpPr txBox="1"/>
          <p:nvPr/>
        </p:nvSpPr>
        <p:spPr>
          <a:xfrm>
            <a:off x="304800" y="92954"/>
            <a:ext cx="987927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  <a:ea typeface="+mj-ea"/>
                <a:cs typeface="+mj-cs"/>
              </a:rPr>
              <a:t>8.1 Programming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ABF442-A178-4CA8-8D0A-DF0A8E18C046}"/>
              </a:ext>
            </a:extLst>
          </p:cNvPr>
          <p:cNvSpPr txBox="1"/>
          <p:nvPr/>
        </p:nvSpPr>
        <p:spPr>
          <a:xfrm>
            <a:off x="927652" y="1650609"/>
            <a:ext cx="6997148" cy="345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1200"/>
              </a:spcAft>
            </a:pP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Procedures, functions </a:t>
            </a:r>
            <a:br>
              <a:rPr lang="en-GB" sz="4000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and parameters</a:t>
            </a:r>
            <a:endParaRPr lang="en-US" sz="40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771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8BD86EC-E88C-481A-BA7A-927DE2685F12}"/>
              </a:ext>
            </a:extLst>
          </p:cNvPr>
          <p:cNvSpPr/>
          <p:nvPr/>
        </p:nvSpPr>
        <p:spPr>
          <a:xfrm>
            <a:off x="176565" y="523174"/>
            <a:ext cx="6877378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Procedures and functions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0D2B04-7F3C-4329-8CC8-B22A83993252}"/>
              </a:ext>
            </a:extLst>
          </p:cNvPr>
          <p:cNvSpPr/>
          <p:nvPr/>
        </p:nvSpPr>
        <p:spPr>
          <a:xfrm>
            <a:off x="5856718" y="3800394"/>
            <a:ext cx="6024465" cy="29186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There are two main types of sub-program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GB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Procedures</a:t>
            </a:r>
          </a:p>
          <a:p>
            <a:pPr marL="540000" lvl="1" indent="-34290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Carry out a task.</a:t>
            </a:r>
          </a:p>
          <a:p>
            <a:pPr marL="540000" lvl="1" indent="-3429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Provide structure to code.</a:t>
            </a:r>
          </a:p>
          <a:p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Functions</a:t>
            </a:r>
          </a:p>
          <a:p>
            <a:pPr marL="540000" lvl="1" indent="-34290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Carry out a task </a:t>
            </a:r>
            <a:r>
              <a:rPr lang="en-GB" b="1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return a value.</a:t>
            </a:r>
          </a:p>
          <a:p>
            <a:pPr marL="540000" lvl="1" indent="-34290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Create reusable program components.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GB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24D169-14CE-445F-80A9-EFBFEE5A783A}"/>
              </a:ext>
            </a:extLst>
          </p:cNvPr>
          <p:cNvSpPr/>
          <p:nvPr/>
        </p:nvSpPr>
        <p:spPr>
          <a:xfrm>
            <a:off x="176565" y="970380"/>
            <a:ext cx="568015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chemeClr val="accent2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def</a:t>
            </a:r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4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roll_a</a:t>
            </a:r>
            <a:r>
              <a:rPr lang="en-GB" sz="1400" dirty="0">
                <a:solidFill>
                  <a:srgbClr val="0070C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_dice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():</a:t>
            </a:r>
          </a:p>
          <a:p>
            <a:r>
              <a:rPr lang="en-GB" sz="14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#Roll a dice</a:t>
            </a:r>
          </a:p>
          <a:p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chemeClr val="accent2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return</a:t>
            </a:r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random.randint(1,6)</a:t>
            </a:r>
          </a:p>
          <a:p>
            <a:endParaRPr lang="en-GB" sz="8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chemeClr val="accent2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def</a:t>
            </a:r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4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order_dice</a:t>
            </a:r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(d1, d2):</a:t>
            </a: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#Change the order of the dice to highest value first</a:t>
            </a:r>
          </a:p>
          <a:p>
            <a:r>
              <a:rPr lang="en-GB" sz="14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#and join the values together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if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d1 &gt;= d2:</a:t>
            </a:r>
          </a:p>
          <a:p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GB" sz="1400" dirty="0">
                <a:solidFill>
                  <a:schemeClr val="accent2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return</a:t>
            </a:r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400" dirty="0">
                <a:solidFill>
                  <a:srgbClr val="7030A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int</a:t>
            </a:r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(d1 +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d2)</a:t>
            </a:r>
          </a:p>
          <a:p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chemeClr val="accent2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else</a:t>
            </a:r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return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(d2 + d1)</a:t>
            </a:r>
          </a:p>
          <a:p>
            <a:endParaRPr lang="en-GB" sz="800" dirty="0">
              <a:effectLst/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def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400" dirty="0">
                <a:solidFill>
                  <a:srgbClr val="0070C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output_throw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():</a:t>
            </a: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#Output the results of the two dice thrown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dice1 = 0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dice2 = 0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while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dice1 == dice2: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dice1 =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str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(roll_a_dice())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dice2 =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str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(roll_a_dice())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"Dice 1:"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dice1)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"Dice 2:"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dice2)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roll = order_dice(dice1, dice2)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return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roll</a:t>
            </a:r>
          </a:p>
          <a:p>
            <a:endParaRPr lang="en-GB" sz="8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#Main program</a:t>
            </a: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#This tool outputs the value of two dice</a:t>
            </a:r>
          </a:p>
          <a:p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import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random</a:t>
            </a:r>
          </a:p>
          <a:p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(output_throw())</a:t>
            </a:r>
          </a:p>
        </p:txBody>
      </p:sp>
      <p:pic>
        <p:nvPicPr>
          <p:cNvPr id="2" name="Picture 1" descr="Icon&#10;&#10;Description automatically generated">
            <a:extLst>
              <a:ext uri="{FF2B5EF4-FFF2-40B4-BE49-F238E27FC236}">
                <a16:creationId xmlns:a16="http://schemas.microsoft.com/office/drawing/2014/main" id="{76415B6F-2CF5-EF67-6A27-3B1B5DF7C3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9175" y="523174"/>
            <a:ext cx="3076575" cy="307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4436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8BD86EC-E88C-481A-BA7A-927DE2685F12}"/>
              </a:ext>
            </a:extLst>
          </p:cNvPr>
          <p:cNvSpPr/>
          <p:nvPr/>
        </p:nvSpPr>
        <p:spPr>
          <a:xfrm>
            <a:off x="176565" y="523174"/>
            <a:ext cx="6877378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Procedures and functions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24D169-14CE-445F-80A9-EFBFEE5A783A}"/>
              </a:ext>
            </a:extLst>
          </p:cNvPr>
          <p:cNvSpPr/>
          <p:nvPr/>
        </p:nvSpPr>
        <p:spPr>
          <a:xfrm>
            <a:off x="176565" y="970380"/>
            <a:ext cx="568015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chemeClr val="accent2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def</a:t>
            </a:r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4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roll_a</a:t>
            </a:r>
            <a:r>
              <a:rPr lang="en-GB" sz="1400" dirty="0">
                <a:solidFill>
                  <a:srgbClr val="0070C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_dice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():</a:t>
            </a:r>
          </a:p>
          <a:p>
            <a:r>
              <a:rPr lang="en-GB" sz="14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#Roll a dice</a:t>
            </a:r>
          </a:p>
          <a:p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chemeClr val="accent2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return</a:t>
            </a:r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random.randint(1,6)</a:t>
            </a:r>
          </a:p>
          <a:p>
            <a:endParaRPr lang="en-GB" sz="8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chemeClr val="accent2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def</a:t>
            </a:r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4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order_dice</a:t>
            </a:r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(d1, d2):</a:t>
            </a: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#Change the order of the dice to highest value first</a:t>
            </a:r>
          </a:p>
          <a:p>
            <a:r>
              <a:rPr lang="en-GB" sz="14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#and join the values together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if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d1 &gt;= d2:</a:t>
            </a:r>
          </a:p>
          <a:p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GB" sz="1400" dirty="0">
                <a:solidFill>
                  <a:schemeClr val="accent2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return</a:t>
            </a:r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400" dirty="0">
                <a:solidFill>
                  <a:srgbClr val="7030A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int</a:t>
            </a:r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(d1 +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d2)</a:t>
            </a:r>
          </a:p>
          <a:p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chemeClr val="accent2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else</a:t>
            </a:r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return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(d2 + d1)</a:t>
            </a:r>
          </a:p>
          <a:p>
            <a:endParaRPr lang="en-GB" sz="800" dirty="0">
              <a:effectLst/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def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400" dirty="0">
                <a:solidFill>
                  <a:srgbClr val="0070C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output_throw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():</a:t>
            </a: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#Output the results of the two dice thrown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dice1 = 0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dice2 = 0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while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dice1 == dice2: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dice1 =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str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(roll_a_dice())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dice2 =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str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(roll_a_dice())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"Dice 1:"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dice1)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"Dice 2:"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dice2)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roll = order_dice(dice1, dice2)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return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roll</a:t>
            </a:r>
          </a:p>
          <a:p>
            <a:endParaRPr lang="en-GB" sz="8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#Main program</a:t>
            </a: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#This tool outputs the value of two dice</a:t>
            </a:r>
          </a:p>
          <a:p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import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random</a:t>
            </a:r>
          </a:p>
          <a:p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(output_throw())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29821D-A740-4A58-ACA7-9CC66F320F9B}"/>
              </a:ext>
            </a:extLst>
          </p:cNvPr>
          <p:cNvSpPr/>
          <p:nvPr/>
        </p:nvSpPr>
        <p:spPr>
          <a:xfrm>
            <a:off x="0" y="6260841"/>
            <a:ext cx="4721290" cy="588071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334174-1AD1-4BE9-88B2-AD922582C4F0}"/>
              </a:ext>
            </a:extLst>
          </p:cNvPr>
          <p:cNvSpPr/>
          <p:nvPr/>
        </p:nvSpPr>
        <p:spPr>
          <a:xfrm>
            <a:off x="5856718" y="3800394"/>
            <a:ext cx="6024465" cy="13285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this program, the code actually starts at the bottom of the code listing.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GB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6F404B1-8004-4C29-9CC4-861A49EE3C91}"/>
              </a:ext>
            </a:extLst>
          </p:cNvPr>
          <p:cNvCxnSpPr/>
          <p:nvPr/>
        </p:nvCxnSpPr>
        <p:spPr>
          <a:xfrm flipH="1">
            <a:off x="4721290" y="4124131"/>
            <a:ext cx="1135428" cy="2416628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Icon&#10;&#10;Description automatically generated">
            <a:extLst>
              <a:ext uri="{FF2B5EF4-FFF2-40B4-BE49-F238E27FC236}">
                <a16:creationId xmlns:a16="http://schemas.microsoft.com/office/drawing/2014/main" id="{2BFC50A9-C61E-7FA0-974C-119AB326B7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9175" y="523174"/>
            <a:ext cx="3076575" cy="307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643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8BD86EC-E88C-481A-BA7A-927DE2685F12}"/>
              </a:ext>
            </a:extLst>
          </p:cNvPr>
          <p:cNvSpPr/>
          <p:nvPr/>
        </p:nvSpPr>
        <p:spPr>
          <a:xfrm>
            <a:off x="176565" y="523174"/>
            <a:ext cx="6877378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Procedures and functions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24D169-14CE-445F-80A9-EFBFEE5A783A}"/>
              </a:ext>
            </a:extLst>
          </p:cNvPr>
          <p:cNvSpPr/>
          <p:nvPr/>
        </p:nvSpPr>
        <p:spPr>
          <a:xfrm>
            <a:off x="176565" y="970380"/>
            <a:ext cx="568015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chemeClr val="accent2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def</a:t>
            </a:r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4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roll_a</a:t>
            </a:r>
            <a:r>
              <a:rPr lang="en-GB" sz="1400" dirty="0">
                <a:solidFill>
                  <a:srgbClr val="0070C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_dice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():</a:t>
            </a:r>
          </a:p>
          <a:p>
            <a:r>
              <a:rPr lang="en-GB" sz="14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#Roll a dice</a:t>
            </a:r>
          </a:p>
          <a:p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chemeClr val="accent2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return</a:t>
            </a:r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random.randint(1,6)</a:t>
            </a:r>
          </a:p>
          <a:p>
            <a:endParaRPr lang="en-GB" sz="8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chemeClr val="accent2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def</a:t>
            </a:r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4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order_dice</a:t>
            </a:r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(d1, d2):</a:t>
            </a: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#Change the order of the dice to highest value first</a:t>
            </a:r>
          </a:p>
          <a:p>
            <a:r>
              <a:rPr lang="en-GB" sz="14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#and join the values together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if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d1 &gt;= d2:</a:t>
            </a:r>
          </a:p>
          <a:p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GB" sz="1400" dirty="0">
                <a:solidFill>
                  <a:schemeClr val="accent2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return</a:t>
            </a:r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400" dirty="0">
                <a:solidFill>
                  <a:srgbClr val="7030A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int</a:t>
            </a:r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(d1 +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d2)</a:t>
            </a:r>
          </a:p>
          <a:p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chemeClr val="accent2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else</a:t>
            </a:r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return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(d2 + d1)</a:t>
            </a:r>
          </a:p>
          <a:p>
            <a:endParaRPr lang="en-GB" sz="800" dirty="0">
              <a:effectLst/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def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400" dirty="0">
                <a:solidFill>
                  <a:srgbClr val="0070C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output_throw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():</a:t>
            </a: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#Output the results of the two dice thrown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dice1 = 0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dice2 = 0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while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dice1 == dice2: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dice1 =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str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(roll_a_dice())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dice2 =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str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(roll_a_dice())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"Dice 1:"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dice1)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"Dice 2:"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dice2)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roll = order_dice(dice1, dice2)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return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roll</a:t>
            </a:r>
          </a:p>
          <a:p>
            <a:endParaRPr lang="en-GB" sz="8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#Main program</a:t>
            </a: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#This tool outputs the value of two dice</a:t>
            </a:r>
          </a:p>
          <a:p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import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random</a:t>
            </a:r>
          </a:p>
          <a:p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(output_throw())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29821D-A740-4A58-ACA7-9CC66F320F9B}"/>
              </a:ext>
            </a:extLst>
          </p:cNvPr>
          <p:cNvSpPr/>
          <p:nvPr/>
        </p:nvSpPr>
        <p:spPr>
          <a:xfrm>
            <a:off x="0" y="6484774"/>
            <a:ext cx="4721290" cy="27992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334174-1AD1-4BE9-88B2-AD922582C4F0}"/>
              </a:ext>
            </a:extLst>
          </p:cNvPr>
          <p:cNvSpPr/>
          <p:nvPr/>
        </p:nvSpPr>
        <p:spPr>
          <a:xfrm>
            <a:off x="5856718" y="3800394"/>
            <a:ext cx="6024465" cy="929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 calls </a:t>
            </a: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output_throw()</a:t>
            </a:r>
            <a:r>
              <a:rPr lang="en-GB" dirty="0"/>
              <a:t>, so</a:t>
            </a:r>
            <a:r>
              <a:rPr lang="en-GB" dirty="0">
                <a:ea typeface="Calibri" panose="020F0502020204030204" pitchFamily="34" charset="0"/>
                <a:cs typeface="Times New Roman" panose="02020603050405020304" pitchFamily="18" charset="0"/>
              </a:rPr>
              <a:t> the program jumps and executes the code from here.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GB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051E9E-BA1A-4296-863C-1BF92FF398A0}"/>
              </a:ext>
            </a:extLst>
          </p:cNvPr>
          <p:cNvSpPr/>
          <p:nvPr/>
        </p:nvSpPr>
        <p:spPr>
          <a:xfrm>
            <a:off x="0" y="3375078"/>
            <a:ext cx="4721290" cy="2409901"/>
          </a:xfrm>
          <a:prstGeom prst="rect">
            <a:avLst/>
          </a:prstGeom>
          <a:noFill/>
          <a:ln w="28575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B2F80E-7206-4D46-8030-361A4C69A132}"/>
              </a:ext>
            </a:extLst>
          </p:cNvPr>
          <p:cNvSpPr/>
          <p:nvPr/>
        </p:nvSpPr>
        <p:spPr>
          <a:xfrm>
            <a:off x="0" y="3388541"/>
            <a:ext cx="4721290" cy="27992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Arc 2">
            <a:extLst>
              <a:ext uri="{FF2B5EF4-FFF2-40B4-BE49-F238E27FC236}">
                <a16:creationId xmlns:a16="http://schemas.microsoft.com/office/drawing/2014/main" id="{011E1DE5-58C4-444A-A525-456C167627D9}"/>
              </a:ext>
            </a:extLst>
          </p:cNvPr>
          <p:cNvSpPr/>
          <p:nvPr/>
        </p:nvSpPr>
        <p:spPr>
          <a:xfrm>
            <a:off x="4312198" y="3475654"/>
            <a:ext cx="802432" cy="3177073"/>
          </a:xfrm>
          <a:prstGeom prst="arc">
            <a:avLst>
              <a:gd name="adj1" fmla="val 16200000"/>
              <a:gd name="adj2" fmla="val 5381113"/>
            </a:avLst>
          </a:prstGeom>
          <a:ln w="28575"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EEA94185-773C-1575-CE5B-60C1C28D4C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9175" y="523174"/>
            <a:ext cx="3076575" cy="307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2746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8BD86EC-E88C-481A-BA7A-927DE2685F12}"/>
              </a:ext>
            </a:extLst>
          </p:cNvPr>
          <p:cNvSpPr/>
          <p:nvPr/>
        </p:nvSpPr>
        <p:spPr>
          <a:xfrm>
            <a:off x="176565" y="523174"/>
            <a:ext cx="6877378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Procedures and functions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24D169-14CE-445F-80A9-EFBFEE5A783A}"/>
              </a:ext>
            </a:extLst>
          </p:cNvPr>
          <p:cNvSpPr/>
          <p:nvPr/>
        </p:nvSpPr>
        <p:spPr>
          <a:xfrm>
            <a:off x="176565" y="970380"/>
            <a:ext cx="568015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chemeClr val="accent2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def</a:t>
            </a:r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4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roll_a</a:t>
            </a:r>
            <a:r>
              <a:rPr lang="en-GB" sz="1400" dirty="0">
                <a:solidFill>
                  <a:srgbClr val="0070C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_dice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():</a:t>
            </a:r>
          </a:p>
          <a:p>
            <a:r>
              <a:rPr lang="en-GB" sz="14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#Roll a dice</a:t>
            </a:r>
          </a:p>
          <a:p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chemeClr val="accent2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return</a:t>
            </a:r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random.randint(1,6)</a:t>
            </a:r>
          </a:p>
          <a:p>
            <a:endParaRPr lang="en-GB" sz="8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chemeClr val="accent2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def</a:t>
            </a:r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4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order_dice</a:t>
            </a:r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(d1, d2):</a:t>
            </a: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#Change the order of the dice to highest value first</a:t>
            </a:r>
          </a:p>
          <a:p>
            <a:r>
              <a:rPr lang="en-GB" sz="14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#and join the values together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if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d1 &gt;= d2:</a:t>
            </a:r>
          </a:p>
          <a:p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GB" sz="1400" dirty="0">
                <a:solidFill>
                  <a:schemeClr val="accent2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return</a:t>
            </a:r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400" dirty="0">
                <a:solidFill>
                  <a:srgbClr val="7030A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int</a:t>
            </a:r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(d1 +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d2)</a:t>
            </a:r>
          </a:p>
          <a:p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chemeClr val="accent2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else</a:t>
            </a:r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return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(d2 + d1)</a:t>
            </a:r>
          </a:p>
          <a:p>
            <a:endParaRPr lang="en-GB" sz="800" dirty="0">
              <a:effectLst/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def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400" dirty="0">
                <a:solidFill>
                  <a:srgbClr val="0070C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output_throw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():</a:t>
            </a: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#Output the results of the two dice thrown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dice1 = 0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dice2 = 0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while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dice1 == dice2: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dice1 =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str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(roll_a_dice())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dice2 =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str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(roll_a_dice())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"Dice 1:"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dice1)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"Dice 2:"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dice2)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roll = order_dice(dice1, dice2)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return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roll</a:t>
            </a:r>
          </a:p>
          <a:p>
            <a:endParaRPr lang="en-GB" sz="8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#Main program</a:t>
            </a: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#This tool outputs the value of two dice</a:t>
            </a:r>
          </a:p>
          <a:p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import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random</a:t>
            </a:r>
          </a:p>
          <a:p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(output_throw())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334174-1AD1-4BE9-88B2-AD922582C4F0}"/>
              </a:ext>
            </a:extLst>
          </p:cNvPr>
          <p:cNvSpPr/>
          <p:nvPr/>
        </p:nvSpPr>
        <p:spPr>
          <a:xfrm>
            <a:off x="5856718" y="3800394"/>
            <a:ext cx="6024465" cy="19850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 calls </a:t>
            </a: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output_throw()</a:t>
            </a:r>
            <a:r>
              <a:rPr lang="en-GB" dirty="0"/>
              <a:t>, so</a:t>
            </a:r>
            <a:r>
              <a:rPr lang="en-GB" dirty="0">
                <a:ea typeface="Calibri" panose="020F0502020204030204" pitchFamily="34" charset="0"/>
                <a:cs typeface="Times New Roman" panose="02020603050405020304" pitchFamily="18" charset="0"/>
              </a:rPr>
              <a:t> the program jumps and executes the code from here.</a:t>
            </a:r>
          </a:p>
          <a:p>
            <a:r>
              <a:rPr lang="en-GB" dirty="0">
                <a:ea typeface="Calibri" panose="020F0502020204030204" pitchFamily="34" charset="0"/>
                <a:cs typeface="Times New Roman" panose="02020603050405020304" pitchFamily="18" charset="0"/>
              </a:rPr>
              <a:t>When the sub-program ends, it </a:t>
            </a:r>
            <a:r>
              <a:rPr lang="en-GB" b="1" dirty="0">
                <a:ea typeface="Calibri" panose="020F0502020204030204" pitchFamily="34" charset="0"/>
                <a:cs typeface="Times New Roman" panose="02020603050405020304" pitchFamily="18" charset="0"/>
              </a:rPr>
              <a:t>returns</a:t>
            </a:r>
            <a:r>
              <a:rPr lang="en-GB" dirty="0">
                <a:ea typeface="Calibri" panose="020F0502020204030204" pitchFamily="34" charset="0"/>
                <a:cs typeface="Times New Roman" panose="02020603050405020304" pitchFamily="18" charset="0"/>
              </a:rPr>
              <a:t> a value – this means </a:t>
            </a: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output_throw()</a:t>
            </a:r>
            <a:r>
              <a:rPr lang="en-GB" dirty="0">
                <a:ea typeface="Calibri" panose="020F0502020204030204" pitchFamily="34" charset="0"/>
                <a:cs typeface="Times New Roman" panose="02020603050405020304" pitchFamily="18" charset="0"/>
              </a:rPr>
              <a:t> is a </a:t>
            </a:r>
            <a:r>
              <a:rPr lang="en-GB" b="1" dirty="0">
                <a:ea typeface="Calibri" panose="020F0502020204030204" pitchFamily="34" charset="0"/>
                <a:cs typeface="Times New Roman" panose="02020603050405020304" pitchFamily="18" charset="0"/>
              </a:rPr>
              <a:t>function</a:t>
            </a:r>
            <a:r>
              <a:rPr lang="en-GB" dirty="0"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GB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051E9E-BA1A-4296-863C-1BF92FF398A0}"/>
              </a:ext>
            </a:extLst>
          </p:cNvPr>
          <p:cNvSpPr/>
          <p:nvPr/>
        </p:nvSpPr>
        <p:spPr>
          <a:xfrm>
            <a:off x="0" y="3375078"/>
            <a:ext cx="4721290" cy="2409901"/>
          </a:xfrm>
          <a:prstGeom prst="rect">
            <a:avLst/>
          </a:prstGeom>
          <a:noFill/>
          <a:ln w="28575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B2F80E-7206-4D46-8030-361A4C69A132}"/>
              </a:ext>
            </a:extLst>
          </p:cNvPr>
          <p:cNvSpPr/>
          <p:nvPr/>
        </p:nvSpPr>
        <p:spPr>
          <a:xfrm>
            <a:off x="0" y="5497260"/>
            <a:ext cx="4721290" cy="27992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Arc 2">
            <a:extLst>
              <a:ext uri="{FF2B5EF4-FFF2-40B4-BE49-F238E27FC236}">
                <a16:creationId xmlns:a16="http://schemas.microsoft.com/office/drawing/2014/main" id="{011E1DE5-58C4-444A-A525-456C167627D9}"/>
              </a:ext>
            </a:extLst>
          </p:cNvPr>
          <p:cNvSpPr/>
          <p:nvPr/>
        </p:nvSpPr>
        <p:spPr>
          <a:xfrm>
            <a:off x="1467128" y="5637220"/>
            <a:ext cx="381787" cy="875547"/>
          </a:xfrm>
          <a:prstGeom prst="arc">
            <a:avLst>
              <a:gd name="adj1" fmla="val 16200000"/>
              <a:gd name="adj2" fmla="val 5381113"/>
            </a:avLst>
          </a:prstGeom>
          <a:ln w="28575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EE6FF42-7BDC-4C87-A1C3-F519B43DE8EA}"/>
              </a:ext>
            </a:extLst>
          </p:cNvPr>
          <p:cNvSpPr/>
          <p:nvPr/>
        </p:nvSpPr>
        <p:spPr>
          <a:xfrm>
            <a:off x="11553" y="6494107"/>
            <a:ext cx="4721290" cy="279920"/>
          </a:xfrm>
          <a:prstGeom prst="rect">
            <a:avLst/>
          </a:prstGeom>
          <a:noFill/>
          <a:ln w="28575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2" name="Picture 1" descr="Icon&#10;&#10;Description automatically generated">
            <a:extLst>
              <a:ext uri="{FF2B5EF4-FFF2-40B4-BE49-F238E27FC236}">
                <a16:creationId xmlns:a16="http://schemas.microsoft.com/office/drawing/2014/main" id="{B7AC90F9-742C-5853-51BE-2BB76C7198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9175" y="523174"/>
            <a:ext cx="3076575" cy="307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6550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8BD86EC-E88C-481A-BA7A-927DE2685F12}"/>
              </a:ext>
            </a:extLst>
          </p:cNvPr>
          <p:cNvSpPr/>
          <p:nvPr/>
        </p:nvSpPr>
        <p:spPr>
          <a:xfrm>
            <a:off x="176565" y="523174"/>
            <a:ext cx="6877378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Procedures and functions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24D169-14CE-445F-80A9-EFBFEE5A783A}"/>
              </a:ext>
            </a:extLst>
          </p:cNvPr>
          <p:cNvSpPr/>
          <p:nvPr/>
        </p:nvSpPr>
        <p:spPr>
          <a:xfrm>
            <a:off x="176565" y="970380"/>
            <a:ext cx="568015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chemeClr val="accent2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def</a:t>
            </a:r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4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roll_a</a:t>
            </a:r>
            <a:r>
              <a:rPr lang="en-GB" sz="1400" dirty="0">
                <a:solidFill>
                  <a:srgbClr val="0070C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_dice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():</a:t>
            </a:r>
          </a:p>
          <a:p>
            <a:r>
              <a:rPr lang="en-GB" sz="14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#Roll a dice</a:t>
            </a:r>
          </a:p>
          <a:p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chemeClr val="accent2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return</a:t>
            </a:r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random.randint(1,6)</a:t>
            </a:r>
          </a:p>
          <a:p>
            <a:endParaRPr lang="en-GB" sz="8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chemeClr val="accent2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def</a:t>
            </a:r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4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order_dice</a:t>
            </a:r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(d1, d2):</a:t>
            </a: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#Change the order of the dice to highest value first</a:t>
            </a:r>
          </a:p>
          <a:p>
            <a:r>
              <a:rPr lang="en-GB" sz="14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#and join the values together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if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d1 &gt;= d2:</a:t>
            </a:r>
          </a:p>
          <a:p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GB" sz="1400" dirty="0">
                <a:solidFill>
                  <a:schemeClr val="accent2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return</a:t>
            </a:r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400" dirty="0">
                <a:solidFill>
                  <a:srgbClr val="7030A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int</a:t>
            </a:r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(d1 +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d2)</a:t>
            </a:r>
          </a:p>
          <a:p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chemeClr val="accent2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else</a:t>
            </a:r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return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(d2 + d1)</a:t>
            </a:r>
          </a:p>
          <a:p>
            <a:endParaRPr lang="en-GB" sz="800" dirty="0">
              <a:effectLst/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def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400" dirty="0">
                <a:solidFill>
                  <a:srgbClr val="0070C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output_throw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():</a:t>
            </a: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#Output the results of the two dice thrown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dice1 = 0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dice2 = 0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while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dice1 == dice2: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dice1 =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str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(roll_a_dice())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dice2 =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str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(roll_a_dice())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"Dice 1:"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dice1)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"Dice 2:"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dice2)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roll = order_dice(dice1, dice2)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return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roll</a:t>
            </a:r>
          </a:p>
          <a:p>
            <a:endParaRPr lang="en-GB" sz="8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#Main program</a:t>
            </a: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#This tool outputs the value of two dice</a:t>
            </a:r>
          </a:p>
          <a:p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import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random</a:t>
            </a:r>
          </a:p>
          <a:p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(output_throw())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334174-1AD1-4BE9-88B2-AD922582C4F0}"/>
              </a:ext>
            </a:extLst>
          </p:cNvPr>
          <p:cNvSpPr/>
          <p:nvPr/>
        </p:nvSpPr>
        <p:spPr>
          <a:xfrm>
            <a:off x="5856718" y="3800394"/>
            <a:ext cx="6323729" cy="13029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en-GB" dirty="0"/>
              <a:t> </a:t>
            </a: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output_throw()</a:t>
            </a:r>
            <a:r>
              <a:rPr lang="en-GB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b="1" dirty="0">
                <a:ea typeface="Calibri" panose="020F0502020204030204" pitchFamily="34" charset="0"/>
                <a:cs typeface="Times New Roman" panose="02020603050405020304" pitchFamily="18" charset="0"/>
              </a:rPr>
              <a:t>function</a:t>
            </a:r>
            <a:r>
              <a:rPr lang="en-GB" dirty="0">
                <a:ea typeface="Calibri" panose="020F0502020204030204" pitchFamily="34" charset="0"/>
                <a:cs typeface="Times New Roman" panose="02020603050405020304" pitchFamily="18" charset="0"/>
              </a:rPr>
              <a:t> also calls another sub-program, </a:t>
            </a: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roll_a_dice()</a:t>
            </a:r>
            <a:r>
              <a:rPr lang="en-GB" dirty="0"/>
              <a:t>, which</a:t>
            </a:r>
            <a:r>
              <a:rPr lang="en-GB" dirty="0">
                <a:ea typeface="Calibri" panose="020F0502020204030204" pitchFamily="34" charset="0"/>
                <a:cs typeface="Times New Roman" panose="02020603050405020304" pitchFamily="18" charset="0"/>
              </a:rPr>
              <a:t> returns a random number from 1 to 6.</a:t>
            </a:r>
            <a:endParaRPr lang="en-GB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dirty="0">
                <a:ea typeface="Calibri" panose="020F0502020204030204" pitchFamily="34" charset="0"/>
                <a:cs typeface="Times New Roman" panose="02020603050405020304" pitchFamily="18" charset="0"/>
              </a:rPr>
              <a:t>That makes </a:t>
            </a: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roll_a_dice</a:t>
            </a:r>
            <a:r>
              <a:rPr lang="en-GB" dirty="0">
                <a:ea typeface="Calibri" panose="020F0502020204030204" pitchFamily="34" charset="0"/>
                <a:cs typeface="Times New Roman" panose="02020603050405020304" pitchFamily="18" charset="0"/>
              </a:rPr>
              <a:t> another </a:t>
            </a:r>
            <a:r>
              <a:rPr lang="en-GB" b="1" dirty="0">
                <a:ea typeface="Calibri" panose="020F0502020204030204" pitchFamily="34" charset="0"/>
                <a:cs typeface="Times New Roman" panose="02020603050405020304" pitchFamily="18" charset="0"/>
              </a:rPr>
              <a:t>function</a:t>
            </a:r>
            <a:r>
              <a:rPr lang="en-GB" dirty="0"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endParaRPr lang="en-GB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051E9E-BA1A-4296-863C-1BF92FF398A0}"/>
              </a:ext>
            </a:extLst>
          </p:cNvPr>
          <p:cNvSpPr/>
          <p:nvPr/>
        </p:nvSpPr>
        <p:spPr>
          <a:xfrm>
            <a:off x="0" y="967778"/>
            <a:ext cx="4721290" cy="744364"/>
          </a:xfrm>
          <a:prstGeom prst="rect">
            <a:avLst/>
          </a:prstGeom>
          <a:noFill/>
          <a:ln w="28575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B2F80E-7206-4D46-8030-361A4C69A132}"/>
              </a:ext>
            </a:extLst>
          </p:cNvPr>
          <p:cNvSpPr/>
          <p:nvPr/>
        </p:nvSpPr>
        <p:spPr>
          <a:xfrm>
            <a:off x="11553" y="4448254"/>
            <a:ext cx="4721290" cy="469999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986B657-B871-427E-8A00-3663A5AF3B7A}"/>
              </a:ext>
            </a:extLst>
          </p:cNvPr>
          <p:cNvSpPr/>
          <p:nvPr/>
        </p:nvSpPr>
        <p:spPr>
          <a:xfrm>
            <a:off x="0" y="993174"/>
            <a:ext cx="4721290" cy="266459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57DA5CA0-41D3-4948-91E5-2CF9177D02AE}"/>
              </a:ext>
            </a:extLst>
          </p:cNvPr>
          <p:cNvSpPr/>
          <p:nvPr/>
        </p:nvSpPr>
        <p:spPr>
          <a:xfrm>
            <a:off x="4314420" y="1119674"/>
            <a:ext cx="789425" cy="3563580"/>
          </a:xfrm>
          <a:prstGeom prst="arc">
            <a:avLst>
              <a:gd name="adj1" fmla="val 16200000"/>
              <a:gd name="adj2" fmla="val 5381113"/>
            </a:avLst>
          </a:prstGeom>
          <a:ln w="28575"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298A096-0CF0-4B2F-B192-6A836D66A00D}"/>
              </a:ext>
            </a:extLst>
          </p:cNvPr>
          <p:cNvSpPr/>
          <p:nvPr/>
        </p:nvSpPr>
        <p:spPr>
          <a:xfrm>
            <a:off x="531845" y="1445683"/>
            <a:ext cx="2647147" cy="266459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6C56605D-6CD5-428A-AC4A-535BAB35F9A0}"/>
              </a:ext>
            </a:extLst>
          </p:cNvPr>
          <p:cNvSpPr/>
          <p:nvPr/>
        </p:nvSpPr>
        <p:spPr>
          <a:xfrm flipH="1">
            <a:off x="18661" y="1528026"/>
            <a:ext cx="998375" cy="3155227"/>
          </a:xfrm>
          <a:prstGeom prst="arc">
            <a:avLst>
              <a:gd name="adj1" fmla="val 16200000"/>
              <a:gd name="adj2" fmla="val 5417217"/>
            </a:avLst>
          </a:prstGeom>
          <a:ln w="28575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B078EF5-996D-4014-9EC2-B14C6D6AF31F}"/>
              </a:ext>
            </a:extLst>
          </p:cNvPr>
          <p:cNvCxnSpPr>
            <a:cxnSpLocks/>
          </p:cNvCxnSpPr>
          <p:nvPr/>
        </p:nvCxnSpPr>
        <p:spPr>
          <a:xfrm flipV="1">
            <a:off x="541176" y="4448254"/>
            <a:ext cx="0" cy="458914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Icon&#10;&#10;Description automatically generated">
            <a:extLst>
              <a:ext uri="{FF2B5EF4-FFF2-40B4-BE49-F238E27FC236}">
                <a16:creationId xmlns:a16="http://schemas.microsoft.com/office/drawing/2014/main" id="{8888F3C8-3FB0-BA46-C881-565F540E21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9175" y="523174"/>
            <a:ext cx="3076575" cy="307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7513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8BD86EC-E88C-481A-BA7A-927DE2685F12}"/>
              </a:ext>
            </a:extLst>
          </p:cNvPr>
          <p:cNvSpPr/>
          <p:nvPr/>
        </p:nvSpPr>
        <p:spPr>
          <a:xfrm>
            <a:off x="176565" y="523174"/>
            <a:ext cx="6877378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Procedures and functions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24D169-14CE-445F-80A9-EFBFEE5A783A}"/>
              </a:ext>
            </a:extLst>
          </p:cNvPr>
          <p:cNvSpPr/>
          <p:nvPr/>
        </p:nvSpPr>
        <p:spPr>
          <a:xfrm>
            <a:off x="176565" y="970380"/>
            <a:ext cx="568015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chemeClr val="accent2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def</a:t>
            </a:r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4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roll_a</a:t>
            </a:r>
            <a:r>
              <a:rPr lang="en-GB" sz="1400" dirty="0">
                <a:solidFill>
                  <a:srgbClr val="0070C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_dice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():</a:t>
            </a:r>
          </a:p>
          <a:p>
            <a:r>
              <a:rPr lang="en-GB" sz="14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#Roll a dice</a:t>
            </a:r>
          </a:p>
          <a:p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chemeClr val="accent2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return</a:t>
            </a:r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random.randint(1,6)</a:t>
            </a:r>
          </a:p>
          <a:p>
            <a:endParaRPr lang="en-GB" sz="8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chemeClr val="accent2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def</a:t>
            </a:r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4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order_dice</a:t>
            </a:r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(d1, d2):</a:t>
            </a: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#Change the order of the dice to highest value first</a:t>
            </a:r>
          </a:p>
          <a:p>
            <a:r>
              <a:rPr lang="en-GB" sz="14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#and join the values together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if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d1 &gt;= d2:</a:t>
            </a:r>
          </a:p>
          <a:p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GB" sz="1400" dirty="0">
                <a:solidFill>
                  <a:schemeClr val="accent2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return</a:t>
            </a:r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400" dirty="0">
                <a:solidFill>
                  <a:srgbClr val="7030A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int</a:t>
            </a:r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(d1 +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d2)</a:t>
            </a:r>
          </a:p>
          <a:p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chemeClr val="accent2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else</a:t>
            </a:r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return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(d2 + d1)</a:t>
            </a:r>
          </a:p>
          <a:p>
            <a:endParaRPr lang="en-GB" sz="800" dirty="0">
              <a:effectLst/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def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400" dirty="0">
                <a:solidFill>
                  <a:srgbClr val="0070C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output_throw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():</a:t>
            </a: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#Output the results of the two dice thrown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dice1 = 0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dice2 = 0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while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dice1 == dice2: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dice1 =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str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(roll_a_dice())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dice2 =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str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(roll_a_dice())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"Dice 1:"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dice1)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"Dice 2:"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dice2)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roll = order_dice(dice1, dice2)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return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roll</a:t>
            </a:r>
          </a:p>
          <a:p>
            <a:endParaRPr lang="en-GB" sz="8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#Main program</a:t>
            </a: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#This tool outputs the value of two dice</a:t>
            </a:r>
          </a:p>
          <a:p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import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random</a:t>
            </a:r>
          </a:p>
          <a:p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(output_throw())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334174-1AD1-4BE9-88B2-AD922582C4F0}"/>
              </a:ext>
            </a:extLst>
          </p:cNvPr>
          <p:cNvSpPr/>
          <p:nvPr/>
        </p:nvSpPr>
        <p:spPr>
          <a:xfrm>
            <a:off x="5856718" y="3800394"/>
            <a:ext cx="6308935" cy="15799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en-GB" dirty="0"/>
              <a:t> </a:t>
            </a: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output_throw()</a:t>
            </a:r>
            <a:r>
              <a:rPr lang="en-GB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b="1" dirty="0">
                <a:ea typeface="Calibri" panose="020F0502020204030204" pitchFamily="34" charset="0"/>
                <a:cs typeface="Times New Roman" panose="02020603050405020304" pitchFamily="18" charset="0"/>
              </a:rPr>
              <a:t>function</a:t>
            </a:r>
            <a:r>
              <a:rPr lang="en-GB" dirty="0">
                <a:ea typeface="Calibri" panose="020F0502020204030204" pitchFamily="34" charset="0"/>
                <a:cs typeface="Times New Roman" panose="02020603050405020304" pitchFamily="18" charset="0"/>
              </a:rPr>
              <a:t> also calls another sub-program, </a:t>
            </a: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order_dice()</a:t>
            </a:r>
            <a:r>
              <a:rPr lang="en-GB" dirty="0"/>
              <a:t>.</a:t>
            </a:r>
            <a:r>
              <a:rPr lang="en-GB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r>
              <a:rPr lang="en-GB" dirty="0"/>
              <a:t>The </a:t>
            </a: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order_dice()</a:t>
            </a:r>
            <a:r>
              <a:rPr lang="en-GB" dirty="0"/>
              <a:t> sub-program </a:t>
            </a:r>
            <a:r>
              <a:rPr lang="en-GB" dirty="0">
                <a:ea typeface="Calibri" panose="020F0502020204030204" pitchFamily="34" charset="0"/>
                <a:cs typeface="Times New Roman" panose="02020603050405020304" pitchFamily="18" charset="0"/>
              </a:rPr>
              <a:t>returns the values of the two dice, largest value first, making it yet another </a:t>
            </a:r>
            <a:r>
              <a:rPr lang="en-GB" b="1" dirty="0">
                <a:ea typeface="Calibri" panose="020F0502020204030204" pitchFamily="34" charset="0"/>
                <a:cs typeface="Times New Roman" panose="02020603050405020304" pitchFamily="18" charset="0"/>
              </a:rPr>
              <a:t>function</a:t>
            </a:r>
            <a:r>
              <a:rPr lang="en-GB" dirty="0"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endParaRPr lang="en-GB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051E9E-BA1A-4296-863C-1BF92FF398A0}"/>
              </a:ext>
            </a:extLst>
          </p:cNvPr>
          <p:cNvSpPr/>
          <p:nvPr/>
        </p:nvSpPr>
        <p:spPr>
          <a:xfrm>
            <a:off x="0" y="1729633"/>
            <a:ext cx="4721290" cy="1601395"/>
          </a:xfrm>
          <a:prstGeom prst="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B2F80E-7206-4D46-8030-361A4C69A132}"/>
              </a:ext>
            </a:extLst>
          </p:cNvPr>
          <p:cNvSpPr/>
          <p:nvPr/>
        </p:nvSpPr>
        <p:spPr>
          <a:xfrm>
            <a:off x="0" y="5309118"/>
            <a:ext cx="4721290" cy="221965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986B657-B871-427E-8A00-3663A5AF3B7A}"/>
              </a:ext>
            </a:extLst>
          </p:cNvPr>
          <p:cNvSpPr/>
          <p:nvPr/>
        </p:nvSpPr>
        <p:spPr>
          <a:xfrm>
            <a:off x="0" y="1758286"/>
            <a:ext cx="4721290" cy="266459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57DA5CA0-41D3-4948-91E5-2CF9177D02AE}"/>
              </a:ext>
            </a:extLst>
          </p:cNvPr>
          <p:cNvSpPr/>
          <p:nvPr/>
        </p:nvSpPr>
        <p:spPr>
          <a:xfrm>
            <a:off x="4325895" y="1856520"/>
            <a:ext cx="789425" cy="3563580"/>
          </a:xfrm>
          <a:prstGeom prst="arc">
            <a:avLst>
              <a:gd name="adj1" fmla="val 16200000"/>
              <a:gd name="adj2" fmla="val 5381113"/>
            </a:avLst>
          </a:prstGeom>
          <a:ln w="28575"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D8B5882D-8FE1-4359-A2A4-6952264D8944}"/>
              </a:ext>
            </a:extLst>
          </p:cNvPr>
          <p:cNvSpPr/>
          <p:nvPr/>
        </p:nvSpPr>
        <p:spPr>
          <a:xfrm flipH="1">
            <a:off x="26347" y="2879748"/>
            <a:ext cx="998376" cy="2546125"/>
          </a:xfrm>
          <a:prstGeom prst="arc">
            <a:avLst>
              <a:gd name="adj1" fmla="val 16261009"/>
              <a:gd name="adj2" fmla="val 5236893"/>
            </a:avLst>
          </a:prstGeom>
          <a:ln w="28575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DB1BB96-21A8-4F43-8F80-7ECA19D4A2FE}"/>
              </a:ext>
            </a:extLst>
          </p:cNvPr>
          <p:cNvSpPr/>
          <p:nvPr/>
        </p:nvSpPr>
        <p:spPr>
          <a:xfrm>
            <a:off x="783771" y="2613289"/>
            <a:ext cx="2052736" cy="266459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AE84B12-5A8D-4218-95A2-ED408F7E8D20}"/>
              </a:ext>
            </a:extLst>
          </p:cNvPr>
          <p:cNvSpPr/>
          <p:nvPr/>
        </p:nvSpPr>
        <p:spPr>
          <a:xfrm>
            <a:off x="783771" y="3059450"/>
            <a:ext cx="2052736" cy="266459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F5B89A2-E698-430B-843D-F26E8F3813BD}"/>
              </a:ext>
            </a:extLst>
          </p:cNvPr>
          <p:cNvCxnSpPr/>
          <p:nvPr/>
        </p:nvCxnSpPr>
        <p:spPr>
          <a:xfrm flipV="1">
            <a:off x="503853" y="2613289"/>
            <a:ext cx="0" cy="71262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Icon&#10;&#10;Description automatically generated">
            <a:extLst>
              <a:ext uri="{FF2B5EF4-FFF2-40B4-BE49-F238E27FC236}">
                <a16:creationId xmlns:a16="http://schemas.microsoft.com/office/drawing/2014/main" id="{7A8F4973-8FBF-28F4-294C-B44C864931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9175" y="523174"/>
            <a:ext cx="3076575" cy="307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577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8BD86EC-E88C-481A-BA7A-927DE2685F12}"/>
              </a:ext>
            </a:extLst>
          </p:cNvPr>
          <p:cNvSpPr/>
          <p:nvPr/>
        </p:nvSpPr>
        <p:spPr>
          <a:xfrm>
            <a:off x="176565" y="523174"/>
            <a:ext cx="6877378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Procedures and functions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24D169-14CE-445F-80A9-EFBFEE5A783A}"/>
              </a:ext>
            </a:extLst>
          </p:cNvPr>
          <p:cNvSpPr/>
          <p:nvPr/>
        </p:nvSpPr>
        <p:spPr>
          <a:xfrm>
            <a:off x="176565" y="970380"/>
            <a:ext cx="568015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chemeClr val="accent2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def</a:t>
            </a:r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4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roll_a</a:t>
            </a:r>
            <a:r>
              <a:rPr lang="en-GB" sz="1400" dirty="0">
                <a:solidFill>
                  <a:srgbClr val="0070C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_dice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():</a:t>
            </a:r>
          </a:p>
          <a:p>
            <a:r>
              <a:rPr lang="en-GB" sz="14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#Roll a dice</a:t>
            </a:r>
          </a:p>
          <a:p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chemeClr val="accent2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return</a:t>
            </a:r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random.randint(1,6)</a:t>
            </a:r>
          </a:p>
          <a:p>
            <a:endParaRPr lang="en-GB" sz="8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chemeClr val="accent2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def</a:t>
            </a:r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4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order_dice</a:t>
            </a:r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(d1, d2):</a:t>
            </a: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#Change the order of the dice to highest value first</a:t>
            </a:r>
          </a:p>
          <a:p>
            <a:r>
              <a:rPr lang="en-GB" sz="14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#and join the values together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if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d1 &gt;= d2:</a:t>
            </a:r>
          </a:p>
          <a:p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GB" sz="1400" dirty="0">
                <a:solidFill>
                  <a:schemeClr val="accent2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return</a:t>
            </a:r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400" dirty="0">
                <a:solidFill>
                  <a:srgbClr val="7030A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int</a:t>
            </a:r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(d1 +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d2)</a:t>
            </a:r>
          </a:p>
          <a:p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chemeClr val="accent2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else</a:t>
            </a:r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return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(d2 + d1)</a:t>
            </a:r>
          </a:p>
          <a:p>
            <a:endParaRPr lang="en-GB" sz="800" dirty="0">
              <a:effectLst/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def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400" dirty="0">
                <a:solidFill>
                  <a:srgbClr val="0070C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output_throw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():</a:t>
            </a: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#Output the results of the two dice thrown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dice1 = 0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dice2 = 0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while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dice1 == dice2: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dice1 =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str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(roll_a_dice())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dice2 =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str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(roll_a_dice())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"Dice 1:"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dice1)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"Dice 2:"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dice2)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roll = order_dice(dice1, dice2)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return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roll</a:t>
            </a:r>
          </a:p>
          <a:p>
            <a:endParaRPr lang="en-GB" sz="8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#Main program</a:t>
            </a: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#This tool outputs the value of two dice</a:t>
            </a:r>
          </a:p>
          <a:p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import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random</a:t>
            </a:r>
          </a:p>
          <a:p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(output_throw())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84CE1FA-6442-46B4-B63D-6C0715FC1ACE}"/>
              </a:ext>
            </a:extLst>
          </p:cNvPr>
          <p:cNvSpPr/>
          <p:nvPr/>
        </p:nvSpPr>
        <p:spPr>
          <a:xfrm>
            <a:off x="5856718" y="3800394"/>
            <a:ext cx="598105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ea typeface="Calibri" panose="020F0502020204030204" pitchFamily="34" charset="0"/>
                <a:cs typeface="Times New Roman" panose="02020603050405020304" pitchFamily="18" charset="0"/>
              </a:rPr>
              <a:t>Advantages of sub-programs</a:t>
            </a:r>
          </a:p>
          <a:p>
            <a:pPr marL="540000" indent="-285750">
              <a:buFont typeface="Arial" panose="020B0604020202020204" pitchFamily="34" charset="0"/>
              <a:buChar char="•"/>
            </a:pPr>
            <a:r>
              <a:rPr lang="en-GB" dirty="0">
                <a:ea typeface="Calibri" panose="020F0502020204030204" pitchFamily="34" charset="0"/>
                <a:cs typeface="Times New Roman" panose="02020603050405020304" pitchFamily="18" charset="0"/>
              </a:rPr>
              <a:t>Programs are easier to write and debug.</a:t>
            </a:r>
          </a:p>
          <a:p>
            <a:pPr marL="540000" indent="-285750">
              <a:buFont typeface="Arial" panose="020B0604020202020204" pitchFamily="34" charset="0"/>
              <a:buChar char="•"/>
            </a:pPr>
            <a:r>
              <a:rPr lang="en-GB" dirty="0">
                <a:ea typeface="Calibri" panose="020F0502020204030204" pitchFamily="34" charset="0"/>
                <a:cs typeface="Times New Roman" panose="02020603050405020304" pitchFamily="18" charset="0"/>
              </a:rPr>
              <a:t>Components can be easily reused.</a:t>
            </a:r>
          </a:p>
          <a:p>
            <a:pPr marL="540000" indent="-285750">
              <a:buFont typeface="Arial" panose="020B0604020202020204" pitchFamily="34" charset="0"/>
              <a:buChar char="•"/>
            </a:pPr>
            <a:r>
              <a:rPr lang="en-GB" b="1" dirty="0">
                <a:ea typeface="Calibri" panose="020F0502020204030204" pitchFamily="34" charset="0"/>
                <a:cs typeface="Times New Roman" panose="02020603050405020304" pitchFamily="18" charset="0"/>
              </a:rPr>
              <a:t>Functions</a:t>
            </a:r>
            <a:r>
              <a:rPr lang="en-GB" dirty="0">
                <a:ea typeface="Calibri" panose="020F0502020204030204" pitchFamily="34" charset="0"/>
                <a:cs typeface="Times New Roman" panose="02020603050405020304" pitchFamily="18" charset="0"/>
              </a:rPr>
              <a:t> can be stored in a library for easy reuse across multiple programs.</a:t>
            </a:r>
          </a:p>
          <a:p>
            <a:endParaRPr lang="en-GB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Icon&#10;&#10;Description automatically generated">
            <a:extLst>
              <a:ext uri="{FF2B5EF4-FFF2-40B4-BE49-F238E27FC236}">
                <a16:creationId xmlns:a16="http://schemas.microsoft.com/office/drawing/2014/main" id="{39B9833A-134B-94AD-9FA1-B18F8D6AE9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9175" y="523174"/>
            <a:ext cx="3076575" cy="307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0721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8BD86EC-E88C-481A-BA7A-927DE2685F12}"/>
              </a:ext>
            </a:extLst>
          </p:cNvPr>
          <p:cNvSpPr/>
          <p:nvPr/>
        </p:nvSpPr>
        <p:spPr>
          <a:xfrm>
            <a:off x="176565" y="523174"/>
            <a:ext cx="6877378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Procedures and functions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24D169-14CE-445F-80A9-EFBFEE5A783A}"/>
              </a:ext>
            </a:extLst>
          </p:cNvPr>
          <p:cNvSpPr/>
          <p:nvPr/>
        </p:nvSpPr>
        <p:spPr>
          <a:xfrm>
            <a:off x="176565" y="970380"/>
            <a:ext cx="568015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chemeClr val="accent2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def</a:t>
            </a:r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4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roll_a</a:t>
            </a:r>
            <a:r>
              <a:rPr lang="en-GB" sz="1400" dirty="0">
                <a:solidFill>
                  <a:srgbClr val="0070C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_dice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():</a:t>
            </a:r>
          </a:p>
          <a:p>
            <a:r>
              <a:rPr lang="en-GB" sz="14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#Roll a dice</a:t>
            </a:r>
          </a:p>
          <a:p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chemeClr val="accent2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return</a:t>
            </a:r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random.randint(1,6)</a:t>
            </a:r>
          </a:p>
          <a:p>
            <a:endParaRPr lang="en-GB" sz="8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chemeClr val="accent2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def</a:t>
            </a:r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400" dirty="0">
                <a:solidFill>
                  <a:srgbClr val="0070C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order_dice</a:t>
            </a:r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(d1, d2):</a:t>
            </a: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#Change the order of the dice to highest value first</a:t>
            </a:r>
          </a:p>
          <a:p>
            <a:r>
              <a:rPr lang="en-GB" sz="1400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#and join the values together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if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d1 &gt;= d2:</a:t>
            </a:r>
          </a:p>
          <a:p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GB" sz="1400" dirty="0">
                <a:solidFill>
                  <a:schemeClr val="accent2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return</a:t>
            </a:r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400" dirty="0">
                <a:solidFill>
                  <a:srgbClr val="7030A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int</a:t>
            </a:r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(d1 +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d2)</a:t>
            </a:r>
          </a:p>
          <a:p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chemeClr val="accent2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else</a:t>
            </a:r>
            <a:r>
              <a:rPr lang="en-GB" sz="14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return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(d2 + d1)</a:t>
            </a:r>
          </a:p>
          <a:p>
            <a:endParaRPr lang="en-GB" sz="800" dirty="0">
              <a:effectLst/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def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400" dirty="0">
                <a:solidFill>
                  <a:srgbClr val="0070C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output_throw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():</a:t>
            </a: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#Output the results of the two dice thrown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dice1 = 0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dice2 = 0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while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dice1 == dice2: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dice1 =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str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(roll_a_dice())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  dice2 =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str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(roll_a_dice())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"Dice 1:"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dice1)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GB" sz="1400" dirty="0">
                <a:solidFill>
                  <a:srgbClr val="00B05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"Dice 2:"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, dice2)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roll = order_dice(dice1, dice2)</a:t>
            </a:r>
          </a:p>
          <a:p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return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roll</a:t>
            </a:r>
          </a:p>
          <a:p>
            <a:endParaRPr lang="en-GB" sz="8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#Main program</a:t>
            </a:r>
          </a:p>
          <a:p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#This tool outputs the value of two dice</a:t>
            </a:r>
          </a:p>
          <a:p>
            <a:r>
              <a:rPr lang="en-GB" sz="1400" dirty="0">
                <a:solidFill>
                  <a:schemeClr val="accent2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import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random</a:t>
            </a:r>
          </a:p>
          <a:p>
            <a:r>
              <a:rPr lang="en-GB" sz="1400" dirty="0">
                <a:solidFill>
                  <a:srgbClr val="7030A0"/>
                </a:solidFill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en-GB" sz="14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(output_throw())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84CE1FA-6442-46B4-B63D-6C0715FC1ACE}"/>
              </a:ext>
            </a:extLst>
          </p:cNvPr>
          <p:cNvSpPr/>
          <p:nvPr/>
        </p:nvSpPr>
        <p:spPr>
          <a:xfrm>
            <a:off x="5856718" y="3800394"/>
            <a:ext cx="5981055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ea typeface="Calibri" panose="020F0502020204030204" pitchFamily="34" charset="0"/>
                <a:cs typeface="Times New Roman" panose="02020603050405020304" pitchFamily="18" charset="0"/>
              </a:rPr>
              <a:t>Advantages of sub-programs</a:t>
            </a:r>
          </a:p>
          <a:p>
            <a:pPr marL="540000" indent="-285750">
              <a:buFont typeface="Arial" panose="020B0604020202020204" pitchFamily="34" charset="0"/>
              <a:buChar char="•"/>
            </a:pPr>
            <a:r>
              <a:rPr lang="en-GB" dirty="0">
                <a:ea typeface="Calibri" panose="020F0502020204030204" pitchFamily="34" charset="0"/>
                <a:cs typeface="Times New Roman" panose="02020603050405020304" pitchFamily="18" charset="0"/>
              </a:rPr>
              <a:t>Programs are easier to write and debug.</a:t>
            </a:r>
          </a:p>
          <a:p>
            <a:pPr marL="540000" indent="-285750">
              <a:buFont typeface="Arial" panose="020B0604020202020204" pitchFamily="34" charset="0"/>
              <a:buChar char="•"/>
            </a:pPr>
            <a:r>
              <a:rPr lang="en-GB" dirty="0">
                <a:ea typeface="Calibri" panose="020F0502020204030204" pitchFamily="34" charset="0"/>
                <a:cs typeface="Times New Roman" panose="02020603050405020304" pitchFamily="18" charset="0"/>
              </a:rPr>
              <a:t>Components can be easily reused.</a:t>
            </a:r>
          </a:p>
          <a:p>
            <a:pPr marL="540000" indent="-285750">
              <a:buFont typeface="Arial" panose="020B0604020202020204" pitchFamily="34" charset="0"/>
              <a:buChar char="•"/>
            </a:pPr>
            <a:r>
              <a:rPr lang="en-GB" b="1" dirty="0">
                <a:ea typeface="Calibri" panose="020F0502020204030204" pitchFamily="34" charset="0"/>
                <a:cs typeface="Times New Roman" panose="02020603050405020304" pitchFamily="18" charset="0"/>
              </a:rPr>
              <a:t>Functions</a:t>
            </a:r>
            <a:r>
              <a:rPr lang="en-GB" dirty="0">
                <a:ea typeface="Calibri" panose="020F0502020204030204" pitchFamily="34" charset="0"/>
                <a:cs typeface="Times New Roman" panose="02020603050405020304" pitchFamily="18" charset="0"/>
              </a:rPr>
              <a:t> can be stored in a library for easy reuse across multiple programs.</a:t>
            </a:r>
          </a:p>
          <a:p>
            <a:pPr marL="540000" indent="-285750">
              <a:buFont typeface="Arial" panose="020B0604020202020204" pitchFamily="34" charset="0"/>
              <a:buChar char="•"/>
            </a:pPr>
            <a:r>
              <a:rPr lang="en-GB" dirty="0">
                <a:ea typeface="Calibri" panose="020F0502020204030204" pitchFamily="34" charset="0"/>
                <a:cs typeface="Times New Roman" panose="02020603050405020304" pitchFamily="18" charset="0"/>
              </a:rPr>
              <a:t>For example, </a:t>
            </a:r>
            <a:r>
              <a:rPr lang="en-GB" i="1" dirty="0">
                <a:ea typeface="Calibri" panose="020F0502020204030204" pitchFamily="34" charset="0"/>
                <a:cs typeface="Times New Roman" panose="02020603050405020304" pitchFamily="18" charset="0"/>
              </a:rPr>
              <a:t>import random</a:t>
            </a:r>
            <a:r>
              <a:rPr lang="en-GB" dirty="0">
                <a:ea typeface="Calibri" panose="020F0502020204030204" pitchFamily="34" charset="0"/>
                <a:cs typeface="Times New Roman" panose="02020603050405020304" pitchFamily="18" charset="0"/>
              </a:rPr>
              <a:t> imports the </a:t>
            </a:r>
            <a:r>
              <a:rPr lang="en-GB" i="1" dirty="0">
                <a:ea typeface="Calibri" panose="020F0502020204030204" pitchFamily="34" charset="0"/>
                <a:cs typeface="Times New Roman" panose="02020603050405020304" pitchFamily="18" charset="0"/>
              </a:rPr>
              <a:t>random</a:t>
            </a:r>
            <a:r>
              <a:rPr lang="en-GB" dirty="0">
                <a:ea typeface="Calibri" panose="020F0502020204030204" pitchFamily="34" charset="0"/>
                <a:cs typeface="Times New Roman" panose="02020603050405020304" pitchFamily="18" charset="0"/>
              </a:rPr>
              <a:t> library of </a:t>
            </a:r>
            <a:r>
              <a:rPr lang="en-GB" b="1" dirty="0">
                <a:ea typeface="Calibri" panose="020F0502020204030204" pitchFamily="34" charset="0"/>
                <a:cs typeface="Times New Roman" panose="02020603050405020304" pitchFamily="18" charset="0"/>
              </a:rPr>
              <a:t>functions</a:t>
            </a:r>
            <a:r>
              <a:rPr lang="en-GB" dirty="0">
                <a:ea typeface="Calibri" panose="020F0502020204030204" pitchFamily="34" charset="0"/>
                <a:cs typeface="Times New Roman" panose="02020603050405020304" pitchFamily="18" charset="0"/>
              </a:rPr>
              <a:t> into a program.</a:t>
            </a:r>
          </a:p>
          <a:p>
            <a:pPr marL="540000" indent="-285750">
              <a:buFont typeface="Arial" panose="020B0604020202020204" pitchFamily="34" charset="0"/>
              <a:buChar char="•"/>
            </a:pPr>
            <a:r>
              <a:rPr lang="en-GB" dirty="0">
                <a:ea typeface="Calibri" panose="020F0502020204030204" pitchFamily="34" charset="0"/>
                <a:cs typeface="Times New Roman" panose="02020603050405020304" pitchFamily="18" charset="0"/>
              </a:rPr>
              <a:t>Programs are also easier to test.</a:t>
            </a:r>
          </a:p>
          <a:p>
            <a:pPr marL="540000" indent="-285750">
              <a:buFont typeface="Arial" panose="020B0604020202020204" pitchFamily="34" charset="0"/>
              <a:buChar char="•"/>
            </a:pPr>
            <a:endParaRPr lang="en-GB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GB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A0836C-DB6B-405F-8FD2-B27560138644}"/>
              </a:ext>
            </a:extLst>
          </p:cNvPr>
          <p:cNvSpPr/>
          <p:nvPr/>
        </p:nvSpPr>
        <p:spPr>
          <a:xfrm>
            <a:off x="0" y="6288171"/>
            <a:ext cx="4721290" cy="221965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2" name="Picture 1" descr="Icon&#10;&#10;Description automatically generated">
            <a:extLst>
              <a:ext uri="{FF2B5EF4-FFF2-40B4-BE49-F238E27FC236}">
                <a16:creationId xmlns:a16="http://schemas.microsoft.com/office/drawing/2014/main" id="{72D373CE-4536-584D-B406-D8BF7D011F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9175" y="523174"/>
            <a:ext cx="3076575" cy="307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8758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8BD86EC-E88C-481A-BA7A-927DE2685F12}"/>
              </a:ext>
            </a:extLst>
          </p:cNvPr>
          <p:cNvSpPr/>
          <p:nvPr/>
        </p:nvSpPr>
        <p:spPr>
          <a:xfrm>
            <a:off x="176565" y="523174"/>
            <a:ext cx="6877378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Procedures and functions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8D7653C2-0D93-4F23-830F-2A14F21D8E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583" y="1266167"/>
            <a:ext cx="11622833" cy="531366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D8A195E-382A-486B-B9E5-FD06172AD5F0}"/>
              </a:ext>
            </a:extLst>
          </p:cNvPr>
          <p:cNvSpPr/>
          <p:nvPr/>
        </p:nvSpPr>
        <p:spPr>
          <a:xfrm>
            <a:off x="289346" y="2114550"/>
            <a:ext cx="1572792" cy="581025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glow rad="101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C4C7498-EEA6-477E-8BEA-AA10C81D47C0}"/>
              </a:ext>
            </a:extLst>
          </p:cNvPr>
          <p:cNvSpPr/>
          <p:nvPr/>
        </p:nvSpPr>
        <p:spPr>
          <a:xfrm>
            <a:off x="3009900" y="1266167"/>
            <a:ext cx="1555750" cy="518183"/>
          </a:xfrm>
          <a:prstGeom prst="roundRect">
            <a:avLst>
              <a:gd name="adj" fmla="val 48528"/>
            </a:avLst>
          </a:prstGeom>
          <a:noFill/>
          <a:ln>
            <a:solidFill>
              <a:schemeClr val="tx1"/>
            </a:solidFill>
          </a:ln>
          <a:effectLst>
            <a:glow rad="101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FFCD7D9-83A7-44E7-BF50-1EF4CD7576F4}"/>
              </a:ext>
            </a:extLst>
          </p:cNvPr>
          <p:cNvCxnSpPr>
            <a:stCxn id="5" idx="3"/>
          </p:cNvCxnSpPr>
          <p:nvPr/>
        </p:nvCxnSpPr>
        <p:spPr>
          <a:xfrm flipV="1">
            <a:off x="1862138" y="1543050"/>
            <a:ext cx="1147762" cy="862013"/>
          </a:xfrm>
          <a:prstGeom prst="straightConnector1">
            <a:avLst/>
          </a:prstGeom>
          <a:ln w="2857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A5447413-E4D1-4D1D-BD04-BF53B8589A12}"/>
              </a:ext>
            </a:extLst>
          </p:cNvPr>
          <p:cNvSpPr/>
          <p:nvPr/>
        </p:nvSpPr>
        <p:spPr>
          <a:xfrm>
            <a:off x="6095999" y="5024353"/>
            <a:ext cx="355282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ea typeface="Calibri" panose="020F0502020204030204" pitchFamily="34" charset="0"/>
                <a:cs typeface="Times New Roman" panose="02020603050405020304" pitchFamily="18" charset="0"/>
              </a:rPr>
              <a:t>Here we can see how sub-programs are called from inside flowcharts.</a:t>
            </a:r>
          </a:p>
          <a:p>
            <a:endParaRPr lang="en-GB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02B597-63A9-420E-BE60-650452842496}"/>
              </a:ext>
            </a:extLst>
          </p:cNvPr>
          <p:cNvSpPr/>
          <p:nvPr/>
        </p:nvSpPr>
        <p:spPr>
          <a:xfrm>
            <a:off x="3000375" y="2126457"/>
            <a:ext cx="1572792" cy="581025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640BB26-7E95-47F3-B17D-725AF7F29D70}"/>
              </a:ext>
            </a:extLst>
          </p:cNvPr>
          <p:cNvSpPr/>
          <p:nvPr/>
        </p:nvSpPr>
        <p:spPr>
          <a:xfrm>
            <a:off x="5706642" y="1266166"/>
            <a:ext cx="1555750" cy="518183"/>
          </a:xfrm>
          <a:prstGeom prst="roundRect">
            <a:avLst>
              <a:gd name="adj" fmla="val 48528"/>
            </a:avLst>
          </a:prstGeom>
          <a:noFill/>
          <a:ln>
            <a:solidFill>
              <a:schemeClr val="tx1"/>
            </a:solidFill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454AE6C-846C-43A5-B61A-14B26B46153B}"/>
              </a:ext>
            </a:extLst>
          </p:cNvPr>
          <p:cNvSpPr/>
          <p:nvPr/>
        </p:nvSpPr>
        <p:spPr>
          <a:xfrm>
            <a:off x="2992858" y="3030539"/>
            <a:ext cx="1572792" cy="581025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F9F7106-35E9-44C5-BF65-96CB6BE5227B}"/>
              </a:ext>
            </a:extLst>
          </p:cNvPr>
          <p:cNvSpPr/>
          <p:nvPr/>
        </p:nvSpPr>
        <p:spPr>
          <a:xfrm>
            <a:off x="3000375" y="5149307"/>
            <a:ext cx="1572792" cy="581025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33F531E-3734-4D73-BCB2-67EBA2D0E7FB}"/>
              </a:ext>
            </a:extLst>
          </p:cNvPr>
          <p:cNvSpPr/>
          <p:nvPr/>
        </p:nvSpPr>
        <p:spPr>
          <a:xfrm>
            <a:off x="8411750" y="1264908"/>
            <a:ext cx="1555750" cy="518183"/>
          </a:xfrm>
          <a:prstGeom prst="roundRect">
            <a:avLst>
              <a:gd name="adj" fmla="val 48528"/>
            </a:avLst>
          </a:prstGeom>
          <a:noFill/>
          <a:ln>
            <a:solidFill>
              <a:schemeClr val="tx1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0BCCDA4-5577-473F-8A36-6B17E1A73543}"/>
              </a:ext>
            </a:extLst>
          </p:cNvPr>
          <p:cNvCxnSpPr>
            <a:cxnSpLocks/>
            <a:endCxn id="14" idx="1"/>
          </p:cNvCxnSpPr>
          <p:nvPr/>
        </p:nvCxnSpPr>
        <p:spPr>
          <a:xfrm flipV="1">
            <a:off x="4587455" y="1525258"/>
            <a:ext cx="1119187" cy="877028"/>
          </a:xfrm>
          <a:prstGeom prst="straightConnector1">
            <a:avLst/>
          </a:prstGeom>
          <a:ln w="2857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A1557EA-E0DE-44E6-A763-FD722EB0D88B}"/>
              </a:ext>
            </a:extLst>
          </p:cNvPr>
          <p:cNvCxnSpPr>
            <a:cxnSpLocks/>
            <a:endCxn id="14" idx="1"/>
          </p:cNvCxnSpPr>
          <p:nvPr/>
        </p:nvCxnSpPr>
        <p:spPr>
          <a:xfrm flipV="1">
            <a:off x="4556125" y="1525258"/>
            <a:ext cx="1150517" cy="1799792"/>
          </a:xfrm>
          <a:prstGeom prst="straightConnector1">
            <a:avLst/>
          </a:prstGeom>
          <a:ln w="2857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3690964-221F-4779-A06F-4E6266AAE21A}"/>
              </a:ext>
            </a:extLst>
          </p:cNvPr>
          <p:cNvCxnSpPr>
            <a:cxnSpLocks/>
            <a:endCxn id="19" idx="1"/>
          </p:cNvCxnSpPr>
          <p:nvPr/>
        </p:nvCxnSpPr>
        <p:spPr>
          <a:xfrm flipV="1">
            <a:off x="4584700" y="1524000"/>
            <a:ext cx="3827050" cy="3962018"/>
          </a:xfrm>
          <a:prstGeom prst="straightConnector1">
            <a:avLst/>
          </a:prstGeom>
          <a:ln w="2857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8712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E24BF5A-8DED-5548-4C9D-2D9B3DF59623}"/>
              </a:ext>
            </a:extLst>
          </p:cNvPr>
          <p:cNvSpPr/>
          <p:nvPr/>
        </p:nvSpPr>
        <p:spPr>
          <a:xfrm>
            <a:off x="176564" y="523174"/>
            <a:ext cx="517648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Cambridge IGCSE pseudocode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FCC078-7BBB-B528-CF9A-288E29E0F4D0}"/>
              </a:ext>
            </a:extLst>
          </p:cNvPr>
          <p:cNvSpPr/>
          <p:nvPr/>
        </p:nvSpPr>
        <p:spPr>
          <a:xfrm>
            <a:off x="176564" y="993174"/>
            <a:ext cx="1147251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Here is an example of how these concepts will look in exam papers following the Cambridge IGCSE pseudocode format, which is listed towards the back of the syllabus.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D21349D-1B43-E838-BAB9-5A9C0025DBF1}"/>
              </a:ext>
            </a:extLst>
          </p:cNvPr>
          <p:cNvSpPr/>
          <p:nvPr/>
        </p:nvSpPr>
        <p:spPr>
          <a:xfrm>
            <a:off x="312192" y="1950851"/>
            <a:ext cx="11572150" cy="4688074"/>
          </a:xfrm>
          <a:prstGeom prst="roundRect">
            <a:avLst>
              <a:gd name="adj" fmla="val 5148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GB" sz="20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chemeClr val="tx1"/>
                </a:solidFill>
              </a:rPr>
              <a:t>A procedure with no parameters:</a:t>
            </a:r>
          </a:p>
          <a:p>
            <a:endParaRPr lang="en-GB" sz="11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PROCEDURE &lt;identifier&gt;</a:t>
            </a:r>
          </a:p>
          <a:p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    &lt;statements&gt;</a:t>
            </a:r>
          </a:p>
          <a:p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ENDPROCEDURE</a:t>
            </a:r>
          </a:p>
          <a:p>
            <a:endParaRPr lang="en-GB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chemeClr val="tx1"/>
                </a:solidFill>
              </a:rPr>
              <a:t>A procedure </a:t>
            </a:r>
            <a:r>
              <a:rPr lang="en-GB" b="1" dirty="0">
                <a:solidFill>
                  <a:schemeClr val="tx1"/>
                </a:solidFill>
              </a:rPr>
              <a:t>with</a:t>
            </a:r>
            <a:r>
              <a:rPr lang="en-GB" dirty="0">
                <a:solidFill>
                  <a:schemeClr val="tx1"/>
                </a:solidFill>
              </a:rPr>
              <a:t> parameters:</a:t>
            </a:r>
          </a:p>
          <a:p>
            <a:endParaRPr lang="en-GB" sz="11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PROCEDURE &lt;identifier&gt; (&lt;param1&gt;:&lt;datatype&gt;, &lt;param2&gt;:&lt;datatype&gt; ...)</a:t>
            </a:r>
          </a:p>
          <a:p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    &lt;statements&gt;</a:t>
            </a:r>
          </a:p>
          <a:p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ENDPROCEDURE</a:t>
            </a:r>
          </a:p>
          <a:p>
            <a:endParaRPr lang="en-GB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chemeClr val="tx1"/>
                </a:solidFill>
              </a:rPr>
              <a:t>Procedures should be called as follows:</a:t>
            </a:r>
          </a:p>
          <a:p>
            <a:endParaRPr lang="en-GB" sz="11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CALL &lt;identifier&gt;</a:t>
            </a:r>
          </a:p>
          <a:p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CALL &lt;identifier&gt;(Value1, Value2 ...)</a:t>
            </a:r>
          </a:p>
          <a:p>
            <a:endParaRPr lang="en-GB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endParaRPr lang="en-GB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464B304-9104-5248-B2FE-9AFFC4EF5A1B}"/>
              </a:ext>
            </a:extLst>
          </p:cNvPr>
          <p:cNvSpPr/>
          <p:nvPr/>
        </p:nvSpPr>
        <p:spPr>
          <a:xfrm>
            <a:off x="312192" y="1950851"/>
            <a:ext cx="11698707" cy="303614"/>
          </a:xfrm>
          <a:prstGeom prst="roundRect">
            <a:avLst>
              <a:gd name="adj" fmla="val 29488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tx1"/>
                </a:solidFill>
              </a:rPr>
              <a:t>Procedures</a:t>
            </a:r>
          </a:p>
        </p:txBody>
      </p:sp>
    </p:spTree>
    <p:extLst>
      <p:ext uri="{BB962C8B-B14F-4D97-AF65-F5344CB8AC3E}">
        <p14:creationId xmlns:p14="http://schemas.microsoft.com/office/powerpoint/2010/main" val="6886809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E24BF5A-8DED-5548-4C9D-2D9B3DF59623}"/>
              </a:ext>
            </a:extLst>
          </p:cNvPr>
          <p:cNvSpPr/>
          <p:nvPr/>
        </p:nvSpPr>
        <p:spPr>
          <a:xfrm>
            <a:off x="176564" y="523174"/>
            <a:ext cx="517648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Cambridge IGCSE pseudocode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FCC078-7BBB-B528-CF9A-288E29E0F4D0}"/>
              </a:ext>
            </a:extLst>
          </p:cNvPr>
          <p:cNvSpPr/>
          <p:nvPr/>
        </p:nvSpPr>
        <p:spPr>
          <a:xfrm>
            <a:off x="176564" y="993174"/>
            <a:ext cx="1147251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Here is an example of how these concepts will look in exam papers following the Cambridge IGCSE pseudocode format, which is listed towards the back of the syllabus.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D21349D-1B43-E838-BAB9-5A9C0025DBF1}"/>
              </a:ext>
            </a:extLst>
          </p:cNvPr>
          <p:cNvSpPr/>
          <p:nvPr/>
        </p:nvSpPr>
        <p:spPr>
          <a:xfrm>
            <a:off x="312192" y="1950851"/>
            <a:ext cx="11572150" cy="4688074"/>
          </a:xfrm>
          <a:prstGeom prst="roundRect">
            <a:avLst>
              <a:gd name="adj" fmla="val 5148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GB" sz="20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</a:rPr>
              <a:t>PROCEDURE Default Line</a:t>
            </a:r>
          </a:p>
          <a:p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</a:rPr>
              <a:t>    CALL LINE(60)</a:t>
            </a:r>
          </a:p>
          <a:p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</a:rPr>
              <a:t>ENDPROCEDURE</a:t>
            </a:r>
          </a:p>
          <a:p>
            <a:endParaRPr lang="en-GB" sz="105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</a:rPr>
              <a:t>PROCEDURE Line(Size : INTEGER)</a:t>
            </a:r>
          </a:p>
          <a:p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</a:rPr>
              <a:t>    DECLARE Length : INTEGER</a:t>
            </a:r>
          </a:p>
          <a:p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</a:rPr>
              <a:t>    FOR Length </a:t>
            </a:r>
            <a:r>
              <a:rPr lang="en-GB" sz="1700" dirty="0">
                <a:solidFill>
                  <a:schemeClr val="tx1"/>
                </a:solidFill>
                <a:latin typeface="Wingdings" panose="05000000000000000000" pitchFamily="2" charset="2"/>
              </a:rPr>
              <a:t>ß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</a:rPr>
              <a:t> 1 TO Size</a:t>
            </a:r>
          </a:p>
          <a:p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</a:rPr>
              <a:t>        OUTPUT '-'</a:t>
            </a:r>
          </a:p>
          <a:p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</a:rPr>
              <a:t>    NEXT Length</a:t>
            </a:r>
          </a:p>
          <a:p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</a:rPr>
              <a:t>ENDPROCEDURE</a:t>
            </a:r>
          </a:p>
          <a:p>
            <a:endParaRPr lang="en-GB" sz="105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</a:rPr>
              <a:t>IF 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</a:rPr>
              <a:t>MySize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</a:rPr>
              <a:t> = Default</a:t>
            </a:r>
          </a:p>
          <a:p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</a:rPr>
              <a:t>  THEN</a:t>
            </a:r>
          </a:p>
          <a:p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</a:rPr>
              <a:t>    CALL 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</a:rPr>
              <a:t>DefaultLine</a:t>
            </a:r>
            <a:endParaRPr lang="en-GB" sz="17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</a:rPr>
              <a:t>  ELSE</a:t>
            </a:r>
          </a:p>
          <a:p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</a:rPr>
              <a:t>    CALL Line(</a:t>
            </a:r>
            <a:r>
              <a:rPr lang="en-GB" sz="1700" dirty="0" err="1">
                <a:solidFill>
                  <a:schemeClr val="tx1"/>
                </a:solidFill>
                <a:latin typeface="Consolas" panose="020B0609020204030204" pitchFamily="49" charset="0"/>
              </a:rPr>
              <a:t>MySize</a:t>
            </a:r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GB" sz="1700" dirty="0">
                <a:solidFill>
                  <a:schemeClr val="tx1"/>
                </a:solidFill>
                <a:latin typeface="Consolas" panose="020B0609020204030204" pitchFamily="49" charset="0"/>
              </a:rPr>
              <a:t>ENDIF </a:t>
            </a:r>
          </a:p>
          <a:p>
            <a:endParaRPr lang="en-GB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endParaRPr lang="en-GB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endParaRPr lang="en-GB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464B304-9104-5248-B2FE-9AFFC4EF5A1B}"/>
              </a:ext>
            </a:extLst>
          </p:cNvPr>
          <p:cNvSpPr/>
          <p:nvPr/>
        </p:nvSpPr>
        <p:spPr>
          <a:xfrm>
            <a:off x="312192" y="1950851"/>
            <a:ext cx="11698707" cy="303614"/>
          </a:xfrm>
          <a:prstGeom prst="roundRect">
            <a:avLst>
              <a:gd name="adj" fmla="val 29488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tx1"/>
                </a:solidFill>
              </a:rPr>
              <a:t>Procedures</a:t>
            </a:r>
          </a:p>
        </p:txBody>
      </p:sp>
    </p:spTree>
    <p:extLst>
      <p:ext uri="{BB962C8B-B14F-4D97-AF65-F5344CB8AC3E}">
        <p14:creationId xmlns:p14="http://schemas.microsoft.com/office/powerpoint/2010/main" val="2866606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E24BF5A-8DED-5548-4C9D-2D9B3DF59623}"/>
              </a:ext>
            </a:extLst>
          </p:cNvPr>
          <p:cNvSpPr/>
          <p:nvPr/>
        </p:nvSpPr>
        <p:spPr>
          <a:xfrm>
            <a:off x="176564" y="523174"/>
            <a:ext cx="517648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Cambridge IGCSE pseudocode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FCC078-7BBB-B528-CF9A-288E29E0F4D0}"/>
              </a:ext>
            </a:extLst>
          </p:cNvPr>
          <p:cNvSpPr/>
          <p:nvPr/>
        </p:nvSpPr>
        <p:spPr>
          <a:xfrm>
            <a:off x="176564" y="993174"/>
            <a:ext cx="1147251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Here is an example of how these concepts will look in exam papers following the Cambridge IGCSE pseudocode format, which is listed towards the back of the syllabus.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D21349D-1B43-E838-BAB9-5A9C0025DBF1}"/>
              </a:ext>
            </a:extLst>
          </p:cNvPr>
          <p:cNvSpPr/>
          <p:nvPr/>
        </p:nvSpPr>
        <p:spPr>
          <a:xfrm>
            <a:off x="312192" y="1950851"/>
            <a:ext cx="11572150" cy="4688074"/>
          </a:xfrm>
          <a:prstGeom prst="roundRect">
            <a:avLst>
              <a:gd name="adj" fmla="val 5148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GB" sz="20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chemeClr val="tx1"/>
                </a:solidFill>
              </a:rPr>
              <a:t>A function with no parameters:</a:t>
            </a:r>
          </a:p>
          <a:p>
            <a:endParaRPr lang="en-GB" sz="11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FUNCTION &lt;identifier&gt; RETURNS &lt;data type&gt;</a:t>
            </a:r>
          </a:p>
          <a:p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    &lt;statements&gt;</a:t>
            </a:r>
          </a:p>
          <a:p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ENDFUNCTION</a:t>
            </a:r>
          </a:p>
          <a:p>
            <a:endParaRPr lang="en-GB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chemeClr val="tx1"/>
                </a:solidFill>
              </a:rPr>
              <a:t>A function </a:t>
            </a:r>
            <a:r>
              <a:rPr lang="en-GB" b="1" dirty="0">
                <a:solidFill>
                  <a:schemeClr val="tx1"/>
                </a:solidFill>
              </a:rPr>
              <a:t>with</a:t>
            </a:r>
            <a:r>
              <a:rPr lang="en-GB" dirty="0">
                <a:solidFill>
                  <a:schemeClr val="tx1"/>
                </a:solidFill>
              </a:rPr>
              <a:t> parameters:</a:t>
            </a:r>
          </a:p>
          <a:p>
            <a:endParaRPr lang="en-GB" sz="11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FUNCTION &lt;identifier&gt; (&lt;param1&gt;:&lt;datatype&gt;, &lt;param2&gt;:&lt;datatype&gt; ...) RETURNS &lt;data type&gt;</a:t>
            </a:r>
          </a:p>
          <a:p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    &lt;statements&gt;</a:t>
            </a:r>
          </a:p>
          <a:p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ENDFUNCTION</a:t>
            </a:r>
          </a:p>
          <a:p>
            <a:endParaRPr lang="en-GB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algn="l"/>
            <a:r>
              <a:rPr lang="en-GB" sz="1800" b="0" i="0" u="none" strike="noStrike" baseline="0" dirty="0">
                <a:solidFill>
                  <a:schemeClr val="tx1"/>
                </a:solidFill>
                <a:latin typeface="BlissPro-Light"/>
              </a:rPr>
              <a:t>The keyword </a:t>
            </a:r>
            <a:r>
              <a:rPr lang="en-GB" sz="1800" b="0" i="0" u="none" strike="noStrike" baseline="0" dirty="0">
                <a:solidFill>
                  <a:schemeClr val="tx1"/>
                </a:solidFill>
                <a:latin typeface="Consolas" panose="020B0609020204030204" pitchFamily="49" charset="0"/>
              </a:rPr>
              <a:t>CALL</a:t>
            </a:r>
            <a:r>
              <a:rPr lang="en-GB" sz="1800" b="0" i="0" u="none" strike="noStrike" baseline="0" dirty="0">
                <a:solidFill>
                  <a:schemeClr val="tx1"/>
                </a:solidFill>
              </a:rPr>
              <a:t> </a:t>
            </a:r>
            <a:r>
              <a:rPr lang="en-GB" sz="1800" b="0" i="0" u="none" strike="noStrike" baseline="0" dirty="0">
                <a:solidFill>
                  <a:schemeClr val="tx1"/>
                </a:solidFill>
                <a:latin typeface="BlissPro-Light"/>
              </a:rPr>
              <a:t>should not be used when calling a function. </a:t>
            </a:r>
          </a:p>
          <a:p>
            <a:pPr algn="l"/>
            <a:r>
              <a:rPr lang="en-GB" sz="1800" b="0" i="0" u="none" strike="noStrike" baseline="0" dirty="0">
                <a:solidFill>
                  <a:schemeClr val="tx1"/>
                </a:solidFill>
                <a:latin typeface="BlissPro-Light"/>
              </a:rPr>
              <a:t>Functions should only be called as part of an expression. </a:t>
            </a:r>
          </a:p>
          <a:p>
            <a:pPr algn="l"/>
            <a:r>
              <a:rPr lang="en-GB" sz="1800" b="0" i="0" u="none" strike="noStrike" baseline="0" dirty="0">
                <a:solidFill>
                  <a:schemeClr val="tx1"/>
                </a:solidFill>
                <a:latin typeface="BlissPro-Light"/>
              </a:rPr>
              <a:t>When the </a:t>
            </a:r>
            <a:r>
              <a:rPr lang="en-GB" sz="1800" b="0" i="0" u="none" strike="noStrike" baseline="0" dirty="0">
                <a:solidFill>
                  <a:schemeClr val="tx1"/>
                </a:solidFill>
                <a:latin typeface="Consolas" panose="020B0609020204030204" pitchFamily="49" charset="0"/>
              </a:rPr>
              <a:t>RETURN</a:t>
            </a:r>
            <a:r>
              <a:rPr lang="en-GB" sz="1800" b="0" i="0" u="none" strike="noStrike" baseline="0" dirty="0">
                <a:solidFill>
                  <a:schemeClr val="tx1"/>
                </a:solidFill>
              </a:rPr>
              <a:t> </a:t>
            </a:r>
            <a:r>
              <a:rPr lang="en-GB" sz="1800" b="0" i="0" u="none" strike="noStrike" baseline="0" dirty="0">
                <a:solidFill>
                  <a:schemeClr val="tx1"/>
                </a:solidFill>
                <a:latin typeface="BlissPro-Light"/>
              </a:rPr>
              <a:t>statement is executed, the value returned replaces the function call in the expression and the expression is then evaluated.</a:t>
            </a:r>
            <a:endParaRPr lang="en-GB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endParaRPr lang="en-GB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464B304-9104-5248-B2FE-9AFFC4EF5A1B}"/>
              </a:ext>
            </a:extLst>
          </p:cNvPr>
          <p:cNvSpPr/>
          <p:nvPr/>
        </p:nvSpPr>
        <p:spPr>
          <a:xfrm>
            <a:off x="312193" y="1950851"/>
            <a:ext cx="11567616" cy="303614"/>
          </a:xfrm>
          <a:prstGeom prst="roundRect">
            <a:avLst>
              <a:gd name="adj" fmla="val 2948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tx1"/>
                </a:solidFill>
              </a:rPr>
              <a:t>Functions</a:t>
            </a:r>
          </a:p>
        </p:txBody>
      </p:sp>
    </p:spTree>
    <p:extLst>
      <p:ext uri="{BB962C8B-B14F-4D97-AF65-F5344CB8AC3E}">
        <p14:creationId xmlns:p14="http://schemas.microsoft.com/office/powerpoint/2010/main" val="42506331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E24BF5A-8DED-5548-4C9D-2D9B3DF59623}"/>
              </a:ext>
            </a:extLst>
          </p:cNvPr>
          <p:cNvSpPr/>
          <p:nvPr/>
        </p:nvSpPr>
        <p:spPr>
          <a:xfrm>
            <a:off x="176564" y="523174"/>
            <a:ext cx="517648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Cambridge IGCSE pseudocode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FCC078-7BBB-B528-CF9A-288E29E0F4D0}"/>
              </a:ext>
            </a:extLst>
          </p:cNvPr>
          <p:cNvSpPr/>
          <p:nvPr/>
        </p:nvSpPr>
        <p:spPr>
          <a:xfrm>
            <a:off x="176564" y="993174"/>
            <a:ext cx="1147251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Here is an example of how these concepts will look in exam papers following the Cambridge IGCSE pseudocode format, which is listed towards the back of the syllabus.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D21349D-1B43-E838-BAB9-5A9C0025DBF1}"/>
              </a:ext>
            </a:extLst>
          </p:cNvPr>
          <p:cNvSpPr/>
          <p:nvPr/>
        </p:nvSpPr>
        <p:spPr>
          <a:xfrm>
            <a:off x="312192" y="1950851"/>
            <a:ext cx="11572150" cy="4688074"/>
          </a:xfrm>
          <a:prstGeom prst="roundRect">
            <a:avLst>
              <a:gd name="adj" fmla="val 5148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GB" sz="20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FUNCTION </a:t>
            </a:r>
            <a:r>
              <a:rPr lang="en-GB" dirty="0" err="1">
                <a:solidFill>
                  <a:schemeClr val="tx1"/>
                </a:solidFill>
                <a:latin typeface="Consolas" panose="020B0609020204030204" pitchFamily="49" charset="0"/>
              </a:rPr>
              <a:t>SumSquare</a:t>
            </a:r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(Number1:INTEGER, Number2:INTEGER) RETURNS INTEGER</a:t>
            </a:r>
          </a:p>
          <a:p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    RETURN (Number1 * Number1) + (Number2 * Number2)</a:t>
            </a:r>
          </a:p>
          <a:p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ENDFUNCTION</a:t>
            </a:r>
          </a:p>
          <a:p>
            <a:endParaRPr lang="en-GB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OUTPUT "Sum of squares = ", </a:t>
            </a:r>
            <a:r>
              <a:rPr lang="en-GB" dirty="0" err="1">
                <a:solidFill>
                  <a:schemeClr val="tx1"/>
                </a:solidFill>
                <a:latin typeface="Consolas" panose="020B0609020204030204" pitchFamily="49" charset="0"/>
              </a:rPr>
              <a:t>SumSquare</a:t>
            </a:r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</a:rPr>
              <a:t>(10, 20)</a:t>
            </a:r>
          </a:p>
          <a:p>
            <a:endParaRPr lang="en-GB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endParaRPr lang="en-GB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464B304-9104-5248-B2FE-9AFFC4EF5A1B}"/>
              </a:ext>
            </a:extLst>
          </p:cNvPr>
          <p:cNvSpPr/>
          <p:nvPr/>
        </p:nvSpPr>
        <p:spPr>
          <a:xfrm>
            <a:off x="312193" y="1950851"/>
            <a:ext cx="11567616" cy="303614"/>
          </a:xfrm>
          <a:prstGeom prst="roundRect">
            <a:avLst>
              <a:gd name="adj" fmla="val 2948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tx1"/>
                </a:solidFill>
              </a:rPr>
              <a:t>Functions</a:t>
            </a:r>
          </a:p>
        </p:txBody>
      </p:sp>
    </p:spTree>
    <p:extLst>
      <p:ext uri="{BB962C8B-B14F-4D97-AF65-F5344CB8AC3E}">
        <p14:creationId xmlns:p14="http://schemas.microsoft.com/office/powerpoint/2010/main" val="24491492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06FC4BB-E42D-4B5A-9B89-6AD16D0263F8}"/>
              </a:ext>
            </a:extLst>
          </p:cNvPr>
          <p:cNvSpPr/>
          <p:nvPr/>
        </p:nvSpPr>
        <p:spPr>
          <a:xfrm>
            <a:off x="404196" y="1887113"/>
            <a:ext cx="1127773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Larger programs are developed as a set of subroutines or </a:t>
            </a: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sub-programs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Structuring code using sub-programs makes it easier to read and debug.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Functions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return values and create reusable program components.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Procedures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structure a program in a modular way, making it easier to read.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Each sub-program can be tested independently.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Sub-programs can be saved in libraries and reused in other programs.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CC389D-689C-47B0-9D84-7D9ED9028C71}"/>
              </a:ext>
            </a:extLst>
          </p:cNvPr>
          <p:cNvSpPr/>
          <p:nvPr/>
        </p:nvSpPr>
        <p:spPr>
          <a:xfrm>
            <a:off x="1517631" y="523174"/>
            <a:ext cx="8363487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Procedures and functions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2" descr="make_notes">
            <a:extLst>
              <a:ext uri="{FF2B5EF4-FFF2-40B4-BE49-F238E27FC236}">
                <a16:creationId xmlns:a16="http://schemas.microsoft.com/office/drawing/2014/main" id="{A1C69573-2308-B53C-B211-45A9561CE8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06" y="611347"/>
            <a:ext cx="1113436" cy="111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92439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2947853-E1EE-4D77-9DC1-BD14C2A80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625" y="-28575"/>
            <a:ext cx="12239625" cy="688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8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791</TotalTime>
  <Words>2161</Words>
  <Application>Microsoft Office PowerPoint</Application>
  <PresentationFormat>Widescreen</PresentationFormat>
  <Paragraphs>340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BlissPro-Light</vt:lpstr>
      <vt:lpstr>Calibri</vt:lpstr>
      <vt:lpstr>Calibri Light</vt:lpstr>
      <vt:lpstr>Century Gothic</vt:lpstr>
      <vt:lpstr>Consolas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Craig Sargent</dc:creator>
  <cp:lastModifiedBy>Craig Sargent</cp:lastModifiedBy>
  <cp:revision>180</cp:revision>
  <dcterms:created xsi:type="dcterms:W3CDTF">2019-10-14T15:21:06Z</dcterms:created>
  <dcterms:modified xsi:type="dcterms:W3CDTF">2022-09-01T10:09:06Z</dcterms:modified>
</cp:coreProperties>
</file>