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59" r:id="rId3"/>
    <p:sldId id="261" r:id="rId4"/>
    <p:sldId id="276" r:id="rId5"/>
    <p:sldId id="263" r:id="rId6"/>
    <p:sldId id="277" r:id="rId7"/>
    <p:sldId id="278" r:id="rId8"/>
    <p:sldId id="292" r:id="rId9"/>
    <p:sldId id="280" r:id="rId10"/>
    <p:sldId id="281" r:id="rId11"/>
    <p:sldId id="286" r:id="rId12"/>
    <p:sldId id="282" r:id="rId13"/>
    <p:sldId id="284" r:id="rId14"/>
    <p:sldId id="283" r:id="rId15"/>
    <p:sldId id="285" r:id="rId16"/>
    <p:sldId id="287" r:id="rId17"/>
    <p:sldId id="288" r:id="rId18"/>
    <p:sldId id="289" r:id="rId19"/>
    <p:sldId id="290" r:id="rId20"/>
    <p:sldId id="291" r:id="rId21"/>
    <p:sldId id="279" r:id="rId22"/>
    <p:sldId id="33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Local and global variables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mbox_warning_orange.sv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mbox_warning_orange.sv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Local and global variables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632C9ED-5C98-40E9-AC49-611AD3C8BAEA}"/>
              </a:ext>
            </a:extLst>
          </p:cNvPr>
          <p:cNvGrpSpPr/>
          <p:nvPr/>
        </p:nvGrpSpPr>
        <p:grpSpPr>
          <a:xfrm>
            <a:off x="0" y="411481"/>
            <a:ext cx="12192000" cy="4217670"/>
            <a:chOff x="1062990" y="5040630"/>
            <a:chExt cx="1897380" cy="6505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24B84E-2014-4407-B9CA-F640B612AD29}"/>
                </a:ext>
              </a:extLst>
            </p:cNvPr>
            <p:cNvSpPr/>
            <p:nvPr/>
          </p:nvSpPr>
          <p:spPr>
            <a:xfrm>
              <a:off x="1062990" y="5040630"/>
              <a:ext cx="948690" cy="650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84B7FF-AF87-4744-A6D8-1D9E838264A3}"/>
                </a:ext>
              </a:extLst>
            </p:cNvPr>
            <p:cNvSpPr/>
            <p:nvPr/>
          </p:nvSpPr>
          <p:spPr>
            <a:xfrm>
              <a:off x="2011680" y="5040630"/>
              <a:ext cx="948690" cy="6505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143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local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176565" y="4818453"/>
            <a:ext cx="113985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see two separate subroutines written in Python: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rollTwoDice()</a:t>
            </a:r>
            <a:r>
              <a:rPr lang="en-GB" dirty="0"/>
              <a:t>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41FA2-63A5-4DB6-AF49-82A5085D8540}"/>
              </a:ext>
            </a:extLst>
          </p:cNvPr>
          <p:cNvSpPr/>
          <p:nvPr/>
        </p:nvSpPr>
        <p:spPr>
          <a:xfrm>
            <a:off x="176565" y="1091473"/>
            <a:ext cx="2406615" cy="33727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1D5189-10DB-4A65-A209-CE0F77C7E0CE}"/>
              </a:ext>
            </a:extLst>
          </p:cNvPr>
          <p:cNvSpPr/>
          <p:nvPr/>
        </p:nvSpPr>
        <p:spPr>
          <a:xfrm>
            <a:off x="6272565" y="548905"/>
            <a:ext cx="3180045" cy="33727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1091473"/>
            <a:ext cx="472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(x)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6272565" y="548905"/>
            <a:ext cx="57428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"Bonus score is: "</a:t>
            </a:r>
            <a:r>
              <a:rPr lang="en-GB" dirty="0">
                <a:latin typeface="Consolas" panose="020B0609020204030204" pitchFamily="49" charset="0"/>
              </a:rPr>
              <a:t> + str(bonus))</a:t>
            </a:r>
          </a:p>
        </p:txBody>
      </p: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632C9ED-5C98-40E9-AC49-611AD3C8BAEA}"/>
              </a:ext>
            </a:extLst>
          </p:cNvPr>
          <p:cNvGrpSpPr/>
          <p:nvPr/>
        </p:nvGrpSpPr>
        <p:grpSpPr>
          <a:xfrm>
            <a:off x="0" y="411481"/>
            <a:ext cx="12192000" cy="4217670"/>
            <a:chOff x="1062990" y="5040630"/>
            <a:chExt cx="1897380" cy="6505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24B84E-2014-4407-B9CA-F640B612AD29}"/>
                </a:ext>
              </a:extLst>
            </p:cNvPr>
            <p:cNvSpPr/>
            <p:nvPr/>
          </p:nvSpPr>
          <p:spPr>
            <a:xfrm>
              <a:off x="1062990" y="5040630"/>
              <a:ext cx="948690" cy="650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84B7FF-AF87-4744-A6D8-1D9E838264A3}"/>
                </a:ext>
              </a:extLst>
            </p:cNvPr>
            <p:cNvSpPr/>
            <p:nvPr/>
          </p:nvSpPr>
          <p:spPr>
            <a:xfrm>
              <a:off x="2011680" y="5040630"/>
              <a:ext cx="948690" cy="6505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143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local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176565" y="4818453"/>
            <a:ext cx="11398571" cy="1295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see two separate subroutines written in Python: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rollTwoDice()</a:t>
            </a:r>
            <a:r>
              <a:rPr lang="en-GB" dirty="0"/>
              <a:t>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displayScoreBonus()</a:t>
            </a:r>
          </a:p>
          <a:p>
            <a:pPr>
              <a:lnSpc>
                <a:spcPct val="150000"/>
              </a:lnSpc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They both declare their own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called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GB" dirty="0"/>
              <a:t>.</a:t>
            </a:r>
            <a:endParaRPr lang="en-GB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41FA2-63A5-4DB6-AF49-82A5085D8540}"/>
              </a:ext>
            </a:extLst>
          </p:cNvPr>
          <p:cNvSpPr/>
          <p:nvPr/>
        </p:nvSpPr>
        <p:spPr>
          <a:xfrm>
            <a:off x="530895" y="1381609"/>
            <a:ext cx="2658075" cy="59578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328FB-536A-4CAF-9811-39371DA695BC}"/>
              </a:ext>
            </a:extLst>
          </p:cNvPr>
          <p:cNvSpPr/>
          <p:nvPr/>
        </p:nvSpPr>
        <p:spPr>
          <a:xfrm>
            <a:off x="6604035" y="835965"/>
            <a:ext cx="2658075" cy="6270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79532-C05A-4FB8-98EF-666E1F974696}"/>
              </a:ext>
            </a:extLst>
          </p:cNvPr>
          <p:cNvSpPr/>
          <p:nvPr/>
        </p:nvSpPr>
        <p:spPr>
          <a:xfrm>
            <a:off x="176565" y="1091473"/>
            <a:ext cx="472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(x)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003F2B-3B05-46AE-A617-79DA0F2F29AF}"/>
              </a:ext>
            </a:extLst>
          </p:cNvPr>
          <p:cNvSpPr/>
          <p:nvPr/>
        </p:nvSpPr>
        <p:spPr>
          <a:xfrm>
            <a:off x="6272565" y="548905"/>
            <a:ext cx="57428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"Bonus score is: "</a:t>
            </a:r>
            <a:r>
              <a:rPr lang="en-GB" dirty="0">
                <a:latin typeface="Consolas" panose="020B0609020204030204" pitchFamily="49" charset="0"/>
              </a:rPr>
              <a:t> + str(bonus))</a:t>
            </a:r>
          </a:p>
        </p:txBody>
      </p:sp>
    </p:spTree>
    <p:extLst>
      <p:ext uri="{BB962C8B-B14F-4D97-AF65-F5344CB8AC3E}">
        <p14:creationId xmlns:p14="http://schemas.microsoft.com/office/powerpoint/2010/main" val="265864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31AD80E-F9B4-4D2E-A490-8CDBC0164C41}"/>
              </a:ext>
            </a:extLst>
          </p:cNvPr>
          <p:cNvGrpSpPr/>
          <p:nvPr/>
        </p:nvGrpSpPr>
        <p:grpSpPr>
          <a:xfrm>
            <a:off x="0" y="411481"/>
            <a:ext cx="12192000" cy="4217670"/>
            <a:chOff x="1062990" y="5040630"/>
            <a:chExt cx="1897380" cy="65052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E5D709-7844-4552-A559-5162CCE070C7}"/>
                </a:ext>
              </a:extLst>
            </p:cNvPr>
            <p:cNvSpPr/>
            <p:nvPr/>
          </p:nvSpPr>
          <p:spPr>
            <a:xfrm>
              <a:off x="1062990" y="5040630"/>
              <a:ext cx="948690" cy="650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9EF05E9-DD28-4C53-99C9-5B0953487833}"/>
                </a:ext>
              </a:extLst>
            </p:cNvPr>
            <p:cNvSpPr/>
            <p:nvPr/>
          </p:nvSpPr>
          <p:spPr>
            <a:xfrm>
              <a:off x="2011680" y="5040630"/>
              <a:ext cx="948690" cy="6505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9F15002-0D09-48A9-BF0E-C5B1E8C11E89}"/>
              </a:ext>
            </a:extLst>
          </p:cNvPr>
          <p:cNvSpPr/>
          <p:nvPr/>
        </p:nvSpPr>
        <p:spPr>
          <a:xfrm>
            <a:off x="6272565" y="548905"/>
            <a:ext cx="57428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"Bonus score is: "</a:t>
            </a:r>
            <a:r>
              <a:rPr lang="en-GB" dirty="0">
                <a:latin typeface="Consolas" panose="020B0609020204030204" pitchFamily="49" charset="0"/>
              </a:rPr>
              <a:t> + str(bonus))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A780E7-4F71-453B-8E30-9BA2737E6863}"/>
              </a:ext>
            </a:extLst>
          </p:cNvPr>
          <p:cNvSpPr/>
          <p:nvPr/>
        </p:nvSpPr>
        <p:spPr>
          <a:xfrm>
            <a:off x="176565" y="1091473"/>
            <a:ext cx="472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(x)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(y)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143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local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176565" y="4818453"/>
            <a:ext cx="11398571" cy="1295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see two separate subroutines written in Python: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rollTwoDice()</a:t>
            </a:r>
            <a:r>
              <a:rPr lang="en-GB" dirty="0"/>
              <a:t> 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displayScoreBonus()</a:t>
            </a:r>
          </a:p>
          <a:p>
            <a:pPr>
              <a:lnSpc>
                <a:spcPct val="150000"/>
              </a:lnSpc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They both declare their own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called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dirty="0"/>
              <a:t> and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GB" dirty="0"/>
              <a:t>.</a:t>
            </a:r>
            <a:endParaRPr lang="en-GB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ACE4A2-EB1E-4980-A2DE-DCB2CA9C5716}"/>
              </a:ext>
            </a:extLst>
          </p:cNvPr>
          <p:cNvSpPr/>
          <p:nvPr/>
        </p:nvSpPr>
        <p:spPr>
          <a:xfrm>
            <a:off x="1465771" y="1986162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B96808-A2B7-4385-B341-4CF0F371C4C8}"/>
              </a:ext>
            </a:extLst>
          </p:cNvPr>
          <p:cNvSpPr/>
          <p:nvPr/>
        </p:nvSpPr>
        <p:spPr>
          <a:xfrm>
            <a:off x="2096459" y="1977429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7D9A48-7C45-41F3-93BF-454BC5F39096}"/>
              </a:ext>
            </a:extLst>
          </p:cNvPr>
          <p:cNvSpPr/>
          <p:nvPr/>
        </p:nvSpPr>
        <p:spPr>
          <a:xfrm>
            <a:off x="1228377" y="2265440"/>
            <a:ext cx="214439" cy="534189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96FA4A-ED71-4CFB-9FC1-EA61C1406976}"/>
              </a:ext>
            </a:extLst>
          </p:cNvPr>
          <p:cNvSpPr/>
          <p:nvPr/>
        </p:nvSpPr>
        <p:spPr>
          <a:xfrm>
            <a:off x="1109727" y="2812789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E5D9E4-13FD-4E99-B504-40D1511FC3A1}"/>
              </a:ext>
            </a:extLst>
          </p:cNvPr>
          <p:cNvSpPr/>
          <p:nvPr/>
        </p:nvSpPr>
        <p:spPr>
          <a:xfrm>
            <a:off x="1600025" y="2812789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6B6DD9-E386-44DD-957E-04548C6AF12A}"/>
              </a:ext>
            </a:extLst>
          </p:cNvPr>
          <p:cNvSpPr/>
          <p:nvPr/>
        </p:nvSpPr>
        <p:spPr>
          <a:xfrm>
            <a:off x="2218160" y="3080162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ADFFDE-AD44-4254-B393-3682AAA71219}"/>
              </a:ext>
            </a:extLst>
          </p:cNvPr>
          <p:cNvSpPr/>
          <p:nvPr/>
        </p:nvSpPr>
        <p:spPr>
          <a:xfrm>
            <a:off x="2226538" y="3605580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1D83E2-92D9-4529-8C05-FCCC2F58BFF0}"/>
              </a:ext>
            </a:extLst>
          </p:cNvPr>
          <p:cNvSpPr/>
          <p:nvPr/>
        </p:nvSpPr>
        <p:spPr>
          <a:xfrm>
            <a:off x="7561771" y="1449314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D730C3-3D0A-43EC-9EE1-04505820C88E}"/>
              </a:ext>
            </a:extLst>
          </p:cNvPr>
          <p:cNvSpPr/>
          <p:nvPr/>
        </p:nvSpPr>
        <p:spPr>
          <a:xfrm>
            <a:off x="8192459" y="1440581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F15F1A-25CB-4BDB-BF19-AD4672EBCCFE}"/>
              </a:ext>
            </a:extLst>
          </p:cNvPr>
          <p:cNvSpPr/>
          <p:nvPr/>
        </p:nvSpPr>
        <p:spPr>
          <a:xfrm>
            <a:off x="7324377" y="1728592"/>
            <a:ext cx="214439" cy="534189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1CB7D7-F018-40A2-AAE7-AF215CA21AE2}"/>
              </a:ext>
            </a:extLst>
          </p:cNvPr>
          <p:cNvSpPr/>
          <p:nvPr/>
        </p:nvSpPr>
        <p:spPr>
          <a:xfrm>
            <a:off x="7205727" y="2275941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A91959-FE4D-455E-BEE4-8FAB33DDD7C5}"/>
              </a:ext>
            </a:extLst>
          </p:cNvPr>
          <p:cNvSpPr/>
          <p:nvPr/>
        </p:nvSpPr>
        <p:spPr>
          <a:xfrm>
            <a:off x="7696025" y="2275941"/>
            <a:ext cx="214439" cy="266875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1541C6-C56C-4DC1-A6CB-FCA5CAE829C5}"/>
              </a:ext>
            </a:extLst>
          </p:cNvPr>
          <p:cNvSpPr/>
          <p:nvPr/>
        </p:nvSpPr>
        <p:spPr>
          <a:xfrm>
            <a:off x="530895" y="1381609"/>
            <a:ext cx="2658075" cy="59578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35657F-2134-4E70-8851-6BA57F6D6CFD}"/>
              </a:ext>
            </a:extLst>
          </p:cNvPr>
          <p:cNvSpPr/>
          <p:nvPr/>
        </p:nvSpPr>
        <p:spPr>
          <a:xfrm>
            <a:off x="6604035" y="835965"/>
            <a:ext cx="2658075" cy="6270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71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6534A77-6E24-4E7A-8013-B2FF6DD05F41}"/>
              </a:ext>
            </a:extLst>
          </p:cNvPr>
          <p:cNvGrpSpPr/>
          <p:nvPr/>
        </p:nvGrpSpPr>
        <p:grpSpPr>
          <a:xfrm>
            <a:off x="0" y="411481"/>
            <a:ext cx="12192000" cy="4217670"/>
            <a:chOff x="1062990" y="5040630"/>
            <a:chExt cx="1897380" cy="65052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02AB4B-DDBE-4272-AE6F-A305FAD56A3E}"/>
                </a:ext>
              </a:extLst>
            </p:cNvPr>
            <p:cNvSpPr/>
            <p:nvPr/>
          </p:nvSpPr>
          <p:spPr>
            <a:xfrm>
              <a:off x="1062990" y="5040630"/>
              <a:ext cx="948690" cy="650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93FFFC-5594-44DE-A3C4-B186BDABCE71}"/>
                </a:ext>
              </a:extLst>
            </p:cNvPr>
            <p:cNvSpPr/>
            <p:nvPr/>
          </p:nvSpPr>
          <p:spPr>
            <a:xfrm>
              <a:off x="2011680" y="5040630"/>
              <a:ext cx="948690" cy="6505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EC23F97-5E51-48F4-B9A6-41ACACF6693E}"/>
              </a:ext>
            </a:extLst>
          </p:cNvPr>
          <p:cNvSpPr/>
          <p:nvPr/>
        </p:nvSpPr>
        <p:spPr>
          <a:xfrm>
            <a:off x="6272565" y="548905"/>
            <a:ext cx="57428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def displayScoreBonus():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</a:rPr>
              <a:t>y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GB" dirty="0"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random.randint(1,6)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GB" dirty="0">
                <a:latin typeface="Consolas" panose="020B0609020204030204" pitchFamily="49" charset="0"/>
              </a:rPr>
              <a:t>y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random.randint(1,6)   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print("Bonus score is: " + str(bonus))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7C1000-A405-457A-8353-8A92D8446236}"/>
              </a:ext>
            </a:extLst>
          </p:cNvPr>
          <p:cNvSpPr/>
          <p:nvPr/>
        </p:nvSpPr>
        <p:spPr>
          <a:xfrm>
            <a:off x="176565" y="1091473"/>
            <a:ext cx="472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def rollTwoDice():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0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</a:rPr>
              <a:t>y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0</a:t>
            </a:r>
          </a:p>
          <a:p>
            <a:pPr>
              <a:tabLst>
                <a:tab pos="720725" algn="l"/>
              </a:tabLst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GB" dirty="0"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random.randint(1,6)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GB" dirty="0">
                <a:latin typeface="Consolas" panose="020B0609020204030204" pitchFamily="49" charset="0"/>
              </a:rPr>
              <a:t>y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= random.randint(1,6)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return (</a:t>
            </a:r>
            <a:r>
              <a:rPr lang="en-GB" dirty="0"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    return (</a:t>
            </a:r>
            <a:r>
              <a:rPr lang="en-GB" dirty="0">
                <a:latin typeface="Consolas" panose="020B0609020204030204" pitchFamily="49" charset="0"/>
              </a:rPr>
              <a:t>y</a:t>
            </a:r>
            <a:r>
              <a:rPr lang="en-GB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143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local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176565" y="4818453"/>
            <a:ext cx="11398571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They then make use of those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As these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have been declared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locally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, they do not interfere or conflict with each other.</a:t>
            </a:r>
          </a:p>
          <a:p>
            <a:pPr>
              <a:lnSpc>
                <a:spcPct val="150000"/>
              </a:lnSpc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Even though they share the same name, they are four different variables that are totally independent of each other.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ACE4A2-EB1E-4980-A2DE-DCB2CA9C5716}"/>
              </a:ext>
            </a:extLst>
          </p:cNvPr>
          <p:cNvSpPr/>
          <p:nvPr/>
        </p:nvSpPr>
        <p:spPr>
          <a:xfrm>
            <a:off x="659235" y="1409446"/>
            <a:ext cx="358035" cy="567943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10E1CF-0932-4636-8713-7A27F2C8223F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1007489" y="1522418"/>
            <a:ext cx="341078" cy="7407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355633C-CCC3-4945-AA44-28C856826A9B}"/>
              </a:ext>
            </a:extLst>
          </p:cNvPr>
          <p:cNvSpPr/>
          <p:nvPr/>
        </p:nvSpPr>
        <p:spPr>
          <a:xfrm>
            <a:off x="1231947" y="2263140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0C8DCF-FA79-456B-B9A2-0CD458692412}"/>
              </a:ext>
            </a:extLst>
          </p:cNvPr>
          <p:cNvSpPr/>
          <p:nvPr/>
        </p:nvSpPr>
        <p:spPr>
          <a:xfrm>
            <a:off x="1231947" y="2560321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E5D182-062B-464C-8177-92882E4EE98A}"/>
              </a:ext>
            </a:extLst>
          </p:cNvPr>
          <p:cNvCxnSpPr>
            <a:cxnSpLocks/>
          </p:cNvCxnSpPr>
          <p:nvPr/>
        </p:nvCxnSpPr>
        <p:spPr>
          <a:xfrm flipH="1" flipV="1">
            <a:off x="830924" y="1953363"/>
            <a:ext cx="401023" cy="7407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34D44-67FD-4BB9-BF3B-2D5C90CD2A3A}"/>
              </a:ext>
            </a:extLst>
          </p:cNvPr>
          <p:cNvSpPr/>
          <p:nvPr/>
        </p:nvSpPr>
        <p:spPr>
          <a:xfrm>
            <a:off x="2217138" y="3046182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485EDD-86CB-45AF-A236-D30E2D47F667}"/>
              </a:ext>
            </a:extLst>
          </p:cNvPr>
          <p:cNvSpPr/>
          <p:nvPr/>
        </p:nvSpPr>
        <p:spPr>
          <a:xfrm>
            <a:off x="2217138" y="3602675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70DB6D1-C9E9-4E8D-9021-7D4743E990A5}"/>
              </a:ext>
            </a:extLst>
          </p:cNvPr>
          <p:cNvCxnSpPr>
            <a:cxnSpLocks/>
          </p:cNvCxnSpPr>
          <p:nvPr/>
        </p:nvCxnSpPr>
        <p:spPr>
          <a:xfrm flipH="1" flipV="1">
            <a:off x="1031435" y="1522418"/>
            <a:ext cx="1302323" cy="1534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19C67D7-7565-4FD9-8D71-A3693E3D9FD5}"/>
              </a:ext>
            </a:extLst>
          </p:cNvPr>
          <p:cNvSpPr/>
          <p:nvPr/>
        </p:nvSpPr>
        <p:spPr>
          <a:xfrm>
            <a:off x="777240" y="1988820"/>
            <a:ext cx="1405890" cy="1794510"/>
          </a:xfrm>
          <a:custGeom>
            <a:avLst/>
            <a:gdLst>
              <a:gd name="connsiteX0" fmla="*/ 1405890 w 1405890"/>
              <a:gd name="connsiteY0" fmla="*/ 1794510 h 1794510"/>
              <a:gd name="connsiteX1" fmla="*/ 354330 w 1405890"/>
              <a:gd name="connsiteY1" fmla="*/ 1474470 h 1794510"/>
              <a:gd name="connsiteX2" fmla="*/ 0 w 1405890"/>
              <a:gd name="connsiteY2" fmla="*/ 0 h 179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890" h="1794510">
                <a:moveTo>
                  <a:pt x="1405890" y="1794510"/>
                </a:moveTo>
                <a:cubicBezTo>
                  <a:pt x="997267" y="1784032"/>
                  <a:pt x="588645" y="1773555"/>
                  <a:pt x="354330" y="1474470"/>
                </a:cubicBezTo>
                <a:cubicBezTo>
                  <a:pt x="120015" y="1175385"/>
                  <a:pt x="60007" y="587692"/>
                  <a:pt x="0" y="0"/>
                </a:cubicBezTo>
              </a:path>
            </a:pathLst>
          </a:custGeom>
          <a:noFill/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4C6EC3-7C86-4DEB-8F1E-E57C96EB7C2A}"/>
              </a:ext>
            </a:extLst>
          </p:cNvPr>
          <p:cNvSpPr/>
          <p:nvPr/>
        </p:nvSpPr>
        <p:spPr>
          <a:xfrm>
            <a:off x="6766665" y="864363"/>
            <a:ext cx="358035" cy="567943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E988DD-EDF2-460F-962B-EFCC90001F34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7109204" y="984669"/>
            <a:ext cx="341078" cy="7407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200CA42-2131-4758-9CA3-6625E402082C}"/>
              </a:ext>
            </a:extLst>
          </p:cNvPr>
          <p:cNvSpPr/>
          <p:nvPr/>
        </p:nvSpPr>
        <p:spPr>
          <a:xfrm>
            <a:off x="7333662" y="1725391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D4DFDE-B044-4746-AAAF-2B653B38B98F}"/>
              </a:ext>
            </a:extLst>
          </p:cNvPr>
          <p:cNvSpPr/>
          <p:nvPr/>
        </p:nvSpPr>
        <p:spPr>
          <a:xfrm>
            <a:off x="7333662" y="2022572"/>
            <a:ext cx="233240" cy="297181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96B43C6-BF02-488E-9717-2DCB6ADB27EF}"/>
              </a:ext>
            </a:extLst>
          </p:cNvPr>
          <p:cNvCxnSpPr>
            <a:cxnSpLocks/>
          </p:cNvCxnSpPr>
          <p:nvPr/>
        </p:nvCxnSpPr>
        <p:spPr>
          <a:xfrm flipH="1" flipV="1">
            <a:off x="6932639" y="1415614"/>
            <a:ext cx="401023" cy="7407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8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344789" y="1848540"/>
            <a:ext cx="1139857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Subroutines (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have their own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variables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exist while the subroutine is running.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variables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only accessible from inside the subroutine they are assigned to.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Benefits of local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 to keep the subroutine self-contained.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Subroutines can be used as part of a bigger program without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variables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conflicting with other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the same name located in other parts of the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Memory-efficient because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only exist (and take up space in memory) while the subroutine is in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will be easier to maintain and debug.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F9C62-E77A-49CD-BA2B-2C36610DF886}"/>
              </a:ext>
            </a:extLst>
          </p:cNvPr>
          <p:cNvSpPr/>
          <p:nvPr/>
        </p:nvSpPr>
        <p:spPr>
          <a:xfrm>
            <a:off x="1517632" y="524912"/>
            <a:ext cx="431438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local variables</a:t>
            </a: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21C95233-6866-DBAE-E944-6B42761F7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28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85B0DF0-A9DB-D201-3F9D-0CB743DE196B}"/>
              </a:ext>
            </a:extLst>
          </p:cNvPr>
          <p:cNvGrpSpPr/>
          <p:nvPr/>
        </p:nvGrpSpPr>
        <p:grpSpPr>
          <a:xfrm>
            <a:off x="0" y="411480"/>
            <a:ext cx="9250680" cy="4748105"/>
            <a:chOff x="0" y="411480"/>
            <a:chExt cx="9250680" cy="47481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F4DE15-3944-72CB-116C-831C824C6284}"/>
                </a:ext>
              </a:extLst>
            </p:cNvPr>
            <p:cNvSpPr/>
            <p:nvPr/>
          </p:nvSpPr>
          <p:spPr>
            <a:xfrm>
              <a:off x="0" y="411480"/>
              <a:ext cx="3931919" cy="4748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5ABAF8-5629-42B7-3C00-B2F675EED6EF}"/>
                </a:ext>
              </a:extLst>
            </p:cNvPr>
            <p:cNvSpPr/>
            <p:nvPr/>
          </p:nvSpPr>
          <p:spPr>
            <a:xfrm>
              <a:off x="3931920" y="411480"/>
              <a:ext cx="5318760" cy="47481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9384029" y="554756"/>
            <a:ext cx="26314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updated these two subroutines to use a</a:t>
            </a:r>
            <a:r>
              <a:rPr lang="en-GB" dirty="0"/>
              <a:t> </a:t>
            </a:r>
            <a:r>
              <a:rPr lang="en-GB" b="1" dirty="0"/>
              <a:t>global</a:t>
            </a:r>
            <a:r>
              <a:rPr lang="en-GB" dirty="0"/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called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/>
              <a:t>–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has been declared and initialised to zero outside of these subroutines in the main program.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1600" dirty="0">
                <a:latin typeface="Consolas" panose="020B0609020204030204" pitchFamily="49" charset="0"/>
              </a:rPr>
              <a:t> random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score = 0</a:t>
            </a:r>
          </a:p>
          <a:p>
            <a:endParaRPr lang="en-GB" sz="16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sz="1600" dirty="0">
                <a:latin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global</a:t>
            </a:r>
            <a:r>
              <a:rPr lang="en-GB" sz="1600" dirty="0">
                <a:latin typeface="Consolas" panose="020B0609020204030204" pitchFamily="49" charset="0"/>
              </a:rPr>
              <a:t> score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score = score + 25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latin typeface="Consolas" panose="020B0609020204030204" pitchFamily="49" charset="0"/>
              </a:rPr>
              <a:t> (x)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1600" dirty="0">
                <a:latin typeface="Consolas" panose="020B0609020204030204" pitchFamily="49" charset="0"/>
              </a:rPr>
              <a:t>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score = score + 50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latin typeface="Consolas" panose="020B0609020204030204" pitchFamily="49" charset="0"/>
              </a:rPr>
              <a:t> (y)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112295" y="554756"/>
            <a:ext cx="52717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sz="1600" dirty="0">
                <a:latin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global</a:t>
            </a:r>
            <a:r>
              <a:rPr lang="en-GB" sz="1600" dirty="0">
                <a:latin typeface="Consolas" panose="020B0609020204030204" pitchFamily="49" charset="0"/>
              </a:rPr>
              <a:t> score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1600" dirty="0">
                <a:latin typeface="Consolas" panose="020B0609020204030204" pitchFamily="49" charset="0"/>
              </a:rPr>
              <a:t>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"Bonus score is: "</a:t>
            </a:r>
            <a:r>
              <a:rPr lang="en-GB" sz="1600" dirty="0">
                <a:latin typeface="Consolas" panose="020B0609020204030204" pitchFamily="49" charset="0"/>
              </a:rPr>
              <a:t> + str(bonus))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score = score + bonus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sz="1600" dirty="0">
                <a:latin typeface="Consolas" panose="020B0609020204030204" pitchFamily="49" charset="0"/>
              </a:rPr>
              <a:t>, rollTwoDice())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displayScoreBonus()</a:t>
            </a:r>
          </a:p>
          <a:p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sz="1600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393192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517EF3-C960-4E2B-AEB0-E8062B2ABC5E}"/>
              </a:ext>
            </a:extLst>
          </p:cNvPr>
          <p:cNvCxnSpPr>
            <a:cxnSpLocks/>
          </p:cNvCxnSpPr>
          <p:nvPr/>
        </p:nvCxnSpPr>
        <p:spPr>
          <a:xfrm flipH="1">
            <a:off x="-2524" y="5148835"/>
            <a:ext cx="92532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6DBBA8-4343-4AE0-A01C-20A33A40585E}"/>
              </a:ext>
            </a:extLst>
          </p:cNvPr>
          <p:cNvCxnSpPr>
            <a:cxnSpLocks/>
          </p:cNvCxnSpPr>
          <p:nvPr/>
        </p:nvCxnSpPr>
        <p:spPr>
          <a:xfrm>
            <a:off x="925068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88647-0F9F-4CBA-92F1-413E48F10DDC}"/>
              </a:ext>
            </a:extLst>
          </p:cNvPr>
          <p:cNvCxnSpPr>
            <a:cxnSpLocks/>
          </p:cNvCxnSpPr>
          <p:nvPr/>
        </p:nvCxnSpPr>
        <p:spPr>
          <a:xfrm flipH="1" flipV="1">
            <a:off x="811703" y="1551331"/>
            <a:ext cx="641213" cy="217596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BAEF676-FB4D-4FE2-A3C0-1BC43ADD63EE}"/>
              </a:ext>
            </a:extLst>
          </p:cNvPr>
          <p:cNvSpPr/>
          <p:nvPr/>
        </p:nvSpPr>
        <p:spPr>
          <a:xfrm>
            <a:off x="1091216" y="3727632"/>
            <a:ext cx="2404277" cy="249160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F1B061-45C6-49D7-8BC7-0B6BE408DBF1}"/>
              </a:ext>
            </a:extLst>
          </p:cNvPr>
          <p:cNvSpPr/>
          <p:nvPr/>
        </p:nvSpPr>
        <p:spPr>
          <a:xfrm>
            <a:off x="1079785" y="4475055"/>
            <a:ext cx="2404277" cy="249160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852B4C-11B4-4603-8C7D-AD819E9FEA57}"/>
              </a:ext>
            </a:extLst>
          </p:cNvPr>
          <p:cNvSpPr/>
          <p:nvPr/>
        </p:nvSpPr>
        <p:spPr>
          <a:xfrm>
            <a:off x="4560990" y="3559688"/>
            <a:ext cx="2779995" cy="258234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F6FC7A-4311-42F5-92A4-7D47615874DE}"/>
              </a:ext>
            </a:extLst>
          </p:cNvPr>
          <p:cNvSpPr/>
          <p:nvPr/>
        </p:nvSpPr>
        <p:spPr>
          <a:xfrm>
            <a:off x="184018" y="1284223"/>
            <a:ext cx="718952" cy="267108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DC8367-D69B-4056-B68A-FCE3BA44D988}"/>
              </a:ext>
            </a:extLst>
          </p:cNvPr>
          <p:cNvCxnSpPr>
            <a:cxnSpLocks/>
          </p:cNvCxnSpPr>
          <p:nvPr/>
        </p:nvCxnSpPr>
        <p:spPr>
          <a:xfrm flipH="1" flipV="1">
            <a:off x="453041" y="1563438"/>
            <a:ext cx="638175" cy="30842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76BC97-6463-4BA3-BD00-7476754BEDF0}"/>
              </a:ext>
            </a:extLst>
          </p:cNvPr>
          <p:cNvCxnSpPr>
            <a:cxnSpLocks/>
          </p:cNvCxnSpPr>
          <p:nvPr/>
        </p:nvCxnSpPr>
        <p:spPr>
          <a:xfrm flipH="1" flipV="1">
            <a:off x="910423" y="1417777"/>
            <a:ext cx="3650567" cy="230951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6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B360A0-D94C-187B-067E-5016CF1DC916}"/>
              </a:ext>
            </a:extLst>
          </p:cNvPr>
          <p:cNvGrpSpPr/>
          <p:nvPr/>
        </p:nvGrpSpPr>
        <p:grpSpPr>
          <a:xfrm>
            <a:off x="0" y="411480"/>
            <a:ext cx="9250680" cy="4748105"/>
            <a:chOff x="0" y="411480"/>
            <a:chExt cx="9250680" cy="47481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08DB1-7206-0B59-65AB-15C93E30075C}"/>
                </a:ext>
              </a:extLst>
            </p:cNvPr>
            <p:cNvSpPr/>
            <p:nvPr/>
          </p:nvSpPr>
          <p:spPr>
            <a:xfrm>
              <a:off x="0" y="411480"/>
              <a:ext cx="3931919" cy="4748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27D591-4EE2-8915-9CD1-5F53D6251AF3}"/>
                </a:ext>
              </a:extLst>
            </p:cNvPr>
            <p:cNvSpPr/>
            <p:nvPr/>
          </p:nvSpPr>
          <p:spPr>
            <a:xfrm>
              <a:off x="3931920" y="411480"/>
              <a:ext cx="5318760" cy="47481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3ED77-B52E-483D-98B9-88AE6D355D92}"/>
              </a:ext>
            </a:extLst>
          </p:cNvPr>
          <p:cNvSpPr/>
          <p:nvPr/>
        </p:nvSpPr>
        <p:spPr>
          <a:xfrm>
            <a:off x="9384029" y="554756"/>
            <a:ext cx="26314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updated these two subroutines to use a</a:t>
            </a:r>
            <a:r>
              <a:rPr lang="en-GB" dirty="0"/>
              <a:t> </a:t>
            </a:r>
            <a:r>
              <a:rPr lang="en-GB" b="1" dirty="0"/>
              <a:t>global</a:t>
            </a:r>
            <a:r>
              <a:rPr lang="en-GB" dirty="0"/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called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/>
              <a:t>–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has been declared and initialised to zero outside of these subroutines in the main program.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sz="1600" dirty="0">
                <a:latin typeface="Consolas" panose="020B0609020204030204" pitchFamily="49" charset="0"/>
              </a:rPr>
              <a:t> random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score = 0</a:t>
            </a:r>
          </a:p>
          <a:p>
            <a:endParaRPr lang="en-GB" sz="16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sz="1600" dirty="0">
                <a:latin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global</a:t>
            </a:r>
            <a:r>
              <a:rPr lang="en-GB" sz="1600" dirty="0">
                <a:latin typeface="Consolas" panose="020B0609020204030204" pitchFamily="49" charset="0"/>
              </a:rPr>
              <a:t> score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score = score + 25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latin typeface="Consolas" panose="020B0609020204030204" pitchFamily="49" charset="0"/>
              </a:rPr>
              <a:t> (x)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1600" dirty="0">
                <a:latin typeface="Consolas" panose="020B0609020204030204" pitchFamily="49" charset="0"/>
              </a:rPr>
              <a:t>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score = score + 50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sz="1600" dirty="0">
                <a:latin typeface="Consolas" panose="020B0609020204030204" pitchFamily="49" charset="0"/>
              </a:rPr>
              <a:t> (y)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112295" y="554756"/>
            <a:ext cx="52717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sz="1600" dirty="0"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sz="1600" dirty="0">
                <a:latin typeface="Consolas" panose="020B0609020204030204" pitchFamily="49" charset="0"/>
              </a:rPr>
              <a:t>():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global</a:t>
            </a:r>
            <a:r>
              <a:rPr lang="en-GB" sz="1600" dirty="0">
                <a:latin typeface="Consolas" panose="020B0609020204030204" pitchFamily="49" charset="0"/>
              </a:rPr>
              <a:t> score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sz="1600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1600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1600" dirty="0">
                <a:latin typeface="Consolas" panose="020B0609020204030204" pitchFamily="49" charset="0"/>
              </a:rPr>
              <a:t>: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"Bonus score is: "</a:t>
            </a:r>
            <a:r>
              <a:rPr lang="en-GB" sz="1600" dirty="0">
                <a:latin typeface="Consolas" panose="020B0609020204030204" pitchFamily="49" charset="0"/>
              </a:rPr>
              <a:t> + str(bonus))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score = score + bonus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sz="1600" dirty="0">
                <a:latin typeface="Consolas" panose="020B0609020204030204" pitchFamily="49" charset="0"/>
              </a:rPr>
              <a:t>, rollTwoDice())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displayScoreBonus()</a:t>
            </a:r>
          </a:p>
          <a:p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sz="1600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393192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517EF3-C960-4E2B-AEB0-E8062B2ABC5E}"/>
              </a:ext>
            </a:extLst>
          </p:cNvPr>
          <p:cNvCxnSpPr>
            <a:cxnSpLocks/>
          </p:cNvCxnSpPr>
          <p:nvPr/>
        </p:nvCxnSpPr>
        <p:spPr>
          <a:xfrm flipH="1">
            <a:off x="-2524" y="5148835"/>
            <a:ext cx="92532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6DBBA8-4343-4AE0-A01C-20A33A40585E}"/>
              </a:ext>
            </a:extLst>
          </p:cNvPr>
          <p:cNvCxnSpPr>
            <a:cxnSpLocks/>
          </p:cNvCxnSpPr>
          <p:nvPr/>
        </p:nvCxnSpPr>
        <p:spPr>
          <a:xfrm>
            <a:off x="925068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6852B4C-11B4-4603-8C7D-AD819E9FEA57}"/>
              </a:ext>
            </a:extLst>
          </p:cNvPr>
          <p:cNvSpPr/>
          <p:nvPr/>
        </p:nvSpPr>
        <p:spPr>
          <a:xfrm>
            <a:off x="595666" y="1998471"/>
            <a:ext cx="1644614" cy="267108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F6FC7A-4311-42F5-92A4-7D47615874DE}"/>
              </a:ext>
            </a:extLst>
          </p:cNvPr>
          <p:cNvSpPr/>
          <p:nvPr/>
        </p:nvSpPr>
        <p:spPr>
          <a:xfrm>
            <a:off x="184018" y="1284223"/>
            <a:ext cx="718952" cy="267108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28C7B1-A5A9-4792-BB42-C1D9293FDD38}"/>
              </a:ext>
            </a:extLst>
          </p:cNvPr>
          <p:cNvSpPr/>
          <p:nvPr/>
        </p:nvSpPr>
        <p:spPr>
          <a:xfrm>
            <a:off x="4524847" y="847852"/>
            <a:ext cx="1644614" cy="267108"/>
          </a:xfrm>
          <a:prstGeom prst="rect">
            <a:avLst/>
          </a:prstGeom>
          <a:solidFill>
            <a:srgbClr val="C00000">
              <a:alpha val="50000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E18C2A-F9CE-4F5F-9E1D-50EE693834E9}"/>
              </a:ext>
            </a:extLst>
          </p:cNvPr>
          <p:cNvSpPr/>
          <p:nvPr/>
        </p:nvSpPr>
        <p:spPr>
          <a:xfrm>
            <a:off x="153758" y="5387495"/>
            <a:ext cx="11710635" cy="1128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the word </a:t>
            </a:r>
            <a:r>
              <a:rPr lang="en-GB" dirty="0">
                <a:latin typeface="Consolas" panose="020B0609020204030204" pitchFamily="49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before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inside each subroutine allows the subroutine to access this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 code in each subroutine updates the contents of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dirty="0"/>
              <a:t>,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 is updating the same, single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have essentially given access to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outside of the subroutine, which it would never normally see or know about.</a:t>
            </a:r>
          </a:p>
        </p:txBody>
      </p:sp>
    </p:spTree>
    <p:extLst>
      <p:ext uri="{BB962C8B-B14F-4D97-AF65-F5344CB8AC3E}">
        <p14:creationId xmlns:p14="http://schemas.microsoft.com/office/powerpoint/2010/main" val="111028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CA386E-13D9-CD9E-E8AC-17AA3F967AED}"/>
              </a:ext>
            </a:extLst>
          </p:cNvPr>
          <p:cNvGrpSpPr/>
          <p:nvPr/>
        </p:nvGrpSpPr>
        <p:grpSpPr>
          <a:xfrm>
            <a:off x="0" y="411480"/>
            <a:ext cx="9250680" cy="4748105"/>
            <a:chOff x="0" y="411480"/>
            <a:chExt cx="9250680" cy="47481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A31AD0-2143-B798-E48F-ACFDD248F20A}"/>
                </a:ext>
              </a:extLst>
            </p:cNvPr>
            <p:cNvSpPr/>
            <p:nvPr/>
          </p:nvSpPr>
          <p:spPr>
            <a:xfrm>
              <a:off x="0" y="411480"/>
              <a:ext cx="3931919" cy="4748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857183-71E7-1DE2-39C7-E68241F1BD7B}"/>
                </a:ext>
              </a:extLst>
            </p:cNvPr>
            <p:cNvSpPr/>
            <p:nvPr/>
          </p:nvSpPr>
          <p:spPr>
            <a:xfrm>
              <a:off x="3931920" y="411480"/>
              <a:ext cx="5318760" cy="47481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import random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score = 0</a:t>
            </a:r>
          </a:p>
          <a:p>
            <a:endParaRPr lang="en-GB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def rollTwoDice():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global score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score = score + 25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return (x)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score = score + 50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return (y)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112295" y="554756"/>
            <a:ext cx="52717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def displayScoreBonus():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global score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score = score + bonus</a:t>
            </a:r>
          </a:p>
          <a:p>
            <a:endParaRPr lang="en-GB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print("Higher dice is:", rollTwoDice())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displayScoreBonus()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print("You current score is: "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393192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517EF3-C960-4E2B-AEB0-E8062B2ABC5E}"/>
              </a:ext>
            </a:extLst>
          </p:cNvPr>
          <p:cNvCxnSpPr>
            <a:cxnSpLocks/>
          </p:cNvCxnSpPr>
          <p:nvPr/>
        </p:nvCxnSpPr>
        <p:spPr>
          <a:xfrm flipH="1">
            <a:off x="-2524" y="5148835"/>
            <a:ext cx="92532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6DBBA8-4343-4AE0-A01C-20A33A40585E}"/>
              </a:ext>
            </a:extLst>
          </p:cNvPr>
          <p:cNvCxnSpPr>
            <a:cxnSpLocks/>
          </p:cNvCxnSpPr>
          <p:nvPr/>
        </p:nvCxnSpPr>
        <p:spPr>
          <a:xfrm>
            <a:off x="925068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012FABD-C196-4629-ACF7-D0943E9E25D7}"/>
              </a:ext>
            </a:extLst>
          </p:cNvPr>
          <p:cNvSpPr/>
          <p:nvPr/>
        </p:nvSpPr>
        <p:spPr>
          <a:xfrm>
            <a:off x="9395479" y="523175"/>
            <a:ext cx="26745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using the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keyword works inside a subroutine and allows access to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it is considered bad practice.</a:t>
            </a:r>
          </a:p>
        </p:txBody>
      </p:sp>
      <p:pic>
        <p:nvPicPr>
          <p:cNvPr id="18" name="Picture 17" descr="A close up of a sign&#10;&#10;Description generated with high confidence">
            <a:extLst>
              <a:ext uri="{FF2B5EF4-FFF2-40B4-BE49-F238E27FC236}">
                <a16:creationId xmlns:a16="http://schemas.microsoft.com/office/drawing/2014/main" id="{D8C5F7E6-A2E7-46DD-B3BD-51FAD501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19255" y="1062938"/>
            <a:ext cx="4093909" cy="353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7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F526779-E62B-7FD4-30C6-E3A9ECF6C08E}"/>
              </a:ext>
            </a:extLst>
          </p:cNvPr>
          <p:cNvGrpSpPr/>
          <p:nvPr/>
        </p:nvGrpSpPr>
        <p:grpSpPr>
          <a:xfrm>
            <a:off x="0" y="411480"/>
            <a:ext cx="9250680" cy="4748105"/>
            <a:chOff x="0" y="411480"/>
            <a:chExt cx="9250680" cy="47481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A2E0780-2505-DF37-B256-5E0DEE6947C5}"/>
                </a:ext>
              </a:extLst>
            </p:cNvPr>
            <p:cNvSpPr/>
            <p:nvPr/>
          </p:nvSpPr>
          <p:spPr>
            <a:xfrm>
              <a:off x="0" y="411480"/>
              <a:ext cx="3931919" cy="4748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9F0A01-F266-6410-D611-7EB28AAFC1DE}"/>
                </a:ext>
              </a:extLst>
            </p:cNvPr>
            <p:cNvSpPr/>
            <p:nvPr/>
          </p:nvSpPr>
          <p:spPr>
            <a:xfrm>
              <a:off x="3931920" y="411480"/>
              <a:ext cx="5318760" cy="47481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import random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score = 0</a:t>
            </a:r>
          </a:p>
          <a:p>
            <a:endParaRPr lang="en-GB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def rollTwoDice():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global score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score = score + 25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return (x)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score = score + 50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return (y)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112295" y="554756"/>
            <a:ext cx="52717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def displayScoreBonus():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global score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x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y = 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while x ==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if x &gt; y: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score = score + bonus</a:t>
            </a:r>
          </a:p>
          <a:p>
            <a:endParaRPr lang="en-GB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print("Higher dice is:", rollTwoDice())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displayScoreBonus()</a:t>
            </a:r>
          </a:p>
          <a:p>
            <a:r>
              <a:rPr lang="en-GB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print("You current score is: "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393192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517EF3-C960-4E2B-AEB0-E8062B2ABC5E}"/>
              </a:ext>
            </a:extLst>
          </p:cNvPr>
          <p:cNvCxnSpPr>
            <a:cxnSpLocks/>
          </p:cNvCxnSpPr>
          <p:nvPr/>
        </p:nvCxnSpPr>
        <p:spPr>
          <a:xfrm flipH="1">
            <a:off x="-2524" y="5148835"/>
            <a:ext cx="92532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6DBBA8-4343-4AE0-A01C-20A33A40585E}"/>
              </a:ext>
            </a:extLst>
          </p:cNvPr>
          <p:cNvCxnSpPr>
            <a:cxnSpLocks/>
          </p:cNvCxnSpPr>
          <p:nvPr/>
        </p:nvCxnSpPr>
        <p:spPr>
          <a:xfrm>
            <a:off x="9250680" y="422910"/>
            <a:ext cx="0" cy="47252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012FABD-C196-4629-ACF7-D0943E9E25D7}"/>
              </a:ext>
            </a:extLst>
          </p:cNvPr>
          <p:cNvSpPr/>
          <p:nvPr/>
        </p:nvSpPr>
        <p:spPr>
          <a:xfrm>
            <a:off x="9395479" y="523175"/>
            <a:ext cx="26745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using the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keyword works inside a subroutine and allows access to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it is considered bad practice.</a:t>
            </a:r>
          </a:p>
        </p:txBody>
      </p:sp>
      <p:pic>
        <p:nvPicPr>
          <p:cNvPr id="18" name="Picture 17" descr="A close up of a sign&#10;&#10;Description generated with high confidence">
            <a:extLst>
              <a:ext uri="{FF2B5EF4-FFF2-40B4-BE49-F238E27FC236}">
                <a16:creationId xmlns:a16="http://schemas.microsoft.com/office/drawing/2014/main" id="{D8C5F7E6-A2E7-46DD-B3BD-51FAD501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19255" y="1062938"/>
            <a:ext cx="4093909" cy="35317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1E7D8F-E7FD-4A0F-BBC7-A72FBC7E6051}"/>
              </a:ext>
            </a:extLst>
          </p:cNvPr>
          <p:cNvSpPr/>
          <p:nvPr/>
        </p:nvSpPr>
        <p:spPr>
          <a:xfrm>
            <a:off x="87020" y="5294992"/>
            <a:ext cx="11480134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If you did this in an exam, you would most likely receive marks for functionality but might lose marks for solution design or good programming practices.</a:t>
            </a:r>
          </a:p>
          <a:p>
            <a:r>
              <a:rPr lang="en-GB" dirty="0"/>
              <a:t>Let’s look at a better method of updating </a:t>
            </a:r>
            <a:r>
              <a:rPr lang="en-GB" b="1" dirty="0"/>
              <a:t>global variables </a:t>
            </a:r>
            <a:r>
              <a:rPr lang="en-GB" dirty="0"/>
              <a:t>without having to use the </a:t>
            </a:r>
            <a:r>
              <a:rPr lang="en-GB" dirty="0">
                <a:latin typeface="Consolas" panose="020B0609020204030204" pitchFamily="49" charset="0"/>
              </a:rPr>
              <a:t>global</a:t>
            </a:r>
            <a:r>
              <a:rPr lang="en-GB" dirty="0"/>
              <a:t> keyword.</a:t>
            </a:r>
          </a:p>
        </p:txBody>
      </p:sp>
    </p:spTree>
    <p:extLst>
      <p:ext uri="{BB962C8B-B14F-4D97-AF65-F5344CB8AC3E}">
        <p14:creationId xmlns:p14="http://schemas.microsoft.com/office/powerpoint/2010/main" val="122283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D7404AF-C5FB-E09E-4247-6513D75D81EC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D1A359-758F-5399-4DD3-69FC6FC8AFB9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0583E6-4C4E-D3F6-8BBB-1EAA2BBDBCAF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5" y="554756"/>
            <a:ext cx="593430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6DBBA8-4343-4AE0-A01C-20A33A40585E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2225A1E-2A84-4F14-B8B3-8EB427F21157}"/>
              </a:ext>
            </a:extLst>
          </p:cNvPr>
          <p:cNvSpPr/>
          <p:nvPr/>
        </p:nvSpPr>
        <p:spPr>
          <a:xfrm>
            <a:off x="224196" y="1563438"/>
            <a:ext cx="1781593" cy="612408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8AFB48-93FB-4673-BB34-6681924E948B}"/>
              </a:ext>
            </a:extLst>
          </p:cNvPr>
          <p:cNvSpPr/>
          <p:nvPr/>
        </p:nvSpPr>
        <p:spPr>
          <a:xfrm>
            <a:off x="1131081" y="4331221"/>
            <a:ext cx="298621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411E52-DF1F-4A02-8712-13A54723E751}"/>
              </a:ext>
            </a:extLst>
          </p:cNvPr>
          <p:cNvSpPr/>
          <p:nvPr/>
        </p:nvSpPr>
        <p:spPr>
          <a:xfrm>
            <a:off x="1114992" y="4910527"/>
            <a:ext cx="298621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A438EA-3043-4B48-8FC2-A764E9215C8D}"/>
              </a:ext>
            </a:extLst>
          </p:cNvPr>
          <p:cNvSpPr/>
          <p:nvPr/>
        </p:nvSpPr>
        <p:spPr>
          <a:xfrm>
            <a:off x="4478054" y="4436673"/>
            <a:ext cx="5088771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0D3A36-1293-4F1C-B272-FE00BB6D68FC}"/>
              </a:ext>
            </a:extLst>
          </p:cNvPr>
          <p:cNvSpPr/>
          <p:nvPr/>
        </p:nvSpPr>
        <p:spPr>
          <a:xfrm>
            <a:off x="176566" y="2436713"/>
            <a:ext cx="298621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218C24-857C-4D18-8CC5-46D6D74A7E9D}"/>
              </a:ext>
            </a:extLst>
          </p:cNvPr>
          <p:cNvSpPr/>
          <p:nvPr/>
        </p:nvSpPr>
        <p:spPr>
          <a:xfrm>
            <a:off x="4494152" y="598954"/>
            <a:ext cx="3804267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2BEEA-CDE8-40DE-81C9-060730B14F18}"/>
              </a:ext>
            </a:extLst>
          </p:cNvPr>
          <p:cNvSpPr/>
          <p:nvPr/>
        </p:nvSpPr>
        <p:spPr>
          <a:xfrm>
            <a:off x="4955603" y="3620791"/>
            <a:ext cx="174016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ED5637-BF92-4251-B094-85D890076231}"/>
              </a:ext>
            </a:extLst>
          </p:cNvPr>
          <p:cNvSpPr/>
          <p:nvPr/>
        </p:nvSpPr>
        <p:spPr>
          <a:xfrm>
            <a:off x="4478053" y="4979841"/>
            <a:ext cx="574478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67DFF3-7F19-4C19-8A37-7C1C711F7B73}"/>
              </a:ext>
            </a:extLst>
          </p:cNvPr>
          <p:cNvSpPr/>
          <p:nvPr/>
        </p:nvSpPr>
        <p:spPr>
          <a:xfrm>
            <a:off x="10274709" y="523175"/>
            <a:ext cx="1795359" cy="31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have updated several lines of code and added some new ones to make this a better solution without using the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keyword.</a:t>
            </a:r>
          </a:p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Let’s work through it now so you understand what is going on.</a:t>
            </a:r>
          </a:p>
        </p:txBody>
      </p:sp>
    </p:spTree>
    <p:extLst>
      <p:ext uri="{BB962C8B-B14F-4D97-AF65-F5344CB8AC3E}">
        <p14:creationId xmlns:p14="http://schemas.microsoft.com/office/powerpoint/2010/main" val="85625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6E3C22-2EE0-0A90-AEFB-9270C3D45146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DC2D3F-6ED7-AC2C-48E3-EFB16525671E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5FBE41-B678-D2F9-9770-77CBE6486A14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5" y="554756"/>
            <a:ext cx="593430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3F44B23-2629-4C76-A41F-7A1F35FAFD13}"/>
              </a:ext>
            </a:extLst>
          </p:cNvPr>
          <p:cNvSpPr/>
          <p:nvPr/>
        </p:nvSpPr>
        <p:spPr>
          <a:xfrm>
            <a:off x="4478054" y="4422426"/>
            <a:ext cx="502427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11729-A458-4695-B327-C065808A2F40}"/>
              </a:ext>
            </a:extLst>
          </p:cNvPr>
          <p:cNvSpPr/>
          <p:nvPr/>
        </p:nvSpPr>
        <p:spPr>
          <a:xfrm>
            <a:off x="176565" y="2399073"/>
            <a:ext cx="4025854" cy="293173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E80C00-EB08-4C8D-8715-EBE40A98C2CA}"/>
              </a:ext>
            </a:extLst>
          </p:cNvPr>
          <p:cNvSpPr/>
          <p:nvPr/>
        </p:nvSpPr>
        <p:spPr>
          <a:xfrm>
            <a:off x="176566" y="2418737"/>
            <a:ext cx="4025854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CCC7F7F7-437C-4A6D-BB36-E8202699EEE3}"/>
              </a:ext>
            </a:extLst>
          </p:cNvPr>
          <p:cNvSpPr/>
          <p:nvPr/>
        </p:nvSpPr>
        <p:spPr>
          <a:xfrm>
            <a:off x="-303689" y="2231923"/>
            <a:ext cx="9300199" cy="5220948"/>
          </a:xfrm>
          <a:prstGeom prst="arc">
            <a:avLst>
              <a:gd name="adj1" fmla="val 14166555"/>
              <a:gd name="adj2" fmla="val 21283327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80F293-771C-4C8D-A40D-75585386D2BD}"/>
              </a:ext>
            </a:extLst>
          </p:cNvPr>
          <p:cNvSpPr/>
          <p:nvPr/>
        </p:nvSpPr>
        <p:spPr>
          <a:xfrm>
            <a:off x="10274709" y="523175"/>
            <a:ext cx="1795359" cy="3888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program starts here. We can see it calls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passes in a copy of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 variable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when it does this.</a:t>
            </a:r>
          </a:p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 variable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has been copied and can now be used internally by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as a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 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version.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BD0478-7C6D-414A-900E-6F57E070DBE6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56D815B-E163-4B24-A5B6-B5D3585CF8B4}"/>
              </a:ext>
            </a:extLst>
          </p:cNvPr>
          <p:cNvSpPr/>
          <p:nvPr/>
        </p:nvSpPr>
        <p:spPr>
          <a:xfrm>
            <a:off x="198487" y="1304606"/>
            <a:ext cx="1274524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5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24FAEB-9C89-26E9-19AE-D07141501A3E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C248F8-6D83-E357-C2C5-84361B14F7D6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47D4A1-8AEF-A016-51FD-8F970DBC79B3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5" y="554756"/>
            <a:ext cx="61211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8E80C00-EB08-4C8D-8715-EBE40A98C2CA}"/>
              </a:ext>
            </a:extLst>
          </p:cNvPr>
          <p:cNvSpPr/>
          <p:nvPr/>
        </p:nvSpPr>
        <p:spPr>
          <a:xfrm>
            <a:off x="2284753" y="4323241"/>
            <a:ext cx="1274524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B7DB-2810-4200-BB32-F8BC021BED10}"/>
              </a:ext>
            </a:extLst>
          </p:cNvPr>
          <p:cNvSpPr/>
          <p:nvPr/>
        </p:nvSpPr>
        <p:spPr>
          <a:xfrm>
            <a:off x="176565" y="2408906"/>
            <a:ext cx="4025854" cy="293173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2DEC27-9CDF-4E09-B8FF-765A82B1CB3E}"/>
              </a:ext>
            </a:extLst>
          </p:cNvPr>
          <p:cNvSpPr/>
          <p:nvPr/>
        </p:nvSpPr>
        <p:spPr>
          <a:xfrm>
            <a:off x="2265089" y="4862217"/>
            <a:ext cx="1274524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3B7526-352C-4678-A329-B705CFCFD6A4}"/>
              </a:ext>
            </a:extLst>
          </p:cNvPr>
          <p:cNvSpPr/>
          <p:nvPr/>
        </p:nvSpPr>
        <p:spPr>
          <a:xfrm>
            <a:off x="10274709" y="523175"/>
            <a:ext cx="179535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executes as normal but is now only updating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versions of all its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 These include: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9794B7-738B-4201-9E42-8E3BA9F5F580}"/>
              </a:ext>
            </a:extLst>
          </p:cNvPr>
          <p:cNvSpPr/>
          <p:nvPr/>
        </p:nvSpPr>
        <p:spPr>
          <a:xfrm>
            <a:off x="714366" y="2696001"/>
            <a:ext cx="239363" cy="548645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293223-833D-40BE-BFEA-A6C363CFB887}"/>
              </a:ext>
            </a:extLst>
          </p:cNvPr>
          <p:cNvSpPr/>
          <p:nvPr/>
        </p:nvSpPr>
        <p:spPr>
          <a:xfrm>
            <a:off x="1212284" y="3541453"/>
            <a:ext cx="239363" cy="548645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D9117D-03E3-49B5-BFBA-DFEBF1B4C37A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26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8A09B74-6E73-FE96-1C01-6B4241164395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0BD0A1-9DF1-A558-5A83-11555EC415B0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015CB8-67E9-EB60-5BB1-0C93C2C64624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59725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8E80C00-EB08-4C8D-8715-EBE40A98C2CA}"/>
              </a:ext>
            </a:extLst>
          </p:cNvPr>
          <p:cNvSpPr/>
          <p:nvPr/>
        </p:nvSpPr>
        <p:spPr>
          <a:xfrm>
            <a:off x="1258529" y="4352739"/>
            <a:ext cx="230074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B7DB-2810-4200-BB32-F8BC021BED10}"/>
              </a:ext>
            </a:extLst>
          </p:cNvPr>
          <p:cNvSpPr/>
          <p:nvPr/>
        </p:nvSpPr>
        <p:spPr>
          <a:xfrm>
            <a:off x="176565" y="2379409"/>
            <a:ext cx="4025854" cy="293173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2DEC27-9CDF-4E09-B8FF-765A82B1CB3E}"/>
              </a:ext>
            </a:extLst>
          </p:cNvPr>
          <p:cNvSpPr/>
          <p:nvPr/>
        </p:nvSpPr>
        <p:spPr>
          <a:xfrm>
            <a:off x="1238865" y="4891715"/>
            <a:ext cx="230074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237CAA-22F2-491B-AB15-95A85E507125}"/>
              </a:ext>
            </a:extLst>
          </p:cNvPr>
          <p:cNvSpPr/>
          <p:nvPr/>
        </p:nvSpPr>
        <p:spPr>
          <a:xfrm>
            <a:off x="4473573" y="4427693"/>
            <a:ext cx="117421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FB7509-2D68-46FA-907D-BB9A6960553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559277" y="4586913"/>
            <a:ext cx="91429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355FF9-A3B8-4BD9-B51B-DDC5E32F5B62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3539613" y="4586913"/>
            <a:ext cx="933960" cy="464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C0D96EA-F0AB-4A6B-95E7-BA8E0400CBED}"/>
              </a:ext>
            </a:extLst>
          </p:cNvPr>
          <p:cNvSpPr/>
          <p:nvPr/>
        </p:nvSpPr>
        <p:spPr>
          <a:xfrm>
            <a:off x="10274709" y="523175"/>
            <a:ext cx="179535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When we hit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lines, we now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two sets of values.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copy of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/>
              <a:t>,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it ends up back in the main program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80EE80-596C-4723-9D4C-F4E8BA22F7B8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A51719F-6FC1-4868-B314-6FC9972856A6}"/>
              </a:ext>
            </a:extLst>
          </p:cNvPr>
          <p:cNvSpPr/>
          <p:nvPr/>
        </p:nvSpPr>
        <p:spPr>
          <a:xfrm>
            <a:off x="176564" y="1861717"/>
            <a:ext cx="1642391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840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32D093-9E3A-F171-8D66-F876D205A3F4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BB1BF2-84F8-CE14-244F-26E707D07827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B2835B-89B7-349F-E6BF-4C0E889988B5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B7DB-2810-4200-BB32-F8BC021BED10}"/>
              </a:ext>
            </a:extLst>
          </p:cNvPr>
          <p:cNvSpPr/>
          <p:nvPr/>
        </p:nvSpPr>
        <p:spPr>
          <a:xfrm>
            <a:off x="176565" y="2359744"/>
            <a:ext cx="4025854" cy="293173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237CAA-22F2-491B-AB15-95A85E507125}"/>
              </a:ext>
            </a:extLst>
          </p:cNvPr>
          <p:cNvSpPr/>
          <p:nvPr/>
        </p:nvSpPr>
        <p:spPr>
          <a:xfrm>
            <a:off x="4473573" y="4427693"/>
            <a:ext cx="117421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810F1B-2085-4F54-A7C2-978399628C04}"/>
              </a:ext>
            </a:extLst>
          </p:cNvPr>
          <p:cNvSpPr/>
          <p:nvPr/>
        </p:nvSpPr>
        <p:spPr>
          <a:xfrm>
            <a:off x="3835225" y="4342482"/>
            <a:ext cx="276550" cy="318439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2DEF42-1D94-4D51-B8E3-EF7B0E8E7809}"/>
              </a:ext>
            </a:extLst>
          </p:cNvPr>
          <p:cNvSpPr/>
          <p:nvPr/>
        </p:nvSpPr>
        <p:spPr>
          <a:xfrm>
            <a:off x="3843619" y="4866673"/>
            <a:ext cx="276550" cy="318439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579481-F991-4848-8397-1616AA3D315A}"/>
              </a:ext>
            </a:extLst>
          </p:cNvPr>
          <p:cNvSpPr/>
          <p:nvPr/>
        </p:nvSpPr>
        <p:spPr>
          <a:xfrm>
            <a:off x="5763146" y="4437525"/>
            <a:ext cx="1174217" cy="318439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E4D8BC4-D910-411E-85CF-1071283A3A0C}"/>
              </a:ext>
            </a:extLst>
          </p:cNvPr>
          <p:cNvSpPr/>
          <p:nvPr/>
        </p:nvSpPr>
        <p:spPr>
          <a:xfrm>
            <a:off x="3835224" y="4180236"/>
            <a:ext cx="2490857" cy="643798"/>
          </a:xfrm>
          <a:prstGeom prst="arc">
            <a:avLst>
              <a:gd name="adj1" fmla="val 11294996"/>
              <a:gd name="adj2" fmla="val 21483497"/>
            </a:avLst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F9B6970-A2ED-4D2D-92B8-152CB8E418DE}"/>
              </a:ext>
            </a:extLst>
          </p:cNvPr>
          <p:cNvSpPr/>
          <p:nvPr/>
        </p:nvSpPr>
        <p:spPr>
          <a:xfrm flipV="1">
            <a:off x="3730438" y="4372413"/>
            <a:ext cx="2595638" cy="758506"/>
          </a:xfrm>
          <a:prstGeom prst="arc">
            <a:avLst>
              <a:gd name="adj1" fmla="val 11790829"/>
              <a:gd name="adj2" fmla="val 13710"/>
            </a:avLst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74709" y="523175"/>
            <a:ext cx="1795359" cy="4760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When we hit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lines, we now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two sets of values.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copy of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/>
              <a:t>,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it ends up back in the main program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Then we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copy of either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GB" dirty="0"/>
              <a:t>,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it ends up back in the main program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highDice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0BB600-59B1-4CBB-ABD4-FB613E616655}"/>
              </a:ext>
            </a:extLst>
          </p:cNvPr>
          <p:cNvCxnSpPr>
            <a:cxnSpLocks/>
          </p:cNvCxnSpPr>
          <p:nvPr/>
        </p:nvCxnSpPr>
        <p:spPr>
          <a:xfrm>
            <a:off x="3559277" y="4586913"/>
            <a:ext cx="91429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E567C7-9B59-4D6A-A652-5047207FC2D6}"/>
              </a:ext>
            </a:extLst>
          </p:cNvPr>
          <p:cNvCxnSpPr>
            <a:cxnSpLocks/>
          </p:cNvCxnSpPr>
          <p:nvPr/>
        </p:nvCxnSpPr>
        <p:spPr>
          <a:xfrm flipV="1">
            <a:off x="3539613" y="4586913"/>
            <a:ext cx="933960" cy="4640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00CFBAF-4CF2-4A58-9879-123021735A9F}"/>
              </a:ext>
            </a:extLst>
          </p:cNvPr>
          <p:cNvSpPr/>
          <p:nvPr/>
        </p:nvSpPr>
        <p:spPr>
          <a:xfrm>
            <a:off x="1258529" y="4352739"/>
            <a:ext cx="230074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FB98E3-331B-4189-9D6A-9ACBA203970C}"/>
              </a:ext>
            </a:extLst>
          </p:cNvPr>
          <p:cNvSpPr/>
          <p:nvPr/>
        </p:nvSpPr>
        <p:spPr>
          <a:xfrm>
            <a:off x="1238865" y="4891715"/>
            <a:ext cx="2300748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6A9C13-0F4E-4734-A009-E6916E135FA5}"/>
              </a:ext>
            </a:extLst>
          </p:cNvPr>
          <p:cNvSpPr/>
          <p:nvPr/>
        </p:nvSpPr>
        <p:spPr>
          <a:xfrm>
            <a:off x="176564" y="1881381"/>
            <a:ext cx="1642391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707C28-0F91-4601-A929-BEDFD91663F2}"/>
              </a:ext>
            </a:extLst>
          </p:cNvPr>
          <p:cNvSpPr/>
          <p:nvPr/>
        </p:nvSpPr>
        <p:spPr>
          <a:xfrm>
            <a:off x="176564" y="1563438"/>
            <a:ext cx="1642391" cy="318439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429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6F034F6-A9B9-24F3-B198-5D4F4B8DFE3F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2C7B13-6485-B43E-B4B8-486EBA39D42D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28CD72-890D-1210-9F66-941A5D550983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74709" y="523175"/>
            <a:ext cx="1795359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now print out which of the dice was higher.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value came from the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rollTwoDice()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one of its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, but we are not using those anymore.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Instead, it was passed back out to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 variable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highDice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, and we are using that version.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5B11B71-2D33-42EF-B056-E647012B11B4}"/>
              </a:ext>
            </a:extLst>
          </p:cNvPr>
          <p:cNvSpPr/>
          <p:nvPr/>
        </p:nvSpPr>
        <p:spPr>
          <a:xfrm>
            <a:off x="4478053" y="4702996"/>
            <a:ext cx="4361139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54C5FF-CC64-4849-8BD5-49A1F2767572}"/>
              </a:ext>
            </a:extLst>
          </p:cNvPr>
          <p:cNvSpPr/>
          <p:nvPr/>
        </p:nvSpPr>
        <p:spPr>
          <a:xfrm>
            <a:off x="176566" y="1580254"/>
            <a:ext cx="1691564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9051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D672B6-14B3-FA4A-8BCB-A3AB329D06D3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153A42-4580-9614-4F35-BE7666B42458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6CB066-77F3-5EF0-7D37-9CDA5C4E9463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48776" y="523175"/>
            <a:ext cx="2031707" cy="569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now update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copy of the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to become equal to the current value of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plus the result, which will be returned from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</a:t>
            </a:r>
            <a:r>
              <a:rPr lang="en-GB" sz="15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As we call 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</a:t>
            </a:r>
            <a:r>
              <a:rPr lang="en-GB" sz="15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we again pass in a copy of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Remember,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has been copied and can now be used internally by </a:t>
            </a:r>
            <a:r>
              <a:rPr lang="en-GB" sz="15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displayScoreBonus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 as a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version.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5B11B71-2D33-42EF-B056-E647012B11B4}"/>
              </a:ext>
            </a:extLst>
          </p:cNvPr>
          <p:cNvSpPr/>
          <p:nvPr/>
        </p:nvSpPr>
        <p:spPr>
          <a:xfrm>
            <a:off x="4478053" y="4978301"/>
            <a:ext cx="5744787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A2DB7-9BC6-46A4-8B2F-ED36C25291C5}"/>
              </a:ext>
            </a:extLst>
          </p:cNvPr>
          <p:cNvSpPr/>
          <p:nvPr/>
        </p:nvSpPr>
        <p:spPr>
          <a:xfrm>
            <a:off x="4478052" y="564915"/>
            <a:ext cx="5521349" cy="3377819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D3B97-5B5E-43CB-8117-6FE4ABCE7990}"/>
              </a:ext>
            </a:extLst>
          </p:cNvPr>
          <p:cNvSpPr/>
          <p:nvPr/>
        </p:nvSpPr>
        <p:spPr>
          <a:xfrm>
            <a:off x="4494159" y="569356"/>
            <a:ext cx="5505242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FE7A5-B027-42EC-AA0B-AE9C707645C6}"/>
              </a:ext>
            </a:extLst>
          </p:cNvPr>
          <p:cNvSpPr/>
          <p:nvPr/>
        </p:nvSpPr>
        <p:spPr>
          <a:xfrm>
            <a:off x="176565" y="1306044"/>
            <a:ext cx="1347435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3D5692-AB20-48D1-919F-6E09FEDD48A7}"/>
              </a:ext>
            </a:extLst>
          </p:cNvPr>
          <p:cNvSpPr/>
          <p:nvPr/>
        </p:nvSpPr>
        <p:spPr>
          <a:xfrm>
            <a:off x="186396" y="1871943"/>
            <a:ext cx="169323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BB5D77-C39D-47B4-8A56-E32F054CAE78}"/>
              </a:ext>
            </a:extLst>
          </p:cNvPr>
          <p:cNvCxnSpPr>
            <a:cxnSpLocks/>
          </p:cNvCxnSpPr>
          <p:nvPr/>
        </p:nvCxnSpPr>
        <p:spPr>
          <a:xfrm flipH="1" flipV="1">
            <a:off x="7674645" y="887795"/>
            <a:ext cx="1936543" cy="409050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189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51F60F0-8CF8-7911-CB77-FE8A7BAADC0F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700F59-16CA-D560-A8F8-AC1B419C477C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E93943-7EAC-23D9-32F8-796A8726B359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48776" y="523175"/>
            <a:ext cx="20317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executes as normal, but it is now only updating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versions of all its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 These include: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bonus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592D7-D7C2-4965-B990-7BB7BF77265C}"/>
              </a:ext>
            </a:extLst>
          </p:cNvPr>
          <p:cNvSpPr/>
          <p:nvPr/>
        </p:nvSpPr>
        <p:spPr>
          <a:xfrm>
            <a:off x="5451629" y="2503228"/>
            <a:ext cx="811519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AB53FE-CE24-40ED-843F-93EB77B7BE99}"/>
              </a:ext>
            </a:extLst>
          </p:cNvPr>
          <p:cNvSpPr/>
          <p:nvPr/>
        </p:nvSpPr>
        <p:spPr>
          <a:xfrm>
            <a:off x="5010995" y="930944"/>
            <a:ext cx="239363" cy="548645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300F56-EB31-4A1A-85F1-1E825BBAADBC}"/>
              </a:ext>
            </a:extLst>
          </p:cNvPr>
          <p:cNvSpPr/>
          <p:nvPr/>
        </p:nvSpPr>
        <p:spPr>
          <a:xfrm>
            <a:off x="4478052" y="564915"/>
            <a:ext cx="5521349" cy="3377819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DE7DA-EAA3-4E1A-941C-67BBE29F9CC1}"/>
              </a:ext>
            </a:extLst>
          </p:cNvPr>
          <p:cNvSpPr/>
          <p:nvPr/>
        </p:nvSpPr>
        <p:spPr>
          <a:xfrm>
            <a:off x="5521869" y="1724843"/>
            <a:ext cx="239363" cy="548645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06B8F0-0D36-4AE4-9BD7-A805B00129C6}"/>
              </a:ext>
            </a:extLst>
          </p:cNvPr>
          <p:cNvSpPr/>
          <p:nvPr/>
        </p:nvSpPr>
        <p:spPr>
          <a:xfrm>
            <a:off x="5451629" y="3047815"/>
            <a:ext cx="811519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691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DD100C-DE02-DB61-8FE5-BB5DEC38CB8E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153841-39F4-EB0B-9DAC-D90E90CF74F4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616610-A37C-50E3-9295-073D155AF251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48776" y="523175"/>
            <a:ext cx="20317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When we hit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line, we now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copy of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bonus</a:t>
            </a:r>
            <a:r>
              <a:rPr lang="en-GB" dirty="0"/>
              <a:t>.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It ends up back in the main program and is used in the calculation to update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version of the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F300F56-EB31-4A1A-85F1-1E825BBAADBC}"/>
              </a:ext>
            </a:extLst>
          </p:cNvPr>
          <p:cNvSpPr/>
          <p:nvPr/>
        </p:nvSpPr>
        <p:spPr>
          <a:xfrm>
            <a:off x="4478052" y="564915"/>
            <a:ext cx="5521349" cy="3377819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06B8F0-0D36-4AE4-9BD7-A805B00129C6}"/>
              </a:ext>
            </a:extLst>
          </p:cNvPr>
          <p:cNvSpPr/>
          <p:nvPr/>
        </p:nvSpPr>
        <p:spPr>
          <a:xfrm>
            <a:off x="5051840" y="3606716"/>
            <a:ext cx="1594766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12527-2CFE-49EF-BC22-9FA5AE1A44DD}"/>
              </a:ext>
            </a:extLst>
          </p:cNvPr>
          <p:cNvSpPr/>
          <p:nvPr/>
        </p:nvSpPr>
        <p:spPr>
          <a:xfrm>
            <a:off x="4516149" y="4953633"/>
            <a:ext cx="5732603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0FDB26-2877-4F42-98E7-BEA7BC580C5A}"/>
              </a:ext>
            </a:extLst>
          </p:cNvPr>
          <p:cNvCxnSpPr>
            <a:cxnSpLocks/>
          </p:cNvCxnSpPr>
          <p:nvPr/>
        </p:nvCxnSpPr>
        <p:spPr>
          <a:xfrm>
            <a:off x="6243484" y="3925155"/>
            <a:ext cx="2054942" cy="111879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6B111-1E72-4C62-92D5-3412D0383736}"/>
              </a:ext>
            </a:extLst>
          </p:cNvPr>
          <p:cNvSpPr/>
          <p:nvPr/>
        </p:nvSpPr>
        <p:spPr>
          <a:xfrm>
            <a:off x="176565" y="1308800"/>
            <a:ext cx="1376932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029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F5E0BE-8006-447F-2F82-A5B8B8CB6B29}"/>
              </a:ext>
            </a:extLst>
          </p:cNvPr>
          <p:cNvGrpSpPr/>
          <p:nvPr/>
        </p:nvGrpSpPr>
        <p:grpSpPr>
          <a:xfrm>
            <a:off x="0" y="421005"/>
            <a:ext cx="10248777" cy="6435090"/>
            <a:chOff x="0" y="421005"/>
            <a:chExt cx="10248777" cy="6435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963B601-12AD-F8D9-77AA-2D659F3D002B}"/>
                </a:ext>
              </a:extLst>
            </p:cNvPr>
            <p:cNvSpPr/>
            <p:nvPr/>
          </p:nvSpPr>
          <p:spPr>
            <a:xfrm>
              <a:off x="0" y="421005"/>
              <a:ext cx="4297679" cy="64350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F0CF91-52F2-9344-75C4-7B725EFF3561}"/>
                </a:ext>
              </a:extLst>
            </p:cNvPr>
            <p:cNvSpPr/>
            <p:nvPr/>
          </p:nvSpPr>
          <p:spPr>
            <a:xfrm>
              <a:off x="4297671" y="422910"/>
              <a:ext cx="5951106" cy="64331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349037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 global variables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60A81D-29C0-4A42-BD12-5D07F55BF903}"/>
              </a:ext>
            </a:extLst>
          </p:cNvPr>
          <p:cNvSpPr/>
          <p:nvPr/>
        </p:nvSpPr>
        <p:spPr>
          <a:xfrm>
            <a:off x="176565" y="993174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import</a:t>
            </a:r>
            <a:r>
              <a:rPr lang="en-GB" dirty="0">
                <a:latin typeface="Consolas" panose="020B0609020204030204" pitchFamily="49" charset="0"/>
              </a:rPr>
              <a:t> random</a:t>
            </a:r>
          </a:p>
          <a:p>
            <a:r>
              <a:rPr lang="en-GB" dirty="0">
                <a:latin typeface="Consolas" panose="020B0609020204030204" pitchFamily="49" charset="0"/>
              </a:rPr>
              <a:t>score = 0</a:t>
            </a:r>
          </a:p>
          <a:p>
            <a:r>
              <a:rPr lang="en-GB" dirty="0">
                <a:latin typeface="Consolas" panose="020B0609020204030204" pitchFamily="49" charset="0"/>
              </a:rPr>
              <a:t>highDice = 0</a:t>
            </a:r>
          </a:p>
          <a:p>
            <a:r>
              <a:rPr lang="en-GB" dirty="0">
                <a:latin typeface="Consolas" panose="020B0609020204030204" pitchFamily="49" charset="0"/>
              </a:rPr>
              <a:t>retScore = 0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rollTwoDice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+ 25), x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       return</a:t>
            </a:r>
            <a:r>
              <a:rPr lang="en-GB" dirty="0">
                <a:latin typeface="Consolas" panose="020B0609020204030204" pitchFamily="49" charset="0"/>
              </a:rPr>
              <a:t> (score + 50),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D7641-0311-4734-87BA-99BD067C5260}"/>
              </a:ext>
            </a:extLst>
          </p:cNvPr>
          <p:cNvSpPr/>
          <p:nvPr/>
        </p:nvSpPr>
        <p:spPr>
          <a:xfrm>
            <a:off x="4478054" y="554756"/>
            <a:ext cx="65340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def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displayScoreBonus</a:t>
            </a:r>
            <a:r>
              <a:rPr lang="en-GB" dirty="0">
                <a:latin typeface="Consolas" panose="020B0609020204030204" pitchFamily="49" charset="0"/>
              </a:rPr>
              <a:t>(score):</a:t>
            </a:r>
          </a:p>
          <a:p>
            <a:r>
              <a:rPr lang="en-GB" dirty="0">
                <a:latin typeface="Consolas" panose="020B0609020204030204" pitchFamily="49" charset="0"/>
              </a:rPr>
              <a:t>    x = 0</a:t>
            </a:r>
          </a:p>
          <a:p>
            <a:r>
              <a:rPr lang="en-GB" dirty="0">
                <a:latin typeface="Consolas" panose="020B0609020204030204" pitchFamily="49" charset="0"/>
              </a:rPr>
              <a:t>    y = 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x ==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x = random.randint(1,6)</a:t>
            </a:r>
          </a:p>
          <a:p>
            <a:r>
              <a:rPr lang="en-GB" dirty="0">
                <a:latin typeface="Consolas" panose="020B0609020204030204" pitchFamily="49" charset="0"/>
              </a:rPr>
              <a:t>        y = random.randint(1,6)    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x &gt; y: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100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latin typeface="Consolas" panose="020B0609020204030204" pitchFamily="49" charset="0"/>
              </a:rPr>
              <a:t>:</a:t>
            </a:r>
          </a:p>
          <a:p>
            <a:r>
              <a:rPr lang="en-GB" dirty="0">
                <a:latin typeface="Consolas" panose="020B0609020204030204" pitchFamily="49" charset="0"/>
              </a:rPr>
              <a:t>        bonus = 200</a:t>
            </a:r>
          </a:p>
          <a:p>
            <a:r>
              <a:rPr lang="en-GB" dirty="0">
                <a:latin typeface="Consolas" panose="020B0609020204030204" pitchFamily="49" charset="0"/>
              </a:rPr>
              <a:t>    print("Bonus score is: " + str(bonus))</a:t>
            </a:r>
          </a:p>
          <a:p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bonus</a:t>
            </a:r>
          </a:p>
          <a:p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#Main program starts here</a:t>
            </a:r>
          </a:p>
          <a:p>
            <a:r>
              <a:rPr lang="en-GB" dirty="0">
                <a:latin typeface="Consolas" panose="020B0609020204030204" pitchFamily="49" charset="0"/>
              </a:rPr>
              <a:t>retScore, highDice = rollTwoDice(score)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"Higher dice is:"</a:t>
            </a:r>
            <a:r>
              <a:rPr lang="en-GB" dirty="0">
                <a:latin typeface="Consolas" panose="020B0609020204030204" pitchFamily="49" charset="0"/>
              </a:rPr>
              <a:t>, highDice)</a:t>
            </a:r>
          </a:p>
          <a:p>
            <a:r>
              <a:rPr lang="en-GB" dirty="0">
                <a:latin typeface="Consolas" panose="020B0609020204030204" pitchFamily="49" charset="0"/>
              </a:rPr>
              <a:t>score = retScore + (displayScoreBonus(score))</a:t>
            </a:r>
          </a:p>
          <a:p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"You current score is: "</a:t>
            </a:r>
            <a:r>
              <a:rPr lang="en-GB" dirty="0">
                <a:latin typeface="Consolas" panose="020B0609020204030204" pitchFamily="49" charset="0"/>
              </a:rPr>
              <a:t> + str(score))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309916-944D-404A-B99E-02F0C3248C98}"/>
              </a:ext>
            </a:extLst>
          </p:cNvPr>
          <p:cNvCxnSpPr>
            <a:cxnSpLocks/>
          </p:cNvCxnSpPr>
          <p:nvPr/>
        </p:nvCxnSpPr>
        <p:spPr>
          <a:xfrm>
            <a:off x="4297680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F75A54E-3FDA-40A4-AC56-DBDC6D4E6208}"/>
              </a:ext>
            </a:extLst>
          </p:cNvPr>
          <p:cNvSpPr/>
          <p:nvPr/>
        </p:nvSpPr>
        <p:spPr>
          <a:xfrm>
            <a:off x="10248777" y="523175"/>
            <a:ext cx="19432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The final line of the program prints out the current score by accessing the contents of the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score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GB" sz="1600" dirty="0">
                <a:ea typeface="Calibri" panose="020F0502020204030204" pitchFamily="34" charset="0"/>
                <a:cs typeface="Times New Roman" panose="02020603050405020304" pitchFamily="18" charset="0"/>
              </a:rPr>
              <a:t> and casting it to a string data type.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4C90FC-7BDF-4CCC-850F-9BAB84F07CCC}"/>
              </a:ext>
            </a:extLst>
          </p:cNvPr>
          <p:cNvCxnSpPr>
            <a:cxnSpLocks/>
          </p:cNvCxnSpPr>
          <p:nvPr/>
        </p:nvCxnSpPr>
        <p:spPr>
          <a:xfrm>
            <a:off x="10248777" y="422910"/>
            <a:ext cx="0" cy="64350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F300F56-EB31-4A1A-85F1-1E825BBAADBC}"/>
              </a:ext>
            </a:extLst>
          </p:cNvPr>
          <p:cNvSpPr/>
          <p:nvPr/>
        </p:nvSpPr>
        <p:spPr>
          <a:xfrm>
            <a:off x="4478052" y="564915"/>
            <a:ext cx="5521349" cy="3377819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12527-2CFE-49EF-BC22-9FA5AE1A44DD}"/>
              </a:ext>
            </a:extLst>
          </p:cNvPr>
          <p:cNvSpPr/>
          <p:nvPr/>
        </p:nvSpPr>
        <p:spPr>
          <a:xfrm>
            <a:off x="4516149" y="5238770"/>
            <a:ext cx="5732603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6B111-1E72-4C62-92D5-3412D0383736}"/>
              </a:ext>
            </a:extLst>
          </p:cNvPr>
          <p:cNvSpPr/>
          <p:nvPr/>
        </p:nvSpPr>
        <p:spPr>
          <a:xfrm>
            <a:off x="176565" y="1308800"/>
            <a:ext cx="1376932" cy="318439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0162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344789" y="1848540"/>
            <a:ext cx="11398571" cy="3652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declared outside of subroutines (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exist in memory for the entire time the program is running.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accessible from any subroutine, but this is considered bad practice and should be avoided.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Benefits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usage is consistent and known in advance.</a:t>
            </a:r>
          </a:p>
          <a:p>
            <a:pPr marL="742950" lvl="1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additional execution time for reserving and returning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Drawbacks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Conflicts with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share the same name in other parts of the program makes writing programs in teams and testing more difficult.</a:t>
            </a:r>
          </a:p>
          <a:p>
            <a:pPr marL="742950" lvl="1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Memory-inefficient because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exist (and take up space in memory) while the program is in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It’s better to pass in copies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variables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use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calling subroutines.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F9C62-E77A-49CD-BA2B-2C36610DF886}"/>
              </a:ext>
            </a:extLst>
          </p:cNvPr>
          <p:cNvSpPr/>
          <p:nvPr/>
        </p:nvSpPr>
        <p:spPr>
          <a:xfrm>
            <a:off x="1517632" y="524912"/>
            <a:ext cx="29597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global variables</a:t>
            </a:r>
          </a:p>
        </p:txBody>
      </p:sp>
      <p:pic>
        <p:nvPicPr>
          <p:cNvPr id="3" name="Picture 2" descr="make_notes">
            <a:extLst>
              <a:ext uri="{FF2B5EF4-FFF2-40B4-BE49-F238E27FC236}">
                <a16:creationId xmlns:a16="http://schemas.microsoft.com/office/drawing/2014/main" id="{21EC60F1-4EE0-D86C-1BE6-40E27340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71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4145</Words>
  <Application>Microsoft Office PowerPoint</Application>
  <PresentationFormat>Widescreen</PresentationFormat>
  <Paragraphs>638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180</cp:revision>
  <dcterms:created xsi:type="dcterms:W3CDTF">2019-10-14T15:21:06Z</dcterms:created>
  <dcterms:modified xsi:type="dcterms:W3CDTF">2022-09-01T10:09:16Z</dcterms:modified>
</cp:coreProperties>
</file>